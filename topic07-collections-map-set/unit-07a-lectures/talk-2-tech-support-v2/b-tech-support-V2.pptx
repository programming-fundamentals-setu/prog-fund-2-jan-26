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96" r:id="rId3"/>
    <p:sldId id="409" r:id="rId4"/>
    <p:sldId id="479" r:id="rId5"/>
    <p:sldId id="476" r:id="rId6"/>
    <p:sldId id="463" r:id="rId7"/>
    <p:sldId id="464" r:id="rId8"/>
    <p:sldId id="465" r:id="rId9"/>
    <p:sldId id="451" r:id="rId10"/>
    <p:sldId id="452" r:id="rId11"/>
    <p:sldId id="455" r:id="rId12"/>
    <p:sldId id="477" r:id="rId13"/>
    <p:sldId id="453" r:id="rId14"/>
    <p:sldId id="466" r:id="rId15"/>
    <p:sldId id="478" r:id="rId16"/>
    <p:sldId id="471" r:id="rId17"/>
    <p:sldId id="470" r:id="rId18"/>
    <p:sldId id="468" r:id="rId19"/>
    <p:sldId id="39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 autoAdjust="0"/>
    <p:restoredTop sz="94598"/>
  </p:normalViewPr>
  <p:slideViewPr>
    <p:cSldViewPr>
      <p:cViewPr varScale="1">
        <p:scale>
          <a:sx n="114" d="100"/>
          <a:sy n="114" d="100"/>
        </p:scale>
        <p:origin x="888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08/03/2025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Sophisticated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Support System </a:t>
            </a:r>
            <a:r>
              <a:rPr lang="en-IE" sz="3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V2.0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793FC-AF51-4E99-8B26-1E443FC4FFD9}"/>
              </a:ext>
            </a:extLst>
          </p:cNvPr>
          <p:cNvSpPr txBox="1"/>
          <p:nvPr/>
        </p:nvSpPr>
        <p:spPr>
          <a:xfrm>
            <a:off x="3581400" y="38862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152593"/>
            <a:ext cx="838200" cy="8270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152593"/>
            <a:ext cx="838200" cy="827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E8CABE-E264-3950-7CBC-25817C445C6C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C3B2CAB-0BE0-9DF8-22B2-305B4E0B1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Responder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6287" y="1514475"/>
            <a:ext cx="6781800" cy="8477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9769" y="1747837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V1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console based system.</a:t>
            </a:r>
          </a:p>
          <a:p>
            <a:r>
              <a:rPr lang="en-GB" dirty="0"/>
              <a:t>A textual dialog system i.e. you enter text on the console and the system will provide a response.</a:t>
            </a:r>
          </a:p>
          <a:p>
            <a:r>
              <a:rPr lang="en-GB" dirty="0"/>
              <a:t>In this version, the system responds with the same String always:</a:t>
            </a:r>
          </a:p>
          <a:p>
            <a:pPr lvl="1"/>
            <a:r>
              <a:rPr lang="en-GB" dirty="0"/>
              <a:t> “That sounds interesting.  Tell me more…”</a:t>
            </a:r>
          </a:p>
        </p:txBody>
      </p:sp>
    </p:spTree>
    <p:extLst>
      <p:ext uri="{BB962C8B-B14F-4D97-AF65-F5344CB8AC3E}">
        <p14:creationId xmlns:p14="http://schemas.microsoft.com/office/powerpoint/2010/main" val="241508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V1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995838F-1E67-4B7B-A662-C1B46EA60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057" r="39942"/>
          <a:stretch/>
        </p:blipFill>
        <p:spPr bwMode="auto">
          <a:xfrm>
            <a:off x="1981201" y="1676400"/>
            <a:ext cx="5255533" cy="3429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8416F7F-D82A-4A59-809C-C8FBA618F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05201"/>
            <a:ext cx="4732372" cy="32686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88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Responder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9600" y="2667000"/>
            <a:ext cx="6781800" cy="228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685800" y="3429000"/>
            <a:ext cx="1600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30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</a:t>
            </a:r>
            <a:r>
              <a:rPr lang="en-GB" b="1" dirty="0"/>
              <a:t>V2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console based, textual dialog system.</a:t>
            </a:r>
          </a:p>
          <a:p>
            <a:endParaRPr lang="en-GB" dirty="0"/>
          </a:p>
          <a:p>
            <a:r>
              <a:rPr lang="en-GB" dirty="0"/>
              <a:t>The system provides a </a:t>
            </a:r>
            <a:r>
              <a:rPr lang="en-GB" b="1" u="sng" dirty="0"/>
              <a:t>random</a:t>
            </a:r>
            <a:r>
              <a:rPr lang="en-GB" dirty="0"/>
              <a:t> response </a:t>
            </a:r>
            <a:br>
              <a:rPr lang="en-GB" dirty="0"/>
            </a:br>
            <a:r>
              <a:rPr lang="en-GB" dirty="0"/>
              <a:t>from a list of pre-defined responses </a:t>
            </a:r>
          </a:p>
          <a:p>
            <a:endParaRPr lang="en-GB" dirty="0"/>
          </a:p>
          <a:p>
            <a:pPr lvl="1"/>
            <a:r>
              <a:rPr lang="en-IE" dirty="0"/>
              <a:t>"That sounds interesting. Tell me more..."</a:t>
            </a:r>
          </a:p>
          <a:p>
            <a:pPr lvl="1"/>
            <a:r>
              <a:rPr lang="en-IE" dirty="0"/>
              <a:t>"I need a bit more information on that."</a:t>
            </a:r>
          </a:p>
          <a:p>
            <a:pPr lvl="1"/>
            <a:r>
              <a:rPr lang="en-IE" dirty="0"/>
              <a:t>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</a:t>
            </a:r>
          </a:p>
          <a:p>
            <a:pPr lvl="1"/>
            <a:r>
              <a:rPr lang="en-IE" dirty="0"/>
              <a:t>"That is explained in the manual. Have you read the manual?“</a:t>
            </a:r>
          </a:p>
          <a:p>
            <a:pPr lvl="1"/>
            <a:r>
              <a:rPr lang="en-IE" dirty="0"/>
              <a:t>"That's not a bug, it's a feature!"</a:t>
            </a:r>
          </a:p>
          <a:p>
            <a:pPr lvl="1"/>
            <a:r>
              <a:rPr lang="en-IE" dirty="0"/>
              <a:t>"Could you elaborate on that?“</a:t>
            </a:r>
          </a:p>
          <a:p>
            <a:pPr lvl="1"/>
            <a:r>
              <a:rPr lang="en-IE" dirty="0"/>
              <a:t>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457200"/>
            <a:ext cx="838200" cy="827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838200" cy="827074"/>
          </a:xfrm>
          <a:prstGeom prst="rect">
            <a:avLst/>
          </a:prstGeom>
        </p:spPr>
      </p:pic>
      <p:sp>
        <p:nvSpPr>
          <p:cNvPr id="6" name="Frame 5"/>
          <p:cNvSpPr/>
          <p:nvPr/>
        </p:nvSpPr>
        <p:spPr>
          <a:xfrm>
            <a:off x="990600" y="3335878"/>
            <a:ext cx="7543800" cy="2427553"/>
          </a:xfrm>
          <a:prstGeom prst="frame">
            <a:avLst>
              <a:gd name="adj1" fmla="val 1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37547" y="5779995"/>
            <a:ext cx="114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1616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uiExpand="1" build="p"/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</a:t>
            </a:r>
            <a:r>
              <a:rPr lang="en-GB" b="1" dirty="0"/>
              <a:t>V2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3" r="19380"/>
          <a:stretch/>
        </p:blipFill>
        <p:spPr bwMode="auto">
          <a:xfrm>
            <a:off x="2209800" y="1752600"/>
            <a:ext cx="7792992" cy="48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1981200" y="1376256"/>
            <a:ext cx="1219200" cy="417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33717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Class Diagram </a:t>
            </a:r>
            <a:r>
              <a:rPr lang="en-IE" b="1" dirty="0"/>
              <a:t>V2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93164"/>
            <a:ext cx="5548312" cy="38321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56766" y="2971800"/>
            <a:ext cx="2182634" cy="15696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at class level</a:t>
            </a:r>
          </a:p>
        </p:txBody>
      </p:sp>
    </p:spTree>
    <p:extLst>
      <p:ext uri="{BB962C8B-B14F-4D97-AF65-F5344CB8AC3E}">
        <p14:creationId xmlns:p14="http://schemas.microsoft.com/office/powerpoint/2010/main" val="23527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B2ACBC-C98D-445E-A1E7-84A4BA1B7593}"/>
              </a:ext>
            </a:extLst>
          </p:cNvPr>
          <p:cNvSpPr/>
          <p:nvPr/>
        </p:nvSpPr>
        <p:spPr>
          <a:xfrm>
            <a:off x="1752600" y="123266"/>
            <a:ext cx="8529375" cy="65556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import </a:t>
            </a:r>
            <a:r>
              <a:rPr lang="en-IE" sz="2000" dirty="0" err="1"/>
              <a:t>java.util.</a:t>
            </a:r>
            <a:r>
              <a:rPr lang="en-IE" sz="2000" b="1" dirty="0" err="1"/>
              <a:t>Scanner</a:t>
            </a:r>
            <a:r>
              <a:rPr lang="en-IE" sz="2000" dirty="0"/>
              <a:t>;</a:t>
            </a:r>
          </a:p>
          <a:p>
            <a:endParaRPr lang="en-IE" sz="2000" dirty="0"/>
          </a:p>
          <a:p>
            <a:r>
              <a:rPr lang="en-IE" sz="2000" dirty="0"/>
              <a:t>public class </a:t>
            </a:r>
            <a:r>
              <a:rPr lang="en-IE" sz="2000" b="1" dirty="0" err="1"/>
              <a:t>InputReader</a:t>
            </a:r>
            <a:r>
              <a:rPr lang="en-IE" sz="2000" dirty="0"/>
              <a:t>{</a:t>
            </a:r>
          </a:p>
          <a:p>
            <a:r>
              <a:rPr lang="en-IE" sz="2000" dirty="0"/>
              <a:t>   </a:t>
            </a:r>
          </a:p>
          <a:p>
            <a:r>
              <a:rPr lang="en-IE" sz="2000" dirty="0"/>
              <a:t>    Scanner input;</a:t>
            </a:r>
          </a:p>
          <a:p>
            <a:endParaRPr lang="en-IE" sz="2000" dirty="0"/>
          </a:p>
          <a:p>
            <a:r>
              <a:rPr lang="en-IE" sz="2000" dirty="0"/>
              <a:t>    public </a:t>
            </a:r>
            <a:r>
              <a:rPr lang="en-IE" sz="2000" b="1" dirty="0" err="1"/>
              <a:t>InputReader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    input = new Scanner(System.</a:t>
            </a:r>
            <a:r>
              <a:rPr lang="en-IE" sz="2000" i="1" dirty="0"/>
              <a:t>in); 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Read a line of text from the console and return it as a String.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A String typed by the user.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String </a:t>
            </a:r>
            <a:r>
              <a:rPr lang="en-IE" sz="2000" b="1" dirty="0" err="1"/>
              <a:t>getInput</a:t>
            </a:r>
            <a:r>
              <a:rPr lang="en-IE" sz="2000" dirty="0"/>
              <a:t>() {</a:t>
            </a:r>
          </a:p>
          <a:p>
            <a:r>
              <a:rPr lang="en-IE" sz="2000" dirty="0"/>
              <a:t>          </a:t>
            </a:r>
            <a:r>
              <a:rPr lang="en-IE" sz="2000" dirty="0" err="1"/>
              <a:t>System.</a:t>
            </a:r>
            <a:r>
              <a:rPr lang="en-IE" sz="2000" i="1" dirty="0" err="1"/>
              <a:t>out.print</a:t>
            </a:r>
            <a:r>
              <a:rPr lang="en-IE" sz="2000" i="1" dirty="0"/>
              <a:t>("&gt; ");                </a:t>
            </a:r>
            <a:r>
              <a:rPr lang="en-IE" sz="2000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sz="2000" dirty="0"/>
              <a:t>          String </a:t>
            </a:r>
            <a:r>
              <a:rPr lang="en-IE" sz="2000" dirty="0" err="1"/>
              <a:t>inputLine</a:t>
            </a:r>
            <a:r>
              <a:rPr lang="en-IE" sz="2000" dirty="0"/>
              <a:t> = </a:t>
            </a:r>
            <a:r>
              <a:rPr lang="en-IE" sz="2000" dirty="0" err="1"/>
              <a:t>input.nextLine</a:t>
            </a:r>
            <a:r>
              <a:rPr lang="en-IE" sz="2000" dirty="0"/>
              <a:t>().trim().</a:t>
            </a:r>
            <a:r>
              <a:rPr lang="en-IE" sz="2000" dirty="0" err="1"/>
              <a:t>toLowerCase</a:t>
            </a:r>
            <a:r>
              <a:rPr lang="en-IE" sz="2000" dirty="0"/>
              <a:t>(); </a:t>
            </a:r>
          </a:p>
          <a:p>
            <a:r>
              <a:rPr lang="en-IE" sz="2000" dirty="0"/>
              <a:t>          return </a:t>
            </a:r>
            <a:r>
              <a:rPr lang="en-IE" sz="2000" dirty="0" err="1"/>
              <a:t>inputLine</a:t>
            </a:r>
            <a:r>
              <a:rPr lang="en-IE" sz="2000" dirty="0"/>
              <a:t>;</a:t>
            </a:r>
          </a:p>
          <a:p>
            <a:r>
              <a:rPr lang="en-IE" sz="2000" dirty="0"/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215175" y="1295400"/>
            <a:ext cx="10668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8291744" y="3951982"/>
            <a:ext cx="218263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in this class</a:t>
            </a:r>
          </a:p>
        </p:txBody>
      </p:sp>
    </p:spTree>
    <p:extLst>
      <p:ext uri="{BB962C8B-B14F-4D97-AF65-F5344CB8AC3E}">
        <p14:creationId xmlns:p14="http://schemas.microsoft.com/office/powerpoint/2010/main" val="242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4"/>
            <a:ext cx="586740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</a:t>
            </a:r>
            <a:r>
              <a:rPr lang="en-IE" b="1" dirty="0" err="1"/>
              <a:t>SupportSystem</a:t>
            </a:r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b="1" dirty="0" err="1"/>
              <a:t>SupportSystem</a:t>
            </a:r>
            <a:r>
              <a:rPr lang="en-IE" b="1" dirty="0"/>
              <a:t>()</a:t>
            </a:r>
            <a:r>
              <a:rPr lang="en-IE" dirty="0"/>
              <a:t>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public static void </a:t>
            </a:r>
            <a:r>
              <a:rPr lang="en-IE" b="1" dirty="0"/>
              <a:t>main</a:t>
            </a:r>
            <a:r>
              <a:rPr lang="en-IE" dirty="0"/>
              <a:t>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app.start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start()</a:t>
            </a:r>
            <a:r>
              <a:rPr lang="en-IE" dirty="0"/>
              <a:t>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  String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while(! </a:t>
            </a:r>
            <a:r>
              <a:rPr lang="en-IE" dirty="0" err="1"/>
              <a:t>input.startsWith</a:t>
            </a:r>
            <a:r>
              <a:rPr lang="en-IE" dirty="0"/>
              <a:t>("bye")) {</a:t>
            </a:r>
          </a:p>
          <a:p>
            <a:r>
              <a:rPr lang="en-IE" dirty="0"/>
              <a:t>               String response = </a:t>
            </a:r>
            <a:r>
              <a:rPr lang="en-IE" dirty="0" err="1"/>
              <a:t>responder.generateResponse</a:t>
            </a:r>
            <a:r>
              <a:rPr lang="en-IE" dirty="0"/>
              <a:t>();</a:t>
            </a:r>
          </a:p>
          <a:p>
            <a:r>
              <a:rPr lang="en-IE" dirty="0"/>
              <a:t>       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(response);</a:t>
            </a:r>
            <a:r>
              <a:rPr lang="en-IE" dirty="0"/>
              <a:t>  </a:t>
            </a:r>
          </a:p>
          <a:p>
            <a:r>
              <a:rPr lang="en-IE" dirty="0"/>
              <a:t>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8291744" y="3576282"/>
            <a:ext cx="218263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in this class</a:t>
            </a:r>
          </a:p>
        </p:txBody>
      </p:sp>
    </p:spTree>
    <p:extLst>
      <p:ext uri="{BB962C8B-B14F-4D97-AF65-F5344CB8AC3E}">
        <p14:creationId xmlns:p14="http://schemas.microsoft.com/office/powerpoint/2010/main" val="39292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57400" y="2021682"/>
            <a:ext cx="8153400" cy="36933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private void </a:t>
            </a:r>
            <a:r>
              <a:rPr lang="en-IE" b="1" dirty="0" err="1"/>
              <a:t>printWelcome</a:t>
            </a:r>
            <a:r>
              <a:rPr lang="en-IE" b="1" dirty="0"/>
              <a:t>()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("Welcome to the </a:t>
            </a:r>
            <a:r>
              <a:rPr lang="en-IE" i="1" dirty="0" err="1"/>
              <a:t>DodgySoft</a:t>
            </a:r>
            <a:r>
              <a:rPr lang="en-IE" i="1" dirty="0"/>
              <a:t> Technical Support System.");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("Please tell us about your problem. We will assist you");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("with any problem you might have. Please type 'bye'");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("to exit our system.");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private void </a:t>
            </a:r>
            <a:r>
              <a:rPr lang="en-IE" b="1" dirty="0" err="1"/>
              <a:t>printGoodbye</a:t>
            </a:r>
            <a:r>
              <a:rPr lang="en-IE" b="1" dirty="0"/>
              <a:t>()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("Nice talking to you. Bye...");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}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/>
          <p:cNvSpPr txBox="1"/>
          <p:nvPr/>
        </p:nvSpPr>
        <p:spPr>
          <a:xfrm>
            <a:off x="8291744" y="3576282"/>
            <a:ext cx="2182634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No change in this class</a:t>
            </a:r>
          </a:p>
        </p:txBody>
      </p:sp>
    </p:spTree>
    <p:extLst>
      <p:ext uri="{BB962C8B-B14F-4D97-AF65-F5344CB8AC3E}">
        <p14:creationId xmlns:p14="http://schemas.microsoft.com/office/powerpoint/2010/main" val="2268956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36104" y="2590800"/>
            <a:ext cx="6781800" cy="228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533400" y="3962400"/>
            <a:ext cx="1600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86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1295401"/>
            <a:ext cx="7010400" cy="53245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chemeClr val="bg1">
                    <a:lumMod val="50000"/>
                  </a:schemeClr>
                </a:solidFill>
              </a:rPr>
              <a:t>//V1 code</a:t>
            </a:r>
          </a:p>
          <a:p>
            <a:r>
              <a:rPr lang="en-IE" sz="2000" dirty="0"/>
              <a:t>public class </a:t>
            </a:r>
            <a:r>
              <a:rPr lang="en-IE" sz="2000" b="1" dirty="0"/>
              <a:t>Responder</a:t>
            </a:r>
            <a:r>
              <a:rPr lang="en-IE" sz="2000" dirty="0"/>
              <a:t>{</a:t>
            </a:r>
          </a:p>
          <a:p>
            <a:r>
              <a:rPr lang="en-IE" sz="2000" dirty="0"/>
              <a:t>    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Construct a Responder - nothing to do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</a:t>
            </a:r>
            <a:r>
              <a:rPr lang="en-IE" sz="2000" b="1" dirty="0"/>
              <a:t>Responder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Generate a response.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 A string that should be displayed as the response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</a:t>
            </a:r>
            <a:r>
              <a:rPr lang="en-IE" sz="2000" dirty="0">
                <a:solidFill>
                  <a:srgbClr val="C00000"/>
                </a:solidFill>
              </a:rPr>
              <a:t>public String </a:t>
            </a:r>
            <a:r>
              <a:rPr lang="en-IE" sz="2000" b="1" dirty="0" err="1">
                <a:solidFill>
                  <a:srgbClr val="C00000"/>
                </a:solidFill>
              </a:rPr>
              <a:t>generateResponse</a:t>
            </a:r>
            <a:r>
              <a:rPr lang="en-IE" sz="2000" dirty="0">
                <a:solidFill>
                  <a:srgbClr val="C00000"/>
                </a:solidFill>
              </a:rPr>
              <a:t>(){</a:t>
            </a:r>
          </a:p>
          <a:p>
            <a:r>
              <a:rPr lang="en-IE" sz="2000" dirty="0">
                <a:solidFill>
                  <a:srgbClr val="C00000"/>
                </a:solidFill>
              </a:rPr>
              <a:t>          return "That sounds interesting. Tell me more...";</a:t>
            </a:r>
          </a:p>
          <a:p>
            <a:r>
              <a:rPr lang="en-IE" sz="2000" dirty="0">
                <a:solidFill>
                  <a:srgbClr val="C00000"/>
                </a:solidFill>
              </a:rPr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1676400" y="152400"/>
            <a:ext cx="4953000" cy="10772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This class </a:t>
            </a:r>
            <a:r>
              <a:rPr lang="en-IE" sz="3200" u="sng" dirty="0"/>
              <a:t>will</a:t>
            </a:r>
            <a:r>
              <a:rPr lang="en-IE" sz="3200" dirty="0"/>
              <a:t> change - to generate a random response</a:t>
            </a:r>
          </a:p>
        </p:txBody>
      </p:sp>
    </p:spTree>
    <p:extLst>
      <p:ext uri="{BB962C8B-B14F-4D97-AF65-F5344CB8AC3E}">
        <p14:creationId xmlns:p14="http://schemas.microsoft.com/office/powerpoint/2010/main" val="341330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Repository of Responses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502920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Instead of responding with:</a:t>
            </a:r>
          </a:p>
          <a:p>
            <a:pPr lvl="1"/>
            <a:r>
              <a:rPr lang="en-IE" dirty="0"/>
              <a:t>"That sounds interesting. Tell me more...";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r>
              <a:rPr lang="en-GB" dirty="0"/>
              <a:t>We would like to respond </a:t>
            </a:r>
            <a:br>
              <a:rPr lang="en-GB" dirty="0"/>
            </a:br>
            <a:r>
              <a:rPr lang="en-GB" dirty="0"/>
              <a:t>with a </a:t>
            </a:r>
            <a:r>
              <a:rPr lang="en-GB" b="1" u="sng" dirty="0"/>
              <a:t>random</a:t>
            </a:r>
            <a:r>
              <a:rPr lang="en-GB" dirty="0"/>
              <a:t> response from a repository of responses </a:t>
            </a:r>
            <a:br>
              <a:rPr lang="en-GB" dirty="0"/>
            </a:br>
            <a:endParaRPr lang="en-GB" dirty="0"/>
          </a:p>
          <a:p>
            <a:pPr lvl="1"/>
            <a:r>
              <a:rPr lang="en-IE" dirty="0"/>
              <a:t>"That sounds interesting. Tell me more..."</a:t>
            </a:r>
          </a:p>
          <a:p>
            <a:pPr lvl="1"/>
            <a:r>
              <a:rPr lang="en-IE" dirty="0"/>
              <a:t>"I need a bit more information on that."</a:t>
            </a:r>
          </a:p>
          <a:p>
            <a:pPr lvl="1"/>
            <a:r>
              <a:rPr lang="en-IE" dirty="0"/>
              <a:t>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</a:t>
            </a:r>
          </a:p>
          <a:p>
            <a:pPr lvl="1"/>
            <a:r>
              <a:rPr lang="en-IE" dirty="0"/>
              <a:t>"That is explained in the manual. Have you read the manual?“</a:t>
            </a:r>
          </a:p>
          <a:p>
            <a:pPr lvl="1"/>
            <a:r>
              <a:rPr lang="en-IE" dirty="0"/>
              <a:t>"That's not a bug, it's a feature!"</a:t>
            </a:r>
          </a:p>
          <a:p>
            <a:pPr lvl="1"/>
            <a:r>
              <a:rPr lang="en-IE" dirty="0"/>
              <a:t>"Could you elaborate on that?“</a:t>
            </a:r>
          </a:p>
          <a:p>
            <a:pPr lvl="1"/>
            <a:r>
              <a:rPr lang="en-IE" dirty="0"/>
              <a:t>etc.</a:t>
            </a:r>
            <a:br>
              <a:rPr lang="en-IE" dirty="0"/>
            </a:br>
            <a:endParaRPr lang="en-IE" dirty="0"/>
          </a:p>
          <a:p>
            <a:pPr lvl="1"/>
            <a:endParaRPr lang="en-IE" dirty="0"/>
          </a:p>
          <a:p>
            <a:r>
              <a:rPr lang="en-IE" dirty="0"/>
              <a:t>But how do we </a:t>
            </a:r>
            <a:r>
              <a:rPr lang="en-IE" b="1" dirty="0"/>
              <a:t>randomise</a:t>
            </a:r>
            <a:r>
              <a:rPr lang="en-IE" dirty="0"/>
              <a:t> the selection of a response?</a:t>
            </a:r>
          </a:p>
        </p:txBody>
      </p:sp>
      <p:sp>
        <p:nvSpPr>
          <p:cNvPr id="4" name="Right Arrow 3"/>
          <p:cNvSpPr/>
          <p:nvPr/>
        </p:nvSpPr>
        <p:spPr>
          <a:xfrm rot="5400000">
            <a:off x="4953000" y="2286000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rame 1"/>
          <p:cNvSpPr/>
          <p:nvPr/>
        </p:nvSpPr>
        <p:spPr>
          <a:xfrm>
            <a:off x="2438400" y="3352800"/>
            <a:ext cx="6248400" cy="2209800"/>
          </a:xfrm>
          <a:prstGeom prst="frame">
            <a:avLst>
              <a:gd name="adj1" fmla="val 1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9847" y="5542002"/>
            <a:ext cx="114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73787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2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Technical Support System V1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Technical Support System V2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lvl="2"/>
            <a:r>
              <a:rPr lang="en-IE" dirty="0"/>
              <a:t>Random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9600" y="2720182"/>
            <a:ext cx="6781800" cy="228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762000" y="4419600"/>
            <a:ext cx="2057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0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b="1" dirty="0"/>
              <a:t>Random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7467600" cy="1263650"/>
          </a:xfrm>
        </p:spPr>
        <p:txBody>
          <a:bodyPr/>
          <a:lstStyle/>
          <a:p>
            <a:r>
              <a:rPr lang="en-GB" dirty="0"/>
              <a:t>The library class </a:t>
            </a:r>
            <a:r>
              <a:rPr lang="en-GB" b="1" dirty="0">
                <a:solidFill>
                  <a:srgbClr val="FF0000"/>
                </a:solidFill>
                <a:latin typeface="Courier New" charset="0"/>
              </a:rPr>
              <a:t>Random</a:t>
            </a:r>
            <a:r>
              <a:rPr lang="en-GB" dirty="0">
                <a:solidFill>
                  <a:srgbClr val="FF0000"/>
                </a:solidFill>
              </a:rPr>
              <a:t>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/>
              <a:t>can be used to generate random numbers</a:t>
            </a:r>
            <a:endParaRPr lang="en-AU" sz="20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2209801" y="3012489"/>
            <a:ext cx="7848599" cy="326994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198000" tIns="190800" rIns="198000" bIns="190800"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sz="2000" dirty="0"/>
              <a:t>import </a:t>
            </a:r>
            <a:r>
              <a:rPr lang="en-GB" sz="2000" dirty="0" err="1"/>
              <a:t>java.util.</a:t>
            </a:r>
            <a:r>
              <a:rPr lang="en-GB" sz="2000" b="1" dirty="0" err="1"/>
              <a:t>Random</a:t>
            </a:r>
            <a:r>
              <a:rPr lang="en-GB" sz="2000" dirty="0"/>
              <a:t>; 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// import the library class</a:t>
            </a:r>
            <a:endParaRPr lang="en-GB" dirty="0">
              <a:solidFill>
                <a:schemeClr val="bg1">
                  <a:lumMod val="50000"/>
                </a:schemeClr>
              </a:solidFill>
              <a:latin typeface="Times New Roman" charset="0"/>
            </a:endParaRPr>
          </a:p>
          <a:p>
            <a:pPr>
              <a:spcBef>
                <a:spcPct val="0"/>
              </a:spcBef>
              <a:buClrTx/>
            </a:pPr>
            <a:r>
              <a:rPr lang="en-AU" sz="2000" dirty="0"/>
              <a:t>...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/>
              <a:t>Random </a:t>
            </a:r>
            <a:r>
              <a:rPr lang="en-AU" sz="2000" dirty="0" err="1"/>
              <a:t>randomGenerator</a:t>
            </a:r>
            <a:r>
              <a:rPr lang="en-AU" sz="2000" dirty="0"/>
              <a:t> = new Random();  </a:t>
            </a: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// declare &amp; </a:t>
            </a:r>
            <a:r>
              <a:rPr lang="en-AU" sz="2000" dirty="0" err="1">
                <a:solidFill>
                  <a:schemeClr val="bg1">
                    <a:lumMod val="50000"/>
                  </a:schemeClr>
                </a:solidFill>
              </a:rPr>
              <a:t>init</a:t>
            </a: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 variable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/>
              <a:t>...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//random </a:t>
            </a:r>
            <a:r>
              <a:rPr lang="en-AU" sz="2000" dirty="0" err="1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 number (no upper or lower bound)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 err="1"/>
              <a:t>int</a:t>
            </a:r>
            <a:r>
              <a:rPr lang="en-AU" sz="2000" dirty="0"/>
              <a:t> index1 = </a:t>
            </a:r>
            <a:r>
              <a:rPr lang="en-AU" sz="2000" dirty="0" err="1"/>
              <a:t>randomGenerator</a:t>
            </a:r>
            <a:r>
              <a:rPr lang="en-AU" sz="2000" b="1" dirty="0" err="1"/>
              <a:t>.nextInt</a:t>
            </a:r>
            <a:r>
              <a:rPr lang="en-AU" sz="2000" b="1" dirty="0"/>
              <a:t>();  </a:t>
            </a:r>
          </a:p>
          <a:p>
            <a:pPr>
              <a:spcBef>
                <a:spcPct val="0"/>
              </a:spcBef>
              <a:buClrTx/>
            </a:pPr>
            <a:endParaRPr lang="en-AU" sz="2000" dirty="0"/>
          </a:p>
          <a:p>
            <a:pPr>
              <a:spcBef>
                <a:spcPct val="0"/>
              </a:spcBef>
              <a:buClrTx/>
            </a:pPr>
            <a:r>
              <a:rPr lang="en-AU" sz="2000" dirty="0">
                <a:solidFill>
                  <a:schemeClr val="bg1">
                    <a:lumMod val="50000"/>
                  </a:schemeClr>
                </a:solidFill>
              </a:rPr>
              <a:t>//random number between 0 (inclusive) and 100 (exclusive)</a:t>
            </a:r>
          </a:p>
          <a:p>
            <a:pPr>
              <a:spcBef>
                <a:spcPct val="0"/>
              </a:spcBef>
              <a:buClrTx/>
            </a:pPr>
            <a:r>
              <a:rPr lang="en-AU" sz="2000" dirty="0" err="1"/>
              <a:t>int</a:t>
            </a:r>
            <a:r>
              <a:rPr lang="en-AU" sz="2000" dirty="0"/>
              <a:t> index2 = </a:t>
            </a:r>
            <a:r>
              <a:rPr lang="en-AU" sz="2000" dirty="0" err="1"/>
              <a:t>randomGenerator</a:t>
            </a:r>
            <a:r>
              <a:rPr lang="en-AU" sz="2000" b="1" dirty="0" err="1"/>
              <a:t>.nextInt</a:t>
            </a:r>
            <a:r>
              <a:rPr lang="en-AU" sz="2000" b="1" dirty="0"/>
              <a:t>(100);   </a:t>
            </a:r>
          </a:p>
        </p:txBody>
      </p:sp>
    </p:spTree>
    <p:extLst>
      <p:ext uri="{BB962C8B-B14F-4D97-AF65-F5344CB8AC3E}">
        <p14:creationId xmlns:p14="http://schemas.microsoft.com/office/powerpoint/2010/main" val="208094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0" y="76201"/>
            <a:ext cx="861060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import </a:t>
            </a:r>
            <a:r>
              <a:rPr lang="en-IE" dirty="0" err="1"/>
              <a:t>java.util.</a:t>
            </a:r>
            <a:r>
              <a:rPr lang="en-IE" b="1" dirty="0" err="1"/>
              <a:t>ArrayList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</a:t>
            </a:r>
            <a:r>
              <a:rPr lang="en-IE" b="1" dirty="0"/>
              <a:t>Responder</a:t>
            </a:r>
            <a:r>
              <a:rPr lang="en-IE" dirty="0"/>
              <a:t>{    </a:t>
            </a:r>
          </a:p>
          <a:p>
            <a:r>
              <a:rPr lang="en-IE" dirty="0"/>
              <a:t>    private </a:t>
            </a:r>
            <a:r>
              <a:rPr lang="en-IE" dirty="0" err="1"/>
              <a:t>ArrayList</a:t>
            </a:r>
            <a:r>
              <a:rPr lang="en-IE" dirty="0"/>
              <a:t>&lt;String&gt; </a:t>
            </a:r>
            <a:r>
              <a:rPr lang="en-IE" b="1" dirty="0">
                <a:solidFill>
                  <a:srgbClr val="FF0000"/>
                </a:solidFill>
              </a:rPr>
              <a:t>responses</a:t>
            </a:r>
            <a:r>
              <a:rPr lang="en-IE" dirty="0"/>
              <a:t>;    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b="1" dirty="0"/>
              <a:t>Responder()</a:t>
            </a:r>
            <a:r>
              <a:rPr lang="en-IE" dirty="0"/>
              <a:t>    {        </a:t>
            </a:r>
          </a:p>
          <a:p>
            <a:r>
              <a:rPr lang="en-IE" dirty="0"/>
              <a:t>         </a:t>
            </a:r>
            <a:r>
              <a:rPr lang="en-IE" b="1" dirty="0">
                <a:solidFill>
                  <a:srgbClr val="FF0000"/>
                </a:solidFill>
              </a:rPr>
              <a:t>responses</a:t>
            </a:r>
            <a:r>
              <a:rPr lang="en-IE" dirty="0"/>
              <a:t> = new </a:t>
            </a:r>
            <a:r>
              <a:rPr lang="en-IE" dirty="0" err="1"/>
              <a:t>ArrayList</a:t>
            </a:r>
            <a:r>
              <a:rPr lang="en-IE" dirty="0"/>
              <a:t>&lt;String&gt;();        				                 </a:t>
            </a:r>
          </a:p>
          <a:p>
            <a:r>
              <a:rPr lang="en-IE" dirty="0"/>
              <a:t>         </a:t>
            </a:r>
            <a:r>
              <a:rPr lang="en-IE" dirty="0" err="1"/>
              <a:t>fillResponses</a:t>
            </a:r>
            <a:r>
              <a:rPr lang="en-IE" dirty="0"/>
              <a:t>();    </a:t>
            </a:r>
          </a:p>
          <a:p>
            <a:r>
              <a:rPr lang="en-IE" dirty="0"/>
              <a:t>    }</a:t>
            </a:r>
          </a:p>
          <a:p>
            <a:endParaRPr lang="en-IE" b="1" dirty="0"/>
          </a:p>
          <a:p>
            <a:r>
              <a:rPr lang="en-IE" b="1" dirty="0"/>
              <a:t>    </a:t>
            </a:r>
            <a:r>
              <a:rPr lang="en-IE" dirty="0"/>
              <a:t>private void </a:t>
            </a:r>
            <a:r>
              <a:rPr lang="en-IE" b="1" dirty="0" err="1"/>
              <a:t>fillResponses</a:t>
            </a:r>
            <a:r>
              <a:rPr lang="en-IE" b="1" dirty="0"/>
              <a:t>() 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 sounds odd. Could you describe that problem in more detail?");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("No other customer has ever complained about this before. \n" +</a:t>
            </a:r>
          </a:p>
          <a:p>
            <a:r>
              <a:rPr lang="en-IE" dirty="0"/>
              <a:t>                                   "What is your system configuration?");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 sounds interesting. Tell me more...");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("I need a bit more information on that.");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 is explained in the manual. Have you read the manual?");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("Your description is a bit wishy-washy. Have you got an expert\n" +</a:t>
            </a:r>
          </a:p>
          <a:p>
            <a:r>
              <a:rPr lang="en-IE" dirty="0"/>
              <a:t>                                   "there with you who could describe this more precisely?");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("That's not a bug, it's a feature!");</a:t>
            </a:r>
          </a:p>
          <a:p>
            <a:r>
              <a:rPr lang="en-IE" dirty="0"/>
              <a:t>        </a:t>
            </a:r>
            <a:r>
              <a:rPr lang="en-IE" dirty="0" err="1"/>
              <a:t>responses.add</a:t>
            </a:r>
            <a:r>
              <a:rPr lang="en-IE" dirty="0"/>
              <a:t>("Could you elaborate on that?");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762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8915400" y="1016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5791200" y="891809"/>
            <a:ext cx="4724400" cy="25545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V2.0 Responder…changes</a:t>
            </a:r>
          </a:p>
          <a:p>
            <a:pPr algn="ctr"/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The Responder class declares a private </a:t>
            </a:r>
            <a:r>
              <a:rPr lang="en-IE" sz="2000" dirty="0" err="1"/>
              <a:t>ArrayList</a:t>
            </a:r>
            <a:r>
              <a:rPr lang="en-IE" sz="2000" dirty="0"/>
              <a:t> of Strings called </a:t>
            </a:r>
            <a:r>
              <a:rPr lang="en-IE" sz="2000" b="1" dirty="0">
                <a:solidFill>
                  <a:srgbClr val="FF0000"/>
                </a:solidFill>
              </a:rPr>
              <a:t>responses</a:t>
            </a:r>
            <a:r>
              <a:rPr lang="en-IE" sz="2000" dirty="0"/>
              <a:t>, which is initialised in the constructor. 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This is used by </a:t>
            </a:r>
            <a:r>
              <a:rPr lang="en-IE" sz="2000" dirty="0" err="1"/>
              <a:t>fillResponses</a:t>
            </a:r>
            <a:r>
              <a:rPr lang="en-IE" sz="2000" dirty="0"/>
              <a:t>() </a:t>
            </a:r>
          </a:p>
          <a:p>
            <a:pPr algn="ctr"/>
            <a:r>
              <a:rPr lang="en-IE" sz="2000" dirty="0"/>
              <a:t>to create the repository of responses.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0" y="914401"/>
            <a:ext cx="3581400" cy="4035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2133600" y="1765300"/>
            <a:ext cx="3581400" cy="5969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026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457200"/>
            <a:ext cx="8529375" cy="59400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import </a:t>
            </a:r>
            <a:r>
              <a:rPr lang="en-IE" sz="2000" dirty="0" err="1"/>
              <a:t>java.util.ArrayList</a:t>
            </a:r>
            <a:r>
              <a:rPr lang="en-IE" sz="2000" dirty="0"/>
              <a:t>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import </a:t>
            </a:r>
            <a:r>
              <a:rPr lang="en-IE" sz="2000" dirty="0" err="1">
                <a:solidFill>
                  <a:srgbClr val="FF0000"/>
                </a:solidFill>
              </a:rPr>
              <a:t>java.util.Random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</a:p>
          <a:p>
            <a:endParaRPr lang="en-IE" sz="2000" dirty="0"/>
          </a:p>
          <a:p>
            <a:r>
              <a:rPr lang="en-IE" sz="2000" dirty="0"/>
              <a:t>public class Responder{    </a:t>
            </a:r>
          </a:p>
          <a:p>
            <a:r>
              <a:rPr lang="en-IE" sz="2000" dirty="0"/>
              <a:t>     </a:t>
            </a:r>
            <a:r>
              <a:rPr lang="en-IE" sz="2000" dirty="0">
                <a:solidFill>
                  <a:srgbClr val="FF0000"/>
                </a:solidFill>
              </a:rPr>
              <a:t>private Random </a:t>
            </a:r>
            <a:r>
              <a:rPr lang="en-IE" sz="2000" dirty="0" err="1">
                <a:solidFill>
                  <a:srgbClr val="FF0000"/>
                </a:solidFill>
              </a:rPr>
              <a:t>randomGenerator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  <a:r>
              <a:rPr lang="en-IE" sz="2000" dirty="0"/>
              <a:t>    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declare</a:t>
            </a:r>
          </a:p>
          <a:p>
            <a:r>
              <a:rPr lang="en-IE" sz="2000" dirty="0"/>
              <a:t>     private </a:t>
            </a:r>
            <a:r>
              <a:rPr lang="en-IE" sz="2000" dirty="0" err="1"/>
              <a:t>ArrayList</a:t>
            </a:r>
            <a:r>
              <a:rPr lang="en-IE" sz="2000" dirty="0"/>
              <a:t>&lt;String&gt; responses;    </a:t>
            </a:r>
          </a:p>
          <a:p>
            <a:endParaRPr lang="en-IE" sz="2000" dirty="0"/>
          </a:p>
          <a:p>
            <a:r>
              <a:rPr lang="en-IE" sz="2000" dirty="0"/>
              <a:t>     public Responder()    {        </a:t>
            </a:r>
          </a:p>
          <a:p>
            <a:r>
              <a:rPr lang="en-IE" sz="2000" dirty="0"/>
              <a:t>	</a:t>
            </a:r>
            <a:r>
              <a:rPr lang="en-IE" sz="2000" dirty="0" err="1">
                <a:solidFill>
                  <a:srgbClr val="FF0000"/>
                </a:solidFill>
              </a:rPr>
              <a:t>randomGenerator</a:t>
            </a:r>
            <a:r>
              <a:rPr lang="en-IE" sz="2000" dirty="0">
                <a:solidFill>
                  <a:srgbClr val="FF0000"/>
                </a:solidFill>
              </a:rPr>
              <a:t> = new Random(); 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IE" sz="2000" dirty="0" err="1">
                <a:solidFill>
                  <a:schemeClr val="bg1">
                    <a:lumMod val="50000"/>
                  </a:schemeClr>
                </a:solidFill>
              </a:rPr>
              <a:t>init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      </a:t>
            </a:r>
          </a:p>
          <a:p>
            <a:r>
              <a:rPr lang="en-IE" sz="2000" dirty="0"/>
              <a:t>	responses = new </a:t>
            </a:r>
            <a:r>
              <a:rPr lang="en-IE" sz="2000" dirty="0" err="1"/>
              <a:t>ArrayList</a:t>
            </a:r>
            <a:r>
              <a:rPr lang="en-IE" sz="2000" dirty="0"/>
              <a:t>&lt;String&gt;();        					</a:t>
            </a:r>
            <a:r>
              <a:rPr lang="en-IE" sz="2000" dirty="0" err="1"/>
              <a:t>fillResponses</a:t>
            </a:r>
            <a:r>
              <a:rPr lang="en-IE" sz="2000" dirty="0"/>
              <a:t>();    </a:t>
            </a:r>
          </a:p>
          <a:p>
            <a:r>
              <a:rPr lang="en-IE" sz="2000" dirty="0"/>
              <a:t>     }</a:t>
            </a:r>
          </a:p>
          <a:p>
            <a:r>
              <a:rPr lang="en-IE" sz="2000" dirty="0"/>
              <a:t> </a:t>
            </a:r>
          </a:p>
          <a:p>
            <a:r>
              <a:rPr lang="en-IE" sz="2000" b="1" dirty="0"/>
              <a:t>     </a:t>
            </a:r>
            <a:r>
              <a:rPr lang="en-IE" sz="2000" dirty="0">
                <a:solidFill>
                  <a:schemeClr val="tx1"/>
                </a:solidFill>
              </a:rPr>
              <a:t>public String </a:t>
            </a:r>
            <a:r>
              <a:rPr lang="en-IE" sz="2000" dirty="0" err="1">
                <a:solidFill>
                  <a:srgbClr val="FF0000"/>
                </a:solidFill>
              </a:rPr>
              <a:t>generateResponse</a:t>
            </a:r>
            <a:r>
              <a:rPr lang="en-IE" sz="2000" dirty="0">
                <a:solidFill>
                  <a:srgbClr val="FF0000"/>
                </a:solidFill>
              </a:rPr>
              <a:t>() </a:t>
            </a:r>
            <a:r>
              <a:rPr lang="en-IE" sz="2000" dirty="0">
                <a:solidFill>
                  <a:schemeClr val="tx1"/>
                </a:solidFill>
              </a:rPr>
              <a:t>{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 	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Pick a random number between 0 (inclusive) and the size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	// of the </a:t>
            </a:r>
            <a:r>
              <a:rPr lang="en-IE" sz="2000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(exclusive).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	</a:t>
            </a:r>
            <a:r>
              <a:rPr lang="en-IE" sz="2000" dirty="0" err="1">
                <a:solidFill>
                  <a:srgbClr val="FF0000"/>
                </a:solidFill>
              </a:rPr>
              <a:t>int</a:t>
            </a:r>
            <a:r>
              <a:rPr lang="en-IE" sz="2000" dirty="0">
                <a:solidFill>
                  <a:srgbClr val="FF0000"/>
                </a:solidFill>
              </a:rPr>
              <a:t> index = </a:t>
            </a:r>
            <a:r>
              <a:rPr lang="en-IE" sz="2000" dirty="0" err="1">
                <a:solidFill>
                  <a:srgbClr val="FF0000"/>
                </a:solidFill>
              </a:rPr>
              <a:t>randomGenerator</a:t>
            </a:r>
            <a:r>
              <a:rPr lang="en-IE" sz="2000" dirty="0" err="1">
                <a:solidFill>
                  <a:schemeClr val="tx1"/>
                </a:solidFill>
              </a:rPr>
              <a:t>.nextInt</a:t>
            </a:r>
            <a:r>
              <a:rPr lang="en-IE" sz="2000" dirty="0">
                <a:solidFill>
                  <a:srgbClr val="FF0000"/>
                </a:solidFill>
              </a:rPr>
              <a:t>(</a:t>
            </a:r>
            <a:r>
              <a:rPr lang="en-IE" sz="2000" b="1" dirty="0" err="1">
                <a:solidFill>
                  <a:srgbClr val="FF0000"/>
                </a:solidFill>
              </a:rPr>
              <a:t>responses.size</a:t>
            </a:r>
            <a:r>
              <a:rPr lang="en-IE" sz="2000" b="1" dirty="0">
                <a:solidFill>
                  <a:srgbClr val="FF0000"/>
                </a:solidFill>
              </a:rPr>
              <a:t>()</a:t>
            </a:r>
            <a:r>
              <a:rPr lang="en-IE" sz="2000" dirty="0">
                <a:solidFill>
                  <a:srgbClr val="FF0000"/>
                </a:solidFill>
              </a:rPr>
              <a:t>)</a:t>
            </a:r>
            <a:r>
              <a:rPr lang="en-IE" sz="2000" b="1" dirty="0">
                <a:solidFill>
                  <a:srgbClr val="FF0000"/>
                </a:solidFill>
              </a:rPr>
              <a:t>;  </a:t>
            </a:r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// repo size</a:t>
            </a:r>
            <a:endParaRPr lang="en-IE" sz="20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sz="2000" dirty="0">
                <a:solidFill>
                  <a:srgbClr val="FF0000"/>
                </a:solidFill>
              </a:rPr>
              <a:t>	return </a:t>
            </a:r>
            <a:r>
              <a:rPr lang="en-IE" sz="2000" b="1" dirty="0" err="1">
                <a:solidFill>
                  <a:srgbClr val="FF0000"/>
                </a:solidFill>
              </a:rPr>
              <a:t>responses.get</a:t>
            </a:r>
            <a:r>
              <a:rPr lang="en-IE" sz="2000" b="1" dirty="0">
                <a:solidFill>
                  <a:srgbClr val="FF0000"/>
                </a:solidFill>
              </a:rPr>
              <a:t>(index);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 </a:t>
            </a:r>
            <a:r>
              <a:rPr lang="en-IE" sz="2000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6781801" y="3324762"/>
            <a:ext cx="3657601" cy="13234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>
                <a:solidFill>
                  <a:srgbClr val="FF0000"/>
                </a:solidFill>
              </a:rPr>
              <a:t>V2.0 Responder changes…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to return a </a:t>
            </a:r>
            <a:r>
              <a:rPr lang="en-IE" sz="2000" b="1" dirty="0"/>
              <a:t>random</a:t>
            </a:r>
            <a:r>
              <a:rPr lang="en-IE" sz="2000" dirty="0"/>
              <a:t> response from a repository of responses.</a:t>
            </a:r>
          </a:p>
        </p:txBody>
      </p:sp>
    </p:spTree>
    <p:extLst>
      <p:ext uri="{BB962C8B-B14F-4D97-AF65-F5344CB8AC3E}">
        <p14:creationId xmlns:p14="http://schemas.microsoft.com/office/powerpoint/2010/main" val="298214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0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622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5151</TotalTime>
  <Words>1268</Words>
  <Application>Microsoft Macintosh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Times New Roman</vt:lpstr>
      <vt:lpstr>Office Theme</vt:lpstr>
      <vt:lpstr>More Sophisticated Behaviour</vt:lpstr>
      <vt:lpstr>Topic List</vt:lpstr>
      <vt:lpstr>Technical Support System V1</vt:lpstr>
      <vt:lpstr>Technical Support System V1</vt:lpstr>
      <vt:lpstr>Topic List</vt:lpstr>
      <vt:lpstr>Technical Support System V2</vt:lpstr>
      <vt:lpstr>Technical Support System V2</vt:lpstr>
      <vt:lpstr>Class Diagram V2</vt:lpstr>
      <vt:lpstr>PowerPoint Presentation</vt:lpstr>
      <vt:lpstr>PowerPoint Presentation</vt:lpstr>
      <vt:lpstr>PowerPoint Presentation</vt:lpstr>
      <vt:lpstr>Topic List</vt:lpstr>
      <vt:lpstr>PowerPoint Presentation</vt:lpstr>
      <vt:lpstr>Repository of Responses</vt:lpstr>
      <vt:lpstr>Topic List</vt:lpstr>
      <vt:lpstr>Using Random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151</cp:revision>
  <dcterms:created xsi:type="dcterms:W3CDTF">2006-08-16T00:00:00Z</dcterms:created>
  <dcterms:modified xsi:type="dcterms:W3CDTF">2025-03-08T08:51:50Z</dcterms:modified>
</cp:coreProperties>
</file>