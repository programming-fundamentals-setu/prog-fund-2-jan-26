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445" r:id="rId3"/>
    <p:sldId id="396" r:id="rId4"/>
    <p:sldId id="407" r:id="rId5"/>
    <p:sldId id="449" r:id="rId6"/>
    <p:sldId id="408" r:id="rId7"/>
    <p:sldId id="462" r:id="rId8"/>
    <p:sldId id="447" r:id="rId9"/>
    <p:sldId id="448" r:id="rId10"/>
    <p:sldId id="463" r:id="rId11"/>
    <p:sldId id="409" r:id="rId12"/>
    <p:sldId id="454" r:id="rId13"/>
    <p:sldId id="464" r:id="rId14"/>
    <p:sldId id="450" r:id="rId15"/>
    <p:sldId id="465" r:id="rId16"/>
    <p:sldId id="451" r:id="rId17"/>
    <p:sldId id="466" r:id="rId18"/>
    <p:sldId id="453" r:id="rId19"/>
    <p:sldId id="467" r:id="rId20"/>
    <p:sldId id="452" r:id="rId21"/>
    <p:sldId id="455" r:id="rId22"/>
    <p:sldId id="456" r:id="rId23"/>
    <p:sldId id="39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4" autoAdjust="0"/>
    <p:restoredTop sz="94625"/>
  </p:normalViewPr>
  <p:slideViewPr>
    <p:cSldViewPr>
      <p:cViewPr varScale="1">
        <p:scale>
          <a:sx n="112" d="100"/>
          <a:sy n="112" d="100"/>
        </p:scale>
        <p:origin x="760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BF769F-E341-43CB-A9CC-F6054B2AFA2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8BAC3E6-11A6-4446-A283-85B90A9C4749}">
      <dgm:prSet custT="1"/>
      <dgm:spPr/>
      <dgm:t>
        <a:bodyPr/>
        <a:lstStyle/>
        <a:p>
          <a:r>
            <a:rPr lang="en-GB" sz="2000" dirty="0"/>
            <a:t>Console based system.</a:t>
          </a:r>
          <a:endParaRPr lang="en-US" sz="2000" dirty="0"/>
        </a:p>
      </dgm:t>
    </dgm:pt>
    <dgm:pt modelId="{C4C5BFA9-8300-454C-9B13-DD75098A86BD}" type="parTrans" cxnId="{F5B9209F-5E18-42BB-9AC0-93D8432F19AC}">
      <dgm:prSet/>
      <dgm:spPr/>
      <dgm:t>
        <a:bodyPr/>
        <a:lstStyle/>
        <a:p>
          <a:endParaRPr lang="en-US"/>
        </a:p>
      </dgm:t>
    </dgm:pt>
    <dgm:pt modelId="{0C156109-8466-4A78-84C0-C38158F9B090}" type="sibTrans" cxnId="{F5B9209F-5E18-42BB-9AC0-93D8432F19A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053F2AB-ABF2-45DD-BEA6-5E4729597F52}">
      <dgm:prSet custT="1"/>
      <dgm:spPr/>
      <dgm:t>
        <a:bodyPr/>
        <a:lstStyle/>
        <a:p>
          <a:r>
            <a:rPr lang="en-GB" sz="2000" dirty="0"/>
            <a:t>Textual dialog system </a:t>
          </a:r>
          <a:endParaRPr lang="en-US" sz="2000" dirty="0"/>
        </a:p>
      </dgm:t>
    </dgm:pt>
    <dgm:pt modelId="{96EC4360-76AA-46E6-A2E2-4BAB9C1B3265}" type="parTrans" cxnId="{E9291861-217D-4753-9B2F-19F5FF33AAC3}">
      <dgm:prSet/>
      <dgm:spPr/>
      <dgm:t>
        <a:bodyPr/>
        <a:lstStyle/>
        <a:p>
          <a:endParaRPr lang="en-US"/>
        </a:p>
      </dgm:t>
    </dgm:pt>
    <dgm:pt modelId="{67C81A47-BFAA-4B62-AB0D-969E5BE5572F}" type="sibTrans" cxnId="{E9291861-217D-4753-9B2F-19F5FF33AAC3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512B41A-0512-44AA-B564-326C7987A0EA}">
      <dgm:prSet custT="1"/>
      <dgm:spPr/>
      <dgm:t>
        <a:bodyPr/>
        <a:lstStyle/>
        <a:p>
          <a:r>
            <a:rPr lang="en-GB" sz="1600" dirty="0"/>
            <a:t>you enter text on the console and the system will provide a response.</a:t>
          </a:r>
          <a:endParaRPr lang="en-US" sz="1600" dirty="0"/>
        </a:p>
      </dgm:t>
    </dgm:pt>
    <dgm:pt modelId="{BDF2275A-1C3A-45DC-8919-63F8FD22B80D}" type="parTrans" cxnId="{0D698A6E-C82E-49F8-A32C-0BD20D2A51C4}">
      <dgm:prSet/>
      <dgm:spPr/>
      <dgm:t>
        <a:bodyPr/>
        <a:lstStyle/>
        <a:p>
          <a:endParaRPr lang="en-US"/>
        </a:p>
      </dgm:t>
    </dgm:pt>
    <dgm:pt modelId="{D572C6AD-341F-4F0D-A25C-2D08BFB266B2}" type="sibTrans" cxnId="{0D698A6E-C82E-49F8-A32C-0BD20D2A51C4}">
      <dgm:prSet/>
      <dgm:spPr/>
      <dgm:t>
        <a:bodyPr/>
        <a:lstStyle/>
        <a:p>
          <a:endParaRPr lang="en-US"/>
        </a:p>
      </dgm:t>
    </dgm:pt>
    <dgm:pt modelId="{9A07A9CE-3055-4389-8B9E-B25528CBAB15}">
      <dgm:prSet custT="1"/>
      <dgm:spPr/>
      <dgm:t>
        <a:bodyPr/>
        <a:lstStyle/>
        <a:p>
          <a:r>
            <a:rPr lang="en-GB" sz="2000"/>
            <a:t>System </a:t>
          </a:r>
          <a:r>
            <a:rPr lang="en-GB" sz="2000" u="sng"/>
            <a:t>always</a:t>
          </a:r>
          <a:r>
            <a:rPr lang="en-GB" sz="2000"/>
            <a:t> responds with the same String:</a:t>
          </a:r>
          <a:endParaRPr lang="en-US" sz="2000"/>
        </a:p>
      </dgm:t>
    </dgm:pt>
    <dgm:pt modelId="{C5682886-3515-4DDF-A329-D34373FC797D}" type="parTrans" cxnId="{A729EE9F-E8CF-48A1-B539-0D78B542C181}">
      <dgm:prSet/>
      <dgm:spPr/>
      <dgm:t>
        <a:bodyPr/>
        <a:lstStyle/>
        <a:p>
          <a:endParaRPr lang="en-US"/>
        </a:p>
      </dgm:t>
    </dgm:pt>
    <dgm:pt modelId="{0CFFD0D2-5A3B-4F95-8C1D-1C4300AB478E}" type="sibTrans" cxnId="{A729EE9F-E8CF-48A1-B539-0D78B542C18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306B4D-A519-4D6B-82B6-FC38C6ED7129}">
      <dgm:prSet custT="1"/>
      <dgm:spPr/>
      <dgm:t>
        <a:bodyPr/>
        <a:lstStyle/>
        <a:p>
          <a:r>
            <a:rPr lang="en-GB" sz="1600" i="1" dirty="0"/>
            <a:t>“That sounds interesting.  Tell me more…”</a:t>
          </a:r>
          <a:endParaRPr lang="en-US" sz="1400" dirty="0"/>
        </a:p>
      </dgm:t>
    </dgm:pt>
    <dgm:pt modelId="{9620D322-2072-424C-AF51-FF26DA208B1D}" type="parTrans" cxnId="{AF8132CB-448F-481E-B989-AA00F18BE498}">
      <dgm:prSet/>
      <dgm:spPr/>
      <dgm:t>
        <a:bodyPr/>
        <a:lstStyle/>
        <a:p>
          <a:endParaRPr lang="en-US"/>
        </a:p>
      </dgm:t>
    </dgm:pt>
    <dgm:pt modelId="{ABA879A6-3736-4EAA-9367-FFE3B52F4D6A}" type="sibTrans" cxnId="{AF8132CB-448F-481E-B989-AA00F18BE498}">
      <dgm:prSet/>
      <dgm:spPr/>
      <dgm:t>
        <a:bodyPr/>
        <a:lstStyle/>
        <a:p>
          <a:endParaRPr lang="en-US"/>
        </a:p>
      </dgm:t>
    </dgm:pt>
    <dgm:pt modelId="{BE341AC7-538A-D54B-89AB-7379EB577F42}" type="pres">
      <dgm:prSet presAssocID="{BABF769F-E341-43CB-A9CC-F6054B2AFA2F}" presName="Name0" presStyleCnt="0">
        <dgm:presLayoutVars>
          <dgm:animLvl val="lvl"/>
          <dgm:resizeHandles val="exact"/>
        </dgm:presLayoutVars>
      </dgm:prSet>
      <dgm:spPr/>
    </dgm:pt>
    <dgm:pt modelId="{2DA5138F-4868-8C4C-836A-E322BB339FDB}" type="pres">
      <dgm:prSet presAssocID="{D8BAC3E6-11A6-4446-A283-85B90A9C4749}" presName="compositeNode" presStyleCnt="0">
        <dgm:presLayoutVars>
          <dgm:bulletEnabled val="1"/>
        </dgm:presLayoutVars>
      </dgm:prSet>
      <dgm:spPr/>
    </dgm:pt>
    <dgm:pt modelId="{FA07C0D5-B833-A649-B915-7F46FD94A56F}" type="pres">
      <dgm:prSet presAssocID="{D8BAC3E6-11A6-4446-A283-85B90A9C4749}" presName="bgRect" presStyleLbl="alignNode1" presStyleIdx="0" presStyleCnt="3"/>
      <dgm:spPr/>
    </dgm:pt>
    <dgm:pt modelId="{21F023C5-B419-C64E-9EB3-5DBA13BF354E}" type="pres">
      <dgm:prSet presAssocID="{0C156109-8466-4A78-84C0-C38158F9B0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2123ED2-0EC3-F84E-9D35-A2F0E89785EC}" type="pres">
      <dgm:prSet presAssocID="{D8BAC3E6-11A6-4446-A283-85B90A9C4749}" presName="nodeRect" presStyleLbl="alignNode1" presStyleIdx="0" presStyleCnt="3">
        <dgm:presLayoutVars>
          <dgm:bulletEnabled val="1"/>
        </dgm:presLayoutVars>
      </dgm:prSet>
      <dgm:spPr/>
    </dgm:pt>
    <dgm:pt modelId="{C3A1793D-D56E-9F4F-9C58-EED0F944F173}" type="pres">
      <dgm:prSet presAssocID="{0C156109-8466-4A78-84C0-C38158F9B090}" presName="sibTrans" presStyleCnt="0"/>
      <dgm:spPr/>
    </dgm:pt>
    <dgm:pt modelId="{817C2DEA-7EDC-024D-A169-4C395E13EFD4}" type="pres">
      <dgm:prSet presAssocID="{0053F2AB-ABF2-45DD-BEA6-5E4729597F52}" presName="compositeNode" presStyleCnt="0">
        <dgm:presLayoutVars>
          <dgm:bulletEnabled val="1"/>
        </dgm:presLayoutVars>
      </dgm:prSet>
      <dgm:spPr/>
    </dgm:pt>
    <dgm:pt modelId="{5A4B8CEF-4DC3-5D4B-A887-90500D59A54B}" type="pres">
      <dgm:prSet presAssocID="{0053F2AB-ABF2-45DD-BEA6-5E4729597F52}" presName="bgRect" presStyleLbl="alignNode1" presStyleIdx="1" presStyleCnt="3"/>
      <dgm:spPr/>
    </dgm:pt>
    <dgm:pt modelId="{66B698B1-611A-154C-BDAF-F92DF3D1C9B2}" type="pres">
      <dgm:prSet presAssocID="{67C81A47-BFAA-4B62-AB0D-969E5BE5572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B70381D-F437-6243-B435-A7CCEF7AD513}" type="pres">
      <dgm:prSet presAssocID="{0053F2AB-ABF2-45DD-BEA6-5E4729597F52}" presName="nodeRect" presStyleLbl="alignNode1" presStyleIdx="1" presStyleCnt="3">
        <dgm:presLayoutVars>
          <dgm:bulletEnabled val="1"/>
        </dgm:presLayoutVars>
      </dgm:prSet>
      <dgm:spPr/>
    </dgm:pt>
    <dgm:pt modelId="{8721E534-4739-234C-80AF-91504DAF990E}" type="pres">
      <dgm:prSet presAssocID="{67C81A47-BFAA-4B62-AB0D-969E5BE5572F}" presName="sibTrans" presStyleCnt="0"/>
      <dgm:spPr/>
    </dgm:pt>
    <dgm:pt modelId="{134979CD-29C4-4D48-8CA4-E6F6A7C086D0}" type="pres">
      <dgm:prSet presAssocID="{9A07A9CE-3055-4389-8B9E-B25528CBAB15}" presName="compositeNode" presStyleCnt="0">
        <dgm:presLayoutVars>
          <dgm:bulletEnabled val="1"/>
        </dgm:presLayoutVars>
      </dgm:prSet>
      <dgm:spPr/>
    </dgm:pt>
    <dgm:pt modelId="{FFA016AB-CB14-A14F-9E0A-5D91FACD94F3}" type="pres">
      <dgm:prSet presAssocID="{9A07A9CE-3055-4389-8B9E-B25528CBAB15}" presName="bgRect" presStyleLbl="alignNode1" presStyleIdx="2" presStyleCnt="3"/>
      <dgm:spPr/>
    </dgm:pt>
    <dgm:pt modelId="{93377086-3AA2-1243-A56D-CAED303EC156}" type="pres">
      <dgm:prSet presAssocID="{0CFFD0D2-5A3B-4F95-8C1D-1C4300AB478E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39012354-9693-4048-8E35-630D80E97A28}" type="pres">
      <dgm:prSet presAssocID="{9A07A9CE-3055-4389-8B9E-B25528CBAB15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F0DC0709-26D8-AB46-997C-B0A085052809}" type="presOf" srcId="{0053F2AB-ABF2-45DD-BEA6-5E4729597F52}" destId="{5A4B8CEF-4DC3-5D4B-A887-90500D59A54B}" srcOrd="0" destOrd="0" presId="urn:microsoft.com/office/officeart/2016/7/layout/LinearBlockProcessNumbered"/>
    <dgm:cxn modelId="{D3048814-5EFC-3B43-B21D-307E753A9668}" type="presOf" srcId="{9A07A9CE-3055-4389-8B9E-B25528CBAB15}" destId="{FFA016AB-CB14-A14F-9E0A-5D91FACD94F3}" srcOrd="0" destOrd="0" presId="urn:microsoft.com/office/officeart/2016/7/layout/LinearBlockProcessNumbered"/>
    <dgm:cxn modelId="{75839525-EA17-4146-B745-D5FF9C03EAA8}" type="presOf" srcId="{67C81A47-BFAA-4B62-AB0D-969E5BE5572F}" destId="{66B698B1-611A-154C-BDAF-F92DF3D1C9B2}" srcOrd="0" destOrd="0" presId="urn:microsoft.com/office/officeart/2016/7/layout/LinearBlockProcessNumbered"/>
    <dgm:cxn modelId="{F436A930-6826-FA4D-BE21-56B623564E6B}" type="presOf" srcId="{57306B4D-A519-4D6B-82B6-FC38C6ED7129}" destId="{39012354-9693-4048-8E35-630D80E97A28}" srcOrd="0" destOrd="1" presId="urn:microsoft.com/office/officeart/2016/7/layout/LinearBlockProcessNumbered"/>
    <dgm:cxn modelId="{CDAF5A34-0E18-9F41-8462-5BED53B6F77E}" type="presOf" srcId="{5512B41A-0512-44AA-B564-326C7987A0EA}" destId="{CB70381D-F437-6243-B435-A7CCEF7AD513}" srcOrd="0" destOrd="1" presId="urn:microsoft.com/office/officeart/2016/7/layout/LinearBlockProcessNumbered"/>
    <dgm:cxn modelId="{E9291861-217D-4753-9B2F-19F5FF33AAC3}" srcId="{BABF769F-E341-43CB-A9CC-F6054B2AFA2F}" destId="{0053F2AB-ABF2-45DD-BEA6-5E4729597F52}" srcOrd="1" destOrd="0" parTransId="{96EC4360-76AA-46E6-A2E2-4BAB9C1B3265}" sibTransId="{67C81A47-BFAA-4B62-AB0D-969E5BE5572F}"/>
    <dgm:cxn modelId="{0D698A6E-C82E-49F8-A32C-0BD20D2A51C4}" srcId="{0053F2AB-ABF2-45DD-BEA6-5E4729597F52}" destId="{5512B41A-0512-44AA-B564-326C7987A0EA}" srcOrd="0" destOrd="0" parTransId="{BDF2275A-1C3A-45DC-8919-63F8FD22B80D}" sibTransId="{D572C6AD-341F-4F0D-A25C-2D08BFB266B2}"/>
    <dgm:cxn modelId="{E68B0D70-6B19-944F-A62C-6DDF50E8B3D8}" type="presOf" srcId="{0CFFD0D2-5A3B-4F95-8C1D-1C4300AB478E}" destId="{93377086-3AA2-1243-A56D-CAED303EC156}" srcOrd="0" destOrd="0" presId="urn:microsoft.com/office/officeart/2016/7/layout/LinearBlockProcessNumbered"/>
    <dgm:cxn modelId="{1013ED96-0405-794A-8901-4CEF41A47292}" type="presOf" srcId="{D8BAC3E6-11A6-4446-A283-85B90A9C4749}" destId="{12123ED2-0EC3-F84E-9D35-A2F0E89785EC}" srcOrd="1" destOrd="0" presId="urn:microsoft.com/office/officeart/2016/7/layout/LinearBlockProcessNumbered"/>
    <dgm:cxn modelId="{F5B9209F-5E18-42BB-9AC0-93D8432F19AC}" srcId="{BABF769F-E341-43CB-A9CC-F6054B2AFA2F}" destId="{D8BAC3E6-11A6-4446-A283-85B90A9C4749}" srcOrd="0" destOrd="0" parTransId="{C4C5BFA9-8300-454C-9B13-DD75098A86BD}" sibTransId="{0C156109-8466-4A78-84C0-C38158F9B090}"/>
    <dgm:cxn modelId="{A729EE9F-E8CF-48A1-B539-0D78B542C181}" srcId="{BABF769F-E341-43CB-A9CC-F6054B2AFA2F}" destId="{9A07A9CE-3055-4389-8B9E-B25528CBAB15}" srcOrd="2" destOrd="0" parTransId="{C5682886-3515-4DDF-A329-D34373FC797D}" sibTransId="{0CFFD0D2-5A3B-4F95-8C1D-1C4300AB478E}"/>
    <dgm:cxn modelId="{208358A8-C4B5-0444-B327-52BAF8F13575}" type="presOf" srcId="{0C156109-8466-4A78-84C0-C38158F9B090}" destId="{21F023C5-B419-C64E-9EB3-5DBA13BF354E}" srcOrd="0" destOrd="0" presId="urn:microsoft.com/office/officeart/2016/7/layout/LinearBlockProcessNumbered"/>
    <dgm:cxn modelId="{EC88C5B5-A095-3D4E-B3F9-CA3CD0BE8C0F}" type="presOf" srcId="{D8BAC3E6-11A6-4446-A283-85B90A9C4749}" destId="{FA07C0D5-B833-A649-B915-7F46FD94A56F}" srcOrd="0" destOrd="0" presId="urn:microsoft.com/office/officeart/2016/7/layout/LinearBlockProcessNumbered"/>
    <dgm:cxn modelId="{AF8132CB-448F-481E-B989-AA00F18BE498}" srcId="{9A07A9CE-3055-4389-8B9E-B25528CBAB15}" destId="{57306B4D-A519-4D6B-82B6-FC38C6ED7129}" srcOrd="0" destOrd="0" parTransId="{9620D322-2072-424C-AF51-FF26DA208B1D}" sibTransId="{ABA879A6-3736-4EAA-9367-FFE3B52F4D6A}"/>
    <dgm:cxn modelId="{EBE764CB-8ECC-B442-86C0-B3BA311245E1}" type="presOf" srcId="{9A07A9CE-3055-4389-8B9E-B25528CBAB15}" destId="{39012354-9693-4048-8E35-630D80E97A28}" srcOrd="1" destOrd="0" presId="urn:microsoft.com/office/officeart/2016/7/layout/LinearBlockProcessNumbered"/>
    <dgm:cxn modelId="{881269EA-1795-3547-B52C-E1411EE4E37C}" type="presOf" srcId="{0053F2AB-ABF2-45DD-BEA6-5E4729597F52}" destId="{CB70381D-F437-6243-B435-A7CCEF7AD513}" srcOrd="1" destOrd="0" presId="urn:microsoft.com/office/officeart/2016/7/layout/LinearBlockProcessNumbered"/>
    <dgm:cxn modelId="{D0A9A8F2-41DE-D347-ADEE-8326CDA18719}" type="presOf" srcId="{BABF769F-E341-43CB-A9CC-F6054B2AFA2F}" destId="{BE341AC7-538A-D54B-89AB-7379EB577F42}" srcOrd="0" destOrd="0" presId="urn:microsoft.com/office/officeart/2016/7/layout/LinearBlockProcessNumbered"/>
    <dgm:cxn modelId="{FAD9F72F-F5E4-C54C-82E2-CF2723D58102}" type="presParOf" srcId="{BE341AC7-538A-D54B-89AB-7379EB577F42}" destId="{2DA5138F-4868-8C4C-836A-E322BB339FDB}" srcOrd="0" destOrd="0" presId="urn:microsoft.com/office/officeart/2016/7/layout/LinearBlockProcessNumbered"/>
    <dgm:cxn modelId="{2644F4F6-92B9-BF4E-88B2-DD3B8B366B82}" type="presParOf" srcId="{2DA5138F-4868-8C4C-836A-E322BB339FDB}" destId="{FA07C0D5-B833-A649-B915-7F46FD94A56F}" srcOrd="0" destOrd="0" presId="urn:microsoft.com/office/officeart/2016/7/layout/LinearBlockProcessNumbered"/>
    <dgm:cxn modelId="{85A8950A-545E-5C45-9FD6-C57ED29FC734}" type="presParOf" srcId="{2DA5138F-4868-8C4C-836A-E322BB339FDB}" destId="{21F023C5-B419-C64E-9EB3-5DBA13BF354E}" srcOrd="1" destOrd="0" presId="urn:microsoft.com/office/officeart/2016/7/layout/LinearBlockProcessNumbered"/>
    <dgm:cxn modelId="{61C9DBF9-C729-F34A-9B97-ECCA2DE426FD}" type="presParOf" srcId="{2DA5138F-4868-8C4C-836A-E322BB339FDB}" destId="{12123ED2-0EC3-F84E-9D35-A2F0E89785EC}" srcOrd="2" destOrd="0" presId="urn:microsoft.com/office/officeart/2016/7/layout/LinearBlockProcessNumbered"/>
    <dgm:cxn modelId="{87078E87-FE5E-5640-9251-2DD92DFBD9B3}" type="presParOf" srcId="{BE341AC7-538A-D54B-89AB-7379EB577F42}" destId="{C3A1793D-D56E-9F4F-9C58-EED0F944F173}" srcOrd="1" destOrd="0" presId="urn:microsoft.com/office/officeart/2016/7/layout/LinearBlockProcessNumbered"/>
    <dgm:cxn modelId="{FE2153D3-38D4-B847-9C1C-A843A93F8D68}" type="presParOf" srcId="{BE341AC7-538A-D54B-89AB-7379EB577F42}" destId="{817C2DEA-7EDC-024D-A169-4C395E13EFD4}" srcOrd="2" destOrd="0" presId="urn:microsoft.com/office/officeart/2016/7/layout/LinearBlockProcessNumbered"/>
    <dgm:cxn modelId="{4A4623D1-0E24-2642-8425-DA4F8E9F9A43}" type="presParOf" srcId="{817C2DEA-7EDC-024D-A169-4C395E13EFD4}" destId="{5A4B8CEF-4DC3-5D4B-A887-90500D59A54B}" srcOrd="0" destOrd="0" presId="urn:microsoft.com/office/officeart/2016/7/layout/LinearBlockProcessNumbered"/>
    <dgm:cxn modelId="{0619F3B2-2A56-BA4D-A233-ED7E859EC4AC}" type="presParOf" srcId="{817C2DEA-7EDC-024D-A169-4C395E13EFD4}" destId="{66B698B1-611A-154C-BDAF-F92DF3D1C9B2}" srcOrd="1" destOrd="0" presId="urn:microsoft.com/office/officeart/2016/7/layout/LinearBlockProcessNumbered"/>
    <dgm:cxn modelId="{7C8EC2CF-086A-0643-8128-6302FF741279}" type="presParOf" srcId="{817C2DEA-7EDC-024D-A169-4C395E13EFD4}" destId="{CB70381D-F437-6243-B435-A7CCEF7AD513}" srcOrd="2" destOrd="0" presId="urn:microsoft.com/office/officeart/2016/7/layout/LinearBlockProcessNumbered"/>
    <dgm:cxn modelId="{7E043729-EBF3-174A-AD36-D5B60E8F460E}" type="presParOf" srcId="{BE341AC7-538A-D54B-89AB-7379EB577F42}" destId="{8721E534-4739-234C-80AF-91504DAF990E}" srcOrd="3" destOrd="0" presId="urn:microsoft.com/office/officeart/2016/7/layout/LinearBlockProcessNumbered"/>
    <dgm:cxn modelId="{3E026446-8F21-4D4C-8543-9D375466B760}" type="presParOf" srcId="{BE341AC7-538A-D54B-89AB-7379EB577F42}" destId="{134979CD-29C4-4D48-8CA4-E6F6A7C086D0}" srcOrd="4" destOrd="0" presId="urn:microsoft.com/office/officeart/2016/7/layout/LinearBlockProcessNumbered"/>
    <dgm:cxn modelId="{A5EF66E7-8527-CB4C-A536-FE9C2BEC6CA2}" type="presParOf" srcId="{134979CD-29C4-4D48-8CA4-E6F6A7C086D0}" destId="{FFA016AB-CB14-A14F-9E0A-5D91FACD94F3}" srcOrd="0" destOrd="0" presId="urn:microsoft.com/office/officeart/2016/7/layout/LinearBlockProcessNumbered"/>
    <dgm:cxn modelId="{9C8BE7BB-937B-3B48-9FF5-DD235B3BB3EE}" type="presParOf" srcId="{134979CD-29C4-4D48-8CA4-E6F6A7C086D0}" destId="{93377086-3AA2-1243-A56D-CAED303EC156}" srcOrd="1" destOrd="0" presId="urn:microsoft.com/office/officeart/2016/7/layout/LinearBlockProcessNumbered"/>
    <dgm:cxn modelId="{2491F6BF-7002-0349-978C-2AC0C6F6B7AA}" type="presParOf" srcId="{134979CD-29C4-4D48-8CA4-E6F6A7C086D0}" destId="{39012354-9693-4048-8E35-630D80E97A2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7C0D5-B833-A649-B915-7F46FD94A56F}">
      <dsp:nvSpPr>
        <dsp:cNvPr id="0" name=""/>
        <dsp:cNvSpPr/>
      </dsp:nvSpPr>
      <dsp:spPr>
        <a:xfrm>
          <a:off x="616" y="678428"/>
          <a:ext cx="2495401" cy="2994481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0" rIns="246490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Console based system.</a:t>
          </a:r>
          <a:endParaRPr lang="en-US" sz="2000" kern="1200" dirty="0"/>
        </a:p>
      </dsp:txBody>
      <dsp:txXfrm>
        <a:off x="616" y="1876220"/>
        <a:ext cx="2495401" cy="1796688"/>
      </dsp:txXfrm>
    </dsp:sp>
    <dsp:sp modelId="{21F023C5-B419-C64E-9EB3-5DBA13BF354E}">
      <dsp:nvSpPr>
        <dsp:cNvPr id="0" name=""/>
        <dsp:cNvSpPr/>
      </dsp:nvSpPr>
      <dsp:spPr>
        <a:xfrm>
          <a:off x="616" y="678428"/>
          <a:ext cx="2495401" cy="11977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165100" rIns="246490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01</a:t>
          </a:r>
        </a:p>
      </dsp:txBody>
      <dsp:txXfrm>
        <a:off x="616" y="678428"/>
        <a:ext cx="2495401" cy="1197792"/>
      </dsp:txXfrm>
    </dsp:sp>
    <dsp:sp modelId="{5A4B8CEF-4DC3-5D4B-A887-90500D59A54B}">
      <dsp:nvSpPr>
        <dsp:cNvPr id="0" name=""/>
        <dsp:cNvSpPr/>
      </dsp:nvSpPr>
      <dsp:spPr>
        <a:xfrm>
          <a:off x="2695649" y="678428"/>
          <a:ext cx="2495401" cy="2994481"/>
        </a:xfrm>
        <a:prstGeom prst="rect">
          <a:avLst/>
        </a:prstGeom>
        <a:solidFill>
          <a:schemeClr val="accent1">
            <a:shade val="80000"/>
            <a:hueOff val="153123"/>
            <a:satOff val="-2196"/>
            <a:lumOff val="12807"/>
            <a:alphaOff val="0"/>
          </a:schemeClr>
        </a:solidFill>
        <a:ln w="25400" cap="flat" cmpd="sng" algn="ctr">
          <a:solidFill>
            <a:schemeClr val="accent1">
              <a:shade val="80000"/>
              <a:hueOff val="153123"/>
              <a:satOff val="-2196"/>
              <a:lumOff val="128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0" rIns="246490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Textual dialog system </a:t>
          </a:r>
          <a:endParaRPr lang="en-US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you enter text on the console and the system will provide a response.</a:t>
          </a:r>
          <a:endParaRPr lang="en-US" sz="1600" kern="1200" dirty="0"/>
        </a:p>
      </dsp:txBody>
      <dsp:txXfrm>
        <a:off x="2695649" y="1876220"/>
        <a:ext cx="2495401" cy="1796688"/>
      </dsp:txXfrm>
    </dsp:sp>
    <dsp:sp modelId="{66B698B1-611A-154C-BDAF-F92DF3D1C9B2}">
      <dsp:nvSpPr>
        <dsp:cNvPr id="0" name=""/>
        <dsp:cNvSpPr/>
      </dsp:nvSpPr>
      <dsp:spPr>
        <a:xfrm>
          <a:off x="2695649" y="678428"/>
          <a:ext cx="2495401" cy="11977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165100" rIns="246490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02</a:t>
          </a:r>
        </a:p>
      </dsp:txBody>
      <dsp:txXfrm>
        <a:off x="2695649" y="678428"/>
        <a:ext cx="2495401" cy="1197792"/>
      </dsp:txXfrm>
    </dsp:sp>
    <dsp:sp modelId="{FFA016AB-CB14-A14F-9E0A-5D91FACD94F3}">
      <dsp:nvSpPr>
        <dsp:cNvPr id="0" name=""/>
        <dsp:cNvSpPr/>
      </dsp:nvSpPr>
      <dsp:spPr>
        <a:xfrm>
          <a:off x="5390682" y="678428"/>
          <a:ext cx="2495401" cy="2994481"/>
        </a:xfrm>
        <a:prstGeom prst="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accent1">
              <a:shade val="80000"/>
              <a:hueOff val="306246"/>
              <a:satOff val="-4392"/>
              <a:lumOff val="256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0" rIns="246490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System </a:t>
          </a:r>
          <a:r>
            <a:rPr lang="en-GB" sz="2000" u="sng" kern="1200"/>
            <a:t>always</a:t>
          </a:r>
          <a:r>
            <a:rPr lang="en-GB" sz="2000" kern="1200"/>
            <a:t> responds with the same String:</a:t>
          </a:r>
          <a:endParaRPr lang="en-US" sz="20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i="1" kern="1200" dirty="0"/>
            <a:t>“That sounds interesting.  Tell me more…”</a:t>
          </a:r>
          <a:endParaRPr lang="en-US" sz="1400" kern="1200" dirty="0"/>
        </a:p>
      </dsp:txBody>
      <dsp:txXfrm>
        <a:off x="5390682" y="1876220"/>
        <a:ext cx="2495401" cy="1796688"/>
      </dsp:txXfrm>
    </dsp:sp>
    <dsp:sp modelId="{93377086-3AA2-1243-A56D-CAED303EC156}">
      <dsp:nvSpPr>
        <dsp:cNvPr id="0" name=""/>
        <dsp:cNvSpPr/>
      </dsp:nvSpPr>
      <dsp:spPr>
        <a:xfrm>
          <a:off x="5390682" y="678428"/>
          <a:ext cx="2495401" cy="11977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165100" rIns="246490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03</a:t>
          </a:r>
        </a:p>
      </dsp:txBody>
      <dsp:txXfrm>
        <a:off x="5390682" y="678428"/>
        <a:ext cx="2495401" cy="1197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07/03/2025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2446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More Sophisticated Behaviour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Technical Support System V1.0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7FDD1F-B6D3-4962-8109-0C07E9253A3F}"/>
              </a:ext>
            </a:extLst>
          </p:cNvPr>
          <p:cNvSpPr txBox="1"/>
          <p:nvPr/>
        </p:nvSpPr>
        <p:spPr>
          <a:xfrm>
            <a:off x="3733800" y="381000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Roche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541" y="1816171"/>
            <a:ext cx="1206500" cy="1190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91F49A-024B-CACB-F2CC-A3D60967BA7B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1BBB0EBD-BDE2-631F-22EC-2A6CA3594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5746" r="19444"/>
          <a:stretch/>
        </p:blipFill>
        <p:spPr>
          <a:xfrm>
            <a:off x="5933137" y="11"/>
            <a:ext cx="4734863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1" y="365126"/>
            <a:ext cx="3840163" cy="1692275"/>
          </a:xfrm>
        </p:spPr>
        <p:txBody>
          <a:bodyPr>
            <a:normAutofit/>
          </a:bodyPr>
          <a:lstStyle/>
          <a:p>
            <a:r>
              <a:rPr lang="en-IE" dirty="0"/>
              <a:t>Lectures and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55614" y="3030537"/>
            <a:ext cx="4156075" cy="3462338"/>
          </a:xfrm>
        </p:spPr>
        <p:txBody>
          <a:bodyPr>
            <a:normAutofit/>
          </a:bodyPr>
          <a:lstStyle/>
          <a:p>
            <a:r>
              <a:rPr lang="en-IE" sz="2000" dirty="0"/>
              <a:t>The Tech Support System lectures and labs are based on examples in Chapter 5 of: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/>
              <a:t>Objects First with Java </a:t>
            </a:r>
            <a:br>
              <a:rPr lang="en-GB" sz="2000" dirty="0"/>
            </a:br>
            <a:r>
              <a:rPr lang="en-GB" sz="2000" dirty="0"/>
              <a:t>- A Practical Introduction using </a:t>
            </a:r>
            <a:r>
              <a:rPr lang="en-GB" sz="2000" dirty="0" err="1"/>
              <a:t>BlueJ</a:t>
            </a:r>
            <a:r>
              <a:rPr lang="en-GB" sz="2000" dirty="0"/>
              <a:t>, © David J. Barnes, Michael </a:t>
            </a:r>
            <a:r>
              <a:rPr lang="en-GB" sz="2000" dirty="0" err="1"/>
              <a:t>Kölling</a:t>
            </a:r>
            <a:endParaRPr lang="en-GB" sz="2000" dirty="0"/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240912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09600" y="1600201"/>
            <a:ext cx="6781800" cy="53339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24678" y="1752600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Java class library (</a:t>
            </a:r>
            <a:r>
              <a:rPr lang="en-GB" b="1" dirty="0"/>
              <a:t>API</a:t>
            </a:r>
            <a:r>
              <a:rPr lang="en-GB" dirty="0"/>
              <a:t>)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API</a:t>
            </a:r>
            <a:r>
              <a:rPr lang="en-GB" dirty="0"/>
              <a:t>: </a:t>
            </a:r>
            <a:r>
              <a:rPr lang="en-GB" i="1" dirty="0"/>
              <a:t>Application Programmers’ Interface</a:t>
            </a:r>
            <a:br>
              <a:rPr lang="en-GB" i="1" dirty="0"/>
            </a:br>
            <a:endParaRPr lang="en-GB" dirty="0"/>
          </a:p>
          <a:p>
            <a:r>
              <a:rPr lang="en-GB" dirty="0"/>
              <a:t>Thousands of </a:t>
            </a:r>
            <a:r>
              <a:rPr lang="en-GB" b="1" dirty="0"/>
              <a:t>classes</a:t>
            </a:r>
            <a:r>
              <a:rPr lang="en-GB" dirty="0"/>
              <a:t>.</a:t>
            </a:r>
          </a:p>
          <a:p>
            <a:r>
              <a:rPr lang="en-GB" dirty="0"/>
              <a:t>Tens of thousands of </a:t>
            </a:r>
            <a:r>
              <a:rPr lang="en-GB" b="1" dirty="0"/>
              <a:t>methods</a:t>
            </a:r>
            <a:r>
              <a:rPr lang="en-GB" dirty="0"/>
              <a:t>.</a:t>
            </a:r>
          </a:p>
          <a:p>
            <a:r>
              <a:rPr lang="en-GB" dirty="0"/>
              <a:t>Many useful classes that make life much easier.</a:t>
            </a:r>
          </a:p>
          <a:p>
            <a:r>
              <a:rPr lang="en-GB" dirty="0"/>
              <a:t>A competent Java programmer </a:t>
            </a:r>
            <a:r>
              <a:rPr lang="en-GB" b="1" dirty="0"/>
              <a:t>must be able to work with the libraries</a:t>
            </a:r>
            <a:r>
              <a:rPr lang="en-GB" dirty="0"/>
              <a:t>.</a:t>
            </a:r>
          </a:p>
          <a:p>
            <a:r>
              <a:rPr lang="en-GB" dirty="0"/>
              <a:t>Documentation of the Java libraries is in HTML format (generated using </a:t>
            </a:r>
            <a:r>
              <a:rPr lang="en-GB" b="1" dirty="0" err="1"/>
              <a:t>javadoc</a:t>
            </a:r>
            <a:r>
              <a:rPr lang="en-GB" dirty="0"/>
              <a:t> comments).</a:t>
            </a:r>
          </a:p>
          <a:p>
            <a:r>
              <a:rPr lang="en-GB" dirty="0"/>
              <a:t>Readable in a web browser.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792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b="1" dirty="0"/>
              <a:t>library</a:t>
            </a:r>
            <a:r>
              <a:rPr lang="en-GB" dirty="0"/>
              <a:t> </a:t>
            </a:r>
            <a:r>
              <a:rPr lang="en-GB" b="1" dirty="0"/>
              <a:t>classes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874838"/>
            <a:ext cx="8229600" cy="3230563"/>
          </a:xfrm>
        </p:spPr>
        <p:txBody>
          <a:bodyPr>
            <a:normAutofit/>
          </a:bodyPr>
          <a:lstStyle/>
          <a:p>
            <a:r>
              <a:rPr lang="en-GB" dirty="0"/>
              <a:t>Classes from the library must be imported</a:t>
            </a:r>
          </a:p>
          <a:p>
            <a:pPr lvl="1"/>
            <a:r>
              <a:rPr lang="en-GB" dirty="0"/>
              <a:t>using an </a:t>
            </a:r>
            <a:r>
              <a:rPr lang="en-GB" b="1" i="1" dirty="0"/>
              <a:t>import</a:t>
            </a:r>
            <a:r>
              <a:rPr lang="en-GB" dirty="0"/>
              <a:t> statement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exception are classes from </a:t>
            </a:r>
            <a:r>
              <a:rPr lang="en-GB" i="1" dirty="0" err="1"/>
              <a:t>java.lang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191000" y="2997718"/>
            <a:ext cx="44196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import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IE" dirty="0" err="1">
                <a:latin typeface="Courier New" charset="0"/>
                <a:ea typeface="Courier New" charset="0"/>
                <a:cs typeface="Courier New" charset="0"/>
              </a:rPr>
              <a:t>javax.swing</a:t>
            </a:r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.*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;</a:t>
            </a:r>
            <a:endParaRPr lang="en-IE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91000" y="3640328"/>
            <a:ext cx="44196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import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IE" dirty="0" err="1">
                <a:latin typeface="Courier New" charset="0"/>
                <a:ea typeface="Courier New" charset="0"/>
                <a:cs typeface="Courier New" charset="0"/>
              </a:rPr>
              <a:t>javax.swing</a:t>
            </a:r>
            <a:r>
              <a:rPr lang="en-IE" b="1" dirty="0" err="1">
                <a:latin typeface="Courier New" charset="0"/>
                <a:ea typeface="Courier New" charset="0"/>
                <a:cs typeface="Courier New" charset="0"/>
              </a:rPr>
              <a:t>.JOptionPane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;</a:t>
            </a:r>
            <a:endParaRPr lang="en-IE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03540" y="51054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They can then be used like classes </a:t>
            </a:r>
            <a:br>
              <a:rPr lang="en-GB" dirty="0"/>
            </a:br>
            <a:r>
              <a:rPr lang="en-GB" dirty="0"/>
              <a:t>from the current project.</a:t>
            </a:r>
          </a:p>
        </p:txBody>
      </p:sp>
    </p:spTree>
    <p:extLst>
      <p:ext uri="{BB962C8B-B14F-4D97-AF65-F5344CB8AC3E}">
        <p14:creationId xmlns:p14="http://schemas.microsoft.com/office/powerpoint/2010/main" val="198372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with the </a:t>
            </a:r>
            <a:r>
              <a:rPr lang="en-GB" b="1" dirty="0"/>
              <a:t>library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dirty="0"/>
              <a:t>You should:</a:t>
            </a:r>
          </a:p>
          <a:p>
            <a:pPr>
              <a:lnSpc>
                <a:spcPct val="90000"/>
              </a:lnSpc>
            </a:pPr>
            <a:r>
              <a:rPr lang="en-GB" dirty="0"/>
              <a:t>know some important packages/classes by name.</a:t>
            </a:r>
          </a:p>
          <a:p>
            <a:pPr>
              <a:lnSpc>
                <a:spcPct val="90000"/>
              </a:lnSpc>
            </a:pPr>
            <a:r>
              <a:rPr lang="en-GB" dirty="0"/>
              <a:t>know how to find out about other classes.</a:t>
            </a:r>
          </a:p>
          <a:p>
            <a:pPr>
              <a:lnSpc>
                <a:spcPct val="90000"/>
              </a:lnSpc>
              <a:buFont typeface="Times" charset="0"/>
              <a:buNone/>
            </a:pPr>
            <a:endParaRPr lang="en-GB" dirty="0"/>
          </a:p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dirty="0"/>
              <a:t>Remember:</a:t>
            </a:r>
          </a:p>
          <a:p>
            <a:pPr>
              <a:lnSpc>
                <a:spcPct val="90000"/>
              </a:lnSpc>
            </a:pPr>
            <a:r>
              <a:rPr lang="en-GB" dirty="0"/>
              <a:t>We only need to know the </a:t>
            </a:r>
            <a:r>
              <a:rPr lang="en-GB" b="1" dirty="0">
                <a:solidFill>
                  <a:srgbClr val="FF0000"/>
                </a:solidFill>
              </a:rPr>
              <a:t>interface</a:t>
            </a:r>
            <a:r>
              <a:rPr lang="en-GB" dirty="0"/>
              <a:t>, </a:t>
            </a:r>
            <a:br>
              <a:rPr lang="en-GB" dirty="0"/>
            </a:br>
            <a:r>
              <a:rPr lang="en-GB" dirty="0"/>
              <a:t>not the </a:t>
            </a:r>
            <a:r>
              <a:rPr lang="en-GB" b="1" dirty="0">
                <a:solidFill>
                  <a:srgbClr val="FF0000"/>
                </a:solidFill>
              </a:rPr>
              <a:t>implementation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pPr>
              <a:lnSpc>
                <a:spcPct val="90000"/>
              </a:lnSpc>
            </a:pPr>
            <a:r>
              <a:rPr lang="en-GB" b="1" dirty="0"/>
              <a:t>API</a:t>
            </a:r>
            <a:r>
              <a:rPr lang="en-GB" dirty="0"/>
              <a:t> contains the </a:t>
            </a:r>
            <a:r>
              <a:rPr lang="en-GB" b="1" dirty="0">
                <a:solidFill>
                  <a:srgbClr val="FF0000"/>
                </a:solidFill>
              </a:rPr>
              <a:t>interface</a:t>
            </a:r>
            <a:r>
              <a:rPr lang="en-GB" dirty="0"/>
              <a:t> </a:t>
            </a:r>
            <a:r>
              <a:rPr lang="en-GB" b="1" dirty="0"/>
              <a:t>description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for all library classes.</a:t>
            </a:r>
          </a:p>
          <a:p>
            <a:pPr>
              <a:lnSpc>
                <a:spcPct val="9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454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85800" y="2201860"/>
            <a:ext cx="6781800" cy="53339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04800" y="2278060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3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Interface</a:t>
            </a:r>
            <a:r>
              <a:rPr lang="en-GB" dirty="0"/>
              <a:t> vs implementation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98638"/>
            <a:ext cx="5778500" cy="4906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sz="2800" i="1" dirty="0"/>
              <a:t>The documentation includes:</a:t>
            </a:r>
            <a:br>
              <a:rPr lang="en-GB" sz="2800" i="1" dirty="0"/>
            </a:br>
            <a:endParaRPr lang="en-GB" sz="2800" dirty="0"/>
          </a:p>
          <a:p>
            <a:pPr>
              <a:lnSpc>
                <a:spcPct val="90000"/>
              </a:lnSpc>
            </a:pPr>
            <a:r>
              <a:rPr lang="en-GB" sz="2800" dirty="0"/>
              <a:t>Class name;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Class description;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List of constructors and methods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Return values and parameters </a:t>
            </a:r>
            <a:br>
              <a:rPr lang="en-GB" sz="2800" dirty="0"/>
            </a:br>
            <a:r>
              <a:rPr lang="en-GB" sz="2800" dirty="0"/>
              <a:t>for constructors and methods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Description of the purpose of each </a:t>
            </a:r>
            <a:br>
              <a:rPr lang="en-GB" sz="2800" dirty="0"/>
            </a:br>
            <a:r>
              <a:rPr lang="en-GB" sz="2800" dirty="0"/>
              <a:t>constructor and method</a:t>
            </a:r>
          </a:p>
          <a:p>
            <a:pPr>
              <a:lnSpc>
                <a:spcPct val="90000"/>
              </a:lnSpc>
              <a:buFont typeface="Times" charset="0"/>
              <a:buNone/>
            </a:pPr>
            <a:endParaRPr lang="en-GB" sz="1000" dirty="0"/>
          </a:p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sz="2800" dirty="0"/>
              <a:t>		</a:t>
            </a:r>
            <a:r>
              <a:rPr lang="en-GB" sz="2800" b="1" dirty="0"/>
              <a:t>the </a:t>
            </a:r>
            <a:r>
              <a:rPr lang="en-GB" sz="2800" b="1" i="1" u="sng" dirty="0"/>
              <a:t>interface</a:t>
            </a:r>
            <a:r>
              <a:rPr lang="en-GB" sz="2800" b="1" dirty="0"/>
              <a:t> of the class</a:t>
            </a:r>
            <a:endParaRPr lang="en-GB" sz="2800" dirty="0"/>
          </a:p>
        </p:txBody>
      </p:sp>
      <p:sp>
        <p:nvSpPr>
          <p:cNvPr id="80900" name="AutoShape 4"/>
          <p:cNvSpPr>
            <a:spLocks noChangeArrowheads="1"/>
          </p:cNvSpPr>
          <p:nvPr/>
        </p:nvSpPr>
        <p:spPr bwMode="auto">
          <a:xfrm>
            <a:off x="2057400" y="6019800"/>
            <a:ext cx="838200" cy="3048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00764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700" y="1600201"/>
            <a:ext cx="2908300" cy="192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uiExpand="1" build="p"/>
      <p:bldP spid="8090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vs </a:t>
            </a:r>
            <a:r>
              <a:rPr lang="en-GB" b="1" dirty="0"/>
              <a:t>implementation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98638"/>
            <a:ext cx="6705600" cy="4525963"/>
          </a:xfrm>
        </p:spPr>
        <p:txBody>
          <a:bodyPr/>
          <a:lstStyle/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sz="2800" i="1" dirty="0"/>
              <a:t>The documentation </a:t>
            </a:r>
            <a:r>
              <a:rPr lang="en-GB" sz="2800" b="1" i="1" dirty="0"/>
              <a:t>does not</a:t>
            </a:r>
            <a:r>
              <a:rPr lang="en-GB" sz="2800" i="1" dirty="0"/>
              <a:t> include</a:t>
            </a:r>
          </a:p>
          <a:p>
            <a:pPr>
              <a:lnSpc>
                <a:spcPct val="90000"/>
              </a:lnSpc>
              <a:buFont typeface="Times" charset="0"/>
              <a:buNone/>
            </a:pPr>
            <a:endParaRPr lang="en-GB" sz="2800" dirty="0"/>
          </a:p>
          <a:p>
            <a:pPr>
              <a:lnSpc>
                <a:spcPct val="90000"/>
              </a:lnSpc>
            </a:pPr>
            <a:r>
              <a:rPr lang="en-GB" sz="2800" dirty="0"/>
              <a:t>private fields 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(most fields are private)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private methods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the bodies 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(source code) for each method</a:t>
            </a:r>
          </a:p>
          <a:p>
            <a:pPr>
              <a:lnSpc>
                <a:spcPct val="90000"/>
              </a:lnSpc>
            </a:pPr>
            <a:endParaRPr lang="en-GB" sz="2800" dirty="0"/>
          </a:p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sz="2800" dirty="0"/>
              <a:t>		</a:t>
            </a:r>
            <a:r>
              <a:rPr lang="en-GB" sz="2800" b="1" dirty="0"/>
              <a:t>the </a:t>
            </a:r>
            <a:r>
              <a:rPr lang="en-GB" sz="2800" b="1" i="1" u="sng" dirty="0"/>
              <a:t>implementation</a:t>
            </a:r>
            <a:r>
              <a:rPr lang="en-GB" sz="2800" b="1" dirty="0"/>
              <a:t> of the class</a:t>
            </a:r>
            <a:endParaRPr lang="en-GB" sz="2800" dirty="0"/>
          </a:p>
        </p:txBody>
      </p:sp>
      <p:sp>
        <p:nvSpPr>
          <p:cNvPr id="99332" name="AutoShape 4"/>
          <p:cNvSpPr>
            <a:spLocks noChangeArrowheads="1"/>
          </p:cNvSpPr>
          <p:nvPr/>
        </p:nvSpPr>
        <p:spPr bwMode="auto">
          <a:xfrm>
            <a:off x="2057400" y="5486400"/>
            <a:ext cx="838200" cy="3048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00764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737" y="2343465"/>
            <a:ext cx="2339811" cy="1752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737" y="4545328"/>
            <a:ext cx="2339811" cy="124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6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uiExpand="1" build="p"/>
      <p:bldP spid="993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023691" y="2810739"/>
            <a:ext cx="7739309" cy="104581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84353" y="3238500"/>
            <a:ext cx="1371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744" y="2878278"/>
            <a:ext cx="944257" cy="93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9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0" y="144390"/>
            <a:ext cx="1206500" cy="1190485"/>
          </a:xfrm>
          <a:prstGeom prst="rect">
            <a:avLst/>
          </a:prstGeom>
        </p:spPr>
      </p:pic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GB" dirty="0"/>
              <a:t>Technical Support System </a:t>
            </a:r>
            <a:r>
              <a:rPr lang="en-GB" b="1" dirty="0"/>
              <a:t>V1</a:t>
            </a:r>
          </a:p>
        </p:txBody>
      </p:sp>
      <p:graphicFrame>
        <p:nvGraphicFramePr>
          <p:cNvPr id="74757" name="Rectangle 3">
            <a:extLst>
              <a:ext uri="{FF2B5EF4-FFF2-40B4-BE49-F238E27FC236}">
                <a16:creationId xmlns:a16="http://schemas.microsoft.com/office/drawing/2014/main" id="{AC5533B4-0C59-453C-9CF1-6508E8539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5633388"/>
              </p:ext>
            </p:extLst>
          </p:nvPr>
        </p:nvGraphicFramePr>
        <p:xfrm>
          <a:off x="2152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7523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Support System V1</a:t>
            </a:r>
            <a:endParaRPr lang="en-I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057" r="39942"/>
          <a:stretch/>
        </p:blipFill>
        <p:spPr bwMode="auto">
          <a:xfrm>
            <a:off x="2514601" y="1752600"/>
            <a:ext cx="7162799" cy="467340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144390"/>
            <a:ext cx="1206500" cy="119048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81200" y="1376256"/>
            <a:ext cx="1219200" cy="417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345333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457200" y="2849217"/>
            <a:ext cx="6781800" cy="2971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04800" y="3954117"/>
            <a:ext cx="1371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9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Class Diagram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893164"/>
            <a:ext cx="5548312" cy="38321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306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62609" y="2743200"/>
            <a:ext cx="6781800" cy="2971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04800" y="4419600"/>
            <a:ext cx="1828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57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123266"/>
            <a:ext cx="8529375" cy="65556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import </a:t>
            </a:r>
            <a:r>
              <a:rPr lang="en-IE" sz="2000" dirty="0" err="1"/>
              <a:t>java.util.</a:t>
            </a:r>
            <a:r>
              <a:rPr lang="en-IE" sz="2000" b="1" dirty="0" err="1"/>
              <a:t>Scanner</a:t>
            </a:r>
            <a:r>
              <a:rPr lang="en-IE" sz="2000" dirty="0"/>
              <a:t>;</a:t>
            </a:r>
          </a:p>
          <a:p>
            <a:endParaRPr lang="en-IE" sz="2000" dirty="0"/>
          </a:p>
          <a:p>
            <a:r>
              <a:rPr lang="en-IE" sz="2000" dirty="0"/>
              <a:t>public class </a:t>
            </a:r>
            <a:r>
              <a:rPr lang="en-IE" sz="2000" b="1" dirty="0" err="1"/>
              <a:t>InputReader</a:t>
            </a:r>
            <a:r>
              <a:rPr lang="en-IE" sz="2000" dirty="0"/>
              <a:t>{</a:t>
            </a:r>
          </a:p>
          <a:p>
            <a:r>
              <a:rPr lang="en-IE" sz="2000" dirty="0"/>
              <a:t>   </a:t>
            </a:r>
          </a:p>
          <a:p>
            <a:r>
              <a:rPr lang="en-IE" sz="2000" dirty="0"/>
              <a:t>    Scanner input;</a:t>
            </a:r>
          </a:p>
          <a:p>
            <a:endParaRPr lang="en-IE" sz="2000" dirty="0"/>
          </a:p>
          <a:p>
            <a:r>
              <a:rPr lang="en-IE" sz="2000" dirty="0"/>
              <a:t>    public </a:t>
            </a:r>
            <a:r>
              <a:rPr lang="en-IE" sz="2000" b="1" dirty="0" err="1"/>
              <a:t>InputReader</a:t>
            </a:r>
            <a:r>
              <a:rPr lang="en-IE" sz="2000" dirty="0"/>
              <a:t>(){</a:t>
            </a:r>
          </a:p>
          <a:p>
            <a:r>
              <a:rPr lang="en-IE" sz="2000" dirty="0"/>
              <a:t>        input = new Scanner(System.</a:t>
            </a:r>
            <a:r>
              <a:rPr lang="en-IE" sz="2000" i="1" dirty="0"/>
              <a:t>in); </a:t>
            </a:r>
          </a:p>
          <a:p>
            <a:r>
              <a:rPr lang="en-IE" sz="2000" dirty="0"/>
              <a:t>    }</a:t>
            </a:r>
          </a:p>
          <a:p>
            <a:endParaRPr lang="en-IE" sz="2000" dirty="0"/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Read a line of text from the console and return it as a String.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@return  A String typed by the user.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public String </a:t>
            </a:r>
            <a:r>
              <a:rPr lang="en-IE" sz="2000" b="1" dirty="0" err="1"/>
              <a:t>getInput</a:t>
            </a:r>
            <a:r>
              <a:rPr lang="en-IE" sz="2000" dirty="0"/>
              <a:t>() {</a:t>
            </a:r>
          </a:p>
          <a:p>
            <a:r>
              <a:rPr lang="en-IE" sz="2000" dirty="0"/>
              <a:t>          </a:t>
            </a:r>
            <a:r>
              <a:rPr lang="en-IE" sz="2000" dirty="0" err="1"/>
              <a:t>System.</a:t>
            </a:r>
            <a:r>
              <a:rPr lang="en-IE" sz="2000" i="1" dirty="0" err="1"/>
              <a:t>out.print</a:t>
            </a:r>
            <a:r>
              <a:rPr lang="en-IE" sz="2000" i="1" dirty="0"/>
              <a:t>("&gt; ");                </a:t>
            </a:r>
            <a:r>
              <a:rPr lang="en-IE" sz="2000" i="1" dirty="0">
                <a:solidFill>
                  <a:schemeClr val="bg1">
                    <a:lumMod val="50000"/>
                  </a:schemeClr>
                </a:solidFill>
              </a:rPr>
              <a:t>// print prompt</a:t>
            </a:r>
          </a:p>
          <a:p>
            <a:r>
              <a:rPr lang="en-IE" sz="2000" dirty="0"/>
              <a:t>          String </a:t>
            </a:r>
            <a:r>
              <a:rPr lang="en-IE" sz="2000" dirty="0" err="1"/>
              <a:t>inputLine</a:t>
            </a:r>
            <a:r>
              <a:rPr lang="en-IE" sz="2000" dirty="0"/>
              <a:t> = </a:t>
            </a:r>
            <a:r>
              <a:rPr lang="en-IE" sz="2000" dirty="0" err="1"/>
              <a:t>input.nextLine</a:t>
            </a:r>
            <a:r>
              <a:rPr lang="en-IE" sz="2000" dirty="0"/>
              <a:t>().trim().</a:t>
            </a:r>
            <a:r>
              <a:rPr lang="en-IE" sz="2000" dirty="0" err="1"/>
              <a:t>toLowerCase</a:t>
            </a:r>
            <a:r>
              <a:rPr lang="en-IE" sz="2000" dirty="0"/>
              <a:t>(); </a:t>
            </a:r>
          </a:p>
          <a:p>
            <a:r>
              <a:rPr lang="en-IE" sz="2000" dirty="0"/>
              <a:t>          return </a:t>
            </a:r>
            <a:r>
              <a:rPr lang="en-IE" sz="2000" dirty="0" err="1"/>
              <a:t>inputLine</a:t>
            </a:r>
            <a:r>
              <a:rPr lang="en-IE" sz="2000" dirty="0"/>
              <a:t>;</a:t>
            </a:r>
          </a:p>
          <a:p>
            <a:r>
              <a:rPr lang="en-IE" sz="2000" dirty="0"/>
              <a:t>    }</a:t>
            </a:r>
          </a:p>
          <a:p>
            <a:r>
              <a:rPr lang="en-IE" sz="2000" dirty="0"/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9144000" y="1362636"/>
            <a:ext cx="1148306" cy="6947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06287" y="2819400"/>
            <a:ext cx="6781800" cy="2971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533400" y="4876799"/>
            <a:ext cx="1828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62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1200" y="1295400"/>
            <a:ext cx="7010400" cy="50167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public class </a:t>
            </a:r>
            <a:r>
              <a:rPr lang="en-IE" sz="2000" b="1" dirty="0"/>
              <a:t>Responder</a:t>
            </a:r>
            <a:r>
              <a:rPr lang="en-IE" sz="2000" dirty="0"/>
              <a:t>{</a:t>
            </a:r>
          </a:p>
          <a:p>
            <a:r>
              <a:rPr lang="en-IE" sz="2000" dirty="0"/>
              <a:t>    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Construct a Responder - nothing to do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public </a:t>
            </a:r>
            <a:r>
              <a:rPr lang="en-IE" sz="2000" b="1" dirty="0"/>
              <a:t>Responder</a:t>
            </a:r>
            <a:r>
              <a:rPr lang="en-IE" sz="2000" dirty="0"/>
              <a:t>(){</a:t>
            </a:r>
          </a:p>
          <a:p>
            <a:r>
              <a:rPr lang="en-IE" sz="2000" dirty="0"/>
              <a:t>    }</a:t>
            </a:r>
          </a:p>
          <a:p>
            <a:endParaRPr lang="en-IE" sz="2000" dirty="0"/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Generate a response.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@return   A string that should be displayed as the response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public String </a:t>
            </a:r>
            <a:r>
              <a:rPr lang="en-IE" sz="2000" b="1" dirty="0" err="1"/>
              <a:t>generateResponse</a:t>
            </a:r>
            <a:r>
              <a:rPr lang="en-IE" sz="2000" dirty="0"/>
              <a:t>(){</a:t>
            </a:r>
          </a:p>
          <a:p>
            <a:r>
              <a:rPr lang="en-IE" sz="2000" dirty="0"/>
              <a:t>          return "That sounds interesting. Tell me more...";</a:t>
            </a:r>
          </a:p>
          <a:p>
            <a:r>
              <a:rPr lang="en-IE" sz="2000" dirty="0"/>
              <a:t>    }</a:t>
            </a:r>
          </a:p>
          <a:p>
            <a:r>
              <a:rPr lang="en-IE" sz="2000" dirty="0"/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9144000" y="152401"/>
            <a:ext cx="1148306" cy="6947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1330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85800" y="2819400"/>
            <a:ext cx="6781800" cy="2971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457200" y="5257799"/>
            <a:ext cx="1828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1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41494"/>
            <a:ext cx="5867400" cy="67403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</a:t>
            </a:r>
            <a:r>
              <a:rPr lang="en-IE" b="1" dirty="0" err="1"/>
              <a:t>SupportSystem</a:t>
            </a:r>
            <a:r>
              <a:rPr lang="en-IE" dirty="0"/>
              <a:t>{</a:t>
            </a:r>
          </a:p>
          <a:p>
            <a:r>
              <a:rPr lang="en-IE" dirty="0"/>
              <a:t>    private </a:t>
            </a:r>
            <a:r>
              <a:rPr lang="en-IE" dirty="0" err="1"/>
              <a:t>InputReader</a:t>
            </a:r>
            <a:r>
              <a:rPr lang="en-IE" dirty="0"/>
              <a:t> reader;</a:t>
            </a:r>
          </a:p>
          <a:p>
            <a:r>
              <a:rPr lang="en-IE" dirty="0"/>
              <a:t>    private Responder </a:t>
            </a:r>
            <a:r>
              <a:rPr lang="en-IE" dirty="0" err="1"/>
              <a:t>responder</a:t>
            </a:r>
            <a:r>
              <a:rPr lang="en-IE" dirty="0"/>
              <a:t>;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</a:t>
            </a:r>
            <a:r>
              <a:rPr lang="en-IE" b="1" dirty="0" err="1"/>
              <a:t>SupportSystem</a:t>
            </a:r>
            <a:r>
              <a:rPr lang="en-IE" dirty="0"/>
              <a:t>() {</a:t>
            </a:r>
          </a:p>
          <a:p>
            <a:r>
              <a:rPr lang="en-IE" dirty="0"/>
              <a:t>         reader = new </a:t>
            </a:r>
            <a:r>
              <a:rPr lang="en-IE" dirty="0" err="1"/>
              <a:t>InputReader</a:t>
            </a:r>
            <a:r>
              <a:rPr lang="en-IE" dirty="0"/>
              <a:t>();</a:t>
            </a:r>
          </a:p>
          <a:p>
            <a:r>
              <a:rPr lang="en-IE" dirty="0"/>
              <a:t>         responder = new Responder();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    public static void </a:t>
            </a:r>
            <a:r>
              <a:rPr lang="en-IE" b="1" dirty="0"/>
              <a:t>main</a:t>
            </a:r>
            <a:r>
              <a:rPr lang="en-IE" dirty="0"/>
              <a:t>(String[] </a:t>
            </a:r>
            <a:r>
              <a:rPr lang="en-IE" dirty="0" err="1"/>
              <a:t>argvs</a:t>
            </a:r>
            <a:r>
              <a:rPr lang="en-IE" dirty="0"/>
              <a:t>){</a:t>
            </a:r>
          </a:p>
          <a:p>
            <a:r>
              <a:rPr lang="en-IE" dirty="0"/>
              <a:t>         </a:t>
            </a:r>
            <a:r>
              <a:rPr lang="en-IE" dirty="0" err="1"/>
              <a:t>SupportSystem</a:t>
            </a:r>
            <a:r>
              <a:rPr lang="en-IE" dirty="0"/>
              <a:t> app = new </a:t>
            </a:r>
            <a:r>
              <a:rPr lang="en-IE" dirty="0" err="1"/>
              <a:t>SupportSystem</a:t>
            </a:r>
            <a:r>
              <a:rPr lang="en-IE" dirty="0"/>
              <a:t>();</a:t>
            </a:r>
          </a:p>
          <a:p>
            <a:r>
              <a:rPr lang="en-IE" dirty="0"/>
              <a:t>         </a:t>
            </a:r>
            <a:r>
              <a:rPr lang="en-IE" dirty="0" err="1"/>
              <a:t>app.start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void </a:t>
            </a:r>
            <a:r>
              <a:rPr lang="en-IE" b="1" dirty="0"/>
              <a:t>start</a:t>
            </a:r>
            <a:r>
              <a:rPr lang="en-IE" dirty="0"/>
              <a:t>(){</a:t>
            </a:r>
          </a:p>
          <a:p>
            <a:r>
              <a:rPr lang="en-IE" dirty="0"/>
              <a:t>          </a:t>
            </a:r>
            <a:r>
              <a:rPr lang="en-IE" dirty="0" err="1"/>
              <a:t>printWelcome</a:t>
            </a:r>
            <a:r>
              <a:rPr lang="en-IE" dirty="0"/>
              <a:t>();</a:t>
            </a:r>
          </a:p>
          <a:p>
            <a:r>
              <a:rPr lang="en-IE" dirty="0"/>
              <a:t>          String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  while(! </a:t>
            </a:r>
            <a:r>
              <a:rPr lang="en-IE" dirty="0" err="1"/>
              <a:t>input.startsWith</a:t>
            </a:r>
            <a:r>
              <a:rPr lang="en-IE" dirty="0"/>
              <a:t>("bye")) {</a:t>
            </a:r>
          </a:p>
          <a:p>
            <a:r>
              <a:rPr lang="en-IE" dirty="0"/>
              <a:t>               String response = </a:t>
            </a:r>
            <a:r>
              <a:rPr lang="en-IE" dirty="0" err="1"/>
              <a:t>responder.generateResponse</a:t>
            </a:r>
            <a:r>
              <a:rPr lang="en-IE" dirty="0"/>
              <a:t>();</a:t>
            </a:r>
          </a:p>
          <a:p>
            <a:r>
              <a:rPr lang="en-IE" dirty="0"/>
              <a:t>       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(response);</a:t>
            </a:r>
            <a:r>
              <a:rPr lang="en-IE" dirty="0"/>
              <a:t>  </a:t>
            </a:r>
          </a:p>
          <a:p>
            <a:r>
              <a:rPr lang="en-IE" dirty="0"/>
              <a:t>              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  }</a:t>
            </a:r>
          </a:p>
          <a:p>
            <a:r>
              <a:rPr lang="en-IE" dirty="0"/>
              <a:t>          </a:t>
            </a:r>
            <a:r>
              <a:rPr lang="en-IE" dirty="0" err="1"/>
              <a:t>printGoodbye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772400" y="829236"/>
            <a:ext cx="1148306" cy="6947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extBox 1"/>
          <p:cNvSpPr txBox="1"/>
          <p:nvPr/>
        </p:nvSpPr>
        <p:spPr>
          <a:xfrm>
            <a:off x="5562600" y="6324601"/>
            <a:ext cx="1771832" cy="3077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dirty="0"/>
              <a:t>More on next slide &gt;&gt;</a:t>
            </a:r>
          </a:p>
        </p:txBody>
      </p:sp>
    </p:spTree>
    <p:extLst>
      <p:ext uri="{BB962C8B-B14F-4D97-AF65-F5344CB8AC3E}">
        <p14:creationId xmlns:p14="http://schemas.microsoft.com/office/powerpoint/2010/main" val="39292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57400" y="2021682"/>
            <a:ext cx="8153400" cy="36933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 private void </a:t>
            </a:r>
            <a:r>
              <a:rPr lang="en-IE" b="1" dirty="0" err="1"/>
              <a:t>printWelcome</a:t>
            </a:r>
            <a:r>
              <a:rPr lang="en-IE" dirty="0"/>
              <a:t>(){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("Welcome to the </a:t>
            </a:r>
            <a:r>
              <a:rPr lang="en-IE" i="1" dirty="0" err="1"/>
              <a:t>DodgySoft</a:t>
            </a:r>
            <a:r>
              <a:rPr lang="en-IE" i="1" dirty="0"/>
              <a:t> Technical Support System.");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("Please tell us about your problem. We will assist you");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("with any problem you might have. Please type 'bye'");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("to exit our system.");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    private void </a:t>
            </a:r>
            <a:r>
              <a:rPr lang="en-IE" b="1" dirty="0" err="1"/>
              <a:t>printGoodbye</a:t>
            </a:r>
            <a:r>
              <a:rPr lang="en-IE" dirty="0"/>
              <a:t>(){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("Nice talking to you. Bye...");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}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895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Main loop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998552" y="1600201"/>
            <a:ext cx="5867400" cy="31393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    </a:t>
            </a:r>
          </a:p>
          <a:p>
            <a:r>
              <a:rPr lang="en-IE" dirty="0"/>
              <a:t>    public void </a:t>
            </a:r>
            <a:r>
              <a:rPr lang="en-IE" b="1" dirty="0"/>
              <a:t>start</a:t>
            </a:r>
            <a:r>
              <a:rPr lang="en-IE" dirty="0"/>
              <a:t>(){</a:t>
            </a:r>
          </a:p>
          <a:p>
            <a:r>
              <a:rPr lang="en-IE" dirty="0"/>
              <a:t>          </a:t>
            </a:r>
            <a:r>
              <a:rPr lang="en-IE" dirty="0" err="1"/>
              <a:t>printWelcome</a:t>
            </a:r>
            <a:r>
              <a:rPr lang="en-IE" dirty="0"/>
              <a:t>();</a:t>
            </a:r>
          </a:p>
          <a:p>
            <a:r>
              <a:rPr lang="en-IE" dirty="0"/>
              <a:t>          </a:t>
            </a:r>
            <a:r>
              <a:rPr lang="en-IE" b="1" dirty="0"/>
              <a:t>String input = </a:t>
            </a:r>
            <a:r>
              <a:rPr lang="en-IE" b="1" dirty="0" err="1"/>
              <a:t>reader.getInput</a:t>
            </a:r>
            <a:r>
              <a:rPr lang="en-IE" b="1" dirty="0"/>
              <a:t>();</a:t>
            </a:r>
          </a:p>
          <a:p>
            <a:r>
              <a:rPr lang="en-IE" dirty="0"/>
              <a:t>          </a:t>
            </a:r>
            <a:r>
              <a:rPr lang="en-IE" b="1" dirty="0"/>
              <a:t>while(! </a:t>
            </a:r>
            <a:r>
              <a:rPr lang="en-IE" b="1" dirty="0" err="1"/>
              <a:t>input.startsWith</a:t>
            </a:r>
            <a:r>
              <a:rPr lang="en-IE" b="1" dirty="0"/>
              <a:t>("bye")) {</a:t>
            </a:r>
          </a:p>
          <a:p>
            <a:r>
              <a:rPr lang="en-IE" b="1" dirty="0"/>
              <a:t>               String response = </a:t>
            </a:r>
            <a:r>
              <a:rPr lang="en-IE" b="1" dirty="0" err="1"/>
              <a:t>responder.generateResponse</a:t>
            </a:r>
            <a:r>
              <a:rPr lang="en-IE" b="1" dirty="0"/>
              <a:t>();</a:t>
            </a:r>
          </a:p>
          <a:p>
            <a:r>
              <a:rPr lang="en-IE" b="1" dirty="0"/>
              <a:t>               </a:t>
            </a:r>
            <a:r>
              <a:rPr lang="en-IE" b="1" dirty="0" err="1"/>
              <a:t>System.</a:t>
            </a:r>
            <a:r>
              <a:rPr lang="en-IE" b="1" i="1" dirty="0" err="1"/>
              <a:t>out.println</a:t>
            </a:r>
            <a:r>
              <a:rPr lang="en-IE" b="1" i="1" dirty="0"/>
              <a:t>(response);</a:t>
            </a:r>
            <a:r>
              <a:rPr lang="en-IE" b="1" dirty="0"/>
              <a:t>  </a:t>
            </a:r>
          </a:p>
          <a:p>
            <a:r>
              <a:rPr lang="en-IE" b="1" dirty="0"/>
              <a:t>               input = </a:t>
            </a:r>
            <a:r>
              <a:rPr lang="en-IE" b="1" dirty="0" err="1"/>
              <a:t>reader.getInput</a:t>
            </a:r>
            <a:r>
              <a:rPr lang="en-IE" b="1" dirty="0"/>
              <a:t>();</a:t>
            </a:r>
          </a:p>
          <a:p>
            <a:r>
              <a:rPr lang="en-IE" b="1" dirty="0"/>
              <a:t>          }</a:t>
            </a:r>
          </a:p>
          <a:p>
            <a:r>
              <a:rPr lang="en-IE" dirty="0"/>
              <a:t>          </a:t>
            </a:r>
            <a:r>
              <a:rPr lang="en-IE" dirty="0" err="1"/>
              <a:t>printGoodbye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9600" y="4267200"/>
            <a:ext cx="5715000" cy="2209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endParaRPr lang="ga-IE" sz="1800" b="1" noProof="1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IE" sz="1800" b="1" noProof="1">
                <a:latin typeface="Courier New" charset="0"/>
              </a:rPr>
              <a:t> </a:t>
            </a:r>
            <a:r>
              <a:rPr lang="ga-IE" sz="1800" b="1" noProof="1">
                <a:latin typeface="Courier New" charset="0"/>
              </a:rPr>
              <a:t>Get </a:t>
            </a:r>
            <a:r>
              <a:rPr lang="ga-IE" sz="1800" noProof="1">
                <a:latin typeface="Courier New" charset="0"/>
              </a:rPr>
              <a:t>input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IE" sz="1800" b="1" noProof="1">
                <a:latin typeface="Courier New" charset="0"/>
              </a:rPr>
              <a:t> </a:t>
            </a:r>
            <a:r>
              <a:rPr lang="ga-IE" sz="1800" b="1" noProof="1">
                <a:latin typeface="Courier New" charset="0"/>
              </a:rPr>
              <a:t>w</a:t>
            </a:r>
            <a:r>
              <a:rPr sz="1800" b="1" noProof="1">
                <a:latin typeface="Courier New" charset="0"/>
              </a:rPr>
              <a:t>hile(</a:t>
            </a:r>
            <a:r>
              <a:rPr lang="ga-IE" sz="1800" noProof="1">
                <a:latin typeface="Courier New" charset="0"/>
              </a:rPr>
              <a:t>input</a:t>
            </a:r>
            <a:r>
              <a:rPr lang="ga-IE" sz="1800" b="1" noProof="1">
                <a:latin typeface="Courier New" charset="0"/>
              </a:rPr>
              <a:t> does not </a:t>
            </a:r>
            <a:r>
              <a:rPr lang="en-IE" sz="1800" b="1" noProof="1">
                <a:latin typeface="Courier New" charset="0"/>
              </a:rPr>
              <a:t>start with “b</a:t>
            </a:r>
            <a:r>
              <a:rPr lang="ga-IE" sz="1800" b="1" noProof="1">
                <a:latin typeface="Courier New" charset="0"/>
              </a:rPr>
              <a:t>ye”</a:t>
            </a:r>
            <a:r>
              <a:rPr sz="1800" b="1" noProof="1">
                <a:latin typeface="Courier New" charset="0"/>
              </a:rPr>
              <a:t>){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sz="1800" b="1" i="1" noProof="1">
                <a:latin typeface="Courier New" charset="0"/>
              </a:rPr>
              <a:t>    do something</a:t>
            </a:r>
            <a:r>
              <a:rPr lang="en-IE" sz="1800" b="1" i="1" noProof="1">
                <a:latin typeface="Courier New" charset="0"/>
              </a:rPr>
              <a:t> (i.e. print response)</a:t>
            </a:r>
            <a:endParaRPr sz="1800" b="1" i="1" noProof="1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IE" sz="1800" b="1" noProof="1">
                <a:latin typeface="Courier New" charset="0"/>
              </a:rPr>
              <a:t> </a:t>
            </a:r>
            <a:r>
              <a:rPr sz="1800" b="1" noProof="1">
                <a:latin typeface="Courier New" charset="0"/>
              </a:rPr>
              <a:t>   </a:t>
            </a:r>
            <a:r>
              <a:rPr lang="ga-IE" sz="1800" b="1" noProof="1">
                <a:latin typeface="Courier New" charset="0"/>
              </a:rPr>
              <a:t>Get </a:t>
            </a:r>
            <a:r>
              <a:rPr lang="en-IE" sz="1800" b="1" noProof="1">
                <a:latin typeface="Courier New" charset="0"/>
              </a:rPr>
              <a:t>some new </a:t>
            </a:r>
            <a:r>
              <a:rPr lang="ga-IE" sz="1800" noProof="1">
                <a:latin typeface="Courier New" charset="0"/>
              </a:rPr>
              <a:t>input</a:t>
            </a:r>
            <a:endParaRPr sz="1800" i="1" noProof="1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sz="1800" b="1" noProof="1">
                <a:latin typeface="Courier New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601801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203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438401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5900</TotalTime>
  <Words>1083</Words>
  <Application>Microsoft Macintosh PowerPoint</Application>
  <PresentationFormat>Widescreen</PresentationFormat>
  <Paragraphs>231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 New</vt:lpstr>
      <vt:lpstr>Times</vt:lpstr>
      <vt:lpstr>Office Theme</vt:lpstr>
      <vt:lpstr>More Sophisticated Behaviour</vt:lpstr>
      <vt:lpstr>Lectures and Labs</vt:lpstr>
      <vt:lpstr>Topic List</vt:lpstr>
      <vt:lpstr>The Java class library (API)</vt:lpstr>
      <vt:lpstr>Using library classes</vt:lpstr>
      <vt:lpstr>Working with the library</vt:lpstr>
      <vt:lpstr>Topic List</vt:lpstr>
      <vt:lpstr>Interface vs implementation</vt:lpstr>
      <vt:lpstr>Interface vs implementation</vt:lpstr>
      <vt:lpstr>Topic List</vt:lpstr>
      <vt:lpstr>Technical Support System V1</vt:lpstr>
      <vt:lpstr>Technical Support System V1</vt:lpstr>
      <vt:lpstr>Topic List</vt:lpstr>
      <vt:lpstr>Class Diagram</vt:lpstr>
      <vt:lpstr>Topic List</vt:lpstr>
      <vt:lpstr>PowerPoint Presentation</vt:lpstr>
      <vt:lpstr>Topic List</vt:lpstr>
      <vt:lpstr>PowerPoint Presentation</vt:lpstr>
      <vt:lpstr>Topic List</vt:lpstr>
      <vt:lpstr>PowerPoint Presentation</vt:lpstr>
      <vt:lpstr>PowerPoint Presentation</vt:lpstr>
      <vt:lpstr>Main loop structure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133</cp:revision>
  <cp:lastPrinted>2018-03-31T22:45:40Z</cp:lastPrinted>
  <dcterms:created xsi:type="dcterms:W3CDTF">2006-08-16T00:00:00Z</dcterms:created>
  <dcterms:modified xsi:type="dcterms:W3CDTF">2025-03-08T08:50:47Z</dcterms:modified>
</cp:coreProperties>
</file>