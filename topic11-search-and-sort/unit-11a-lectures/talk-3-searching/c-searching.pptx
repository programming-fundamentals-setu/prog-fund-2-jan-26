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1" r:id="rId1"/>
  </p:sldMasterIdLst>
  <p:notesMasterIdLst>
    <p:notesMasterId r:id="rId18"/>
  </p:notesMasterIdLst>
  <p:handoutMasterIdLst>
    <p:handoutMasterId r:id="rId19"/>
  </p:handoutMasterIdLst>
  <p:sldIdLst>
    <p:sldId id="322" r:id="rId2"/>
    <p:sldId id="284" r:id="rId3"/>
    <p:sldId id="321" r:id="rId4"/>
    <p:sldId id="313" r:id="rId5"/>
    <p:sldId id="314" r:id="rId6"/>
    <p:sldId id="330" r:id="rId7"/>
    <p:sldId id="315" r:id="rId8"/>
    <p:sldId id="332" r:id="rId9"/>
    <p:sldId id="316" r:id="rId10"/>
    <p:sldId id="317" r:id="rId11"/>
    <p:sldId id="318" r:id="rId12"/>
    <p:sldId id="319" r:id="rId13"/>
    <p:sldId id="320" r:id="rId14"/>
    <p:sldId id="331" r:id="rId15"/>
    <p:sldId id="392" r:id="rId16"/>
    <p:sldId id="363" r:id="rId1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46"/>
    <p:restoredTop sz="94640"/>
  </p:normalViewPr>
  <p:slideViewPr>
    <p:cSldViewPr>
      <p:cViewPr varScale="1">
        <p:scale>
          <a:sx n="104" d="100"/>
          <a:sy n="104" d="100"/>
        </p:scale>
        <p:origin x="138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3C03D56-8981-0047-6D94-4D1E1218C1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Times New Roman" pitchFamily="-32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Objects First with Java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6EB4FA40-CEDC-4F48-F097-D2FE194DE0E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© David J. Barnes and Michael Kölling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EFE63DFB-B844-F22C-8106-30858D084B3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62600" y="86868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6596718-2A84-E046-B8AC-D79E676835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B4A4996D-E808-F027-1741-F37CA6F562A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-32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D60BA1D-9D45-B29E-87CC-3F60CB34FD9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-3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830DC6A-01B7-78CA-1E92-A2CF3DBD625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A8049520-AA63-4DC1-11AF-366CC96EA6D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7ED28EDB-C107-7ED3-AB90-AA79C6D11F9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15227F42-093B-19EE-5736-1AFC3BD48B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243E177-C091-7748-84EA-40B4C9C8B43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32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32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32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32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32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81DA6EAF-99A5-CDFD-677B-7A80C41A30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b="1">
                <a:latin typeface="Times New Roman" panose="02020603050405020304" pitchFamily="18" charset="0"/>
                <a:ea typeface="MS PGothic" panose="020B0600070205080204" pitchFamily="34" charset="-128"/>
              </a:rPr>
              <a:t>Objects First with Java</a:t>
            </a:r>
          </a:p>
        </p:txBody>
      </p:sp>
      <p:sp>
        <p:nvSpPr>
          <p:cNvPr id="62466" name="Rectangle 6">
            <a:extLst>
              <a:ext uri="{FF2B5EF4-FFF2-40B4-BE49-F238E27FC236}">
                <a16:creationId xmlns:a16="http://schemas.microsoft.com/office/drawing/2014/main" id="{BA122F9D-7AE7-6CCC-A0DA-95A7CA7BCA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b="1">
                <a:latin typeface="Times New Roman" panose="02020603050405020304" pitchFamily="18" charset="0"/>
                <a:ea typeface="MS PGothic" panose="020B0600070205080204" pitchFamily="34" charset="-128"/>
              </a:rPr>
              <a:t>© David J. Barnes and Michael Kölling</a:t>
            </a:r>
          </a:p>
        </p:txBody>
      </p:sp>
      <p:sp>
        <p:nvSpPr>
          <p:cNvPr id="62467" name="Rectangle 7">
            <a:extLst>
              <a:ext uri="{FF2B5EF4-FFF2-40B4-BE49-F238E27FC236}">
                <a16:creationId xmlns:a16="http://schemas.microsoft.com/office/drawing/2014/main" id="{C72A1E4A-E406-B863-B8CD-F10CD3F5F4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9E28CFB9-D2BB-D948-A773-5C578A6BF038}" type="slidenum">
              <a:rPr lang="en-GB" altLang="en-US" b="1" smtClean="0">
                <a:latin typeface="Times New Roman" panose="02020603050405020304" pitchFamily="18" charset="0"/>
                <a:ea typeface="MS PGothic" panose="020B0600070205080204" pitchFamily="34" charset="-128"/>
              </a:rPr>
              <a:pPr/>
              <a:t>3</a:t>
            </a:fld>
            <a:endParaRPr lang="en-GB" altLang="en-US" b="1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id="{8637586A-C32D-FFDB-34C5-3EF0BCC67C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id="{B1D5A3E2-39E9-9351-C463-D7F4FC0B4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658FF-5032-D819-1658-4A32534E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AA179-1F02-104A-87E0-9F7935BE9913}" type="datetime1">
              <a:rPr lang="en-US" altLang="en-US"/>
              <a:pPr>
                <a:defRPr/>
              </a:pPr>
              <a:t>4/17/2026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7D9D2-0CC4-6802-A06B-04E4A78A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88F9F-F38E-7554-5291-09ECC2AF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969CB-2BDE-9B4E-B001-775DE6CE5B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932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C62954-DA3F-362F-ABC7-3A75143D2A7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71A921D-2921-3198-6AC7-3AB748745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98B3F8-FE13-B046-8861-908AE57BEF1A}" type="datetime1">
              <a:rPr lang="en-US" altLang="en-US"/>
              <a:pPr>
                <a:defRPr/>
              </a:pPr>
              <a:t>4/17/2026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74CEFC3-B7D9-60A1-1F8C-A54C65729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377E9C9-44FD-B459-EB79-E3587309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E1FAB-8406-884E-9D8C-A73C32D2FD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468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69ADA-9C09-2811-D3C4-8D2B25B3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743D4-6176-C34F-B6D3-69ABDA5DEC99}" type="datetime1">
              <a:rPr lang="en-US" altLang="en-US"/>
              <a:pPr>
                <a:defRPr/>
              </a:pPr>
              <a:t>4/17/2026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C8E0D-EE4C-0FE0-6A6B-B1A02441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8A5A4-3294-1BB0-9A15-B5765216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1805B-ECA2-4548-9AC4-ACA971C725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72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7B06ED-3689-1EA6-EBA5-63D72DD940A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D917D1E-B240-AF02-CB30-F3DE6BA1E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07CC8-43FB-8249-8C4E-1576943912D1}" type="datetime1">
              <a:rPr lang="en-US" altLang="en-US"/>
              <a:pPr>
                <a:defRPr/>
              </a:pPr>
              <a:t>4/17/2026</a:t>
            </a:fld>
            <a:endParaRPr lang="en-US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2951E3C-BD3B-2621-B6EF-C5878DB1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065A7EF-1BDB-BD0E-1647-1D7F0355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C322A2-1D4E-C84A-8222-7C0A9EDE38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92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5B9ED1-F13D-A87D-BA5D-367477A620C6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324094AA-2C88-1A8C-6C7B-19E3E98F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96E1FF-9818-E649-97B3-0A391DDB8D8D}" type="datetime1">
              <a:rPr lang="en-US" altLang="en-US"/>
              <a:pPr>
                <a:defRPr/>
              </a:pPr>
              <a:t>4/17/2026</a:t>
            </a:fld>
            <a:endParaRPr lang="en-US" altLang="en-US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6469B065-C4BB-04FA-DD05-50C6F2AA6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72C19940-848B-9402-1A02-BEF4CC5A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95F71-FDA0-284A-8E34-19291FA867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2712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274448F-C616-DEB4-713A-7E89010CD01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A169BCA-3E3B-9703-7A95-CF0030C6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A17E9-2F92-E944-9408-56E2AC664D8F}" type="datetime1">
              <a:rPr lang="en-US" altLang="en-US"/>
              <a:pPr>
                <a:defRPr/>
              </a:pPr>
              <a:t>4/17/2026</a:t>
            </a:fld>
            <a:endParaRPr lang="en-US" alt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7C35FA6-E681-7264-B180-AFFF7476A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EAB44319-80CE-D5D0-2F75-B9767AC3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B1946-7427-3049-9C63-0DD8727B59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421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35D1D45-65A5-BE35-0D86-DC2B12358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3B0FD-74A9-354D-9847-F024388DB335}" type="datetime1">
              <a:rPr lang="en-US" altLang="en-US"/>
              <a:pPr>
                <a:defRPr/>
              </a:pPr>
              <a:t>4/17/2026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550AB8F-999F-2BB1-17A7-54482B6A3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F8EB7E9-48AD-043F-80BB-9FB67011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E97CF-3E57-DC47-964F-364C8C1003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888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87875-54AA-758E-5C63-575BCD4BE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FDADFD-48E8-0144-BB61-FD46380D279A}" type="datetime1">
              <a:rPr lang="en-US" altLang="en-US"/>
              <a:pPr>
                <a:defRPr/>
              </a:pPr>
              <a:t>4/17/2026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957BB-C24E-A11F-7A73-ED993EC6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A3BC7-444E-E5E6-9382-86BCA48B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EADF6-BA3B-F242-A546-3B8C821C32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356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2A035-7E88-1AF3-1B34-FE0A506D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B4F0C-26F4-3D4F-BBDF-25DFCA1628A0}" type="datetime1">
              <a:rPr lang="en-US" altLang="en-US"/>
              <a:pPr>
                <a:defRPr/>
              </a:pPr>
              <a:t>4/17/2026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DC386-60B9-2604-BE97-E75885468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6F3C4-F57F-FAB6-94DF-3145CBFE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44DB1-49E1-F64A-8F81-43C0FD289E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099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887D5-29D3-085C-A489-73EEE165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80304-6857-824B-A927-DDF9F671A640}" type="datetime1">
              <a:rPr lang="en-US" altLang="en-US"/>
              <a:pPr>
                <a:defRPr/>
              </a:pPr>
              <a:t>4/17/2026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B2983-28CE-1247-B351-43EA2781A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2C2E1-2D00-4C74-0943-270E58A11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A25961-A9F9-EC43-9491-86165B5F34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210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317C1-4D14-FD38-98EF-9B5B8ADC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9A4044-123B-124D-B393-01B9936D0DA4}" type="datetime1">
              <a:rPr lang="en-US" altLang="en-US"/>
              <a:pPr>
                <a:defRPr/>
              </a:pPr>
              <a:t>4/17/2026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A5127-E606-9B00-21B4-155A7BA7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E0C8A-EA1A-0016-E2A7-28D0DFF39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8A73E1-08A6-5147-A006-49420AA18C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73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15BB81B-E90A-2D8A-EFE3-EBF49FD38D8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A620B23-DD8D-53BF-CA02-D5F3BA4C06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1C063-4462-E40F-C4B7-3694727C4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BC73A33-8678-C545-8830-54E50EB4E9CC}" type="datetime1">
              <a:rPr lang="en-US" altLang="en-US"/>
              <a:pPr>
                <a:defRPr/>
              </a:pPr>
              <a:t>4/17/2026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019D5-E316-AECB-4E28-85ACCA98E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AA3B4-5BBF-674C-D0E5-C09AE80FD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C549992-ED98-3E47-8B71-6DA0D85778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4" r:id="rId2"/>
    <p:sldLayoutId id="2147484232" r:id="rId3"/>
    <p:sldLayoutId id="2147484235" r:id="rId4"/>
    <p:sldLayoutId id="2147484236" r:id="rId5"/>
    <p:sldLayoutId id="2147484237" r:id="rId6"/>
    <p:sldLayoutId id="2147484233" r:id="rId7"/>
    <p:sldLayoutId id="2147484238" r:id="rId8"/>
    <p:sldLayoutId id="2147484239" r:id="rId9"/>
    <p:sldLayoutId id="2147484240" r:id="rId10"/>
    <p:sldLayoutId id="214748424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L03KD-RxZc?feature=oembed" TargetMode="External"/><Relationship Id="rId4" Type="http://schemas.openxmlformats.org/officeDocument/2006/relationships/hyperlink" Target="https://www.youtube.com/@05st43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4E1110A0-0E75-19D1-6DEE-83A1AAC53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4875" y="914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IE" altLang="en-US" sz="4000" dirty="0"/>
              <a:t>Searching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30E3D-12FF-4E99-0496-840035A5A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 rtlCol="0">
            <a:normAutofit/>
          </a:bodyPr>
          <a:lstStyle/>
          <a:p>
            <a:pPr algn="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E" sz="2400" dirty="0"/>
              <a:t>Produced </a:t>
            </a:r>
          </a:p>
          <a:p>
            <a:pPr algn="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3BB28E-3FEF-E2A1-E709-185B6BFD40AD}"/>
              </a:ext>
            </a:extLst>
          </p:cNvPr>
          <p:cNvCxnSpPr/>
          <p:nvPr/>
        </p:nvCxnSpPr>
        <p:spPr>
          <a:xfrm>
            <a:off x="2251075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CCEB937-62D9-9267-9FBD-B8E5638CFC47}"/>
              </a:ext>
            </a:extLst>
          </p:cNvPr>
          <p:cNvSpPr txBox="1"/>
          <p:nvPr/>
        </p:nvSpPr>
        <p:spPr>
          <a:xfrm>
            <a:off x="3810000" y="3817938"/>
            <a:ext cx="29718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Drohan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Ms. Mairead Meagher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Roche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5D3DA86-0200-1127-F4FF-1983B6606C38}"/>
              </a:ext>
            </a:extLst>
          </p:cNvPr>
          <p:cNvSpPr txBox="1">
            <a:spLocks/>
          </p:cNvSpPr>
          <p:nvPr/>
        </p:nvSpPr>
        <p:spPr>
          <a:xfrm>
            <a:off x="2174875" y="2133600"/>
            <a:ext cx="7772400" cy="9366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Basic searching algorithms</a:t>
            </a:r>
          </a:p>
        </p:txBody>
      </p:sp>
      <p:sp>
        <p:nvSpPr>
          <p:cNvPr id="15366" name="TextBox 1">
            <a:extLst>
              <a:ext uri="{FF2B5EF4-FFF2-40B4-BE49-F238E27FC236}">
                <a16:creationId xmlns:a16="http://schemas.microsoft.com/office/drawing/2014/main" id="{DA06997C-0254-1756-C556-5CA527695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7425" y="5849938"/>
            <a:ext cx="40719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E" altLang="en-US" sz="1600"/>
              <a:t>Department of Computing and Mathematics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IE" altLang="en-US" sz="1600"/>
              <a:t>http://www.setu.ie/</a:t>
            </a:r>
          </a:p>
        </p:txBody>
      </p:sp>
      <p:pic>
        <p:nvPicPr>
          <p:cNvPr id="15367" name="Picture 3" descr="Text&#10;&#10;Description automatically generated">
            <a:extLst>
              <a:ext uri="{FF2B5EF4-FFF2-40B4-BE49-F238E27FC236}">
                <a16:creationId xmlns:a16="http://schemas.microsoft.com/office/drawing/2014/main" id="{9CB24259-E69D-9BE3-9E0E-91808C4A1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5500688"/>
            <a:ext cx="2286000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Picture 1" descr="A picture containing icon&#10;&#10;Description automatically generated">
            <a:extLst>
              <a:ext uri="{FF2B5EF4-FFF2-40B4-BE49-F238E27FC236}">
                <a16:creationId xmlns:a16="http://schemas.microsoft.com/office/drawing/2014/main" id="{CFDFE550-B485-CE99-B27E-57DED386A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0" y="765175"/>
            <a:ext cx="485775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7C759A5-6B24-AC53-B260-34444AC5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Ins="81279"/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altLang="en-US" sz="4000">
                <a:solidFill>
                  <a:srgbClr val="435765"/>
                </a:solidFill>
                <a:latin typeface="Inter"/>
              </a:rPr>
              <a:t>Main concepts to be covered in this section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913A8688-DAED-EB1C-D8F4-68C809EB18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025" y="1590675"/>
            <a:ext cx="7467600" cy="4600575"/>
          </a:xfrm>
        </p:spPr>
        <p:txBody>
          <a:bodyPr rIns="233680" rtlCol="0">
            <a:normAutofit/>
          </a:bodyPr>
          <a:lstStyle/>
          <a:p>
            <a:pPr marL="382588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</a:rPr>
              <a:t>Searching</a:t>
            </a:r>
          </a:p>
          <a:p>
            <a:pPr marL="657225" lvl="1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</a:rPr>
              <a:t>Linear Search (unsorted list)</a:t>
            </a:r>
          </a:p>
          <a:p>
            <a:pPr marL="657225" lvl="1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</a:rPr>
              <a:t>Binary Search (sorted list)</a:t>
            </a:r>
          </a:p>
          <a:p>
            <a:pPr marL="382588" indent="-1828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atin typeface="Trebuchet MS" charset="0"/>
            </a:endParaRPr>
          </a:p>
          <a:p>
            <a:pPr marL="382588" indent="-1828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atin typeface="Trebuchet MS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B5CE9E-1B7F-4884-6139-0623D18BE459}"/>
              </a:ext>
            </a:extLst>
          </p:cNvPr>
          <p:cNvSpPr/>
          <p:nvPr/>
        </p:nvSpPr>
        <p:spPr>
          <a:xfrm>
            <a:off x="1631504" y="1700808"/>
            <a:ext cx="4608512" cy="1440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4">
            <a:extLst>
              <a:ext uri="{FF2B5EF4-FFF2-40B4-BE49-F238E27FC236}">
                <a16:creationId xmlns:a16="http://schemas.microsoft.com/office/drawing/2014/main" id="{5B204D63-3BFC-5700-FC56-EE543527F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663" y="6537325"/>
            <a:ext cx="3635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000">
                <a:latin typeface="Trebuchet MS" panose="020B0703020202090204" pitchFamily="34" charset="0"/>
                <a:ea typeface="MS PGothic" panose="020B0600070205080204" pitchFamily="34" charset="-128"/>
              </a:rPr>
              <a:t>4.0</a:t>
            </a:r>
          </a:p>
        </p:txBody>
      </p:sp>
      <p:pic>
        <p:nvPicPr>
          <p:cNvPr id="61443" name="Picture 4" descr="Image result for searching">
            <a:extLst>
              <a:ext uri="{FF2B5EF4-FFF2-40B4-BE49-F238E27FC236}">
                <a16:creationId xmlns:a16="http://schemas.microsoft.com/office/drawing/2014/main" id="{8A0833B9-709E-0FA3-4466-5C8E2C7F7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3141663"/>
            <a:ext cx="4032250" cy="270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6787233B-05F4-38D9-B673-8FAEEC319B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92313" y="765175"/>
            <a:ext cx="7848600" cy="192722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altLang="en-US" sz="4900" dirty="0">
                <a:latin typeface="Trebuchet MS" pitchFamily="34" charset="0"/>
              </a:rPr>
            </a:br>
            <a:r>
              <a:rPr lang="en-US" altLang="en-US" sz="67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charset="0"/>
              </a:rPr>
              <a:t>Linear and binary searching</a:t>
            </a:r>
            <a:br>
              <a:rPr lang="en-US" altLang="en-US" sz="49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charset="0"/>
              </a:rPr>
            </a:br>
            <a:endParaRPr lang="en-US" altLang="en-US" sz="4900" dirty="0">
              <a:solidFill>
                <a:schemeClr val="tx1">
                  <a:lumMod val="65000"/>
                  <a:lumOff val="35000"/>
                </a:schemeClr>
              </a:solidFill>
              <a:latin typeface="Trebuchet M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AB55D6AA-B138-B4E2-9F55-9649B75BF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Searching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0D8E4641-8508-6F24-3F99-4D6821384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628775"/>
            <a:ext cx="10744200" cy="4741863"/>
          </a:xfrm>
        </p:spPr>
        <p:txBody>
          <a:bodyPr/>
          <a:lstStyle/>
          <a:p>
            <a:pPr eaLnBrk="1" hangingPunct="1">
              <a:defRPr/>
            </a:pPr>
            <a:endParaRPr lang="en-US" altLang="en-US" sz="2800" dirty="0">
              <a:latin typeface="Trebuchet MS" panose="020B0703020202090204" pitchFamily="34" charset="0"/>
            </a:endParaRPr>
          </a:p>
          <a:p>
            <a:pPr marL="514350" indent="-501650" eaLnBrk="1" hangingPunct="1">
              <a:defRPr/>
            </a:pPr>
            <a:r>
              <a:rPr lang="en-US" altLang="en-US" dirty="0">
                <a:solidFill>
                  <a:srgbClr val="435765"/>
                </a:solidFill>
                <a:latin typeface="Inter" panose="02000503000000020004" pitchFamily="2" charset="0"/>
              </a:rPr>
              <a:t>Generally a search method will look something like  (ignore access modifier): 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800" dirty="0">
              <a:latin typeface="Trebuchet MS" panose="020B070302020209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sz="2800" dirty="0"/>
          </a:p>
          <a:p>
            <a:pPr eaLnBrk="1" hangingPunct="1">
              <a:defRPr/>
            </a:pPr>
            <a:endParaRPr lang="en-US" altLang="en-US" dirty="0"/>
          </a:p>
          <a:p>
            <a:pPr marL="514350" indent="-501650" eaLnBrk="1" hangingPunct="1">
              <a:defRPr/>
            </a:pPr>
            <a:r>
              <a:rPr lang="en-US" altLang="en-US" dirty="0">
                <a:solidFill>
                  <a:srgbClr val="435765"/>
                </a:solidFill>
                <a:latin typeface="Inter" panose="02000503000000020004" pitchFamily="2" charset="0"/>
              </a:rPr>
              <a:t>This method would return the position in the array of the value ‘</a:t>
            </a:r>
            <a:r>
              <a:rPr lang="en-US" altLang="ja-JP" dirty="0" err="1">
                <a:solidFill>
                  <a:srgbClr val="435765"/>
                </a:solidFill>
                <a:latin typeface="Inter" panose="02000503000000020004" pitchFamily="2" charset="0"/>
              </a:rPr>
              <a:t>lookingFor</a:t>
            </a:r>
            <a:r>
              <a:rPr lang="en-US" altLang="en-US" dirty="0">
                <a:solidFill>
                  <a:srgbClr val="435765"/>
                </a:solidFill>
                <a:latin typeface="Inter" panose="02000503000000020004" pitchFamily="2" charset="0"/>
              </a:rPr>
              <a:t>’</a:t>
            </a:r>
            <a:r>
              <a:rPr lang="en-US" altLang="ja-JP" dirty="0">
                <a:solidFill>
                  <a:srgbClr val="435765"/>
                </a:solidFill>
                <a:latin typeface="Inter" panose="02000503000000020004" pitchFamily="2" charset="0"/>
              </a:rPr>
              <a:t> if it exists and –1 otherwise.</a:t>
            </a:r>
            <a:endParaRPr lang="en-US" altLang="en-US" dirty="0">
              <a:solidFill>
                <a:srgbClr val="435765"/>
              </a:solidFill>
              <a:latin typeface="Inter" panose="02000503000000020004" pitchFamily="2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C83073C-FC3A-3E6B-ADD8-24999BBE2A20}"/>
              </a:ext>
            </a:extLst>
          </p:cNvPr>
          <p:cNvSpPr txBox="1">
            <a:spLocks/>
          </p:cNvSpPr>
          <p:nvPr/>
        </p:nvSpPr>
        <p:spPr bwMode="auto">
          <a:xfrm>
            <a:off x="1127125" y="3573463"/>
            <a:ext cx="10153650" cy="7191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60026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Times" charset="0"/>
              <a:buNone/>
              <a:defRPr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 search(int[] a, int size, int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lookingFor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 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1A85FE96-5FFE-91FB-11D0-B3FA5DDC9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Searching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70C73751-A9D5-5331-3128-C73935A1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435765"/>
                </a:solidFill>
                <a:latin typeface="Inter"/>
              </a:rPr>
              <a:t>Before we decide on how to search through a list we need to know whether or not the list is sorted.</a:t>
            </a:r>
          </a:p>
          <a:p>
            <a:pPr eaLnBrk="1" hangingPunct="1"/>
            <a:endParaRPr lang="en-US" altLang="en-US" sz="2800">
              <a:latin typeface="Trebuchet MS" panose="020B0703020202090204" pitchFamily="34" charset="0"/>
            </a:endParaRPr>
          </a:p>
          <a:p>
            <a:pPr marL="1606550" lvl="2" indent="-350838" eaLnBrk="1" hangingPunct="1"/>
            <a:r>
              <a:rPr lang="en-US" altLang="en-US" sz="3600">
                <a:solidFill>
                  <a:srgbClr val="435765"/>
                </a:solidFill>
                <a:latin typeface="Inter"/>
              </a:rPr>
              <a:t>Not Sorted </a:t>
            </a:r>
            <a:r>
              <a:rPr lang="en-US" altLang="en-US" sz="3600">
                <a:solidFill>
                  <a:srgbClr val="435765"/>
                </a:solidFill>
                <a:latin typeface="Inter"/>
                <a:sym typeface="Wingdings" pitchFamily="2" charset="2"/>
              </a:rPr>
              <a:t></a:t>
            </a:r>
            <a:r>
              <a:rPr lang="en-US" altLang="en-US" sz="3600">
                <a:solidFill>
                  <a:srgbClr val="435765"/>
                </a:solidFill>
                <a:latin typeface="Inter"/>
              </a:rPr>
              <a:t> Linear Search</a:t>
            </a:r>
          </a:p>
          <a:p>
            <a:pPr marL="1606550" lvl="2" indent="-350838" eaLnBrk="1" hangingPunct="1"/>
            <a:r>
              <a:rPr lang="en-US" altLang="en-US" sz="3600">
                <a:solidFill>
                  <a:srgbClr val="435765"/>
                </a:solidFill>
                <a:latin typeface="Inter"/>
              </a:rPr>
              <a:t>Sorted </a:t>
            </a:r>
            <a:r>
              <a:rPr lang="en-US" altLang="en-US" sz="3600">
                <a:solidFill>
                  <a:srgbClr val="435765"/>
                </a:solidFill>
                <a:latin typeface="Inter"/>
                <a:sym typeface="Wingdings" pitchFamily="2" charset="2"/>
              </a:rPr>
              <a:t></a:t>
            </a:r>
            <a:r>
              <a:rPr lang="en-US" altLang="en-US" sz="3600">
                <a:solidFill>
                  <a:srgbClr val="435765"/>
                </a:solidFill>
                <a:latin typeface="Inter"/>
              </a:rPr>
              <a:t> Binary Search</a:t>
            </a:r>
          </a:p>
        </p:txBody>
      </p:sp>
      <p:sp>
        <p:nvSpPr>
          <p:cNvPr id="64516" name="TextBox 3">
            <a:extLst>
              <a:ext uri="{FF2B5EF4-FFF2-40B4-BE49-F238E27FC236}">
                <a16:creationId xmlns:a16="http://schemas.microsoft.com/office/drawing/2014/main" id="{6B33374C-491A-3986-DDF1-77748A7AA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2276475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>
              <a:latin typeface="Times" charset="0"/>
              <a:ea typeface="MS PGothic" panose="020B0600070205080204" pitchFamily="34" charset="-128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20263DA8-B7B2-8571-7A7D-C0D6C5B6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Ins="81279"/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altLang="en-US" sz="4000">
                <a:solidFill>
                  <a:srgbClr val="435765"/>
                </a:solidFill>
                <a:latin typeface="Inter"/>
              </a:rPr>
              <a:t>Main concepts to be covered in this section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D06CE774-5C4B-7E27-68C8-3A9410C0D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025" y="1590675"/>
            <a:ext cx="7467600" cy="4600575"/>
          </a:xfrm>
        </p:spPr>
        <p:txBody>
          <a:bodyPr rIns="233680" rtlCol="0">
            <a:normAutofit/>
          </a:bodyPr>
          <a:lstStyle/>
          <a:p>
            <a:pPr marL="382588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</a:rPr>
              <a:t>Searching</a:t>
            </a:r>
          </a:p>
          <a:p>
            <a:pPr marL="657225" lvl="1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</a:rPr>
              <a:t>Linear Search (unsorted list)</a:t>
            </a:r>
          </a:p>
          <a:p>
            <a:pPr marL="657225" lvl="1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</a:rPr>
              <a:t>Binary Search (sorted list)</a:t>
            </a:r>
          </a:p>
          <a:p>
            <a:pPr marL="382588" indent="-1828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atin typeface="Trebuchet MS" charset="0"/>
            </a:endParaRPr>
          </a:p>
          <a:p>
            <a:pPr marL="382588" indent="-1828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atin typeface="Trebuchet MS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F4E738-4E7E-6747-0CAB-50A32F1A9DA3}"/>
              </a:ext>
            </a:extLst>
          </p:cNvPr>
          <p:cNvSpPr/>
          <p:nvPr/>
        </p:nvSpPr>
        <p:spPr>
          <a:xfrm>
            <a:off x="1847528" y="2204864"/>
            <a:ext cx="4392613" cy="431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E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31CF8F6B-264E-60E0-2019-8B6D27EC1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Linear Search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42F56F1-1ADD-06E2-64A8-7B7975CBA403}"/>
              </a:ext>
            </a:extLst>
          </p:cNvPr>
          <p:cNvSpPr txBox="1">
            <a:spLocks/>
          </p:cNvSpPr>
          <p:nvPr/>
        </p:nvSpPr>
        <p:spPr bwMode="auto">
          <a:xfrm>
            <a:off x="407988" y="1465263"/>
            <a:ext cx="11376025" cy="51181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60026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linearsearch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(int[]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int size, int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lookingFor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int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 size)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if 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 ==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lookingFor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return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//this terminates the method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-1;  </a:t>
            </a:r>
            <a:r>
              <a:rPr lang="en-US" altLang="en-U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we only get to here if we have got to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// end </a:t>
            </a:r>
            <a:r>
              <a:rPr lang="en-US" altLang="en-US" sz="2000" dirty="0">
                <a:solidFill>
                  <a:schemeClr val="tx2"/>
                </a:solidFill>
                <a:latin typeface="Consolas" panose="020B0609020204030204" pitchFamily="49" charset="0"/>
              </a:rPr>
              <a:t>of list and never found item</a:t>
            </a:r>
          </a:p>
          <a:p>
            <a:pPr eaLnBrk="1" hangingPunct="1">
              <a:buFont typeface="Times" charset="0"/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725415E9-C2B3-8F82-E859-98ED28C71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Ins="81279"/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altLang="en-US" sz="4000">
                <a:solidFill>
                  <a:srgbClr val="435765"/>
                </a:solidFill>
                <a:latin typeface="Inter"/>
              </a:rPr>
              <a:t>Main concepts to be covered in this section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74E67B82-E3EF-E7AA-DA79-B57062C699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025" y="1590675"/>
            <a:ext cx="7467600" cy="4600575"/>
          </a:xfrm>
        </p:spPr>
        <p:txBody>
          <a:bodyPr rIns="233680" rtlCol="0">
            <a:normAutofit/>
          </a:bodyPr>
          <a:lstStyle/>
          <a:p>
            <a:pPr marL="382588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</a:rPr>
              <a:t>Searching</a:t>
            </a:r>
          </a:p>
          <a:p>
            <a:pPr marL="657225" lvl="1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</a:rPr>
              <a:t>Linear Search (unsorted list)</a:t>
            </a:r>
          </a:p>
          <a:p>
            <a:pPr marL="657225" lvl="1" indent="-18288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</a:rPr>
              <a:t>Binary Search (sorted list)</a:t>
            </a:r>
          </a:p>
          <a:p>
            <a:pPr marL="382588" indent="-1828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atin typeface="Trebuchet MS" charset="0"/>
            </a:endParaRPr>
          </a:p>
          <a:p>
            <a:pPr marL="382588" indent="-1828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atin typeface="Trebuchet MS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423874-50F1-784A-4E0F-446DBD93CD20}"/>
              </a:ext>
            </a:extLst>
          </p:cNvPr>
          <p:cNvSpPr/>
          <p:nvPr/>
        </p:nvSpPr>
        <p:spPr>
          <a:xfrm>
            <a:off x="1847528" y="2708920"/>
            <a:ext cx="4392613" cy="431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E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0E664763-5C5E-AF1B-8F53-1C55704CF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457200"/>
            <a:ext cx="109728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dirty="0">
                <a:solidFill>
                  <a:srgbClr val="435765"/>
                </a:solidFill>
                <a:latin typeface="Inter" panose="02000503000000020004" pitchFamily="2" charset="0"/>
                <a:ea typeface="+mn-ea"/>
                <a:cs typeface="+mn-cs"/>
              </a:rPr>
              <a:t>Binary Search</a:t>
            </a:r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CF07A5F8-B1D8-AD3C-A43E-DCE1A3C28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en-US" sz="2800" dirty="0">
              <a:latin typeface="Trebuchet MS" panose="020B0603020202020204" pitchFamily="34" charset="0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US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If the list is sorted we make use of this (same way we search through telephone book)</a:t>
            </a: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endParaRPr lang="en-US" altLang="en-US" sz="4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US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The binary search is such a search and is a particularly efficient search.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B2D8AFFE-7973-453A-F6AC-50CE184A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260350"/>
            <a:ext cx="109728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solidFill>
                  <a:srgbClr val="435765"/>
                </a:solidFill>
                <a:latin typeface="Inter" panose="02000503000000020004" pitchFamily="2" charset="0"/>
                <a:ea typeface="+mn-ea"/>
                <a:cs typeface="+mn-cs"/>
              </a:rPr>
              <a:t>Binary Search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435765"/>
                </a:solidFill>
                <a:latin typeface="Inter" panose="02000503000000020004" pitchFamily="2" charset="0"/>
                <a:ea typeface="+mn-ea"/>
                <a:cs typeface="+mn-cs"/>
              </a:rPr>
              <a:t>Algorithm</a:t>
            </a:r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729D7A1C-79EE-50E2-BF6F-6FEA18D21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altLang="en-US" sz="2800" dirty="0">
              <a:latin typeface="Trebuchet MS" panose="020B0603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400" dirty="0">
                <a:solidFill>
                  <a:srgbClr val="435765"/>
                </a:solidFill>
                <a:latin typeface="Inter" panose="02000503000000020004" pitchFamily="2" charset="0"/>
              </a:rPr>
              <a:t>The overall algorithm works by always looking at the midpoint of the list.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en-US" sz="4400" dirty="0">
              <a:solidFill>
                <a:srgbClr val="435765"/>
              </a:solidFill>
              <a:latin typeface="Inter" panose="02000503000000020004" pitchFamily="2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400" dirty="0">
                <a:solidFill>
                  <a:srgbClr val="435765"/>
                </a:solidFill>
                <a:latin typeface="Inter" panose="02000503000000020004" pitchFamily="2" charset="0"/>
              </a:rPr>
              <a:t>If we have found what we are looking for, great.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4400" dirty="0">
              <a:solidFill>
                <a:srgbClr val="435765"/>
              </a:solidFill>
              <a:latin typeface="Inter" panose="02000503000000020004" pitchFamily="2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400" dirty="0">
                <a:solidFill>
                  <a:srgbClr val="435765"/>
                </a:solidFill>
                <a:latin typeface="Inter" panose="02000503000000020004" pitchFamily="2" charset="0"/>
              </a:rPr>
              <a:t>If not…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3AEC357-47C1-F35F-2953-C068D2C1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altLang="en-US" sz="4100" dirty="0">
                <a:solidFill>
                  <a:srgbClr val="435765"/>
                </a:solidFill>
                <a:latin typeface="Inter" panose="02000503000000020004" pitchFamily="2" charset="0"/>
                <a:ea typeface="+mn-ea"/>
                <a:cs typeface="+mn-cs"/>
              </a:rPr>
              <a:t>Binary Search Algorithm contd.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CDC7219-4DDC-3D19-4D97-3B7BDD450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4100">
                <a:solidFill>
                  <a:srgbClr val="435765"/>
                </a:solidFill>
                <a:latin typeface="Inter"/>
              </a:rPr>
              <a:t>If not...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4100">
                <a:solidFill>
                  <a:srgbClr val="435765"/>
                </a:solidFill>
                <a:latin typeface="Inter"/>
              </a:rPr>
              <a:t>…and the value we are looking for is less than the midpoint value…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4100">
                <a:solidFill>
                  <a:srgbClr val="435765"/>
                </a:solidFill>
                <a:latin typeface="Inter"/>
              </a:rPr>
              <a:t>…then, because the list is sorted,  we can ‘throwaway’ all the values greater than the midpoint. So we ‘redraw’ our list to be the left-hand part of the list and repeat the procedure.</a:t>
            </a:r>
          </a:p>
          <a:p>
            <a:pPr eaLnBrk="1" hangingPunct="1">
              <a:buFont typeface="Times" charset="0"/>
              <a:buNone/>
            </a:pPr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C7CE8889-8FA4-B204-B729-FCAC9DFC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solidFill>
                  <a:srgbClr val="435765"/>
                </a:solidFill>
                <a:latin typeface="Inter" panose="02000503000000020004" pitchFamily="2" charset="0"/>
                <a:ea typeface="+mn-ea"/>
                <a:cs typeface="+mn-cs"/>
              </a:rPr>
              <a:t>Binary Search Algorithm contd.</a:t>
            </a:r>
            <a:r>
              <a:rPr lang="en-US" altLang="en-US" dirty="0"/>
              <a:t>.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0002F873-050A-D32F-FA6C-5F4ED064E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4400">
                <a:solidFill>
                  <a:srgbClr val="435765"/>
                </a:solidFill>
                <a:latin typeface="Inter"/>
              </a:rPr>
              <a:t>If not…</a:t>
            </a:r>
          </a:p>
          <a:p>
            <a:pPr eaLnBrk="1" hangingPunct="1"/>
            <a:r>
              <a:rPr lang="en-US" altLang="en-US" sz="4400">
                <a:solidFill>
                  <a:srgbClr val="435765"/>
                </a:solidFill>
                <a:latin typeface="Inter"/>
              </a:rPr>
              <a:t>…and the value we are looking for is greater than the midpoint value…</a:t>
            </a:r>
          </a:p>
          <a:p>
            <a:pPr eaLnBrk="1" hangingPunct="1"/>
            <a:r>
              <a:rPr lang="en-US" altLang="en-US" sz="4400">
                <a:solidFill>
                  <a:srgbClr val="435765"/>
                </a:solidFill>
                <a:latin typeface="Inter"/>
              </a:rPr>
              <a:t>…then (using the same logic) we ‘redraw’ the list to just include the right-hand part of the list and repeat the procedure.</a:t>
            </a:r>
          </a:p>
          <a:p>
            <a:pPr eaLnBrk="1" hangingPunct="1">
              <a:buFont typeface="Times" charset="0"/>
              <a:buNone/>
            </a:pPr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4DC92346-4A0C-1E3F-8B22-730497534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Binary Search Code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0F92D74-D8C4-66A5-0AEC-879975D93F1F}"/>
              </a:ext>
            </a:extLst>
          </p:cNvPr>
          <p:cNvSpPr txBox="1">
            <a:spLocks/>
          </p:cNvSpPr>
          <p:nvPr/>
        </p:nvSpPr>
        <p:spPr bwMode="auto">
          <a:xfrm>
            <a:off x="609600" y="1196975"/>
            <a:ext cx="11377613" cy="55086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60026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public int </a:t>
            </a:r>
            <a:r>
              <a:rPr lang="en-US" altLang="en-US" sz="1800" dirty="0" err="1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binarysearch</a:t>
            </a: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(int[] </a:t>
            </a:r>
            <a:r>
              <a:rPr lang="en-US" altLang="en-US" sz="1800" dirty="0" err="1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intArray</a:t>
            </a: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, int size, int </a:t>
            </a:r>
            <a:r>
              <a:rPr lang="en-US" altLang="en-US" sz="1800" dirty="0" err="1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lookingFor</a:t>
            </a: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Courier New" panose="02070309020205020404" pitchFamily="49" charset="0"/>
              <a:ea typeface="ÇlÇr ñæí©" charset="-128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int mid;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int left =  0;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int right = size-1;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Courier New" panose="02070309020205020404" pitchFamily="49" charset="0"/>
              <a:ea typeface="ÇlÇr ñæí©" charset="-128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while (left &lt;= right) 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{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  mid = (left + right) / 2;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  if (</a:t>
            </a:r>
            <a:r>
              <a:rPr lang="en-US" altLang="en-US" sz="1800" dirty="0" err="1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intArray</a:t>
            </a: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[mid] == </a:t>
            </a:r>
            <a:r>
              <a:rPr lang="en-US" altLang="en-US" sz="1800" dirty="0" err="1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lookingFor</a:t>
            </a: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     return mid; 			 </a:t>
            </a:r>
            <a:r>
              <a:rPr lang="en-US" altLang="en-US" sz="1800" dirty="0">
                <a:solidFill>
                  <a:schemeClr val="tx2"/>
                </a:solidFill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//this terminates the method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  else if (</a:t>
            </a:r>
            <a:r>
              <a:rPr lang="en-US" altLang="en-US" sz="1800" dirty="0" err="1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intArray</a:t>
            </a: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[mid] &gt; </a:t>
            </a:r>
            <a:r>
              <a:rPr lang="en-US" altLang="en-US" sz="1800" dirty="0" err="1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lookingFor</a:t>
            </a: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) </a:t>
            </a:r>
            <a:r>
              <a:rPr lang="en-US" altLang="en-US" sz="1400" dirty="0">
                <a:solidFill>
                  <a:schemeClr val="tx2"/>
                </a:solidFill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// element in left hand of list, if it exists.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     right = mid - 1;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  else if (</a:t>
            </a:r>
            <a:r>
              <a:rPr lang="en-US" altLang="en-US" sz="1800" dirty="0" err="1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intArray</a:t>
            </a: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[mid] &lt; </a:t>
            </a:r>
            <a:r>
              <a:rPr lang="en-US" altLang="en-US" sz="1800" dirty="0" err="1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lookingFor</a:t>
            </a: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) </a:t>
            </a:r>
            <a:r>
              <a:rPr lang="en-US" altLang="en-US" sz="1800" dirty="0">
                <a:solidFill>
                  <a:schemeClr val="tx2"/>
                </a:solidFill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// </a:t>
            </a:r>
            <a:r>
              <a:rPr lang="en-US" altLang="en-US" sz="1400" dirty="0">
                <a:solidFill>
                  <a:schemeClr val="tx2"/>
                </a:solidFill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element in right hand of list, if it exists.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     left = mid + 1;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  }</a:t>
            </a: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    return -1; </a:t>
            </a:r>
            <a:r>
              <a:rPr lang="en-US" altLang="en-US" sz="1400" dirty="0">
                <a:solidFill>
                  <a:schemeClr val="tx2"/>
                </a:solidFill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//this terminates the method because we have gone through all list and it’s not there</a:t>
            </a:r>
            <a:endParaRPr lang="en-US" altLang="en-US" sz="1400" dirty="0">
              <a:latin typeface="Courier New" panose="02070309020205020404" pitchFamily="49" charset="0"/>
              <a:ea typeface="ÇlÇr ñæí©" charset="-128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ea typeface="ÇlÇr ñæí©" charset="-128"/>
                <a:cs typeface="Courier New" panose="02070309020205020404" pitchFamily="49" charset="0"/>
              </a:rPr>
              <a:t>}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ABE3-C134-615E-69EE-176BCBC1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Animation of both searches</a:t>
            </a:r>
          </a:p>
        </p:txBody>
      </p:sp>
      <p:pic>
        <p:nvPicPr>
          <p:cNvPr id="7" name="VL03KD-RxZc?feature=oembed" descr="Linear Search and Binary Search Animated">
            <a:hlinkClick r:id="" action="ppaction://media"/>
            <a:extLst>
              <a:ext uri="{FF2B5EF4-FFF2-40B4-BE49-F238E27FC236}">
                <a16:creationId xmlns:a16="http://schemas.microsoft.com/office/drawing/2014/main" id="{FC6DF955-3808-60D7-902D-4B236BE449CF}"/>
              </a:ext>
            </a:extLst>
          </p:cNvPr>
          <p:cNvPicPr>
            <a:picLocks noGrp="1" noRot="1" noChangeAspect="1" noChangeArrowheads="1"/>
          </p:cNvPicPr>
          <p:nvPr>
            <p:ph idx="1"/>
            <a:videoFile r:link="rId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8213" y="1700213"/>
            <a:ext cx="6929437" cy="391636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978F4-426C-3A5D-150F-E467D9A9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5050" y="6021388"/>
            <a:ext cx="5562600" cy="647700"/>
          </a:xfrm>
        </p:spPr>
        <p:txBody>
          <a:bodyPr/>
          <a:lstStyle/>
          <a:p>
            <a:pPr>
              <a:defRPr/>
            </a:pPr>
            <a:r>
              <a:rPr lang="en-US" dirty="0"/>
              <a:t>Ref : </a:t>
            </a:r>
            <a:r>
              <a:rPr lang="en-IE" b="1" dirty="0">
                <a:solidFill>
                  <a:srgbClr val="0F0F0F"/>
                </a:solidFill>
                <a:latin typeface="Roboto" panose="02000000000000000000" pitchFamily="2" charset="0"/>
              </a:rPr>
              <a:t>05st - </a:t>
            </a:r>
            <a:r>
              <a:rPr lang="en-US" dirty="0">
                <a:hlinkClick r:id="rId4"/>
              </a:rPr>
              <a:t>https://www.youtube.com/@05st43</a:t>
            </a:r>
            <a:endParaRPr lang="en-US" dirty="0"/>
          </a:p>
          <a:p>
            <a:pPr>
              <a:defRPr/>
            </a:pPr>
            <a:r>
              <a:rPr lang="en-US" dirty="0"/>
              <a:t>Link to animation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https://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www.youtube.com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/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watch?v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=VL03KD-RxZc</a:t>
            </a:r>
          </a:p>
        </p:txBody>
      </p:sp>
      <p:sp>
        <p:nvSpPr>
          <p:cNvPr id="9" name="Sequential Access Storage 8">
            <a:extLst>
              <a:ext uri="{FF2B5EF4-FFF2-40B4-BE49-F238E27FC236}">
                <a16:creationId xmlns:a16="http://schemas.microsoft.com/office/drawing/2014/main" id="{25D2AAE6-69FE-2BC3-0301-823BE262495B}"/>
              </a:ext>
            </a:extLst>
          </p:cNvPr>
          <p:cNvSpPr/>
          <p:nvPr/>
        </p:nvSpPr>
        <p:spPr>
          <a:xfrm flipH="1">
            <a:off x="9137650" y="1435100"/>
            <a:ext cx="2087563" cy="1714500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Problems with this link – use </a:t>
            </a:r>
            <a:r>
              <a:rPr lang="en-US" dirty="0" err="1"/>
              <a:t>youtube</a:t>
            </a:r>
            <a:r>
              <a:rPr lang="en-US" dirty="0"/>
              <a:t> link in footer.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9C5131-4BDE-4752-9B5B-E76856AE926D}"/>
              </a:ext>
            </a:extLst>
          </p:cNvPr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3600" b="1" kern="120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79C305FF-927E-18A0-9ABB-F25472C2E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Picture 2" descr="Thank you” as part of your Dreamforce Preparations - Salesforce Blog">
            <a:extLst>
              <a:ext uri="{FF2B5EF4-FFF2-40B4-BE49-F238E27FC236}">
                <a16:creationId xmlns:a16="http://schemas.microsoft.com/office/drawing/2014/main" id="{82877F43-0D41-224E-7674-C76EC35D2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341438"/>
            <a:ext cx="6981825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671</Words>
  <Application>Microsoft Office PowerPoint</Application>
  <PresentationFormat>Widescreen</PresentationFormat>
  <Paragraphs>98</Paragraphs>
  <Slides>16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Consolas</vt:lpstr>
      <vt:lpstr>Courier New</vt:lpstr>
      <vt:lpstr>Inter</vt:lpstr>
      <vt:lpstr>Roboto</vt:lpstr>
      <vt:lpstr>Times</vt:lpstr>
      <vt:lpstr>Times New Roman</vt:lpstr>
      <vt:lpstr>Trebuchet MS</vt:lpstr>
      <vt:lpstr>Office Theme</vt:lpstr>
      <vt:lpstr>Searching</vt:lpstr>
      <vt:lpstr>Main concepts to be covered in this section</vt:lpstr>
      <vt:lpstr> Linear and binary searching </vt:lpstr>
      <vt:lpstr>Searching</vt:lpstr>
      <vt:lpstr>Searching</vt:lpstr>
      <vt:lpstr>Main concepts to be covered in this section</vt:lpstr>
      <vt:lpstr>Linear Search</vt:lpstr>
      <vt:lpstr>Main concepts to be covered in this section</vt:lpstr>
      <vt:lpstr>Binary Search</vt:lpstr>
      <vt:lpstr>Binary Search Algorithm</vt:lpstr>
      <vt:lpstr>Binary Search Algorithm contd.</vt:lpstr>
      <vt:lpstr>Binary Search Algorithm contd..</vt:lpstr>
      <vt:lpstr>Binary Search Code</vt:lpstr>
      <vt:lpstr>Animation of both searches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 and Searching</dc:title>
  <dc:subject/>
  <dc:creator>David J. Barnes, Michael Kölling</dc:creator>
  <cp:keywords/>
  <dc:description>Copyright © David J. Barnes, Michael Kölling</dc:description>
  <cp:lastModifiedBy>Siobhan Roche</cp:lastModifiedBy>
  <cp:revision>156</cp:revision>
  <cp:lastPrinted>2003-09-01T06:58:01Z</cp:lastPrinted>
  <dcterms:created xsi:type="dcterms:W3CDTF">2002-09-11T08:48:08Z</dcterms:created>
  <dcterms:modified xsi:type="dcterms:W3CDTF">2026-04-17T14:24:38Z</dcterms:modified>
  <cp:category/>
</cp:coreProperties>
</file>