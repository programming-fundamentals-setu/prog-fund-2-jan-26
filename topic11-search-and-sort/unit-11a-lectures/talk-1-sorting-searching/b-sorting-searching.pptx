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5.xml" ContentType="application/vnd.openxmlformats-officedocument.themeOverride+xml"/>
  <Override PartName="/ppt/theme/themeOverride6.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4021" r:id="rId1"/>
  </p:sldMasterIdLst>
  <p:notesMasterIdLst>
    <p:notesMasterId r:id="rId42"/>
  </p:notesMasterIdLst>
  <p:handoutMasterIdLst>
    <p:handoutMasterId r:id="rId43"/>
  </p:handoutMasterIdLst>
  <p:sldIdLst>
    <p:sldId id="322" r:id="rId2"/>
    <p:sldId id="284" r:id="rId3"/>
    <p:sldId id="321" r:id="rId4"/>
    <p:sldId id="314" r:id="rId5"/>
    <p:sldId id="337" r:id="rId6"/>
    <p:sldId id="326" r:id="rId7"/>
    <p:sldId id="327" r:id="rId8"/>
    <p:sldId id="328" r:id="rId9"/>
    <p:sldId id="329" r:id="rId10"/>
    <p:sldId id="330" r:id="rId11"/>
    <p:sldId id="364" r:id="rId12"/>
    <p:sldId id="332" r:id="rId13"/>
    <p:sldId id="333" r:id="rId14"/>
    <p:sldId id="331" r:id="rId15"/>
    <p:sldId id="338" r:id="rId16"/>
    <p:sldId id="289" r:id="rId17"/>
    <p:sldId id="290" r:id="rId18"/>
    <p:sldId id="262" r:id="rId19"/>
    <p:sldId id="342" r:id="rId20"/>
    <p:sldId id="346" r:id="rId21"/>
    <p:sldId id="348" r:id="rId22"/>
    <p:sldId id="347" r:id="rId23"/>
    <p:sldId id="339" r:id="rId24"/>
    <p:sldId id="350" r:id="rId25"/>
    <p:sldId id="351" r:id="rId26"/>
    <p:sldId id="291" r:id="rId27"/>
    <p:sldId id="292" r:id="rId28"/>
    <p:sldId id="344" r:id="rId29"/>
    <p:sldId id="354" r:id="rId30"/>
    <p:sldId id="360" r:id="rId31"/>
    <p:sldId id="361" r:id="rId32"/>
    <p:sldId id="359" r:id="rId33"/>
    <p:sldId id="340" r:id="rId34"/>
    <p:sldId id="362" r:id="rId35"/>
    <p:sldId id="341" r:id="rId36"/>
    <p:sldId id="365" r:id="rId37"/>
    <p:sldId id="366" r:id="rId38"/>
    <p:sldId id="334" r:id="rId39"/>
    <p:sldId id="367" r:id="rId40"/>
    <p:sldId id="392" r:id="rId4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658"/>
  </p:normalViewPr>
  <p:slideViewPr>
    <p:cSldViewPr>
      <p:cViewPr varScale="1">
        <p:scale>
          <a:sx n="116" d="100"/>
          <a:sy n="116" d="100"/>
        </p:scale>
        <p:origin x="504" y="17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3272A6B-11E4-64D3-0CBB-E772D280BB87}"/>
              </a:ext>
            </a:extLst>
          </p:cNvPr>
          <p:cNvSpPr>
            <a:spLocks noGrp="1" noChangeArrowheads="1"/>
          </p:cNvSpPr>
          <p:nvPr>
            <p:ph type="hdr" sz="quarter"/>
          </p:nvPr>
        </p:nvSpPr>
        <p:spPr bwMode="auto">
          <a:xfrm>
            <a:off x="0" y="0"/>
            <a:ext cx="685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b="0">
                <a:latin typeface="Times New Roman" pitchFamily="-32" charset="0"/>
                <a:ea typeface="+mn-ea"/>
                <a:cs typeface="+mn-cs"/>
              </a:defRPr>
            </a:lvl1pPr>
          </a:lstStyle>
          <a:p>
            <a:pPr>
              <a:defRPr/>
            </a:pPr>
            <a:r>
              <a:rPr lang="en-US"/>
              <a:t>Objects First with Java</a:t>
            </a:r>
          </a:p>
        </p:txBody>
      </p:sp>
      <p:sp>
        <p:nvSpPr>
          <p:cNvPr id="12292" name="Rectangle 4">
            <a:extLst>
              <a:ext uri="{FF2B5EF4-FFF2-40B4-BE49-F238E27FC236}">
                <a16:creationId xmlns:a16="http://schemas.microsoft.com/office/drawing/2014/main" id="{392A96F9-95B9-9BA1-EC2E-29597BAD5157}"/>
              </a:ext>
            </a:extLst>
          </p:cNvPr>
          <p:cNvSpPr>
            <a:spLocks noGrp="1" noChangeArrowheads="1"/>
          </p:cNvSpPr>
          <p:nvPr>
            <p:ph type="ftr" sz="quarter" idx="2"/>
          </p:nvPr>
        </p:nvSpPr>
        <p:spPr bwMode="auto">
          <a:xfrm>
            <a:off x="0" y="8686800"/>
            <a:ext cx="5334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b="0">
                <a:latin typeface="Times New Roman" pitchFamily="18" charset="0"/>
              </a:defRPr>
            </a:lvl1pPr>
          </a:lstStyle>
          <a:p>
            <a:pPr>
              <a:defRPr/>
            </a:pPr>
            <a:r>
              <a:rPr lang="en-US" altLang="en-US"/>
              <a:t>© David J. Barnes and Michael Kölling</a:t>
            </a:r>
          </a:p>
        </p:txBody>
      </p:sp>
      <p:sp>
        <p:nvSpPr>
          <p:cNvPr id="12293" name="Rectangle 5">
            <a:extLst>
              <a:ext uri="{FF2B5EF4-FFF2-40B4-BE49-F238E27FC236}">
                <a16:creationId xmlns:a16="http://schemas.microsoft.com/office/drawing/2014/main" id="{5B1F14F1-20C5-DEE9-AAA6-FADBE1B0B435}"/>
              </a:ext>
            </a:extLst>
          </p:cNvPr>
          <p:cNvSpPr>
            <a:spLocks noGrp="1" noChangeArrowheads="1"/>
          </p:cNvSpPr>
          <p:nvPr>
            <p:ph type="sldNum" sz="quarter" idx="3"/>
          </p:nvPr>
        </p:nvSpPr>
        <p:spPr bwMode="auto">
          <a:xfrm>
            <a:off x="5562600" y="8686800"/>
            <a:ext cx="1295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F70701BE-701C-BC4F-A30C-38D5C19B074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6C43708-9F60-F479-FE98-4DAB7A286FD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Times New Roman" pitchFamily="-32" charset="0"/>
                <a:ea typeface="+mn-ea"/>
                <a:cs typeface="+mn-cs"/>
              </a:defRPr>
            </a:lvl1pPr>
          </a:lstStyle>
          <a:p>
            <a:pPr>
              <a:defRPr/>
            </a:pPr>
            <a:r>
              <a:rPr lang="en-GB"/>
              <a:t>Objects First with Java</a:t>
            </a:r>
          </a:p>
        </p:txBody>
      </p:sp>
      <p:sp>
        <p:nvSpPr>
          <p:cNvPr id="45059" name="Rectangle 3">
            <a:extLst>
              <a:ext uri="{FF2B5EF4-FFF2-40B4-BE49-F238E27FC236}">
                <a16:creationId xmlns:a16="http://schemas.microsoft.com/office/drawing/2014/main" id="{AD9259C1-9B36-952F-F734-F6350E07CA68}"/>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Times New Roman" pitchFamily="-32" charset="0"/>
                <a:ea typeface="+mn-ea"/>
                <a:cs typeface="+mn-cs"/>
              </a:defRPr>
            </a:lvl1pPr>
          </a:lstStyle>
          <a:p>
            <a:pPr>
              <a:defRPr/>
            </a:pPr>
            <a:endParaRPr lang="en-GB"/>
          </a:p>
        </p:txBody>
      </p:sp>
      <p:sp>
        <p:nvSpPr>
          <p:cNvPr id="10244" name="Rectangle 4">
            <a:extLst>
              <a:ext uri="{FF2B5EF4-FFF2-40B4-BE49-F238E27FC236}">
                <a16:creationId xmlns:a16="http://schemas.microsoft.com/office/drawing/2014/main" id="{BBAB3A7D-1AE5-5E7C-2863-0B74C33D139E}"/>
              </a:ext>
            </a:extLst>
          </p:cNvPr>
          <p:cNvSpPr>
            <a:spLocks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1" name="Rectangle 5">
            <a:extLst>
              <a:ext uri="{FF2B5EF4-FFF2-40B4-BE49-F238E27FC236}">
                <a16:creationId xmlns:a16="http://schemas.microsoft.com/office/drawing/2014/main" id="{2F73779A-14A6-4D0C-17AB-4B5ECD09E7B2}"/>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5062" name="Rectangle 6">
            <a:extLst>
              <a:ext uri="{FF2B5EF4-FFF2-40B4-BE49-F238E27FC236}">
                <a16:creationId xmlns:a16="http://schemas.microsoft.com/office/drawing/2014/main" id="{F4E5EE1C-6F61-1277-B7D4-D650B14DAB2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Times New Roman" pitchFamily="18" charset="0"/>
              </a:defRPr>
            </a:lvl1pPr>
          </a:lstStyle>
          <a:p>
            <a:pPr>
              <a:defRPr/>
            </a:pPr>
            <a:r>
              <a:rPr lang="en-GB" altLang="en-US"/>
              <a:t>© David J. Barnes and Michael Kölling</a:t>
            </a:r>
          </a:p>
        </p:txBody>
      </p:sp>
      <p:sp>
        <p:nvSpPr>
          <p:cNvPr id="45063" name="Rectangle 7">
            <a:extLst>
              <a:ext uri="{FF2B5EF4-FFF2-40B4-BE49-F238E27FC236}">
                <a16:creationId xmlns:a16="http://schemas.microsoft.com/office/drawing/2014/main" id="{AB8E7664-BFBF-947E-8315-69CDC92C8B29}"/>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7F029124-B50B-B14A-8BB0-506D61001358}"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32"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32"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32"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32"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32"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A91DF7E-DB80-6C51-3A33-BB90FF4B8BA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b="1">
                <a:latin typeface="Times New Roman" panose="02020603050405020304" pitchFamily="18" charset="0"/>
                <a:ea typeface="MS PGothic" panose="020B0600070205080204" pitchFamily="34" charset="-128"/>
              </a:rPr>
              <a:t>Objects First with Java</a:t>
            </a:r>
          </a:p>
        </p:txBody>
      </p:sp>
      <p:sp>
        <p:nvSpPr>
          <p:cNvPr id="15363" name="Rectangle 6">
            <a:extLst>
              <a:ext uri="{FF2B5EF4-FFF2-40B4-BE49-F238E27FC236}">
                <a16:creationId xmlns:a16="http://schemas.microsoft.com/office/drawing/2014/main" id="{9168BAE7-D8F1-F657-EBAF-29079BFD9A6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b="1">
                <a:latin typeface="Times New Roman" panose="02020603050405020304" pitchFamily="18" charset="0"/>
                <a:ea typeface="MS PGothic" panose="020B0600070205080204" pitchFamily="34" charset="-128"/>
              </a:rPr>
              <a:t>© David J. Barnes and Michael Kölling</a:t>
            </a:r>
          </a:p>
        </p:txBody>
      </p:sp>
      <p:sp>
        <p:nvSpPr>
          <p:cNvPr id="15364" name="Rectangle 7">
            <a:extLst>
              <a:ext uri="{FF2B5EF4-FFF2-40B4-BE49-F238E27FC236}">
                <a16:creationId xmlns:a16="http://schemas.microsoft.com/office/drawing/2014/main" id="{00805C9F-F814-5713-122B-270CDC1576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A078D45-593B-D246-B328-ED333D1414F9}" type="slidenum">
              <a:rPr lang="en-GB" altLang="en-US" b="1" smtClean="0">
                <a:latin typeface="Times New Roman" panose="02020603050405020304" pitchFamily="18" charset="0"/>
                <a:ea typeface="MS PGothic" panose="020B0600070205080204" pitchFamily="34" charset="-128"/>
              </a:rPr>
              <a:pPr/>
              <a:t>3</a:t>
            </a:fld>
            <a:endParaRPr lang="en-GB" altLang="en-US" b="1">
              <a:latin typeface="Times New Roman" panose="02020603050405020304" pitchFamily="18" charset="0"/>
              <a:ea typeface="MS PGothic" panose="020B0600070205080204" pitchFamily="34" charset="-128"/>
            </a:endParaRPr>
          </a:p>
        </p:txBody>
      </p:sp>
      <p:sp>
        <p:nvSpPr>
          <p:cNvPr id="15365" name="Rectangle 2">
            <a:extLst>
              <a:ext uri="{FF2B5EF4-FFF2-40B4-BE49-F238E27FC236}">
                <a16:creationId xmlns:a16="http://schemas.microsoft.com/office/drawing/2014/main" id="{23C3FF2F-2C7D-191F-4595-6356323938C9}"/>
              </a:ext>
            </a:extLst>
          </p:cNvPr>
          <p:cNvSpPr>
            <a:spLocks noChangeArrowheads="1" noTextEdit="1"/>
          </p:cNvSpPr>
          <p:nvPr>
            <p:ph type="sldImg"/>
          </p:nvPr>
        </p:nvSpPr>
        <p:spPr>
          <a:ln/>
        </p:spPr>
      </p:sp>
      <p:sp>
        <p:nvSpPr>
          <p:cNvPr id="15366" name="Rectangle 3">
            <a:extLst>
              <a:ext uri="{FF2B5EF4-FFF2-40B4-BE49-F238E27FC236}">
                <a16:creationId xmlns:a16="http://schemas.microsoft.com/office/drawing/2014/main" id="{F81C1A9E-E865-3ADD-800F-FD07827EA3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B25945D-112E-A69F-7199-47E37A9A5FC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b="1">
                <a:latin typeface="Times New Roman" panose="02020603050405020304" pitchFamily="18" charset="0"/>
                <a:ea typeface="MS PGothic" panose="020B0600070205080204" pitchFamily="34" charset="-128"/>
              </a:rPr>
              <a:t>Objects First with Java</a:t>
            </a:r>
          </a:p>
        </p:txBody>
      </p:sp>
      <p:sp>
        <p:nvSpPr>
          <p:cNvPr id="28675" name="Rectangle 6">
            <a:extLst>
              <a:ext uri="{FF2B5EF4-FFF2-40B4-BE49-F238E27FC236}">
                <a16:creationId xmlns:a16="http://schemas.microsoft.com/office/drawing/2014/main" id="{0BADC9FF-0EF1-520A-C581-3C115E6CA89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b="1">
                <a:latin typeface="Times New Roman" panose="02020603050405020304" pitchFamily="18" charset="0"/>
                <a:ea typeface="MS PGothic" panose="020B0600070205080204" pitchFamily="34" charset="-128"/>
              </a:rPr>
              <a:t>© David J. Barnes and Michael Kölling</a:t>
            </a:r>
          </a:p>
        </p:txBody>
      </p:sp>
      <p:sp>
        <p:nvSpPr>
          <p:cNvPr id="28676" name="Rectangle 7">
            <a:extLst>
              <a:ext uri="{FF2B5EF4-FFF2-40B4-BE49-F238E27FC236}">
                <a16:creationId xmlns:a16="http://schemas.microsoft.com/office/drawing/2014/main" id="{E8A4CF3A-680B-9B09-1792-3F56791F9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A77B05E-9096-A149-A66C-59469F4FC4A3}" type="slidenum">
              <a:rPr lang="en-GB" altLang="en-US" b="1" smtClean="0">
                <a:latin typeface="Times New Roman" panose="02020603050405020304" pitchFamily="18" charset="0"/>
                <a:ea typeface="MS PGothic" panose="020B0600070205080204" pitchFamily="34" charset="-128"/>
              </a:rPr>
              <a:pPr/>
              <a:t>15</a:t>
            </a:fld>
            <a:endParaRPr lang="en-GB" altLang="en-US" b="1">
              <a:latin typeface="Times New Roman" panose="02020603050405020304" pitchFamily="18" charset="0"/>
              <a:ea typeface="MS PGothic" panose="020B0600070205080204" pitchFamily="34" charset="-128"/>
            </a:endParaRPr>
          </a:p>
        </p:txBody>
      </p:sp>
      <p:sp>
        <p:nvSpPr>
          <p:cNvPr id="28677" name="Rectangle 2">
            <a:extLst>
              <a:ext uri="{FF2B5EF4-FFF2-40B4-BE49-F238E27FC236}">
                <a16:creationId xmlns:a16="http://schemas.microsoft.com/office/drawing/2014/main" id="{E85F8067-2459-43BF-D15F-6FB967F98932}"/>
              </a:ext>
            </a:extLst>
          </p:cNvPr>
          <p:cNvSpPr>
            <a:spLocks noChangeArrowheads="1" noTextEdit="1"/>
          </p:cNvSpPr>
          <p:nvPr>
            <p:ph type="sldImg"/>
          </p:nvPr>
        </p:nvSpPr>
        <p:spPr>
          <a:ln/>
        </p:spPr>
      </p:sp>
      <p:sp>
        <p:nvSpPr>
          <p:cNvPr id="28678" name="Rectangle 3">
            <a:extLst>
              <a:ext uri="{FF2B5EF4-FFF2-40B4-BE49-F238E27FC236}">
                <a16:creationId xmlns:a16="http://schemas.microsoft.com/office/drawing/2014/main" id="{7B1C6181-7044-2881-C985-FD9BCDA1CB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3078F7E-B6A5-D606-7D1C-F75D31B3130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b="1">
                <a:latin typeface="Times New Roman" panose="02020603050405020304" pitchFamily="18" charset="0"/>
                <a:ea typeface="MS PGothic" panose="020B0600070205080204" pitchFamily="34" charset="-128"/>
              </a:rPr>
              <a:t>Objects First with Java</a:t>
            </a:r>
          </a:p>
        </p:txBody>
      </p:sp>
      <p:sp>
        <p:nvSpPr>
          <p:cNvPr id="32771" name="Rectangle 6">
            <a:extLst>
              <a:ext uri="{FF2B5EF4-FFF2-40B4-BE49-F238E27FC236}">
                <a16:creationId xmlns:a16="http://schemas.microsoft.com/office/drawing/2014/main" id="{975A4322-60B7-DF3A-273B-9D735572790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b="1">
                <a:latin typeface="Times New Roman" panose="02020603050405020304" pitchFamily="18" charset="0"/>
                <a:ea typeface="MS PGothic" panose="020B0600070205080204" pitchFamily="34" charset="-128"/>
              </a:rPr>
              <a:t>© David J. Barnes and Michael Kölling</a:t>
            </a:r>
          </a:p>
        </p:txBody>
      </p:sp>
      <p:sp>
        <p:nvSpPr>
          <p:cNvPr id="32772" name="Rectangle 7">
            <a:extLst>
              <a:ext uri="{FF2B5EF4-FFF2-40B4-BE49-F238E27FC236}">
                <a16:creationId xmlns:a16="http://schemas.microsoft.com/office/drawing/2014/main" id="{B7C61F46-A1FE-0A15-3014-0ABE8C6FF0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5F84E3C-E122-F54F-BC13-68E70D1ECF48}" type="slidenum">
              <a:rPr lang="en-GB" altLang="en-US" b="1" smtClean="0">
                <a:latin typeface="Times New Roman" panose="02020603050405020304" pitchFamily="18" charset="0"/>
                <a:ea typeface="MS PGothic" panose="020B0600070205080204" pitchFamily="34" charset="-128"/>
              </a:rPr>
              <a:pPr/>
              <a:t>18</a:t>
            </a:fld>
            <a:endParaRPr lang="en-GB" altLang="en-US" b="1">
              <a:latin typeface="Times New Roman" panose="02020603050405020304" pitchFamily="18" charset="0"/>
              <a:ea typeface="MS PGothic" panose="020B0600070205080204" pitchFamily="34" charset="-128"/>
            </a:endParaRPr>
          </a:p>
        </p:txBody>
      </p:sp>
      <p:sp>
        <p:nvSpPr>
          <p:cNvPr id="32773" name="Rectangle 2">
            <a:extLst>
              <a:ext uri="{FF2B5EF4-FFF2-40B4-BE49-F238E27FC236}">
                <a16:creationId xmlns:a16="http://schemas.microsoft.com/office/drawing/2014/main" id="{40C2C7E0-8FAF-EBA8-A5E4-0E801ACA5F4E}"/>
              </a:ext>
            </a:extLst>
          </p:cNvPr>
          <p:cNvSpPr>
            <a:spLocks noChangeArrowheads="1" noTextEdit="1"/>
          </p:cNvSpPr>
          <p:nvPr>
            <p:ph type="sldImg"/>
          </p:nvPr>
        </p:nvSpPr>
        <p:spPr>
          <a:ln/>
        </p:spPr>
      </p:sp>
      <p:sp>
        <p:nvSpPr>
          <p:cNvPr id="32774" name="Rectangle 3">
            <a:extLst>
              <a:ext uri="{FF2B5EF4-FFF2-40B4-BE49-F238E27FC236}">
                <a16:creationId xmlns:a16="http://schemas.microsoft.com/office/drawing/2014/main" id="{DAB96E6B-5576-D409-CB47-0D1EDE1344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IE"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63B43BE7-BD1A-C502-3A71-4B63D69E60E9}"/>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8C7BF587-E9A2-A37D-E267-3AF97C7950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E" altLang="en-US">
              <a:latin typeface="Times New Roman" panose="02020603050405020304" pitchFamily="18" charset="0"/>
            </a:endParaRPr>
          </a:p>
        </p:txBody>
      </p:sp>
      <p:sp>
        <p:nvSpPr>
          <p:cNvPr id="38916" name="Header Placeholder 3">
            <a:extLst>
              <a:ext uri="{FF2B5EF4-FFF2-40B4-BE49-F238E27FC236}">
                <a16:creationId xmlns:a16="http://schemas.microsoft.com/office/drawing/2014/main" id="{9EFF1856-0531-3653-E5C5-0D97751D42E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Objects First with Java</a:t>
            </a:r>
          </a:p>
        </p:txBody>
      </p:sp>
      <p:sp>
        <p:nvSpPr>
          <p:cNvPr id="38917" name="Footer Placeholder 4">
            <a:extLst>
              <a:ext uri="{FF2B5EF4-FFF2-40B4-BE49-F238E27FC236}">
                <a16:creationId xmlns:a16="http://schemas.microsoft.com/office/drawing/2014/main" id="{F85C4CA1-5194-0273-1F95-AD461AC4DC2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 David J. Barnes and Michael Kölling</a:t>
            </a:r>
          </a:p>
        </p:txBody>
      </p:sp>
      <p:sp>
        <p:nvSpPr>
          <p:cNvPr id="38918" name="Slide Number Placeholder 5">
            <a:extLst>
              <a:ext uri="{FF2B5EF4-FFF2-40B4-BE49-F238E27FC236}">
                <a16:creationId xmlns:a16="http://schemas.microsoft.com/office/drawing/2014/main" id="{F54D4388-D640-24C4-DDF3-59006B9A59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66A843C-CBED-4F43-B39F-421844D2291D}" type="slidenum">
              <a:rPr lang="en-GB" altLang="en-US" smtClean="0">
                <a:latin typeface="Times New Roman" panose="02020603050405020304" pitchFamily="18" charset="0"/>
              </a:rPr>
              <a:pPr/>
              <a:t>23</a:t>
            </a:fld>
            <a:endParaRPr lang="en-GB"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AAE757C2-DF7B-E03D-4C64-840824DD0C84}"/>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3B48654B-01DC-8F5E-D801-6BFFC2D766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E" altLang="en-US">
              <a:latin typeface="Times New Roman" panose="02020603050405020304" pitchFamily="18" charset="0"/>
            </a:endParaRPr>
          </a:p>
        </p:txBody>
      </p:sp>
      <p:sp>
        <p:nvSpPr>
          <p:cNvPr id="40964" name="Header Placeholder 3">
            <a:extLst>
              <a:ext uri="{FF2B5EF4-FFF2-40B4-BE49-F238E27FC236}">
                <a16:creationId xmlns:a16="http://schemas.microsoft.com/office/drawing/2014/main" id="{7E08BA8B-8218-037B-07A0-3D7A92A7AA7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Objects First with Java</a:t>
            </a:r>
          </a:p>
        </p:txBody>
      </p:sp>
      <p:sp>
        <p:nvSpPr>
          <p:cNvPr id="40965" name="Footer Placeholder 4">
            <a:extLst>
              <a:ext uri="{FF2B5EF4-FFF2-40B4-BE49-F238E27FC236}">
                <a16:creationId xmlns:a16="http://schemas.microsoft.com/office/drawing/2014/main" id="{4CB0CE92-3035-4D24-F03C-30B52EC15EF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 David J. Barnes and Michael Kölling</a:t>
            </a:r>
          </a:p>
        </p:txBody>
      </p:sp>
      <p:sp>
        <p:nvSpPr>
          <p:cNvPr id="40966" name="Slide Number Placeholder 5">
            <a:extLst>
              <a:ext uri="{FF2B5EF4-FFF2-40B4-BE49-F238E27FC236}">
                <a16:creationId xmlns:a16="http://schemas.microsoft.com/office/drawing/2014/main" id="{6B868AF2-5F85-2E0B-0662-6B5ED82EDB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1C236A3-783B-DA4E-9001-15AD1F849128}" type="slidenum">
              <a:rPr lang="en-GB" altLang="en-US" smtClean="0">
                <a:latin typeface="Times New Roman" panose="02020603050405020304" pitchFamily="18" charset="0"/>
              </a:rPr>
              <a:pPr/>
              <a:t>24</a:t>
            </a:fld>
            <a:endParaRPr lang="en-GB"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FBCD2106-378B-0448-2FF6-397632973C42}"/>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a16="http://schemas.microsoft.com/office/drawing/2014/main" id="{C17A634E-4D07-F9D2-2169-77504935A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E" altLang="en-US">
              <a:latin typeface="Times New Roman" panose="02020603050405020304" pitchFamily="18" charset="0"/>
            </a:endParaRPr>
          </a:p>
        </p:txBody>
      </p:sp>
      <p:sp>
        <p:nvSpPr>
          <p:cNvPr id="43012" name="Header Placeholder 3">
            <a:extLst>
              <a:ext uri="{FF2B5EF4-FFF2-40B4-BE49-F238E27FC236}">
                <a16:creationId xmlns:a16="http://schemas.microsoft.com/office/drawing/2014/main" id="{F11D1E78-2574-2622-9CCA-E07722477C1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Objects First with Java</a:t>
            </a:r>
          </a:p>
        </p:txBody>
      </p:sp>
      <p:sp>
        <p:nvSpPr>
          <p:cNvPr id="43013" name="Footer Placeholder 4">
            <a:extLst>
              <a:ext uri="{FF2B5EF4-FFF2-40B4-BE49-F238E27FC236}">
                <a16:creationId xmlns:a16="http://schemas.microsoft.com/office/drawing/2014/main" id="{68835EAC-572C-34FB-001E-B1BED3D1388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 David J. Barnes and Michael Kölling</a:t>
            </a:r>
          </a:p>
        </p:txBody>
      </p:sp>
      <p:sp>
        <p:nvSpPr>
          <p:cNvPr id="43014" name="Slide Number Placeholder 5">
            <a:extLst>
              <a:ext uri="{FF2B5EF4-FFF2-40B4-BE49-F238E27FC236}">
                <a16:creationId xmlns:a16="http://schemas.microsoft.com/office/drawing/2014/main" id="{59C59443-0A99-83D0-8205-E28CD7495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C90328A-998D-F243-ADF1-54F215E2782E}" type="slidenum">
              <a:rPr lang="en-GB" altLang="en-US" smtClean="0">
                <a:latin typeface="Times New Roman" panose="02020603050405020304" pitchFamily="18" charset="0"/>
              </a:rPr>
              <a:pPr/>
              <a:t>25</a:t>
            </a:fld>
            <a:endParaRPr lang="en-GB"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50331F8E-73A7-3C18-35A6-D3AF777C081B}"/>
              </a:ext>
            </a:extLst>
          </p:cNvPr>
          <p:cNvSpPr>
            <a:spLocks noGrp="1" noRot="1" noChangeAspect="1" noChangeArrowheads="1" noTextEdit="1"/>
          </p:cNvSpPr>
          <p:nvPr>
            <p:ph type="sldImg"/>
          </p:nvPr>
        </p:nvSpPr>
        <p:spPr>
          <a:ln/>
        </p:spPr>
      </p:sp>
      <p:sp>
        <p:nvSpPr>
          <p:cNvPr id="48131" name="Notes Placeholder 2">
            <a:extLst>
              <a:ext uri="{FF2B5EF4-FFF2-40B4-BE49-F238E27FC236}">
                <a16:creationId xmlns:a16="http://schemas.microsoft.com/office/drawing/2014/main" id="{32695352-C929-92A4-155A-B8D8F5A9AD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a:latin typeface="Times New Roman" panose="02020603050405020304" pitchFamily="18" charset="0"/>
              </a:rPr>
              <a:t>https://www.google.com/url?sa=i&amp;url=https%3A%2F%2Fwww.quora.com%2FWhat-is-selection-sort&amp;psig=AOvVaw22Trs2p8ZgdSsXIUvIDj_M&amp;ust=1585250035172000&amp;source=images&amp;cd=vfe&amp;ved=0CAIQjRxqFwoTCLCayuGqtugCFQAAAAAdAAAAABAJ</a:t>
            </a:r>
          </a:p>
          <a:p>
            <a:endParaRPr lang="en-IE" altLang="en-US">
              <a:latin typeface="Times New Roman" panose="02020603050405020304" pitchFamily="18" charset="0"/>
            </a:endParaRPr>
          </a:p>
        </p:txBody>
      </p:sp>
      <p:sp>
        <p:nvSpPr>
          <p:cNvPr id="48132" name="Header Placeholder 3">
            <a:extLst>
              <a:ext uri="{FF2B5EF4-FFF2-40B4-BE49-F238E27FC236}">
                <a16:creationId xmlns:a16="http://schemas.microsoft.com/office/drawing/2014/main" id="{2F42D584-2027-9772-4F0E-9BB21AC1F6D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Objects First with Java</a:t>
            </a:r>
          </a:p>
        </p:txBody>
      </p:sp>
      <p:sp>
        <p:nvSpPr>
          <p:cNvPr id="48133" name="Footer Placeholder 4">
            <a:extLst>
              <a:ext uri="{FF2B5EF4-FFF2-40B4-BE49-F238E27FC236}">
                <a16:creationId xmlns:a16="http://schemas.microsoft.com/office/drawing/2014/main" id="{3244BB8A-4BBA-A859-6776-E2938890CCD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 David J. Barnes and Michael Kölling</a:t>
            </a:r>
          </a:p>
        </p:txBody>
      </p:sp>
      <p:sp>
        <p:nvSpPr>
          <p:cNvPr id="48134" name="Slide Number Placeholder 5">
            <a:extLst>
              <a:ext uri="{FF2B5EF4-FFF2-40B4-BE49-F238E27FC236}">
                <a16:creationId xmlns:a16="http://schemas.microsoft.com/office/drawing/2014/main" id="{1A200D61-6D50-65EC-BA22-7FEB1038C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D2E9077-9A6A-1F4D-90B4-F83D2BE148F6}" type="slidenum">
              <a:rPr lang="en-GB" altLang="en-US" smtClean="0">
                <a:latin typeface="Times New Roman" panose="02020603050405020304" pitchFamily="18" charset="0"/>
              </a:rPr>
              <a:pPr/>
              <a:t>29</a:t>
            </a:fld>
            <a:endParaRPr lang="en-GB"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BB72AF69-BB00-C119-3991-2A75C7F18C10}"/>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9754C28A-954C-4E89-E8B1-A510AB83FF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a:latin typeface="Times New Roman" panose="02020603050405020304" pitchFamily="18" charset="0"/>
              </a:rPr>
              <a:t>https://www.google.com/url?sa=i&amp;url=https%3A%2F%2Fwww.quora.com%2FWhat-is-selection-sort&amp;psig=AOvVaw22Trs2p8ZgdSsXIUvIDj_M&amp;ust=1585250035172000&amp;source=images&amp;cd=vfe&amp;ved=0CAIQjRxqFwoTCLCayuGqtugCFQAAAAAdAAAAABAJ</a:t>
            </a:r>
          </a:p>
          <a:p>
            <a:endParaRPr lang="en-IE" altLang="en-US">
              <a:latin typeface="Times New Roman" panose="02020603050405020304" pitchFamily="18" charset="0"/>
            </a:endParaRPr>
          </a:p>
        </p:txBody>
      </p:sp>
      <p:sp>
        <p:nvSpPr>
          <p:cNvPr id="50180" name="Header Placeholder 3">
            <a:extLst>
              <a:ext uri="{FF2B5EF4-FFF2-40B4-BE49-F238E27FC236}">
                <a16:creationId xmlns:a16="http://schemas.microsoft.com/office/drawing/2014/main" id="{95D44219-6DDC-1603-1843-86E64361D29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Objects First with Java</a:t>
            </a:r>
          </a:p>
        </p:txBody>
      </p:sp>
      <p:sp>
        <p:nvSpPr>
          <p:cNvPr id="50181" name="Footer Placeholder 4">
            <a:extLst>
              <a:ext uri="{FF2B5EF4-FFF2-40B4-BE49-F238E27FC236}">
                <a16:creationId xmlns:a16="http://schemas.microsoft.com/office/drawing/2014/main" id="{A2341B8E-1194-B861-3CCD-BE42BD76AE6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 David J. Barnes and Michael Kölling</a:t>
            </a:r>
          </a:p>
        </p:txBody>
      </p:sp>
      <p:sp>
        <p:nvSpPr>
          <p:cNvPr id="50182" name="Slide Number Placeholder 5">
            <a:extLst>
              <a:ext uri="{FF2B5EF4-FFF2-40B4-BE49-F238E27FC236}">
                <a16:creationId xmlns:a16="http://schemas.microsoft.com/office/drawing/2014/main" id="{2B9C6A4A-FF35-23AB-DB46-EE06F0849F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2088266-80CC-3F40-92A5-A86D6DF2F0B9}" type="slidenum">
              <a:rPr lang="en-GB" altLang="en-US" smtClean="0">
                <a:latin typeface="Times New Roman" panose="02020603050405020304" pitchFamily="18" charset="0"/>
              </a:rPr>
              <a:pPr/>
              <a:t>30</a:t>
            </a:fld>
            <a:endParaRPr lang="en-GB"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1728AF90-561E-55AD-88A3-00C9B1D9AB9E}"/>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7160F5BE-7602-820D-DB18-AB492FE76B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a:latin typeface="Times New Roman" panose="02020603050405020304" pitchFamily="18" charset="0"/>
              </a:rPr>
              <a:t>https://www.google.com/url?sa=i&amp;url=https%3A%2F%2Fwww.quora.com%2FWhat-is-selection-sort&amp;psig=AOvVaw22Trs2p8ZgdSsXIUvIDj_M&amp;ust=1585250035172000&amp;source=images&amp;cd=vfe&amp;ved=0CAIQjRxqFwoTCLCayuGqtugCFQAAAAAdAAAAABAJ</a:t>
            </a:r>
          </a:p>
          <a:p>
            <a:endParaRPr lang="en-IE" altLang="en-US">
              <a:latin typeface="Times New Roman" panose="02020603050405020304" pitchFamily="18" charset="0"/>
            </a:endParaRPr>
          </a:p>
        </p:txBody>
      </p:sp>
      <p:sp>
        <p:nvSpPr>
          <p:cNvPr id="52228" name="Header Placeholder 3">
            <a:extLst>
              <a:ext uri="{FF2B5EF4-FFF2-40B4-BE49-F238E27FC236}">
                <a16:creationId xmlns:a16="http://schemas.microsoft.com/office/drawing/2014/main" id="{240FF705-C635-A5EB-4A19-8BF01FF68CC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Objects First with Java</a:t>
            </a:r>
          </a:p>
        </p:txBody>
      </p:sp>
      <p:sp>
        <p:nvSpPr>
          <p:cNvPr id="52229" name="Footer Placeholder 4">
            <a:extLst>
              <a:ext uri="{FF2B5EF4-FFF2-40B4-BE49-F238E27FC236}">
                <a16:creationId xmlns:a16="http://schemas.microsoft.com/office/drawing/2014/main" id="{74C14E4B-65C8-CF21-5100-B7CD6CF31EE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 David J. Barnes and Michael Kölling</a:t>
            </a:r>
          </a:p>
        </p:txBody>
      </p:sp>
      <p:sp>
        <p:nvSpPr>
          <p:cNvPr id="52230" name="Slide Number Placeholder 5">
            <a:extLst>
              <a:ext uri="{FF2B5EF4-FFF2-40B4-BE49-F238E27FC236}">
                <a16:creationId xmlns:a16="http://schemas.microsoft.com/office/drawing/2014/main" id="{27EEFB1A-96A2-48D7-E5CD-12AED88C5B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B68D9AD-58C0-FF40-A208-0716267D75D5}" type="slidenum">
              <a:rPr lang="en-GB" altLang="en-US" smtClean="0">
                <a:latin typeface="Times New Roman" panose="02020603050405020304" pitchFamily="18" charset="0"/>
              </a:rPr>
              <a:pPr/>
              <a:t>31</a:t>
            </a:fld>
            <a:endParaRPr lang="en-GB"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BAAFBA91-82B2-4319-DB11-04E0E3D3FBC4}"/>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3520DA5B-9412-5D9A-6D25-A57D1CF07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a:latin typeface="Times New Roman" panose="02020603050405020304" pitchFamily="18" charset="0"/>
              </a:rPr>
              <a:t>https://www.google.com/url?sa=i&amp;url=https%3A%2F%2Fwww.quora.com%2FWhat-is-selection-sort&amp;psig=AOvVaw22Trs2p8ZgdSsXIUvIDj_M&amp;ust=1585250035172000&amp;source=images&amp;cd=vfe&amp;ved=0CAIQjRxqFwoTCLCayuGqtugCFQAAAAAdAAAAABAJ</a:t>
            </a:r>
          </a:p>
          <a:p>
            <a:endParaRPr lang="en-IE" altLang="en-US">
              <a:latin typeface="Times New Roman" panose="02020603050405020304" pitchFamily="18" charset="0"/>
            </a:endParaRPr>
          </a:p>
        </p:txBody>
      </p:sp>
      <p:sp>
        <p:nvSpPr>
          <p:cNvPr id="54276" name="Header Placeholder 3">
            <a:extLst>
              <a:ext uri="{FF2B5EF4-FFF2-40B4-BE49-F238E27FC236}">
                <a16:creationId xmlns:a16="http://schemas.microsoft.com/office/drawing/2014/main" id="{D789C4A9-2855-77D4-4CD0-95928575C2F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Objects First with Java</a:t>
            </a:r>
          </a:p>
        </p:txBody>
      </p:sp>
      <p:sp>
        <p:nvSpPr>
          <p:cNvPr id="54277" name="Footer Placeholder 4">
            <a:extLst>
              <a:ext uri="{FF2B5EF4-FFF2-40B4-BE49-F238E27FC236}">
                <a16:creationId xmlns:a16="http://schemas.microsoft.com/office/drawing/2014/main" id="{0B1CBA56-B06A-32B4-7816-F651667508A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GB" altLang="en-US">
                <a:latin typeface="Times New Roman" panose="02020603050405020304" pitchFamily="18" charset="0"/>
              </a:rPr>
              <a:t>© David J. Barnes and Michael Kölling</a:t>
            </a:r>
          </a:p>
        </p:txBody>
      </p:sp>
      <p:sp>
        <p:nvSpPr>
          <p:cNvPr id="54278" name="Slide Number Placeholder 5">
            <a:extLst>
              <a:ext uri="{FF2B5EF4-FFF2-40B4-BE49-F238E27FC236}">
                <a16:creationId xmlns:a16="http://schemas.microsoft.com/office/drawing/2014/main" id="{7929CFEA-99AB-7587-3EDD-0D4C2C605C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B1BB6A4-3353-E148-A772-ACFADDE685A7}" type="slidenum">
              <a:rPr lang="en-GB" altLang="en-US" smtClean="0">
                <a:latin typeface="Times New Roman" panose="02020603050405020304" pitchFamily="18" charset="0"/>
              </a:rPr>
              <a:pPr/>
              <a:t>32</a:t>
            </a:fld>
            <a:endParaRPr lang="en-GB"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a:extLst>
              <a:ext uri="{FF2B5EF4-FFF2-40B4-BE49-F238E27FC236}">
                <a16:creationId xmlns:a16="http://schemas.microsoft.com/office/drawing/2014/main" id="{5871414D-D113-012D-2342-9AD295D6FFE3}"/>
              </a:ext>
            </a:extLst>
          </p:cNvPr>
          <p:cNvSpPr>
            <a:spLocks noGrp="1"/>
          </p:cNvSpPr>
          <p:nvPr>
            <p:ph type="dt" sz="half" idx="10"/>
          </p:nvPr>
        </p:nvSpPr>
        <p:spPr/>
        <p:txBody>
          <a:bodyPr/>
          <a:lstStyle>
            <a:lvl1pPr>
              <a:defRPr/>
            </a:lvl1pPr>
          </a:lstStyle>
          <a:p>
            <a:pPr>
              <a:defRPr/>
            </a:pPr>
            <a:fld id="{C7ADE166-EEF5-D641-A02E-1C8174506571}" type="datetime1">
              <a:rPr lang="en-US" altLang="en-US"/>
              <a:pPr>
                <a:defRPr/>
              </a:pPr>
              <a:t>4/19/26</a:t>
            </a:fld>
            <a:endParaRPr lang="en-US" altLang="en-US"/>
          </a:p>
        </p:txBody>
      </p:sp>
      <p:sp>
        <p:nvSpPr>
          <p:cNvPr id="5" name="Footer Placeholder 4">
            <a:extLst>
              <a:ext uri="{FF2B5EF4-FFF2-40B4-BE49-F238E27FC236}">
                <a16:creationId xmlns:a16="http://schemas.microsoft.com/office/drawing/2014/main" id="{55722B32-DCD4-887A-93DA-44842AA4D8D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BC7AA0E-37AC-607C-BFED-521D4EB0295C}"/>
              </a:ext>
            </a:extLst>
          </p:cNvPr>
          <p:cNvSpPr>
            <a:spLocks noGrp="1"/>
          </p:cNvSpPr>
          <p:nvPr>
            <p:ph type="sldNum" sz="quarter" idx="12"/>
          </p:nvPr>
        </p:nvSpPr>
        <p:spPr/>
        <p:txBody>
          <a:bodyPr/>
          <a:lstStyle>
            <a:lvl1pPr>
              <a:defRPr/>
            </a:lvl1pPr>
          </a:lstStyle>
          <a:p>
            <a:pPr>
              <a:defRPr/>
            </a:pPr>
            <a:fld id="{1BB60751-9C7D-994E-A9AB-A10EBA300501}" type="slidenum">
              <a:rPr lang="en-US" altLang="en-US"/>
              <a:pPr>
                <a:defRPr/>
              </a:pPr>
              <a:t>‹#›</a:t>
            </a:fld>
            <a:endParaRPr lang="en-US" altLang="en-US"/>
          </a:p>
        </p:txBody>
      </p:sp>
    </p:spTree>
    <p:extLst>
      <p:ext uri="{BB962C8B-B14F-4D97-AF65-F5344CB8AC3E}">
        <p14:creationId xmlns:p14="http://schemas.microsoft.com/office/powerpoint/2010/main" val="2217956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BD92150-34C7-06E9-D2C0-96D441667A19}"/>
              </a:ext>
            </a:extLst>
          </p:cNvPr>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F950E62-D7F7-D16A-1CBA-451A6A70FA3A}"/>
              </a:ext>
            </a:extLst>
          </p:cNvPr>
          <p:cNvSpPr>
            <a:spLocks noGrp="1"/>
          </p:cNvSpPr>
          <p:nvPr>
            <p:ph type="dt" sz="half" idx="10"/>
          </p:nvPr>
        </p:nvSpPr>
        <p:spPr/>
        <p:txBody>
          <a:bodyPr/>
          <a:lstStyle>
            <a:lvl1pPr>
              <a:defRPr/>
            </a:lvl1pPr>
          </a:lstStyle>
          <a:p>
            <a:pPr>
              <a:defRPr/>
            </a:pPr>
            <a:fld id="{267FE543-FA71-8A44-BB3C-1D08FF53B488}" type="datetime1">
              <a:rPr lang="en-US" altLang="en-US"/>
              <a:pPr>
                <a:defRPr/>
              </a:pPr>
              <a:t>4/19/26</a:t>
            </a:fld>
            <a:endParaRPr lang="en-US" altLang="en-US"/>
          </a:p>
        </p:txBody>
      </p:sp>
      <p:sp>
        <p:nvSpPr>
          <p:cNvPr id="6" name="Footer Placeholder 4">
            <a:extLst>
              <a:ext uri="{FF2B5EF4-FFF2-40B4-BE49-F238E27FC236}">
                <a16:creationId xmlns:a16="http://schemas.microsoft.com/office/drawing/2014/main" id="{C9A48E26-EBC0-09F9-C8CA-0CF2939ECE5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EAC80BF-10B4-D199-6229-9E755AE8E684}"/>
              </a:ext>
            </a:extLst>
          </p:cNvPr>
          <p:cNvSpPr>
            <a:spLocks noGrp="1"/>
          </p:cNvSpPr>
          <p:nvPr>
            <p:ph type="sldNum" sz="quarter" idx="12"/>
          </p:nvPr>
        </p:nvSpPr>
        <p:spPr/>
        <p:txBody>
          <a:bodyPr/>
          <a:lstStyle>
            <a:lvl1pPr>
              <a:defRPr/>
            </a:lvl1pPr>
          </a:lstStyle>
          <a:p>
            <a:pPr>
              <a:defRPr/>
            </a:pPr>
            <a:fld id="{6AD911C4-D409-8D47-BAB8-FFBC40BA7AB8}" type="slidenum">
              <a:rPr lang="en-US" altLang="en-US"/>
              <a:pPr>
                <a:defRPr/>
              </a:pPr>
              <a:t>‹#›</a:t>
            </a:fld>
            <a:endParaRPr lang="en-US" altLang="en-US"/>
          </a:p>
        </p:txBody>
      </p:sp>
    </p:spTree>
    <p:extLst>
      <p:ext uri="{BB962C8B-B14F-4D97-AF65-F5344CB8AC3E}">
        <p14:creationId xmlns:p14="http://schemas.microsoft.com/office/powerpoint/2010/main" val="68689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15A69E-0CB8-2D8B-F049-148DC2FAFE85}"/>
              </a:ext>
            </a:extLst>
          </p:cNvPr>
          <p:cNvSpPr>
            <a:spLocks noGrp="1"/>
          </p:cNvSpPr>
          <p:nvPr>
            <p:ph type="dt" sz="half" idx="10"/>
          </p:nvPr>
        </p:nvSpPr>
        <p:spPr/>
        <p:txBody>
          <a:bodyPr/>
          <a:lstStyle>
            <a:lvl1pPr>
              <a:defRPr/>
            </a:lvl1pPr>
          </a:lstStyle>
          <a:p>
            <a:pPr>
              <a:defRPr/>
            </a:pPr>
            <a:fld id="{F425A29D-54C2-7D40-AADA-13E7B4485E4A}" type="datetime1">
              <a:rPr lang="en-US" altLang="en-US"/>
              <a:pPr>
                <a:defRPr/>
              </a:pPr>
              <a:t>4/19/26</a:t>
            </a:fld>
            <a:endParaRPr lang="en-US" altLang="en-US"/>
          </a:p>
        </p:txBody>
      </p:sp>
      <p:sp>
        <p:nvSpPr>
          <p:cNvPr id="5" name="Footer Placeholder 4">
            <a:extLst>
              <a:ext uri="{FF2B5EF4-FFF2-40B4-BE49-F238E27FC236}">
                <a16:creationId xmlns:a16="http://schemas.microsoft.com/office/drawing/2014/main" id="{E97043B7-808E-55CC-954A-9E78589976E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7C5C05-3F53-CC7D-E783-268CDF006E41}"/>
              </a:ext>
            </a:extLst>
          </p:cNvPr>
          <p:cNvSpPr>
            <a:spLocks noGrp="1"/>
          </p:cNvSpPr>
          <p:nvPr>
            <p:ph type="sldNum" sz="quarter" idx="12"/>
          </p:nvPr>
        </p:nvSpPr>
        <p:spPr/>
        <p:txBody>
          <a:bodyPr/>
          <a:lstStyle>
            <a:lvl1pPr>
              <a:defRPr/>
            </a:lvl1pPr>
          </a:lstStyle>
          <a:p>
            <a:pPr>
              <a:defRPr/>
            </a:pPr>
            <a:fld id="{1EC76361-5CF3-CB44-8D67-50AED37DC833}" type="slidenum">
              <a:rPr lang="en-US" altLang="en-US"/>
              <a:pPr>
                <a:defRPr/>
              </a:pPr>
              <a:t>‹#›</a:t>
            </a:fld>
            <a:endParaRPr lang="en-US" altLang="en-US"/>
          </a:p>
        </p:txBody>
      </p:sp>
    </p:spTree>
    <p:extLst>
      <p:ext uri="{BB962C8B-B14F-4D97-AF65-F5344CB8AC3E}">
        <p14:creationId xmlns:p14="http://schemas.microsoft.com/office/powerpoint/2010/main" val="3369225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4394EBD-0F0E-A6A2-7024-B16439B06629}"/>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52B8239A-D8A8-9AD7-9FFD-A5C6AB429D7D}"/>
              </a:ext>
            </a:extLst>
          </p:cNvPr>
          <p:cNvSpPr>
            <a:spLocks noGrp="1"/>
          </p:cNvSpPr>
          <p:nvPr>
            <p:ph type="dt" sz="half" idx="10"/>
          </p:nvPr>
        </p:nvSpPr>
        <p:spPr/>
        <p:txBody>
          <a:bodyPr/>
          <a:lstStyle>
            <a:lvl1pPr>
              <a:defRPr/>
            </a:lvl1pPr>
          </a:lstStyle>
          <a:p>
            <a:pPr>
              <a:defRPr/>
            </a:pPr>
            <a:fld id="{8320685E-1212-A64E-A6FD-C8E6C59D2151}" type="datetime1">
              <a:rPr lang="en-US" altLang="en-US"/>
              <a:pPr>
                <a:defRPr/>
              </a:pPr>
              <a:t>4/19/26</a:t>
            </a:fld>
            <a:endParaRPr lang="en-US" altLang="en-US"/>
          </a:p>
        </p:txBody>
      </p:sp>
      <p:sp>
        <p:nvSpPr>
          <p:cNvPr id="7" name="Footer Placeholder 5">
            <a:extLst>
              <a:ext uri="{FF2B5EF4-FFF2-40B4-BE49-F238E27FC236}">
                <a16:creationId xmlns:a16="http://schemas.microsoft.com/office/drawing/2014/main" id="{C0424848-5B6B-F495-A8CF-84CD042BDFB7}"/>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2AED18EC-B7C7-69A7-3488-7418E7161AA3}"/>
              </a:ext>
            </a:extLst>
          </p:cNvPr>
          <p:cNvSpPr>
            <a:spLocks noGrp="1"/>
          </p:cNvSpPr>
          <p:nvPr>
            <p:ph type="sldNum" sz="quarter" idx="12"/>
          </p:nvPr>
        </p:nvSpPr>
        <p:spPr/>
        <p:txBody>
          <a:bodyPr/>
          <a:lstStyle>
            <a:lvl1pPr>
              <a:defRPr/>
            </a:lvl1pPr>
          </a:lstStyle>
          <a:p>
            <a:pPr>
              <a:defRPr/>
            </a:pPr>
            <a:fld id="{C1F1151D-08B2-8542-AB4D-939009C41DD2}" type="slidenum">
              <a:rPr lang="en-US" altLang="en-US"/>
              <a:pPr>
                <a:defRPr/>
              </a:pPr>
              <a:t>‹#›</a:t>
            </a:fld>
            <a:endParaRPr lang="en-US" altLang="en-US"/>
          </a:p>
        </p:txBody>
      </p:sp>
    </p:spTree>
    <p:extLst>
      <p:ext uri="{BB962C8B-B14F-4D97-AF65-F5344CB8AC3E}">
        <p14:creationId xmlns:p14="http://schemas.microsoft.com/office/powerpoint/2010/main" val="371644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DD5889C-552F-9AFF-1FE2-5C442871E38F}"/>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a:extLst>
              <a:ext uri="{FF2B5EF4-FFF2-40B4-BE49-F238E27FC236}">
                <a16:creationId xmlns:a16="http://schemas.microsoft.com/office/drawing/2014/main" id="{7CB3C903-3A5F-01F6-3CA9-E3C01403D883}"/>
              </a:ext>
            </a:extLst>
          </p:cNvPr>
          <p:cNvSpPr>
            <a:spLocks noGrp="1"/>
          </p:cNvSpPr>
          <p:nvPr>
            <p:ph type="dt" sz="half" idx="10"/>
          </p:nvPr>
        </p:nvSpPr>
        <p:spPr/>
        <p:txBody>
          <a:bodyPr/>
          <a:lstStyle>
            <a:lvl1pPr>
              <a:defRPr/>
            </a:lvl1pPr>
          </a:lstStyle>
          <a:p>
            <a:pPr>
              <a:defRPr/>
            </a:pPr>
            <a:fld id="{CE66BBD8-61A3-BB4B-94CF-3F70F39F3318}" type="datetime1">
              <a:rPr lang="en-US" altLang="en-US"/>
              <a:pPr>
                <a:defRPr/>
              </a:pPr>
              <a:t>4/19/26</a:t>
            </a:fld>
            <a:endParaRPr lang="en-US" altLang="en-US"/>
          </a:p>
        </p:txBody>
      </p:sp>
      <p:sp>
        <p:nvSpPr>
          <p:cNvPr id="9" name="Footer Placeholder 7">
            <a:extLst>
              <a:ext uri="{FF2B5EF4-FFF2-40B4-BE49-F238E27FC236}">
                <a16:creationId xmlns:a16="http://schemas.microsoft.com/office/drawing/2014/main" id="{71B133F0-D028-F36A-3751-84EA3D70EA28}"/>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BDC8F019-E6B7-B125-F0C9-CB38B963D915}"/>
              </a:ext>
            </a:extLst>
          </p:cNvPr>
          <p:cNvSpPr>
            <a:spLocks noGrp="1"/>
          </p:cNvSpPr>
          <p:nvPr>
            <p:ph type="sldNum" sz="quarter" idx="12"/>
          </p:nvPr>
        </p:nvSpPr>
        <p:spPr/>
        <p:txBody>
          <a:bodyPr/>
          <a:lstStyle>
            <a:lvl1pPr>
              <a:defRPr/>
            </a:lvl1pPr>
          </a:lstStyle>
          <a:p>
            <a:pPr>
              <a:defRPr/>
            </a:pPr>
            <a:fld id="{C13907CB-22F7-8E43-9906-DB73CF198D59}" type="slidenum">
              <a:rPr lang="en-US" altLang="en-US"/>
              <a:pPr>
                <a:defRPr/>
              </a:pPr>
              <a:t>‹#›</a:t>
            </a:fld>
            <a:endParaRPr lang="en-US" altLang="en-US"/>
          </a:p>
        </p:txBody>
      </p:sp>
    </p:spTree>
    <p:extLst>
      <p:ext uri="{BB962C8B-B14F-4D97-AF65-F5344CB8AC3E}">
        <p14:creationId xmlns:p14="http://schemas.microsoft.com/office/powerpoint/2010/main" val="1808774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8F2D06F-5A57-3024-4B31-E2207F898905}"/>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4" name="Date Placeholder 2">
            <a:extLst>
              <a:ext uri="{FF2B5EF4-FFF2-40B4-BE49-F238E27FC236}">
                <a16:creationId xmlns:a16="http://schemas.microsoft.com/office/drawing/2014/main" id="{F2820B6B-8F1A-92AA-E4D6-41C12B1F84F1}"/>
              </a:ext>
            </a:extLst>
          </p:cNvPr>
          <p:cNvSpPr>
            <a:spLocks noGrp="1"/>
          </p:cNvSpPr>
          <p:nvPr>
            <p:ph type="dt" sz="half" idx="10"/>
          </p:nvPr>
        </p:nvSpPr>
        <p:spPr/>
        <p:txBody>
          <a:bodyPr/>
          <a:lstStyle>
            <a:lvl1pPr>
              <a:defRPr/>
            </a:lvl1pPr>
          </a:lstStyle>
          <a:p>
            <a:pPr>
              <a:defRPr/>
            </a:pPr>
            <a:fld id="{335CEF12-FFBD-E649-BA5C-8ADC11FCCB50}" type="datetime1">
              <a:rPr lang="en-US" altLang="en-US"/>
              <a:pPr>
                <a:defRPr/>
              </a:pPr>
              <a:t>4/19/26</a:t>
            </a:fld>
            <a:endParaRPr lang="en-US" altLang="en-US"/>
          </a:p>
        </p:txBody>
      </p:sp>
      <p:sp>
        <p:nvSpPr>
          <p:cNvPr id="5" name="Footer Placeholder 3">
            <a:extLst>
              <a:ext uri="{FF2B5EF4-FFF2-40B4-BE49-F238E27FC236}">
                <a16:creationId xmlns:a16="http://schemas.microsoft.com/office/drawing/2014/main" id="{3FE90459-125B-A8EC-D3DE-83F02B01F22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29FA3E97-B169-4052-B210-6E4B20601B9B}"/>
              </a:ext>
            </a:extLst>
          </p:cNvPr>
          <p:cNvSpPr>
            <a:spLocks noGrp="1"/>
          </p:cNvSpPr>
          <p:nvPr>
            <p:ph type="sldNum" sz="quarter" idx="12"/>
          </p:nvPr>
        </p:nvSpPr>
        <p:spPr/>
        <p:txBody>
          <a:bodyPr/>
          <a:lstStyle>
            <a:lvl1pPr>
              <a:defRPr/>
            </a:lvl1pPr>
          </a:lstStyle>
          <a:p>
            <a:pPr>
              <a:defRPr/>
            </a:pPr>
            <a:fld id="{FB4A12FE-867D-7947-8575-74946BECDDF1}" type="slidenum">
              <a:rPr lang="en-US" altLang="en-US"/>
              <a:pPr>
                <a:defRPr/>
              </a:pPr>
              <a:t>‹#›</a:t>
            </a:fld>
            <a:endParaRPr lang="en-US" altLang="en-US"/>
          </a:p>
        </p:txBody>
      </p:sp>
    </p:spTree>
    <p:extLst>
      <p:ext uri="{BB962C8B-B14F-4D97-AF65-F5344CB8AC3E}">
        <p14:creationId xmlns:p14="http://schemas.microsoft.com/office/powerpoint/2010/main" val="1517162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DA6BDA3-D094-0E4A-E279-CB72A33957DD}"/>
              </a:ext>
            </a:extLst>
          </p:cNvPr>
          <p:cNvSpPr>
            <a:spLocks noGrp="1"/>
          </p:cNvSpPr>
          <p:nvPr>
            <p:ph type="dt" sz="half" idx="10"/>
          </p:nvPr>
        </p:nvSpPr>
        <p:spPr/>
        <p:txBody>
          <a:bodyPr/>
          <a:lstStyle>
            <a:lvl1pPr>
              <a:defRPr/>
            </a:lvl1pPr>
          </a:lstStyle>
          <a:p>
            <a:pPr>
              <a:defRPr/>
            </a:pPr>
            <a:fld id="{634E94D3-BA50-5242-9C8E-05B1690154AB}" type="datetime1">
              <a:rPr lang="en-US" altLang="en-US"/>
              <a:pPr>
                <a:defRPr/>
              </a:pPr>
              <a:t>4/19/26</a:t>
            </a:fld>
            <a:endParaRPr lang="en-US" altLang="en-US"/>
          </a:p>
        </p:txBody>
      </p:sp>
      <p:sp>
        <p:nvSpPr>
          <p:cNvPr id="3" name="Footer Placeholder 4">
            <a:extLst>
              <a:ext uri="{FF2B5EF4-FFF2-40B4-BE49-F238E27FC236}">
                <a16:creationId xmlns:a16="http://schemas.microsoft.com/office/drawing/2014/main" id="{9B050BC3-0FC8-ACF6-3A2A-CA3BAAD59E2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2489195-D21D-A4A6-9629-0B0D32FBD915}"/>
              </a:ext>
            </a:extLst>
          </p:cNvPr>
          <p:cNvSpPr>
            <a:spLocks noGrp="1"/>
          </p:cNvSpPr>
          <p:nvPr>
            <p:ph type="sldNum" sz="quarter" idx="12"/>
          </p:nvPr>
        </p:nvSpPr>
        <p:spPr/>
        <p:txBody>
          <a:bodyPr/>
          <a:lstStyle>
            <a:lvl1pPr>
              <a:defRPr/>
            </a:lvl1pPr>
          </a:lstStyle>
          <a:p>
            <a:pPr>
              <a:defRPr/>
            </a:pPr>
            <a:fld id="{00B85517-5E5C-474B-AD35-1E6DB0DFD425}" type="slidenum">
              <a:rPr lang="en-US" altLang="en-US"/>
              <a:pPr>
                <a:defRPr/>
              </a:pPr>
              <a:t>‹#›</a:t>
            </a:fld>
            <a:endParaRPr lang="en-US" altLang="en-US"/>
          </a:p>
        </p:txBody>
      </p:sp>
    </p:spTree>
    <p:extLst>
      <p:ext uri="{BB962C8B-B14F-4D97-AF65-F5344CB8AC3E}">
        <p14:creationId xmlns:p14="http://schemas.microsoft.com/office/powerpoint/2010/main" val="234071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01309823-CDE6-2442-5FF5-D315C47BB2AE}"/>
              </a:ext>
            </a:extLst>
          </p:cNvPr>
          <p:cNvSpPr>
            <a:spLocks noGrp="1"/>
          </p:cNvSpPr>
          <p:nvPr>
            <p:ph type="dt" sz="half" idx="10"/>
          </p:nvPr>
        </p:nvSpPr>
        <p:spPr/>
        <p:txBody>
          <a:bodyPr/>
          <a:lstStyle>
            <a:lvl1pPr>
              <a:defRPr/>
            </a:lvl1pPr>
          </a:lstStyle>
          <a:p>
            <a:pPr>
              <a:defRPr/>
            </a:pPr>
            <a:fld id="{28013A33-02D3-5D4A-81C6-B9A9EEE74AC8}" type="datetime1">
              <a:rPr lang="en-US" altLang="en-US"/>
              <a:pPr>
                <a:defRPr/>
              </a:pPr>
              <a:t>4/19/26</a:t>
            </a:fld>
            <a:endParaRPr lang="en-US" altLang="en-US"/>
          </a:p>
        </p:txBody>
      </p:sp>
      <p:sp>
        <p:nvSpPr>
          <p:cNvPr id="6" name="Footer Placeholder 5">
            <a:extLst>
              <a:ext uri="{FF2B5EF4-FFF2-40B4-BE49-F238E27FC236}">
                <a16:creationId xmlns:a16="http://schemas.microsoft.com/office/drawing/2014/main" id="{81A95CED-C0E6-C92C-2C28-9F3F87B96FFE}"/>
              </a:ext>
            </a:extLst>
          </p:cNvPr>
          <p:cNvSpPr>
            <a:spLocks noGrp="1"/>
          </p:cNvSpPr>
          <p:nvPr>
            <p:ph type="ftr" sz="quarter" idx="11"/>
          </p:nvPr>
        </p:nvSpPr>
        <p:spPr/>
        <p:txBody>
          <a:bodyPr/>
          <a:lstStyle>
            <a:lvl1pPr>
              <a:defRPr/>
            </a:lvl1pPr>
          </a:lstStyle>
          <a:p>
            <a:pPr>
              <a:defRPr/>
            </a:pPr>
            <a:r>
              <a:rPr lang="en-GB" altLang="en-US"/>
              <a:t>Objects First with Java - A Practical Introduction using BlueJ, © David J. Barnes, Michael Kölling</a:t>
            </a:r>
          </a:p>
        </p:txBody>
      </p:sp>
      <p:sp>
        <p:nvSpPr>
          <p:cNvPr id="7" name="Slide Number Placeholder 6">
            <a:extLst>
              <a:ext uri="{FF2B5EF4-FFF2-40B4-BE49-F238E27FC236}">
                <a16:creationId xmlns:a16="http://schemas.microsoft.com/office/drawing/2014/main" id="{566067A7-9C6A-2A32-F5DA-3F65F6AB3B30}"/>
              </a:ext>
            </a:extLst>
          </p:cNvPr>
          <p:cNvSpPr>
            <a:spLocks noGrp="1"/>
          </p:cNvSpPr>
          <p:nvPr>
            <p:ph type="sldNum" sz="quarter" idx="12"/>
          </p:nvPr>
        </p:nvSpPr>
        <p:spPr/>
        <p:txBody>
          <a:bodyPr/>
          <a:lstStyle>
            <a:lvl1pPr>
              <a:defRPr/>
            </a:lvl1pPr>
          </a:lstStyle>
          <a:p>
            <a:pPr>
              <a:defRPr/>
            </a:pPr>
            <a:fld id="{D075C948-BAB0-E845-A91D-F154416BA43F}" type="slidenum">
              <a:rPr lang="en-US" altLang="en-US"/>
              <a:pPr>
                <a:defRPr/>
              </a:pPr>
              <a:t>‹#›</a:t>
            </a:fld>
            <a:endParaRPr lang="en-US" altLang="en-US"/>
          </a:p>
        </p:txBody>
      </p:sp>
    </p:spTree>
    <p:extLst>
      <p:ext uri="{BB962C8B-B14F-4D97-AF65-F5344CB8AC3E}">
        <p14:creationId xmlns:p14="http://schemas.microsoft.com/office/powerpoint/2010/main" val="2021620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F15C5D7E-EF79-5C83-FBD5-7589D8A10256}"/>
              </a:ext>
            </a:extLst>
          </p:cNvPr>
          <p:cNvSpPr>
            <a:spLocks noGrp="1"/>
          </p:cNvSpPr>
          <p:nvPr>
            <p:ph type="dt" sz="half" idx="10"/>
          </p:nvPr>
        </p:nvSpPr>
        <p:spPr/>
        <p:txBody>
          <a:bodyPr/>
          <a:lstStyle>
            <a:lvl1pPr>
              <a:defRPr/>
            </a:lvl1pPr>
          </a:lstStyle>
          <a:p>
            <a:pPr>
              <a:defRPr/>
            </a:pPr>
            <a:fld id="{E61A7CB7-7787-FD48-9C2C-D42559F27DF3}" type="datetime1">
              <a:rPr lang="en-US" altLang="en-US"/>
              <a:pPr>
                <a:defRPr/>
              </a:pPr>
              <a:t>4/19/26</a:t>
            </a:fld>
            <a:endParaRPr lang="en-US" altLang="en-US"/>
          </a:p>
        </p:txBody>
      </p:sp>
      <p:sp>
        <p:nvSpPr>
          <p:cNvPr id="6" name="Footer Placeholder 5">
            <a:extLst>
              <a:ext uri="{FF2B5EF4-FFF2-40B4-BE49-F238E27FC236}">
                <a16:creationId xmlns:a16="http://schemas.microsoft.com/office/drawing/2014/main" id="{809740A2-D4F0-E493-B281-4CF9B95B2662}"/>
              </a:ext>
            </a:extLst>
          </p:cNvPr>
          <p:cNvSpPr>
            <a:spLocks noGrp="1"/>
          </p:cNvSpPr>
          <p:nvPr>
            <p:ph type="ftr" sz="quarter" idx="11"/>
          </p:nvPr>
        </p:nvSpPr>
        <p:spPr/>
        <p:txBody>
          <a:bodyPr/>
          <a:lstStyle>
            <a:lvl1pPr>
              <a:defRPr/>
            </a:lvl1pPr>
          </a:lstStyle>
          <a:p>
            <a:pPr>
              <a:defRPr/>
            </a:pPr>
            <a:r>
              <a:rPr lang="en-GB" altLang="en-US"/>
              <a:t>Objects First with Java - A Practical Introduction using BlueJ, © David J. Barnes, Michael Kölling</a:t>
            </a:r>
          </a:p>
        </p:txBody>
      </p:sp>
      <p:sp>
        <p:nvSpPr>
          <p:cNvPr id="7" name="Slide Number Placeholder 6">
            <a:extLst>
              <a:ext uri="{FF2B5EF4-FFF2-40B4-BE49-F238E27FC236}">
                <a16:creationId xmlns:a16="http://schemas.microsoft.com/office/drawing/2014/main" id="{D9F77F2D-AF6C-1FE0-91E5-80D90FE9D4FC}"/>
              </a:ext>
            </a:extLst>
          </p:cNvPr>
          <p:cNvSpPr>
            <a:spLocks noGrp="1"/>
          </p:cNvSpPr>
          <p:nvPr>
            <p:ph type="sldNum" sz="quarter" idx="12"/>
          </p:nvPr>
        </p:nvSpPr>
        <p:spPr/>
        <p:txBody>
          <a:bodyPr/>
          <a:lstStyle>
            <a:lvl1pPr>
              <a:defRPr/>
            </a:lvl1pPr>
          </a:lstStyle>
          <a:p>
            <a:pPr>
              <a:defRPr/>
            </a:pPr>
            <a:fld id="{0173FA2D-A2FE-144C-B357-FDBC6E9CDFCC}" type="slidenum">
              <a:rPr lang="en-US" altLang="en-US"/>
              <a:pPr>
                <a:defRPr/>
              </a:pPr>
              <a:t>‹#›</a:t>
            </a:fld>
            <a:endParaRPr lang="en-US" altLang="en-US"/>
          </a:p>
        </p:txBody>
      </p:sp>
    </p:spTree>
    <p:extLst>
      <p:ext uri="{BB962C8B-B14F-4D97-AF65-F5344CB8AC3E}">
        <p14:creationId xmlns:p14="http://schemas.microsoft.com/office/powerpoint/2010/main" val="173781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8F0A1C-6FE3-6CB5-30C3-7398730314AF}"/>
              </a:ext>
            </a:extLst>
          </p:cNvPr>
          <p:cNvSpPr>
            <a:spLocks noGrp="1"/>
          </p:cNvSpPr>
          <p:nvPr>
            <p:ph type="dt" sz="half" idx="10"/>
          </p:nvPr>
        </p:nvSpPr>
        <p:spPr/>
        <p:txBody>
          <a:bodyPr/>
          <a:lstStyle>
            <a:lvl1pPr>
              <a:defRPr/>
            </a:lvl1pPr>
          </a:lstStyle>
          <a:p>
            <a:pPr>
              <a:defRPr/>
            </a:pPr>
            <a:fld id="{29756993-9BE3-B248-AFD2-737FBD938659}" type="datetime1">
              <a:rPr lang="en-US" altLang="en-US"/>
              <a:pPr>
                <a:defRPr/>
              </a:pPr>
              <a:t>4/19/26</a:t>
            </a:fld>
            <a:endParaRPr lang="en-US" altLang="en-US"/>
          </a:p>
        </p:txBody>
      </p:sp>
      <p:sp>
        <p:nvSpPr>
          <p:cNvPr id="5" name="Footer Placeholder 4">
            <a:extLst>
              <a:ext uri="{FF2B5EF4-FFF2-40B4-BE49-F238E27FC236}">
                <a16:creationId xmlns:a16="http://schemas.microsoft.com/office/drawing/2014/main" id="{25DB7505-385C-3C8E-05E3-83EB44ED3DB9}"/>
              </a:ext>
            </a:extLst>
          </p:cNvPr>
          <p:cNvSpPr>
            <a:spLocks noGrp="1"/>
          </p:cNvSpPr>
          <p:nvPr>
            <p:ph type="ftr" sz="quarter" idx="11"/>
          </p:nvPr>
        </p:nvSpPr>
        <p:spPr/>
        <p:txBody>
          <a:bodyPr/>
          <a:lstStyle>
            <a:lvl1pPr>
              <a:defRPr/>
            </a:lvl1pPr>
          </a:lstStyle>
          <a:p>
            <a:pPr>
              <a:defRPr/>
            </a:pPr>
            <a:r>
              <a:rPr lang="en-GB" altLang="en-US"/>
              <a:t>Objects First with Java - A Practical Introduction using BlueJ, © David J. Barnes, Michael Kölling</a:t>
            </a:r>
          </a:p>
        </p:txBody>
      </p:sp>
      <p:sp>
        <p:nvSpPr>
          <p:cNvPr id="6" name="Slide Number Placeholder 5">
            <a:extLst>
              <a:ext uri="{FF2B5EF4-FFF2-40B4-BE49-F238E27FC236}">
                <a16:creationId xmlns:a16="http://schemas.microsoft.com/office/drawing/2014/main" id="{00EC2434-D4DF-4733-3716-432BBDF639DE}"/>
              </a:ext>
            </a:extLst>
          </p:cNvPr>
          <p:cNvSpPr>
            <a:spLocks noGrp="1"/>
          </p:cNvSpPr>
          <p:nvPr>
            <p:ph type="sldNum" sz="quarter" idx="12"/>
          </p:nvPr>
        </p:nvSpPr>
        <p:spPr/>
        <p:txBody>
          <a:bodyPr/>
          <a:lstStyle>
            <a:lvl1pPr>
              <a:defRPr/>
            </a:lvl1pPr>
          </a:lstStyle>
          <a:p>
            <a:pPr>
              <a:defRPr/>
            </a:pPr>
            <a:fld id="{DABD6098-1486-A746-B511-75A6C007C5CD}" type="slidenum">
              <a:rPr lang="en-US" altLang="en-US"/>
              <a:pPr>
                <a:defRPr/>
              </a:pPr>
              <a:t>‹#›</a:t>
            </a:fld>
            <a:endParaRPr lang="en-US" altLang="en-US"/>
          </a:p>
        </p:txBody>
      </p:sp>
    </p:spTree>
    <p:extLst>
      <p:ext uri="{BB962C8B-B14F-4D97-AF65-F5344CB8AC3E}">
        <p14:creationId xmlns:p14="http://schemas.microsoft.com/office/powerpoint/2010/main" val="2078117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A3A82-4176-F60C-9DA0-61A997E22D2D}"/>
              </a:ext>
            </a:extLst>
          </p:cNvPr>
          <p:cNvSpPr>
            <a:spLocks noGrp="1"/>
          </p:cNvSpPr>
          <p:nvPr>
            <p:ph type="dt" sz="half" idx="10"/>
          </p:nvPr>
        </p:nvSpPr>
        <p:spPr/>
        <p:txBody>
          <a:bodyPr/>
          <a:lstStyle>
            <a:lvl1pPr>
              <a:defRPr/>
            </a:lvl1pPr>
          </a:lstStyle>
          <a:p>
            <a:pPr>
              <a:defRPr/>
            </a:pPr>
            <a:fld id="{132EBCDD-744E-C746-B7E2-EED8E344DEC2}" type="datetime1">
              <a:rPr lang="en-US" altLang="en-US"/>
              <a:pPr>
                <a:defRPr/>
              </a:pPr>
              <a:t>4/19/26</a:t>
            </a:fld>
            <a:endParaRPr lang="en-US" altLang="en-US"/>
          </a:p>
        </p:txBody>
      </p:sp>
      <p:sp>
        <p:nvSpPr>
          <p:cNvPr id="5" name="Footer Placeholder 4">
            <a:extLst>
              <a:ext uri="{FF2B5EF4-FFF2-40B4-BE49-F238E27FC236}">
                <a16:creationId xmlns:a16="http://schemas.microsoft.com/office/drawing/2014/main" id="{2DC75AF3-E60C-D845-20AF-E09E5CC562F9}"/>
              </a:ext>
            </a:extLst>
          </p:cNvPr>
          <p:cNvSpPr>
            <a:spLocks noGrp="1"/>
          </p:cNvSpPr>
          <p:nvPr>
            <p:ph type="ftr" sz="quarter" idx="11"/>
          </p:nvPr>
        </p:nvSpPr>
        <p:spPr/>
        <p:txBody>
          <a:bodyPr/>
          <a:lstStyle>
            <a:lvl1pPr>
              <a:defRPr/>
            </a:lvl1pPr>
          </a:lstStyle>
          <a:p>
            <a:pPr>
              <a:defRPr/>
            </a:pPr>
            <a:r>
              <a:rPr lang="en-GB" altLang="en-US"/>
              <a:t>Objects First with Java - A Practical Introduction using BlueJ, © David J. Barnes, Michael Kölling</a:t>
            </a:r>
          </a:p>
        </p:txBody>
      </p:sp>
      <p:sp>
        <p:nvSpPr>
          <p:cNvPr id="6" name="Slide Number Placeholder 5">
            <a:extLst>
              <a:ext uri="{FF2B5EF4-FFF2-40B4-BE49-F238E27FC236}">
                <a16:creationId xmlns:a16="http://schemas.microsoft.com/office/drawing/2014/main" id="{5705AECE-EEB1-6C02-4D85-42F1923CEC31}"/>
              </a:ext>
            </a:extLst>
          </p:cNvPr>
          <p:cNvSpPr>
            <a:spLocks noGrp="1"/>
          </p:cNvSpPr>
          <p:nvPr>
            <p:ph type="sldNum" sz="quarter" idx="12"/>
          </p:nvPr>
        </p:nvSpPr>
        <p:spPr/>
        <p:txBody>
          <a:bodyPr/>
          <a:lstStyle>
            <a:lvl1pPr>
              <a:defRPr/>
            </a:lvl1pPr>
          </a:lstStyle>
          <a:p>
            <a:pPr>
              <a:defRPr/>
            </a:pPr>
            <a:fld id="{DC9609C9-2D69-B44E-B2E4-5C609B28C1AC}" type="slidenum">
              <a:rPr lang="en-US" altLang="en-US"/>
              <a:pPr>
                <a:defRPr/>
              </a:pPr>
              <a:t>‹#›</a:t>
            </a:fld>
            <a:endParaRPr lang="en-US" altLang="en-US"/>
          </a:p>
        </p:txBody>
      </p:sp>
    </p:spTree>
    <p:extLst>
      <p:ext uri="{BB962C8B-B14F-4D97-AF65-F5344CB8AC3E}">
        <p14:creationId xmlns:p14="http://schemas.microsoft.com/office/powerpoint/2010/main" val="144695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2543C13-47AE-6330-B1AB-2B2F9DBBFF26}"/>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8B4F2F4-404E-1AFB-F428-7654D4E16B83}"/>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80CD623-5FA2-CA24-7121-1249D28E9548}"/>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60B6C852-8C99-1B4F-8EEC-A97C6CD88510}" type="datetime1">
              <a:rPr lang="en-US" altLang="en-US"/>
              <a:pPr>
                <a:defRPr/>
              </a:pPr>
              <a:t>4/19/26</a:t>
            </a:fld>
            <a:endParaRPr lang="en-US" altLang="en-US"/>
          </a:p>
        </p:txBody>
      </p:sp>
      <p:sp>
        <p:nvSpPr>
          <p:cNvPr id="5" name="Footer Placeholder 4">
            <a:extLst>
              <a:ext uri="{FF2B5EF4-FFF2-40B4-BE49-F238E27FC236}">
                <a16:creationId xmlns:a16="http://schemas.microsoft.com/office/drawing/2014/main" id="{7E4B2F62-E496-2B33-BBBA-CEDF7E019493}"/>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5CB017A-39FF-D9CA-2522-B93344316B64}"/>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492351B8-484F-0B41-94BF-F374D14E914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174" r:id="rId1"/>
    <p:sldLayoutId id="2147484177" r:id="rId2"/>
    <p:sldLayoutId id="2147484175" r:id="rId3"/>
    <p:sldLayoutId id="2147484178" r:id="rId4"/>
    <p:sldLayoutId id="2147484179" r:id="rId5"/>
    <p:sldLayoutId id="2147484180" r:id="rId6"/>
    <p:sldLayoutId id="2147484176" r:id="rId7"/>
    <p:sldLayoutId id="2147484181" r:id="rId8"/>
    <p:sldLayoutId id="2147484182" r:id="rId9"/>
    <p:sldLayoutId id="2147484183" r:id="rId10"/>
    <p:sldLayoutId id="2147484184" r:id="rId11"/>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setu.i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223EFD3F-0A0D-EF97-917E-8452B579DA49}"/>
              </a:ext>
            </a:extLst>
          </p:cNvPr>
          <p:cNvSpPr>
            <a:spLocks noGrp="1"/>
          </p:cNvSpPr>
          <p:nvPr>
            <p:ph type="ctrTitle"/>
          </p:nvPr>
        </p:nvSpPr>
        <p:spPr>
          <a:xfrm>
            <a:off x="1774825" y="914400"/>
            <a:ext cx="8172450" cy="1470025"/>
          </a:xfrm>
        </p:spPr>
        <p:txBody>
          <a:bodyPr/>
          <a:lstStyle/>
          <a:p>
            <a:pPr algn="l" eaLnBrk="1" hangingPunct="1"/>
            <a:r>
              <a:rPr lang="en-IE" altLang="en-US" sz="4000"/>
              <a:t>Sorting and Searching</a:t>
            </a:r>
          </a:p>
        </p:txBody>
      </p:sp>
      <p:sp>
        <p:nvSpPr>
          <p:cNvPr id="3" name="Subtitle 2">
            <a:extLst>
              <a:ext uri="{FF2B5EF4-FFF2-40B4-BE49-F238E27FC236}">
                <a16:creationId xmlns:a16="http://schemas.microsoft.com/office/drawing/2014/main" id="{E27CA4BD-CDD7-6CA1-B9C3-C778B1870A30}"/>
              </a:ext>
            </a:extLst>
          </p:cNvPr>
          <p:cNvSpPr>
            <a:spLocks noGrp="1"/>
          </p:cNvSpPr>
          <p:nvPr>
            <p:ph type="subTitle" idx="1"/>
          </p:nvPr>
        </p:nvSpPr>
        <p:spPr>
          <a:xfrm>
            <a:off x="1638300" y="3810000"/>
            <a:ext cx="1866900" cy="1066800"/>
          </a:xfrm>
        </p:spPr>
        <p:txBody>
          <a:bodyPr rtlCol="0">
            <a:normAutofit/>
          </a:bodyPr>
          <a:lstStyle/>
          <a:p>
            <a:pPr algn="r" eaLnBrk="1" fontAlgn="auto" hangingPunct="1">
              <a:lnSpc>
                <a:spcPct val="110000"/>
              </a:lnSpc>
              <a:spcBef>
                <a:spcPts val="0"/>
              </a:spcBef>
              <a:spcAft>
                <a:spcPts val="0"/>
              </a:spcAft>
              <a:defRPr/>
            </a:pPr>
            <a:r>
              <a:rPr lang="en-IE" sz="2400" dirty="0"/>
              <a:t>Produced </a:t>
            </a:r>
          </a:p>
          <a:p>
            <a:pPr algn="r" eaLnBrk="1" fontAlgn="auto" hangingPunct="1">
              <a:lnSpc>
                <a:spcPct val="110000"/>
              </a:lnSpc>
              <a:spcBef>
                <a:spcPts val="0"/>
              </a:spcBef>
              <a:spcAft>
                <a:spcPts val="0"/>
              </a:spcAft>
              <a:defRPr/>
            </a:pPr>
            <a:r>
              <a:rPr lang="en-IE" sz="2400" dirty="0"/>
              <a:t>by:</a:t>
            </a:r>
          </a:p>
        </p:txBody>
      </p:sp>
      <p:cxnSp>
        <p:nvCxnSpPr>
          <p:cNvPr id="6" name="Straight Connector 5">
            <a:extLst>
              <a:ext uri="{FF2B5EF4-FFF2-40B4-BE49-F238E27FC236}">
                <a16:creationId xmlns:a16="http://schemas.microsoft.com/office/drawing/2014/main" id="{D6284C89-2E29-3737-16F5-0BDA6F7FF851}"/>
              </a:ext>
            </a:extLst>
          </p:cNvPr>
          <p:cNvCxnSpPr>
            <a:cxnSpLocks/>
          </p:cNvCxnSpPr>
          <p:nvPr/>
        </p:nvCxnSpPr>
        <p:spPr>
          <a:xfrm>
            <a:off x="1774825" y="3124200"/>
            <a:ext cx="80962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52BEAAF-98E2-8377-84F9-1AC0BDD31E29}"/>
              </a:ext>
            </a:extLst>
          </p:cNvPr>
          <p:cNvSpPr txBox="1"/>
          <p:nvPr/>
        </p:nvSpPr>
        <p:spPr>
          <a:xfrm>
            <a:off x="3810000" y="3817938"/>
            <a:ext cx="2971800" cy="1200150"/>
          </a:xfrm>
          <a:prstGeom prst="rect">
            <a:avLst/>
          </a:prstGeom>
          <a:noFill/>
        </p:spPr>
        <p:txBody>
          <a:bodyPr>
            <a:spAutoFit/>
          </a:bodyPr>
          <a:lstStyle/>
          <a:p>
            <a:pPr eaLnBrk="1" fontAlgn="auto" hangingPunct="1">
              <a:spcBef>
                <a:spcPts val="0"/>
              </a:spcBef>
              <a:spcAft>
                <a:spcPts val="0"/>
              </a:spcAft>
              <a:defRPr/>
            </a:pPr>
            <a:r>
              <a:rPr lang="en-IE" sz="2400" dirty="0" err="1">
                <a:solidFill>
                  <a:schemeClr val="tx1">
                    <a:lumMod val="75000"/>
                    <a:lumOff val="25000"/>
                  </a:schemeClr>
                </a:solidFill>
                <a:latin typeface="+mn-lt"/>
              </a:rPr>
              <a:t>Dr.</a:t>
            </a:r>
            <a:r>
              <a:rPr lang="en-IE" sz="2400" dirty="0">
                <a:solidFill>
                  <a:schemeClr val="tx1">
                    <a:lumMod val="75000"/>
                    <a:lumOff val="25000"/>
                  </a:schemeClr>
                </a:solidFill>
                <a:latin typeface="+mn-lt"/>
              </a:rPr>
              <a:t> </a:t>
            </a:r>
            <a:r>
              <a:rPr lang="en-IE" sz="2400" dirty="0" err="1">
                <a:solidFill>
                  <a:schemeClr val="tx1">
                    <a:lumMod val="75000"/>
                    <a:lumOff val="25000"/>
                  </a:schemeClr>
                </a:solidFill>
                <a:latin typeface="+mn-lt"/>
              </a:rPr>
              <a:t>Siobhán</a:t>
            </a:r>
            <a:r>
              <a:rPr lang="en-IE" sz="2400" dirty="0">
                <a:solidFill>
                  <a:schemeClr val="tx1">
                    <a:lumMod val="75000"/>
                    <a:lumOff val="25000"/>
                  </a:schemeClr>
                </a:solidFill>
                <a:latin typeface="+mn-lt"/>
              </a:rPr>
              <a:t> Drohan</a:t>
            </a:r>
          </a:p>
          <a:p>
            <a:pPr eaLnBrk="1" fontAlgn="auto" hangingPunct="1">
              <a:spcBef>
                <a:spcPts val="0"/>
              </a:spcBef>
              <a:spcAft>
                <a:spcPts val="0"/>
              </a:spcAft>
              <a:defRPr/>
            </a:pPr>
            <a:r>
              <a:rPr lang="en-IE" sz="2400" dirty="0">
                <a:solidFill>
                  <a:schemeClr val="tx1">
                    <a:lumMod val="75000"/>
                    <a:lumOff val="25000"/>
                  </a:schemeClr>
                </a:solidFill>
                <a:latin typeface="+mn-lt"/>
              </a:rPr>
              <a:t>Ms. Mairead Meagher</a:t>
            </a:r>
          </a:p>
          <a:p>
            <a:pPr eaLnBrk="1" fontAlgn="auto" hangingPunct="1">
              <a:spcBef>
                <a:spcPts val="0"/>
              </a:spcBef>
              <a:spcAft>
                <a:spcPts val="0"/>
              </a:spcAft>
              <a:defRPr/>
            </a:pPr>
            <a:r>
              <a:rPr lang="en-IE" sz="2400" dirty="0">
                <a:solidFill>
                  <a:schemeClr val="tx1">
                    <a:lumMod val="75000"/>
                    <a:lumOff val="25000"/>
                  </a:schemeClr>
                </a:solidFill>
                <a:latin typeface="+mn-lt"/>
              </a:rPr>
              <a:t>Ms. Siobhan Roche</a:t>
            </a:r>
          </a:p>
        </p:txBody>
      </p:sp>
      <p:sp>
        <p:nvSpPr>
          <p:cNvPr id="12" name="Title 1">
            <a:extLst>
              <a:ext uri="{FF2B5EF4-FFF2-40B4-BE49-F238E27FC236}">
                <a16:creationId xmlns:a16="http://schemas.microsoft.com/office/drawing/2014/main" id="{C6EB3C4E-CA76-5492-8764-F0AFB1EBB8AC}"/>
              </a:ext>
            </a:extLst>
          </p:cNvPr>
          <p:cNvSpPr txBox="1">
            <a:spLocks/>
          </p:cNvSpPr>
          <p:nvPr/>
        </p:nvSpPr>
        <p:spPr>
          <a:xfrm>
            <a:off x="1774825" y="2133600"/>
            <a:ext cx="8172450" cy="936625"/>
          </a:xfrm>
          <a:prstGeom prst="rect">
            <a:avLst/>
          </a:prstGeom>
        </p:spPr>
        <p:txBody>
          <a:bodyPr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Aft>
                <a:spcPts val="0"/>
              </a:spcAft>
              <a:defRPr/>
            </a:pPr>
            <a:r>
              <a:rPr lang="en-IE" sz="3200" dirty="0">
                <a:solidFill>
                  <a:schemeClr val="tx1">
                    <a:lumMod val="50000"/>
                    <a:lumOff val="50000"/>
                  </a:schemeClr>
                </a:solidFill>
              </a:rPr>
              <a:t>ShopV8.0 - Basic sorting and searching algorithms</a:t>
            </a:r>
          </a:p>
        </p:txBody>
      </p:sp>
      <p:sp>
        <p:nvSpPr>
          <p:cNvPr id="12295" name="TextBox 1">
            <a:extLst>
              <a:ext uri="{FF2B5EF4-FFF2-40B4-BE49-F238E27FC236}">
                <a16:creationId xmlns:a16="http://schemas.microsoft.com/office/drawing/2014/main" id="{1CD749E6-B54F-3F6F-7A76-92B4F7A43096}"/>
              </a:ext>
            </a:extLst>
          </p:cNvPr>
          <p:cNvSpPr txBox="1">
            <a:spLocks noChangeArrowheads="1"/>
          </p:cNvSpPr>
          <p:nvPr/>
        </p:nvSpPr>
        <p:spPr bwMode="auto">
          <a:xfrm>
            <a:off x="7337425" y="5849938"/>
            <a:ext cx="4071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E" altLang="en-US" sz="1600"/>
              <a:t>Department of Computing and Mathematics</a:t>
            </a:r>
          </a:p>
          <a:p>
            <a:pPr>
              <a:spcBef>
                <a:spcPct val="0"/>
              </a:spcBef>
              <a:buFontTx/>
              <a:buNone/>
            </a:pPr>
            <a:r>
              <a:rPr lang="en-IE" altLang="en-US" sz="1600">
                <a:hlinkClick r:id="rId2"/>
              </a:rPr>
              <a:t>http://www.setu.ie/</a:t>
            </a:r>
            <a:r>
              <a:rPr lang="en-IE" altLang="en-US" sz="1600"/>
              <a:t> </a:t>
            </a:r>
          </a:p>
        </p:txBody>
      </p:sp>
      <p:pic>
        <p:nvPicPr>
          <p:cNvPr id="12296" name="Picture 3" descr="Text&#10;&#10;Description automatically generated">
            <a:extLst>
              <a:ext uri="{FF2B5EF4-FFF2-40B4-BE49-F238E27FC236}">
                <a16:creationId xmlns:a16="http://schemas.microsoft.com/office/drawing/2014/main" id="{E5AA8B30-9279-F682-6433-8469F7CF7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75" y="5500688"/>
            <a:ext cx="2286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2F6C9920-2BBC-3689-E4E4-CE3482A83516}"/>
              </a:ext>
            </a:extLst>
          </p:cNvPr>
          <p:cNvSpPr>
            <a:spLocks noGrp="1" noChangeArrowheads="1"/>
          </p:cNvSpPr>
          <p:nvPr>
            <p:ph type="title"/>
          </p:nvPr>
        </p:nvSpPr>
        <p:spPr/>
        <p:txBody>
          <a:bodyPr rIns="81279" rtlCol="0">
            <a:noAutofit/>
          </a:bodyPr>
          <a:lstStyle/>
          <a:p>
            <a:pPr eaLnBrk="1" fontAlgn="auto" hangingPunct="1">
              <a:spcAft>
                <a:spcPts val="0"/>
              </a:spcAft>
              <a:defRPr/>
            </a:pPr>
            <a:r>
              <a:rPr lang="en-US" sz="3200" dirty="0">
                <a:latin typeface="Trebuchet MS" charset="0"/>
              </a:rPr>
              <a:t>Brief overview of Searching and Sorting</a:t>
            </a:r>
          </a:p>
        </p:txBody>
      </p:sp>
      <p:pic>
        <p:nvPicPr>
          <p:cNvPr id="13315" name="Rectangle 3">
            <a:extLst>
              <a:ext uri="{FF2B5EF4-FFF2-40B4-BE49-F238E27FC236}">
                <a16:creationId xmlns:a16="http://schemas.microsoft.com/office/drawing/2014/main" id="{C5D3D046-29FA-523D-2218-587BDD2DC456}"/>
              </a:ext>
            </a:extLst>
          </p:cNvPr>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09600" y="1841500"/>
            <a:ext cx="9296400" cy="4610100"/>
          </a:xfrm>
        </p:spPr>
      </p:pic>
    </p:spTree>
  </p:cSld>
  <p:clrMapOvr>
    <a:overrideClrMapping bg1="lt1" tx1="dk1" bg2="lt2" tx2="dk2" accent1="accent1" accent2="accent2" accent3="accent3" accent4="accent4" accent5="accent5" accent6="accent6" hlink="hlink" folHlink="folHlink"/>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Image result for searching">
            <a:extLst>
              <a:ext uri="{FF2B5EF4-FFF2-40B4-BE49-F238E27FC236}">
                <a16:creationId xmlns:a16="http://schemas.microsoft.com/office/drawing/2014/main" id="{E445CE0D-0CB0-5D43-266A-B0889B8F7C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538" y="1227138"/>
            <a:ext cx="4032250" cy="270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a:extLst>
              <a:ext uri="{FF2B5EF4-FFF2-40B4-BE49-F238E27FC236}">
                <a16:creationId xmlns:a16="http://schemas.microsoft.com/office/drawing/2014/main" id="{1EE40EDD-4B28-9B2F-5FE5-9599788A8859}"/>
              </a:ext>
            </a:extLst>
          </p:cNvPr>
          <p:cNvSpPr>
            <a:spLocks noGrp="1" noChangeArrowheads="1"/>
          </p:cNvSpPr>
          <p:nvPr>
            <p:ph type="ctrTitle"/>
          </p:nvPr>
        </p:nvSpPr>
        <p:spPr>
          <a:xfrm>
            <a:off x="2171700" y="3933825"/>
            <a:ext cx="7848600" cy="1927225"/>
          </a:xfrm>
        </p:spPr>
        <p:txBody>
          <a:bodyPr rtlCol="0">
            <a:normAutofit fontScale="90000"/>
          </a:bodyPr>
          <a:lstStyle/>
          <a:p>
            <a:pPr eaLnBrk="1" fontAlgn="auto" hangingPunct="1">
              <a:spcAft>
                <a:spcPts val="0"/>
              </a:spcAft>
              <a:defRPr/>
            </a:pPr>
            <a:br>
              <a:rPr lang="en-US" altLang="en-US" sz="4900" dirty="0">
                <a:latin typeface="Trebuchet MS" pitchFamily="34" charset="0"/>
              </a:rPr>
            </a:br>
            <a:r>
              <a:rPr lang="en-US" altLang="en-US" sz="4900" dirty="0">
                <a:latin typeface="Trebuchet MS" pitchFamily="34" charset="0"/>
              </a:rPr>
              <a:t>Linear searching</a:t>
            </a:r>
            <a:br>
              <a:rPr lang="en-US" altLang="en-US" sz="4900" dirty="0">
                <a:latin typeface="Trebuchet MS" pitchFamily="34" charset="0"/>
              </a:rPr>
            </a:br>
            <a:endParaRPr lang="en-US" altLang="en-US" sz="4900" dirty="0">
              <a:latin typeface="Trebuchet MS"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5DDC856F-6069-3418-A374-BC1ADDB94BC5}"/>
              </a:ext>
            </a:extLst>
          </p:cNvPr>
          <p:cNvSpPr>
            <a:spLocks noGrp="1"/>
          </p:cNvSpPr>
          <p:nvPr>
            <p:ph type="title"/>
          </p:nvPr>
        </p:nvSpPr>
        <p:spPr/>
        <p:txBody>
          <a:bodyPr rtlCol="0">
            <a:normAutofit/>
          </a:bodyPr>
          <a:lstStyle/>
          <a:p>
            <a:pPr eaLnBrk="1" fontAlgn="auto" hangingPunct="1">
              <a:spcAft>
                <a:spcPts val="0"/>
              </a:spcAft>
              <a:defRPr/>
            </a:pPr>
            <a:r>
              <a:rPr lang="en-US" altLang="en-US"/>
              <a:t>Searching</a:t>
            </a:r>
          </a:p>
        </p:txBody>
      </p:sp>
      <p:sp>
        <p:nvSpPr>
          <p:cNvPr id="16387" name="Content Placeholder 2">
            <a:extLst>
              <a:ext uri="{FF2B5EF4-FFF2-40B4-BE49-F238E27FC236}">
                <a16:creationId xmlns:a16="http://schemas.microsoft.com/office/drawing/2014/main" id="{908C0138-A1EE-0E09-5B29-B7A5A1251AAD}"/>
              </a:ext>
            </a:extLst>
          </p:cNvPr>
          <p:cNvSpPr>
            <a:spLocks noGrp="1"/>
          </p:cNvSpPr>
          <p:nvPr>
            <p:ph idx="1"/>
          </p:nvPr>
        </p:nvSpPr>
        <p:spPr/>
        <p:txBody>
          <a:bodyPr/>
          <a:lstStyle/>
          <a:p>
            <a:pPr eaLnBrk="1" hangingPunct="1"/>
            <a:r>
              <a:rPr lang="en-US" altLang="en-US" sz="2800">
                <a:latin typeface="Trebuchet MS" panose="020B0703020202090204" pitchFamily="34" charset="0"/>
              </a:rPr>
              <a:t>Before we decide on how to search through a list we need to know whether or not the list is sorted.</a:t>
            </a:r>
          </a:p>
          <a:p>
            <a:pPr eaLnBrk="1" hangingPunct="1"/>
            <a:endParaRPr lang="en-US" altLang="en-US" sz="2800">
              <a:latin typeface="Trebuchet MS" panose="020B0703020202090204" pitchFamily="34" charset="0"/>
            </a:endParaRPr>
          </a:p>
          <a:p>
            <a:pPr lvl="1" eaLnBrk="1" hangingPunct="1"/>
            <a:r>
              <a:rPr lang="en-US" altLang="en-US">
                <a:solidFill>
                  <a:srgbClr val="0070C0"/>
                </a:solidFill>
                <a:latin typeface="Trebuchet MS" panose="020B0703020202090204" pitchFamily="34" charset="0"/>
              </a:rPr>
              <a:t>Not Sorted </a:t>
            </a:r>
            <a:r>
              <a:rPr lang="en-US" altLang="en-US">
                <a:solidFill>
                  <a:srgbClr val="0070C0"/>
                </a:solidFill>
                <a:latin typeface="Trebuchet MS" panose="020B0703020202090204" pitchFamily="34" charset="0"/>
                <a:sym typeface="Wingdings" pitchFamily="2" charset="2"/>
              </a:rPr>
              <a:t></a:t>
            </a:r>
            <a:r>
              <a:rPr lang="en-US" altLang="en-US">
                <a:solidFill>
                  <a:srgbClr val="0070C0"/>
                </a:solidFill>
                <a:latin typeface="Trebuchet MS" panose="020B0703020202090204" pitchFamily="34" charset="0"/>
              </a:rPr>
              <a:t> Linear Search</a:t>
            </a:r>
          </a:p>
          <a:p>
            <a:pPr lvl="1" eaLnBrk="1" hangingPunct="1"/>
            <a:r>
              <a:rPr lang="en-US" altLang="en-US">
                <a:latin typeface="Trebuchet MS" panose="020B0703020202090204" pitchFamily="34" charset="0"/>
              </a:rPr>
              <a:t>Sorted </a:t>
            </a:r>
            <a:r>
              <a:rPr lang="en-US" altLang="en-US">
                <a:latin typeface="Trebuchet MS" panose="020B0703020202090204" pitchFamily="34" charset="0"/>
                <a:sym typeface="Wingdings" pitchFamily="2" charset="2"/>
              </a:rPr>
              <a:t></a:t>
            </a:r>
            <a:r>
              <a:rPr lang="en-US" altLang="en-US">
                <a:latin typeface="Trebuchet MS" panose="020B0703020202090204" pitchFamily="34" charset="0"/>
              </a:rPr>
              <a:t> Binary Search</a:t>
            </a:r>
          </a:p>
        </p:txBody>
      </p:sp>
      <p:sp>
        <p:nvSpPr>
          <p:cNvPr id="16388" name="TextBox 3">
            <a:extLst>
              <a:ext uri="{FF2B5EF4-FFF2-40B4-BE49-F238E27FC236}">
                <a16:creationId xmlns:a16="http://schemas.microsoft.com/office/drawing/2014/main" id="{991A99AA-9FF3-706B-E1B4-09D86EE269BA}"/>
              </a:ext>
            </a:extLst>
          </p:cNvPr>
          <p:cNvSpPr txBox="1">
            <a:spLocks noChangeArrowheads="1"/>
          </p:cNvSpPr>
          <p:nvPr/>
        </p:nvSpPr>
        <p:spPr bwMode="auto">
          <a:xfrm>
            <a:off x="4440238" y="2276475"/>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b="1">
              <a:latin typeface="Times" charset="0"/>
              <a:ea typeface="MS PGothic" panose="020B0600070205080204"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AB648-EB20-BE98-20AA-3D21C4063AEC}"/>
              </a:ext>
            </a:extLst>
          </p:cNvPr>
          <p:cNvSpPr>
            <a:spLocks noGrp="1"/>
          </p:cNvSpPr>
          <p:nvPr>
            <p:ph type="title"/>
          </p:nvPr>
        </p:nvSpPr>
        <p:spPr/>
        <p:txBody>
          <a:bodyPr/>
          <a:lstStyle/>
          <a:p>
            <a:pPr eaLnBrk="1" hangingPunct="1">
              <a:defRPr/>
            </a:pPr>
            <a:r>
              <a:rPr lang="en-IE" dirty="0"/>
              <a:t>Linear Search</a:t>
            </a:r>
          </a:p>
        </p:txBody>
      </p:sp>
      <p:pic>
        <p:nvPicPr>
          <p:cNvPr id="17411" name="Picture 2" descr="Image result for linear search">
            <a:extLst>
              <a:ext uri="{FF2B5EF4-FFF2-40B4-BE49-F238E27FC236}">
                <a16:creationId xmlns:a16="http://schemas.microsoft.com/office/drawing/2014/main" id="{C447DAC3-2AB1-631F-B60A-DA8FED84F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0" y="2420938"/>
            <a:ext cx="7112000" cy="259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C7372-DC51-C7F7-D614-529445DAF972}"/>
              </a:ext>
            </a:extLst>
          </p:cNvPr>
          <p:cNvSpPr>
            <a:spLocks noGrp="1"/>
          </p:cNvSpPr>
          <p:nvPr>
            <p:ph type="title"/>
          </p:nvPr>
        </p:nvSpPr>
        <p:spPr/>
        <p:txBody>
          <a:bodyPr/>
          <a:lstStyle/>
          <a:p>
            <a:pPr eaLnBrk="1" hangingPunct="1">
              <a:defRPr/>
            </a:pPr>
            <a:r>
              <a:rPr lang="en-IE" dirty="0"/>
              <a:t>ShopV8.0 – Linear Search</a:t>
            </a:r>
          </a:p>
        </p:txBody>
      </p:sp>
      <p:pic>
        <p:nvPicPr>
          <p:cNvPr id="21506" name="Picture 4">
            <a:extLst>
              <a:ext uri="{FF2B5EF4-FFF2-40B4-BE49-F238E27FC236}">
                <a16:creationId xmlns:a16="http://schemas.microsoft.com/office/drawing/2014/main" id="{75F67F62-51CF-5C8E-C06F-8453B83BD4B9}"/>
              </a:ext>
            </a:extLst>
          </p:cNvPr>
          <p:cNvPicPr>
            <a:picLocks noChangeAspect="1" noChangeArrowheads="1"/>
          </p:cNvPicPr>
          <p:nvPr/>
        </p:nvPicPr>
        <p:blipFill>
          <a:blip r:embed="rId2"/>
          <a:srcRect/>
          <a:stretch>
            <a:fillRect/>
          </a:stretch>
        </p:blipFill>
        <p:spPr bwMode="auto">
          <a:xfrm>
            <a:off x="2566988" y="2176463"/>
            <a:ext cx="6662737" cy="2517775"/>
          </a:xfrm>
          <a:prstGeom prst="rect">
            <a:avLst/>
          </a:prstGeom>
          <a:noFill/>
          <a:ln>
            <a:noFill/>
          </a:ln>
          <a:effectLst>
            <a:outerShdw blurRad="292100" dist="139700" dir="2700000" algn="tl" rotWithShape="0">
              <a:srgbClr val="333333">
                <a:alpha val="64999"/>
              </a:srgbClr>
            </a:outerShdw>
          </a:effectLst>
        </p:spPr>
      </p:pic>
      <p:sp>
        <p:nvSpPr>
          <p:cNvPr id="5" name="Rectangle: Rounded Corners 5">
            <a:extLst>
              <a:ext uri="{FF2B5EF4-FFF2-40B4-BE49-F238E27FC236}">
                <a16:creationId xmlns:a16="http://schemas.microsoft.com/office/drawing/2014/main" id="{BF9AC261-7139-F034-8933-4E4EE9B15823}"/>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search the </a:t>
            </a:r>
            <a:r>
              <a:rPr lang="en-IE" sz="2400" b="1" dirty="0"/>
              <a:t>products</a:t>
            </a:r>
            <a:r>
              <a:rPr lang="en-IE" sz="2400" dirty="0"/>
              <a:t> </a:t>
            </a:r>
            <a:r>
              <a:rPr lang="en-IE" sz="2400" dirty="0" err="1"/>
              <a:t>ArrayList</a:t>
            </a:r>
            <a:r>
              <a:rPr lang="en-IE" sz="2400" dirty="0"/>
              <a:t> and return all the individual products whose product name matches, or partially matches the search word entered by the user.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C5AD81B-3427-B227-A9B5-575423A3A6FE}"/>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search the </a:t>
            </a:r>
            <a:r>
              <a:rPr lang="en-IE" sz="2400" b="1" dirty="0"/>
              <a:t>products</a:t>
            </a:r>
            <a:r>
              <a:rPr lang="en-IE" sz="2400" dirty="0"/>
              <a:t> </a:t>
            </a:r>
            <a:r>
              <a:rPr lang="en-IE" sz="2400" dirty="0" err="1"/>
              <a:t>ArrayList</a:t>
            </a:r>
            <a:r>
              <a:rPr lang="en-IE" sz="2400" dirty="0"/>
              <a:t> and return all the individual products whose product name matches, or partially matches the search word entered by the user.</a:t>
            </a:r>
          </a:p>
        </p:txBody>
      </p:sp>
      <p:sp>
        <p:nvSpPr>
          <p:cNvPr id="7" name="Rectangle 6">
            <a:extLst>
              <a:ext uri="{FF2B5EF4-FFF2-40B4-BE49-F238E27FC236}">
                <a16:creationId xmlns:a16="http://schemas.microsoft.com/office/drawing/2014/main" id="{2FB4E07B-31BA-C251-9F96-DBF9BFA36F77}"/>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pic>
        <p:nvPicPr>
          <p:cNvPr id="19460" name="Rectangle 1">
            <a:extLst>
              <a:ext uri="{FF2B5EF4-FFF2-40B4-BE49-F238E27FC236}">
                <a16:creationId xmlns:a16="http://schemas.microsoft.com/office/drawing/2014/main" id="{A5CA8762-DEA9-0914-B167-CECB7301354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100" y="1308100"/>
            <a:ext cx="70231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9A3CA0B-A627-7062-12E9-B835DAD7EC36}"/>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search the </a:t>
            </a:r>
            <a:r>
              <a:rPr lang="en-IE" sz="2400" b="1" dirty="0"/>
              <a:t>products</a:t>
            </a:r>
            <a:r>
              <a:rPr lang="en-IE" sz="2400" dirty="0"/>
              <a:t> </a:t>
            </a:r>
            <a:r>
              <a:rPr lang="en-IE" sz="2400" dirty="0" err="1"/>
              <a:t>ArrayList</a:t>
            </a:r>
            <a:r>
              <a:rPr lang="en-IE" sz="2400" dirty="0"/>
              <a:t> and return all the individual products whose product name matches, or partially matches the search word entered by the user.</a:t>
            </a:r>
          </a:p>
        </p:txBody>
      </p:sp>
      <p:pic>
        <p:nvPicPr>
          <p:cNvPr id="20483" name="Rectangle 1">
            <a:extLst>
              <a:ext uri="{FF2B5EF4-FFF2-40B4-BE49-F238E27FC236}">
                <a16:creationId xmlns:a16="http://schemas.microsoft.com/office/drawing/2014/main" id="{059BE5FB-BD29-4DC8-F121-31FD02CA4DA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100" y="533400"/>
            <a:ext cx="7023100"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1">
            <a:extLst>
              <a:ext uri="{FF2B5EF4-FFF2-40B4-BE49-F238E27FC236}">
                <a16:creationId xmlns:a16="http://schemas.microsoft.com/office/drawing/2014/main" id="{4C75A484-9AB5-DCDC-382F-AEF9661CC2DC}"/>
              </a:ext>
            </a:extLst>
          </p:cNvPr>
          <p:cNvSpPr>
            <a:spLocks noChangeArrowheads="1"/>
          </p:cNvSpPr>
          <p:nvPr/>
        </p:nvSpPr>
        <p:spPr bwMode="auto">
          <a:xfrm>
            <a:off x="1524000" y="44450"/>
            <a:ext cx="184150" cy="368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 name="Rectangle 6">
            <a:extLst>
              <a:ext uri="{FF2B5EF4-FFF2-40B4-BE49-F238E27FC236}">
                <a16:creationId xmlns:a16="http://schemas.microsoft.com/office/drawing/2014/main" id="{4B4CE58C-92B1-1DB3-34B1-280A0846E03A}"/>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0CA466B-E364-9B3F-D824-86FA209EFB2D}"/>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search the </a:t>
            </a:r>
            <a:r>
              <a:rPr lang="en-IE" sz="2400" b="1" dirty="0"/>
              <a:t>products</a:t>
            </a:r>
            <a:r>
              <a:rPr lang="en-IE" sz="2400" dirty="0"/>
              <a:t> </a:t>
            </a:r>
            <a:r>
              <a:rPr lang="en-IE" sz="2400" dirty="0" err="1"/>
              <a:t>ArrayList</a:t>
            </a:r>
            <a:r>
              <a:rPr lang="en-IE" sz="2400" dirty="0"/>
              <a:t> and return all the individual products whose product name matches, or partially matches the search word entered by the user.</a:t>
            </a:r>
          </a:p>
        </p:txBody>
      </p:sp>
      <p:pic>
        <p:nvPicPr>
          <p:cNvPr id="21507" name="Rectangle 1">
            <a:extLst>
              <a:ext uri="{FF2B5EF4-FFF2-40B4-BE49-F238E27FC236}">
                <a16:creationId xmlns:a16="http://schemas.microsoft.com/office/drawing/2014/main" id="{585622F6-CF0A-1146-C428-65CD6D555A2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100" y="533400"/>
            <a:ext cx="7645400"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1">
            <a:extLst>
              <a:ext uri="{FF2B5EF4-FFF2-40B4-BE49-F238E27FC236}">
                <a16:creationId xmlns:a16="http://schemas.microsoft.com/office/drawing/2014/main" id="{2BCE046C-8D3A-A71E-153D-75B5B82E5080}"/>
              </a:ext>
            </a:extLst>
          </p:cNvPr>
          <p:cNvSpPr>
            <a:spLocks noChangeArrowheads="1"/>
          </p:cNvSpPr>
          <p:nvPr/>
        </p:nvSpPr>
        <p:spPr bwMode="auto">
          <a:xfrm>
            <a:off x="1524000" y="44450"/>
            <a:ext cx="184150" cy="368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 name="Rectangle 6">
            <a:extLst>
              <a:ext uri="{FF2B5EF4-FFF2-40B4-BE49-F238E27FC236}">
                <a16:creationId xmlns:a16="http://schemas.microsoft.com/office/drawing/2014/main" id="{4F9AC4BA-EC30-9D0B-537C-DDBA8B11E654}"/>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sp>
        <p:nvSpPr>
          <p:cNvPr id="21510" name="Rectangle 1">
            <a:extLst>
              <a:ext uri="{FF2B5EF4-FFF2-40B4-BE49-F238E27FC236}">
                <a16:creationId xmlns:a16="http://schemas.microsoft.com/office/drawing/2014/main" id="{50921155-BDBA-AB2B-89C4-6CB18793BA6D}"/>
              </a:ext>
            </a:extLst>
          </p:cNvPr>
          <p:cNvSpPr>
            <a:spLocks noChangeArrowheads="1"/>
          </p:cNvSpPr>
          <p:nvPr/>
        </p:nvSpPr>
        <p:spPr bwMode="auto">
          <a:xfrm>
            <a:off x="1524000" y="44450"/>
            <a:ext cx="184150" cy="368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3C5330D-76AC-0C3B-DC1E-408876FC3A2B}"/>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search the </a:t>
            </a:r>
            <a:r>
              <a:rPr lang="en-IE" sz="2400" b="1" dirty="0"/>
              <a:t>products</a:t>
            </a:r>
            <a:r>
              <a:rPr lang="en-IE" sz="2400" dirty="0"/>
              <a:t> </a:t>
            </a:r>
            <a:r>
              <a:rPr lang="en-IE" sz="2400" dirty="0" err="1"/>
              <a:t>ArrayList</a:t>
            </a:r>
            <a:r>
              <a:rPr lang="en-IE" sz="2400" dirty="0"/>
              <a:t> and return all the individual products whose product name matches, or partially matches the search word entered by the user.</a:t>
            </a:r>
          </a:p>
        </p:txBody>
      </p:sp>
      <p:pic>
        <p:nvPicPr>
          <p:cNvPr id="22531" name="Rectangle 1">
            <a:extLst>
              <a:ext uri="{FF2B5EF4-FFF2-40B4-BE49-F238E27FC236}">
                <a16:creationId xmlns:a16="http://schemas.microsoft.com/office/drawing/2014/main" id="{325253E6-0190-1F60-661D-5752D9277BD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609600"/>
            <a:ext cx="11277600"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1">
            <a:extLst>
              <a:ext uri="{FF2B5EF4-FFF2-40B4-BE49-F238E27FC236}">
                <a16:creationId xmlns:a16="http://schemas.microsoft.com/office/drawing/2014/main" id="{3FE3BA5B-BF8D-E2C1-D2E6-2AE375756550}"/>
              </a:ext>
            </a:extLst>
          </p:cNvPr>
          <p:cNvSpPr>
            <a:spLocks noChangeArrowheads="1"/>
          </p:cNvSpPr>
          <p:nvPr/>
        </p:nvSpPr>
        <p:spPr bwMode="auto">
          <a:xfrm>
            <a:off x="1524000" y="44450"/>
            <a:ext cx="184150" cy="368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 name="Rectangle 6">
            <a:extLst>
              <a:ext uri="{FF2B5EF4-FFF2-40B4-BE49-F238E27FC236}">
                <a16:creationId xmlns:a16="http://schemas.microsoft.com/office/drawing/2014/main" id="{7F1322DE-C8D7-F8B4-3650-78DE7EE06F27}"/>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sp>
        <p:nvSpPr>
          <p:cNvPr id="22534" name="Rectangle 1">
            <a:extLst>
              <a:ext uri="{FF2B5EF4-FFF2-40B4-BE49-F238E27FC236}">
                <a16:creationId xmlns:a16="http://schemas.microsoft.com/office/drawing/2014/main" id="{A958FE9A-EB64-F093-CCD1-A08033DC3CAB}"/>
              </a:ext>
            </a:extLst>
          </p:cNvPr>
          <p:cNvSpPr>
            <a:spLocks noChangeArrowheads="1"/>
          </p:cNvSpPr>
          <p:nvPr/>
        </p:nvSpPr>
        <p:spPr bwMode="auto">
          <a:xfrm>
            <a:off x="1524000" y="44450"/>
            <a:ext cx="184150" cy="368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 name="Arrow: Right 7">
            <a:extLst>
              <a:ext uri="{FF2B5EF4-FFF2-40B4-BE49-F238E27FC236}">
                <a16:creationId xmlns:a16="http://schemas.microsoft.com/office/drawing/2014/main" id="{4C854DAA-37D7-141F-17B8-92113C3BF986}"/>
              </a:ext>
            </a:extLst>
          </p:cNvPr>
          <p:cNvSpPr/>
          <p:nvPr/>
        </p:nvSpPr>
        <p:spPr>
          <a:xfrm rot="5400000">
            <a:off x="10031413" y="1816100"/>
            <a:ext cx="520700" cy="504825"/>
          </a:xfrm>
          <a:prstGeom prst="rightArrow">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9" name="Rectangle: Rounded Corners 3">
            <a:extLst>
              <a:ext uri="{FF2B5EF4-FFF2-40B4-BE49-F238E27FC236}">
                <a16:creationId xmlns:a16="http://schemas.microsoft.com/office/drawing/2014/main" id="{F75AF3D5-1D55-9606-5C90-83306EDEE919}"/>
              </a:ext>
            </a:extLst>
          </p:cNvPr>
          <p:cNvSpPr/>
          <p:nvPr/>
        </p:nvSpPr>
        <p:spPr>
          <a:xfrm>
            <a:off x="5186363" y="1312863"/>
            <a:ext cx="1819275" cy="747712"/>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IE" dirty="0"/>
              <a:t>Catering for case sensitivity</a:t>
            </a:r>
          </a:p>
        </p:txBody>
      </p:sp>
      <p:sp>
        <p:nvSpPr>
          <p:cNvPr id="10" name="Arrow: Right 7">
            <a:extLst>
              <a:ext uri="{FF2B5EF4-FFF2-40B4-BE49-F238E27FC236}">
                <a16:creationId xmlns:a16="http://schemas.microsoft.com/office/drawing/2014/main" id="{8715069F-ED87-BEE0-A5B9-89A92C90BEFC}"/>
              </a:ext>
            </a:extLst>
          </p:cNvPr>
          <p:cNvSpPr/>
          <p:nvPr/>
        </p:nvSpPr>
        <p:spPr>
          <a:xfrm rot="5400000">
            <a:off x="5887244" y="1996281"/>
            <a:ext cx="344488" cy="504825"/>
          </a:xfrm>
          <a:prstGeom prst="rightArrow">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11" name="Rectangle: Rounded Corners 3">
            <a:extLst>
              <a:ext uri="{FF2B5EF4-FFF2-40B4-BE49-F238E27FC236}">
                <a16:creationId xmlns:a16="http://schemas.microsoft.com/office/drawing/2014/main" id="{7A45320E-5F2A-4361-FA4E-3FE5528642B4}"/>
              </a:ext>
            </a:extLst>
          </p:cNvPr>
          <p:cNvSpPr/>
          <p:nvPr/>
        </p:nvSpPr>
        <p:spPr>
          <a:xfrm>
            <a:off x="9382125" y="1073150"/>
            <a:ext cx="1817688" cy="747713"/>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IE" dirty="0"/>
              <a:t>Catering for case sensitivity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479CA88-A652-D01D-A517-C824EF91E9D0}"/>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search the </a:t>
            </a:r>
            <a:r>
              <a:rPr lang="en-IE" sz="2400" b="1" dirty="0"/>
              <a:t>products</a:t>
            </a:r>
            <a:r>
              <a:rPr lang="en-IE" sz="2400" dirty="0"/>
              <a:t> </a:t>
            </a:r>
            <a:r>
              <a:rPr lang="en-IE" sz="2400" dirty="0" err="1"/>
              <a:t>ArrayList</a:t>
            </a:r>
            <a:r>
              <a:rPr lang="en-IE" sz="2400" dirty="0"/>
              <a:t> and return all the individual products whose product name matches, or partially matches the search word entered by the user.</a:t>
            </a:r>
          </a:p>
        </p:txBody>
      </p:sp>
      <p:pic>
        <p:nvPicPr>
          <p:cNvPr id="23555" name="Rectangle 1">
            <a:extLst>
              <a:ext uri="{FF2B5EF4-FFF2-40B4-BE49-F238E27FC236}">
                <a16:creationId xmlns:a16="http://schemas.microsoft.com/office/drawing/2014/main" id="{87ED1F21-D716-54EC-9B69-05DAEEEBD4C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609600"/>
            <a:ext cx="11277600"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1">
            <a:extLst>
              <a:ext uri="{FF2B5EF4-FFF2-40B4-BE49-F238E27FC236}">
                <a16:creationId xmlns:a16="http://schemas.microsoft.com/office/drawing/2014/main" id="{2413EC34-02DD-0E3A-8148-DE6F2B5669AE}"/>
              </a:ext>
            </a:extLst>
          </p:cNvPr>
          <p:cNvSpPr>
            <a:spLocks noChangeArrowheads="1"/>
          </p:cNvSpPr>
          <p:nvPr/>
        </p:nvSpPr>
        <p:spPr bwMode="auto">
          <a:xfrm>
            <a:off x="1524000" y="44450"/>
            <a:ext cx="184150" cy="368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 name="Rectangle 6">
            <a:extLst>
              <a:ext uri="{FF2B5EF4-FFF2-40B4-BE49-F238E27FC236}">
                <a16:creationId xmlns:a16="http://schemas.microsoft.com/office/drawing/2014/main" id="{80F04EF4-0CB0-10FC-F11E-280DC825BBE3}"/>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sp>
        <p:nvSpPr>
          <p:cNvPr id="23558" name="Rectangle 1">
            <a:extLst>
              <a:ext uri="{FF2B5EF4-FFF2-40B4-BE49-F238E27FC236}">
                <a16:creationId xmlns:a16="http://schemas.microsoft.com/office/drawing/2014/main" id="{6C60801C-80C0-71A5-8086-79630B78BB0D}"/>
              </a:ext>
            </a:extLst>
          </p:cNvPr>
          <p:cNvSpPr>
            <a:spLocks noChangeArrowheads="1"/>
          </p:cNvSpPr>
          <p:nvPr/>
        </p:nvSpPr>
        <p:spPr bwMode="auto">
          <a:xfrm>
            <a:off x="1524000" y="44450"/>
            <a:ext cx="184150" cy="368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 name="Arrow: Right 7">
            <a:extLst>
              <a:ext uri="{FF2B5EF4-FFF2-40B4-BE49-F238E27FC236}">
                <a16:creationId xmlns:a16="http://schemas.microsoft.com/office/drawing/2014/main" id="{06ACA1DD-0D33-366F-D86E-D8A08A881935}"/>
              </a:ext>
            </a:extLst>
          </p:cNvPr>
          <p:cNvSpPr/>
          <p:nvPr/>
        </p:nvSpPr>
        <p:spPr>
          <a:xfrm rot="13359579">
            <a:off x="6197600" y="2921000"/>
            <a:ext cx="520700" cy="504825"/>
          </a:xfrm>
          <a:prstGeom prst="rightArrow">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11" name="Rectangle: Rounded Corners 3">
            <a:extLst>
              <a:ext uri="{FF2B5EF4-FFF2-40B4-BE49-F238E27FC236}">
                <a16:creationId xmlns:a16="http://schemas.microsoft.com/office/drawing/2014/main" id="{5C365165-4318-5549-1C6D-6C01C844FD73}"/>
              </a:ext>
            </a:extLst>
          </p:cNvPr>
          <p:cNvSpPr/>
          <p:nvPr/>
        </p:nvSpPr>
        <p:spPr>
          <a:xfrm>
            <a:off x="6457950" y="3173413"/>
            <a:ext cx="2733675" cy="747712"/>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IE" dirty="0"/>
              <a:t>Adding the index number for each product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ECED6F-C957-601B-5522-35D0263A1BB3}"/>
              </a:ext>
            </a:extLst>
          </p:cNvPr>
          <p:cNvSpPr/>
          <p:nvPr/>
        </p:nvSpPr>
        <p:spPr>
          <a:xfrm>
            <a:off x="106363" y="11588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Driver.java</a:t>
            </a:r>
          </a:p>
        </p:txBody>
      </p:sp>
      <p:sp>
        <p:nvSpPr>
          <p:cNvPr id="6" name="Rectangle 5">
            <a:extLst>
              <a:ext uri="{FF2B5EF4-FFF2-40B4-BE49-F238E27FC236}">
                <a16:creationId xmlns:a16="http://schemas.microsoft.com/office/drawing/2014/main" id="{59BFEF2F-F970-F899-4D8A-4211FB8E7129}"/>
              </a:ext>
            </a:extLst>
          </p:cNvPr>
          <p:cNvSpPr/>
          <p:nvPr/>
        </p:nvSpPr>
        <p:spPr>
          <a:xfrm>
            <a:off x="106363" y="3265488"/>
            <a:ext cx="6853237" cy="36004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IE" sz="1200" b="1" dirty="0">
                <a:solidFill>
                  <a:srgbClr val="000080"/>
                </a:solidFill>
                <a:latin typeface="Courier New" panose="02070309020205020404" pitchFamily="49" charset="0"/>
                <a:cs typeface="Courier New" panose="02070309020205020404" pitchFamily="49" charset="0"/>
              </a:rPr>
              <a:t>switch </a:t>
            </a:r>
            <a:r>
              <a:rPr lang="en-IE" sz="1200" dirty="0">
                <a:latin typeface="Courier New" panose="02070309020205020404" pitchFamily="49" charset="0"/>
                <a:cs typeface="Courier New" panose="02070309020205020404" pitchFamily="49" charset="0"/>
              </a:rPr>
              <a:t>(option) {</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4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5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addDescriptionToProduct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6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listProductDescriptions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7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updateDescriptionInProduct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8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deleteDescriptionFromProduct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printCurrentProducts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printAverageProductPrice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printCheapestProduct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printProductsAboveAPrice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14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searchProductByName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15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sortProductByName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saveProducts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loadProducts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default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System.</a:t>
            </a:r>
            <a:r>
              <a:rPr lang="en-IE" sz="1200" b="1" i="1" dirty="0" err="1">
                <a:solidFill>
                  <a:srgbClr val="660E7A"/>
                </a:solidFill>
                <a:latin typeface="Courier New" panose="02070309020205020404" pitchFamily="49" charset="0"/>
                <a:cs typeface="Courier New" panose="02070309020205020404" pitchFamily="49" charset="0"/>
              </a:rPr>
              <a:t>out</a:t>
            </a:r>
            <a:r>
              <a:rPr lang="en-IE" sz="1200" dirty="0" err="1">
                <a:latin typeface="Courier New" panose="02070309020205020404" pitchFamily="49" charset="0"/>
                <a:cs typeface="Courier New" panose="02070309020205020404" pitchFamily="49" charset="0"/>
              </a:rPr>
              <a:t>.println</a:t>
            </a:r>
            <a:r>
              <a:rPr lang="en-IE" sz="1200" dirty="0">
                <a:latin typeface="Courier New" panose="02070309020205020404" pitchFamily="49" charset="0"/>
                <a:cs typeface="Courier New" panose="02070309020205020404" pitchFamily="49" charset="0"/>
              </a:rPr>
              <a:t>(</a:t>
            </a:r>
            <a:r>
              <a:rPr lang="en-IE" sz="1200" b="1" dirty="0">
                <a:solidFill>
                  <a:srgbClr val="008000"/>
                </a:solidFill>
                <a:latin typeface="Courier New" panose="02070309020205020404" pitchFamily="49" charset="0"/>
                <a:cs typeface="Courier New" panose="02070309020205020404" pitchFamily="49" charset="0"/>
              </a:rPr>
              <a:t>"Invalid option entered: " </a:t>
            </a:r>
            <a:r>
              <a:rPr lang="en-IE" sz="1200" dirty="0">
                <a:latin typeface="Courier New" panose="02070309020205020404" pitchFamily="49" charset="0"/>
                <a:cs typeface="Courier New" panose="02070309020205020404" pitchFamily="49" charset="0"/>
              </a:rPr>
              <a:t>+ option);</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2" name="Rectangle 1">
            <a:extLst>
              <a:ext uri="{FF2B5EF4-FFF2-40B4-BE49-F238E27FC236}">
                <a16:creationId xmlns:a16="http://schemas.microsoft.com/office/drawing/2014/main" id="{D57E8384-6532-DABB-3430-5BDBD30481CB}"/>
              </a:ext>
            </a:extLst>
          </p:cNvPr>
          <p:cNvSpPr/>
          <p:nvPr/>
        </p:nvSpPr>
        <p:spPr>
          <a:xfrm>
            <a:off x="4522788" y="11113"/>
            <a:ext cx="7597775" cy="637063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IE" sz="1200" b="1" dirty="0">
                <a:solidFill>
                  <a:srgbClr val="000080"/>
                </a:solidFill>
                <a:latin typeface="Courier New" panose="02070309020205020404" pitchFamily="49" charset="0"/>
                <a:cs typeface="Courier New" panose="02070309020205020404" pitchFamily="49" charset="0"/>
              </a:rPr>
              <a:t>private int </a:t>
            </a:r>
            <a:r>
              <a:rPr lang="en-IE" sz="1200" dirty="0" err="1">
                <a:latin typeface="Courier New" panose="02070309020205020404" pitchFamily="49" charset="0"/>
                <a:cs typeface="Courier New" panose="02070309020205020404" pitchFamily="49" charset="0"/>
              </a:rPr>
              <a:t>mainMenu</a:t>
            </a:r>
            <a:r>
              <a:rPr lang="en-IE" sz="1200" dirty="0">
                <a:latin typeface="Courier New" panose="02070309020205020404" pitchFamily="49" charset="0"/>
                <a:cs typeface="Courier New" panose="02070309020205020404" pitchFamily="49" charset="0"/>
              </a:rPr>
              <a:t>() {</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int </a:t>
            </a:r>
            <a:r>
              <a:rPr lang="en-IE" sz="1200" dirty="0">
                <a:latin typeface="Courier New" panose="02070309020205020404" pitchFamily="49" charset="0"/>
                <a:cs typeface="Courier New" panose="02070309020205020404" pitchFamily="49" charset="0"/>
              </a:rPr>
              <a:t>option = </a:t>
            </a:r>
            <a:r>
              <a:rPr lang="en-IE" sz="1200" dirty="0" err="1">
                <a:latin typeface="Courier New" panose="02070309020205020404" pitchFamily="49" charset="0"/>
                <a:cs typeface="Courier New" panose="02070309020205020404" pitchFamily="49" charset="0"/>
              </a:rPr>
              <a:t>ScannerInput.</a:t>
            </a:r>
            <a:r>
              <a:rPr lang="en-IE" sz="1200" i="1" dirty="0" err="1">
                <a:latin typeface="Courier New" panose="02070309020205020404" pitchFamily="49" charset="0"/>
                <a:cs typeface="Courier New" panose="02070309020205020404" pitchFamily="49" charset="0"/>
              </a:rPr>
              <a:t>readNextInt</a:t>
            </a:r>
            <a:r>
              <a:rPr lang="en-IE" sz="1200" dirty="0">
                <a:latin typeface="Courier New" panose="02070309020205020404" pitchFamily="49" charset="0"/>
                <a:cs typeface="Courier New" panose="02070309020205020404" pitchFamily="49" charset="0"/>
              </a:rPr>
              <a:t>(</a:t>
            </a:r>
            <a:r>
              <a:rPr lang="en-IE" sz="1200" b="1" dirty="0">
                <a:solidFill>
                  <a:srgbClr val="008000"/>
                </a:solidFill>
                <a:latin typeface="Courier New" panose="02070309020205020404" pitchFamily="49" charset="0"/>
                <a:cs typeface="Courier New" panose="02070309020205020404" pitchFamily="49" charset="0"/>
              </a:rPr>
              <a:t>"""</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Shop Menu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PRODUCT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 Add a product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2) List the Products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3) Update a product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4) Delete a product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PRODUCT DESCRIPTION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5) Add a product description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6) List product description(s)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7) Update a product description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8) Delete a product description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REPORT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10) List the current products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11) Display average product unit cost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12) Display cheapest product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13) List products that are more expensive than a given price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SEARCH AND SORT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14) Search products by name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15) Sort products by name ascending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20) Save products to </a:t>
            </a:r>
            <a:r>
              <a:rPr lang="en-IE" sz="1200" b="1" dirty="0" err="1">
                <a:solidFill>
                  <a:srgbClr val="008000"/>
                </a:solidFill>
                <a:latin typeface="Courier New" panose="02070309020205020404" pitchFamily="49" charset="0"/>
                <a:cs typeface="Courier New" panose="02070309020205020404" pitchFamily="49" charset="0"/>
              </a:rPr>
              <a:t>products.xml</a:t>
            </a:r>
            <a:r>
              <a:rPr lang="en-IE" sz="1200" b="1" dirty="0">
                <a:solidFill>
                  <a:srgbClr val="008000"/>
                </a:solidFill>
                <a:latin typeface="Courier New" panose="02070309020205020404" pitchFamily="49" charset="0"/>
                <a:cs typeface="Courier New" panose="02070309020205020404" pitchFamily="49" charset="0"/>
              </a:rPr>
              <a: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21) Load products from </a:t>
            </a:r>
            <a:r>
              <a:rPr lang="en-IE" sz="1200" b="1" dirty="0" err="1">
                <a:solidFill>
                  <a:srgbClr val="008000"/>
                </a:solidFill>
                <a:latin typeface="Courier New" panose="02070309020205020404" pitchFamily="49" charset="0"/>
                <a:cs typeface="Courier New" panose="02070309020205020404" pitchFamily="49" charset="0"/>
              </a:rPr>
              <a:t>products.xml</a:t>
            </a:r>
            <a:r>
              <a:rPr lang="en-IE" sz="1200" b="1" dirty="0">
                <a:solidFill>
                  <a:srgbClr val="008000"/>
                </a:solidFill>
                <a:latin typeface="Courier New" panose="02070309020205020404" pitchFamily="49" charset="0"/>
                <a:cs typeface="Courier New" panose="02070309020205020404" pitchFamily="49" charset="0"/>
              </a:rPr>
              <a: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0)  Exit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==&gt;&gt;  """</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return </a:t>
            </a:r>
            <a:r>
              <a:rPr lang="en-IE" sz="1200" dirty="0">
                <a:latin typeface="Courier New" panose="02070309020205020404" pitchFamily="49" charset="0"/>
                <a:cs typeface="Courier New" panose="02070309020205020404" pitchFamily="49" charset="0"/>
              </a:rPr>
              <a:t>option;</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7" name="Right Arrow 6">
            <a:extLst>
              <a:ext uri="{FF2B5EF4-FFF2-40B4-BE49-F238E27FC236}">
                <a16:creationId xmlns:a16="http://schemas.microsoft.com/office/drawing/2014/main" id="{7308F975-AFEB-D446-F14F-F62162A16580}"/>
              </a:ext>
            </a:extLst>
          </p:cNvPr>
          <p:cNvSpPr/>
          <p:nvPr/>
        </p:nvSpPr>
        <p:spPr>
          <a:xfrm rot="8834857">
            <a:off x="3776663" y="5057775"/>
            <a:ext cx="1919287" cy="336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ounded Rectangle 7">
            <a:extLst>
              <a:ext uri="{FF2B5EF4-FFF2-40B4-BE49-F238E27FC236}">
                <a16:creationId xmlns:a16="http://schemas.microsoft.com/office/drawing/2014/main" id="{23DC5CBB-2EFE-9B6D-1F76-29F4B90EF5F3}"/>
              </a:ext>
            </a:extLst>
          </p:cNvPr>
          <p:cNvSpPr/>
          <p:nvPr/>
        </p:nvSpPr>
        <p:spPr>
          <a:xfrm>
            <a:off x="479425" y="5651500"/>
            <a:ext cx="3240088" cy="4413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28600A-D473-639E-0B36-BE3E97A2371C}"/>
              </a:ext>
            </a:extLst>
          </p:cNvPr>
          <p:cNvSpPr>
            <a:spLocks noChangeArrowheads="1"/>
          </p:cNvSpPr>
          <p:nvPr/>
        </p:nvSpPr>
        <p:spPr bwMode="auto">
          <a:xfrm>
            <a:off x="415925" y="668338"/>
            <a:ext cx="10494963" cy="955675"/>
          </a:xfrm>
          <a:prstGeom prst="rect">
            <a:avLst/>
          </a:prstGeom>
          <a:ln/>
        </p:spPr>
        <p:style>
          <a:lnRef idx="2">
            <a:schemeClr val="accent1"/>
          </a:lnRef>
          <a:fillRef idx="1">
            <a:schemeClr val="lt1"/>
          </a:fillRef>
          <a:effectRef idx="0">
            <a:schemeClr val="accent1"/>
          </a:effectRef>
          <a:fontRef idx="minor">
            <a:schemeClr val="dk1"/>
          </a:fontRef>
        </p:style>
        <p:txBody>
          <a:bodyPr wrap="none" anchor="ctr">
            <a:spAutoFit/>
          </a:bodyPr>
          <a:lstStyle/>
          <a:p>
            <a:pPr eaLnBrk="1" hangingPunct="1">
              <a:defRPr/>
            </a:pPr>
            <a:r>
              <a:rPr lang="en-US" altLang="en-US" sz="1400" b="1" dirty="0">
                <a:solidFill>
                  <a:srgbClr val="000080"/>
                </a:solidFill>
                <a:latin typeface="Courier New" panose="02070309020205020404" pitchFamily="49" charset="0"/>
                <a:cs typeface="Courier New" panose="02070309020205020404" pitchFamily="49" charset="0"/>
              </a:rPr>
              <a:t>private void </a:t>
            </a:r>
            <a:r>
              <a:rPr lang="en-US" altLang="en-US" sz="1400" dirty="0" err="1">
                <a:solidFill>
                  <a:srgbClr val="000000"/>
                </a:solidFill>
                <a:latin typeface="Courier New" panose="02070309020205020404" pitchFamily="49" charset="0"/>
                <a:cs typeface="Courier New" panose="02070309020205020404" pitchFamily="49" charset="0"/>
              </a:rPr>
              <a:t>searchProductByName</a:t>
            </a:r>
            <a:r>
              <a:rPr lang="en-US" altLang="en-US" sz="1400" dirty="0">
                <a:solidFill>
                  <a:srgbClr val="000000"/>
                </a:solidFill>
                <a:latin typeface="Courier New" panose="02070309020205020404" pitchFamily="49" charset="0"/>
                <a:cs typeface="Courier New" panose="02070309020205020404" pitchFamily="49" charset="0"/>
              </a:rPr>
              <a:t>() {</a:t>
            </a:r>
            <a:br>
              <a:rPr lang="en-US" altLang="en-US" sz="1400" dirty="0">
                <a:solidFill>
                  <a:srgbClr val="000000"/>
                </a:solidFill>
                <a:latin typeface="Courier New" panose="02070309020205020404" pitchFamily="49" charset="0"/>
                <a:cs typeface="Courier New" panose="02070309020205020404" pitchFamily="49" charset="0"/>
              </a:rPr>
            </a:br>
            <a:r>
              <a:rPr lang="en-US" altLang="en-US" sz="1400" dirty="0">
                <a:solidFill>
                  <a:srgbClr val="000000"/>
                </a:solidFill>
                <a:latin typeface="Courier New" panose="02070309020205020404" pitchFamily="49" charset="0"/>
                <a:cs typeface="Courier New" panose="02070309020205020404" pitchFamily="49" charset="0"/>
              </a:rPr>
              <a:t>    String </a:t>
            </a:r>
            <a:r>
              <a:rPr lang="en-US" altLang="en-US" sz="1400" dirty="0" err="1">
                <a:solidFill>
                  <a:srgbClr val="000000"/>
                </a:solidFill>
                <a:latin typeface="Courier New" panose="02070309020205020404" pitchFamily="49" charset="0"/>
                <a:cs typeface="Courier New" panose="02070309020205020404" pitchFamily="49" charset="0"/>
              </a:rPr>
              <a:t>productName</a:t>
            </a:r>
            <a:r>
              <a:rPr lang="en-US" altLang="en-US" sz="1400" dirty="0">
                <a:solidFill>
                  <a:srgbClr val="000000"/>
                </a:solidFill>
                <a:latin typeface="Courier New" panose="02070309020205020404" pitchFamily="49" charset="0"/>
                <a:cs typeface="Courier New" panose="02070309020205020404" pitchFamily="49" charset="0"/>
              </a:rPr>
              <a:t> = </a:t>
            </a:r>
            <a:r>
              <a:rPr lang="en-US" altLang="en-US" sz="1400" dirty="0" err="1">
                <a:solidFill>
                  <a:srgbClr val="000000"/>
                </a:solidFill>
                <a:latin typeface="Courier New" panose="02070309020205020404" pitchFamily="49" charset="0"/>
                <a:cs typeface="Courier New" panose="02070309020205020404" pitchFamily="49" charset="0"/>
              </a:rPr>
              <a:t>ScannerInput.</a:t>
            </a:r>
            <a:r>
              <a:rPr lang="en-US" altLang="en-US" sz="1400" i="1" dirty="0" err="1">
                <a:solidFill>
                  <a:srgbClr val="000000"/>
                </a:solidFill>
                <a:latin typeface="Courier New" panose="02070309020205020404" pitchFamily="49" charset="0"/>
                <a:cs typeface="Courier New" panose="02070309020205020404" pitchFamily="49" charset="0"/>
              </a:rPr>
              <a:t>readNextLine</a:t>
            </a:r>
            <a:r>
              <a:rPr lang="en-US" altLang="en-US" sz="1400" dirty="0">
                <a:solidFill>
                  <a:srgbClr val="000000"/>
                </a:solidFill>
                <a:latin typeface="Courier New" panose="02070309020205020404" pitchFamily="49" charset="0"/>
                <a:cs typeface="Courier New" panose="02070309020205020404" pitchFamily="49" charset="0"/>
              </a:rPr>
              <a:t>(</a:t>
            </a:r>
            <a:r>
              <a:rPr lang="en-US" altLang="en-US" sz="1400" b="1" dirty="0">
                <a:solidFill>
                  <a:srgbClr val="008000"/>
                </a:solidFill>
                <a:latin typeface="Courier New" panose="02070309020205020404" pitchFamily="49" charset="0"/>
                <a:cs typeface="Courier New" panose="02070309020205020404" pitchFamily="49" charset="0"/>
              </a:rPr>
              <a:t>"Please enter a product name to search by:"</a:t>
            </a:r>
            <a:r>
              <a:rPr lang="en-US" altLang="en-US" sz="1400" dirty="0">
                <a:solidFill>
                  <a:srgbClr val="000000"/>
                </a:solidFill>
                <a:latin typeface="Courier New" panose="02070309020205020404" pitchFamily="49" charset="0"/>
                <a:cs typeface="Courier New" panose="02070309020205020404" pitchFamily="49" charset="0"/>
              </a:rPr>
              <a:t>);</a:t>
            </a:r>
            <a:br>
              <a:rPr lang="en-US" altLang="en-US" sz="1400" dirty="0">
                <a:solidFill>
                  <a:srgbClr val="000000"/>
                </a:solidFill>
                <a:latin typeface="Courier New" panose="02070309020205020404" pitchFamily="49" charset="0"/>
                <a:cs typeface="Courier New" panose="02070309020205020404" pitchFamily="49" charset="0"/>
              </a:rPr>
            </a:br>
            <a:r>
              <a:rPr lang="en-US" altLang="en-US" sz="1400" dirty="0">
                <a:solidFill>
                  <a:srgbClr val="000000"/>
                </a:solidFill>
                <a:latin typeface="Courier New" panose="02070309020205020404" pitchFamily="49" charset="0"/>
                <a:cs typeface="Courier New" panose="02070309020205020404" pitchFamily="49" charset="0"/>
              </a:rPr>
              <a:t>    </a:t>
            </a:r>
            <a:r>
              <a:rPr lang="en-US" altLang="en-US" sz="1400" dirty="0" err="1">
                <a:solidFill>
                  <a:srgbClr val="000000"/>
                </a:solidFill>
                <a:latin typeface="Courier New" panose="02070309020205020404" pitchFamily="49" charset="0"/>
                <a:cs typeface="Courier New" panose="02070309020205020404" pitchFamily="49" charset="0"/>
              </a:rPr>
              <a:t>System.</a:t>
            </a:r>
            <a:r>
              <a:rPr lang="en-US" altLang="en-US" sz="1400" b="1" i="1" dirty="0" err="1">
                <a:solidFill>
                  <a:srgbClr val="660E7A"/>
                </a:solidFill>
                <a:latin typeface="Courier New" panose="02070309020205020404" pitchFamily="49" charset="0"/>
                <a:cs typeface="Courier New" panose="02070309020205020404" pitchFamily="49" charset="0"/>
              </a:rPr>
              <a:t>out</a:t>
            </a:r>
            <a:r>
              <a:rPr lang="en-US" altLang="en-US" sz="1400" dirty="0" err="1">
                <a:solidFill>
                  <a:srgbClr val="000000"/>
                </a:solidFill>
                <a:latin typeface="Courier New" panose="02070309020205020404" pitchFamily="49" charset="0"/>
                <a:cs typeface="Courier New" panose="02070309020205020404" pitchFamily="49" charset="0"/>
              </a:rPr>
              <a:t>.println</a:t>
            </a:r>
            <a:r>
              <a:rPr lang="en-US" altLang="en-US" sz="1400" dirty="0">
                <a:solidFill>
                  <a:srgbClr val="000000"/>
                </a:solidFill>
                <a:latin typeface="Courier New" panose="02070309020205020404" pitchFamily="49" charset="0"/>
                <a:cs typeface="Courier New" panose="02070309020205020404" pitchFamily="49" charset="0"/>
              </a:rPr>
              <a:t>(</a:t>
            </a:r>
            <a:r>
              <a:rPr lang="en-US" altLang="en-US" sz="1400" b="1" dirty="0" err="1">
                <a:solidFill>
                  <a:srgbClr val="660E7A"/>
                </a:solidFill>
                <a:latin typeface="Courier New" panose="02070309020205020404" pitchFamily="49" charset="0"/>
                <a:cs typeface="Courier New" panose="02070309020205020404" pitchFamily="49" charset="0"/>
              </a:rPr>
              <a:t>store</a:t>
            </a:r>
            <a:r>
              <a:rPr lang="en-US" altLang="en-US" sz="1400" dirty="0" err="1">
                <a:solidFill>
                  <a:srgbClr val="000000"/>
                </a:solidFill>
                <a:latin typeface="Courier New" panose="02070309020205020404" pitchFamily="49" charset="0"/>
                <a:cs typeface="Courier New" panose="02070309020205020404" pitchFamily="49" charset="0"/>
              </a:rPr>
              <a:t>.searchByProductName</a:t>
            </a:r>
            <a:r>
              <a:rPr lang="en-US" altLang="en-US" sz="1400" dirty="0">
                <a:solidFill>
                  <a:srgbClr val="000000"/>
                </a:solidFill>
                <a:latin typeface="Courier New" panose="02070309020205020404" pitchFamily="49" charset="0"/>
                <a:cs typeface="Courier New" panose="02070309020205020404" pitchFamily="49" charset="0"/>
              </a:rPr>
              <a:t>(</a:t>
            </a:r>
            <a:r>
              <a:rPr lang="en-US" altLang="en-US" sz="1400" dirty="0" err="1">
                <a:solidFill>
                  <a:srgbClr val="000000"/>
                </a:solidFill>
                <a:latin typeface="Courier New" panose="02070309020205020404" pitchFamily="49" charset="0"/>
                <a:cs typeface="Courier New" panose="02070309020205020404" pitchFamily="49" charset="0"/>
              </a:rPr>
              <a:t>productName</a:t>
            </a:r>
            <a:r>
              <a:rPr lang="en-US" altLang="en-US" sz="1400" dirty="0">
                <a:solidFill>
                  <a:srgbClr val="000000"/>
                </a:solidFill>
                <a:latin typeface="Courier New" panose="02070309020205020404" pitchFamily="49" charset="0"/>
                <a:cs typeface="Courier New" panose="02070309020205020404" pitchFamily="49" charset="0"/>
              </a:rPr>
              <a:t>));</a:t>
            </a:r>
            <a:br>
              <a:rPr lang="en-US" altLang="en-US" sz="1400" dirty="0">
                <a:solidFill>
                  <a:srgbClr val="000000"/>
                </a:solidFill>
                <a:latin typeface="Courier New" panose="02070309020205020404" pitchFamily="49" charset="0"/>
                <a:cs typeface="Courier New" panose="02070309020205020404" pitchFamily="49" charset="0"/>
              </a:rPr>
            </a:br>
            <a:r>
              <a:rPr lang="en-US" altLang="en-US" sz="1400" dirty="0">
                <a:solidFill>
                  <a:srgbClr val="000000"/>
                </a:solidFill>
                <a:latin typeface="Courier New" panose="02070309020205020404" pitchFamily="49" charset="0"/>
                <a:cs typeface="Courier New" panose="02070309020205020404" pitchFamily="49" charset="0"/>
              </a:rPr>
              <a:t>}</a:t>
            </a:r>
            <a:endParaRPr lang="en-US" altLang="en-US" sz="4800" dirty="0">
              <a:solidFill>
                <a:schemeClr val="tx1"/>
              </a:solidFill>
            </a:endParaRPr>
          </a:p>
        </p:txBody>
      </p:sp>
      <p:sp>
        <p:nvSpPr>
          <p:cNvPr id="7" name="Rectangle 6">
            <a:extLst>
              <a:ext uri="{FF2B5EF4-FFF2-40B4-BE49-F238E27FC236}">
                <a16:creationId xmlns:a16="http://schemas.microsoft.com/office/drawing/2014/main" id="{300E978C-4923-F916-1862-2510B8F127A4}"/>
              </a:ext>
            </a:extLst>
          </p:cNvPr>
          <p:cNvSpPr/>
          <p:nvPr/>
        </p:nvSpPr>
        <p:spPr>
          <a:xfrm>
            <a:off x="106363" y="3265488"/>
            <a:ext cx="6853237" cy="36004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IE" sz="1200" b="1" dirty="0">
                <a:solidFill>
                  <a:srgbClr val="000080"/>
                </a:solidFill>
                <a:latin typeface="Courier New" panose="02070309020205020404" pitchFamily="49" charset="0"/>
                <a:cs typeface="Courier New" panose="02070309020205020404" pitchFamily="49" charset="0"/>
              </a:rPr>
              <a:t>switch </a:t>
            </a:r>
            <a:r>
              <a:rPr lang="en-IE" sz="1200" dirty="0">
                <a:latin typeface="Courier New" panose="02070309020205020404" pitchFamily="49" charset="0"/>
                <a:cs typeface="Courier New" panose="02070309020205020404" pitchFamily="49" charset="0"/>
              </a:rPr>
              <a:t>(option) {</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4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5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addDescriptionToProduct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6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listProductDescriptions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7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updateDescriptionInProduct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8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deleteDescriptionFromProduct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printCurrentProducts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printAverageProductPrice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printCheapestProduct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printProductsAboveAPrice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b="1" dirty="0">
                <a:solidFill>
                  <a:srgbClr val="0000FF"/>
                </a:solidFill>
                <a:latin typeface="Courier New" panose="02070309020205020404" pitchFamily="49" charset="0"/>
                <a:cs typeface="Courier New" panose="02070309020205020404" pitchFamily="49" charset="0"/>
              </a:rPr>
              <a:t>14 </a:t>
            </a:r>
            <a:r>
              <a:rPr lang="en-IE" sz="1200" b="1" dirty="0">
                <a:latin typeface="Courier New" panose="02070309020205020404" pitchFamily="49" charset="0"/>
                <a:cs typeface="Courier New" panose="02070309020205020404" pitchFamily="49" charset="0"/>
              </a:rPr>
              <a:t>-&gt; </a:t>
            </a:r>
            <a:r>
              <a:rPr lang="en-IE" sz="1200" b="1" dirty="0" err="1">
                <a:latin typeface="Courier New" panose="02070309020205020404" pitchFamily="49" charset="0"/>
                <a:cs typeface="Courier New" panose="02070309020205020404" pitchFamily="49" charset="0"/>
              </a:rPr>
              <a:t>searchProductByName</a:t>
            </a:r>
            <a:r>
              <a:rPr lang="en-IE" sz="1200" b="1"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15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sortProductByName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saveProducts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loadProducts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default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System.</a:t>
            </a:r>
            <a:r>
              <a:rPr lang="en-IE" sz="1200" b="1" i="1" dirty="0" err="1">
                <a:solidFill>
                  <a:srgbClr val="660E7A"/>
                </a:solidFill>
                <a:latin typeface="Courier New" panose="02070309020205020404" pitchFamily="49" charset="0"/>
                <a:cs typeface="Courier New" panose="02070309020205020404" pitchFamily="49" charset="0"/>
              </a:rPr>
              <a:t>out</a:t>
            </a:r>
            <a:r>
              <a:rPr lang="en-IE" sz="1200" dirty="0" err="1">
                <a:latin typeface="Courier New" panose="02070309020205020404" pitchFamily="49" charset="0"/>
                <a:cs typeface="Courier New" panose="02070309020205020404" pitchFamily="49" charset="0"/>
              </a:rPr>
              <a:t>.println</a:t>
            </a:r>
            <a:r>
              <a:rPr lang="en-IE" sz="1200" dirty="0">
                <a:latin typeface="Courier New" panose="02070309020205020404" pitchFamily="49" charset="0"/>
                <a:cs typeface="Courier New" panose="02070309020205020404" pitchFamily="49" charset="0"/>
              </a:rPr>
              <a:t>(</a:t>
            </a:r>
            <a:r>
              <a:rPr lang="en-IE" sz="1200" b="1" dirty="0">
                <a:solidFill>
                  <a:srgbClr val="008000"/>
                </a:solidFill>
                <a:latin typeface="Courier New" panose="02070309020205020404" pitchFamily="49" charset="0"/>
                <a:cs typeface="Courier New" panose="02070309020205020404" pitchFamily="49" charset="0"/>
              </a:rPr>
              <a:t>"Invalid option entered: " </a:t>
            </a:r>
            <a:r>
              <a:rPr lang="en-IE" sz="1200" dirty="0">
                <a:latin typeface="Courier New" panose="02070309020205020404" pitchFamily="49" charset="0"/>
                <a:cs typeface="Courier New" panose="02070309020205020404" pitchFamily="49" charset="0"/>
              </a:rPr>
              <a:t>+ option);</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3" name="Right Arrow 2">
            <a:extLst>
              <a:ext uri="{FF2B5EF4-FFF2-40B4-BE49-F238E27FC236}">
                <a16:creationId xmlns:a16="http://schemas.microsoft.com/office/drawing/2014/main" id="{D8E74A83-307B-6B24-5432-5754853A9EEE}"/>
              </a:ext>
            </a:extLst>
          </p:cNvPr>
          <p:cNvSpPr/>
          <p:nvPr/>
        </p:nvSpPr>
        <p:spPr>
          <a:xfrm rot="10800000">
            <a:off x="3935413" y="5648325"/>
            <a:ext cx="1728787" cy="301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a:extLst>
              <a:ext uri="{FF2B5EF4-FFF2-40B4-BE49-F238E27FC236}">
                <a16:creationId xmlns:a16="http://schemas.microsoft.com/office/drawing/2014/main" id="{0E60B5CD-1CA4-60E3-DF5A-89C9414BB523}"/>
              </a:ext>
            </a:extLst>
          </p:cNvPr>
          <p:cNvSpPr/>
          <p:nvPr/>
        </p:nvSpPr>
        <p:spPr>
          <a:xfrm>
            <a:off x="106363" y="11588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Driver.java</a:t>
            </a:r>
          </a:p>
        </p:txBody>
      </p:sp>
      <p:pic>
        <p:nvPicPr>
          <p:cNvPr id="10" name="Picture 9">
            <a:extLst>
              <a:ext uri="{FF2B5EF4-FFF2-40B4-BE49-F238E27FC236}">
                <a16:creationId xmlns:a16="http://schemas.microsoft.com/office/drawing/2014/main" id="{285AE791-4F4C-0720-1D04-392E65A4379B}"/>
              </a:ext>
            </a:extLst>
          </p:cNvPr>
          <p:cNvPicPr>
            <a:picLocks noChangeAspect="1" noChangeArrowheads="1"/>
          </p:cNvPicPr>
          <p:nvPr/>
        </p:nvPicPr>
        <p:blipFill>
          <a:blip r:embed="rId2"/>
          <a:srcRect/>
          <a:stretch>
            <a:fillRect/>
          </a:stretch>
        </p:blipFill>
        <p:spPr bwMode="auto">
          <a:xfrm>
            <a:off x="1377950" y="1571625"/>
            <a:ext cx="10388600" cy="1493838"/>
          </a:xfrm>
          <a:prstGeom prst="rect">
            <a:avLst/>
          </a:prstGeom>
          <a:noFill/>
          <a:ln>
            <a:noFill/>
          </a:ln>
          <a:effectLst>
            <a:outerShdw blurRad="292100" dist="139700" dir="2700000" algn="tl" rotWithShape="0">
              <a:srgbClr val="333333">
                <a:alpha val="6499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FBAD10-DFD0-AE64-4D50-23CA809D2A07}"/>
              </a:ext>
            </a:extLst>
          </p:cNvPr>
          <p:cNvPicPr>
            <a:picLocks noChangeAspect="1" noChangeArrowheads="1"/>
          </p:cNvPicPr>
          <p:nvPr/>
        </p:nvPicPr>
        <p:blipFill>
          <a:blip r:embed="rId2"/>
          <a:srcRect/>
          <a:stretch>
            <a:fillRect/>
          </a:stretch>
        </p:blipFill>
        <p:spPr bwMode="auto">
          <a:xfrm>
            <a:off x="796925" y="425450"/>
            <a:ext cx="10629900" cy="1803400"/>
          </a:xfrm>
          <a:prstGeom prst="rect">
            <a:avLst/>
          </a:prstGeom>
          <a:noFill/>
          <a:ln>
            <a:noFill/>
          </a:ln>
          <a:effectLst>
            <a:outerShdw blurRad="292100" dist="139700" dir="2700000" algn="tl" rotWithShape="0">
              <a:srgbClr val="333333">
                <a:alpha val="64999"/>
              </a:srgbClr>
            </a:outerShdw>
          </a:effectLst>
        </p:spPr>
      </p:pic>
      <p:sp>
        <p:nvSpPr>
          <p:cNvPr id="7" name="Rectangle 6">
            <a:extLst>
              <a:ext uri="{FF2B5EF4-FFF2-40B4-BE49-F238E27FC236}">
                <a16:creationId xmlns:a16="http://schemas.microsoft.com/office/drawing/2014/main" id="{12692601-2B81-F31E-C152-6DB1AF3DFAD2}"/>
              </a:ext>
            </a:extLst>
          </p:cNvPr>
          <p:cNvSpPr/>
          <p:nvPr/>
        </p:nvSpPr>
        <p:spPr>
          <a:xfrm>
            <a:off x="10525125" y="184150"/>
            <a:ext cx="1042988"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Test Data</a:t>
            </a:r>
          </a:p>
        </p:txBody>
      </p:sp>
      <p:sp>
        <p:nvSpPr>
          <p:cNvPr id="15" name="Rectangle: Rounded Corners 14">
            <a:extLst>
              <a:ext uri="{FF2B5EF4-FFF2-40B4-BE49-F238E27FC236}">
                <a16:creationId xmlns:a16="http://schemas.microsoft.com/office/drawing/2014/main" id="{C9275F23-5D2E-4DB8-3279-CA2AF007D34D}"/>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search the </a:t>
            </a:r>
            <a:r>
              <a:rPr lang="en-IE" sz="2400" b="1" dirty="0"/>
              <a:t>products</a:t>
            </a:r>
            <a:r>
              <a:rPr lang="en-IE" sz="2400" dirty="0"/>
              <a:t> </a:t>
            </a:r>
            <a:r>
              <a:rPr lang="en-IE" sz="2400" dirty="0" err="1"/>
              <a:t>ArrayList</a:t>
            </a:r>
            <a:r>
              <a:rPr lang="en-IE" sz="2400" dirty="0"/>
              <a:t> and return all the individual products whose product name matches, or partially matches the search word entered by the user.</a:t>
            </a:r>
          </a:p>
        </p:txBody>
      </p:sp>
      <p:pic>
        <p:nvPicPr>
          <p:cNvPr id="10" name="Picture 9">
            <a:extLst>
              <a:ext uri="{FF2B5EF4-FFF2-40B4-BE49-F238E27FC236}">
                <a16:creationId xmlns:a16="http://schemas.microsoft.com/office/drawing/2014/main" id="{B0C81113-6DB9-E368-34B2-DC749DF8D9A2}"/>
              </a:ext>
            </a:extLst>
          </p:cNvPr>
          <p:cNvPicPr>
            <a:picLocks noChangeAspect="1" noChangeArrowheads="1"/>
          </p:cNvPicPr>
          <p:nvPr/>
        </p:nvPicPr>
        <p:blipFill>
          <a:blip r:embed="rId3"/>
          <a:srcRect/>
          <a:stretch>
            <a:fillRect/>
          </a:stretch>
        </p:blipFill>
        <p:spPr bwMode="auto">
          <a:xfrm>
            <a:off x="857250" y="2541588"/>
            <a:ext cx="10388600" cy="1493837"/>
          </a:xfrm>
          <a:prstGeom prst="rect">
            <a:avLst/>
          </a:prstGeom>
          <a:noFill/>
          <a:ln>
            <a:noFill/>
          </a:ln>
          <a:effectLst>
            <a:outerShdw blurRad="292100" dist="139700" dir="2700000" algn="tl" rotWithShape="0">
              <a:srgbClr val="333333">
                <a:alpha val="64999"/>
              </a:srgbClr>
            </a:outerShdw>
          </a:effectLst>
        </p:spPr>
      </p:pic>
      <p:sp>
        <p:nvSpPr>
          <p:cNvPr id="13" name="Rectangle 12">
            <a:extLst>
              <a:ext uri="{FF2B5EF4-FFF2-40B4-BE49-F238E27FC236}">
                <a16:creationId xmlns:a16="http://schemas.microsoft.com/office/drawing/2014/main" id="{A6A2FA06-28D7-FE6D-6B97-074F9B4A084A}"/>
              </a:ext>
            </a:extLst>
          </p:cNvPr>
          <p:cNvSpPr/>
          <p:nvPr/>
        </p:nvSpPr>
        <p:spPr>
          <a:xfrm>
            <a:off x="9947275" y="2420938"/>
            <a:ext cx="1512888"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Sample Test 1</a:t>
            </a:r>
          </a:p>
        </p:txBody>
      </p:sp>
      <p:pic>
        <p:nvPicPr>
          <p:cNvPr id="3" name="Picture 2">
            <a:extLst>
              <a:ext uri="{FF2B5EF4-FFF2-40B4-BE49-F238E27FC236}">
                <a16:creationId xmlns:a16="http://schemas.microsoft.com/office/drawing/2014/main" id="{B2163138-7FDD-4AC8-C730-1AD267F34B13}"/>
              </a:ext>
            </a:extLst>
          </p:cNvPr>
          <p:cNvPicPr>
            <a:picLocks noChangeAspect="1" noChangeArrowheads="1"/>
          </p:cNvPicPr>
          <p:nvPr/>
        </p:nvPicPr>
        <p:blipFill>
          <a:blip r:embed="rId4"/>
          <a:srcRect/>
          <a:stretch>
            <a:fillRect/>
          </a:stretch>
        </p:blipFill>
        <p:spPr bwMode="auto">
          <a:xfrm>
            <a:off x="844550" y="4365625"/>
            <a:ext cx="4737100" cy="990600"/>
          </a:xfrm>
          <a:prstGeom prst="rect">
            <a:avLst/>
          </a:prstGeom>
          <a:noFill/>
          <a:ln>
            <a:noFill/>
          </a:ln>
          <a:effectLst>
            <a:outerShdw blurRad="292100" dist="139700" dir="2700000" algn="tl" rotWithShape="0">
              <a:srgbClr val="333333">
                <a:alpha val="64999"/>
              </a:srgbClr>
            </a:outerShdw>
          </a:effectLst>
        </p:spPr>
      </p:pic>
      <p:sp>
        <p:nvSpPr>
          <p:cNvPr id="14" name="Rectangle 13">
            <a:extLst>
              <a:ext uri="{FF2B5EF4-FFF2-40B4-BE49-F238E27FC236}">
                <a16:creationId xmlns:a16="http://schemas.microsoft.com/office/drawing/2014/main" id="{3F81AB70-4F57-5BEE-4142-BA0D319691F6}"/>
              </a:ext>
            </a:extLst>
          </p:cNvPr>
          <p:cNvSpPr/>
          <p:nvPr/>
        </p:nvSpPr>
        <p:spPr>
          <a:xfrm>
            <a:off x="4538663" y="4292600"/>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Sample Test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C87C90D-0E52-03E8-2CB1-03944803CC7E}"/>
              </a:ext>
            </a:extLst>
          </p:cNvPr>
          <p:cNvSpPr>
            <a:spLocks noGrp="1"/>
          </p:cNvSpPr>
          <p:nvPr>
            <p:ph type="ctrTitle"/>
          </p:nvPr>
        </p:nvSpPr>
        <p:spPr>
          <a:xfrm>
            <a:off x="2171700" y="3933825"/>
            <a:ext cx="7848600" cy="1927225"/>
          </a:xfrm>
        </p:spPr>
        <p:txBody>
          <a:bodyPr/>
          <a:lstStyle/>
          <a:p>
            <a:pPr eaLnBrk="1" hangingPunct="1"/>
            <a:br>
              <a:rPr lang="en-US" altLang="en-US" sz="4900">
                <a:latin typeface="Trebuchet MS" panose="020B0703020202090204" pitchFamily="34" charset="0"/>
              </a:rPr>
            </a:br>
            <a:r>
              <a:rPr lang="en-US" altLang="en-US" sz="4900">
                <a:latin typeface="Trebuchet MS" panose="020B0703020202090204" pitchFamily="34" charset="0"/>
              </a:rPr>
              <a:t>Selection Sort</a:t>
            </a:r>
          </a:p>
        </p:txBody>
      </p:sp>
      <p:pic>
        <p:nvPicPr>
          <p:cNvPr id="29698" name="Picture 2" descr="Image result for sorting">
            <a:extLst>
              <a:ext uri="{FF2B5EF4-FFF2-40B4-BE49-F238E27FC236}">
                <a16:creationId xmlns:a16="http://schemas.microsoft.com/office/drawing/2014/main" id="{ACB6557C-1B7A-3E20-98CA-1CE9C1439694}"/>
              </a:ext>
            </a:extLst>
          </p:cNvPr>
          <p:cNvPicPr>
            <a:picLocks noChangeAspect="1" noChangeArrowheads="1"/>
          </p:cNvPicPr>
          <p:nvPr/>
        </p:nvPicPr>
        <p:blipFill>
          <a:blip r:embed="rId3"/>
          <a:srcRect/>
          <a:stretch>
            <a:fillRect/>
          </a:stretch>
        </p:blipFill>
        <p:spPr bwMode="auto">
          <a:xfrm>
            <a:off x="2874963" y="908050"/>
            <a:ext cx="6442075" cy="360838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A20C8FD4-40F6-9358-05A1-6ACECBAF248C}"/>
              </a:ext>
            </a:extLst>
          </p:cNvPr>
          <p:cNvSpPr>
            <a:spLocks noGrp="1"/>
          </p:cNvSpPr>
          <p:nvPr>
            <p:ph type="title"/>
          </p:nvPr>
        </p:nvSpPr>
        <p:spPr/>
        <p:txBody>
          <a:bodyPr rtlCol="0">
            <a:normAutofit/>
          </a:bodyPr>
          <a:lstStyle/>
          <a:p>
            <a:pPr eaLnBrk="1" fontAlgn="auto" hangingPunct="1">
              <a:spcAft>
                <a:spcPts val="0"/>
              </a:spcAft>
              <a:defRPr/>
            </a:pPr>
            <a:r>
              <a:rPr lang="en-IE">
                <a:latin typeface="Trebuchet MS" charset="0"/>
              </a:rPr>
              <a:t>Sorting</a:t>
            </a:r>
          </a:p>
        </p:txBody>
      </p:sp>
      <p:sp>
        <p:nvSpPr>
          <p:cNvPr id="29699" name="Content Placeholder 2">
            <a:extLst>
              <a:ext uri="{FF2B5EF4-FFF2-40B4-BE49-F238E27FC236}">
                <a16:creationId xmlns:a16="http://schemas.microsoft.com/office/drawing/2014/main" id="{A83D3858-8A4A-7747-749E-AA920E1F73AF}"/>
              </a:ext>
            </a:extLst>
          </p:cNvPr>
          <p:cNvSpPr>
            <a:spLocks noGrp="1"/>
          </p:cNvSpPr>
          <p:nvPr>
            <p:ph idx="1"/>
          </p:nvPr>
        </p:nvSpPr>
        <p:spPr>
          <a:xfrm>
            <a:off x="609600" y="1635125"/>
            <a:ext cx="6494463" cy="4525963"/>
          </a:xfrm>
        </p:spPr>
        <p:txBody>
          <a:bodyPr/>
          <a:lstStyle/>
          <a:p>
            <a:pPr eaLnBrk="1" hangingPunct="1"/>
            <a:r>
              <a:rPr lang="en-IE" altLang="en-US">
                <a:latin typeface="Trebuchet MS" panose="020B0703020202090204" pitchFamily="34" charset="0"/>
              </a:rPr>
              <a:t>The </a:t>
            </a:r>
            <a:r>
              <a:rPr lang="en-IE" altLang="en-US">
                <a:solidFill>
                  <a:srgbClr val="0070C0"/>
                </a:solidFill>
                <a:latin typeface="Trebuchet MS" panose="020B0703020202090204" pitchFamily="34" charset="0"/>
              </a:rPr>
              <a:t>human brain </a:t>
            </a:r>
            <a:r>
              <a:rPr lang="en-IE" altLang="en-US">
                <a:latin typeface="Trebuchet MS" panose="020B0703020202090204" pitchFamily="34" charset="0"/>
              </a:rPr>
              <a:t>can very quickly sort a collection e.g. it’s straightforward to sort a group of people in height order. </a:t>
            </a:r>
          </a:p>
          <a:p>
            <a:pPr eaLnBrk="1" hangingPunct="1"/>
            <a:endParaRPr lang="en-IE" altLang="en-US">
              <a:latin typeface="Trebuchet MS" panose="020B0703020202090204" pitchFamily="34" charset="0"/>
            </a:endParaRPr>
          </a:p>
          <a:p>
            <a:pPr eaLnBrk="1" hangingPunct="1"/>
            <a:r>
              <a:rPr lang="en-IE" altLang="en-US">
                <a:latin typeface="Trebuchet MS" panose="020B0703020202090204" pitchFamily="34" charset="0"/>
              </a:rPr>
              <a:t>For a </a:t>
            </a:r>
            <a:r>
              <a:rPr lang="en-IE" altLang="en-US">
                <a:solidFill>
                  <a:srgbClr val="0070C0"/>
                </a:solidFill>
                <a:latin typeface="Trebuchet MS" panose="020B0703020202090204" pitchFamily="34" charset="0"/>
              </a:rPr>
              <a:t>computer</a:t>
            </a:r>
            <a:r>
              <a:rPr lang="en-IE" altLang="en-US">
                <a:latin typeface="Trebuchet MS" panose="020B0703020202090204" pitchFamily="34" charset="0"/>
              </a:rPr>
              <a:t> to carry out this process is more difficult.</a:t>
            </a:r>
          </a:p>
        </p:txBody>
      </p:sp>
      <p:pic>
        <p:nvPicPr>
          <p:cNvPr id="29700" name="Picture 5" descr="Image result for sort by height">
            <a:extLst>
              <a:ext uri="{FF2B5EF4-FFF2-40B4-BE49-F238E27FC236}">
                <a16:creationId xmlns:a16="http://schemas.microsoft.com/office/drawing/2014/main" id="{746105BA-601E-D747-E31F-52BB73EF4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888" y="1635125"/>
            <a:ext cx="30956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7" descr="Image result for computer meltdown">
            <a:extLst>
              <a:ext uri="{FF2B5EF4-FFF2-40B4-BE49-F238E27FC236}">
                <a16:creationId xmlns:a16="http://schemas.microsoft.com/office/drawing/2014/main" id="{34437306-BE59-2739-FD7E-F4185F264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3951288"/>
            <a:ext cx="23368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CB2FD8AB-C186-F501-FBBF-FDC545423C26}"/>
              </a:ext>
            </a:extLst>
          </p:cNvPr>
          <p:cNvSpPr>
            <a:spLocks noGrp="1"/>
          </p:cNvSpPr>
          <p:nvPr>
            <p:ph type="title"/>
          </p:nvPr>
        </p:nvSpPr>
        <p:spPr/>
        <p:txBody>
          <a:bodyPr rtlCol="0">
            <a:normAutofit/>
          </a:bodyPr>
          <a:lstStyle/>
          <a:p>
            <a:pPr eaLnBrk="1" fontAlgn="auto" hangingPunct="1">
              <a:spcAft>
                <a:spcPts val="0"/>
              </a:spcAft>
              <a:defRPr/>
            </a:pPr>
            <a:r>
              <a:rPr lang="en-IE">
                <a:latin typeface="Trebuchet MS" charset="0"/>
              </a:rPr>
              <a:t>Sorting</a:t>
            </a:r>
          </a:p>
        </p:txBody>
      </p:sp>
      <p:sp>
        <p:nvSpPr>
          <p:cNvPr id="3" name="Content Placeholder 2">
            <a:extLst>
              <a:ext uri="{FF2B5EF4-FFF2-40B4-BE49-F238E27FC236}">
                <a16:creationId xmlns:a16="http://schemas.microsoft.com/office/drawing/2014/main" id="{7EB40898-0E41-3716-A7DE-E237A4232EE3}"/>
              </a:ext>
            </a:extLst>
          </p:cNvPr>
          <p:cNvSpPr>
            <a:spLocks noGrp="1"/>
          </p:cNvSpPr>
          <p:nvPr>
            <p:ph idx="1"/>
          </p:nvPr>
        </p:nvSpPr>
        <p:spPr>
          <a:xfrm>
            <a:off x="695325" y="1828800"/>
            <a:ext cx="9686925" cy="4267200"/>
          </a:xfrm>
        </p:spPr>
        <p:txBody>
          <a:bodyPr rtlCol="0">
            <a:normAutofit/>
          </a:bodyPr>
          <a:lstStyle/>
          <a:p>
            <a:pPr marL="182880" indent="-182880" eaLnBrk="1" fontAlgn="auto" hangingPunct="1">
              <a:spcAft>
                <a:spcPts val="0"/>
              </a:spcAft>
              <a:buFont typeface="Times" pitchFamily="-32" charset="0"/>
              <a:buChar char="•"/>
              <a:defRPr/>
            </a:pPr>
            <a:r>
              <a:rPr lang="en-IE" dirty="0"/>
              <a:t>A computer is quite limited in the data it can handle simultaneously and is restricted to:</a:t>
            </a:r>
          </a:p>
          <a:p>
            <a:pPr marL="1314450" lvl="2" indent="-514350" eaLnBrk="1" fontAlgn="auto" hangingPunct="1">
              <a:spcAft>
                <a:spcPts val="0"/>
              </a:spcAft>
              <a:buFont typeface="+mj-lt"/>
              <a:buAutoNum type="arabicPeriod"/>
              <a:defRPr/>
            </a:pPr>
            <a:r>
              <a:rPr lang="en-IE" sz="3200" dirty="0">
                <a:solidFill>
                  <a:srgbClr val="0070C0"/>
                </a:solidFill>
              </a:rPr>
              <a:t>Comparing two items</a:t>
            </a:r>
          </a:p>
          <a:p>
            <a:pPr marL="1314450" lvl="2" indent="-514350" eaLnBrk="1" fontAlgn="auto" hangingPunct="1">
              <a:spcAft>
                <a:spcPts val="0"/>
              </a:spcAft>
              <a:buFont typeface="+mj-lt"/>
              <a:buAutoNum type="arabicPeriod"/>
              <a:defRPr/>
            </a:pPr>
            <a:r>
              <a:rPr lang="en-IE" sz="3200" dirty="0">
                <a:solidFill>
                  <a:srgbClr val="0070C0"/>
                </a:solidFill>
              </a:rPr>
              <a:t>Swapping the items or copying one item.</a:t>
            </a:r>
          </a:p>
          <a:p>
            <a:pPr marL="800100" lvl="2" indent="0" eaLnBrk="1" fontAlgn="auto" hangingPunct="1">
              <a:spcAft>
                <a:spcPts val="0"/>
              </a:spcAft>
              <a:buFont typeface="Arial" panose="020B0604020202020204" pitchFamily="34" charset="0"/>
              <a:buNone/>
              <a:defRPr/>
            </a:pPr>
            <a:endParaRPr lang="en-IE" sz="3200" dirty="0">
              <a:solidFill>
                <a:srgbClr val="0070C0"/>
              </a:solidFill>
            </a:endParaRPr>
          </a:p>
          <a:p>
            <a:pPr marL="514350" indent="-514350" eaLnBrk="1" fontAlgn="auto" hangingPunct="1">
              <a:spcAft>
                <a:spcPts val="0"/>
              </a:spcAft>
              <a:buFont typeface="Times" pitchFamily="-32" charset="0"/>
              <a:buChar char="•"/>
              <a:defRPr/>
            </a:pPr>
            <a:r>
              <a:rPr lang="en-IE" dirty="0"/>
              <a:t>In the sorting algorithm we will investigate, we will see the above two steps repeatedly used.</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653FEDE3-130C-8B42-2DE8-454293D56B53}"/>
              </a:ext>
            </a:extLst>
          </p:cNvPr>
          <p:cNvSpPr>
            <a:spLocks noGrp="1" noChangeArrowheads="1"/>
          </p:cNvSpPr>
          <p:nvPr>
            <p:ph type="title"/>
          </p:nvPr>
        </p:nvSpPr>
        <p:spPr/>
        <p:txBody>
          <a:bodyPr rtlCol="0">
            <a:normAutofit/>
          </a:bodyPr>
          <a:lstStyle/>
          <a:p>
            <a:pPr eaLnBrk="1" fontAlgn="auto" hangingPunct="1">
              <a:spcAft>
                <a:spcPts val="0"/>
              </a:spcAft>
              <a:defRPr/>
            </a:pPr>
            <a:r>
              <a:rPr lang="en-US" altLang="en-US" dirty="0" err="1">
                <a:latin typeface="Trebuchet MS" pitchFamily="34" charset="0"/>
              </a:rPr>
              <a:t>ArrayList</a:t>
            </a:r>
            <a:r>
              <a:rPr lang="en-US" altLang="en-US" dirty="0">
                <a:latin typeface="Trebuchet MS" pitchFamily="34" charset="0"/>
              </a:rPr>
              <a:t> – Swapping Values</a:t>
            </a:r>
          </a:p>
        </p:txBody>
      </p:sp>
      <p:sp>
        <p:nvSpPr>
          <p:cNvPr id="31747" name="Rectangle 3">
            <a:extLst>
              <a:ext uri="{FF2B5EF4-FFF2-40B4-BE49-F238E27FC236}">
                <a16:creationId xmlns:a16="http://schemas.microsoft.com/office/drawing/2014/main" id="{22D9EFE2-AD57-B8EB-423A-1F6314F4061B}"/>
              </a:ext>
            </a:extLst>
          </p:cNvPr>
          <p:cNvSpPr>
            <a:spLocks noGrp="1"/>
          </p:cNvSpPr>
          <p:nvPr>
            <p:ph idx="1"/>
          </p:nvPr>
        </p:nvSpPr>
        <p:spPr/>
        <p:txBody>
          <a:bodyPr/>
          <a:lstStyle/>
          <a:p>
            <a:pPr eaLnBrk="1" hangingPunct="1"/>
            <a:r>
              <a:rPr lang="en-IE" altLang="en-US" sz="2800">
                <a:latin typeface="Trebuchet MS" panose="020B0703020202090204" pitchFamily="34" charset="0"/>
              </a:rPr>
              <a:t>Before we start discussing sorting, we will look at swapping two values in an ArrayList. </a:t>
            </a:r>
          </a:p>
          <a:p>
            <a:pPr eaLnBrk="1" hangingPunct="1">
              <a:buFont typeface="Times" charset="0"/>
              <a:buNone/>
            </a:pPr>
            <a:endParaRPr lang="en-IE" altLang="en-US" sz="2800">
              <a:latin typeface="Trebuchet MS" panose="020B0703020202090204" pitchFamily="34" charset="0"/>
            </a:endParaRPr>
          </a:p>
          <a:p>
            <a:pPr eaLnBrk="1" hangingPunct="1"/>
            <a:r>
              <a:rPr lang="en-IE" altLang="en-US" sz="2800">
                <a:latin typeface="Trebuchet MS" panose="020B0703020202090204" pitchFamily="34" charset="0"/>
              </a:rPr>
              <a:t>This swap algorithm is needed during sorting.</a:t>
            </a:r>
            <a:endParaRPr lang="en-US" altLang="en-US" sz="2800">
              <a:latin typeface="Trebuchet MS" panose="020B0703020202090204" pitchFamily="34" charset="0"/>
            </a:endParaRPr>
          </a:p>
        </p:txBody>
      </p:sp>
      <p:pic>
        <p:nvPicPr>
          <p:cNvPr id="33796" name="Picture 1">
            <a:extLst>
              <a:ext uri="{FF2B5EF4-FFF2-40B4-BE49-F238E27FC236}">
                <a16:creationId xmlns:a16="http://schemas.microsoft.com/office/drawing/2014/main" id="{B81C810C-DFD5-A529-539F-460E33D2F05B}"/>
              </a:ext>
            </a:extLst>
          </p:cNvPr>
          <p:cNvPicPr>
            <a:picLocks noChangeAspect="1" noChangeArrowheads="1"/>
          </p:cNvPicPr>
          <p:nvPr/>
        </p:nvPicPr>
        <p:blipFill>
          <a:blip r:embed="rId4"/>
          <a:srcRect/>
          <a:stretch>
            <a:fillRect/>
          </a:stretch>
        </p:blipFill>
        <p:spPr bwMode="auto">
          <a:xfrm>
            <a:off x="4224338" y="3933825"/>
            <a:ext cx="3673475" cy="2324100"/>
          </a:xfrm>
          <a:prstGeom prst="rect">
            <a:avLst/>
          </a:prstGeom>
          <a:noFill/>
          <a:ln>
            <a:noFill/>
          </a:ln>
          <a:effectLst>
            <a:outerShdw blurRad="292100" dist="139700" dir="2700000" algn="tl" rotWithShape="0">
              <a:srgbClr val="333333">
                <a:alpha val="64999"/>
              </a:srgbClr>
            </a:outerShdw>
          </a:effectLst>
        </p:spPr>
      </p:pic>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76C9-8C93-A001-D834-27B082E9B5CB}"/>
              </a:ext>
            </a:extLst>
          </p:cNvPr>
          <p:cNvSpPr>
            <a:spLocks noGrp="1"/>
          </p:cNvSpPr>
          <p:nvPr>
            <p:ph type="title"/>
          </p:nvPr>
        </p:nvSpPr>
        <p:spPr/>
        <p:txBody>
          <a:bodyPr/>
          <a:lstStyle/>
          <a:p>
            <a:pPr>
              <a:defRPr/>
            </a:pPr>
            <a:r>
              <a:rPr lang="en-US" altLang="en-US" dirty="0" err="1">
                <a:latin typeface="Trebuchet MS" pitchFamily="34" charset="0"/>
              </a:rPr>
              <a:t>ArrayList</a:t>
            </a:r>
            <a:r>
              <a:rPr lang="en-US" altLang="en-US" dirty="0">
                <a:latin typeface="Trebuchet MS" pitchFamily="34" charset="0"/>
              </a:rPr>
              <a:t> – Swapping Values</a:t>
            </a:r>
            <a:endParaRPr lang="en-IE" dirty="0"/>
          </a:p>
        </p:txBody>
      </p:sp>
      <p:sp>
        <p:nvSpPr>
          <p:cNvPr id="5" name="Rectangle 1">
            <a:extLst>
              <a:ext uri="{FF2B5EF4-FFF2-40B4-BE49-F238E27FC236}">
                <a16:creationId xmlns:a16="http://schemas.microsoft.com/office/drawing/2014/main" id="{D1F2B337-8B5F-0C7E-585F-6B87B38A8684}"/>
              </a:ext>
            </a:extLst>
          </p:cNvPr>
          <p:cNvSpPr>
            <a:spLocks noChangeArrowheads="1"/>
          </p:cNvSpPr>
          <p:nvPr/>
        </p:nvSpPr>
        <p:spPr bwMode="auto">
          <a:xfrm>
            <a:off x="1847850" y="1562100"/>
            <a:ext cx="8785225" cy="361950"/>
          </a:xfrm>
          <a:prstGeom prst="rect">
            <a:avLst/>
          </a:prstGeom>
          <a:solidFill>
            <a:srgbClr val="FFFFFF"/>
          </a:solidFill>
          <a:ln>
            <a:noFill/>
          </a:ln>
          <a:effectLst/>
        </p:spPr>
        <p:txBody>
          <a:bodyPr anchor="ctr">
            <a:spAutoFit/>
          </a:bodyPr>
          <a:lstStyle/>
          <a:p>
            <a:pPr>
              <a:defRPr/>
            </a:pPr>
            <a:r>
              <a:rPr lang="en-US" altLang="en-US" sz="1750" b="1" dirty="0">
                <a:solidFill>
                  <a:srgbClr val="000080"/>
                </a:solidFill>
                <a:latin typeface="Courier New" panose="02070309020205020404" pitchFamily="49" charset="0"/>
                <a:cs typeface="Courier New" panose="02070309020205020404" pitchFamily="49" charset="0"/>
              </a:rPr>
              <a:t>private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 </a:t>
            </a:r>
            <a:r>
              <a:rPr lang="en-US" altLang="en-US" sz="1750" b="1" dirty="0">
                <a:solidFill>
                  <a:srgbClr val="660E7A"/>
                </a:solidFill>
                <a:latin typeface="Courier New" panose="02070309020205020404" pitchFamily="49" charset="0"/>
                <a:cs typeface="Courier New" panose="02070309020205020404" pitchFamily="49" charset="0"/>
              </a:rPr>
              <a:t>products </a:t>
            </a:r>
            <a:r>
              <a:rPr lang="en-US" altLang="en-US" sz="1750" dirty="0">
                <a:solidFill>
                  <a:srgbClr val="000000"/>
                </a:solidFill>
                <a:latin typeface="Courier New" panose="02070309020205020404" pitchFamily="49" charset="0"/>
                <a:cs typeface="Courier New" panose="02070309020205020404" pitchFamily="49" charset="0"/>
              </a:rPr>
              <a:t>= </a:t>
            </a:r>
            <a:r>
              <a:rPr lang="en-US" altLang="en-US" sz="1750" b="1" dirty="0">
                <a:solidFill>
                  <a:srgbClr val="000080"/>
                </a:solidFill>
                <a:latin typeface="Courier New" panose="02070309020205020404" pitchFamily="49" charset="0"/>
                <a:cs typeface="Courier New" panose="02070309020205020404" pitchFamily="49" charset="0"/>
              </a:rPr>
              <a:t>new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8D0D9-49BC-0F1E-075A-FD56A4C6FD68}"/>
              </a:ext>
            </a:extLst>
          </p:cNvPr>
          <p:cNvSpPr>
            <a:spLocks noGrp="1"/>
          </p:cNvSpPr>
          <p:nvPr>
            <p:ph type="title"/>
          </p:nvPr>
        </p:nvSpPr>
        <p:spPr/>
        <p:txBody>
          <a:bodyPr/>
          <a:lstStyle/>
          <a:p>
            <a:pPr>
              <a:defRPr/>
            </a:pPr>
            <a:r>
              <a:rPr lang="en-US" altLang="en-US" dirty="0" err="1">
                <a:latin typeface="Trebuchet MS" pitchFamily="34" charset="0"/>
              </a:rPr>
              <a:t>ArrayList</a:t>
            </a:r>
            <a:r>
              <a:rPr lang="en-US" altLang="en-US" dirty="0">
                <a:latin typeface="Trebuchet MS" pitchFamily="34" charset="0"/>
              </a:rPr>
              <a:t> – Swapping Values</a:t>
            </a:r>
            <a:endParaRPr lang="en-IE" dirty="0"/>
          </a:p>
        </p:txBody>
      </p:sp>
      <p:sp>
        <p:nvSpPr>
          <p:cNvPr id="5" name="Rectangle 1">
            <a:extLst>
              <a:ext uri="{FF2B5EF4-FFF2-40B4-BE49-F238E27FC236}">
                <a16:creationId xmlns:a16="http://schemas.microsoft.com/office/drawing/2014/main" id="{20E03861-6E07-50C0-4CF2-5D5F7ACDC213}"/>
              </a:ext>
            </a:extLst>
          </p:cNvPr>
          <p:cNvSpPr>
            <a:spLocks noChangeArrowheads="1"/>
          </p:cNvSpPr>
          <p:nvPr/>
        </p:nvSpPr>
        <p:spPr bwMode="auto">
          <a:xfrm>
            <a:off x="1847850" y="1562100"/>
            <a:ext cx="8785225" cy="361950"/>
          </a:xfrm>
          <a:prstGeom prst="rect">
            <a:avLst/>
          </a:prstGeom>
          <a:solidFill>
            <a:srgbClr val="FFFFFF"/>
          </a:solidFill>
          <a:ln>
            <a:noFill/>
          </a:ln>
          <a:effectLst/>
        </p:spPr>
        <p:txBody>
          <a:bodyPr anchor="ctr">
            <a:spAutoFit/>
          </a:bodyPr>
          <a:lstStyle/>
          <a:p>
            <a:pPr>
              <a:defRPr/>
            </a:pPr>
            <a:r>
              <a:rPr lang="en-US" altLang="en-US" sz="1750" b="1" dirty="0">
                <a:solidFill>
                  <a:srgbClr val="000080"/>
                </a:solidFill>
                <a:latin typeface="Courier New" panose="02070309020205020404" pitchFamily="49" charset="0"/>
                <a:cs typeface="Courier New" panose="02070309020205020404" pitchFamily="49" charset="0"/>
              </a:rPr>
              <a:t>private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 </a:t>
            </a:r>
            <a:r>
              <a:rPr lang="en-US" altLang="en-US" sz="1750" b="1" dirty="0">
                <a:solidFill>
                  <a:srgbClr val="660E7A"/>
                </a:solidFill>
                <a:latin typeface="Courier New" panose="02070309020205020404" pitchFamily="49" charset="0"/>
                <a:cs typeface="Courier New" panose="02070309020205020404" pitchFamily="49" charset="0"/>
              </a:rPr>
              <a:t>products </a:t>
            </a:r>
            <a:r>
              <a:rPr lang="en-US" altLang="en-US" sz="1750" dirty="0">
                <a:solidFill>
                  <a:srgbClr val="000000"/>
                </a:solidFill>
                <a:latin typeface="Courier New" panose="02070309020205020404" pitchFamily="49" charset="0"/>
                <a:cs typeface="Courier New" panose="02070309020205020404" pitchFamily="49" charset="0"/>
              </a:rPr>
              <a:t>= </a:t>
            </a:r>
            <a:r>
              <a:rPr lang="en-US" altLang="en-US" sz="1750" b="1" dirty="0">
                <a:solidFill>
                  <a:srgbClr val="000080"/>
                </a:solidFill>
                <a:latin typeface="Courier New" panose="02070309020205020404" pitchFamily="49" charset="0"/>
                <a:cs typeface="Courier New" panose="02070309020205020404" pitchFamily="49" charset="0"/>
              </a:rPr>
              <a:t>new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a:t>
            </a:r>
          </a:p>
        </p:txBody>
      </p:sp>
      <p:sp>
        <p:nvSpPr>
          <p:cNvPr id="7" name="Rectangle: Rounded Corners 6">
            <a:extLst>
              <a:ext uri="{FF2B5EF4-FFF2-40B4-BE49-F238E27FC236}">
                <a16:creationId xmlns:a16="http://schemas.microsoft.com/office/drawing/2014/main" id="{BCE1624A-7380-0A87-8330-E87DD5FA9D70}"/>
              </a:ext>
            </a:extLst>
          </p:cNvPr>
          <p:cNvSpPr/>
          <p:nvPr/>
        </p:nvSpPr>
        <p:spPr>
          <a:xfrm>
            <a:off x="4114800" y="3536950"/>
            <a:ext cx="1008063" cy="50482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dirty="0"/>
          </a:p>
        </p:txBody>
      </p:sp>
      <p:graphicFrame>
        <p:nvGraphicFramePr>
          <p:cNvPr id="8" name="Table 8">
            <a:extLst>
              <a:ext uri="{FF2B5EF4-FFF2-40B4-BE49-F238E27FC236}">
                <a16:creationId xmlns:a16="http://schemas.microsoft.com/office/drawing/2014/main" id="{366EE523-0497-C5A9-067B-F5C137CA8033}"/>
              </a:ext>
            </a:extLst>
          </p:cNvPr>
          <p:cNvGraphicFramePr>
            <a:graphicFrameLocks noGrp="1"/>
          </p:cNvGraphicFramePr>
          <p:nvPr/>
        </p:nvGraphicFramePr>
        <p:xfrm>
          <a:off x="5761038" y="4103688"/>
          <a:ext cx="1292225" cy="1854200"/>
        </p:xfrm>
        <a:graphic>
          <a:graphicData uri="http://schemas.openxmlformats.org/drawingml/2006/table">
            <a:tbl>
              <a:tblPr firstRow="1" bandRow="1">
                <a:tableStyleId>{5940675A-B579-460E-94D1-54222C63F5DA}</a:tableStyleId>
              </a:tblPr>
              <a:tblGrid>
                <a:gridCol w="454547">
                  <a:extLst>
                    <a:ext uri="{9D8B030D-6E8A-4147-A177-3AD203B41FA5}">
                      <a16:colId xmlns:a16="http://schemas.microsoft.com/office/drawing/2014/main" val="20000"/>
                    </a:ext>
                  </a:extLst>
                </a:gridCol>
                <a:gridCol w="837678">
                  <a:extLst>
                    <a:ext uri="{9D8B030D-6E8A-4147-A177-3AD203B41FA5}">
                      <a16:colId xmlns:a16="http://schemas.microsoft.com/office/drawing/2014/main" val="20001"/>
                    </a:ext>
                  </a:extLst>
                </a:gridCol>
              </a:tblGrid>
              <a:tr h="370840">
                <a:tc>
                  <a:txBody>
                    <a:bodyPr/>
                    <a:lstStyle/>
                    <a:p>
                      <a:r>
                        <a:rPr lang="en-IE" dirty="0"/>
                        <a:t>0</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0"/>
                  </a:ext>
                </a:extLst>
              </a:tr>
              <a:tr h="370840">
                <a:tc>
                  <a:txBody>
                    <a:bodyPr/>
                    <a:lstStyle/>
                    <a:p>
                      <a:r>
                        <a:rPr lang="en-IE" dirty="0"/>
                        <a:t>1</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1"/>
                  </a:ext>
                </a:extLst>
              </a:tr>
              <a:tr h="370840">
                <a:tc>
                  <a:txBody>
                    <a:bodyPr/>
                    <a:lstStyle/>
                    <a:p>
                      <a:r>
                        <a:rPr lang="en-IE" dirty="0"/>
                        <a:t>2</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2"/>
                  </a:ext>
                </a:extLst>
              </a:tr>
              <a:tr h="370840">
                <a:tc>
                  <a:txBody>
                    <a:bodyPr/>
                    <a:lstStyle/>
                    <a:p>
                      <a:r>
                        <a:rPr lang="en-IE" dirty="0"/>
                        <a:t>3</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3"/>
                  </a:ext>
                </a:extLst>
              </a:tr>
              <a:tr h="370840">
                <a:tc>
                  <a:txBody>
                    <a:bodyPr/>
                    <a:lstStyle/>
                    <a:p>
                      <a:r>
                        <a:rPr lang="en-IE" dirty="0"/>
                        <a:t>4</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10" name="Oval 9">
            <a:extLst>
              <a:ext uri="{FF2B5EF4-FFF2-40B4-BE49-F238E27FC236}">
                <a16:creationId xmlns:a16="http://schemas.microsoft.com/office/drawing/2014/main" id="{DEB51B81-0645-3D21-B74B-F6C8E2E7596E}"/>
              </a:ext>
            </a:extLst>
          </p:cNvPr>
          <p:cNvSpPr/>
          <p:nvPr/>
        </p:nvSpPr>
        <p:spPr>
          <a:xfrm>
            <a:off x="4510088" y="368141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4842" name="TextBox 10">
            <a:extLst>
              <a:ext uri="{FF2B5EF4-FFF2-40B4-BE49-F238E27FC236}">
                <a16:creationId xmlns:a16="http://schemas.microsoft.com/office/drawing/2014/main" id="{86202956-FFA9-F62C-A496-0C53C6D4210A}"/>
              </a:ext>
            </a:extLst>
          </p:cNvPr>
          <p:cNvSpPr txBox="1">
            <a:spLocks noChangeArrowheads="1"/>
          </p:cNvSpPr>
          <p:nvPr/>
        </p:nvSpPr>
        <p:spPr bwMode="auto">
          <a:xfrm>
            <a:off x="4114800" y="3213100"/>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E" altLang="en-US" sz="1800"/>
              <a:t>products</a:t>
            </a:r>
          </a:p>
        </p:txBody>
      </p:sp>
      <p:cxnSp>
        <p:nvCxnSpPr>
          <p:cNvPr id="13" name="Straight Arrow Connector 12">
            <a:extLst>
              <a:ext uri="{FF2B5EF4-FFF2-40B4-BE49-F238E27FC236}">
                <a16:creationId xmlns:a16="http://schemas.microsoft.com/office/drawing/2014/main" id="{56A9EDFD-B0D2-88BA-C029-1A7B9595E861}"/>
              </a:ext>
            </a:extLst>
          </p:cNvPr>
          <p:cNvCxnSpPr>
            <a:cxnSpLocks/>
          </p:cNvCxnSpPr>
          <p:nvPr/>
        </p:nvCxnSpPr>
        <p:spPr>
          <a:xfrm>
            <a:off x="4725988" y="3824288"/>
            <a:ext cx="1030287" cy="2968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E8E1AC5E-A43E-C887-B601-5F9E1F51B4CF}"/>
              </a:ext>
            </a:extLst>
          </p:cNvPr>
          <p:cNvSpPr/>
          <p:nvPr/>
        </p:nvSpPr>
        <p:spPr>
          <a:xfrm>
            <a:off x="6548438" y="421005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8" name="Straight Arrow Connector 17">
            <a:extLst>
              <a:ext uri="{FF2B5EF4-FFF2-40B4-BE49-F238E27FC236}">
                <a16:creationId xmlns:a16="http://schemas.microsoft.com/office/drawing/2014/main" id="{67CC3343-F254-48AB-EA3C-BD25420D047A}"/>
              </a:ext>
            </a:extLst>
          </p:cNvPr>
          <p:cNvCxnSpPr>
            <a:cxnSpLocks/>
            <a:endCxn id="34" idx="1"/>
          </p:cNvCxnSpPr>
          <p:nvPr/>
        </p:nvCxnSpPr>
        <p:spPr>
          <a:xfrm flipV="1">
            <a:off x="6738938" y="3576638"/>
            <a:ext cx="1101725" cy="72707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9BD03F9D-D252-C343-5D6E-3CA2FF29EDB6}"/>
              </a:ext>
            </a:extLst>
          </p:cNvPr>
          <p:cNvSpPr/>
          <p:nvPr/>
        </p:nvSpPr>
        <p:spPr>
          <a:xfrm>
            <a:off x="6565900" y="4589463"/>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2" name="Straight Arrow Connector 21">
            <a:extLst>
              <a:ext uri="{FF2B5EF4-FFF2-40B4-BE49-F238E27FC236}">
                <a16:creationId xmlns:a16="http://schemas.microsoft.com/office/drawing/2014/main" id="{92C798F7-DAEA-0422-5458-F29C39511038}"/>
              </a:ext>
            </a:extLst>
          </p:cNvPr>
          <p:cNvCxnSpPr>
            <a:cxnSpLocks/>
            <a:stCxn id="21" idx="6"/>
            <a:endCxn id="35" idx="1"/>
          </p:cNvCxnSpPr>
          <p:nvPr/>
        </p:nvCxnSpPr>
        <p:spPr>
          <a:xfrm flipV="1">
            <a:off x="6781800" y="4295775"/>
            <a:ext cx="1079500" cy="40163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8017C76-0F58-F3A5-C80B-2EEC8BEFE229}"/>
              </a:ext>
            </a:extLst>
          </p:cNvPr>
          <p:cNvSpPr/>
          <p:nvPr/>
        </p:nvSpPr>
        <p:spPr>
          <a:xfrm>
            <a:off x="6548438" y="4962525"/>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4" name="Straight Arrow Connector 23">
            <a:extLst>
              <a:ext uri="{FF2B5EF4-FFF2-40B4-BE49-F238E27FC236}">
                <a16:creationId xmlns:a16="http://schemas.microsoft.com/office/drawing/2014/main" id="{75B4BA91-7FBA-1C00-2374-3E319C0C0565}"/>
              </a:ext>
            </a:extLst>
          </p:cNvPr>
          <p:cNvCxnSpPr>
            <a:cxnSpLocks/>
            <a:stCxn id="23" idx="6"/>
          </p:cNvCxnSpPr>
          <p:nvPr/>
        </p:nvCxnSpPr>
        <p:spPr>
          <a:xfrm flipV="1">
            <a:off x="6764338" y="5018088"/>
            <a:ext cx="1152525" cy="5238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DEF934D9-199F-69C1-9761-500BB2621D57}"/>
              </a:ext>
            </a:extLst>
          </p:cNvPr>
          <p:cNvSpPr/>
          <p:nvPr/>
        </p:nvSpPr>
        <p:spPr>
          <a:xfrm>
            <a:off x="6548438" y="5297488"/>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6" name="Straight Arrow Connector 25">
            <a:extLst>
              <a:ext uri="{FF2B5EF4-FFF2-40B4-BE49-F238E27FC236}">
                <a16:creationId xmlns:a16="http://schemas.microsoft.com/office/drawing/2014/main" id="{0CAB98D6-383A-CA54-8A04-CCAA283AB362}"/>
              </a:ext>
            </a:extLst>
          </p:cNvPr>
          <p:cNvCxnSpPr>
            <a:cxnSpLocks/>
            <a:stCxn id="25" idx="6"/>
          </p:cNvCxnSpPr>
          <p:nvPr/>
        </p:nvCxnSpPr>
        <p:spPr>
          <a:xfrm>
            <a:off x="6764338" y="5405438"/>
            <a:ext cx="1096962" cy="309562"/>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3470F8C3-39E4-078B-DE17-F1B06B2E2D36}"/>
              </a:ext>
            </a:extLst>
          </p:cNvPr>
          <p:cNvSpPr/>
          <p:nvPr/>
        </p:nvSpPr>
        <p:spPr>
          <a:xfrm>
            <a:off x="6548438" y="565785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8" name="Straight Arrow Connector 27">
            <a:extLst>
              <a:ext uri="{FF2B5EF4-FFF2-40B4-BE49-F238E27FC236}">
                <a16:creationId xmlns:a16="http://schemas.microsoft.com/office/drawing/2014/main" id="{70EA2D1F-B40B-93A4-44AB-3F51F7C3DF18}"/>
              </a:ext>
            </a:extLst>
          </p:cNvPr>
          <p:cNvCxnSpPr>
            <a:cxnSpLocks/>
            <a:stCxn id="27" idx="6"/>
            <a:endCxn id="40" idx="1"/>
          </p:cNvCxnSpPr>
          <p:nvPr/>
        </p:nvCxnSpPr>
        <p:spPr>
          <a:xfrm>
            <a:off x="6764338" y="5765800"/>
            <a:ext cx="1147762" cy="72231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2D2558D0-180E-025A-2F8C-0C75F550D828}"/>
              </a:ext>
            </a:extLst>
          </p:cNvPr>
          <p:cNvSpPr/>
          <p:nvPr/>
        </p:nvSpPr>
        <p:spPr>
          <a:xfrm>
            <a:off x="7840663" y="3324225"/>
            <a:ext cx="2659062"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Sugar</a:t>
            </a:r>
          </a:p>
        </p:txBody>
      </p:sp>
      <p:sp>
        <p:nvSpPr>
          <p:cNvPr id="35" name="Rectangle: Rounded Corners 34">
            <a:extLst>
              <a:ext uri="{FF2B5EF4-FFF2-40B4-BE49-F238E27FC236}">
                <a16:creationId xmlns:a16="http://schemas.microsoft.com/office/drawing/2014/main" id="{C342B1BB-ED14-7496-98E1-11971097DC67}"/>
              </a:ext>
            </a:extLst>
          </p:cNvPr>
          <p:cNvSpPr/>
          <p:nvPr/>
        </p:nvSpPr>
        <p:spPr>
          <a:xfrm>
            <a:off x="7861300" y="4043363"/>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Flour</a:t>
            </a:r>
          </a:p>
        </p:txBody>
      </p:sp>
      <p:sp>
        <p:nvSpPr>
          <p:cNvPr id="36" name="Rectangle: Rounded Corners 35">
            <a:extLst>
              <a:ext uri="{FF2B5EF4-FFF2-40B4-BE49-F238E27FC236}">
                <a16:creationId xmlns:a16="http://schemas.microsoft.com/office/drawing/2014/main" id="{1046F72D-6841-9E92-77D0-51B8012808B1}"/>
              </a:ext>
            </a:extLst>
          </p:cNvPr>
          <p:cNvSpPr/>
          <p:nvPr/>
        </p:nvSpPr>
        <p:spPr>
          <a:xfrm>
            <a:off x="7861300" y="4740275"/>
            <a:ext cx="2660650" cy="503238"/>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Eggs</a:t>
            </a:r>
          </a:p>
        </p:txBody>
      </p:sp>
      <p:sp>
        <p:nvSpPr>
          <p:cNvPr id="39" name="Rectangle: Rounded Corners 38">
            <a:extLst>
              <a:ext uri="{FF2B5EF4-FFF2-40B4-BE49-F238E27FC236}">
                <a16:creationId xmlns:a16="http://schemas.microsoft.com/office/drawing/2014/main" id="{062C5FB5-B7D3-3C58-0CC5-5BB4728E9E52}"/>
              </a:ext>
            </a:extLst>
          </p:cNvPr>
          <p:cNvSpPr/>
          <p:nvPr/>
        </p:nvSpPr>
        <p:spPr>
          <a:xfrm>
            <a:off x="7861300" y="5453063"/>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Milk</a:t>
            </a:r>
          </a:p>
        </p:txBody>
      </p:sp>
      <p:sp>
        <p:nvSpPr>
          <p:cNvPr id="40" name="Rectangle: Rounded Corners 39">
            <a:extLst>
              <a:ext uri="{FF2B5EF4-FFF2-40B4-BE49-F238E27FC236}">
                <a16:creationId xmlns:a16="http://schemas.microsoft.com/office/drawing/2014/main" id="{304F16DA-7FCD-6F2E-647E-0E6F87EFAB4D}"/>
              </a:ext>
            </a:extLst>
          </p:cNvPr>
          <p:cNvSpPr/>
          <p:nvPr/>
        </p:nvSpPr>
        <p:spPr>
          <a:xfrm>
            <a:off x="7912100" y="6235700"/>
            <a:ext cx="2660650" cy="503238"/>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Salt</a:t>
            </a:r>
          </a:p>
        </p:txBody>
      </p:sp>
      <p:sp>
        <p:nvSpPr>
          <p:cNvPr id="44" name="TextBox 43">
            <a:extLst>
              <a:ext uri="{FF2B5EF4-FFF2-40B4-BE49-F238E27FC236}">
                <a16:creationId xmlns:a16="http://schemas.microsoft.com/office/drawing/2014/main" id="{BA436D34-E60D-3FE4-87FB-ACCA16585CAF}"/>
              </a:ext>
            </a:extLst>
          </p:cNvPr>
          <p:cNvSpPr txBox="1"/>
          <p:nvPr/>
        </p:nvSpPr>
        <p:spPr>
          <a:xfrm>
            <a:off x="1271588" y="2106613"/>
            <a:ext cx="2500312" cy="12001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defRPr/>
            </a:pPr>
            <a:r>
              <a:rPr lang="en-IE" sz="2400" b="1" dirty="0"/>
              <a:t>With five product objects added to the </a:t>
            </a:r>
            <a:r>
              <a:rPr lang="en-IE" sz="2400" b="1" dirty="0" err="1"/>
              <a:t>ArrayList</a:t>
            </a:r>
            <a:r>
              <a:rPr lang="en-IE" sz="2400" b="1"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6FEF-C2CC-0ABA-900E-C4D03DE5707F}"/>
              </a:ext>
            </a:extLst>
          </p:cNvPr>
          <p:cNvSpPr>
            <a:spLocks noGrp="1"/>
          </p:cNvSpPr>
          <p:nvPr>
            <p:ph type="title"/>
          </p:nvPr>
        </p:nvSpPr>
        <p:spPr/>
        <p:txBody>
          <a:bodyPr/>
          <a:lstStyle/>
          <a:p>
            <a:pPr>
              <a:defRPr/>
            </a:pPr>
            <a:r>
              <a:rPr lang="en-US" altLang="en-US" dirty="0" err="1">
                <a:latin typeface="Trebuchet MS" pitchFamily="34" charset="0"/>
              </a:rPr>
              <a:t>ArrayList</a:t>
            </a:r>
            <a:r>
              <a:rPr lang="en-US" altLang="en-US" dirty="0">
                <a:latin typeface="Trebuchet MS" pitchFamily="34" charset="0"/>
              </a:rPr>
              <a:t> – Swapping Values</a:t>
            </a:r>
            <a:endParaRPr lang="en-IE" dirty="0"/>
          </a:p>
        </p:txBody>
      </p:sp>
      <p:sp>
        <p:nvSpPr>
          <p:cNvPr id="5" name="Rectangle 1">
            <a:extLst>
              <a:ext uri="{FF2B5EF4-FFF2-40B4-BE49-F238E27FC236}">
                <a16:creationId xmlns:a16="http://schemas.microsoft.com/office/drawing/2014/main" id="{6A5C5C50-8F59-B86B-AFE9-B02DA718D27D}"/>
              </a:ext>
            </a:extLst>
          </p:cNvPr>
          <p:cNvSpPr>
            <a:spLocks noChangeArrowheads="1"/>
          </p:cNvSpPr>
          <p:nvPr/>
        </p:nvSpPr>
        <p:spPr bwMode="auto">
          <a:xfrm>
            <a:off x="1847850" y="1562100"/>
            <a:ext cx="8785225" cy="361950"/>
          </a:xfrm>
          <a:prstGeom prst="rect">
            <a:avLst/>
          </a:prstGeom>
          <a:solidFill>
            <a:srgbClr val="FFFFFF"/>
          </a:solidFill>
          <a:ln>
            <a:noFill/>
          </a:ln>
          <a:effectLst/>
        </p:spPr>
        <p:txBody>
          <a:bodyPr anchor="ctr">
            <a:spAutoFit/>
          </a:bodyPr>
          <a:lstStyle/>
          <a:p>
            <a:pPr>
              <a:defRPr/>
            </a:pPr>
            <a:r>
              <a:rPr lang="en-US" altLang="en-US" sz="1750" b="1" dirty="0">
                <a:solidFill>
                  <a:srgbClr val="000080"/>
                </a:solidFill>
                <a:latin typeface="Courier New" panose="02070309020205020404" pitchFamily="49" charset="0"/>
                <a:cs typeface="Courier New" panose="02070309020205020404" pitchFamily="49" charset="0"/>
              </a:rPr>
              <a:t>private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 </a:t>
            </a:r>
            <a:r>
              <a:rPr lang="en-US" altLang="en-US" sz="1750" b="1" dirty="0">
                <a:solidFill>
                  <a:srgbClr val="660E7A"/>
                </a:solidFill>
                <a:latin typeface="Courier New" panose="02070309020205020404" pitchFamily="49" charset="0"/>
                <a:cs typeface="Courier New" panose="02070309020205020404" pitchFamily="49" charset="0"/>
              </a:rPr>
              <a:t>products </a:t>
            </a:r>
            <a:r>
              <a:rPr lang="en-US" altLang="en-US" sz="1750" dirty="0">
                <a:solidFill>
                  <a:srgbClr val="000000"/>
                </a:solidFill>
                <a:latin typeface="Courier New" panose="02070309020205020404" pitchFamily="49" charset="0"/>
                <a:cs typeface="Courier New" panose="02070309020205020404" pitchFamily="49" charset="0"/>
              </a:rPr>
              <a:t>= </a:t>
            </a:r>
            <a:r>
              <a:rPr lang="en-US" altLang="en-US" sz="1750" b="1" dirty="0">
                <a:solidFill>
                  <a:srgbClr val="000080"/>
                </a:solidFill>
                <a:latin typeface="Courier New" panose="02070309020205020404" pitchFamily="49" charset="0"/>
                <a:cs typeface="Courier New" panose="02070309020205020404" pitchFamily="49" charset="0"/>
              </a:rPr>
              <a:t>new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a:t>
            </a:r>
          </a:p>
        </p:txBody>
      </p:sp>
      <p:sp>
        <p:nvSpPr>
          <p:cNvPr id="7" name="Rectangle: Rounded Corners 6">
            <a:extLst>
              <a:ext uri="{FF2B5EF4-FFF2-40B4-BE49-F238E27FC236}">
                <a16:creationId xmlns:a16="http://schemas.microsoft.com/office/drawing/2014/main" id="{8298A62A-435E-52AA-0B27-F39C0A20FE12}"/>
              </a:ext>
            </a:extLst>
          </p:cNvPr>
          <p:cNvSpPr/>
          <p:nvPr/>
        </p:nvSpPr>
        <p:spPr>
          <a:xfrm>
            <a:off x="4114800" y="3536950"/>
            <a:ext cx="1008063" cy="50482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dirty="0"/>
          </a:p>
        </p:txBody>
      </p:sp>
      <p:graphicFrame>
        <p:nvGraphicFramePr>
          <p:cNvPr id="8" name="Table 8">
            <a:extLst>
              <a:ext uri="{FF2B5EF4-FFF2-40B4-BE49-F238E27FC236}">
                <a16:creationId xmlns:a16="http://schemas.microsoft.com/office/drawing/2014/main" id="{6E4660B4-57F1-298E-E8F8-43F309196336}"/>
              </a:ext>
            </a:extLst>
          </p:cNvPr>
          <p:cNvGraphicFramePr>
            <a:graphicFrameLocks noGrp="1"/>
          </p:cNvGraphicFramePr>
          <p:nvPr/>
        </p:nvGraphicFramePr>
        <p:xfrm>
          <a:off x="5761038" y="4103688"/>
          <a:ext cx="1292225" cy="1854200"/>
        </p:xfrm>
        <a:graphic>
          <a:graphicData uri="http://schemas.openxmlformats.org/drawingml/2006/table">
            <a:tbl>
              <a:tblPr firstRow="1" bandRow="1">
                <a:tableStyleId>{5940675A-B579-460E-94D1-54222C63F5DA}</a:tableStyleId>
              </a:tblPr>
              <a:tblGrid>
                <a:gridCol w="454547">
                  <a:extLst>
                    <a:ext uri="{9D8B030D-6E8A-4147-A177-3AD203B41FA5}">
                      <a16:colId xmlns:a16="http://schemas.microsoft.com/office/drawing/2014/main" val="20000"/>
                    </a:ext>
                  </a:extLst>
                </a:gridCol>
                <a:gridCol w="837678">
                  <a:extLst>
                    <a:ext uri="{9D8B030D-6E8A-4147-A177-3AD203B41FA5}">
                      <a16:colId xmlns:a16="http://schemas.microsoft.com/office/drawing/2014/main" val="20001"/>
                    </a:ext>
                  </a:extLst>
                </a:gridCol>
              </a:tblGrid>
              <a:tr h="370840">
                <a:tc>
                  <a:txBody>
                    <a:bodyPr/>
                    <a:lstStyle/>
                    <a:p>
                      <a:r>
                        <a:rPr lang="en-IE" dirty="0"/>
                        <a:t>0</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0"/>
                  </a:ext>
                </a:extLst>
              </a:tr>
              <a:tr h="370840">
                <a:tc>
                  <a:txBody>
                    <a:bodyPr/>
                    <a:lstStyle/>
                    <a:p>
                      <a:r>
                        <a:rPr lang="en-IE" dirty="0"/>
                        <a:t>1</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1"/>
                  </a:ext>
                </a:extLst>
              </a:tr>
              <a:tr h="370840">
                <a:tc>
                  <a:txBody>
                    <a:bodyPr/>
                    <a:lstStyle/>
                    <a:p>
                      <a:r>
                        <a:rPr lang="en-IE" dirty="0"/>
                        <a:t>2</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2"/>
                  </a:ext>
                </a:extLst>
              </a:tr>
              <a:tr h="370840">
                <a:tc>
                  <a:txBody>
                    <a:bodyPr/>
                    <a:lstStyle/>
                    <a:p>
                      <a:r>
                        <a:rPr lang="en-IE" dirty="0"/>
                        <a:t>3</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3"/>
                  </a:ext>
                </a:extLst>
              </a:tr>
              <a:tr h="370840">
                <a:tc>
                  <a:txBody>
                    <a:bodyPr/>
                    <a:lstStyle/>
                    <a:p>
                      <a:r>
                        <a:rPr lang="en-IE" dirty="0"/>
                        <a:t>4</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10" name="Oval 9">
            <a:extLst>
              <a:ext uri="{FF2B5EF4-FFF2-40B4-BE49-F238E27FC236}">
                <a16:creationId xmlns:a16="http://schemas.microsoft.com/office/drawing/2014/main" id="{8278504F-DCBB-A69E-2472-6E9D1A5725E7}"/>
              </a:ext>
            </a:extLst>
          </p:cNvPr>
          <p:cNvSpPr/>
          <p:nvPr/>
        </p:nvSpPr>
        <p:spPr>
          <a:xfrm>
            <a:off x="4510088" y="368141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5866" name="TextBox 10">
            <a:extLst>
              <a:ext uri="{FF2B5EF4-FFF2-40B4-BE49-F238E27FC236}">
                <a16:creationId xmlns:a16="http://schemas.microsoft.com/office/drawing/2014/main" id="{0628E82B-9144-2A7D-2FAC-B254379848BB}"/>
              </a:ext>
            </a:extLst>
          </p:cNvPr>
          <p:cNvSpPr txBox="1">
            <a:spLocks noChangeArrowheads="1"/>
          </p:cNvSpPr>
          <p:nvPr/>
        </p:nvSpPr>
        <p:spPr bwMode="auto">
          <a:xfrm>
            <a:off x="4114800" y="3213100"/>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E" altLang="en-US" sz="1800"/>
              <a:t>products</a:t>
            </a:r>
          </a:p>
        </p:txBody>
      </p:sp>
      <p:cxnSp>
        <p:nvCxnSpPr>
          <p:cNvPr id="13" name="Straight Arrow Connector 12">
            <a:extLst>
              <a:ext uri="{FF2B5EF4-FFF2-40B4-BE49-F238E27FC236}">
                <a16:creationId xmlns:a16="http://schemas.microsoft.com/office/drawing/2014/main" id="{FF269477-2ECB-41EC-ACBB-19EB7ECE6C7B}"/>
              </a:ext>
            </a:extLst>
          </p:cNvPr>
          <p:cNvCxnSpPr>
            <a:cxnSpLocks/>
          </p:cNvCxnSpPr>
          <p:nvPr/>
        </p:nvCxnSpPr>
        <p:spPr>
          <a:xfrm>
            <a:off x="4725988" y="3824288"/>
            <a:ext cx="1030287" cy="2968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9C281A7B-4B9F-AB9B-7E22-60FE68626004}"/>
              </a:ext>
            </a:extLst>
          </p:cNvPr>
          <p:cNvSpPr/>
          <p:nvPr/>
        </p:nvSpPr>
        <p:spPr>
          <a:xfrm>
            <a:off x="6548438" y="421005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8" name="Straight Arrow Connector 17">
            <a:extLst>
              <a:ext uri="{FF2B5EF4-FFF2-40B4-BE49-F238E27FC236}">
                <a16:creationId xmlns:a16="http://schemas.microsoft.com/office/drawing/2014/main" id="{B1FD5631-014E-B448-D69A-5E6A41FC8192}"/>
              </a:ext>
            </a:extLst>
          </p:cNvPr>
          <p:cNvCxnSpPr>
            <a:cxnSpLocks/>
            <a:endCxn id="34" idx="1"/>
          </p:cNvCxnSpPr>
          <p:nvPr/>
        </p:nvCxnSpPr>
        <p:spPr>
          <a:xfrm flipV="1">
            <a:off x="6738938" y="3576638"/>
            <a:ext cx="1101725" cy="72707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47E2FA2C-53E8-8A33-BBA4-EBF61EF00F7F}"/>
              </a:ext>
            </a:extLst>
          </p:cNvPr>
          <p:cNvSpPr/>
          <p:nvPr/>
        </p:nvSpPr>
        <p:spPr>
          <a:xfrm>
            <a:off x="6565900" y="4589463"/>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2" name="Straight Arrow Connector 21">
            <a:extLst>
              <a:ext uri="{FF2B5EF4-FFF2-40B4-BE49-F238E27FC236}">
                <a16:creationId xmlns:a16="http://schemas.microsoft.com/office/drawing/2014/main" id="{C074C021-4E70-2B89-5736-0C7097EC18E8}"/>
              </a:ext>
            </a:extLst>
          </p:cNvPr>
          <p:cNvCxnSpPr>
            <a:cxnSpLocks/>
            <a:stCxn id="21" idx="6"/>
            <a:endCxn id="35" idx="1"/>
          </p:cNvCxnSpPr>
          <p:nvPr/>
        </p:nvCxnSpPr>
        <p:spPr>
          <a:xfrm flipV="1">
            <a:off x="6781800" y="4295775"/>
            <a:ext cx="1079500" cy="40163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54DD7BC-3833-47E3-74CB-143B8FF8BCBE}"/>
              </a:ext>
            </a:extLst>
          </p:cNvPr>
          <p:cNvSpPr/>
          <p:nvPr/>
        </p:nvSpPr>
        <p:spPr>
          <a:xfrm>
            <a:off x="6548438" y="4962525"/>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4" name="Straight Arrow Connector 23">
            <a:extLst>
              <a:ext uri="{FF2B5EF4-FFF2-40B4-BE49-F238E27FC236}">
                <a16:creationId xmlns:a16="http://schemas.microsoft.com/office/drawing/2014/main" id="{EAC354D3-D4C7-045C-CAF4-CC20D1144AD5}"/>
              </a:ext>
            </a:extLst>
          </p:cNvPr>
          <p:cNvCxnSpPr>
            <a:cxnSpLocks/>
            <a:stCxn id="23" idx="6"/>
          </p:cNvCxnSpPr>
          <p:nvPr/>
        </p:nvCxnSpPr>
        <p:spPr>
          <a:xfrm flipV="1">
            <a:off x="6764338" y="5018088"/>
            <a:ext cx="1152525" cy="5238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C1AACE2-C488-1DEE-33DA-6B917F9940BC}"/>
              </a:ext>
            </a:extLst>
          </p:cNvPr>
          <p:cNvSpPr/>
          <p:nvPr/>
        </p:nvSpPr>
        <p:spPr>
          <a:xfrm>
            <a:off x="6548438" y="5297488"/>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6" name="Straight Arrow Connector 25">
            <a:extLst>
              <a:ext uri="{FF2B5EF4-FFF2-40B4-BE49-F238E27FC236}">
                <a16:creationId xmlns:a16="http://schemas.microsoft.com/office/drawing/2014/main" id="{4C107AE8-4D79-9AAA-13FC-BC1B2D599DF1}"/>
              </a:ext>
            </a:extLst>
          </p:cNvPr>
          <p:cNvCxnSpPr>
            <a:cxnSpLocks/>
            <a:stCxn id="25" idx="6"/>
          </p:cNvCxnSpPr>
          <p:nvPr/>
        </p:nvCxnSpPr>
        <p:spPr>
          <a:xfrm>
            <a:off x="6764338" y="5405438"/>
            <a:ext cx="1096962" cy="309562"/>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38B1997-9DA1-9A00-4825-ED71415EF7F0}"/>
              </a:ext>
            </a:extLst>
          </p:cNvPr>
          <p:cNvSpPr/>
          <p:nvPr/>
        </p:nvSpPr>
        <p:spPr>
          <a:xfrm>
            <a:off x="6548438" y="565785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8" name="Straight Arrow Connector 27">
            <a:extLst>
              <a:ext uri="{FF2B5EF4-FFF2-40B4-BE49-F238E27FC236}">
                <a16:creationId xmlns:a16="http://schemas.microsoft.com/office/drawing/2014/main" id="{B7A63C1C-35A9-A77D-FA71-C63AE449BEE8}"/>
              </a:ext>
            </a:extLst>
          </p:cNvPr>
          <p:cNvCxnSpPr>
            <a:cxnSpLocks/>
            <a:stCxn id="27" idx="6"/>
            <a:endCxn id="40" idx="1"/>
          </p:cNvCxnSpPr>
          <p:nvPr/>
        </p:nvCxnSpPr>
        <p:spPr>
          <a:xfrm>
            <a:off x="6764338" y="5765800"/>
            <a:ext cx="1147762" cy="72231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9E1A8B67-B2C1-9ACF-B27D-8061A9F1C813}"/>
              </a:ext>
            </a:extLst>
          </p:cNvPr>
          <p:cNvSpPr/>
          <p:nvPr/>
        </p:nvSpPr>
        <p:spPr>
          <a:xfrm>
            <a:off x="7840663" y="3324225"/>
            <a:ext cx="2659062"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Sugar</a:t>
            </a:r>
          </a:p>
        </p:txBody>
      </p:sp>
      <p:sp>
        <p:nvSpPr>
          <p:cNvPr id="35" name="Rectangle: Rounded Corners 34">
            <a:extLst>
              <a:ext uri="{FF2B5EF4-FFF2-40B4-BE49-F238E27FC236}">
                <a16:creationId xmlns:a16="http://schemas.microsoft.com/office/drawing/2014/main" id="{E245BBAA-1027-9019-BC4E-33F073D5AAF6}"/>
              </a:ext>
            </a:extLst>
          </p:cNvPr>
          <p:cNvSpPr/>
          <p:nvPr/>
        </p:nvSpPr>
        <p:spPr>
          <a:xfrm>
            <a:off x="7861300" y="4043363"/>
            <a:ext cx="2660650" cy="504825"/>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Flour</a:t>
            </a:r>
          </a:p>
        </p:txBody>
      </p:sp>
      <p:sp>
        <p:nvSpPr>
          <p:cNvPr id="36" name="Rectangle: Rounded Corners 35">
            <a:extLst>
              <a:ext uri="{FF2B5EF4-FFF2-40B4-BE49-F238E27FC236}">
                <a16:creationId xmlns:a16="http://schemas.microsoft.com/office/drawing/2014/main" id="{E5F3A0C7-37DA-8991-F872-55BD73D25476}"/>
              </a:ext>
            </a:extLst>
          </p:cNvPr>
          <p:cNvSpPr/>
          <p:nvPr/>
        </p:nvSpPr>
        <p:spPr>
          <a:xfrm>
            <a:off x="7861300" y="4740275"/>
            <a:ext cx="2660650" cy="503238"/>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Eggs</a:t>
            </a:r>
          </a:p>
        </p:txBody>
      </p:sp>
      <p:sp>
        <p:nvSpPr>
          <p:cNvPr id="39" name="Rectangle: Rounded Corners 38">
            <a:extLst>
              <a:ext uri="{FF2B5EF4-FFF2-40B4-BE49-F238E27FC236}">
                <a16:creationId xmlns:a16="http://schemas.microsoft.com/office/drawing/2014/main" id="{59A91487-269C-197F-19FB-F414B52E5021}"/>
              </a:ext>
            </a:extLst>
          </p:cNvPr>
          <p:cNvSpPr/>
          <p:nvPr/>
        </p:nvSpPr>
        <p:spPr>
          <a:xfrm>
            <a:off x="7861300" y="5453063"/>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Milk</a:t>
            </a:r>
          </a:p>
        </p:txBody>
      </p:sp>
      <p:sp>
        <p:nvSpPr>
          <p:cNvPr id="40" name="Rectangle: Rounded Corners 39">
            <a:extLst>
              <a:ext uri="{FF2B5EF4-FFF2-40B4-BE49-F238E27FC236}">
                <a16:creationId xmlns:a16="http://schemas.microsoft.com/office/drawing/2014/main" id="{A81A5067-DC93-CB8E-384C-390145CD4157}"/>
              </a:ext>
            </a:extLst>
          </p:cNvPr>
          <p:cNvSpPr/>
          <p:nvPr/>
        </p:nvSpPr>
        <p:spPr>
          <a:xfrm>
            <a:off x="7912100" y="6235700"/>
            <a:ext cx="2660650" cy="503238"/>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Salt</a:t>
            </a:r>
          </a:p>
        </p:txBody>
      </p:sp>
      <p:sp>
        <p:nvSpPr>
          <p:cNvPr id="44" name="TextBox 43">
            <a:extLst>
              <a:ext uri="{FF2B5EF4-FFF2-40B4-BE49-F238E27FC236}">
                <a16:creationId xmlns:a16="http://schemas.microsoft.com/office/drawing/2014/main" id="{9220CDD7-E8B9-7242-7EC7-2BBD5C31C54D}"/>
              </a:ext>
            </a:extLst>
          </p:cNvPr>
          <p:cNvSpPr txBox="1"/>
          <p:nvPr/>
        </p:nvSpPr>
        <p:spPr>
          <a:xfrm>
            <a:off x="850900" y="2179638"/>
            <a:ext cx="2362200" cy="1570037"/>
          </a:xfrm>
          <a:prstGeom prst="rect">
            <a:avLst/>
          </a:prstGeom>
          <a:solidFill>
            <a:schemeClr val="bg2"/>
          </a:solidFill>
        </p:spPr>
        <p:style>
          <a:lnRef idx="2">
            <a:schemeClr val="accent2"/>
          </a:lnRef>
          <a:fillRef idx="1">
            <a:schemeClr val="lt1"/>
          </a:fillRef>
          <a:effectRef idx="0">
            <a:schemeClr val="accent2"/>
          </a:effectRef>
          <a:fontRef idx="minor">
            <a:schemeClr val="dk1"/>
          </a:fontRef>
        </p:style>
        <p:txBody>
          <a:bodyPr>
            <a:spAutoFit/>
          </a:bodyPr>
          <a:lstStyle/>
          <a:p>
            <a:pPr algn="ctr">
              <a:defRPr/>
            </a:pPr>
            <a:r>
              <a:rPr lang="en-IE" sz="2400" b="1" dirty="0"/>
              <a:t>We now want to swap the objects Flour and Eggs with each other.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3B972-E3CF-3312-4C73-B0373116FE62}"/>
              </a:ext>
            </a:extLst>
          </p:cNvPr>
          <p:cNvSpPr>
            <a:spLocks noGrp="1"/>
          </p:cNvSpPr>
          <p:nvPr>
            <p:ph type="title"/>
          </p:nvPr>
        </p:nvSpPr>
        <p:spPr/>
        <p:txBody>
          <a:bodyPr/>
          <a:lstStyle/>
          <a:p>
            <a:pPr>
              <a:defRPr/>
            </a:pPr>
            <a:r>
              <a:rPr lang="en-US" altLang="en-US" dirty="0" err="1">
                <a:latin typeface="Trebuchet MS" pitchFamily="34" charset="0"/>
              </a:rPr>
              <a:t>ArrayList</a:t>
            </a:r>
            <a:r>
              <a:rPr lang="en-US" altLang="en-US" dirty="0">
                <a:latin typeface="Trebuchet MS" pitchFamily="34" charset="0"/>
              </a:rPr>
              <a:t> – Swapping Values</a:t>
            </a:r>
            <a:endParaRPr lang="en-IE" dirty="0"/>
          </a:p>
        </p:txBody>
      </p:sp>
      <p:sp>
        <p:nvSpPr>
          <p:cNvPr id="5" name="Rectangle 1">
            <a:extLst>
              <a:ext uri="{FF2B5EF4-FFF2-40B4-BE49-F238E27FC236}">
                <a16:creationId xmlns:a16="http://schemas.microsoft.com/office/drawing/2014/main" id="{7EDFB750-D360-172A-5240-2598F25921D8}"/>
              </a:ext>
            </a:extLst>
          </p:cNvPr>
          <p:cNvSpPr>
            <a:spLocks noChangeArrowheads="1"/>
          </p:cNvSpPr>
          <p:nvPr/>
        </p:nvSpPr>
        <p:spPr bwMode="auto">
          <a:xfrm>
            <a:off x="1847850" y="1562100"/>
            <a:ext cx="8785225" cy="361950"/>
          </a:xfrm>
          <a:prstGeom prst="rect">
            <a:avLst/>
          </a:prstGeom>
          <a:solidFill>
            <a:srgbClr val="FFFFFF"/>
          </a:solidFill>
          <a:ln>
            <a:noFill/>
          </a:ln>
          <a:effectLst/>
        </p:spPr>
        <p:txBody>
          <a:bodyPr anchor="ctr">
            <a:spAutoFit/>
          </a:bodyPr>
          <a:lstStyle/>
          <a:p>
            <a:pPr>
              <a:defRPr/>
            </a:pPr>
            <a:r>
              <a:rPr lang="en-US" altLang="en-US" sz="1750" b="1" dirty="0">
                <a:solidFill>
                  <a:srgbClr val="000080"/>
                </a:solidFill>
                <a:latin typeface="Courier New" panose="02070309020205020404" pitchFamily="49" charset="0"/>
                <a:cs typeface="Courier New" panose="02070309020205020404" pitchFamily="49" charset="0"/>
              </a:rPr>
              <a:t>private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 </a:t>
            </a:r>
            <a:r>
              <a:rPr lang="en-US" altLang="en-US" sz="1750" b="1" dirty="0">
                <a:solidFill>
                  <a:srgbClr val="660E7A"/>
                </a:solidFill>
                <a:latin typeface="Courier New" panose="02070309020205020404" pitchFamily="49" charset="0"/>
                <a:cs typeface="Courier New" panose="02070309020205020404" pitchFamily="49" charset="0"/>
              </a:rPr>
              <a:t>products </a:t>
            </a:r>
            <a:r>
              <a:rPr lang="en-US" altLang="en-US" sz="1750" dirty="0">
                <a:solidFill>
                  <a:srgbClr val="000000"/>
                </a:solidFill>
                <a:latin typeface="Courier New" panose="02070309020205020404" pitchFamily="49" charset="0"/>
                <a:cs typeface="Courier New" panose="02070309020205020404" pitchFamily="49" charset="0"/>
              </a:rPr>
              <a:t>= </a:t>
            </a:r>
            <a:r>
              <a:rPr lang="en-US" altLang="en-US" sz="1750" b="1" dirty="0">
                <a:solidFill>
                  <a:srgbClr val="000080"/>
                </a:solidFill>
                <a:latin typeface="Courier New" panose="02070309020205020404" pitchFamily="49" charset="0"/>
                <a:cs typeface="Courier New" panose="02070309020205020404" pitchFamily="49" charset="0"/>
              </a:rPr>
              <a:t>new </a:t>
            </a:r>
            <a:r>
              <a:rPr lang="en-US" altLang="en-US" sz="1750" dirty="0" err="1">
                <a:solidFill>
                  <a:srgbClr val="000000"/>
                </a:solidFill>
                <a:latin typeface="Courier New" panose="02070309020205020404" pitchFamily="49" charset="0"/>
                <a:cs typeface="Courier New" panose="02070309020205020404" pitchFamily="49" charset="0"/>
              </a:rPr>
              <a:t>ArrayList</a:t>
            </a:r>
            <a:r>
              <a:rPr lang="en-US" altLang="en-US" sz="1750" dirty="0">
                <a:solidFill>
                  <a:srgbClr val="000000"/>
                </a:solidFill>
                <a:latin typeface="Courier New" panose="02070309020205020404" pitchFamily="49" charset="0"/>
                <a:cs typeface="Courier New" panose="02070309020205020404" pitchFamily="49" charset="0"/>
              </a:rPr>
              <a:t>&lt;Product&gt;();</a:t>
            </a:r>
          </a:p>
        </p:txBody>
      </p:sp>
      <p:sp>
        <p:nvSpPr>
          <p:cNvPr id="7" name="Rectangle: Rounded Corners 6">
            <a:extLst>
              <a:ext uri="{FF2B5EF4-FFF2-40B4-BE49-F238E27FC236}">
                <a16:creationId xmlns:a16="http://schemas.microsoft.com/office/drawing/2014/main" id="{D04362F4-99FF-F19A-B812-58613ADF6913}"/>
              </a:ext>
            </a:extLst>
          </p:cNvPr>
          <p:cNvSpPr/>
          <p:nvPr/>
        </p:nvSpPr>
        <p:spPr>
          <a:xfrm>
            <a:off x="4114800" y="3536950"/>
            <a:ext cx="1008063" cy="50482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dirty="0"/>
          </a:p>
        </p:txBody>
      </p:sp>
      <p:graphicFrame>
        <p:nvGraphicFramePr>
          <p:cNvPr id="8" name="Table 8">
            <a:extLst>
              <a:ext uri="{FF2B5EF4-FFF2-40B4-BE49-F238E27FC236}">
                <a16:creationId xmlns:a16="http://schemas.microsoft.com/office/drawing/2014/main" id="{BB370810-82D6-51AD-150C-B2A72F0C43DF}"/>
              </a:ext>
            </a:extLst>
          </p:cNvPr>
          <p:cNvGraphicFramePr>
            <a:graphicFrameLocks noGrp="1"/>
          </p:cNvGraphicFramePr>
          <p:nvPr/>
        </p:nvGraphicFramePr>
        <p:xfrm>
          <a:off x="5761038" y="4103688"/>
          <a:ext cx="1292225" cy="1854200"/>
        </p:xfrm>
        <a:graphic>
          <a:graphicData uri="http://schemas.openxmlformats.org/drawingml/2006/table">
            <a:tbl>
              <a:tblPr firstRow="1" bandRow="1">
                <a:tableStyleId>{5940675A-B579-460E-94D1-54222C63F5DA}</a:tableStyleId>
              </a:tblPr>
              <a:tblGrid>
                <a:gridCol w="454547">
                  <a:extLst>
                    <a:ext uri="{9D8B030D-6E8A-4147-A177-3AD203B41FA5}">
                      <a16:colId xmlns:a16="http://schemas.microsoft.com/office/drawing/2014/main" val="20000"/>
                    </a:ext>
                  </a:extLst>
                </a:gridCol>
                <a:gridCol w="837678">
                  <a:extLst>
                    <a:ext uri="{9D8B030D-6E8A-4147-A177-3AD203B41FA5}">
                      <a16:colId xmlns:a16="http://schemas.microsoft.com/office/drawing/2014/main" val="20001"/>
                    </a:ext>
                  </a:extLst>
                </a:gridCol>
              </a:tblGrid>
              <a:tr h="370840">
                <a:tc>
                  <a:txBody>
                    <a:bodyPr/>
                    <a:lstStyle/>
                    <a:p>
                      <a:r>
                        <a:rPr lang="en-IE" dirty="0"/>
                        <a:t>0</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0"/>
                  </a:ext>
                </a:extLst>
              </a:tr>
              <a:tr h="370840">
                <a:tc>
                  <a:txBody>
                    <a:bodyPr/>
                    <a:lstStyle/>
                    <a:p>
                      <a:r>
                        <a:rPr lang="en-IE" dirty="0"/>
                        <a:t>1</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1"/>
                  </a:ext>
                </a:extLst>
              </a:tr>
              <a:tr h="370840">
                <a:tc>
                  <a:txBody>
                    <a:bodyPr/>
                    <a:lstStyle/>
                    <a:p>
                      <a:r>
                        <a:rPr lang="en-IE" dirty="0"/>
                        <a:t>2</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2"/>
                  </a:ext>
                </a:extLst>
              </a:tr>
              <a:tr h="370840">
                <a:tc>
                  <a:txBody>
                    <a:bodyPr/>
                    <a:lstStyle/>
                    <a:p>
                      <a:r>
                        <a:rPr lang="en-IE" dirty="0"/>
                        <a:t>3</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3"/>
                  </a:ext>
                </a:extLst>
              </a:tr>
              <a:tr h="370840">
                <a:tc>
                  <a:txBody>
                    <a:bodyPr/>
                    <a:lstStyle/>
                    <a:p>
                      <a:r>
                        <a:rPr lang="en-IE" dirty="0"/>
                        <a:t>4</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10" name="Oval 9">
            <a:extLst>
              <a:ext uri="{FF2B5EF4-FFF2-40B4-BE49-F238E27FC236}">
                <a16:creationId xmlns:a16="http://schemas.microsoft.com/office/drawing/2014/main" id="{3CA30772-E04C-1097-B61B-1A8370B0C0E1}"/>
              </a:ext>
            </a:extLst>
          </p:cNvPr>
          <p:cNvSpPr/>
          <p:nvPr/>
        </p:nvSpPr>
        <p:spPr>
          <a:xfrm>
            <a:off x="4510088" y="368141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6890" name="TextBox 10">
            <a:extLst>
              <a:ext uri="{FF2B5EF4-FFF2-40B4-BE49-F238E27FC236}">
                <a16:creationId xmlns:a16="http://schemas.microsoft.com/office/drawing/2014/main" id="{8BC709C2-A20B-918F-4FE6-A44BC44023BD}"/>
              </a:ext>
            </a:extLst>
          </p:cNvPr>
          <p:cNvSpPr txBox="1">
            <a:spLocks noChangeArrowheads="1"/>
          </p:cNvSpPr>
          <p:nvPr/>
        </p:nvSpPr>
        <p:spPr bwMode="auto">
          <a:xfrm>
            <a:off x="4114800" y="3213100"/>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E" altLang="en-US" sz="1800"/>
              <a:t>products</a:t>
            </a:r>
          </a:p>
        </p:txBody>
      </p:sp>
      <p:cxnSp>
        <p:nvCxnSpPr>
          <p:cNvPr id="13" name="Straight Arrow Connector 12">
            <a:extLst>
              <a:ext uri="{FF2B5EF4-FFF2-40B4-BE49-F238E27FC236}">
                <a16:creationId xmlns:a16="http://schemas.microsoft.com/office/drawing/2014/main" id="{30C6F24B-30BE-B336-C10F-86B52B780068}"/>
              </a:ext>
            </a:extLst>
          </p:cNvPr>
          <p:cNvCxnSpPr>
            <a:cxnSpLocks/>
          </p:cNvCxnSpPr>
          <p:nvPr/>
        </p:nvCxnSpPr>
        <p:spPr>
          <a:xfrm>
            <a:off x="4725988" y="3824288"/>
            <a:ext cx="1030287" cy="2968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C47CE11-BC88-5B76-7CA9-204888474BEB}"/>
              </a:ext>
            </a:extLst>
          </p:cNvPr>
          <p:cNvSpPr/>
          <p:nvPr/>
        </p:nvSpPr>
        <p:spPr>
          <a:xfrm>
            <a:off x="6548438" y="421005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8" name="Straight Arrow Connector 17">
            <a:extLst>
              <a:ext uri="{FF2B5EF4-FFF2-40B4-BE49-F238E27FC236}">
                <a16:creationId xmlns:a16="http://schemas.microsoft.com/office/drawing/2014/main" id="{5ECB16BD-7EA4-F1AD-3C81-C54D3DE1D9F9}"/>
              </a:ext>
            </a:extLst>
          </p:cNvPr>
          <p:cNvCxnSpPr>
            <a:cxnSpLocks/>
            <a:endCxn id="34" idx="1"/>
          </p:cNvCxnSpPr>
          <p:nvPr/>
        </p:nvCxnSpPr>
        <p:spPr>
          <a:xfrm flipV="1">
            <a:off x="6738938" y="3576638"/>
            <a:ext cx="1101725" cy="72707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8B939CF-7EE9-2E67-F38C-5EC30A8727A1}"/>
              </a:ext>
            </a:extLst>
          </p:cNvPr>
          <p:cNvSpPr/>
          <p:nvPr/>
        </p:nvSpPr>
        <p:spPr>
          <a:xfrm>
            <a:off x="6565900" y="4589463"/>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2" name="Straight Arrow Connector 21">
            <a:extLst>
              <a:ext uri="{FF2B5EF4-FFF2-40B4-BE49-F238E27FC236}">
                <a16:creationId xmlns:a16="http://schemas.microsoft.com/office/drawing/2014/main" id="{9E39B9A7-7DD9-DE2B-9B16-6D76A7622282}"/>
              </a:ext>
            </a:extLst>
          </p:cNvPr>
          <p:cNvCxnSpPr>
            <a:cxnSpLocks/>
            <a:stCxn id="21" idx="6"/>
            <a:endCxn id="35" idx="1"/>
          </p:cNvCxnSpPr>
          <p:nvPr/>
        </p:nvCxnSpPr>
        <p:spPr>
          <a:xfrm flipV="1">
            <a:off x="6781800" y="4295775"/>
            <a:ext cx="1079500" cy="40163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6FF85743-D9EE-E46E-1F3C-01EBEC9549DC}"/>
              </a:ext>
            </a:extLst>
          </p:cNvPr>
          <p:cNvSpPr/>
          <p:nvPr/>
        </p:nvSpPr>
        <p:spPr>
          <a:xfrm>
            <a:off x="6548438" y="4962525"/>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4" name="Straight Arrow Connector 23">
            <a:extLst>
              <a:ext uri="{FF2B5EF4-FFF2-40B4-BE49-F238E27FC236}">
                <a16:creationId xmlns:a16="http://schemas.microsoft.com/office/drawing/2014/main" id="{DF70C1AC-82EC-0EE8-2CD0-C70525C1D3BC}"/>
              </a:ext>
            </a:extLst>
          </p:cNvPr>
          <p:cNvCxnSpPr>
            <a:cxnSpLocks/>
            <a:stCxn id="23" idx="6"/>
          </p:cNvCxnSpPr>
          <p:nvPr/>
        </p:nvCxnSpPr>
        <p:spPr>
          <a:xfrm flipV="1">
            <a:off x="6764338" y="5018088"/>
            <a:ext cx="1152525" cy="5238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5CFC9A5-1688-391E-ABAD-E23F45BB1DEF}"/>
              </a:ext>
            </a:extLst>
          </p:cNvPr>
          <p:cNvSpPr/>
          <p:nvPr/>
        </p:nvSpPr>
        <p:spPr>
          <a:xfrm>
            <a:off x="6548438" y="5297488"/>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6" name="Straight Arrow Connector 25">
            <a:extLst>
              <a:ext uri="{FF2B5EF4-FFF2-40B4-BE49-F238E27FC236}">
                <a16:creationId xmlns:a16="http://schemas.microsoft.com/office/drawing/2014/main" id="{C1AA327D-1E7B-F00D-76E3-0C027C334DA1}"/>
              </a:ext>
            </a:extLst>
          </p:cNvPr>
          <p:cNvCxnSpPr>
            <a:cxnSpLocks/>
            <a:stCxn id="25" idx="6"/>
          </p:cNvCxnSpPr>
          <p:nvPr/>
        </p:nvCxnSpPr>
        <p:spPr>
          <a:xfrm>
            <a:off x="6764338" y="5405438"/>
            <a:ext cx="1096962" cy="309562"/>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1B2A9681-B02D-FDE7-DF28-119F7FF11A75}"/>
              </a:ext>
            </a:extLst>
          </p:cNvPr>
          <p:cNvSpPr/>
          <p:nvPr/>
        </p:nvSpPr>
        <p:spPr>
          <a:xfrm>
            <a:off x="6548438" y="565785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8" name="Straight Arrow Connector 27">
            <a:extLst>
              <a:ext uri="{FF2B5EF4-FFF2-40B4-BE49-F238E27FC236}">
                <a16:creationId xmlns:a16="http://schemas.microsoft.com/office/drawing/2014/main" id="{0DC50F9D-860A-E004-66C6-EA329021217E}"/>
              </a:ext>
            </a:extLst>
          </p:cNvPr>
          <p:cNvCxnSpPr>
            <a:cxnSpLocks/>
            <a:stCxn id="27" idx="6"/>
            <a:endCxn id="40" idx="1"/>
          </p:cNvCxnSpPr>
          <p:nvPr/>
        </p:nvCxnSpPr>
        <p:spPr>
          <a:xfrm>
            <a:off x="6764338" y="5765800"/>
            <a:ext cx="1147762" cy="72231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F606B70F-7AD8-9D04-6728-E20B26AA4716}"/>
              </a:ext>
            </a:extLst>
          </p:cNvPr>
          <p:cNvSpPr/>
          <p:nvPr/>
        </p:nvSpPr>
        <p:spPr>
          <a:xfrm>
            <a:off x="7840663" y="3324225"/>
            <a:ext cx="2659062"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Sugar</a:t>
            </a:r>
          </a:p>
        </p:txBody>
      </p:sp>
      <p:sp>
        <p:nvSpPr>
          <p:cNvPr id="35" name="Rectangle: Rounded Corners 34">
            <a:extLst>
              <a:ext uri="{FF2B5EF4-FFF2-40B4-BE49-F238E27FC236}">
                <a16:creationId xmlns:a16="http://schemas.microsoft.com/office/drawing/2014/main" id="{A4FD4DA0-F37C-8DD2-C043-D29E60191132}"/>
              </a:ext>
            </a:extLst>
          </p:cNvPr>
          <p:cNvSpPr/>
          <p:nvPr/>
        </p:nvSpPr>
        <p:spPr>
          <a:xfrm>
            <a:off x="7861300" y="4043363"/>
            <a:ext cx="2660650" cy="504825"/>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Flour</a:t>
            </a:r>
          </a:p>
        </p:txBody>
      </p:sp>
      <p:sp>
        <p:nvSpPr>
          <p:cNvPr id="36" name="Rectangle: Rounded Corners 35">
            <a:extLst>
              <a:ext uri="{FF2B5EF4-FFF2-40B4-BE49-F238E27FC236}">
                <a16:creationId xmlns:a16="http://schemas.microsoft.com/office/drawing/2014/main" id="{D75A8995-094C-1725-BF60-CFAA88068B4F}"/>
              </a:ext>
            </a:extLst>
          </p:cNvPr>
          <p:cNvSpPr/>
          <p:nvPr/>
        </p:nvSpPr>
        <p:spPr>
          <a:xfrm>
            <a:off x="7861300" y="4740275"/>
            <a:ext cx="2660650" cy="503238"/>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Eggs</a:t>
            </a:r>
          </a:p>
        </p:txBody>
      </p:sp>
      <p:sp>
        <p:nvSpPr>
          <p:cNvPr id="39" name="Rectangle: Rounded Corners 38">
            <a:extLst>
              <a:ext uri="{FF2B5EF4-FFF2-40B4-BE49-F238E27FC236}">
                <a16:creationId xmlns:a16="http://schemas.microsoft.com/office/drawing/2014/main" id="{457F1F59-F780-08CF-ECF2-2E373356F5F2}"/>
              </a:ext>
            </a:extLst>
          </p:cNvPr>
          <p:cNvSpPr/>
          <p:nvPr/>
        </p:nvSpPr>
        <p:spPr>
          <a:xfrm>
            <a:off x="7861300" y="5453063"/>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Milk</a:t>
            </a:r>
          </a:p>
        </p:txBody>
      </p:sp>
      <p:sp>
        <p:nvSpPr>
          <p:cNvPr id="40" name="Rectangle: Rounded Corners 39">
            <a:extLst>
              <a:ext uri="{FF2B5EF4-FFF2-40B4-BE49-F238E27FC236}">
                <a16:creationId xmlns:a16="http://schemas.microsoft.com/office/drawing/2014/main" id="{A6E455C4-6DFB-1748-930F-FB59BCF59178}"/>
              </a:ext>
            </a:extLst>
          </p:cNvPr>
          <p:cNvSpPr/>
          <p:nvPr/>
        </p:nvSpPr>
        <p:spPr>
          <a:xfrm>
            <a:off x="7912100" y="6235700"/>
            <a:ext cx="2660650" cy="503238"/>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Salt</a:t>
            </a:r>
          </a:p>
        </p:txBody>
      </p:sp>
      <p:sp>
        <p:nvSpPr>
          <p:cNvPr id="44" name="TextBox 43">
            <a:extLst>
              <a:ext uri="{FF2B5EF4-FFF2-40B4-BE49-F238E27FC236}">
                <a16:creationId xmlns:a16="http://schemas.microsoft.com/office/drawing/2014/main" id="{7D46506A-845C-62F3-EDA1-B04B3D10DDDC}"/>
              </a:ext>
            </a:extLst>
          </p:cNvPr>
          <p:cNvSpPr txBox="1"/>
          <p:nvPr/>
        </p:nvSpPr>
        <p:spPr>
          <a:xfrm>
            <a:off x="433388" y="2149475"/>
            <a:ext cx="3479800" cy="4400550"/>
          </a:xfrm>
          <a:prstGeom prst="rect">
            <a:avLst/>
          </a:prstGeom>
          <a:solidFill>
            <a:schemeClr val="bg2"/>
          </a:solidFill>
        </p:spPr>
        <p:style>
          <a:lnRef idx="2">
            <a:schemeClr val="accent2"/>
          </a:lnRef>
          <a:fillRef idx="1">
            <a:schemeClr val="lt1"/>
          </a:fillRef>
          <a:effectRef idx="0">
            <a:schemeClr val="accent2"/>
          </a:effectRef>
          <a:fontRef idx="minor">
            <a:schemeClr val="dk1"/>
          </a:fontRef>
        </p:style>
        <p:txBody>
          <a:bodyPr>
            <a:spAutoFit/>
          </a:bodyPr>
          <a:lstStyle/>
          <a:p>
            <a:pPr algn="ctr">
              <a:defRPr/>
            </a:pPr>
            <a:r>
              <a:rPr lang="en-IE" sz="2000" b="1" dirty="0"/>
              <a:t>Flour is index 1</a:t>
            </a:r>
          </a:p>
          <a:p>
            <a:pPr algn="ctr">
              <a:defRPr/>
            </a:pPr>
            <a:r>
              <a:rPr lang="en-IE" sz="2000" b="1" dirty="0"/>
              <a:t>Eggs is index 2</a:t>
            </a:r>
          </a:p>
          <a:p>
            <a:pPr algn="ctr">
              <a:defRPr/>
            </a:pPr>
            <a:endParaRPr lang="en-IE" sz="2000" b="1" dirty="0"/>
          </a:p>
          <a:p>
            <a:pPr algn="ctr">
              <a:defRPr/>
            </a:pPr>
            <a:r>
              <a:rPr lang="en-IE" sz="2000" b="1" dirty="0"/>
              <a:t>Algorithm:</a:t>
            </a:r>
          </a:p>
          <a:p>
            <a:pPr algn="ctr">
              <a:defRPr/>
            </a:pPr>
            <a:endParaRPr lang="en-IE" sz="2000" b="1" dirty="0"/>
          </a:p>
          <a:p>
            <a:pPr marL="342900" indent="-342900">
              <a:buFontTx/>
              <a:buAutoNum type="alphaLcParenR"/>
              <a:defRPr/>
            </a:pPr>
            <a:r>
              <a:rPr lang="en-IE" sz="2000" b="1" dirty="0"/>
              <a:t>Store Flour and Eggs in temporary Product variables.  </a:t>
            </a:r>
          </a:p>
          <a:p>
            <a:pPr marL="342900" indent="-342900">
              <a:buFontTx/>
              <a:buAutoNum type="alphaLcParenR"/>
              <a:defRPr/>
            </a:pPr>
            <a:r>
              <a:rPr lang="en-IE" sz="2000" b="1" dirty="0"/>
              <a:t>Set index 1 to be the temporary Product variable holding Eggs.</a:t>
            </a:r>
          </a:p>
          <a:p>
            <a:pPr marL="342900" indent="-342900">
              <a:buFontTx/>
              <a:buAutoNum type="alphaLcParenR"/>
              <a:defRPr/>
            </a:pPr>
            <a:r>
              <a:rPr lang="en-IE" sz="2000" b="1" dirty="0"/>
              <a:t>Set index 2 to be the temporary Product variable holding Flour.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B4892C9-56C8-448E-B298-952BDCF76A63}"/>
              </a:ext>
            </a:extLst>
          </p:cNvPr>
          <p:cNvSpPr>
            <a:spLocks noChangeArrowheads="1"/>
          </p:cNvSpPr>
          <p:nvPr/>
        </p:nvSpPr>
        <p:spPr bwMode="auto">
          <a:xfrm>
            <a:off x="2617788" y="1152525"/>
            <a:ext cx="7961312" cy="2308225"/>
          </a:xfrm>
          <a:prstGeom prst="rect">
            <a:avLst/>
          </a:prstGeom>
          <a:ln/>
        </p:spPr>
        <p:style>
          <a:lnRef idx="2">
            <a:schemeClr val="accent2"/>
          </a:lnRef>
          <a:fillRef idx="1">
            <a:schemeClr val="lt1"/>
          </a:fillRef>
          <a:effectRef idx="0">
            <a:schemeClr val="accent2"/>
          </a:effectRef>
          <a:fontRef idx="minor">
            <a:schemeClr val="dk1"/>
          </a:fontRef>
        </p:style>
        <p:txBody>
          <a:bodyPr wrap="none" anchor="ctr">
            <a:spAutoFit/>
          </a:bodyPr>
          <a:lstStyle/>
          <a:p>
            <a:pPr>
              <a:defRPr/>
            </a:pPr>
            <a:r>
              <a:rPr lang="en-US" altLang="en-US" sz="1600" b="1" dirty="0">
                <a:solidFill>
                  <a:srgbClr val="000080"/>
                </a:solidFill>
                <a:latin typeface="Courier New" panose="02070309020205020404" pitchFamily="49" charset="0"/>
                <a:cs typeface="Courier New" panose="02070309020205020404" pitchFamily="49" charset="0"/>
              </a:rPr>
              <a:t>private void </a:t>
            </a:r>
            <a:r>
              <a:rPr lang="en-US" altLang="en-US" sz="1600" dirty="0" err="1">
                <a:solidFill>
                  <a:srgbClr val="000000"/>
                </a:solidFill>
                <a:latin typeface="Courier New" panose="02070309020205020404" pitchFamily="49" charset="0"/>
                <a:cs typeface="Courier New" panose="02070309020205020404" pitchFamily="49" charset="0"/>
              </a:rPr>
              <a:t>swapProducts</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ArrayList</a:t>
            </a:r>
            <a:r>
              <a:rPr lang="en-US" altLang="en-US" sz="1600" dirty="0">
                <a:solidFill>
                  <a:srgbClr val="000000"/>
                </a:solidFill>
                <a:latin typeface="Courier New" panose="02070309020205020404" pitchFamily="49" charset="0"/>
                <a:cs typeface="Courier New" panose="02070309020205020404" pitchFamily="49" charset="0"/>
              </a:rPr>
              <a:t>&lt;Product&gt; products, </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b="1" dirty="0">
                <a:solidFill>
                  <a:srgbClr val="000080"/>
                </a:solidFill>
                <a:latin typeface="Courier New" panose="02070309020205020404" pitchFamily="49" charset="0"/>
                <a:cs typeface="Courier New" panose="02070309020205020404" pitchFamily="49" charset="0"/>
              </a:rPr>
              <a:t>int </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b="1" dirty="0">
                <a:solidFill>
                  <a:srgbClr val="000080"/>
                </a:solidFill>
                <a:latin typeface="Courier New" panose="02070309020205020404" pitchFamily="49" charset="0"/>
                <a:cs typeface="Courier New" panose="02070309020205020404" pitchFamily="49" charset="0"/>
              </a:rPr>
              <a:t>int </a:t>
            </a:r>
            <a:r>
              <a:rPr lang="en-US" altLang="en-US" sz="1600" dirty="0" err="1">
                <a:solidFill>
                  <a:srgbClr val="000000"/>
                </a:solidFill>
                <a:latin typeface="Courier New" panose="02070309020205020404" pitchFamily="49" charset="0"/>
                <a:cs typeface="Courier New" panose="02070309020205020404" pitchFamily="49" charset="0"/>
              </a:rPr>
              <a:t>highestIndex</a:t>
            </a:r>
            <a:r>
              <a:rPr lang="en-US" altLang="en-US" sz="1600" dirty="0">
                <a:solidFill>
                  <a:srgbClr val="000000"/>
                </a:solidFill>
                <a:latin typeface="Courier New" panose="02070309020205020404" pitchFamily="49" charset="0"/>
                <a:cs typeface="Courier New" panose="02070309020205020404" pitchFamily="49" charset="0"/>
              </a:rPr>
              <a:t>) {</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p>
          <a:p>
            <a:pPr>
              <a:defRPr/>
            </a:pPr>
            <a:r>
              <a:rPr lang="en-US" altLang="en-US" sz="1600" dirty="0">
                <a:solidFill>
                  <a:srgbClr val="000000"/>
                </a:solidFill>
                <a:latin typeface="Courier New" panose="02070309020205020404" pitchFamily="49" charset="0"/>
                <a:cs typeface="Courier New" panose="02070309020205020404" pitchFamily="49" charset="0"/>
              </a:rPr>
              <a:t>    Product </a:t>
            </a:r>
            <a:r>
              <a:rPr lang="en-US" altLang="en-US" sz="1600" dirty="0" err="1">
                <a:solidFill>
                  <a:srgbClr val="000000"/>
                </a:solidFill>
                <a:latin typeface="Courier New" panose="02070309020205020404" pitchFamily="49" charset="0"/>
                <a:cs typeface="Courier New" panose="02070309020205020404" pitchFamily="49" charset="0"/>
              </a:rPr>
              <a:t>currentProduct</a:t>
            </a:r>
            <a:r>
              <a:rPr lang="en-US" altLang="en-US" sz="1600" dirty="0">
                <a:solidFill>
                  <a:srgbClr val="000000"/>
                </a:solidFill>
                <a:latin typeface="Courier New" panose="02070309020205020404" pitchFamily="49" charset="0"/>
                <a:cs typeface="Courier New" panose="02070309020205020404" pitchFamily="49" charset="0"/>
              </a:rPr>
              <a:t> = </a:t>
            </a:r>
            <a:r>
              <a:rPr lang="en-US" altLang="en-US" sz="1600" dirty="0" err="1">
                <a:solidFill>
                  <a:srgbClr val="000000"/>
                </a:solidFill>
                <a:latin typeface="Courier New" panose="02070309020205020404" pitchFamily="49" charset="0"/>
                <a:cs typeface="Courier New" panose="02070309020205020404" pitchFamily="49" charset="0"/>
              </a:rPr>
              <a:t>products.get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Product </a:t>
            </a:r>
            <a:r>
              <a:rPr lang="en-US" altLang="en-US" sz="1600" dirty="0" err="1">
                <a:solidFill>
                  <a:srgbClr val="000000"/>
                </a:solidFill>
                <a:latin typeface="Courier New" panose="02070309020205020404" pitchFamily="49" charset="0"/>
                <a:cs typeface="Courier New" panose="02070309020205020404" pitchFamily="49" charset="0"/>
              </a:rPr>
              <a:t>highestProduct</a:t>
            </a:r>
            <a:r>
              <a:rPr lang="en-US" altLang="en-US" sz="1600" dirty="0">
                <a:solidFill>
                  <a:srgbClr val="000000"/>
                </a:solidFill>
                <a:latin typeface="Courier New" panose="02070309020205020404" pitchFamily="49" charset="0"/>
                <a:cs typeface="Courier New" panose="02070309020205020404" pitchFamily="49" charset="0"/>
              </a:rPr>
              <a:t> = </a:t>
            </a:r>
            <a:r>
              <a:rPr lang="en-US" altLang="en-US" sz="1600" dirty="0" err="1">
                <a:solidFill>
                  <a:srgbClr val="000000"/>
                </a:solidFill>
                <a:latin typeface="Courier New" panose="02070309020205020404" pitchFamily="49" charset="0"/>
                <a:cs typeface="Courier New" panose="02070309020205020404" pitchFamily="49" charset="0"/>
              </a:rPr>
              <a:t>products.get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highestIndex</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products.set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highestProduct</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products.set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highestIndex,currentProduct</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a:t>
            </a:r>
            <a:endParaRPr lang="en-US" altLang="en-US" sz="5400" dirty="0">
              <a:solidFill>
                <a:schemeClr val="tx1"/>
              </a:solidFill>
            </a:endParaRPr>
          </a:p>
        </p:txBody>
      </p:sp>
      <p:sp>
        <p:nvSpPr>
          <p:cNvPr id="7" name="TextBox 6">
            <a:extLst>
              <a:ext uri="{FF2B5EF4-FFF2-40B4-BE49-F238E27FC236}">
                <a16:creationId xmlns:a16="http://schemas.microsoft.com/office/drawing/2014/main" id="{77CF8A4C-7286-D6CF-DACF-5115CAE14660}"/>
              </a:ext>
            </a:extLst>
          </p:cNvPr>
          <p:cNvSpPr txBox="1"/>
          <p:nvPr/>
        </p:nvSpPr>
        <p:spPr>
          <a:xfrm>
            <a:off x="2798763" y="130175"/>
            <a:ext cx="7788275" cy="923925"/>
          </a:xfrm>
          <a:prstGeom prst="rect">
            <a:avLst/>
          </a:prstGeom>
          <a:solidFill>
            <a:schemeClr val="bg2"/>
          </a:solidFill>
        </p:spPr>
        <p:style>
          <a:lnRef idx="2">
            <a:schemeClr val="accent2"/>
          </a:lnRef>
          <a:fillRef idx="1">
            <a:schemeClr val="lt1"/>
          </a:fillRef>
          <a:effectRef idx="0">
            <a:schemeClr val="accent2"/>
          </a:effectRef>
          <a:fontRef idx="minor">
            <a:schemeClr val="dk1"/>
          </a:fontRef>
        </p:style>
        <p:txBody>
          <a:bodyPr>
            <a:spAutoFit/>
          </a:bodyPr>
          <a:lstStyle/>
          <a:p>
            <a:pPr marL="342900" indent="-342900">
              <a:buFontTx/>
              <a:buAutoNum type="alphaLcParenR"/>
              <a:defRPr/>
            </a:pPr>
            <a:r>
              <a:rPr lang="en-IE" b="1" dirty="0"/>
              <a:t>Store Flour and Eggs in temporary Product variables.  </a:t>
            </a:r>
          </a:p>
          <a:p>
            <a:pPr marL="342900" indent="-342900">
              <a:buFontTx/>
              <a:buAutoNum type="alphaLcParenR"/>
              <a:defRPr/>
            </a:pPr>
            <a:r>
              <a:rPr lang="en-IE" b="1" dirty="0"/>
              <a:t>Set index 1 to be the temporary Product variable holding Eggs.</a:t>
            </a:r>
          </a:p>
          <a:p>
            <a:pPr marL="342900" indent="-342900">
              <a:buFontTx/>
              <a:buAutoNum type="alphaLcParenR"/>
              <a:defRPr/>
            </a:pPr>
            <a:r>
              <a:rPr lang="en-IE" b="1" dirty="0"/>
              <a:t>Set index 2 to be the temporary Product variable holding Flour.</a:t>
            </a:r>
          </a:p>
        </p:txBody>
      </p:sp>
      <p:sp>
        <p:nvSpPr>
          <p:cNvPr id="6" name="Oval 5">
            <a:extLst>
              <a:ext uri="{FF2B5EF4-FFF2-40B4-BE49-F238E27FC236}">
                <a16:creationId xmlns:a16="http://schemas.microsoft.com/office/drawing/2014/main" id="{93B16117-7465-011F-1796-D0A903416C27}"/>
              </a:ext>
            </a:extLst>
          </p:cNvPr>
          <p:cNvSpPr/>
          <p:nvPr/>
        </p:nvSpPr>
        <p:spPr>
          <a:xfrm>
            <a:off x="2681288" y="1944688"/>
            <a:ext cx="439737" cy="4191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a</a:t>
            </a:r>
          </a:p>
        </p:txBody>
      </p:sp>
      <p:sp>
        <p:nvSpPr>
          <p:cNvPr id="9" name="Oval 8">
            <a:extLst>
              <a:ext uri="{FF2B5EF4-FFF2-40B4-BE49-F238E27FC236}">
                <a16:creationId xmlns:a16="http://schemas.microsoft.com/office/drawing/2014/main" id="{8A9D1EAA-A39F-BEEF-C712-4FFBD029760E}"/>
              </a:ext>
            </a:extLst>
          </p:cNvPr>
          <p:cNvSpPr/>
          <p:nvPr/>
        </p:nvSpPr>
        <p:spPr>
          <a:xfrm>
            <a:off x="2092325" y="2447925"/>
            <a:ext cx="439738" cy="42068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b</a:t>
            </a:r>
          </a:p>
        </p:txBody>
      </p:sp>
      <p:sp>
        <p:nvSpPr>
          <p:cNvPr id="10" name="Oval 9">
            <a:extLst>
              <a:ext uri="{FF2B5EF4-FFF2-40B4-BE49-F238E27FC236}">
                <a16:creationId xmlns:a16="http://schemas.microsoft.com/office/drawing/2014/main" id="{C8081F77-9104-BCDA-F726-97C6E2D8086C}"/>
              </a:ext>
            </a:extLst>
          </p:cNvPr>
          <p:cNvSpPr/>
          <p:nvPr/>
        </p:nvSpPr>
        <p:spPr>
          <a:xfrm>
            <a:off x="2098675" y="2892425"/>
            <a:ext cx="439738" cy="4191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c</a:t>
            </a:r>
          </a:p>
        </p:txBody>
      </p:sp>
      <p:cxnSp>
        <p:nvCxnSpPr>
          <p:cNvPr id="11" name="Straight Arrow Connector 10">
            <a:extLst>
              <a:ext uri="{FF2B5EF4-FFF2-40B4-BE49-F238E27FC236}">
                <a16:creationId xmlns:a16="http://schemas.microsoft.com/office/drawing/2014/main" id="{A6DB638B-7301-47E6-912E-AC630D8D8D49}"/>
              </a:ext>
            </a:extLst>
          </p:cNvPr>
          <p:cNvCxnSpPr>
            <a:cxnSpLocks/>
            <a:stCxn id="9" idx="6"/>
          </p:cNvCxnSpPr>
          <p:nvPr/>
        </p:nvCxnSpPr>
        <p:spPr>
          <a:xfrm>
            <a:off x="2532063" y="2657475"/>
            <a:ext cx="588962" cy="1476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DAFE4962-DFAF-5A2A-9330-8D30A2BD0388}"/>
              </a:ext>
            </a:extLst>
          </p:cNvPr>
          <p:cNvCxnSpPr>
            <a:cxnSpLocks/>
          </p:cNvCxnSpPr>
          <p:nvPr/>
        </p:nvCxnSpPr>
        <p:spPr>
          <a:xfrm flipV="1">
            <a:off x="2538413" y="3059113"/>
            <a:ext cx="582612" cy="444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Rectangle: Rounded Corners 14">
            <a:extLst>
              <a:ext uri="{FF2B5EF4-FFF2-40B4-BE49-F238E27FC236}">
                <a16:creationId xmlns:a16="http://schemas.microsoft.com/office/drawing/2014/main" id="{9A89C121-9205-3E09-51F0-283D5ECCAC55}"/>
              </a:ext>
            </a:extLst>
          </p:cNvPr>
          <p:cNvSpPr/>
          <p:nvPr/>
        </p:nvSpPr>
        <p:spPr>
          <a:xfrm>
            <a:off x="1604963" y="349250"/>
            <a:ext cx="1152525" cy="4206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Algorithm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B86B776-1D5C-A9A5-0489-97648486FCD5}"/>
              </a:ext>
            </a:extLst>
          </p:cNvPr>
          <p:cNvSpPr>
            <a:spLocks noChangeArrowheads="1"/>
          </p:cNvSpPr>
          <p:nvPr/>
        </p:nvSpPr>
        <p:spPr bwMode="auto">
          <a:xfrm>
            <a:off x="2617788" y="1152525"/>
            <a:ext cx="7961312" cy="2308225"/>
          </a:xfrm>
          <a:prstGeom prst="rect">
            <a:avLst/>
          </a:prstGeom>
          <a:ln/>
        </p:spPr>
        <p:style>
          <a:lnRef idx="2">
            <a:schemeClr val="accent2"/>
          </a:lnRef>
          <a:fillRef idx="1">
            <a:schemeClr val="lt1"/>
          </a:fillRef>
          <a:effectRef idx="0">
            <a:schemeClr val="accent2"/>
          </a:effectRef>
          <a:fontRef idx="minor">
            <a:schemeClr val="dk1"/>
          </a:fontRef>
        </p:style>
        <p:txBody>
          <a:bodyPr wrap="none" anchor="ctr">
            <a:spAutoFit/>
          </a:bodyPr>
          <a:lstStyle/>
          <a:p>
            <a:pPr>
              <a:defRPr/>
            </a:pPr>
            <a:r>
              <a:rPr lang="en-US" altLang="en-US" sz="1600" b="1" dirty="0">
                <a:solidFill>
                  <a:srgbClr val="000080"/>
                </a:solidFill>
                <a:latin typeface="Courier New" panose="02070309020205020404" pitchFamily="49" charset="0"/>
                <a:cs typeface="Courier New" panose="02070309020205020404" pitchFamily="49" charset="0"/>
              </a:rPr>
              <a:t>private void </a:t>
            </a:r>
            <a:r>
              <a:rPr lang="en-US" altLang="en-US" sz="1600" dirty="0" err="1">
                <a:solidFill>
                  <a:srgbClr val="000000"/>
                </a:solidFill>
                <a:latin typeface="Courier New" panose="02070309020205020404" pitchFamily="49" charset="0"/>
                <a:cs typeface="Courier New" panose="02070309020205020404" pitchFamily="49" charset="0"/>
              </a:rPr>
              <a:t>swapProducts</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ArrayList</a:t>
            </a:r>
            <a:r>
              <a:rPr lang="en-US" altLang="en-US" sz="1600" dirty="0">
                <a:solidFill>
                  <a:srgbClr val="000000"/>
                </a:solidFill>
                <a:latin typeface="Courier New" panose="02070309020205020404" pitchFamily="49" charset="0"/>
                <a:cs typeface="Courier New" panose="02070309020205020404" pitchFamily="49" charset="0"/>
              </a:rPr>
              <a:t>&lt;Product&gt; products, </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b="1" dirty="0">
                <a:solidFill>
                  <a:srgbClr val="000080"/>
                </a:solidFill>
                <a:latin typeface="Courier New" panose="02070309020205020404" pitchFamily="49" charset="0"/>
                <a:cs typeface="Courier New" panose="02070309020205020404" pitchFamily="49" charset="0"/>
              </a:rPr>
              <a:t>int </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b="1" dirty="0">
                <a:solidFill>
                  <a:srgbClr val="000080"/>
                </a:solidFill>
                <a:latin typeface="Courier New" panose="02070309020205020404" pitchFamily="49" charset="0"/>
                <a:cs typeface="Courier New" panose="02070309020205020404" pitchFamily="49" charset="0"/>
              </a:rPr>
              <a:t>int </a:t>
            </a:r>
            <a:r>
              <a:rPr lang="en-US" altLang="en-US" sz="1600" dirty="0" err="1">
                <a:solidFill>
                  <a:srgbClr val="000000"/>
                </a:solidFill>
                <a:latin typeface="Courier New" panose="02070309020205020404" pitchFamily="49" charset="0"/>
                <a:cs typeface="Courier New" panose="02070309020205020404" pitchFamily="49" charset="0"/>
              </a:rPr>
              <a:t>highestIndex</a:t>
            </a:r>
            <a:r>
              <a:rPr lang="en-US" altLang="en-US" sz="1600" dirty="0">
                <a:solidFill>
                  <a:srgbClr val="000000"/>
                </a:solidFill>
                <a:latin typeface="Courier New" panose="02070309020205020404" pitchFamily="49" charset="0"/>
                <a:cs typeface="Courier New" panose="02070309020205020404" pitchFamily="49" charset="0"/>
              </a:rPr>
              <a:t>) {</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p>
          <a:p>
            <a:pPr>
              <a:defRPr/>
            </a:pPr>
            <a:r>
              <a:rPr lang="en-US" altLang="en-US" sz="1600" dirty="0">
                <a:solidFill>
                  <a:srgbClr val="000000"/>
                </a:solidFill>
                <a:latin typeface="Courier New" panose="02070309020205020404" pitchFamily="49" charset="0"/>
                <a:cs typeface="Courier New" panose="02070309020205020404" pitchFamily="49" charset="0"/>
              </a:rPr>
              <a:t>    Product </a:t>
            </a:r>
            <a:r>
              <a:rPr lang="en-US" altLang="en-US" sz="1600" dirty="0" err="1">
                <a:solidFill>
                  <a:srgbClr val="000000"/>
                </a:solidFill>
                <a:latin typeface="Courier New" panose="02070309020205020404" pitchFamily="49" charset="0"/>
                <a:cs typeface="Courier New" panose="02070309020205020404" pitchFamily="49" charset="0"/>
              </a:rPr>
              <a:t>currentProduct</a:t>
            </a:r>
            <a:r>
              <a:rPr lang="en-US" altLang="en-US" sz="1600" dirty="0">
                <a:solidFill>
                  <a:srgbClr val="000000"/>
                </a:solidFill>
                <a:latin typeface="Courier New" panose="02070309020205020404" pitchFamily="49" charset="0"/>
                <a:cs typeface="Courier New" panose="02070309020205020404" pitchFamily="49" charset="0"/>
              </a:rPr>
              <a:t> = </a:t>
            </a:r>
            <a:r>
              <a:rPr lang="en-US" altLang="en-US" sz="1600" dirty="0" err="1">
                <a:solidFill>
                  <a:srgbClr val="000000"/>
                </a:solidFill>
                <a:latin typeface="Courier New" panose="02070309020205020404" pitchFamily="49" charset="0"/>
                <a:cs typeface="Courier New" panose="02070309020205020404" pitchFamily="49" charset="0"/>
              </a:rPr>
              <a:t>products.get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Product </a:t>
            </a:r>
            <a:r>
              <a:rPr lang="en-US" altLang="en-US" sz="1600" dirty="0" err="1">
                <a:solidFill>
                  <a:srgbClr val="000000"/>
                </a:solidFill>
                <a:latin typeface="Courier New" panose="02070309020205020404" pitchFamily="49" charset="0"/>
                <a:cs typeface="Courier New" panose="02070309020205020404" pitchFamily="49" charset="0"/>
              </a:rPr>
              <a:t>highestProduct</a:t>
            </a:r>
            <a:r>
              <a:rPr lang="en-US" altLang="en-US" sz="1600" dirty="0">
                <a:solidFill>
                  <a:srgbClr val="000000"/>
                </a:solidFill>
                <a:latin typeface="Courier New" panose="02070309020205020404" pitchFamily="49" charset="0"/>
                <a:cs typeface="Courier New" panose="02070309020205020404" pitchFamily="49" charset="0"/>
              </a:rPr>
              <a:t> = </a:t>
            </a:r>
            <a:r>
              <a:rPr lang="en-US" altLang="en-US" sz="1600" dirty="0" err="1">
                <a:solidFill>
                  <a:srgbClr val="000000"/>
                </a:solidFill>
                <a:latin typeface="Courier New" panose="02070309020205020404" pitchFamily="49" charset="0"/>
                <a:cs typeface="Courier New" panose="02070309020205020404" pitchFamily="49" charset="0"/>
              </a:rPr>
              <a:t>products.get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highestIndex</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products.set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highestProduct</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products.set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highestIndex,currentProduct</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a:t>
            </a:r>
            <a:endParaRPr lang="en-US" altLang="en-US" sz="5400" dirty="0">
              <a:solidFill>
                <a:schemeClr val="tx1"/>
              </a:solidFill>
            </a:endParaRPr>
          </a:p>
        </p:txBody>
      </p:sp>
      <p:sp>
        <p:nvSpPr>
          <p:cNvPr id="7" name="TextBox 6">
            <a:extLst>
              <a:ext uri="{FF2B5EF4-FFF2-40B4-BE49-F238E27FC236}">
                <a16:creationId xmlns:a16="http://schemas.microsoft.com/office/drawing/2014/main" id="{BCB0088D-8848-AF4C-FC58-0033CF3CFF0D}"/>
              </a:ext>
            </a:extLst>
          </p:cNvPr>
          <p:cNvSpPr txBox="1"/>
          <p:nvPr/>
        </p:nvSpPr>
        <p:spPr>
          <a:xfrm>
            <a:off x="2798763" y="130175"/>
            <a:ext cx="7788275" cy="923925"/>
          </a:xfrm>
          <a:prstGeom prst="rect">
            <a:avLst/>
          </a:prstGeom>
          <a:solidFill>
            <a:schemeClr val="bg2"/>
          </a:solidFill>
        </p:spPr>
        <p:style>
          <a:lnRef idx="2">
            <a:schemeClr val="accent2"/>
          </a:lnRef>
          <a:fillRef idx="1">
            <a:schemeClr val="lt1"/>
          </a:fillRef>
          <a:effectRef idx="0">
            <a:schemeClr val="accent2"/>
          </a:effectRef>
          <a:fontRef idx="minor">
            <a:schemeClr val="dk1"/>
          </a:fontRef>
        </p:style>
        <p:txBody>
          <a:bodyPr>
            <a:spAutoFit/>
          </a:bodyPr>
          <a:lstStyle/>
          <a:p>
            <a:pPr marL="342900" indent="-342900">
              <a:buFontTx/>
              <a:buAutoNum type="alphaLcParenR"/>
              <a:defRPr/>
            </a:pPr>
            <a:r>
              <a:rPr lang="en-IE" b="1" dirty="0"/>
              <a:t>Store Flour and Eggs in temporary Product variables.  </a:t>
            </a:r>
          </a:p>
          <a:p>
            <a:pPr marL="342900" indent="-342900">
              <a:buFontTx/>
              <a:buAutoNum type="alphaLcParenR"/>
              <a:defRPr/>
            </a:pPr>
            <a:r>
              <a:rPr lang="en-IE" b="1" dirty="0"/>
              <a:t>Set index 1 to be the temporary Product variable holding Eggs.</a:t>
            </a:r>
          </a:p>
          <a:p>
            <a:pPr marL="342900" indent="-342900">
              <a:buFontTx/>
              <a:buAutoNum type="alphaLcParenR"/>
              <a:defRPr/>
            </a:pPr>
            <a:r>
              <a:rPr lang="en-IE" b="1" dirty="0"/>
              <a:t>Set index 2 to be the temporary Product variable holding Flour.</a:t>
            </a:r>
          </a:p>
        </p:txBody>
      </p:sp>
      <p:sp>
        <p:nvSpPr>
          <p:cNvPr id="6" name="Oval 5">
            <a:extLst>
              <a:ext uri="{FF2B5EF4-FFF2-40B4-BE49-F238E27FC236}">
                <a16:creationId xmlns:a16="http://schemas.microsoft.com/office/drawing/2014/main" id="{67C0B499-0C0D-47BF-018A-2D24A41299E3}"/>
              </a:ext>
            </a:extLst>
          </p:cNvPr>
          <p:cNvSpPr/>
          <p:nvPr/>
        </p:nvSpPr>
        <p:spPr>
          <a:xfrm>
            <a:off x="2681288" y="1944688"/>
            <a:ext cx="439737" cy="4191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a</a:t>
            </a:r>
          </a:p>
        </p:txBody>
      </p:sp>
      <p:sp>
        <p:nvSpPr>
          <p:cNvPr id="9" name="Oval 8">
            <a:extLst>
              <a:ext uri="{FF2B5EF4-FFF2-40B4-BE49-F238E27FC236}">
                <a16:creationId xmlns:a16="http://schemas.microsoft.com/office/drawing/2014/main" id="{C9EC5FA3-DE01-2807-F43A-CB79947F6B13}"/>
              </a:ext>
            </a:extLst>
          </p:cNvPr>
          <p:cNvSpPr/>
          <p:nvPr/>
        </p:nvSpPr>
        <p:spPr>
          <a:xfrm>
            <a:off x="2092325" y="2447925"/>
            <a:ext cx="439738" cy="42068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b</a:t>
            </a:r>
          </a:p>
        </p:txBody>
      </p:sp>
      <p:sp>
        <p:nvSpPr>
          <p:cNvPr id="10" name="Oval 9">
            <a:extLst>
              <a:ext uri="{FF2B5EF4-FFF2-40B4-BE49-F238E27FC236}">
                <a16:creationId xmlns:a16="http://schemas.microsoft.com/office/drawing/2014/main" id="{C04459CB-937B-56D1-5052-C19504F807D7}"/>
              </a:ext>
            </a:extLst>
          </p:cNvPr>
          <p:cNvSpPr/>
          <p:nvPr/>
        </p:nvSpPr>
        <p:spPr>
          <a:xfrm>
            <a:off x="2098675" y="2892425"/>
            <a:ext cx="439738" cy="4191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c</a:t>
            </a:r>
          </a:p>
        </p:txBody>
      </p:sp>
      <p:cxnSp>
        <p:nvCxnSpPr>
          <p:cNvPr id="11" name="Straight Arrow Connector 10">
            <a:extLst>
              <a:ext uri="{FF2B5EF4-FFF2-40B4-BE49-F238E27FC236}">
                <a16:creationId xmlns:a16="http://schemas.microsoft.com/office/drawing/2014/main" id="{61148038-3D20-34B3-2860-13ED4FEBFBEC}"/>
              </a:ext>
            </a:extLst>
          </p:cNvPr>
          <p:cNvCxnSpPr>
            <a:cxnSpLocks/>
            <a:stCxn id="9" idx="6"/>
          </p:cNvCxnSpPr>
          <p:nvPr/>
        </p:nvCxnSpPr>
        <p:spPr>
          <a:xfrm>
            <a:off x="2532063" y="2657475"/>
            <a:ext cx="588962" cy="1476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F6963D4A-8FC8-3363-91F3-B3AA7C3BF941}"/>
              </a:ext>
            </a:extLst>
          </p:cNvPr>
          <p:cNvCxnSpPr>
            <a:cxnSpLocks/>
          </p:cNvCxnSpPr>
          <p:nvPr/>
        </p:nvCxnSpPr>
        <p:spPr>
          <a:xfrm flipV="1">
            <a:off x="2538413" y="3059113"/>
            <a:ext cx="582612" cy="444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Rectangle: Rounded Corners 15">
            <a:extLst>
              <a:ext uri="{FF2B5EF4-FFF2-40B4-BE49-F238E27FC236}">
                <a16:creationId xmlns:a16="http://schemas.microsoft.com/office/drawing/2014/main" id="{1C2E5987-6EA5-49B4-9646-6B2D5E3CF2B8}"/>
              </a:ext>
            </a:extLst>
          </p:cNvPr>
          <p:cNvSpPr/>
          <p:nvPr/>
        </p:nvSpPr>
        <p:spPr>
          <a:xfrm>
            <a:off x="4178300" y="3627438"/>
            <a:ext cx="1008063" cy="50482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dirty="0"/>
          </a:p>
        </p:txBody>
      </p:sp>
      <p:graphicFrame>
        <p:nvGraphicFramePr>
          <p:cNvPr id="17" name="Table 8">
            <a:extLst>
              <a:ext uri="{FF2B5EF4-FFF2-40B4-BE49-F238E27FC236}">
                <a16:creationId xmlns:a16="http://schemas.microsoft.com/office/drawing/2014/main" id="{66314A81-E450-BD4E-30AF-9280FBC89CC1}"/>
              </a:ext>
            </a:extLst>
          </p:cNvPr>
          <p:cNvGraphicFramePr>
            <a:graphicFrameLocks noGrp="1"/>
          </p:cNvGraphicFramePr>
          <p:nvPr/>
        </p:nvGraphicFramePr>
        <p:xfrm>
          <a:off x="5821363" y="4178300"/>
          <a:ext cx="1290637" cy="1854200"/>
        </p:xfrm>
        <a:graphic>
          <a:graphicData uri="http://schemas.openxmlformats.org/drawingml/2006/table">
            <a:tbl>
              <a:tblPr firstRow="1" bandRow="1">
                <a:tableStyleId>{5940675A-B579-460E-94D1-54222C63F5DA}</a:tableStyleId>
              </a:tblPr>
              <a:tblGrid>
                <a:gridCol w="453989">
                  <a:extLst>
                    <a:ext uri="{9D8B030D-6E8A-4147-A177-3AD203B41FA5}">
                      <a16:colId xmlns:a16="http://schemas.microsoft.com/office/drawing/2014/main" val="20000"/>
                    </a:ext>
                  </a:extLst>
                </a:gridCol>
                <a:gridCol w="836648">
                  <a:extLst>
                    <a:ext uri="{9D8B030D-6E8A-4147-A177-3AD203B41FA5}">
                      <a16:colId xmlns:a16="http://schemas.microsoft.com/office/drawing/2014/main" val="20001"/>
                    </a:ext>
                  </a:extLst>
                </a:gridCol>
              </a:tblGrid>
              <a:tr h="370840">
                <a:tc>
                  <a:txBody>
                    <a:bodyPr/>
                    <a:lstStyle/>
                    <a:p>
                      <a:r>
                        <a:rPr lang="en-IE" dirty="0"/>
                        <a:t>0</a:t>
                      </a:r>
                    </a:p>
                  </a:txBody>
                  <a:tcPr marL="91371" marR="91371">
                    <a:solidFill>
                      <a:schemeClr val="tx2">
                        <a:lumMod val="40000"/>
                        <a:lumOff val="60000"/>
                      </a:schemeClr>
                    </a:solidFill>
                  </a:tcPr>
                </a:tc>
                <a:tc>
                  <a:txBody>
                    <a:bodyPr/>
                    <a:lstStyle/>
                    <a:p>
                      <a:endParaRPr lang="en-IE" dirty="0"/>
                    </a:p>
                  </a:txBody>
                  <a:tcPr marL="91371" marR="91371">
                    <a:solidFill>
                      <a:schemeClr val="tx2">
                        <a:lumMod val="40000"/>
                        <a:lumOff val="60000"/>
                      </a:schemeClr>
                    </a:solidFill>
                  </a:tcPr>
                </a:tc>
                <a:extLst>
                  <a:ext uri="{0D108BD9-81ED-4DB2-BD59-A6C34878D82A}">
                    <a16:rowId xmlns:a16="http://schemas.microsoft.com/office/drawing/2014/main" val="10000"/>
                  </a:ext>
                </a:extLst>
              </a:tr>
              <a:tr h="370840">
                <a:tc>
                  <a:txBody>
                    <a:bodyPr/>
                    <a:lstStyle/>
                    <a:p>
                      <a:r>
                        <a:rPr lang="en-IE" dirty="0"/>
                        <a:t>1</a:t>
                      </a:r>
                    </a:p>
                  </a:txBody>
                  <a:tcPr marL="91371" marR="91371">
                    <a:solidFill>
                      <a:schemeClr val="tx2">
                        <a:lumMod val="40000"/>
                        <a:lumOff val="60000"/>
                      </a:schemeClr>
                    </a:solidFill>
                  </a:tcPr>
                </a:tc>
                <a:tc>
                  <a:txBody>
                    <a:bodyPr/>
                    <a:lstStyle/>
                    <a:p>
                      <a:endParaRPr lang="en-IE"/>
                    </a:p>
                  </a:txBody>
                  <a:tcPr marL="91371" marR="91371">
                    <a:solidFill>
                      <a:schemeClr val="tx2">
                        <a:lumMod val="40000"/>
                        <a:lumOff val="60000"/>
                      </a:schemeClr>
                    </a:solidFill>
                  </a:tcPr>
                </a:tc>
                <a:extLst>
                  <a:ext uri="{0D108BD9-81ED-4DB2-BD59-A6C34878D82A}">
                    <a16:rowId xmlns:a16="http://schemas.microsoft.com/office/drawing/2014/main" val="10001"/>
                  </a:ext>
                </a:extLst>
              </a:tr>
              <a:tr h="370840">
                <a:tc>
                  <a:txBody>
                    <a:bodyPr/>
                    <a:lstStyle/>
                    <a:p>
                      <a:r>
                        <a:rPr lang="en-IE" dirty="0"/>
                        <a:t>2</a:t>
                      </a:r>
                    </a:p>
                  </a:txBody>
                  <a:tcPr marL="91371" marR="91371">
                    <a:solidFill>
                      <a:schemeClr val="tx2">
                        <a:lumMod val="40000"/>
                        <a:lumOff val="60000"/>
                      </a:schemeClr>
                    </a:solidFill>
                  </a:tcPr>
                </a:tc>
                <a:tc>
                  <a:txBody>
                    <a:bodyPr/>
                    <a:lstStyle/>
                    <a:p>
                      <a:endParaRPr lang="en-IE"/>
                    </a:p>
                  </a:txBody>
                  <a:tcPr marL="91371" marR="91371">
                    <a:solidFill>
                      <a:schemeClr val="tx2">
                        <a:lumMod val="40000"/>
                        <a:lumOff val="60000"/>
                      </a:schemeClr>
                    </a:solidFill>
                  </a:tcPr>
                </a:tc>
                <a:extLst>
                  <a:ext uri="{0D108BD9-81ED-4DB2-BD59-A6C34878D82A}">
                    <a16:rowId xmlns:a16="http://schemas.microsoft.com/office/drawing/2014/main" val="10002"/>
                  </a:ext>
                </a:extLst>
              </a:tr>
              <a:tr h="370840">
                <a:tc>
                  <a:txBody>
                    <a:bodyPr/>
                    <a:lstStyle/>
                    <a:p>
                      <a:r>
                        <a:rPr lang="en-IE" dirty="0"/>
                        <a:t>3</a:t>
                      </a:r>
                    </a:p>
                  </a:txBody>
                  <a:tcPr marL="91371" marR="91371">
                    <a:solidFill>
                      <a:schemeClr val="tx2">
                        <a:lumMod val="40000"/>
                        <a:lumOff val="60000"/>
                      </a:schemeClr>
                    </a:solidFill>
                  </a:tcPr>
                </a:tc>
                <a:tc>
                  <a:txBody>
                    <a:bodyPr/>
                    <a:lstStyle/>
                    <a:p>
                      <a:endParaRPr lang="en-IE"/>
                    </a:p>
                  </a:txBody>
                  <a:tcPr marL="91371" marR="91371">
                    <a:solidFill>
                      <a:schemeClr val="tx2">
                        <a:lumMod val="40000"/>
                        <a:lumOff val="60000"/>
                      </a:schemeClr>
                    </a:solidFill>
                  </a:tcPr>
                </a:tc>
                <a:extLst>
                  <a:ext uri="{0D108BD9-81ED-4DB2-BD59-A6C34878D82A}">
                    <a16:rowId xmlns:a16="http://schemas.microsoft.com/office/drawing/2014/main" val="10003"/>
                  </a:ext>
                </a:extLst>
              </a:tr>
              <a:tr h="370840">
                <a:tc>
                  <a:txBody>
                    <a:bodyPr/>
                    <a:lstStyle/>
                    <a:p>
                      <a:r>
                        <a:rPr lang="en-IE" dirty="0"/>
                        <a:t>4</a:t>
                      </a:r>
                    </a:p>
                  </a:txBody>
                  <a:tcPr marL="91371" marR="91371">
                    <a:solidFill>
                      <a:schemeClr val="tx2">
                        <a:lumMod val="40000"/>
                        <a:lumOff val="60000"/>
                      </a:schemeClr>
                    </a:solidFill>
                  </a:tcPr>
                </a:tc>
                <a:tc>
                  <a:txBody>
                    <a:bodyPr/>
                    <a:lstStyle/>
                    <a:p>
                      <a:endParaRPr lang="en-IE" dirty="0"/>
                    </a:p>
                  </a:txBody>
                  <a:tcPr marL="91371" marR="91371">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18" name="Oval 17">
            <a:extLst>
              <a:ext uri="{FF2B5EF4-FFF2-40B4-BE49-F238E27FC236}">
                <a16:creationId xmlns:a16="http://schemas.microsoft.com/office/drawing/2014/main" id="{16EC5DE7-DD95-B8DF-D7EC-16B6C7AF78C9}"/>
              </a:ext>
            </a:extLst>
          </p:cNvPr>
          <p:cNvSpPr/>
          <p:nvPr/>
        </p:nvSpPr>
        <p:spPr>
          <a:xfrm>
            <a:off x="4575175" y="3771900"/>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9967" name="TextBox 18">
            <a:extLst>
              <a:ext uri="{FF2B5EF4-FFF2-40B4-BE49-F238E27FC236}">
                <a16:creationId xmlns:a16="http://schemas.microsoft.com/office/drawing/2014/main" id="{804BA256-703E-6723-1571-1426AB76D86B}"/>
              </a:ext>
            </a:extLst>
          </p:cNvPr>
          <p:cNvSpPr txBox="1">
            <a:spLocks noChangeArrowheads="1"/>
          </p:cNvSpPr>
          <p:nvPr/>
        </p:nvSpPr>
        <p:spPr bwMode="auto">
          <a:xfrm>
            <a:off x="3175000" y="3705225"/>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E" altLang="en-US" sz="1800"/>
              <a:t>products</a:t>
            </a:r>
          </a:p>
        </p:txBody>
      </p:sp>
      <p:cxnSp>
        <p:nvCxnSpPr>
          <p:cNvPr id="20" name="Straight Arrow Connector 19">
            <a:extLst>
              <a:ext uri="{FF2B5EF4-FFF2-40B4-BE49-F238E27FC236}">
                <a16:creationId xmlns:a16="http://schemas.microsoft.com/office/drawing/2014/main" id="{65B1FB97-A4C1-59B8-F806-DC07CA2FABAC}"/>
              </a:ext>
            </a:extLst>
          </p:cNvPr>
          <p:cNvCxnSpPr>
            <a:cxnSpLocks/>
          </p:cNvCxnSpPr>
          <p:nvPr/>
        </p:nvCxnSpPr>
        <p:spPr>
          <a:xfrm>
            <a:off x="4791075" y="3916363"/>
            <a:ext cx="1030288" cy="29527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66F615D4-6176-EC9F-FD96-C94A928410BD}"/>
              </a:ext>
            </a:extLst>
          </p:cNvPr>
          <p:cNvSpPr/>
          <p:nvPr/>
        </p:nvSpPr>
        <p:spPr>
          <a:xfrm>
            <a:off x="6608763" y="4284663"/>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2" name="Straight Arrow Connector 21">
            <a:extLst>
              <a:ext uri="{FF2B5EF4-FFF2-40B4-BE49-F238E27FC236}">
                <a16:creationId xmlns:a16="http://schemas.microsoft.com/office/drawing/2014/main" id="{026B861B-7748-67BF-4091-A0F5D21FBF7F}"/>
              </a:ext>
            </a:extLst>
          </p:cNvPr>
          <p:cNvCxnSpPr>
            <a:cxnSpLocks/>
            <a:endCxn id="31" idx="1"/>
          </p:cNvCxnSpPr>
          <p:nvPr/>
        </p:nvCxnSpPr>
        <p:spPr>
          <a:xfrm flipV="1">
            <a:off x="6804025" y="3667125"/>
            <a:ext cx="1100138" cy="72707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F1275F0-828C-29E9-31E5-35C74118EA96}"/>
              </a:ext>
            </a:extLst>
          </p:cNvPr>
          <p:cNvSpPr/>
          <p:nvPr/>
        </p:nvSpPr>
        <p:spPr>
          <a:xfrm>
            <a:off x="6624638" y="4662488"/>
            <a:ext cx="217487"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4" name="Straight Arrow Connector 23">
            <a:extLst>
              <a:ext uri="{FF2B5EF4-FFF2-40B4-BE49-F238E27FC236}">
                <a16:creationId xmlns:a16="http://schemas.microsoft.com/office/drawing/2014/main" id="{A780EA70-0CD3-634D-DF51-D55AC957CD55}"/>
              </a:ext>
            </a:extLst>
          </p:cNvPr>
          <p:cNvCxnSpPr>
            <a:cxnSpLocks/>
            <a:stCxn id="23" idx="6"/>
            <a:endCxn id="32" idx="1"/>
          </p:cNvCxnSpPr>
          <p:nvPr/>
        </p:nvCxnSpPr>
        <p:spPr>
          <a:xfrm flipV="1">
            <a:off x="6842125" y="4368800"/>
            <a:ext cx="1079500" cy="40163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08FB2802-7142-FCE4-641B-5A74317080CC}"/>
              </a:ext>
            </a:extLst>
          </p:cNvPr>
          <p:cNvSpPr/>
          <p:nvPr/>
        </p:nvSpPr>
        <p:spPr>
          <a:xfrm>
            <a:off x="6608763" y="5037138"/>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6" name="Straight Arrow Connector 25">
            <a:extLst>
              <a:ext uri="{FF2B5EF4-FFF2-40B4-BE49-F238E27FC236}">
                <a16:creationId xmlns:a16="http://schemas.microsoft.com/office/drawing/2014/main" id="{3B38AB67-04F2-15B1-227D-1FE3F2608B3A}"/>
              </a:ext>
            </a:extLst>
          </p:cNvPr>
          <p:cNvCxnSpPr>
            <a:cxnSpLocks/>
            <a:stCxn id="25" idx="6"/>
          </p:cNvCxnSpPr>
          <p:nvPr/>
        </p:nvCxnSpPr>
        <p:spPr>
          <a:xfrm flipV="1">
            <a:off x="6824663" y="5092700"/>
            <a:ext cx="1152525" cy="5238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7AFFF2C6-7230-FA9B-7F69-CCF12C3C1819}"/>
              </a:ext>
            </a:extLst>
          </p:cNvPr>
          <p:cNvSpPr/>
          <p:nvPr/>
        </p:nvSpPr>
        <p:spPr>
          <a:xfrm>
            <a:off x="6608763" y="537210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8" name="Straight Arrow Connector 27">
            <a:extLst>
              <a:ext uri="{FF2B5EF4-FFF2-40B4-BE49-F238E27FC236}">
                <a16:creationId xmlns:a16="http://schemas.microsoft.com/office/drawing/2014/main" id="{CDF5844B-C65E-70DA-642B-589D4A3B67CA}"/>
              </a:ext>
            </a:extLst>
          </p:cNvPr>
          <p:cNvCxnSpPr>
            <a:cxnSpLocks/>
            <a:stCxn id="27" idx="6"/>
          </p:cNvCxnSpPr>
          <p:nvPr/>
        </p:nvCxnSpPr>
        <p:spPr>
          <a:xfrm>
            <a:off x="6824663" y="5480050"/>
            <a:ext cx="1096962" cy="30956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425365E8-2374-53B6-923F-0BB6807E21B2}"/>
              </a:ext>
            </a:extLst>
          </p:cNvPr>
          <p:cNvSpPr/>
          <p:nvPr/>
        </p:nvSpPr>
        <p:spPr>
          <a:xfrm>
            <a:off x="6608763" y="5732463"/>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30" name="Straight Arrow Connector 29">
            <a:extLst>
              <a:ext uri="{FF2B5EF4-FFF2-40B4-BE49-F238E27FC236}">
                <a16:creationId xmlns:a16="http://schemas.microsoft.com/office/drawing/2014/main" id="{97BE58DA-D78B-926A-BDE0-2D05E7EBDAC9}"/>
              </a:ext>
            </a:extLst>
          </p:cNvPr>
          <p:cNvCxnSpPr>
            <a:cxnSpLocks/>
            <a:stCxn id="29" idx="6"/>
            <a:endCxn id="35" idx="1"/>
          </p:cNvCxnSpPr>
          <p:nvPr/>
        </p:nvCxnSpPr>
        <p:spPr>
          <a:xfrm>
            <a:off x="6824663" y="5840413"/>
            <a:ext cx="1147762" cy="72072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D03D74C9-930B-06DE-4B17-16653871DEA3}"/>
              </a:ext>
            </a:extLst>
          </p:cNvPr>
          <p:cNvSpPr/>
          <p:nvPr/>
        </p:nvSpPr>
        <p:spPr>
          <a:xfrm>
            <a:off x="7904163" y="3414713"/>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Sugar</a:t>
            </a:r>
          </a:p>
        </p:txBody>
      </p:sp>
      <p:sp>
        <p:nvSpPr>
          <p:cNvPr id="32" name="Rectangle: Rounded Corners 31">
            <a:extLst>
              <a:ext uri="{FF2B5EF4-FFF2-40B4-BE49-F238E27FC236}">
                <a16:creationId xmlns:a16="http://schemas.microsoft.com/office/drawing/2014/main" id="{C0AAEB1C-5079-607E-D26F-BBA789F300D5}"/>
              </a:ext>
            </a:extLst>
          </p:cNvPr>
          <p:cNvSpPr/>
          <p:nvPr/>
        </p:nvSpPr>
        <p:spPr>
          <a:xfrm>
            <a:off x="7921625" y="4117975"/>
            <a:ext cx="2659063" cy="503238"/>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Flour</a:t>
            </a:r>
          </a:p>
        </p:txBody>
      </p:sp>
      <p:sp>
        <p:nvSpPr>
          <p:cNvPr id="33" name="Rectangle: Rounded Corners 32">
            <a:extLst>
              <a:ext uri="{FF2B5EF4-FFF2-40B4-BE49-F238E27FC236}">
                <a16:creationId xmlns:a16="http://schemas.microsoft.com/office/drawing/2014/main" id="{A634C37D-7DC5-6FBC-AFA8-D32248656288}"/>
              </a:ext>
            </a:extLst>
          </p:cNvPr>
          <p:cNvSpPr/>
          <p:nvPr/>
        </p:nvSpPr>
        <p:spPr>
          <a:xfrm>
            <a:off x="7921625" y="4814888"/>
            <a:ext cx="2659063" cy="503237"/>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Eggs</a:t>
            </a:r>
          </a:p>
        </p:txBody>
      </p:sp>
      <p:sp>
        <p:nvSpPr>
          <p:cNvPr id="34" name="Rectangle: Rounded Corners 33">
            <a:extLst>
              <a:ext uri="{FF2B5EF4-FFF2-40B4-BE49-F238E27FC236}">
                <a16:creationId xmlns:a16="http://schemas.microsoft.com/office/drawing/2014/main" id="{58C451E5-5426-B7F5-6BC6-4DA1894AD1FA}"/>
              </a:ext>
            </a:extLst>
          </p:cNvPr>
          <p:cNvSpPr/>
          <p:nvPr/>
        </p:nvSpPr>
        <p:spPr>
          <a:xfrm>
            <a:off x="7921625" y="5527675"/>
            <a:ext cx="2659063"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Milk</a:t>
            </a:r>
          </a:p>
        </p:txBody>
      </p:sp>
      <p:sp>
        <p:nvSpPr>
          <p:cNvPr id="35" name="Rectangle: Rounded Corners 34">
            <a:extLst>
              <a:ext uri="{FF2B5EF4-FFF2-40B4-BE49-F238E27FC236}">
                <a16:creationId xmlns:a16="http://schemas.microsoft.com/office/drawing/2014/main" id="{1FE32D41-9F57-5408-7B61-3A89D8AFE7E3}"/>
              </a:ext>
            </a:extLst>
          </p:cNvPr>
          <p:cNvSpPr/>
          <p:nvPr/>
        </p:nvSpPr>
        <p:spPr>
          <a:xfrm>
            <a:off x="7972425" y="6308725"/>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Salt</a:t>
            </a:r>
          </a:p>
        </p:txBody>
      </p:sp>
      <p:sp>
        <p:nvSpPr>
          <p:cNvPr id="15" name="Rectangle: Rounded Corners 14">
            <a:extLst>
              <a:ext uri="{FF2B5EF4-FFF2-40B4-BE49-F238E27FC236}">
                <a16:creationId xmlns:a16="http://schemas.microsoft.com/office/drawing/2014/main" id="{98BCC793-65B1-1669-1568-DBC40D02E07D}"/>
              </a:ext>
            </a:extLst>
          </p:cNvPr>
          <p:cNvSpPr/>
          <p:nvPr/>
        </p:nvSpPr>
        <p:spPr>
          <a:xfrm>
            <a:off x="1604963" y="349250"/>
            <a:ext cx="1152525" cy="4206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Algorithm</a:t>
            </a:r>
          </a:p>
        </p:txBody>
      </p:sp>
      <p:sp>
        <p:nvSpPr>
          <p:cNvPr id="3" name="Rectangle: Rounded Corners 2">
            <a:extLst>
              <a:ext uri="{FF2B5EF4-FFF2-40B4-BE49-F238E27FC236}">
                <a16:creationId xmlns:a16="http://schemas.microsoft.com/office/drawing/2014/main" id="{A00F9455-1B2F-37C1-2B98-0E2D7813B653}"/>
              </a:ext>
            </a:extLst>
          </p:cNvPr>
          <p:cNvSpPr/>
          <p:nvPr/>
        </p:nvSpPr>
        <p:spPr>
          <a:xfrm>
            <a:off x="2682013" y="4640402"/>
            <a:ext cx="2189851" cy="1236871"/>
          </a:xfrm>
          <a:prstGeom prst="roundRect">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IE" sz="3600" dirty="0"/>
              <a:t>BEFORE SWAP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57870D3-4995-1789-E30C-B86ED8F37E0C}"/>
              </a:ext>
            </a:extLst>
          </p:cNvPr>
          <p:cNvSpPr>
            <a:spLocks noChangeArrowheads="1"/>
          </p:cNvSpPr>
          <p:nvPr/>
        </p:nvSpPr>
        <p:spPr bwMode="auto">
          <a:xfrm>
            <a:off x="2617788" y="1152525"/>
            <a:ext cx="7961312" cy="2308225"/>
          </a:xfrm>
          <a:prstGeom prst="rect">
            <a:avLst/>
          </a:prstGeom>
          <a:ln/>
        </p:spPr>
        <p:style>
          <a:lnRef idx="2">
            <a:schemeClr val="accent2"/>
          </a:lnRef>
          <a:fillRef idx="1">
            <a:schemeClr val="lt1"/>
          </a:fillRef>
          <a:effectRef idx="0">
            <a:schemeClr val="accent2"/>
          </a:effectRef>
          <a:fontRef idx="minor">
            <a:schemeClr val="dk1"/>
          </a:fontRef>
        </p:style>
        <p:txBody>
          <a:bodyPr wrap="none" anchor="ctr">
            <a:spAutoFit/>
          </a:bodyPr>
          <a:lstStyle/>
          <a:p>
            <a:pPr>
              <a:defRPr/>
            </a:pPr>
            <a:r>
              <a:rPr lang="en-US" altLang="en-US" sz="1600" b="1" dirty="0">
                <a:solidFill>
                  <a:srgbClr val="000080"/>
                </a:solidFill>
                <a:latin typeface="Courier New" panose="02070309020205020404" pitchFamily="49" charset="0"/>
                <a:cs typeface="Courier New" panose="02070309020205020404" pitchFamily="49" charset="0"/>
              </a:rPr>
              <a:t>private void </a:t>
            </a:r>
            <a:r>
              <a:rPr lang="en-US" altLang="en-US" sz="1600" dirty="0" err="1">
                <a:solidFill>
                  <a:srgbClr val="000000"/>
                </a:solidFill>
                <a:latin typeface="Courier New" panose="02070309020205020404" pitchFamily="49" charset="0"/>
                <a:cs typeface="Courier New" panose="02070309020205020404" pitchFamily="49" charset="0"/>
              </a:rPr>
              <a:t>swapProducts</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ArrayList</a:t>
            </a:r>
            <a:r>
              <a:rPr lang="en-US" altLang="en-US" sz="1600" dirty="0">
                <a:solidFill>
                  <a:srgbClr val="000000"/>
                </a:solidFill>
                <a:latin typeface="Courier New" panose="02070309020205020404" pitchFamily="49" charset="0"/>
                <a:cs typeface="Courier New" panose="02070309020205020404" pitchFamily="49" charset="0"/>
              </a:rPr>
              <a:t>&lt;Product&gt; products, </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b="1" dirty="0">
                <a:solidFill>
                  <a:srgbClr val="000080"/>
                </a:solidFill>
                <a:latin typeface="Courier New" panose="02070309020205020404" pitchFamily="49" charset="0"/>
                <a:cs typeface="Courier New" panose="02070309020205020404" pitchFamily="49" charset="0"/>
              </a:rPr>
              <a:t>int </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b="1" dirty="0">
                <a:solidFill>
                  <a:srgbClr val="000080"/>
                </a:solidFill>
                <a:latin typeface="Courier New" panose="02070309020205020404" pitchFamily="49" charset="0"/>
                <a:cs typeface="Courier New" panose="02070309020205020404" pitchFamily="49" charset="0"/>
              </a:rPr>
              <a:t>int </a:t>
            </a:r>
            <a:r>
              <a:rPr lang="en-US" altLang="en-US" sz="1600" dirty="0" err="1">
                <a:solidFill>
                  <a:srgbClr val="000000"/>
                </a:solidFill>
                <a:latin typeface="Courier New" panose="02070309020205020404" pitchFamily="49" charset="0"/>
                <a:cs typeface="Courier New" panose="02070309020205020404" pitchFamily="49" charset="0"/>
              </a:rPr>
              <a:t>highestIndex</a:t>
            </a:r>
            <a:r>
              <a:rPr lang="en-US" altLang="en-US" sz="1600" dirty="0">
                <a:solidFill>
                  <a:srgbClr val="000000"/>
                </a:solidFill>
                <a:latin typeface="Courier New" panose="02070309020205020404" pitchFamily="49" charset="0"/>
                <a:cs typeface="Courier New" panose="02070309020205020404" pitchFamily="49" charset="0"/>
              </a:rPr>
              <a:t>) {</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p>
          <a:p>
            <a:pPr>
              <a:defRPr/>
            </a:pPr>
            <a:r>
              <a:rPr lang="en-US" altLang="en-US" sz="1600" dirty="0">
                <a:solidFill>
                  <a:srgbClr val="000000"/>
                </a:solidFill>
                <a:latin typeface="Courier New" panose="02070309020205020404" pitchFamily="49" charset="0"/>
                <a:cs typeface="Courier New" panose="02070309020205020404" pitchFamily="49" charset="0"/>
              </a:rPr>
              <a:t>    Product </a:t>
            </a:r>
            <a:r>
              <a:rPr lang="en-US" altLang="en-US" sz="1600" dirty="0" err="1">
                <a:solidFill>
                  <a:srgbClr val="000000"/>
                </a:solidFill>
                <a:latin typeface="Courier New" panose="02070309020205020404" pitchFamily="49" charset="0"/>
                <a:cs typeface="Courier New" panose="02070309020205020404" pitchFamily="49" charset="0"/>
              </a:rPr>
              <a:t>currentProduct</a:t>
            </a:r>
            <a:r>
              <a:rPr lang="en-US" altLang="en-US" sz="1600" dirty="0">
                <a:solidFill>
                  <a:srgbClr val="000000"/>
                </a:solidFill>
                <a:latin typeface="Courier New" panose="02070309020205020404" pitchFamily="49" charset="0"/>
                <a:cs typeface="Courier New" panose="02070309020205020404" pitchFamily="49" charset="0"/>
              </a:rPr>
              <a:t> = </a:t>
            </a:r>
            <a:r>
              <a:rPr lang="en-US" altLang="en-US" sz="1600" dirty="0" err="1">
                <a:solidFill>
                  <a:srgbClr val="000000"/>
                </a:solidFill>
                <a:latin typeface="Courier New" panose="02070309020205020404" pitchFamily="49" charset="0"/>
                <a:cs typeface="Courier New" panose="02070309020205020404" pitchFamily="49" charset="0"/>
              </a:rPr>
              <a:t>products.get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Product </a:t>
            </a:r>
            <a:r>
              <a:rPr lang="en-US" altLang="en-US" sz="1600" dirty="0" err="1">
                <a:solidFill>
                  <a:srgbClr val="000000"/>
                </a:solidFill>
                <a:latin typeface="Courier New" panose="02070309020205020404" pitchFamily="49" charset="0"/>
                <a:cs typeface="Courier New" panose="02070309020205020404" pitchFamily="49" charset="0"/>
              </a:rPr>
              <a:t>highestProduct</a:t>
            </a:r>
            <a:r>
              <a:rPr lang="en-US" altLang="en-US" sz="1600" dirty="0">
                <a:solidFill>
                  <a:srgbClr val="000000"/>
                </a:solidFill>
                <a:latin typeface="Courier New" panose="02070309020205020404" pitchFamily="49" charset="0"/>
                <a:cs typeface="Courier New" panose="02070309020205020404" pitchFamily="49" charset="0"/>
              </a:rPr>
              <a:t> = </a:t>
            </a:r>
            <a:r>
              <a:rPr lang="en-US" altLang="en-US" sz="1600" dirty="0" err="1">
                <a:solidFill>
                  <a:srgbClr val="000000"/>
                </a:solidFill>
                <a:latin typeface="Courier New" panose="02070309020205020404" pitchFamily="49" charset="0"/>
                <a:cs typeface="Courier New" panose="02070309020205020404" pitchFamily="49" charset="0"/>
              </a:rPr>
              <a:t>products.get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highestIndex</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products.set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currentIndex</a:t>
            </a: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highestProduct</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products.set</a:t>
            </a:r>
            <a:r>
              <a:rPr lang="en-US" altLang="en-US" sz="1600" dirty="0">
                <a:solidFill>
                  <a:srgbClr val="000000"/>
                </a:solidFill>
                <a:latin typeface="Courier New" panose="02070309020205020404" pitchFamily="49" charset="0"/>
                <a:cs typeface="Courier New" panose="02070309020205020404" pitchFamily="49" charset="0"/>
              </a:rPr>
              <a:t>(</a:t>
            </a:r>
            <a:r>
              <a:rPr lang="en-US" altLang="en-US" sz="1600" dirty="0" err="1">
                <a:solidFill>
                  <a:srgbClr val="000000"/>
                </a:solidFill>
                <a:latin typeface="Courier New" panose="02070309020205020404" pitchFamily="49" charset="0"/>
                <a:cs typeface="Courier New" panose="02070309020205020404" pitchFamily="49" charset="0"/>
              </a:rPr>
              <a:t>highestIndex,currentProduct</a:t>
            </a:r>
            <a:r>
              <a:rPr lang="en-US" altLang="en-US" sz="1600" dirty="0">
                <a:solidFill>
                  <a:srgbClr val="000000"/>
                </a:solidFill>
                <a:latin typeface="Courier New" panose="02070309020205020404" pitchFamily="49" charset="0"/>
                <a:cs typeface="Courier New" panose="02070309020205020404" pitchFamily="49" charset="0"/>
              </a:rPr>
              <a:t>);</a:t>
            </a:r>
            <a:br>
              <a:rPr lang="en-US" altLang="en-US" sz="1600" dirty="0">
                <a:solidFill>
                  <a:srgbClr val="000000"/>
                </a:solidFill>
                <a:latin typeface="Courier New" panose="02070309020205020404" pitchFamily="49" charset="0"/>
                <a:cs typeface="Courier New" panose="02070309020205020404" pitchFamily="49" charset="0"/>
              </a:rPr>
            </a:br>
            <a:r>
              <a:rPr lang="en-US" altLang="en-US" sz="1600" dirty="0">
                <a:solidFill>
                  <a:srgbClr val="000000"/>
                </a:solidFill>
                <a:latin typeface="Courier New" panose="02070309020205020404" pitchFamily="49" charset="0"/>
                <a:cs typeface="Courier New" panose="02070309020205020404" pitchFamily="49" charset="0"/>
              </a:rPr>
              <a:t>}</a:t>
            </a:r>
            <a:endParaRPr lang="en-US" altLang="en-US" sz="5400" dirty="0">
              <a:solidFill>
                <a:schemeClr val="tx1"/>
              </a:solidFill>
            </a:endParaRPr>
          </a:p>
        </p:txBody>
      </p:sp>
      <p:sp>
        <p:nvSpPr>
          <p:cNvPr id="7" name="TextBox 6">
            <a:extLst>
              <a:ext uri="{FF2B5EF4-FFF2-40B4-BE49-F238E27FC236}">
                <a16:creationId xmlns:a16="http://schemas.microsoft.com/office/drawing/2014/main" id="{7725F028-8523-850F-AE3F-92AFDDA25A7F}"/>
              </a:ext>
            </a:extLst>
          </p:cNvPr>
          <p:cNvSpPr txBox="1"/>
          <p:nvPr/>
        </p:nvSpPr>
        <p:spPr>
          <a:xfrm>
            <a:off x="2798763" y="130175"/>
            <a:ext cx="7788275" cy="923925"/>
          </a:xfrm>
          <a:prstGeom prst="rect">
            <a:avLst/>
          </a:prstGeom>
          <a:solidFill>
            <a:schemeClr val="bg2"/>
          </a:solidFill>
        </p:spPr>
        <p:style>
          <a:lnRef idx="2">
            <a:schemeClr val="accent2"/>
          </a:lnRef>
          <a:fillRef idx="1">
            <a:schemeClr val="lt1"/>
          </a:fillRef>
          <a:effectRef idx="0">
            <a:schemeClr val="accent2"/>
          </a:effectRef>
          <a:fontRef idx="minor">
            <a:schemeClr val="dk1"/>
          </a:fontRef>
        </p:style>
        <p:txBody>
          <a:bodyPr>
            <a:spAutoFit/>
          </a:bodyPr>
          <a:lstStyle/>
          <a:p>
            <a:pPr marL="342900" indent="-342900">
              <a:buFontTx/>
              <a:buAutoNum type="alphaLcParenR"/>
              <a:defRPr/>
            </a:pPr>
            <a:r>
              <a:rPr lang="en-IE" b="1" dirty="0"/>
              <a:t>Store Flour and Eggs in temporary Product variables.  </a:t>
            </a:r>
          </a:p>
          <a:p>
            <a:pPr marL="342900" indent="-342900">
              <a:buFontTx/>
              <a:buAutoNum type="alphaLcParenR"/>
              <a:defRPr/>
            </a:pPr>
            <a:r>
              <a:rPr lang="en-IE" b="1" dirty="0"/>
              <a:t>Set index 1 to be the temporary Product variable holding Eggs.</a:t>
            </a:r>
          </a:p>
          <a:p>
            <a:pPr marL="342900" indent="-342900">
              <a:buFontTx/>
              <a:buAutoNum type="alphaLcParenR"/>
              <a:defRPr/>
            </a:pPr>
            <a:r>
              <a:rPr lang="en-IE" b="1" dirty="0"/>
              <a:t>Set index 2 to be the temporary Product variable holding Flour.</a:t>
            </a:r>
          </a:p>
        </p:txBody>
      </p:sp>
      <p:sp>
        <p:nvSpPr>
          <p:cNvPr id="6" name="Oval 5">
            <a:extLst>
              <a:ext uri="{FF2B5EF4-FFF2-40B4-BE49-F238E27FC236}">
                <a16:creationId xmlns:a16="http://schemas.microsoft.com/office/drawing/2014/main" id="{53D13D14-A200-AB68-64B4-4E715581377E}"/>
              </a:ext>
            </a:extLst>
          </p:cNvPr>
          <p:cNvSpPr/>
          <p:nvPr/>
        </p:nvSpPr>
        <p:spPr>
          <a:xfrm>
            <a:off x="2681288" y="1944688"/>
            <a:ext cx="439737" cy="4191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a</a:t>
            </a:r>
          </a:p>
        </p:txBody>
      </p:sp>
      <p:sp>
        <p:nvSpPr>
          <p:cNvPr id="9" name="Oval 8">
            <a:extLst>
              <a:ext uri="{FF2B5EF4-FFF2-40B4-BE49-F238E27FC236}">
                <a16:creationId xmlns:a16="http://schemas.microsoft.com/office/drawing/2014/main" id="{2D44A9A7-3719-F503-E983-5DAF44A09507}"/>
              </a:ext>
            </a:extLst>
          </p:cNvPr>
          <p:cNvSpPr/>
          <p:nvPr/>
        </p:nvSpPr>
        <p:spPr>
          <a:xfrm>
            <a:off x="2092325" y="2447925"/>
            <a:ext cx="439738" cy="42068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b</a:t>
            </a:r>
          </a:p>
        </p:txBody>
      </p:sp>
      <p:sp>
        <p:nvSpPr>
          <p:cNvPr id="10" name="Oval 9">
            <a:extLst>
              <a:ext uri="{FF2B5EF4-FFF2-40B4-BE49-F238E27FC236}">
                <a16:creationId xmlns:a16="http://schemas.microsoft.com/office/drawing/2014/main" id="{C6BBDEE4-FA40-C677-8594-151BE2D4BA98}"/>
              </a:ext>
            </a:extLst>
          </p:cNvPr>
          <p:cNvSpPr/>
          <p:nvPr/>
        </p:nvSpPr>
        <p:spPr>
          <a:xfrm>
            <a:off x="2098675" y="2892425"/>
            <a:ext cx="439738" cy="4191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IE" sz="2400" dirty="0"/>
              <a:t>c</a:t>
            </a:r>
          </a:p>
        </p:txBody>
      </p:sp>
      <p:cxnSp>
        <p:nvCxnSpPr>
          <p:cNvPr id="11" name="Straight Arrow Connector 10">
            <a:extLst>
              <a:ext uri="{FF2B5EF4-FFF2-40B4-BE49-F238E27FC236}">
                <a16:creationId xmlns:a16="http://schemas.microsoft.com/office/drawing/2014/main" id="{19ED463D-BE1C-909D-56A0-EBFEA3273EA4}"/>
              </a:ext>
            </a:extLst>
          </p:cNvPr>
          <p:cNvCxnSpPr>
            <a:cxnSpLocks/>
            <a:stCxn id="9" idx="6"/>
          </p:cNvCxnSpPr>
          <p:nvPr/>
        </p:nvCxnSpPr>
        <p:spPr>
          <a:xfrm>
            <a:off x="2532063" y="2657475"/>
            <a:ext cx="588962" cy="1476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1259951B-A4B6-B29F-0D4F-6E8C5D9F13B2}"/>
              </a:ext>
            </a:extLst>
          </p:cNvPr>
          <p:cNvCxnSpPr>
            <a:cxnSpLocks/>
          </p:cNvCxnSpPr>
          <p:nvPr/>
        </p:nvCxnSpPr>
        <p:spPr>
          <a:xfrm flipV="1">
            <a:off x="2538413" y="3059113"/>
            <a:ext cx="582612" cy="444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Rectangle: Rounded Corners 15">
            <a:extLst>
              <a:ext uri="{FF2B5EF4-FFF2-40B4-BE49-F238E27FC236}">
                <a16:creationId xmlns:a16="http://schemas.microsoft.com/office/drawing/2014/main" id="{9CA9CF7D-79D1-D872-A126-D3C9BCAD2B96}"/>
              </a:ext>
            </a:extLst>
          </p:cNvPr>
          <p:cNvSpPr/>
          <p:nvPr/>
        </p:nvSpPr>
        <p:spPr>
          <a:xfrm>
            <a:off x="4178300" y="3627438"/>
            <a:ext cx="1008063" cy="50482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dirty="0"/>
          </a:p>
        </p:txBody>
      </p:sp>
      <p:graphicFrame>
        <p:nvGraphicFramePr>
          <p:cNvPr id="17" name="Table 8">
            <a:extLst>
              <a:ext uri="{FF2B5EF4-FFF2-40B4-BE49-F238E27FC236}">
                <a16:creationId xmlns:a16="http://schemas.microsoft.com/office/drawing/2014/main" id="{1844F621-3426-4E2C-F322-7FD7531EB156}"/>
              </a:ext>
            </a:extLst>
          </p:cNvPr>
          <p:cNvGraphicFramePr>
            <a:graphicFrameLocks noGrp="1"/>
          </p:cNvGraphicFramePr>
          <p:nvPr/>
        </p:nvGraphicFramePr>
        <p:xfrm>
          <a:off x="5821363" y="4178300"/>
          <a:ext cx="1290637" cy="1854200"/>
        </p:xfrm>
        <a:graphic>
          <a:graphicData uri="http://schemas.openxmlformats.org/drawingml/2006/table">
            <a:tbl>
              <a:tblPr firstRow="1" bandRow="1">
                <a:tableStyleId>{5940675A-B579-460E-94D1-54222C63F5DA}</a:tableStyleId>
              </a:tblPr>
              <a:tblGrid>
                <a:gridCol w="453989">
                  <a:extLst>
                    <a:ext uri="{9D8B030D-6E8A-4147-A177-3AD203B41FA5}">
                      <a16:colId xmlns:a16="http://schemas.microsoft.com/office/drawing/2014/main" val="20000"/>
                    </a:ext>
                  </a:extLst>
                </a:gridCol>
                <a:gridCol w="836648">
                  <a:extLst>
                    <a:ext uri="{9D8B030D-6E8A-4147-A177-3AD203B41FA5}">
                      <a16:colId xmlns:a16="http://schemas.microsoft.com/office/drawing/2014/main" val="20001"/>
                    </a:ext>
                  </a:extLst>
                </a:gridCol>
              </a:tblGrid>
              <a:tr h="370840">
                <a:tc>
                  <a:txBody>
                    <a:bodyPr/>
                    <a:lstStyle/>
                    <a:p>
                      <a:r>
                        <a:rPr lang="en-IE" dirty="0"/>
                        <a:t>0</a:t>
                      </a:r>
                    </a:p>
                  </a:txBody>
                  <a:tcPr marL="91371" marR="91371">
                    <a:solidFill>
                      <a:schemeClr val="tx2">
                        <a:lumMod val="40000"/>
                        <a:lumOff val="60000"/>
                      </a:schemeClr>
                    </a:solidFill>
                  </a:tcPr>
                </a:tc>
                <a:tc>
                  <a:txBody>
                    <a:bodyPr/>
                    <a:lstStyle/>
                    <a:p>
                      <a:endParaRPr lang="en-IE" dirty="0"/>
                    </a:p>
                  </a:txBody>
                  <a:tcPr marL="91371" marR="91371">
                    <a:solidFill>
                      <a:schemeClr val="tx2">
                        <a:lumMod val="40000"/>
                        <a:lumOff val="60000"/>
                      </a:schemeClr>
                    </a:solidFill>
                  </a:tcPr>
                </a:tc>
                <a:extLst>
                  <a:ext uri="{0D108BD9-81ED-4DB2-BD59-A6C34878D82A}">
                    <a16:rowId xmlns:a16="http://schemas.microsoft.com/office/drawing/2014/main" val="10000"/>
                  </a:ext>
                </a:extLst>
              </a:tr>
              <a:tr h="370840">
                <a:tc>
                  <a:txBody>
                    <a:bodyPr/>
                    <a:lstStyle/>
                    <a:p>
                      <a:r>
                        <a:rPr lang="en-IE" dirty="0"/>
                        <a:t>1</a:t>
                      </a:r>
                    </a:p>
                  </a:txBody>
                  <a:tcPr marL="91371" marR="91371">
                    <a:solidFill>
                      <a:schemeClr val="tx2">
                        <a:lumMod val="40000"/>
                        <a:lumOff val="60000"/>
                      </a:schemeClr>
                    </a:solidFill>
                  </a:tcPr>
                </a:tc>
                <a:tc>
                  <a:txBody>
                    <a:bodyPr/>
                    <a:lstStyle/>
                    <a:p>
                      <a:endParaRPr lang="en-IE"/>
                    </a:p>
                  </a:txBody>
                  <a:tcPr marL="91371" marR="91371">
                    <a:solidFill>
                      <a:schemeClr val="tx2">
                        <a:lumMod val="40000"/>
                        <a:lumOff val="60000"/>
                      </a:schemeClr>
                    </a:solidFill>
                  </a:tcPr>
                </a:tc>
                <a:extLst>
                  <a:ext uri="{0D108BD9-81ED-4DB2-BD59-A6C34878D82A}">
                    <a16:rowId xmlns:a16="http://schemas.microsoft.com/office/drawing/2014/main" val="10001"/>
                  </a:ext>
                </a:extLst>
              </a:tr>
              <a:tr h="370840">
                <a:tc>
                  <a:txBody>
                    <a:bodyPr/>
                    <a:lstStyle/>
                    <a:p>
                      <a:r>
                        <a:rPr lang="en-IE" dirty="0"/>
                        <a:t>2</a:t>
                      </a:r>
                    </a:p>
                  </a:txBody>
                  <a:tcPr marL="91371" marR="91371">
                    <a:solidFill>
                      <a:schemeClr val="tx2">
                        <a:lumMod val="40000"/>
                        <a:lumOff val="60000"/>
                      </a:schemeClr>
                    </a:solidFill>
                  </a:tcPr>
                </a:tc>
                <a:tc>
                  <a:txBody>
                    <a:bodyPr/>
                    <a:lstStyle/>
                    <a:p>
                      <a:endParaRPr lang="en-IE"/>
                    </a:p>
                  </a:txBody>
                  <a:tcPr marL="91371" marR="91371">
                    <a:solidFill>
                      <a:schemeClr val="tx2">
                        <a:lumMod val="40000"/>
                        <a:lumOff val="60000"/>
                      </a:schemeClr>
                    </a:solidFill>
                  </a:tcPr>
                </a:tc>
                <a:extLst>
                  <a:ext uri="{0D108BD9-81ED-4DB2-BD59-A6C34878D82A}">
                    <a16:rowId xmlns:a16="http://schemas.microsoft.com/office/drawing/2014/main" val="10002"/>
                  </a:ext>
                </a:extLst>
              </a:tr>
              <a:tr h="370840">
                <a:tc>
                  <a:txBody>
                    <a:bodyPr/>
                    <a:lstStyle/>
                    <a:p>
                      <a:r>
                        <a:rPr lang="en-IE" dirty="0"/>
                        <a:t>3</a:t>
                      </a:r>
                    </a:p>
                  </a:txBody>
                  <a:tcPr marL="91371" marR="91371">
                    <a:solidFill>
                      <a:schemeClr val="tx2">
                        <a:lumMod val="40000"/>
                        <a:lumOff val="60000"/>
                      </a:schemeClr>
                    </a:solidFill>
                  </a:tcPr>
                </a:tc>
                <a:tc>
                  <a:txBody>
                    <a:bodyPr/>
                    <a:lstStyle/>
                    <a:p>
                      <a:endParaRPr lang="en-IE"/>
                    </a:p>
                  </a:txBody>
                  <a:tcPr marL="91371" marR="91371">
                    <a:solidFill>
                      <a:schemeClr val="tx2">
                        <a:lumMod val="40000"/>
                        <a:lumOff val="60000"/>
                      </a:schemeClr>
                    </a:solidFill>
                  </a:tcPr>
                </a:tc>
                <a:extLst>
                  <a:ext uri="{0D108BD9-81ED-4DB2-BD59-A6C34878D82A}">
                    <a16:rowId xmlns:a16="http://schemas.microsoft.com/office/drawing/2014/main" val="10003"/>
                  </a:ext>
                </a:extLst>
              </a:tr>
              <a:tr h="370840">
                <a:tc>
                  <a:txBody>
                    <a:bodyPr/>
                    <a:lstStyle/>
                    <a:p>
                      <a:r>
                        <a:rPr lang="en-IE" dirty="0"/>
                        <a:t>4</a:t>
                      </a:r>
                    </a:p>
                  </a:txBody>
                  <a:tcPr marL="91371" marR="91371">
                    <a:solidFill>
                      <a:schemeClr val="tx2">
                        <a:lumMod val="40000"/>
                        <a:lumOff val="60000"/>
                      </a:schemeClr>
                    </a:solidFill>
                  </a:tcPr>
                </a:tc>
                <a:tc>
                  <a:txBody>
                    <a:bodyPr/>
                    <a:lstStyle/>
                    <a:p>
                      <a:endParaRPr lang="en-IE" dirty="0"/>
                    </a:p>
                  </a:txBody>
                  <a:tcPr marL="91371" marR="91371">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18" name="Oval 17">
            <a:extLst>
              <a:ext uri="{FF2B5EF4-FFF2-40B4-BE49-F238E27FC236}">
                <a16:creationId xmlns:a16="http://schemas.microsoft.com/office/drawing/2014/main" id="{6A3D8765-1858-15D6-9B31-B6D7337DA7D0}"/>
              </a:ext>
            </a:extLst>
          </p:cNvPr>
          <p:cNvSpPr/>
          <p:nvPr/>
        </p:nvSpPr>
        <p:spPr>
          <a:xfrm>
            <a:off x="4575175" y="3771900"/>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42015" name="TextBox 18">
            <a:extLst>
              <a:ext uri="{FF2B5EF4-FFF2-40B4-BE49-F238E27FC236}">
                <a16:creationId xmlns:a16="http://schemas.microsoft.com/office/drawing/2014/main" id="{22C43436-4190-52A2-813B-E14D57C42119}"/>
              </a:ext>
            </a:extLst>
          </p:cNvPr>
          <p:cNvSpPr txBox="1">
            <a:spLocks noChangeArrowheads="1"/>
          </p:cNvSpPr>
          <p:nvPr/>
        </p:nvSpPr>
        <p:spPr bwMode="auto">
          <a:xfrm>
            <a:off x="3175000" y="3705225"/>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E" altLang="en-US" sz="1800"/>
              <a:t>products</a:t>
            </a:r>
          </a:p>
        </p:txBody>
      </p:sp>
      <p:cxnSp>
        <p:nvCxnSpPr>
          <p:cNvPr id="20" name="Straight Arrow Connector 19">
            <a:extLst>
              <a:ext uri="{FF2B5EF4-FFF2-40B4-BE49-F238E27FC236}">
                <a16:creationId xmlns:a16="http://schemas.microsoft.com/office/drawing/2014/main" id="{BDB8008B-9803-551D-095A-76D81A7E7423}"/>
              </a:ext>
            </a:extLst>
          </p:cNvPr>
          <p:cNvCxnSpPr>
            <a:cxnSpLocks/>
          </p:cNvCxnSpPr>
          <p:nvPr/>
        </p:nvCxnSpPr>
        <p:spPr>
          <a:xfrm>
            <a:off x="4791075" y="3916363"/>
            <a:ext cx="1030288" cy="29527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CAF67BBA-5409-2A2B-5EBA-696780FDE7E6}"/>
              </a:ext>
            </a:extLst>
          </p:cNvPr>
          <p:cNvSpPr/>
          <p:nvPr/>
        </p:nvSpPr>
        <p:spPr>
          <a:xfrm>
            <a:off x="6608763" y="4284663"/>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2" name="Straight Arrow Connector 21">
            <a:extLst>
              <a:ext uri="{FF2B5EF4-FFF2-40B4-BE49-F238E27FC236}">
                <a16:creationId xmlns:a16="http://schemas.microsoft.com/office/drawing/2014/main" id="{8E08CB7A-1E3F-A7E5-3C54-2C7008630A55}"/>
              </a:ext>
            </a:extLst>
          </p:cNvPr>
          <p:cNvCxnSpPr>
            <a:cxnSpLocks/>
            <a:endCxn id="31" idx="1"/>
          </p:cNvCxnSpPr>
          <p:nvPr/>
        </p:nvCxnSpPr>
        <p:spPr>
          <a:xfrm flipV="1">
            <a:off x="6804025" y="3667125"/>
            <a:ext cx="1100138" cy="72707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29288B9-81FB-70FA-82C9-162950407D06}"/>
              </a:ext>
            </a:extLst>
          </p:cNvPr>
          <p:cNvSpPr/>
          <p:nvPr/>
        </p:nvSpPr>
        <p:spPr>
          <a:xfrm>
            <a:off x="6624638" y="4662488"/>
            <a:ext cx="217487"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4" name="Straight Arrow Connector 23">
            <a:extLst>
              <a:ext uri="{FF2B5EF4-FFF2-40B4-BE49-F238E27FC236}">
                <a16:creationId xmlns:a16="http://schemas.microsoft.com/office/drawing/2014/main" id="{A3017B22-B2CA-E4FC-3246-4F66DC4854A3}"/>
              </a:ext>
            </a:extLst>
          </p:cNvPr>
          <p:cNvCxnSpPr>
            <a:cxnSpLocks/>
            <a:stCxn id="23" idx="6"/>
            <a:endCxn id="32" idx="1"/>
          </p:cNvCxnSpPr>
          <p:nvPr/>
        </p:nvCxnSpPr>
        <p:spPr>
          <a:xfrm flipV="1">
            <a:off x="6842125" y="4368800"/>
            <a:ext cx="1079500" cy="40163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675FD3CF-C074-A1F7-3F29-80CE4B650AEB}"/>
              </a:ext>
            </a:extLst>
          </p:cNvPr>
          <p:cNvSpPr/>
          <p:nvPr/>
        </p:nvSpPr>
        <p:spPr>
          <a:xfrm>
            <a:off x="6608763" y="5037138"/>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6" name="Straight Arrow Connector 25">
            <a:extLst>
              <a:ext uri="{FF2B5EF4-FFF2-40B4-BE49-F238E27FC236}">
                <a16:creationId xmlns:a16="http://schemas.microsoft.com/office/drawing/2014/main" id="{E0A62D96-6141-747D-B52F-06DD882EE76B}"/>
              </a:ext>
            </a:extLst>
          </p:cNvPr>
          <p:cNvCxnSpPr>
            <a:cxnSpLocks/>
            <a:stCxn id="25" idx="6"/>
          </p:cNvCxnSpPr>
          <p:nvPr/>
        </p:nvCxnSpPr>
        <p:spPr>
          <a:xfrm flipV="1">
            <a:off x="6824663" y="5092700"/>
            <a:ext cx="1152525" cy="5238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B3AA6CB-8EE9-591F-E035-03B510530228}"/>
              </a:ext>
            </a:extLst>
          </p:cNvPr>
          <p:cNvSpPr/>
          <p:nvPr/>
        </p:nvSpPr>
        <p:spPr>
          <a:xfrm>
            <a:off x="6608763" y="5372100"/>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28" name="Straight Arrow Connector 27">
            <a:extLst>
              <a:ext uri="{FF2B5EF4-FFF2-40B4-BE49-F238E27FC236}">
                <a16:creationId xmlns:a16="http://schemas.microsoft.com/office/drawing/2014/main" id="{E788EB31-80A8-854C-85C3-7F827455BDD1}"/>
              </a:ext>
            </a:extLst>
          </p:cNvPr>
          <p:cNvCxnSpPr>
            <a:cxnSpLocks/>
            <a:stCxn id="27" idx="6"/>
          </p:cNvCxnSpPr>
          <p:nvPr/>
        </p:nvCxnSpPr>
        <p:spPr>
          <a:xfrm>
            <a:off x="6824663" y="5480050"/>
            <a:ext cx="1096962" cy="30956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71CD0680-B623-2EAD-9ACA-19B9175FEAC3}"/>
              </a:ext>
            </a:extLst>
          </p:cNvPr>
          <p:cNvSpPr/>
          <p:nvPr/>
        </p:nvSpPr>
        <p:spPr>
          <a:xfrm>
            <a:off x="6608763" y="5732463"/>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30" name="Straight Arrow Connector 29">
            <a:extLst>
              <a:ext uri="{FF2B5EF4-FFF2-40B4-BE49-F238E27FC236}">
                <a16:creationId xmlns:a16="http://schemas.microsoft.com/office/drawing/2014/main" id="{23EF9306-CA24-54A4-7248-68D1940AD389}"/>
              </a:ext>
            </a:extLst>
          </p:cNvPr>
          <p:cNvCxnSpPr>
            <a:cxnSpLocks/>
            <a:stCxn id="29" idx="6"/>
            <a:endCxn id="35" idx="1"/>
          </p:cNvCxnSpPr>
          <p:nvPr/>
        </p:nvCxnSpPr>
        <p:spPr>
          <a:xfrm>
            <a:off x="6824663" y="5840413"/>
            <a:ext cx="1147762" cy="72072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404E8326-65AC-2172-92C0-A917D8A5F407}"/>
              </a:ext>
            </a:extLst>
          </p:cNvPr>
          <p:cNvSpPr/>
          <p:nvPr/>
        </p:nvSpPr>
        <p:spPr>
          <a:xfrm>
            <a:off x="7904163" y="3414713"/>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Sugar</a:t>
            </a:r>
          </a:p>
        </p:txBody>
      </p:sp>
      <p:sp>
        <p:nvSpPr>
          <p:cNvPr id="32" name="Rectangle: Rounded Corners 31">
            <a:extLst>
              <a:ext uri="{FF2B5EF4-FFF2-40B4-BE49-F238E27FC236}">
                <a16:creationId xmlns:a16="http://schemas.microsoft.com/office/drawing/2014/main" id="{236ADD01-1389-DDE6-B92A-4EF91851743A}"/>
              </a:ext>
            </a:extLst>
          </p:cNvPr>
          <p:cNvSpPr/>
          <p:nvPr/>
        </p:nvSpPr>
        <p:spPr>
          <a:xfrm>
            <a:off x="7921625" y="4117975"/>
            <a:ext cx="2659063" cy="503238"/>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Eggs</a:t>
            </a:r>
          </a:p>
        </p:txBody>
      </p:sp>
      <p:sp>
        <p:nvSpPr>
          <p:cNvPr id="33" name="Rectangle: Rounded Corners 32">
            <a:extLst>
              <a:ext uri="{FF2B5EF4-FFF2-40B4-BE49-F238E27FC236}">
                <a16:creationId xmlns:a16="http://schemas.microsoft.com/office/drawing/2014/main" id="{7B957EEB-7A13-50FB-911C-3B4FE5CE6055}"/>
              </a:ext>
            </a:extLst>
          </p:cNvPr>
          <p:cNvSpPr/>
          <p:nvPr/>
        </p:nvSpPr>
        <p:spPr>
          <a:xfrm>
            <a:off x="7921625" y="4814888"/>
            <a:ext cx="2659063" cy="503237"/>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E" dirty="0"/>
              <a:t>Product name: </a:t>
            </a:r>
            <a:r>
              <a:rPr lang="en-IE" b="1" dirty="0"/>
              <a:t>Flour</a:t>
            </a:r>
          </a:p>
        </p:txBody>
      </p:sp>
      <p:sp>
        <p:nvSpPr>
          <p:cNvPr id="34" name="Rectangle: Rounded Corners 33">
            <a:extLst>
              <a:ext uri="{FF2B5EF4-FFF2-40B4-BE49-F238E27FC236}">
                <a16:creationId xmlns:a16="http://schemas.microsoft.com/office/drawing/2014/main" id="{E960920C-0C1D-AAEA-51DF-EC192095928A}"/>
              </a:ext>
            </a:extLst>
          </p:cNvPr>
          <p:cNvSpPr/>
          <p:nvPr/>
        </p:nvSpPr>
        <p:spPr>
          <a:xfrm>
            <a:off x="7921625" y="5527675"/>
            <a:ext cx="2659063"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Milk</a:t>
            </a:r>
          </a:p>
        </p:txBody>
      </p:sp>
      <p:sp>
        <p:nvSpPr>
          <p:cNvPr id="35" name="Rectangle: Rounded Corners 34">
            <a:extLst>
              <a:ext uri="{FF2B5EF4-FFF2-40B4-BE49-F238E27FC236}">
                <a16:creationId xmlns:a16="http://schemas.microsoft.com/office/drawing/2014/main" id="{CC596A83-B03B-73FF-38C7-30A8DE534D03}"/>
              </a:ext>
            </a:extLst>
          </p:cNvPr>
          <p:cNvSpPr/>
          <p:nvPr/>
        </p:nvSpPr>
        <p:spPr>
          <a:xfrm>
            <a:off x="7972425" y="6308725"/>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Salt</a:t>
            </a:r>
          </a:p>
        </p:txBody>
      </p:sp>
      <p:sp>
        <p:nvSpPr>
          <p:cNvPr id="15" name="Rectangle: Rounded Corners 14">
            <a:extLst>
              <a:ext uri="{FF2B5EF4-FFF2-40B4-BE49-F238E27FC236}">
                <a16:creationId xmlns:a16="http://schemas.microsoft.com/office/drawing/2014/main" id="{56D741E2-9B66-069E-9D8A-6011F4E987CF}"/>
              </a:ext>
            </a:extLst>
          </p:cNvPr>
          <p:cNvSpPr/>
          <p:nvPr/>
        </p:nvSpPr>
        <p:spPr>
          <a:xfrm>
            <a:off x="1604963" y="349250"/>
            <a:ext cx="1152525" cy="4206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Algorithm</a:t>
            </a:r>
          </a:p>
        </p:txBody>
      </p:sp>
      <p:sp>
        <p:nvSpPr>
          <p:cNvPr id="3" name="Rectangle: Rounded Corners 2">
            <a:extLst>
              <a:ext uri="{FF2B5EF4-FFF2-40B4-BE49-F238E27FC236}">
                <a16:creationId xmlns:a16="http://schemas.microsoft.com/office/drawing/2014/main" id="{A025D29B-13E2-C383-C535-138820B288CA}"/>
              </a:ext>
            </a:extLst>
          </p:cNvPr>
          <p:cNvSpPr/>
          <p:nvPr/>
        </p:nvSpPr>
        <p:spPr>
          <a:xfrm>
            <a:off x="2682013" y="4640402"/>
            <a:ext cx="2189851" cy="1236871"/>
          </a:xfrm>
          <a:prstGeom prst="roundRect">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IE" sz="3600" dirty="0"/>
              <a:t>AFTER SWAP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F44FF65D-D64A-713A-8AB0-76D4E16267B4}"/>
              </a:ext>
            </a:extLst>
          </p:cNvPr>
          <p:cNvSpPr>
            <a:spLocks noGrp="1"/>
          </p:cNvSpPr>
          <p:nvPr>
            <p:ph type="title"/>
          </p:nvPr>
        </p:nvSpPr>
        <p:spPr/>
        <p:txBody>
          <a:bodyPr rtlCol="0">
            <a:normAutofit/>
          </a:bodyPr>
          <a:lstStyle/>
          <a:p>
            <a:pPr eaLnBrk="1" fontAlgn="auto" hangingPunct="1">
              <a:spcAft>
                <a:spcPts val="0"/>
              </a:spcAft>
              <a:defRPr/>
            </a:pPr>
            <a:r>
              <a:rPr lang="en-IE">
                <a:latin typeface="Trebuchet MS" charset="0"/>
              </a:rPr>
              <a:t>Sorting</a:t>
            </a:r>
          </a:p>
        </p:txBody>
      </p:sp>
      <p:sp>
        <p:nvSpPr>
          <p:cNvPr id="44035" name="Content Placeholder 2">
            <a:extLst>
              <a:ext uri="{FF2B5EF4-FFF2-40B4-BE49-F238E27FC236}">
                <a16:creationId xmlns:a16="http://schemas.microsoft.com/office/drawing/2014/main" id="{CDAAE472-2289-623E-290F-778693C09052}"/>
              </a:ext>
            </a:extLst>
          </p:cNvPr>
          <p:cNvSpPr>
            <a:spLocks noGrp="1"/>
          </p:cNvSpPr>
          <p:nvPr>
            <p:ph idx="1"/>
          </p:nvPr>
        </p:nvSpPr>
        <p:spPr>
          <a:xfrm>
            <a:off x="609600" y="1773238"/>
            <a:ext cx="11102975" cy="4267200"/>
          </a:xfrm>
        </p:spPr>
        <p:txBody>
          <a:bodyPr/>
          <a:lstStyle/>
          <a:p>
            <a:pPr eaLnBrk="1" hangingPunct="1"/>
            <a:r>
              <a:rPr lang="en-IE" altLang="en-US">
                <a:latin typeface="Trebuchet MS" panose="020B0703020202090204" pitchFamily="34" charset="0"/>
              </a:rPr>
              <a:t>Now that we know how to swap items in an ArrayList, we can start looking at sorting Algorithms.  </a:t>
            </a:r>
          </a:p>
          <a:p>
            <a:pPr eaLnBrk="1" hangingPunct="1"/>
            <a:endParaRPr lang="en-IE" altLang="en-US">
              <a:latin typeface="Trebuchet MS" panose="020B0703020202090204" pitchFamily="34" charset="0"/>
            </a:endParaRPr>
          </a:p>
          <a:p>
            <a:pPr eaLnBrk="1" hangingPunct="1"/>
            <a:r>
              <a:rPr lang="en-IE" altLang="en-US">
                <a:latin typeface="Trebuchet MS" panose="020B0703020202090204" pitchFamily="34" charset="0"/>
              </a:rPr>
              <a:t>Many basic sorting algorithms e.g.:</a:t>
            </a:r>
          </a:p>
          <a:p>
            <a:pPr marL="914400" lvl="1" indent="-514350" eaLnBrk="1" hangingPunct="1">
              <a:buFont typeface="Trebuchet MS" panose="020B0703020202090204" pitchFamily="34" charset="0"/>
              <a:buAutoNum type="arabicPeriod"/>
            </a:pPr>
            <a:r>
              <a:rPr lang="en-IE" altLang="en-US">
                <a:solidFill>
                  <a:srgbClr val="000000"/>
                </a:solidFill>
                <a:latin typeface="Trebuchet MS" panose="020B0703020202090204" pitchFamily="34" charset="0"/>
              </a:rPr>
              <a:t>Bubble sort</a:t>
            </a:r>
          </a:p>
          <a:p>
            <a:pPr marL="914400" lvl="1" indent="-514350" eaLnBrk="1" hangingPunct="1">
              <a:buFont typeface="Trebuchet MS" panose="020B0703020202090204" pitchFamily="34" charset="0"/>
              <a:buAutoNum type="arabicPeriod"/>
            </a:pPr>
            <a:r>
              <a:rPr lang="en-IE" altLang="en-US">
                <a:solidFill>
                  <a:srgbClr val="0070C0"/>
                </a:solidFill>
                <a:latin typeface="Trebuchet MS" panose="020B0703020202090204" pitchFamily="34" charset="0"/>
              </a:rPr>
              <a:t>Selection sort</a:t>
            </a:r>
          </a:p>
          <a:p>
            <a:pPr marL="914400" lvl="1" indent="-514350" eaLnBrk="1" hangingPunct="1">
              <a:buFont typeface="Trebuchet MS" panose="020B0703020202090204" pitchFamily="34" charset="0"/>
              <a:buAutoNum type="arabicPeriod"/>
            </a:pPr>
            <a:r>
              <a:rPr lang="en-IE" altLang="en-US">
                <a:latin typeface="Trebuchet MS" panose="020B0703020202090204" pitchFamily="34" charset="0"/>
              </a:rPr>
              <a:t>Insertion sort</a:t>
            </a:r>
          </a:p>
          <a:p>
            <a:pPr marL="914400" lvl="1" indent="-514350" eaLnBrk="1" hangingPunct="1">
              <a:buFont typeface="Trebuchet MS" panose="020B0703020202090204" pitchFamily="34" charset="0"/>
              <a:buAutoNum type="arabicPeriod"/>
            </a:pPr>
            <a:endParaRPr lang="en-IE" altLang="en-US">
              <a:latin typeface="Trebuchet MS" panose="020B0703020202090204" pitchFamily="34" charset="0"/>
            </a:endParaRPr>
          </a:p>
          <a:p>
            <a:pPr eaLnBrk="1" hangingPunct="1">
              <a:buFont typeface="Times" charset="0"/>
              <a:buNone/>
            </a:pPr>
            <a:r>
              <a:rPr lang="en-US" altLang="en-US">
                <a:latin typeface="Trebuchet MS" panose="020B0703020202090204" pitchFamily="34" charset="0"/>
              </a:rPr>
              <a:t>.</a:t>
            </a:r>
          </a:p>
          <a:p>
            <a:pPr marL="914400" lvl="1" indent="-514350" eaLnBrk="1" hangingPunct="1">
              <a:buFont typeface="Trebuchet MS" panose="020B0703020202090204" pitchFamily="34" charset="0"/>
              <a:buAutoNum type="arabicPeriod"/>
            </a:pPr>
            <a:endParaRPr lang="en-IE" altLang="en-US">
              <a:latin typeface="Trebuchet MS" panose="020B070302020209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123F9078-63EB-E56E-9EAF-D27B71A85090}"/>
              </a:ext>
            </a:extLst>
          </p:cNvPr>
          <p:cNvSpPr>
            <a:spLocks noGrp="1"/>
          </p:cNvSpPr>
          <p:nvPr>
            <p:ph type="title"/>
          </p:nvPr>
        </p:nvSpPr>
        <p:spPr/>
        <p:txBody>
          <a:bodyPr rtlCol="0">
            <a:normAutofit/>
          </a:bodyPr>
          <a:lstStyle/>
          <a:p>
            <a:pPr eaLnBrk="1" fontAlgn="auto" hangingPunct="1">
              <a:spcAft>
                <a:spcPts val="0"/>
              </a:spcAft>
              <a:defRPr/>
            </a:pPr>
            <a:r>
              <a:rPr lang="en-IE" altLang="en-US">
                <a:latin typeface="Trebuchet MS" pitchFamily="34" charset="0"/>
              </a:rPr>
              <a:t>What is a “Sorted List”?</a:t>
            </a:r>
          </a:p>
        </p:txBody>
      </p:sp>
      <p:sp>
        <p:nvSpPr>
          <p:cNvPr id="45059" name="Content Placeholder 2">
            <a:extLst>
              <a:ext uri="{FF2B5EF4-FFF2-40B4-BE49-F238E27FC236}">
                <a16:creationId xmlns:a16="http://schemas.microsoft.com/office/drawing/2014/main" id="{3A7A9E7A-9564-71C1-76F2-9C7ECFFE7423}"/>
              </a:ext>
            </a:extLst>
          </p:cNvPr>
          <p:cNvSpPr>
            <a:spLocks noGrp="1"/>
          </p:cNvSpPr>
          <p:nvPr>
            <p:ph idx="1"/>
          </p:nvPr>
        </p:nvSpPr>
        <p:spPr>
          <a:xfrm>
            <a:off x="609600" y="1600200"/>
            <a:ext cx="10972800" cy="2260600"/>
          </a:xfrm>
        </p:spPr>
        <p:txBody>
          <a:bodyPr/>
          <a:lstStyle/>
          <a:p>
            <a:pPr eaLnBrk="1" hangingPunct="1"/>
            <a:r>
              <a:rPr lang="en-IE" altLang="en-US">
                <a:latin typeface="Trebuchet MS" panose="020B0703020202090204" pitchFamily="34" charset="0"/>
              </a:rPr>
              <a:t>We can </a:t>
            </a:r>
            <a:r>
              <a:rPr lang="en-IE" altLang="en-US">
                <a:solidFill>
                  <a:srgbClr val="FF0000"/>
                </a:solidFill>
                <a:latin typeface="Trebuchet MS" panose="020B0703020202090204" pitchFamily="34" charset="0"/>
              </a:rPr>
              <a:t>define a sorted list </a:t>
            </a:r>
            <a:r>
              <a:rPr lang="en-IE" altLang="en-US">
                <a:latin typeface="Trebuchet MS" panose="020B0703020202090204" pitchFamily="34" charset="0"/>
              </a:rPr>
              <a:t>as a list in which each element is in its correct position, its correct position being defined as:</a:t>
            </a:r>
          </a:p>
          <a:p>
            <a:pPr eaLnBrk="1" hangingPunct="1"/>
            <a:endParaRPr lang="en-IE" altLang="en-US">
              <a:latin typeface="Trebuchet MS" panose="020B0703020202090204" pitchFamily="34" charset="0"/>
            </a:endParaRPr>
          </a:p>
        </p:txBody>
      </p:sp>
      <p:sp>
        <p:nvSpPr>
          <p:cNvPr id="2" name="Rectangle 1">
            <a:extLst>
              <a:ext uri="{FF2B5EF4-FFF2-40B4-BE49-F238E27FC236}">
                <a16:creationId xmlns:a16="http://schemas.microsoft.com/office/drawing/2014/main" id="{82307E9F-41BD-51FB-F5B3-5C485B6D748D}"/>
              </a:ext>
            </a:extLst>
          </p:cNvPr>
          <p:cNvSpPr/>
          <p:nvPr/>
        </p:nvSpPr>
        <p:spPr>
          <a:xfrm>
            <a:off x="2171700" y="4437063"/>
            <a:ext cx="7848600" cy="1384300"/>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ctr" eaLnBrk="1" fontAlgn="auto" hangingPunct="1">
              <a:spcAft>
                <a:spcPts val="0"/>
              </a:spcAft>
              <a:defRPr/>
            </a:pPr>
            <a:r>
              <a:rPr lang="en-IE" altLang="en-US" sz="2800" i="1" dirty="0">
                <a:latin typeface="Trebuchet MS" panose="020B0603020202020204" pitchFamily="34" charset="0"/>
              </a:rPr>
              <a:t>All values to the left of the element are less than or equal to it and all values to the right of the element are greater than or equal to it.</a:t>
            </a:r>
            <a:endParaRPr lang="en-IE" altLang="en-US" sz="2800" dirty="0">
              <a:latin typeface="Trebuchet MS" panose="020B0603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8270807-3E4C-4C85-B8AC-92CAE3B78A9A}"/>
              </a:ext>
            </a:extLst>
          </p:cNvPr>
          <p:cNvSpPr/>
          <p:nvPr/>
        </p:nvSpPr>
        <p:spPr>
          <a:xfrm>
            <a:off x="3355975" y="688975"/>
            <a:ext cx="1008063" cy="50482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dirty="0"/>
          </a:p>
        </p:txBody>
      </p:sp>
      <p:graphicFrame>
        <p:nvGraphicFramePr>
          <p:cNvPr id="6" name="Table 8">
            <a:extLst>
              <a:ext uri="{FF2B5EF4-FFF2-40B4-BE49-F238E27FC236}">
                <a16:creationId xmlns:a16="http://schemas.microsoft.com/office/drawing/2014/main" id="{B99A86A3-905C-039E-EE6C-A5222D3EED43}"/>
              </a:ext>
            </a:extLst>
          </p:cNvPr>
          <p:cNvGraphicFramePr>
            <a:graphicFrameLocks noGrp="1"/>
          </p:cNvGraphicFramePr>
          <p:nvPr/>
        </p:nvGraphicFramePr>
        <p:xfrm>
          <a:off x="4997450" y="1238250"/>
          <a:ext cx="1292225" cy="1854200"/>
        </p:xfrm>
        <a:graphic>
          <a:graphicData uri="http://schemas.openxmlformats.org/drawingml/2006/table">
            <a:tbl>
              <a:tblPr firstRow="1" bandRow="1">
                <a:tableStyleId>{5940675A-B579-460E-94D1-54222C63F5DA}</a:tableStyleId>
              </a:tblPr>
              <a:tblGrid>
                <a:gridCol w="454547">
                  <a:extLst>
                    <a:ext uri="{9D8B030D-6E8A-4147-A177-3AD203B41FA5}">
                      <a16:colId xmlns:a16="http://schemas.microsoft.com/office/drawing/2014/main" val="20000"/>
                    </a:ext>
                  </a:extLst>
                </a:gridCol>
                <a:gridCol w="837678">
                  <a:extLst>
                    <a:ext uri="{9D8B030D-6E8A-4147-A177-3AD203B41FA5}">
                      <a16:colId xmlns:a16="http://schemas.microsoft.com/office/drawing/2014/main" val="20001"/>
                    </a:ext>
                  </a:extLst>
                </a:gridCol>
              </a:tblGrid>
              <a:tr h="370840">
                <a:tc>
                  <a:txBody>
                    <a:bodyPr/>
                    <a:lstStyle/>
                    <a:p>
                      <a:r>
                        <a:rPr lang="en-IE" dirty="0"/>
                        <a:t>0</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0"/>
                  </a:ext>
                </a:extLst>
              </a:tr>
              <a:tr h="370840">
                <a:tc>
                  <a:txBody>
                    <a:bodyPr/>
                    <a:lstStyle/>
                    <a:p>
                      <a:r>
                        <a:rPr lang="en-IE" dirty="0"/>
                        <a:t>1</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1"/>
                  </a:ext>
                </a:extLst>
              </a:tr>
              <a:tr h="370840">
                <a:tc>
                  <a:txBody>
                    <a:bodyPr/>
                    <a:lstStyle/>
                    <a:p>
                      <a:r>
                        <a:rPr lang="en-IE" dirty="0"/>
                        <a:t>2</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2"/>
                  </a:ext>
                </a:extLst>
              </a:tr>
              <a:tr h="370840">
                <a:tc>
                  <a:txBody>
                    <a:bodyPr/>
                    <a:lstStyle/>
                    <a:p>
                      <a:r>
                        <a:rPr lang="en-IE" dirty="0"/>
                        <a:t>3</a:t>
                      </a:r>
                    </a:p>
                  </a:txBody>
                  <a:tcPr marL="91483" marR="91483">
                    <a:solidFill>
                      <a:schemeClr val="tx2">
                        <a:lumMod val="40000"/>
                        <a:lumOff val="60000"/>
                      </a:schemeClr>
                    </a:solidFill>
                  </a:tcPr>
                </a:tc>
                <a:tc>
                  <a:txBody>
                    <a:bodyPr/>
                    <a:lstStyle/>
                    <a:p>
                      <a:endParaRPr lang="en-IE"/>
                    </a:p>
                  </a:txBody>
                  <a:tcPr marL="91483" marR="91483">
                    <a:solidFill>
                      <a:schemeClr val="tx2">
                        <a:lumMod val="40000"/>
                        <a:lumOff val="60000"/>
                      </a:schemeClr>
                    </a:solidFill>
                  </a:tcPr>
                </a:tc>
                <a:extLst>
                  <a:ext uri="{0D108BD9-81ED-4DB2-BD59-A6C34878D82A}">
                    <a16:rowId xmlns:a16="http://schemas.microsoft.com/office/drawing/2014/main" val="10003"/>
                  </a:ext>
                </a:extLst>
              </a:tr>
              <a:tr h="370840">
                <a:tc>
                  <a:txBody>
                    <a:bodyPr/>
                    <a:lstStyle/>
                    <a:p>
                      <a:r>
                        <a:rPr lang="en-IE" dirty="0"/>
                        <a:t>4</a:t>
                      </a:r>
                    </a:p>
                  </a:txBody>
                  <a:tcPr marL="91483" marR="91483">
                    <a:solidFill>
                      <a:schemeClr val="tx2">
                        <a:lumMod val="40000"/>
                        <a:lumOff val="60000"/>
                      </a:schemeClr>
                    </a:solidFill>
                  </a:tcPr>
                </a:tc>
                <a:tc>
                  <a:txBody>
                    <a:bodyPr/>
                    <a:lstStyle/>
                    <a:p>
                      <a:endParaRPr lang="en-IE" dirty="0"/>
                    </a:p>
                  </a:txBody>
                  <a:tcPr marL="91483" marR="91483">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7" name="Oval 6">
            <a:extLst>
              <a:ext uri="{FF2B5EF4-FFF2-40B4-BE49-F238E27FC236}">
                <a16:creationId xmlns:a16="http://schemas.microsoft.com/office/drawing/2014/main" id="{505C7384-2B9E-799E-2C75-F7CE3C364DCE}"/>
              </a:ext>
            </a:extLst>
          </p:cNvPr>
          <p:cNvSpPr/>
          <p:nvPr/>
        </p:nvSpPr>
        <p:spPr>
          <a:xfrm>
            <a:off x="3751263" y="833438"/>
            <a:ext cx="217487"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46104" name="TextBox 7">
            <a:extLst>
              <a:ext uri="{FF2B5EF4-FFF2-40B4-BE49-F238E27FC236}">
                <a16:creationId xmlns:a16="http://schemas.microsoft.com/office/drawing/2014/main" id="{59435355-F0E8-7B33-0437-69865B4015FF}"/>
              </a:ext>
            </a:extLst>
          </p:cNvPr>
          <p:cNvSpPr txBox="1">
            <a:spLocks noChangeArrowheads="1"/>
          </p:cNvSpPr>
          <p:nvPr/>
        </p:nvSpPr>
        <p:spPr bwMode="auto">
          <a:xfrm>
            <a:off x="2351088" y="766763"/>
            <a:ext cx="1163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E" altLang="en-US" sz="1800"/>
              <a:t>products</a:t>
            </a:r>
          </a:p>
        </p:txBody>
      </p:sp>
      <p:cxnSp>
        <p:nvCxnSpPr>
          <p:cNvPr id="9" name="Straight Arrow Connector 8">
            <a:extLst>
              <a:ext uri="{FF2B5EF4-FFF2-40B4-BE49-F238E27FC236}">
                <a16:creationId xmlns:a16="http://schemas.microsoft.com/office/drawing/2014/main" id="{4BBC844D-341C-00C1-C273-3043AE57141D}"/>
              </a:ext>
            </a:extLst>
          </p:cNvPr>
          <p:cNvCxnSpPr>
            <a:cxnSpLocks/>
          </p:cNvCxnSpPr>
          <p:nvPr/>
        </p:nvCxnSpPr>
        <p:spPr>
          <a:xfrm>
            <a:off x="3968750" y="977900"/>
            <a:ext cx="1028700" cy="29527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E35AD4C7-9DE1-1914-A6D6-9EB226562108}"/>
              </a:ext>
            </a:extLst>
          </p:cNvPr>
          <p:cNvSpPr/>
          <p:nvPr/>
        </p:nvSpPr>
        <p:spPr>
          <a:xfrm>
            <a:off x="5784850" y="1344613"/>
            <a:ext cx="217488" cy="217487"/>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1" name="Straight Arrow Connector 10">
            <a:extLst>
              <a:ext uri="{FF2B5EF4-FFF2-40B4-BE49-F238E27FC236}">
                <a16:creationId xmlns:a16="http://schemas.microsoft.com/office/drawing/2014/main" id="{360F4B09-D799-74A2-2EAD-AF41C06235AE}"/>
              </a:ext>
            </a:extLst>
          </p:cNvPr>
          <p:cNvCxnSpPr>
            <a:cxnSpLocks/>
            <a:endCxn id="20" idx="1"/>
          </p:cNvCxnSpPr>
          <p:nvPr/>
        </p:nvCxnSpPr>
        <p:spPr>
          <a:xfrm flipV="1">
            <a:off x="5959475" y="725488"/>
            <a:ext cx="1100138" cy="72707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568EB2E-AE04-0EAD-973B-D8D54E20314B}"/>
              </a:ext>
            </a:extLst>
          </p:cNvPr>
          <p:cNvSpPr/>
          <p:nvPr/>
        </p:nvSpPr>
        <p:spPr>
          <a:xfrm>
            <a:off x="5802313" y="1724025"/>
            <a:ext cx="2159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3" name="Straight Arrow Connector 12">
            <a:extLst>
              <a:ext uri="{FF2B5EF4-FFF2-40B4-BE49-F238E27FC236}">
                <a16:creationId xmlns:a16="http://schemas.microsoft.com/office/drawing/2014/main" id="{95A8D9D2-73D0-7095-91F8-1E3DE602CF77}"/>
              </a:ext>
            </a:extLst>
          </p:cNvPr>
          <p:cNvCxnSpPr>
            <a:cxnSpLocks/>
            <a:stCxn id="12" idx="6"/>
            <a:endCxn id="21" idx="1"/>
          </p:cNvCxnSpPr>
          <p:nvPr/>
        </p:nvCxnSpPr>
        <p:spPr>
          <a:xfrm flipV="1">
            <a:off x="6018213" y="1430338"/>
            <a:ext cx="1079500" cy="40163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F8013587-7D97-EC87-619A-664839AFEC21}"/>
              </a:ext>
            </a:extLst>
          </p:cNvPr>
          <p:cNvSpPr/>
          <p:nvPr/>
        </p:nvSpPr>
        <p:spPr>
          <a:xfrm>
            <a:off x="5784850" y="2098675"/>
            <a:ext cx="217488"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5" name="Straight Arrow Connector 14">
            <a:extLst>
              <a:ext uri="{FF2B5EF4-FFF2-40B4-BE49-F238E27FC236}">
                <a16:creationId xmlns:a16="http://schemas.microsoft.com/office/drawing/2014/main" id="{F0DA5ED3-0437-BC86-542B-BAB14C35E056}"/>
              </a:ext>
            </a:extLst>
          </p:cNvPr>
          <p:cNvCxnSpPr>
            <a:cxnSpLocks/>
            <a:stCxn id="14" idx="6"/>
          </p:cNvCxnSpPr>
          <p:nvPr/>
        </p:nvCxnSpPr>
        <p:spPr>
          <a:xfrm flipV="1">
            <a:off x="6002338" y="2154238"/>
            <a:ext cx="1150937" cy="5238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B78B40B-AECB-522C-AE86-FA887A45796E}"/>
              </a:ext>
            </a:extLst>
          </p:cNvPr>
          <p:cNvSpPr/>
          <p:nvPr/>
        </p:nvSpPr>
        <p:spPr>
          <a:xfrm>
            <a:off x="5784850" y="2433638"/>
            <a:ext cx="217488"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7" name="Straight Arrow Connector 16">
            <a:extLst>
              <a:ext uri="{FF2B5EF4-FFF2-40B4-BE49-F238E27FC236}">
                <a16:creationId xmlns:a16="http://schemas.microsoft.com/office/drawing/2014/main" id="{C46CF931-6983-7269-DB82-AE3CB2A17105}"/>
              </a:ext>
            </a:extLst>
          </p:cNvPr>
          <p:cNvCxnSpPr>
            <a:cxnSpLocks/>
            <a:stCxn id="16" idx="6"/>
          </p:cNvCxnSpPr>
          <p:nvPr/>
        </p:nvCxnSpPr>
        <p:spPr>
          <a:xfrm>
            <a:off x="6002338" y="2541588"/>
            <a:ext cx="1095375" cy="309562"/>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0CF3D5C6-C0A9-2679-3650-08E804CD8D03}"/>
              </a:ext>
            </a:extLst>
          </p:cNvPr>
          <p:cNvSpPr/>
          <p:nvPr/>
        </p:nvSpPr>
        <p:spPr>
          <a:xfrm>
            <a:off x="5784850" y="2794000"/>
            <a:ext cx="217488"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cxnSp>
        <p:nvCxnSpPr>
          <p:cNvPr id="19" name="Straight Arrow Connector 18">
            <a:extLst>
              <a:ext uri="{FF2B5EF4-FFF2-40B4-BE49-F238E27FC236}">
                <a16:creationId xmlns:a16="http://schemas.microsoft.com/office/drawing/2014/main" id="{694726EC-3E55-928C-0986-EE12AD812965}"/>
              </a:ext>
            </a:extLst>
          </p:cNvPr>
          <p:cNvCxnSpPr>
            <a:cxnSpLocks/>
            <a:stCxn id="18" idx="6"/>
            <a:endCxn id="24" idx="1"/>
          </p:cNvCxnSpPr>
          <p:nvPr/>
        </p:nvCxnSpPr>
        <p:spPr>
          <a:xfrm>
            <a:off x="6002338" y="2901950"/>
            <a:ext cx="1147762" cy="72072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8D29E7E7-0338-CC54-0683-37EB25CBB849}"/>
              </a:ext>
            </a:extLst>
          </p:cNvPr>
          <p:cNvSpPr/>
          <p:nvPr/>
        </p:nvSpPr>
        <p:spPr>
          <a:xfrm>
            <a:off x="7059613" y="473075"/>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Eggs</a:t>
            </a:r>
          </a:p>
        </p:txBody>
      </p:sp>
      <p:sp>
        <p:nvSpPr>
          <p:cNvPr id="21" name="Rectangle: Rounded Corners 20">
            <a:extLst>
              <a:ext uri="{FF2B5EF4-FFF2-40B4-BE49-F238E27FC236}">
                <a16:creationId xmlns:a16="http://schemas.microsoft.com/office/drawing/2014/main" id="{0F39900E-B701-B2ED-2E69-B79E664F8D14}"/>
              </a:ext>
            </a:extLst>
          </p:cNvPr>
          <p:cNvSpPr/>
          <p:nvPr/>
        </p:nvSpPr>
        <p:spPr>
          <a:xfrm>
            <a:off x="7097713" y="1179513"/>
            <a:ext cx="2660650" cy="503237"/>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Flour</a:t>
            </a:r>
          </a:p>
        </p:txBody>
      </p:sp>
      <p:sp>
        <p:nvSpPr>
          <p:cNvPr id="22" name="Rectangle: Rounded Corners 21">
            <a:extLst>
              <a:ext uri="{FF2B5EF4-FFF2-40B4-BE49-F238E27FC236}">
                <a16:creationId xmlns:a16="http://schemas.microsoft.com/office/drawing/2014/main" id="{7596B63A-4077-ABD5-7699-6CFA95D4949A}"/>
              </a:ext>
            </a:extLst>
          </p:cNvPr>
          <p:cNvSpPr/>
          <p:nvPr/>
        </p:nvSpPr>
        <p:spPr>
          <a:xfrm>
            <a:off x="7097713" y="1874838"/>
            <a:ext cx="2660650"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Milk</a:t>
            </a:r>
          </a:p>
        </p:txBody>
      </p:sp>
      <p:sp>
        <p:nvSpPr>
          <p:cNvPr id="23" name="Rectangle: Rounded Corners 22">
            <a:extLst>
              <a:ext uri="{FF2B5EF4-FFF2-40B4-BE49-F238E27FC236}">
                <a16:creationId xmlns:a16="http://schemas.microsoft.com/office/drawing/2014/main" id="{03E74BAA-56D6-8C93-5A65-154AF83BE5BC}"/>
              </a:ext>
            </a:extLst>
          </p:cNvPr>
          <p:cNvSpPr/>
          <p:nvPr/>
        </p:nvSpPr>
        <p:spPr>
          <a:xfrm>
            <a:off x="7097713" y="2589213"/>
            <a:ext cx="2660650" cy="503237"/>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Salt</a:t>
            </a:r>
          </a:p>
        </p:txBody>
      </p:sp>
      <p:sp>
        <p:nvSpPr>
          <p:cNvPr id="24" name="Rectangle: Rounded Corners 23">
            <a:extLst>
              <a:ext uri="{FF2B5EF4-FFF2-40B4-BE49-F238E27FC236}">
                <a16:creationId xmlns:a16="http://schemas.microsoft.com/office/drawing/2014/main" id="{83358C3D-6538-FD51-2B76-C5FB06A66E9A}"/>
              </a:ext>
            </a:extLst>
          </p:cNvPr>
          <p:cNvSpPr/>
          <p:nvPr/>
        </p:nvSpPr>
        <p:spPr>
          <a:xfrm>
            <a:off x="7150100" y="3370263"/>
            <a:ext cx="2659063" cy="504825"/>
          </a:xfrm>
          <a:prstGeom prst="round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IE" dirty="0"/>
              <a:t>Product name: </a:t>
            </a:r>
            <a:r>
              <a:rPr lang="en-IE" b="1" dirty="0"/>
              <a:t>Sugar</a:t>
            </a:r>
          </a:p>
        </p:txBody>
      </p:sp>
      <p:sp>
        <p:nvSpPr>
          <p:cNvPr id="25" name="Rectangle 24">
            <a:extLst>
              <a:ext uri="{FF2B5EF4-FFF2-40B4-BE49-F238E27FC236}">
                <a16:creationId xmlns:a16="http://schemas.microsoft.com/office/drawing/2014/main" id="{6DDD5152-9BBF-45E9-C715-EA4D54550048}"/>
              </a:ext>
            </a:extLst>
          </p:cNvPr>
          <p:cNvSpPr/>
          <p:nvPr/>
        </p:nvSpPr>
        <p:spPr>
          <a:xfrm>
            <a:off x="2171700" y="4437063"/>
            <a:ext cx="7848600" cy="1384300"/>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ctr" eaLnBrk="1" fontAlgn="auto" hangingPunct="1">
              <a:spcAft>
                <a:spcPts val="0"/>
              </a:spcAft>
              <a:defRPr/>
            </a:pPr>
            <a:r>
              <a:rPr lang="en-IE" altLang="en-US" sz="2800" i="1" dirty="0">
                <a:latin typeface="Trebuchet MS" panose="020B0603020202020204" pitchFamily="34" charset="0"/>
              </a:rPr>
              <a:t>All values to the left of the element are less than or equal to it and all values to the right of the element are greater than or equal to it.</a:t>
            </a:r>
            <a:endParaRPr lang="en-IE" altLang="en-US" sz="2800" dirty="0">
              <a:latin typeface="Trebuchet MS" panose="020B0603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687C5FBC-4E9F-C5AB-482C-4774873CBF87}"/>
              </a:ext>
            </a:extLst>
          </p:cNvPr>
          <p:cNvSpPr>
            <a:spLocks noGrp="1"/>
          </p:cNvSpPr>
          <p:nvPr>
            <p:ph type="title" idx="4294967295"/>
          </p:nvPr>
        </p:nvSpPr>
        <p:spPr>
          <a:xfrm>
            <a:off x="334963" y="247650"/>
            <a:ext cx="6265862" cy="1165225"/>
          </a:xfrm>
        </p:spPr>
        <p:txBody>
          <a:bodyPr rtlCol="0">
            <a:noAutofit/>
          </a:bodyPr>
          <a:lstStyle/>
          <a:p>
            <a:pPr eaLnBrk="1" fontAlgn="auto" hangingPunct="1">
              <a:spcAft>
                <a:spcPts val="0"/>
              </a:spcAft>
              <a:defRPr/>
            </a:pPr>
            <a:r>
              <a:rPr lang="en-IE" dirty="0">
                <a:solidFill>
                  <a:schemeClr val="tx1">
                    <a:lumMod val="65000"/>
                    <a:lumOff val="35000"/>
                  </a:schemeClr>
                </a:solidFill>
              </a:rPr>
              <a:t>Selection Sort Algorithm</a:t>
            </a:r>
          </a:p>
        </p:txBody>
      </p:sp>
      <p:sp>
        <p:nvSpPr>
          <p:cNvPr id="35842" name="Content Placeholder 2">
            <a:extLst>
              <a:ext uri="{FF2B5EF4-FFF2-40B4-BE49-F238E27FC236}">
                <a16:creationId xmlns:a16="http://schemas.microsoft.com/office/drawing/2014/main" id="{389295D6-52E1-A3E2-2916-D5F40C1788DB}"/>
              </a:ext>
            </a:extLst>
          </p:cNvPr>
          <p:cNvSpPr>
            <a:spLocks noGrp="1"/>
          </p:cNvSpPr>
          <p:nvPr>
            <p:ph idx="4294967295"/>
          </p:nvPr>
        </p:nvSpPr>
        <p:spPr>
          <a:xfrm>
            <a:off x="2063750" y="1712913"/>
            <a:ext cx="4284663" cy="4524375"/>
          </a:xfrm>
        </p:spPr>
        <p:txBody>
          <a:bodyPr rtlCol="0">
            <a:normAutofit fontScale="92500" lnSpcReduction="10000"/>
          </a:bodyPr>
          <a:lstStyle/>
          <a:p>
            <a:pPr marL="514350" indent="-514350" eaLnBrk="1" fontAlgn="auto" hangingPunct="1">
              <a:spcAft>
                <a:spcPts val="0"/>
              </a:spcAft>
              <a:buFont typeface="Trebuchet MS" charset="0"/>
              <a:buAutoNum type="arabicPeriod"/>
              <a:defRPr/>
            </a:pPr>
            <a:r>
              <a:rPr lang="en-IE" sz="2400" dirty="0">
                <a:latin typeface="Trebuchet MS" charset="0"/>
              </a:rPr>
              <a:t>Iterate through all elements of the array and select the largest one (this is stored in a temporary variable).</a:t>
            </a:r>
          </a:p>
          <a:p>
            <a:pPr marL="514350" indent="-514350" eaLnBrk="1" fontAlgn="auto" hangingPunct="1">
              <a:spcAft>
                <a:spcPts val="0"/>
              </a:spcAft>
              <a:buFont typeface="Trebuchet MS" charset="0"/>
              <a:buAutoNum type="arabicPeriod"/>
              <a:defRPr/>
            </a:pPr>
            <a:r>
              <a:rPr lang="en-IE" sz="2400" dirty="0">
                <a:latin typeface="Trebuchet MS" charset="0"/>
              </a:rPr>
              <a:t>The largest one is then swapped with the element at the end of the array.</a:t>
            </a:r>
          </a:p>
          <a:p>
            <a:pPr marL="514350" indent="-514350" eaLnBrk="1" fontAlgn="auto" hangingPunct="1">
              <a:spcAft>
                <a:spcPts val="0"/>
              </a:spcAft>
              <a:buFont typeface="Trebuchet MS" charset="0"/>
              <a:buAutoNum type="arabicPeriod"/>
              <a:defRPr/>
            </a:pPr>
            <a:r>
              <a:rPr lang="en-IE" sz="2400" dirty="0">
                <a:latin typeface="Trebuchet MS" charset="0"/>
              </a:rPr>
              <a:t>Then reduce the size of the array by 1 and work through the array to locate the next largest element.</a:t>
            </a:r>
          </a:p>
          <a:p>
            <a:pPr marL="514350" indent="-514350" eaLnBrk="1" fontAlgn="auto" hangingPunct="1">
              <a:spcAft>
                <a:spcPts val="0"/>
              </a:spcAft>
              <a:buFont typeface="Trebuchet MS" charset="0"/>
              <a:buAutoNum type="arabicPeriod"/>
              <a:defRPr/>
            </a:pPr>
            <a:r>
              <a:rPr lang="en-IE" sz="2400" dirty="0">
                <a:latin typeface="Trebuchet MS" charset="0"/>
              </a:rPr>
              <a:t>Repeat the above steps until the size of your array is 1.</a:t>
            </a:r>
          </a:p>
        </p:txBody>
      </p:sp>
      <p:graphicFrame>
        <p:nvGraphicFramePr>
          <p:cNvPr id="5" name="Table 5">
            <a:extLst>
              <a:ext uri="{FF2B5EF4-FFF2-40B4-BE49-F238E27FC236}">
                <a16:creationId xmlns:a16="http://schemas.microsoft.com/office/drawing/2014/main" id="{4998AE5B-E492-FAD3-5973-6B4B563202BF}"/>
              </a:ext>
            </a:extLst>
          </p:cNvPr>
          <p:cNvGraphicFramePr>
            <a:graphicFrameLocks noGrp="1"/>
          </p:cNvGraphicFramePr>
          <p:nvPr/>
        </p:nvGraphicFramePr>
        <p:xfrm>
          <a:off x="7696200" y="476250"/>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FF00"/>
                          </a:solidFill>
                        </a:rPr>
                        <a:t>8</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t>2</a:t>
                      </a:r>
                    </a:p>
                  </a:txBody>
                  <a:tcPr marT="45753" marB="45753"/>
                </a:tc>
                <a:extLst>
                  <a:ext uri="{0D108BD9-81ED-4DB2-BD59-A6C34878D82A}">
                    <a16:rowId xmlns:a16="http://schemas.microsoft.com/office/drawing/2014/main" val="10000"/>
                  </a:ext>
                </a:extLst>
              </a:tr>
            </a:tbl>
          </a:graphicData>
        </a:graphic>
      </p:graphicFrame>
      <p:sp>
        <p:nvSpPr>
          <p:cNvPr id="11" name="Rectangle 10">
            <a:extLst>
              <a:ext uri="{FF2B5EF4-FFF2-40B4-BE49-F238E27FC236}">
                <a16:creationId xmlns:a16="http://schemas.microsoft.com/office/drawing/2014/main" id="{A114BDDD-2E88-FA4A-711C-02F9F620B01C}"/>
              </a:ext>
            </a:extLst>
          </p:cNvPr>
          <p:cNvSpPr/>
          <p:nvPr/>
        </p:nvSpPr>
        <p:spPr>
          <a:xfrm>
            <a:off x="7758113" y="188913"/>
            <a:ext cx="2471737" cy="244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0       1       2       3       4</a:t>
            </a:r>
          </a:p>
        </p:txBody>
      </p:sp>
      <p:graphicFrame>
        <p:nvGraphicFramePr>
          <p:cNvPr id="12" name="Table 5">
            <a:extLst>
              <a:ext uri="{FF2B5EF4-FFF2-40B4-BE49-F238E27FC236}">
                <a16:creationId xmlns:a16="http://schemas.microsoft.com/office/drawing/2014/main" id="{3990D385-5527-370E-C9B3-804B22387CCD}"/>
              </a:ext>
            </a:extLst>
          </p:cNvPr>
          <p:cNvGraphicFramePr>
            <a:graphicFrameLocks noGrp="1"/>
          </p:cNvGraphicFramePr>
          <p:nvPr/>
        </p:nvGraphicFramePr>
        <p:xfrm>
          <a:off x="7712075" y="10874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0000"/>
                          </a:solidFill>
                        </a:rPr>
                        <a:t>2</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solidFill>
                            <a:srgbClr val="FF0000"/>
                          </a:solidFill>
                        </a:rPr>
                        <a:t>8</a:t>
                      </a:r>
                    </a:p>
                  </a:txBody>
                  <a:tcPr marT="45753" marB="45753"/>
                </a:tc>
                <a:extLst>
                  <a:ext uri="{0D108BD9-81ED-4DB2-BD59-A6C34878D82A}">
                    <a16:rowId xmlns:a16="http://schemas.microsoft.com/office/drawing/2014/main" val="10000"/>
                  </a:ext>
                </a:extLst>
              </a:tr>
            </a:tbl>
          </a:graphicData>
        </a:graphic>
      </p:graphicFrame>
      <p:sp>
        <p:nvSpPr>
          <p:cNvPr id="13" name="Rectangle 12">
            <a:extLst>
              <a:ext uri="{FF2B5EF4-FFF2-40B4-BE49-F238E27FC236}">
                <a16:creationId xmlns:a16="http://schemas.microsoft.com/office/drawing/2014/main" id="{26F3B7A0-9E84-C995-2590-245E294A642C}"/>
              </a:ext>
            </a:extLst>
          </p:cNvPr>
          <p:cNvSpPr/>
          <p:nvPr/>
        </p:nvSpPr>
        <p:spPr>
          <a:xfrm>
            <a:off x="6910388" y="1165225"/>
            <a:ext cx="720725" cy="23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graphicFrame>
        <p:nvGraphicFramePr>
          <p:cNvPr id="14" name="Table 5">
            <a:extLst>
              <a:ext uri="{FF2B5EF4-FFF2-40B4-BE49-F238E27FC236}">
                <a16:creationId xmlns:a16="http://schemas.microsoft.com/office/drawing/2014/main" id="{0EE16151-B71B-56B9-797A-46FDB9F703EE}"/>
              </a:ext>
            </a:extLst>
          </p:cNvPr>
          <p:cNvGraphicFramePr>
            <a:graphicFrameLocks noGrp="1"/>
          </p:cNvGraphicFramePr>
          <p:nvPr/>
        </p:nvGraphicFramePr>
        <p:xfrm>
          <a:off x="7696200" y="20653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5</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6" name="Rectangle 15">
            <a:extLst>
              <a:ext uri="{FF2B5EF4-FFF2-40B4-BE49-F238E27FC236}">
                <a16:creationId xmlns:a16="http://schemas.microsoft.com/office/drawing/2014/main" id="{04B017A9-13FE-90E8-9AC8-27C28BEB276A}"/>
              </a:ext>
            </a:extLst>
          </p:cNvPr>
          <p:cNvSpPr/>
          <p:nvPr/>
        </p:nvSpPr>
        <p:spPr>
          <a:xfrm>
            <a:off x="9721850" y="2025650"/>
            <a:ext cx="773113" cy="62388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17" name="Table 5">
            <a:extLst>
              <a:ext uri="{FF2B5EF4-FFF2-40B4-BE49-F238E27FC236}">
                <a16:creationId xmlns:a16="http://schemas.microsoft.com/office/drawing/2014/main" id="{D58AFF81-7CA4-3929-F5B5-6CF73E03A72B}"/>
              </a:ext>
            </a:extLst>
          </p:cNvPr>
          <p:cNvGraphicFramePr>
            <a:graphicFrameLocks noGrp="1"/>
          </p:cNvGraphicFramePr>
          <p:nvPr/>
        </p:nvGraphicFramePr>
        <p:xfrm>
          <a:off x="7720013" y="26781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rgbClr val="FF0000"/>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8" name="Rectangle 17">
            <a:extLst>
              <a:ext uri="{FF2B5EF4-FFF2-40B4-BE49-F238E27FC236}">
                <a16:creationId xmlns:a16="http://schemas.microsoft.com/office/drawing/2014/main" id="{F92D6FD9-E09D-64B7-A773-C1F7957AC4E0}"/>
              </a:ext>
            </a:extLst>
          </p:cNvPr>
          <p:cNvSpPr/>
          <p:nvPr/>
        </p:nvSpPr>
        <p:spPr>
          <a:xfrm>
            <a:off x="6916738" y="27559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19" name="Rectangle 18">
            <a:extLst>
              <a:ext uri="{FF2B5EF4-FFF2-40B4-BE49-F238E27FC236}">
                <a16:creationId xmlns:a16="http://schemas.microsoft.com/office/drawing/2014/main" id="{CE745ACF-5FE9-CB89-EB42-D2093CF73125}"/>
              </a:ext>
            </a:extLst>
          </p:cNvPr>
          <p:cNvSpPr/>
          <p:nvPr/>
        </p:nvSpPr>
        <p:spPr>
          <a:xfrm>
            <a:off x="9745663" y="2638425"/>
            <a:ext cx="771525"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0" name="Table 5">
            <a:extLst>
              <a:ext uri="{FF2B5EF4-FFF2-40B4-BE49-F238E27FC236}">
                <a16:creationId xmlns:a16="http://schemas.microsoft.com/office/drawing/2014/main" id="{26CADD0F-717B-E737-6A0B-8E4A65062193}"/>
              </a:ext>
            </a:extLst>
          </p:cNvPr>
          <p:cNvGraphicFramePr>
            <a:graphicFrameLocks noGrp="1"/>
          </p:cNvGraphicFramePr>
          <p:nvPr/>
        </p:nvGraphicFramePr>
        <p:xfrm>
          <a:off x="7696200" y="368458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2" name="Rectangle 21">
            <a:extLst>
              <a:ext uri="{FF2B5EF4-FFF2-40B4-BE49-F238E27FC236}">
                <a16:creationId xmlns:a16="http://schemas.microsoft.com/office/drawing/2014/main" id="{6CEB293A-25E5-FB02-3648-9DF9CD0D5C89}"/>
              </a:ext>
            </a:extLst>
          </p:cNvPr>
          <p:cNvSpPr/>
          <p:nvPr/>
        </p:nvSpPr>
        <p:spPr>
          <a:xfrm>
            <a:off x="9197975" y="3644900"/>
            <a:ext cx="1296988"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3" name="Table 5">
            <a:extLst>
              <a:ext uri="{FF2B5EF4-FFF2-40B4-BE49-F238E27FC236}">
                <a16:creationId xmlns:a16="http://schemas.microsoft.com/office/drawing/2014/main" id="{BDEE707B-BB46-301C-DD91-9C7BA0370C28}"/>
              </a:ext>
            </a:extLst>
          </p:cNvPr>
          <p:cNvGraphicFramePr>
            <a:graphicFrameLocks noGrp="1"/>
          </p:cNvGraphicFramePr>
          <p:nvPr/>
        </p:nvGraphicFramePr>
        <p:xfrm>
          <a:off x="7712075" y="43037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3</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4" name="Rectangle 23">
            <a:extLst>
              <a:ext uri="{FF2B5EF4-FFF2-40B4-BE49-F238E27FC236}">
                <a16:creationId xmlns:a16="http://schemas.microsoft.com/office/drawing/2014/main" id="{BA5BAFD5-67BC-87AD-DF15-D422A12FF12A}"/>
              </a:ext>
            </a:extLst>
          </p:cNvPr>
          <p:cNvSpPr/>
          <p:nvPr/>
        </p:nvSpPr>
        <p:spPr>
          <a:xfrm>
            <a:off x="6910388" y="43815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25" name="Rectangle 24">
            <a:extLst>
              <a:ext uri="{FF2B5EF4-FFF2-40B4-BE49-F238E27FC236}">
                <a16:creationId xmlns:a16="http://schemas.microsoft.com/office/drawing/2014/main" id="{AF2C1296-8A01-7E29-327D-C1B193FEC955}"/>
              </a:ext>
            </a:extLst>
          </p:cNvPr>
          <p:cNvSpPr/>
          <p:nvPr/>
        </p:nvSpPr>
        <p:spPr>
          <a:xfrm>
            <a:off x="9183688" y="4244975"/>
            <a:ext cx="1296987" cy="72072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6" name="Table 5">
            <a:extLst>
              <a:ext uri="{FF2B5EF4-FFF2-40B4-BE49-F238E27FC236}">
                <a16:creationId xmlns:a16="http://schemas.microsoft.com/office/drawing/2014/main" id="{A15E1D60-73B9-78B7-AE71-8A435CB7A05A}"/>
              </a:ext>
            </a:extLst>
          </p:cNvPr>
          <p:cNvGraphicFramePr>
            <a:graphicFrameLocks noGrp="1"/>
          </p:cNvGraphicFramePr>
          <p:nvPr/>
        </p:nvGraphicFramePr>
        <p:xfrm>
          <a:off x="7718425" y="5229225"/>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3</a:t>
                      </a:r>
                    </a:p>
                  </a:txBody>
                  <a:tcPr marT="45753" marB="45753"/>
                </a:tc>
                <a:tc>
                  <a:txBody>
                    <a:bodyPr/>
                    <a:lstStyle/>
                    <a:p>
                      <a:pPr algn="ctr"/>
                      <a:r>
                        <a:rPr lang="en-IE" sz="2800" dirty="0"/>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7" name="Rectangle 26">
            <a:extLst>
              <a:ext uri="{FF2B5EF4-FFF2-40B4-BE49-F238E27FC236}">
                <a16:creationId xmlns:a16="http://schemas.microsoft.com/office/drawing/2014/main" id="{5C4098E7-A303-1999-3030-79D9EDBCBDF8}"/>
              </a:ext>
            </a:extLst>
          </p:cNvPr>
          <p:cNvSpPr/>
          <p:nvPr/>
        </p:nvSpPr>
        <p:spPr>
          <a:xfrm>
            <a:off x="8759825" y="5146675"/>
            <a:ext cx="1757363" cy="71913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8" name="Table 5">
            <a:extLst>
              <a:ext uri="{FF2B5EF4-FFF2-40B4-BE49-F238E27FC236}">
                <a16:creationId xmlns:a16="http://schemas.microsoft.com/office/drawing/2014/main" id="{9672ED7F-E53B-99E4-F890-59DB2702CBA4}"/>
              </a:ext>
            </a:extLst>
          </p:cNvPr>
          <p:cNvGraphicFramePr>
            <a:graphicFrameLocks noGrp="1"/>
          </p:cNvGraphicFramePr>
          <p:nvPr/>
        </p:nvGraphicFramePr>
        <p:xfrm>
          <a:off x="7712075" y="61706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chemeClr val="bg1"/>
                          </a:solidFill>
                        </a:rPr>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9" name="Rectangle 28">
            <a:extLst>
              <a:ext uri="{FF2B5EF4-FFF2-40B4-BE49-F238E27FC236}">
                <a16:creationId xmlns:a16="http://schemas.microsoft.com/office/drawing/2014/main" id="{BE8768D2-5523-630B-7F18-B252594D3B25}"/>
              </a:ext>
            </a:extLst>
          </p:cNvPr>
          <p:cNvSpPr/>
          <p:nvPr/>
        </p:nvSpPr>
        <p:spPr>
          <a:xfrm>
            <a:off x="6600825" y="5326063"/>
            <a:ext cx="1062038" cy="233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No swap</a:t>
            </a:r>
          </a:p>
        </p:txBody>
      </p:sp>
      <p:sp>
        <p:nvSpPr>
          <p:cNvPr id="30" name="Rectangle 29">
            <a:extLst>
              <a:ext uri="{FF2B5EF4-FFF2-40B4-BE49-F238E27FC236}">
                <a16:creationId xmlns:a16="http://schemas.microsoft.com/office/drawing/2014/main" id="{E397EE3F-F803-4BAB-C6D7-9C4646D7BEA0}"/>
              </a:ext>
            </a:extLst>
          </p:cNvPr>
          <p:cNvSpPr/>
          <p:nvPr/>
        </p:nvSpPr>
        <p:spPr>
          <a:xfrm>
            <a:off x="8191500" y="6130925"/>
            <a:ext cx="2319338" cy="569913"/>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sp>
        <p:nvSpPr>
          <p:cNvPr id="31" name="Rectangle 30">
            <a:extLst>
              <a:ext uri="{FF2B5EF4-FFF2-40B4-BE49-F238E27FC236}">
                <a16:creationId xmlns:a16="http://schemas.microsoft.com/office/drawing/2014/main" id="{2EA46FE0-3FF3-D4ED-1407-B9767429F08E}"/>
              </a:ext>
            </a:extLst>
          </p:cNvPr>
          <p:cNvSpPr/>
          <p:nvPr/>
        </p:nvSpPr>
        <p:spPr>
          <a:xfrm>
            <a:off x="6600825" y="6311900"/>
            <a:ext cx="1062038" cy="234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Array is 1</a:t>
            </a:r>
          </a:p>
        </p:txBody>
      </p:sp>
      <p:sp>
        <p:nvSpPr>
          <p:cNvPr id="32" name="Rectangle 31">
            <a:extLst>
              <a:ext uri="{FF2B5EF4-FFF2-40B4-BE49-F238E27FC236}">
                <a16:creationId xmlns:a16="http://schemas.microsoft.com/office/drawing/2014/main" id="{71645946-EBF6-BDB2-53E1-AC41C9457AA3}"/>
              </a:ext>
            </a:extLst>
          </p:cNvPr>
          <p:cNvSpPr/>
          <p:nvPr/>
        </p:nvSpPr>
        <p:spPr>
          <a:xfrm>
            <a:off x="1416050" y="2997200"/>
            <a:ext cx="4926013" cy="38163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3" name="Rectangle 32">
            <a:extLst>
              <a:ext uri="{FF2B5EF4-FFF2-40B4-BE49-F238E27FC236}">
                <a16:creationId xmlns:a16="http://schemas.microsoft.com/office/drawing/2014/main" id="{22B911DF-7368-F3D3-4637-210C57F78671}"/>
              </a:ext>
            </a:extLst>
          </p:cNvPr>
          <p:cNvSpPr/>
          <p:nvPr/>
        </p:nvSpPr>
        <p:spPr>
          <a:xfrm>
            <a:off x="6502400" y="1085850"/>
            <a:ext cx="3914775" cy="63039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A207AE48-5194-141F-1B2B-9B1952367C9C}"/>
              </a:ext>
            </a:extLst>
          </p:cNvPr>
          <p:cNvSpPr>
            <a:spLocks noGrp="1"/>
          </p:cNvSpPr>
          <p:nvPr>
            <p:ph idx="4294967295"/>
          </p:nvPr>
        </p:nvSpPr>
        <p:spPr>
          <a:xfrm>
            <a:off x="2063750" y="1712913"/>
            <a:ext cx="4284663" cy="4524375"/>
          </a:xfrm>
        </p:spPr>
        <p:txBody>
          <a:bodyPr rtlCol="0">
            <a:normAutofit fontScale="92500" lnSpcReduction="10000"/>
          </a:bodyPr>
          <a:lstStyle/>
          <a:p>
            <a:pPr marL="514350" indent="-514350" eaLnBrk="1" fontAlgn="auto" hangingPunct="1">
              <a:spcAft>
                <a:spcPts val="0"/>
              </a:spcAft>
              <a:buFont typeface="Trebuchet MS" charset="0"/>
              <a:buAutoNum type="arabicPeriod"/>
              <a:defRPr/>
            </a:pPr>
            <a:r>
              <a:rPr lang="en-IE" sz="2400" dirty="0">
                <a:latin typeface="Trebuchet MS" charset="0"/>
              </a:rPr>
              <a:t>Iterate through all elements of the array and select the largest one (this is stored in a temporary variable).</a:t>
            </a:r>
          </a:p>
          <a:p>
            <a:pPr marL="514350" indent="-514350" eaLnBrk="1" fontAlgn="auto" hangingPunct="1">
              <a:spcAft>
                <a:spcPts val="0"/>
              </a:spcAft>
              <a:buFont typeface="Trebuchet MS" charset="0"/>
              <a:buAutoNum type="arabicPeriod"/>
              <a:defRPr/>
            </a:pPr>
            <a:r>
              <a:rPr lang="en-IE" sz="2400" dirty="0">
                <a:latin typeface="Trebuchet MS" charset="0"/>
              </a:rPr>
              <a:t>The largest one is then swapped with the element at the end of the array.</a:t>
            </a:r>
          </a:p>
          <a:p>
            <a:pPr marL="514350" indent="-514350" eaLnBrk="1" fontAlgn="auto" hangingPunct="1">
              <a:spcAft>
                <a:spcPts val="0"/>
              </a:spcAft>
              <a:buFont typeface="Trebuchet MS" charset="0"/>
              <a:buAutoNum type="arabicPeriod"/>
              <a:defRPr/>
            </a:pPr>
            <a:r>
              <a:rPr lang="en-IE" sz="2400" dirty="0">
                <a:latin typeface="Trebuchet MS" charset="0"/>
              </a:rPr>
              <a:t>Then reduce the size of the array by 1 and work through the array to locate the next largest element.</a:t>
            </a:r>
          </a:p>
          <a:p>
            <a:pPr marL="514350" indent="-514350" eaLnBrk="1" fontAlgn="auto" hangingPunct="1">
              <a:spcAft>
                <a:spcPts val="0"/>
              </a:spcAft>
              <a:buFont typeface="Trebuchet MS" charset="0"/>
              <a:buAutoNum type="arabicPeriod"/>
              <a:defRPr/>
            </a:pPr>
            <a:r>
              <a:rPr lang="en-IE" sz="2400" dirty="0">
                <a:latin typeface="Trebuchet MS" charset="0"/>
              </a:rPr>
              <a:t>Repeat the above steps until the size of your array is 1.</a:t>
            </a:r>
          </a:p>
        </p:txBody>
      </p:sp>
      <p:graphicFrame>
        <p:nvGraphicFramePr>
          <p:cNvPr id="5" name="Table 5">
            <a:extLst>
              <a:ext uri="{FF2B5EF4-FFF2-40B4-BE49-F238E27FC236}">
                <a16:creationId xmlns:a16="http://schemas.microsoft.com/office/drawing/2014/main" id="{B9F7C217-6697-7CBD-0A90-0177C0AE6707}"/>
              </a:ext>
            </a:extLst>
          </p:cNvPr>
          <p:cNvGraphicFramePr>
            <a:graphicFrameLocks noGrp="1"/>
          </p:cNvGraphicFramePr>
          <p:nvPr/>
        </p:nvGraphicFramePr>
        <p:xfrm>
          <a:off x="7696200" y="476250"/>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FF00"/>
                          </a:solidFill>
                        </a:rPr>
                        <a:t>8</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t>2</a:t>
                      </a:r>
                    </a:p>
                  </a:txBody>
                  <a:tcPr marT="45753" marB="45753"/>
                </a:tc>
                <a:extLst>
                  <a:ext uri="{0D108BD9-81ED-4DB2-BD59-A6C34878D82A}">
                    <a16:rowId xmlns:a16="http://schemas.microsoft.com/office/drawing/2014/main" val="10000"/>
                  </a:ext>
                </a:extLst>
              </a:tr>
            </a:tbl>
          </a:graphicData>
        </a:graphic>
      </p:graphicFrame>
      <p:sp>
        <p:nvSpPr>
          <p:cNvPr id="11" name="Rectangle 10">
            <a:extLst>
              <a:ext uri="{FF2B5EF4-FFF2-40B4-BE49-F238E27FC236}">
                <a16:creationId xmlns:a16="http://schemas.microsoft.com/office/drawing/2014/main" id="{D479AD88-25CE-B739-B25B-8E93CA3E04BA}"/>
              </a:ext>
            </a:extLst>
          </p:cNvPr>
          <p:cNvSpPr/>
          <p:nvPr/>
        </p:nvSpPr>
        <p:spPr>
          <a:xfrm>
            <a:off x="7758113" y="188913"/>
            <a:ext cx="2471737" cy="244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0       1       2       3       4</a:t>
            </a:r>
          </a:p>
        </p:txBody>
      </p:sp>
      <p:graphicFrame>
        <p:nvGraphicFramePr>
          <p:cNvPr id="12" name="Table 5">
            <a:extLst>
              <a:ext uri="{FF2B5EF4-FFF2-40B4-BE49-F238E27FC236}">
                <a16:creationId xmlns:a16="http://schemas.microsoft.com/office/drawing/2014/main" id="{188FF462-65E1-C7EF-70BD-6866C9A8D354}"/>
              </a:ext>
            </a:extLst>
          </p:cNvPr>
          <p:cNvGraphicFramePr>
            <a:graphicFrameLocks noGrp="1"/>
          </p:cNvGraphicFramePr>
          <p:nvPr/>
        </p:nvGraphicFramePr>
        <p:xfrm>
          <a:off x="7712075" y="10874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0000"/>
                          </a:solidFill>
                        </a:rPr>
                        <a:t>2</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solidFill>
                            <a:srgbClr val="FF0000"/>
                          </a:solidFill>
                        </a:rPr>
                        <a:t>8</a:t>
                      </a:r>
                    </a:p>
                  </a:txBody>
                  <a:tcPr marT="45753" marB="45753"/>
                </a:tc>
                <a:extLst>
                  <a:ext uri="{0D108BD9-81ED-4DB2-BD59-A6C34878D82A}">
                    <a16:rowId xmlns:a16="http://schemas.microsoft.com/office/drawing/2014/main" val="10000"/>
                  </a:ext>
                </a:extLst>
              </a:tr>
            </a:tbl>
          </a:graphicData>
        </a:graphic>
      </p:graphicFrame>
      <p:sp>
        <p:nvSpPr>
          <p:cNvPr id="13" name="Rectangle 12">
            <a:extLst>
              <a:ext uri="{FF2B5EF4-FFF2-40B4-BE49-F238E27FC236}">
                <a16:creationId xmlns:a16="http://schemas.microsoft.com/office/drawing/2014/main" id="{FB73B3E2-8CF0-23A0-EBEB-11FC190BB6EC}"/>
              </a:ext>
            </a:extLst>
          </p:cNvPr>
          <p:cNvSpPr/>
          <p:nvPr/>
        </p:nvSpPr>
        <p:spPr>
          <a:xfrm>
            <a:off x="6910388" y="1165225"/>
            <a:ext cx="720725" cy="23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graphicFrame>
        <p:nvGraphicFramePr>
          <p:cNvPr id="14" name="Table 5">
            <a:extLst>
              <a:ext uri="{FF2B5EF4-FFF2-40B4-BE49-F238E27FC236}">
                <a16:creationId xmlns:a16="http://schemas.microsoft.com/office/drawing/2014/main" id="{1DDC175D-6B70-4884-B90D-72DD51A6CC4D}"/>
              </a:ext>
            </a:extLst>
          </p:cNvPr>
          <p:cNvGraphicFramePr>
            <a:graphicFrameLocks noGrp="1"/>
          </p:cNvGraphicFramePr>
          <p:nvPr/>
        </p:nvGraphicFramePr>
        <p:xfrm>
          <a:off x="7696200" y="20653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5</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6" name="Rectangle 15">
            <a:extLst>
              <a:ext uri="{FF2B5EF4-FFF2-40B4-BE49-F238E27FC236}">
                <a16:creationId xmlns:a16="http://schemas.microsoft.com/office/drawing/2014/main" id="{5C503F48-C941-3B63-5F23-9666B044792A}"/>
              </a:ext>
            </a:extLst>
          </p:cNvPr>
          <p:cNvSpPr/>
          <p:nvPr/>
        </p:nvSpPr>
        <p:spPr>
          <a:xfrm>
            <a:off x="9721850" y="2025650"/>
            <a:ext cx="773113" cy="62388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17" name="Table 5">
            <a:extLst>
              <a:ext uri="{FF2B5EF4-FFF2-40B4-BE49-F238E27FC236}">
                <a16:creationId xmlns:a16="http://schemas.microsoft.com/office/drawing/2014/main" id="{0D1B7504-CB99-3D62-7259-90A8960B09A7}"/>
              </a:ext>
            </a:extLst>
          </p:cNvPr>
          <p:cNvGraphicFramePr>
            <a:graphicFrameLocks noGrp="1"/>
          </p:cNvGraphicFramePr>
          <p:nvPr/>
        </p:nvGraphicFramePr>
        <p:xfrm>
          <a:off x="7720013" y="26781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rgbClr val="FF0000"/>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8" name="Rectangle 17">
            <a:extLst>
              <a:ext uri="{FF2B5EF4-FFF2-40B4-BE49-F238E27FC236}">
                <a16:creationId xmlns:a16="http://schemas.microsoft.com/office/drawing/2014/main" id="{F5548AD1-02DE-4A2A-4FCA-55197FAAB351}"/>
              </a:ext>
            </a:extLst>
          </p:cNvPr>
          <p:cNvSpPr/>
          <p:nvPr/>
        </p:nvSpPr>
        <p:spPr>
          <a:xfrm>
            <a:off x="6916738" y="27559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19" name="Rectangle 18">
            <a:extLst>
              <a:ext uri="{FF2B5EF4-FFF2-40B4-BE49-F238E27FC236}">
                <a16:creationId xmlns:a16="http://schemas.microsoft.com/office/drawing/2014/main" id="{A998A3AB-4408-60D0-7C6B-2C7891CF3610}"/>
              </a:ext>
            </a:extLst>
          </p:cNvPr>
          <p:cNvSpPr/>
          <p:nvPr/>
        </p:nvSpPr>
        <p:spPr>
          <a:xfrm>
            <a:off x="9745663" y="2638425"/>
            <a:ext cx="771525"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0" name="Table 5">
            <a:extLst>
              <a:ext uri="{FF2B5EF4-FFF2-40B4-BE49-F238E27FC236}">
                <a16:creationId xmlns:a16="http://schemas.microsoft.com/office/drawing/2014/main" id="{C7187757-D7FA-C138-F23A-30FF4F8A20B1}"/>
              </a:ext>
            </a:extLst>
          </p:cNvPr>
          <p:cNvGraphicFramePr>
            <a:graphicFrameLocks noGrp="1"/>
          </p:cNvGraphicFramePr>
          <p:nvPr/>
        </p:nvGraphicFramePr>
        <p:xfrm>
          <a:off x="7696200" y="368458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2" name="Rectangle 21">
            <a:extLst>
              <a:ext uri="{FF2B5EF4-FFF2-40B4-BE49-F238E27FC236}">
                <a16:creationId xmlns:a16="http://schemas.microsoft.com/office/drawing/2014/main" id="{05B36B4C-3145-BEF2-2B90-473EE9BBF74B}"/>
              </a:ext>
            </a:extLst>
          </p:cNvPr>
          <p:cNvSpPr/>
          <p:nvPr/>
        </p:nvSpPr>
        <p:spPr>
          <a:xfrm>
            <a:off x="9197975" y="3644900"/>
            <a:ext cx="1296988"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3" name="Table 5">
            <a:extLst>
              <a:ext uri="{FF2B5EF4-FFF2-40B4-BE49-F238E27FC236}">
                <a16:creationId xmlns:a16="http://schemas.microsoft.com/office/drawing/2014/main" id="{13CE4C76-F4DC-315E-29D5-CD6B2563F0D5}"/>
              </a:ext>
            </a:extLst>
          </p:cNvPr>
          <p:cNvGraphicFramePr>
            <a:graphicFrameLocks noGrp="1"/>
          </p:cNvGraphicFramePr>
          <p:nvPr/>
        </p:nvGraphicFramePr>
        <p:xfrm>
          <a:off x="7712075" y="43037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3</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4" name="Rectangle 23">
            <a:extLst>
              <a:ext uri="{FF2B5EF4-FFF2-40B4-BE49-F238E27FC236}">
                <a16:creationId xmlns:a16="http://schemas.microsoft.com/office/drawing/2014/main" id="{F3277B2E-D5D6-FAA3-2DCD-B0844CE33AEB}"/>
              </a:ext>
            </a:extLst>
          </p:cNvPr>
          <p:cNvSpPr/>
          <p:nvPr/>
        </p:nvSpPr>
        <p:spPr>
          <a:xfrm>
            <a:off x="6910388" y="43815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25" name="Rectangle 24">
            <a:extLst>
              <a:ext uri="{FF2B5EF4-FFF2-40B4-BE49-F238E27FC236}">
                <a16:creationId xmlns:a16="http://schemas.microsoft.com/office/drawing/2014/main" id="{8F77ABF7-CCFC-6426-0D80-F85829C9540C}"/>
              </a:ext>
            </a:extLst>
          </p:cNvPr>
          <p:cNvSpPr/>
          <p:nvPr/>
        </p:nvSpPr>
        <p:spPr>
          <a:xfrm>
            <a:off x="9183688" y="4244975"/>
            <a:ext cx="1296987" cy="72072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6" name="Table 5">
            <a:extLst>
              <a:ext uri="{FF2B5EF4-FFF2-40B4-BE49-F238E27FC236}">
                <a16:creationId xmlns:a16="http://schemas.microsoft.com/office/drawing/2014/main" id="{309BBCCD-A53C-5540-1F8E-C5169845338A}"/>
              </a:ext>
            </a:extLst>
          </p:cNvPr>
          <p:cNvGraphicFramePr>
            <a:graphicFrameLocks noGrp="1"/>
          </p:cNvGraphicFramePr>
          <p:nvPr/>
        </p:nvGraphicFramePr>
        <p:xfrm>
          <a:off x="7718425" y="5229225"/>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3</a:t>
                      </a:r>
                    </a:p>
                  </a:txBody>
                  <a:tcPr marT="45753" marB="45753"/>
                </a:tc>
                <a:tc>
                  <a:txBody>
                    <a:bodyPr/>
                    <a:lstStyle/>
                    <a:p>
                      <a:pPr algn="ctr"/>
                      <a:r>
                        <a:rPr lang="en-IE" sz="2800" dirty="0"/>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7" name="Rectangle 26">
            <a:extLst>
              <a:ext uri="{FF2B5EF4-FFF2-40B4-BE49-F238E27FC236}">
                <a16:creationId xmlns:a16="http://schemas.microsoft.com/office/drawing/2014/main" id="{2DF1E810-6F03-FC81-60CE-C150DF104674}"/>
              </a:ext>
            </a:extLst>
          </p:cNvPr>
          <p:cNvSpPr/>
          <p:nvPr/>
        </p:nvSpPr>
        <p:spPr>
          <a:xfrm>
            <a:off x="8759825" y="5146675"/>
            <a:ext cx="1757363" cy="71913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8" name="Table 5">
            <a:extLst>
              <a:ext uri="{FF2B5EF4-FFF2-40B4-BE49-F238E27FC236}">
                <a16:creationId xmlns:a16="http://schemas.microsoft.com/office/drawing/2014/main" id="{10C47EA9-6FFE-AD4D-D5CE-4046FF3AFEEA}"/>
              </a:ext>
            </a:extLst>
          </p:cNvPr>
          <p:cNvGraphicFramePr>
            <a:graphicFrameLocks noGrp="1"/>
          </p:cNvGraphicFramePr>
          <p:nvPr/>
        </p:nvGraphicFramePr>
        <p:xfrm>
          <a:off x="7712075" y="61706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chemeClr val="bg1"/>
                          </a:solidFill>
                        </a:rPr>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9" name="Rectangle 28">
            <a:extLst>
              <a:ext uri="{FF2B5EF4-FFF2-40B4-BE49-F238E27FC236}">
                <a16:creationId xmlns:a16="http://schemas.microsoft.com/office/drawing/2014/main" id="{AF2547A9-37BF-9866-D6A6-F033821EAAA8}"/>
              </a:ext>
            </a:extLst>
          </p:cNvPr>
          <p:cNvSpPr/>
          <p:nvPr/>
        </p:nvSpPr>
        <p:spPr>
          <a:xfrm>
            <a:off x="6600825" y="5326063"/>
            <a:ext cx="1062038" cy="233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No swap</a:t>
            </a:r>
          </a:p>
        </p:txBody>
      </p:sp>
      <p:sp>
        <p:nvSpPr>
          <p:cNvPr id="30" name="Rectangle 29">
            <a:extLst>
              <a:ext uri="{FF2B5EF4-FFF2-40B4-BE49-F238E27FC236}">
                <a16:creationId xmlns:a16="http://schemas.microsoft.com/office/drawing/2014/main" id="{84056EDD-F4AF-B558-2F1A-8E9033BA9C28}"/>
              </a:ext>
            </a:extLst>
          </p:cNvPr>
          <p:cNvSpPr/>
          <p:nvPr/>
        </p:nvSpPr>
        <p:spPr>
          <a:xfrm>
            <a:off x="8191500" y="6130925"/>
            <a:ext cx="2319338" cy="569913"/>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sp>
        <p:nvSpPr>
          <p:cNvPr id="31" name="Rectangle 30">
            <a:extLst>
              <a:ext uri="{FF2B5EF4-FFF2-40B4-BE49-F238E27FC236}">
                <a16:creationId xmlns:a16="http://schemas.microsoft.com/office/drawing/2014/main" id="{C88379C9-6448-B7A7-5E44-1B664E671CD6}"/>
              </a:ext>
            </a:extLst>
          </p:cNvPr>
          <p:cNvSpPr/>
          <p:nvPr/>
        </p:nvSpPr>
        <p:spPr>
          <a:xfrm>
            <a:off x="6600825" y="6311900"/>
            <a:ext cx="1062038" cy="234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Array is 1</a:t>
            </a:r>
          </a:p>
        </p:txBody>
      </p:sp>
      <p:sp>
        <p:nvSpPr>
          <p:cNvPr id="32" name="Rectangle 31">
            <a:extLst>
              <a:ext uri="{FF2B5EF4-FFF2-40B4-BE49-F238E27FC236}">
                <a16:creationId xmlns:a16="http://schemas.microsoft.com/office/drawing/2014/main" id="{70A37F8F-7BC7-7641-1E84-1F29FB3C513D}"/>
              </a:ext>
            </a:extLst>
          </p:cNvPr>
          <p:cNvSpPr/>
          <p:nvPr/>
        </p:nvSpPr>
        <p:spPr>
          <a:xfrm>
            <a:off x="1416050" y="4005263"/>
            <a:ext cx="4926013" cy="28082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3" name="Rectangle 32">
            <a:extLst>
              <a:ext uri="{FF2B5EF4-FFF2-40B4-BE49-F238E27FC236}">
                <a16:creationId xmlns:a16="http://schemas.microsoft.com/office/drawing/2014/main" id="{54E383AA-1244-F50C-9C5B-5207BA4B78AD}"/>
              </a:ext>
            </a:extLst>
          </p:cNvPr>
          <p:cNvSpPr/>
          <p:nvPr/>
        </p:nvSpPr>
        <p:spPr>
          <a:xfrm>
            <a:off x="6502400" y="1989138"/>
            <a:ext cx="3914775" cy="54006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4" name="Title 1">
            <a:extLst>
              <a:ext uri="{FF2B5EF4-FFF2-40B4-BE49-F238E27FC236}">
                <a16:creationId xmlns:a16="http://schemas.microsoft.com/office/drawing/2014/main" id="{7FD25D54-2C57-46E9-4816-B967376BB779}"/>
              </a:ext>
            </a:extLst>
          </p:cNvPr>
          <p:cNvSpPr txBox="1">
            <a:spLocks/>
          </p:cNvSpPr>
          <p:nvPr/>
        </p:nvSpPr>
        <p:spPr bwMode="auto">
          <a:xfrm>
            <a:off x="334963" y="247650"/>
            <a:ext cx="6265862" cy="1165225"/>
          </a:xfrm>
          <a:prstGeom prst="rect">
            <a:avLst/>
          </a:prstGeom>
          <a:noFill/>
          <a:ln>
            <a:noFill/>
          </a:ln>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fontAlgn="auto" hangingPunct="1">
              <a:spcAft>
                <a:spcPts val="0"/>
              </a:spcAft>
              <a:defRPr/>
            </a:pPr>
            <a:r>
              <a:rPr lang="en-IE">
                <a:solidFill>
                  <a:schemeClr val="tx1">
                    <a:lumMod val="65000"/>
                    <a:lumOff val="35000"/>
                  </a:schemeClr>
                </a:solidFill>
              </a:rPr>
              <a:t>Selection Sort Algorithm</a:t>
            </a:r>
            <a:endParaRPr lang="en-IE" dirty="0">
              <a:solidFill>
                <a:schemeClr val="tx1">
                  <a:lumMod val="65000"/>
                  <a:lumOff val="35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535256A4-4ED3-A639-D677-37A1CD5C6CD7}"/>
              </a:ext>
            </a:extLst>
          </p:cNvPr>
          <p:cNvSpPr>
            <a:spLocks noGrp="1"/>
          </p:cNvSpPr>
          <p:nvPr>
            <p:ph idx="4294967295"/>
          </p:nvPr>
        </p:nvSpPr>
        <p:spPr>
          <a:xfrm>
            <a:off x="2063750" y="1712913"/>
            <a:ext cx="4284663" cy="4524375"/>
          </a:xfrm>
        </p:spPr>
        <p:txBody>
          <a:bodyPr rtlCol="0">
            <a:normAutofit fontScale="92500" lnSpcReduction="10000"/>
          </a:bodyPr>
          <a:lstStyle/>
          <a:p>
            <a:pPr marL="514350" indent="-514350" eaLnBrk="1" fontAlgn="auto" hangingPunct="1">
              <a:spcAft>
                <a:spcPts val="0"/>
              </a:spcAft>
              <a:buFont typeface="Trebuchet MS" charset="0"/>
              <a:buAutoNum type="arabicPeriod"/>
              <a:defRPr/>
            </a:pPr>
            <a:r>
              <a:rPr lang="en-IE" sz="2400" dirty="0">
                <a:latin typeface="Trebuchet MS" charset="0"/>
              </a:rPr>
              <a:t>Iterate through all elements of the array and select the largest one (this is stored in a temporary variable).</a:t>
            </a:r>
          </a:p>
          <a:p>
            <a:pPr marL="514350" indent="-514350" eaLnBrk="1" fontAlgn="auto" hangingPunct="1">
              <a:spcAft>
                <a:spcPts val="0"/>
              </a:spcAft>
              <a:buFont typeface="Trebuchet MS" charset="0"/>
              <a:buAutoNum type="arabicPeriod"/>
              <a:defRPr/>
            </a:pPr>
            <a:r>
              <a:rPr lang="en-IE" sz="2400" dirty="0">
                <a:latin typeface="Trebuchet MS" charset="0"/>
              </a:rPr>
              <a:t>The largest one is then swapped with the element at the end of the array.</a:t>
            </a:r>
          </a:p>
          <a:p>
            <a:pPr marL="514350" indent="-514350" eaLnBrk="1" fontAlgn="auto" hangingPunct="1">
              <a:spcAft>
                <a:spcPts val="0"/>
              </a:spcAft>
              <a:buFont typeface="Trebuchet MS" charset="0"/>
              <a:buAutoNum type="arabicPeriod"/>
              <a:defRPr/>
            </a:pPr>
            <a:r>
              <a:rPr lang="en-IE" sz="2400" dirty="0">
                <a:latin typeface="Trebuchet MS" charset="0"/>
              </a:rPr>
              <a:t>Then reduce the size of the array by 1 and work through the array to locate the next largest element.</a:t>
            </a:r>
          </a:p>
          <a:p>
            <a:pPr marL="514350" indent="-514350" eaLnBrk="1" fontAlgn="auto" hangingPunct="1">
              <a:spcAft>
                <a:spcPts val="0"/>
              </a:spcAft>
              <a:buFont typeface="Trebuchet MS" charset="0"/>
              <a:buAutoNum type="arabicPeriod"/>
              <a:defRPr/>
            </a:pPr>
            <a:r>
              <a:rPr lang="en-IE" sz="2400" dirty="0">
                <a:latin typeface="Trebuchet MS" charset="0"/>
              </a:rPr>
              <a:t>Repeat the above steps until the size of your array is 1.</a:t>
            </a:r>
          </a:p>
        </p:txBody>
      </p:sp>
      <p:graphicFrame>
        <p:nvGraphicFramePr>
          <p:cNvPr id="5" name="Table 5">
            <a:extLst>
              <a:ext uri="{FF2B5EF4-FFF2-40B4-BE49-F238E27FC236}">
                <a16:creationId xmlns:a16="http://schemas.microsoft.com/office/drawing/2014/main" id="{354B0051-929D-8BDB-44E2-D5E27D8F6AE5}"/>
              </a:ext>
            </a:extLst>
          </p:cNvPr>
          <p:cNvGraphicFramePr>
            <a:graphicFrameLocks noGrp="1"/>
          </p:cNvGraphicFramePr>
          <p:nvPr/>
        </p:nvGraphicFramePr>
        <p:xfrm>
          <a:off x="7696200" y="476250"/>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FF00"/>
                          </a:solidFill>
                        </a:rPr>
                        <a:t>8</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t>2</a:t>
                      </a:r>
                    </a:p>
                  </a:txBody>
                  <a:tcPr marT="45753" marB="45753"/>
                </a:tc>
                <a:extLst>
                  <a:ext uri="{0D108BD9-81ED-4DB2-BD59-A6C34878D82A}">
                    <a16:rowId xmlns:a16="http://schemas.microsoft.com/office/drawing/2014/main" val="10000"/>
                  </a:ext>
                </a:extLst>
              </a:tr>
            </a:tbl>
          </a:graphicData>
        </a:graphic>
      </p:graphicFrame>
      <p:sp>
        <p:nvSpPr>
          <p:cNvPr id="11" name="Rectangle 10">
            <a:extLst>
              <a:ext uri="{FF2B5EF4-FFF2-40B4-BE49-F238E27FC236}">
                <a16:creationId xmlns:a16="http://schemas.microsoft.com/office/drawing/2014/main" id="{8381BB40-A885-22CA-3C88-E0401CBA190E}"/>
              </a:ext>
            </a:extLst>
          </p:cNvPr>
          <p:cNvSpPr/>
          <p:nvPr/>
        </p:nvSpPr>
        <p:spPr>
          <a:xfrm>
            <a:off x="7758113" y="188913"/>
            <a:ext cx="2471737" cy="244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0       1       2       3       4</a:t>
            </a:r>
          </a:p>
        </p:txBody>
      </p:sp>
      <p:graphicFrame>
        <p:nvGraphicFramePr>
          <p:cNvPr id="12" name="Table 5">
            <a:extLst>
              <a:ext uri="{FF2B5EF4-FFF2-40B4-BE49-F238E27FC236}">
                <a16:creationId xmlns:a16="http://schemas.microsoft.com/office/drawing/2014/main" id="{A2A4C11B-C610-0B09-A4F5-1FF8A0D88B37}"/>
              </a:ext>
            </a:extLst>
          </p:cNvPr>
          <p:cNvGraphicFramePr>
            <a:graphicFrameLocks noGrp="1"/>
          </p:cNvGraphicFramePr>
          <p:nvPr/>
        </p:nvGraphicFramePr>
        <p:xfrm>
          <a:off x="7712075" y="10874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0000"/>
                          </a:solidFill>
                        </a:rPr>
                        <a:t>2</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solidFill>
                            <a:srgbClr val="FF0000"/>
                          </a:solidFill>
                        </a:rPr>
                        <a:t>8</a:t>
                      </a:r>
                    </a:p>
                  </a:txBody>
                  <a:tcPr marT="45753" marB="45753"/>
                </a:tc>
                <a:extLst>
                  <a:ext uri="{0D108BD9-81ED-4DB2-BD59-A6C34878D82A}">
                    <a16:rowId xmlns:a16="http://schemas.microsoft.com/office/drawing/2014/main" val="10000"/>
                  </a:ext>
                </a:extLst>
              </a:tr>
            </a:tbl>
          </a:graphicData>
        </a:graphic>
      </p:graphicFrame>
      <p:sp>
        <p:nvSpPr>
          <p:cNvPr id="13" name="Rectangle 12">
            <a:extLst>
              <a:ext uri="{FF2B5EF4-FFF2-40B4-BE49-F238E27FC236}">
                <a16:creationId xmlns:a16="http://schemas.microsoft.com/office/drawing/2014/main" id="{F49F9D80-C370-0CDD-122A-7EA6652FA4F1}"/>
              </a:ext>
            </a:extLst>
          </p:cNvPr>
          <p:cNvSpPr/>
          <p:nvPr/>
        </p:nvSpPr>
        <p:spPr>
          <a:xfrm>
            <a:off x="6910388" y="1165225"/>
            <a:ext cx="720725" cy="23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graphicFrame>
        <p:nvGraphicFramePr>
          <p:cNvPr id="14" name="Table 5">
            <a:extLst>
              <a:ext uri="{FF2B5EF4-FFF2-40B4-BE49-F238E27FC236}">
                <a16:creationId xmlns:a16="http://schemas.microsoft.com/office/drawing/2014/main" id="{D6066292-8085-E885-30B8-2A51665919CC}"/>
              </a:ext>
            </a:extLst>
          </p:cNvPr>
          <p:cNvGraphicFramePr>
            <a:graphicFrameLocks noGrp="1"/>
          </p:cNvGraphicFramePr>
          <p:nvPr/>
        </p:nvGraphicFramePr>
        <p:xfrm>
          <a:off x="7696200" y="20653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5</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6" name="Rectangle 15">
            <a:extLst>
              <a:ext uri="{FF2B5EF4-FFF2-40B4-BE49-F238E27FC236}">
                <a16:creationId xmlns:a16="http://schemas.microsoft.com/office/drawing/2014/main" id="{9BADF265-7973-CAA6-25CC-FEE2A6B905DE}"/>
              </a:ext>
            </a:extLst>
          </p:cNvPr>
          <p:cNvSpPr/>
          <p:nvPr/>
        </p:nvSpPr>
        <p:spPr>
          <a:xfrm>
            <a:off x="9721850" y="2025650"/>
            <a:ext cx="773113" cy="62388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17" name="Table 5">
            <a:extLst>
              <a:ext uri="{FF2B5EF4-FFF2-40B4-BE49-F238E27FC236}">
                <a16:creationId xmlns:a16="http://schemas.microsoft.com/office/drawing/2014/main" id="{3A3167AA-6410-65F7-8C55-EC1AC344D376}"/>
              </a:ext>
            </a:extLst>
          </p:cNvPr>
          <p:cNvGraphicFramePr>
            <a:graphicFrameLocks noGrp="1"/>
          </p:cNvGraphicFramePr>
          <p:nvPr/>
        </p:nvGraphicFramePr>
        <p:xfrm>
          <a:off x="7720013" y="26781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rgbClr val="FF0000"/>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8" name="Rectangle 17">
            <a:extLst>
              <a:ext uri="{FF2B5EF4-FFF2-40B4-BE49-F238E27FC236}">
                <a16:creationId xmlns:a16="http://schemas.microsoft.com/office/drawing/2014/main" id="{E5AA77B8-5457-E256-763F-038ACA459867}"/>
              </a:ext>
            </a:extLst>
          </p:cNvPr>
          <p:cNvSpPr/>
          <p:nvPr/>
        </p:nvSpPr>
        <p:spPr>
          <a:xfrm>
            <a:off x="6916738" y="27559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19" name="Rectangle 18">
            <a:extLst>
              <a:ext uri="{FF2B5EF4-FFF2-40B4-BE49-F238E27FC236}">
                <a16:creationId xmlns:a16="http://schemas.microsoft.com/office/drawing/2014/main" id="{D4DFA204-4E66-295F-DF7E-3D0703D3CC77}"/>
              </a:ext>
            </a:extLst>
          </p:cNvPr>
          <p:cNvSpPr/>
          <p:nvPr/>
        </p:nvSpPr>
        <p:spPr>
          <a:xfrm>
            <a:off x="9745663" y="2638425"/>
            <a:ext cx="771525"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0" name="Table 5">
            <a:extLst>
              <a:ext uri="{FF2B5EF4-FFF2-40B4-BE49-F238E27FC236}">
                <a16:creationId xmlns:a16="http://schemas.microsoft.com/office/drawing/2014/main" id="{CE22359A-A366-561C-D190-E49214396E10}"/>
              </a:ext>
            </a:extLst>
          </p:cNvPr>
          <p:cNvGraphicFramePr>
            <a:graphicFrameLocks noGrp="1"/>
          </p:cNvGraphicFramePr>
          <p:nvPr/>
        </p:nvGraphicFramePr>
        <p:xfrm>
          <a:off x="7696200" y="368458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2" name="Rectangle 21">
            <a:extLst>
              <a:ext uri="{FF2B5EF4-FFF2-40B4-BE49-F238E27FC236}">
                <a16:creationId xmlns:a16="http://schemas.microsoft.com/office/drawing/2014/main" id="{709386E6-3B94-910D-1CC4-AB8D9DB4EF93}"/>
              </a:ext>
            </a:extLst>
          </p:cNvPr>
          <p:cNvSpPr/>
          <p:nvPr/>
        </p:nvSpPr>
        <p:spPr>
          <a:xfrm>
            <a:off x="9197975" y="3644900"/>
            <a:ext cx="1296988"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3" name="Table 5">
            <a:extLst>
              <a:ext uri="{FF2B5EF4-FFF2-40B4-BE49-F238E27FC236}">
                <a16:creationId xmlns:a16="http://schemas.microsoft.com/office/drawing/2014/main" id="{D6788566-99C9-F229-55FB-F23CC58881D6}"/>
              </a:ext>
            </a:extLst>
          </p:cNvPr>
          <p:cNvGraphicFramePr>
            <a:graphicFrameLocks noGrp="1"/>
          </p:cNvGraphicFramePr>
          <p:nvPr/>
        </p:nvGraphicFramePr>
        <p:xfrm>
          <a:off x="7712075" y="43037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3</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4" name="Rectangle 23">
            <a:extLst>
              <a:ext uri="{FF2B5EF4-FFF2-40B4-BE49-F238E27FC236}">
                <a16:creationId xmlns:a16="http://schemas.microsoft.com/office/drawing/2014/main" id="{8DD1A922-BF76-496F-AABF-F4E478112C7E}"/>
              </a:ext>
            </a:extLst>
          </p:cNvPr>
          <p:cNvSpPr/>
          <p:nvPr/>
        </p:nvSpPr>
        <p:spPr>
          <a:xfrm>
            <a:off x="6910388" y="43815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25" name="Rectangle 24">
            <a:extLst>
              <a:ext uri="{FF2B5EF4-FFF2-40B4-BE49-F238E27FC236}">
                <a16:creationId xmlns:a16="http://schemas.microsoft.com/office/drawing/2014/main" id="{FEB319BD-DF19-26AF-980D-4014A6F7CD63}"/>
              </a:ext>
            </a:extLst>
          </p:cNvPr>
          <p:cNvSpPr/>
          <p:nvPr/>
        </p:nvSpPr>
        <p:spPr>
          <a:xfrm>
            <a:off x="9183688" y="4244975"/>
            <a:ext cx="1296987" cy="72072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6" name="Table 5">
            <a:extLst>
              <a:ext uri="{FF2B5EF4-FFF2-40B4-BE49-F238E27FC236}">
                <a16:creationId xmlns:a16="http://schemas.microsoft.com/office/drawing/2014/main" id="{F8E55F83-DCFC-8223-794B-A934AB69BEA6}"/>
              </a:ext>
            </a:extLst>
          </p:cNvPr>
          <p:cNvGraphicFramePr>
            <a:graphicFrameLocks noGrp="1"/>
          </p:cNvGraphicFramePr>
          <p:nvPr/>
        </p:nvGraphicFramePr>
        <p:xfrm>
          <a:off x="7718425" y="5229225"/>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3</a:t>
                      </a:r>
                    </a:p>
                  </a:txBody>
                  <a:tcPr marT="45753" marB="45753"/>
                </a:tc>
                <a:tc>
                  <a:txBody>
                    <a:bodyPr/>
                    <a:lstStyle/>
                    <a:p>
                      <a:pPr algn="ctr"/>
                      <a:r>
                        <a:rPr lang="en-IE" sz="2800" dirty="0"/>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7" name="Rectangle 26">
            <a:extLst>
              <a:ext uri="{FF2B5EF4-FFF2-40B4-BE49-F238E27FC236}">
                <a16:creationId xmlns:a16="http://schemas.microsoft.com/office/drawing/2014/main" id="{C1E9F3F9-FD0B-AB85-139D-E75E5E349A58}"/>
              </a:ext>
            </a:extLst>
          </p:cNvPr>
          <p:cNvSpPr/>
          <p:nvPr/>
        </p:nvSpPr>
        <p:spPr>
          <a:xfrm>
            <a:off x="8759825" y="5146675"/>
            <a:ext cx="1757363" cy="71913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8" name="Table 5">
            <a:extLst>
              <a:ext uri="{FF2B5EF4-FFF2-40B4-BE49-F238E27FC236}">
                <a16:creationId xmlns:a16="http://schemas.microsoft.com/office/drawing/2014/main" id="{708A9FD8-A0F3-298F-A451-09CDF73E4ABA}"/>
              </a:ext>
            </a:extLst>
          </p:cNvPr>
          <p:cNvGraphicFramePr>
            <a:graphicFrameLocks noGrp="1"/>
          </p:cNvGraphicFramePr>
          <p:nvPr/>
        </p:nvGraphicFramePr>
        <p:xfrm>
          <a:off x="7712075" y="61706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chemeClr val="bg1"/>
                          </a:solidFill>
                        </a:rPr>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9" name="Rectangle 28">
            <a:extLst>
              <a:ext uri="{FF2B5EF4-FFF2-40B4-BE49-F238E27FC236}">
                <a16:creationId xmlns:a16="http://schemas.microsoft.com/office/drawing/2014/main" id="{A8A0AF7B-D3B7-1474-57F4-82AB4A094604}"/>
              </a:ext>
            </a:extLst>
          </p:cNvPr>
          <p:cNvSpPr/>
          <p:nvPr/>
        </p:nvSpPr>
        <p:spPr>
          <a:xfrm>
            <a:off x="6600825" y="5326063"/>
            <a:ext cx="1062038" cy="233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No swap</a:t>
            </a:r>
          </a:p>
        </p:txBody>
      </p:sp>
      <p:sp>
        <p:nvSpPr>
          <p:cNvPr id="30" name="Rectangle 29">
            <a:extLst>
              <a:ext uri="{FF2B5EF4-FFF2-40B4-BE49-F238E27FC236}">
                <a16:creationId xmlns:a16="http://schemas.microsoft.com/office/drawing/2014/main" id="{F8F87C4D-258C-D7E0-68D6-03324E2FB6E2}"/>
              </a:ext>
            </a:extLst>
          </p:cNvPr>
          <p:cNvSpPr/>
          <p:nvPr/>
        </p:nvSpPr>
        <p:spPr>
          <a:xfrm>
            <a:off x="8191500" y="6130925"/>
            <a:ext cx="2319338" cy="569913"/>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sp>
        <p:nvSpPr>
          <p:cNvPr id="31" name="Rectangle 30">
            <a:extLst>
              <a:ext uri="{FF2B5EF4-FFF2-40B4-BE49-F238E27FC236}">
                <a16:creationId xmlns:a16="http://schemas.microsoft.com/office/drawing/2014/main" id="{468A74FF-C71A-B9A3-42BC-AEC7BC78BBA8}"/>
              </a:ext>
            </a:extLst>
          </p:cNvPr>
          <p:cNvSpPr/>
          <p:nvPr/>
        </p:nvSpPr>
        <p:spPr>
          <a:xfrm>
            <a:off x="6600825" y="6311900"/>
            <a:ext cx="1062038" cy="234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Array is 1</a:t>
            </a:r>
          </a:p>
        </p:txBody>
      </p:sp>
      <p:sp>
        <p:nvSpPr>
          <p:cNvPr id="32" name="Rectangle 31">
            <a:extLst>
              <a:ext uri="{FF2B5EF4-FFF2-40B4-BE49-F238E27FC236}">
                <a16:creationId xmlns:a16="http://schemas.microsoft.com/office/drawing/2014/main" id="{69D955D1-24E0-DB16-8C77-74C5CAABDA0F}"/>
              </a:ext>
            </a:extLst>
          </p:cNvPr>
          <p:cNvSpPr/>
          <p:nvPr/>
        </p:nvSpPr>
        <p:spPr>
          <a:xfrm>
            <a:off x="1416050" y="5229225"/>
            <a:ext cx="4926013" cy="15843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3" name="Rectangle 32">
            <a:extLst>
              <a:ext uri="{FF2B5EF4-FFF2-40B4-BE49-F238E27FC236}">
                <a16:creationId xmlns:a16="http://schemas.microsoft.com/office/drawing/2014/main" id="{19D8CD4F-0A17-556B-79CD-226E8E9D1D2C}"/>
              </a:ext>
            </a:extLst>
          </p:cNvPr>
          <p:cNvSpPr/>
          <p:nvPr/>
        </p:nvSpPr>
        <p:spPr>
          <a:xfrm>
            <a:off x="6502400" y="2649538"/>
            <a:ext cx="3914775" cy="47402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a:p>
        </p:txBody>
      </p:sp>
      <p:sp>
        <p:nvSpPr>
          <p:cNvPr id="34" name="Title 1">
            <a:extLst>
              <a:ext uri="{FF2B5EF4-FFF2-40B4-BE49-F238E27FC236}">
                <a16:creationId xmlns:a16="http://schemas.microsoft.com/office/drawing/2014/main" id="{4A94795F-89EC-56C1-211B-2B3C1638A150}"/>
              </a:ext>
            </a:extLst>
          </p:cNvPr>
          <p:cNvSpPr txBox="1">
            <a:spLocks/>
          </p:cNvSpPr>
          <p:nvPr/>
        </p:nvSpPr>
        <p:spPr bwMode="auto">
          <a:xfrm>
            <a:off x="334963" y="247650"/>
            <a:ext cx="6265862" cy="1165225"/>
          </a:xfrm>
          <a:prstGeom prst="rect">
            <a:avLst/>
          </a:prstGeom>
          <a:noFill/>
          <a:ln>
            <a:noFill/>
          </a:ln>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fontAlgn="auto" hangingPunct="1">
              <a:spcAft>
                <a:spcPts val="0"/>
              </a:spcAft>
              <a:defRPr/>
            </a:pPr>
            <a:r>
              <a:rPr lang="en-IE">
                <a:solidFill>
                  <a:schemeClr val="tx1">
                    <a:lumMod val="65000"/>
                    <a:lumOff val="35000"/>
                  </a:schemeClr>
                </a:solidFill>
              </a:rPr>
              <a:t>Selection Sort Algorithm</a:t>
            </a:r>
            <a:endParaRPr lang="en-IE" dirty="0">
              <a:solidFill>
                <a:schemeClr val="tx1">
                  <a:lumMod val="65000"/>
                  <a:lumOff val="35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825250C1-196E-465C-DE24-7DD2755EC38B}"/>
              </a:ext>
            </a:extLst>
          </p:cNvPr>
          <p:cNvSpPr>
            <a:spLocks noGrp="1"/>
          </p:cNvSpPr>
          <p:nvPr>
            <p:ph idx="4294967295"/>
          </p:nvPr>
        </p:nvSpPr>
        <p:spPr>
          <a:xfrm>
            <a:off x="2063750" y="1712913"/>
            <a:ext cx="4284663" cy="4524375"/>
          </a:xfrm>
        </p:spPr>
        <p:txBody>
          <a:bodyPr rtlCol="0">
            <a:normAutofit fontScale="92500" lnSpcReduction="10000"/>
          </a:bodyPr>
          <a:lstStyle/>
          <a:p>
            <a:pPr marL="514350" indent="-514350" eaLnBrk="1" fontAlgn="auto" hangingPunct="1">
              <a:spcAft>
                <a:spcPts val="0"/>
              </a:spcAft>
              <a:buFont typeface="Trebuchet MS" charset="0"/>
              <a:buAutoNum type="arabicPeriod"/>
              <a:defRPr/>
            </a:pPr>
            <a:r>
              <a:rPr lang="en-IE" sz="2400" dirty="0">
                <a:latin typeface="Trebuchet MS" charset="0"/>
              </a:rPr>
              <a:t>Iterate through all elements of the array and select the largest one (this is stored in a temporary variable).</a:t>
            </a:r>
          </a:p>
          <a:p>
            <a:pPr marL="514350" indent="-514350" eaLnBrk="1" fontAlgn="auto" hangingPunct="1">
              <a:spcAft>
                <a:spcPts val="0"/>
              </a:spcAft>
              <a:buFont typeface="Trebuchet MS" charset="0"/>
              <a:buAutoNum type="arabicPeriod"/>
              <a:defRPr/>
            </a:pPr>
            <a:r>
              <a:rPr lang="en-IE" sz="2400" dirty="0">
                <a:latin typeface="Trebuchet MS" charset="0"/>
              </a:rPr>
              <a:t>The largest one is then swapped with the element at the end of the array.</a:t>
            </a:r>
          </a:p>
          <a:p>
            <a:pPr marL="514350" indent="-514350" eaLnBrk="1" fontAlgn="auto" hangingPunct="1">
              <a:spcAft>
                <a:spcPts val="0"/>
              </a:spcAft>
              <a:buFont typeface="Trebuchet MS" charset="0"/>
              <a:buAutoNum type="arabicPeriod"/>
              <a:defRPr/>
            </a:pPr>
            <a:r>
              <a:rPr lang="en-IE" sz="2400" dirty="0">
                <a:latin typeface="Trebuchet MS" charset="0"/>
              </a:rPr>
              <a:t>Then reduce the size of the array by 1 and work through the array to locate the next largest element.</a:t>
            </a:r>
          </a:p>
          <a:p>
            <a:pPr marL="514350" indent="-514350" eaLnBrk="1" fontAlgn="auto" hangingPunct="1">
              <a:spcAft>
                <a:spcPts val="0"/>
              </a:spcAft>
              <a:buFont typeface="Trebuchet MS" charset="0"/>
              <a:buAutoNum type="arabicPeriod"/>
              <a:defRPr/>
            </a:pPr>
            <a:r>
              <a:rPr lang="en-IE" sz="2400" dirty="0">
                <a:latin typeface="Trebuchet MS" charset="0"/>
              </a:rPr>
              <a:t>Repeat the above steps until the size of your array is 1.</a:t>
            </a:r>
          </a:p>
        </p:txBody>
      </p:sp>
      <p:graphicFrame>
        <p:nvGraphicFramePr>
          <p:cNvPr id="5" name="Table 5">
            <a:extLst>
              <a:ext uri="{FF2B5EF4-FFF2-40B4-BE49-F238E27FC236}">
                <a16:creationId xmlns:a16="http://schemas.microsoft.com/office/drawing/2014/main" id="{C2A0BBFE-EB16-3320-9BBE-23412A27C75E}"/>
              </a:ext>
            </a:extLst>
          </p:cNvPr>
          <p:cNvGraphicFramePr>
            <a:graphicFrameLocks noGrp="1"/>
          </p:cNvGraphicFramePr>
          <p:nvPr/>
        </p:nvGraphicFramePr>
        <p:xfrm>
          <a:off x="7696200" y="476250"/>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FF00"/>
                          </a:solidFill>
                        </a:rPr>
                        <a:t>8</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t>2</a:t>
                      </a:r>
                    </a:p>
                  </a:txBody>
                  <a:tcPr marT="45753" marB="45753"/>
                </a:tc>
                <a:extLst>
                  <a:ext uri="{0D108BD9-81ED-4DB2-BD59-A6C34878D82A}">
                    <a16:rowId xmlns:a16="http://schemas.microsoft.com/office/drawing/2014/main" val="10000"/>
                  </a:ext>
                </a:extLst>
              </a:tr>
            </a:tbl>
          </a:graphicData>
        </a:graphic>
      </p:graphicFrame>
      <p:sp>
        <p:nvSpPr>
          <p:cNvPr id="11" name="Rectangle 10">
            <a:extLst>
              <a:ext uri="{FF2B5EF4-FFF2-40B4-BE49-F238E27FC236}">
                <a16:creationId xmlns:a16="http://schemas.microsoft.com/office/drawing/2014/main" id="{B48CE515-6835-0E85-2E78-3A2FEF2DEF45}"/>
              </a:ext>
            </a:extLst>
          </p:cNvPr>
          <p:cNvSpPr/>
          <p:nvPr/>
        </p:nvSpPr>
        <p:spPr>
          <a:xfrm>
            <a:off x="7758113" y="188913"/>
            <a:ext cx="2471737" cy="244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0       1       2       3       4</a:t>
            </a:r>
          </a:p>
        </p:txBody>
      </p:sp>
      <p:graphicFrame>
        <p:nvGraphicFramePr>
          <p:cNvPr id="12" name="Table 5">
            <a:extLst>
              <a:ext uri="{FF2B5EF4-FFF2-40B4-BE49-F238E27FC236}">
                <a16:creationId xmlns:a16="http://schemas.microsoft.com/office/drawing/2014/main" id="{32F3B647-C678-E448-B0CC-CD75D51C371A}"/>
              </a:ext>
            </a:extLst>
          </p:cNvPr>
          <p:cNvGraphicFramePr>
            <a:graphicFrameLocks noGrp="1"/>
          </p:cNvGraphicFramePr>
          <p:nvPr/>
        </p:nvGraphicFramePr>
        <p:xfrm>
          <a:off x="7712075" y="10874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rgbClr val="FF0000"/>
                          </a:solidFill>
                        </a:rPr>
                        <a:t>2</a:t>
                      </a:r>
                    </a:p>
                  </a:txBody>
                  <a:tcPr marT="45753" marB="45753"/>
                </a:tc>
                <a:tc>
                  <a:txBody>
                    <a:bodyPr/>
                    <a:lstStyle/>
                    <a:p>
                      <a:pPr algn="ctr"/>
                      <a:r>
                        <a:rPr lang="en-IE" sz="2800" dirty="0"/>
                        <a:t>5</a:t>
                      </a:r>
                    </a:p>
                  </a:txBody>
                  <a:tcPr marT="45753" marB="45753"/>
                </a:tc>
                <a:tc>
                  <a:txBody>
                    <a:bodyPr/>
                    <a:lstStyle/>
                    <a:p>
                      <a:pPr algn="ctr"/>
                      <a:r>
                        <a:rPr lang="en-IE" sz="2800" dirty="0"/>
                        <a:t>3</a:t>
                      </a:r>
                    </a:p>
                  </a:txBody>
                  <a:tcPr marT="45753" marB="45753"/>
                </a:tc>
                <a:tc>
                  <a:txBody>
                    <a:bodyPr/>
                    <a:lstStyle/>
                    <a:p>
                      <a:pPr algn="ctr"/>
                      <a:r>
                        <a:rPr lang="en-IE" sz="2800" dirty="0"/>
                        <a:t>4</a:t>
                      </a:r>
                    </a:p>
                  </a:txBody>
                  <a:tcPr marT="45753" marB="45753"/>
                </a:tc>
                <a:tc>
                  <a:txBody>
                    <a:bodyPr/>
                    <a:lstStyle/>
                    <a:p>
                      <a:pPr algn="ctr"/>
                      <a:r>
                        <a:rPr lang="en-IE" sz="2800" dirty="0">
                          <a:solidFill>
                            <a:srgbClr val="FF0000"/>
                          </a:solidFill>
                        </a:rPr>
                        <a:t>8</a:t>
                      </a:r>
                    </a:p>
                  </a:txBody>
                  <a:tcPr marT="45753" marB="45753"/>
                </a:tc>
                <a:extLst>
                  <a:ext uri="{0D108BD9-81ED-4DB2-BD59-A6C34878D82A}">
                    <a16:rowId xmlns:a16="http://schemas.microsoft.com/office/drawing/2014/main" val="10000"/>
                  </a:ext>
                </a:extLst>
              </a:tr>
            </a:tbl>
          </a:graphicData>
        </a:graphic>
      </p:graphicFrame>
      <p:sp>
        <p:nvSpPr>
          <p:cNvPr id="13" name="Rectangle 12">
            <a:extLst>
              <a:ext uri="{FF2B5EF4-FFF2-40B4-BE49-F238E27FC236}">
                <a16:creationId xmlns:a16="http://schemas.microsoft.com/office/drawing/2014/main" id="{ECA14771-3C97-3503-AD2C-916E8D6BDD36}"/>
              </a:ext>
            </a:extLst>
          </p:cNvPr>
          <p:cNvSpPr/>
          <p:nvPr/>
        </p:nvSpPr>
        <p:spPr>
          <a:xfrm>
            <a:off x="6910388" y="1165225"/>
            <a:ext cx="720725" cy="23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graphicFrame>
        <p:nvGraphicFramePr>
          <p:cNvPr id="14" name="Table 5">
            <a:extLst>
              <a:ext uri="{FF2B5EF4-FFF2-40B4-BE49-F238E27FC236}">
                <a16:creationId xmlns:a16="http://schemas.microsoft.com/office/drawing/2014/main" id="{D2E1579B-0118-DCB0-C01B-70D5E29164F6}"/>
              </a:ext>
            </a:extLst>
          </p:cNvPr>
          <p:cNvGraphicFramePr>
            <a:graphicFrameLocks noGrp="1"/>
          </p:cNvGraphicFramePr>
          <p:nvPr/>
        </p:nvGraphicFramePr>
        <p:xfrm>
          <a:off x="7696200" y="206533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5</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6" name="Rectangle 15">
            <a:extLst>
              <a:ext uri="{FF2B5EF4-FFF2-40B4-BE49-F238E27FC236}">
                <a16:creationId xmlns:a16="http://schemas.microsoft.com/office/drawing/2014/main" id="{C5E28C18-F73C-63C5-52FC-ECCBE5A43F02}"/>
              </a:ext>
            </a:extLst>
          </p:cNvPr>
          <p:cNvSpPr/>
          <p:nvPr/>
        </p:nvSpPr>
        <p:spPr>
          <a:xfrm>
            <a:off x="9721850" y="2025650"/>
            <a:ext cx="773113" cy="62388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17" name="Table 5">
            <a:extLst>
              <a:ext uri="{FF2B5EF4-FFF2-40B4-BE49-F238E27FC236}">
                <a16:creationId xmlns:a16="http://schemas.microsoft.com/office/drawing/2014/main" id="{B2A369DA-0E47-1CD1-96DE-433920A213C9}"/>
              </a:ext>
            </a:extLst>
          </p:cNvPr>
          <p:cNvGraphicFramePr>
            <a:graphicFrameLocks noGrp="1"/>
          </p:cNvGraphicFramePr>
          <p:nvPr/>
        </p:nvGraphicFramePr>
        <p:xfrm>
          <a:off x="7720013" y="26781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rgbClr val="FF0000"/>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18" name="Rectangle 17">
            <a:extLst>
              <a:ext uri="{FF2B5EF4-FFF2-40B4-BE49-F238E27FC236}">
                <a16:creationId xmlns:a16="http://schemas.microsoft.com/office/drawing/2014/main" id="{6D69CDA1-46F9-3DCA-62F1-814C895D200A}"/>
              </a:ext>
            </a:extLst>
          </p:cNvPr>
          <p:cNvSpPr/>
          <p:nvPr/>
        </p:nvSpPr>
        <p:spPr>
          <a:xfrm>
            <a:off x="6916738" y="27559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19" name="Rectangle 18">
            <a:extLst>
              <a:ext uri="{FF2B5EF4-FFF2-40B4-BE49-F238E27FC236}">
                <a16:creationId xmlns:a16="http://schemas.microsoft.com/office/drawing/2014/main" id="{05450CD1-E006-4DCB-BE6D-04999492AD34}"/>
              </a:ext>
            </a:extLst>
          </p:cNvPr>
          <p:cNvSpPr/>
          <p:nvPr/>
        </p:nvSpPr>
        <p:spPr>
          <a:xfrm>
            <a:off x="9745663" y="2638425"/>
            <a:ext cx="771525"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0" name="Table 5">
            <a:extLst>
              <a:ext uri="{FF2B5EF4-FFF2-40B4-BE49-F238E27FC236}">
                <a16:creationId xmlns:a16="http://schemas.microsoft.com/office/drawing/2014/main" id="{B5C5EA96-6B9F-FF05-A473-0162457BC497}"/>
              </a:ext>
            </a:extLst>
          </p:cNvPr>
          <p:cNvGraphicFramePr>
            <a:graphicFrameLocks noGrp="1"/>
          </p:cNvGraphicFramePr>
          <p:nvPr/>
        </p:nvGraphicFramePr>
        <p:xfrm>
          <a:off x="7696200" y="3684588"/>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4</a:t>
                      </a:r>
                    </a:p>
                  </a:txBody>
                  <a:tcPr marT="45753" marB="45753"/>
                </a:tc>
                <a:tc>
                  <a:txBody>
                    <a:bodyPr/>
                    <a:lstStyle/>
                    <a:p>
                      <a:pPr algn="ctr"/>
                      <a:r>
                        <a:rPr lang="en-IE" sz="2800" dirty="0"/>
                        <a:t>3</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2" name="Rectangle 21">
            <a:extLst>
              <a:ext uri="{FF2B5EF4-FFF2-40B4-BE49-F238E27FC236}">
                <a16:creationId xmlns:a16="http://schemas.microsoft.com/office/drawing/2014/main" id="{F21002F1-0FFA-4E55-BBB3-74A0478F0BC7}"/>
              </a:ext>
            </a:extLst>
          </p:cNvPr>
          <p:cNvSpPr/>
          <p:nvPr/>
        </p:nvSpPr>
        <p:spPr>
          <a:xfrm>
            <a:off x="9197975" y="3644900"/>
            <a:ext cx="1296988" cy="6223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3" name="Table 5">
            <a:extLst>
              <a:ext uri="{FF2B5EF4-FFF2-40B4-BE49-F238E27FC236}">
                <a16:creationId xmlns:a16="http://schemas.microsoft.com/office/drawing/2014/main" id="{5897FCA7-3C5E-65F9-F9C4-8BFA9F6DC1ED}"/>
              </a:ext>
            </a:extLst>
          </p:cNvPr>
          <p:cNvGraphicFramePr>
            <a:graphicFrameLocks noGrp="1"/>
          </p:cNvGraphicFramePr>
          <p:nvPr/>
        </p:nvGraphicFramePr>
        <p:xfrm>
          <a:off x="7712075" y="43037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0000"/>
                          </a:solidFill>
                        </a:rPr>
                        <a:t>3</a:t>
                      </a:r>
                    </a:p>
                  </a:txBody>
                  <a:tcPr marT="45753" marB="45753"/>
                </a:tc>
                <a:tc>
                  <a:txBody>
                    <a:bodyPr/>
                    <a:lstStyle/>
                    <a:p>
                      <a:pPr algn="ctr"/>
                      <a:r>
                        <a:rPr lang="en-IE" sz="2800" dirty="0">
                          <a:solidFill>
                            <a:srgbClr val="FF0000"/>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4" name="Rectangle 23">
            <a:extLst>
              <a:ext uri="{FF2B5EF4-FFF2-40B4-BE49-F238E27FC236}">
                <a16:creationId xmlns:a16="http://schemas.microsoft.com/office/drawing/2014/main" id="{8B60C2D8-4E24-47BF-5B96-E5759FE410F9}"/>
              </a:ext>
            </a:extLst>
          </p:cNvPr>
          <p:cNvSpPr/>
          <p:nvPr/>
        </p:nvSpPr>
        <p:spPr>
          <a:xfrm>
            <a:off x="6910388" y="4381500"/>
            <a:ext cx="720725" cy="238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swap</a:t>
            </a:r>
          </a:p>
        </p:txBody>
      </p:sp>
      <p:sp>
        <p:nvSpPr>
          <p:cNvPr id="25" name="Rectangle 24">
            <a:extLst>
              <a:ext uri="{FF2B5EF4-FFF2-40B4-BE49-F238E27FC236}">
                <a16:creationId xmlns:a16="http://schemas.microsoft.com/office/drawing/2014/main" id="{73EA1605-A971-96A2-CC23-79DD35C6BD04}"/>
              </a:ext>
            </a:extLst>
          </p:cNvPr>
          <p:cNvSpPr/>
          <p:nvPr/>
        </p:nvSpPr>
        <p:spPr>
          <a:xfrm>
            <a:off x="9183688" y="4244975"/>
            <a:ext cx="1296987" cy="72072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6" name="Table 5">
            <a:extLst>
              <a:ext uri="{FF2B5EF4-FFF2-40B4-BE49-F238E27FC236}">
                <a16:creationId xmlns:a16="http://schemas.microsoft.com/office/drawing/2014/main" id="{1FA2D851-0FAC-CA19-09D8-B4B981B3EF93}"/>
              </a:ext>
            </a:extLst>
          </p:cNvPr>
          <p:cNvGraphicFramePr>
            <a:graphicFrameLocks noGrp="1"/>
          </p:cNvGraphicFramePr>
          <p:nvPr/>
        </p:nvGraphicFramePr>
        <p:xfrm>
          <a:off x="7718425" y="5229225"/>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rgbClr val="FFFF00"/>
                          </a:solidFill>
                        </a:rPr>
                        <a:t>3</a:t>
                      </a:r>
                    </a:p>
                  </a:txBody>
                  <a:tcPr marT="45753" marB="45753"/>
                </a:tc>
                <a:tc>
                  <a:txBody>
                    <a:bodyPr/>
                    <a:lstStyle/>
                    <a:p>
                      <a:pPr algn="ctr"/>
                      <a:r>
                        <a:rPr lang="en-IE" sz="2800" dirty="0"/>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7" name="Rectangle 26">
            <a:extLst>
              <a:ext uri="{FF2B5EF4-FFF2-40B4-BE49-F238E27FC236}">
                <a16:creationId xmlns:a16="http://schemas.microsoft.com/office/drawing/2014/main" id="{F592EA04-77ED-A834-C03C-957974A03434}"/>
              </a:ext>
            </a:extLst>
          </p:cNvPr>
          <p:cNvSpPr/>
          <p:nvPr/>
        </p:nvSpPr>
        <p:spPr>
          <a:xfrm>
            <a:off x="8759825" y="5146675"/>
            <a:ext cx="1757363" cy="719138"/>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graphicFrame>
        <p:nvGraphicFramePr>
          <p:cNvPr id="28" name="Table 5">
            <a:extLst>
              <a:ext uri="{FF2B5EF4-FFF2-40B4-BE49-F238E27FC236}">
                <a16:creationId xmlns:a16="http://schemas.microsoft.com/office/drawing/2014/main" id="{D932BF94-4288-DC56-1AE5-3B36BE5E6A68}"/>
              </a:ext>
            </a:extLst>
          </p:cNvPr>
          <p:cNvGraphicFramePr>
            <a:graphicFrameLocks noGrp="1"/>
          </p:cNvGraphicFramePr>
          <p:nvPr/>
        </p:nvGraphicFramePr>
        <p:xfrm>
          <a:off x="7712075" y="6170613"/>
          <a:ext cx="2540000" cy="5715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tblGrid>
              <a:tr h="571500">
                <a:tc>
                  <a:txBody>
                    <a:bodyPr/>
                    <a:lstStyle/>
                    <a:p>
                      <a:pPr algn="ctr"/>
                      <a:r>
                        <a:rPr lang="en-IE" sz="2800" dirty="0">
                          <a:solidFill>
                            <a:schemeClr val="bg1"/>
                          </a:solidFill>
                        </a:rPr>
                        <a:t>2</a:t>
                      </a:r>
                    </a:p>
                  </a:txBody>
                  <a:tcPr marT="45753" marB="45753"/>
                </a:tc>
                <a:tc>
                  <a:txBody>
                    <a:bodyPr/>
                    <a:lstStyle/>
                    <a:p>
                      <a:pPr algn="ctr"/>
                      <a:r>
                        <a:rPr lang="en-IE" sz="2800" dirty="0">
                          <a:solidFill>
                            <a:schemeClr val="bg1"/>
                          </a:solidFill>
                        </a:rPr>
                        <a:t>3</a:t>
                      </a:r>
                    </a:p>
                  </a:txBody>
                  <a:tcPr marT="45753" marB="45753"/>
                </a:tc>
                <a:tc>
                  <a:txBody>
                    <a:bodyPr/>
                    <a:lstStyle/>
                    <a:p>
                      <a:pPr algn="ctr"/>
                      <a:r>
                        <a:rPr lang="en-IE" sz="2800" dirty="0">
                          <a:solidFill>
                            <a:schemeClr val="bg1"/>
                          </a:solidFill>
                        </a:rPr>
                        <a:t>4</a:t>
                      </a:r>
                    </a:p>
                  </a:txBody>
                  <a:tcPr marT="45753" marB="45753"/>
                </a:tc>
                <a:tc>
                  <a:txBody>
                    <a:bodyPr/>
                    <a:lstStyle/>
                    <a:p>
                      <a:pPr algn="ctr"/>
                      <a:r>
                        <a:rPr lang="en-IE" sz="2800" dirty="0">
                          <a:solidFill>
                            <a:schemeClr val="bg1"/>
                          </a:solidFill>
                        </a:rPr>
                        <a:t>5</a:t>
                      </a:r>
                    </a:p>
                  </a:txBody>
                  <a:tcPr marT="45753" marB="45753"/>
                </a:tc>
                <a:tc>
                  <a:txBody>
                    <a:bodyPr/>
                    <a:lstStyle/>
                    <a:p>
                      <a:pPr algn="ctr"/>
                      <a:r>
                        <a:rPr lang="en-IE" sz="2800" dirty="0">
                          <a:solidFill>
                            <a:schemeClr val="bg1"/>
                          </a:solidFill>
                        </a:rPr>
                        <a:t>8</a:t>
                      </a:r>
                    </a:p>
                  </a:txBody>
                  <a:tcPr marT="45753" marB="45753"/>
                </a:tc>
                <a:extLst>
                  <a:ext uri="{0D108BD9-81ED-4DB2-BD59-A6C34878D82A}">
                    <a16:rowId xmlns:a16="http://schemas.microsoft.com/office/drawing/2014/main" val="10000"/>
                  </a:ext>
                </a:extLst>
              </a:tr>
            </a:tbl>
          </a:graphicData>
        </a:graphic>
      </p:graphicFrame>
      <p:sp>
        <p:nvSpPr>
          <p:cNvPr id="29" name="Rectangle 28">
            <a:extLst>
              <a:ext uri="{FF2B5EF4-FFF2-40B4-BE49-F238E27FC236}">
                <a16:creationId xmlns:a16="http://schemas.microsoft.com/office/drawing/2014/main" id="{C59D9BAD-301B-92E7-7719-BA6426E9F3BB}"/>
              </a:ext>
            </a:extLst>
          </p:cNvPr>
          <p:cNvSpPr/>
          <p:nvPr/>
        </p:nvSpPr>
        <p:spPr>
          <a:xfrm>
            <a:off x="6600825" y="5326063"/>
            <a:ext cx="1062038" cy="233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No swap</a:t>
            </a:r>
          </a:p>
        </p:txBody>
      </p:sp>
      <p:sp>
        <p:nvSpPr>
          <p:cNvPr id="30" name="Rectangle 29">
            <a:extLst>
              <a:ext uri="{FF2B5EF4-FFF2-40B4-BE49-F238E27FC236}">
                <a16:creationId xmlns:a16="http://schemas.microsoft.com/office/drawing/2014/main" id="{A59186D8-87E8-99D3-E4BF-37A629B3AE09}"/>
              </a:ext>
            </a:extLst>
          </p:cNvPr>
          <p:cNvSpPr/>
          <p:nvPr/>
        </p:nvSpPr>
        <p:spPr>
          <a:xfrm>
            <a:off x="8191500" y="6130925"/>
            <a:ext cx="2319338" cy="569913"/>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E" dirty="0">
              <a:solidFill>
                <a:schemeClr val="bg1"/>
              </a:solidFill>
            </a:endParaRPr>
          </a:p>
        </p:txBody>
      </p:sp>
      <p:sp>
        <p:nvSpPr>
          <p:cNvPr id="31" name="Rectangle 30">
            <a:extLst>
              <a:ext uri="{FF2B5EF4-FFF2-40B4-BE49-F238E27FC236}">
                <a16:creationId xmlns:a16="http://schemas.microsoft.com/office/drawing/2014/main" id="{5D2C58E7-6258-9B67-5188-B2F1CBAAD973}"/>
              </a:ext>
            </a:extLst>
          </p:cNvPr>
          <p:cNvSpPr/>
          <p:nvPr/>
        </p:nvSpPr>
        <p:spPr>
          <a:xfrm>
            <a:off x="6600825" y="6311900"/>
            <a:ext cx="1062038" cy="234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i="1" dirty="0">
                <a:solidFill>
                  <a:srgbClr val="FF0000"/>
                </a:solidFill>
              </a:rPr>
              <a:t>Array is 1</a:t>
            </a:r>
          </a:p>
        </p:txBody>
      </p:sp>
      <p:sp>
        <p:nvSpPr>
          <p:cNvPr id="32" name="Title 1">
            <a:extLst>
              <a:ext uri="{FF2B5EF4-FFF2-40B4-BE49-F238E27FC236}">
                <a16:creationId xmlns:a16="http://schemas.microsoft.com/office/drawing/2014/main" id="{2D337E8D-31A6-81AE-A6FB-2A8FC68110CE}"/>
              </a:ext>
            </a:extLst>
          </p:cNvPr>
          <p:cNvSpPr txBox="1">
            <a:spLocks/>
          </p:cNvSpPr>
          <p:nvPr/>
        </p:nvSpPr>
        <p:spPr bwMode="auto">
          <a:xfrm>
            <a:off x="334963" y="247650"/>
            <a:ext cx="6265862" cy="1165225"/>
          </a:xfrm>
          <a:prstGeom prst="rect">
            <a:avLst/>
          </a:prstGeom>
          <a:noFill/>
          <a:ln>
            <a:noFill/>
          </a:ln>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fontAlgn="auto" hangingPunct="1">
              <a:spcAft>
                <a:spcPts val="0"/>
              </a:spcAft>
              <a:defRPr/>
            </a:pPr>
            <a:r>
              <a:rPr lang="en-IE">
                <a:solidFill>
                  <a:schemeClr val="tx1">
                    <a:lumMod val="65000"/>
                    <a:lumOff val="35000"/>
                  </a:schemeClr>
                </a:solidFill>
              </a:rPr>
              <a:t>Selection Sort Algorithm</a:t>
            </a:r>
            <a:endParaRPr lang="en-IE" dirty="0">
              <a:solidFill>
                <a:schemeClr val="tx1">
                  <a:lumMod val="65000"/>
                  <a:lumOff val="35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7EB3F-986F-E4CA-E247-4C67ED340E8A}"/>
              </a:ext>
            </a:extLst>
          </p:cNvPr>
          <p:cNvSpPr>
            <a:spLocks noGrp="1"/>
          </p:cNvSpPr>
          <p:nvPr>
            <p:ph type="title"/>
          </p:nvPr>
        </p:nvSpPr>
        <p:spPr/>
        <p:txBody>
          <a:bodyPr/>
          <a:lstStyle/>
          <a:p>
            <a:pPr eaLnBrk="1" hangingPunct="1">
              <a:defRPr/>
            </a:pPr>
            <a:r>
              <a:rPr lang="en-IE" dirty="0"/>
              <a:t>ShopV8.0 – Selection Sort</a:t>
            </a:r>
          </a:p>
        </p:txBody>
      </p:sp>
      <p:pic>
        <p:nvPicPr>
          <p:cNvPr id="57346" name="Picture 4">
            <a:extLst>
              <a:ext uri="{FF2B5EF4-FFF2-40B4-BE49-F238E27FC236}">
                <a16:creationId xmlns:a16="http://schemas.microsoft.com/office/drawing/2014/main" id="{A9913073-8F3A-E180-AF51-3D599D79C6FC}"/>
              </a:ext>
            </a:extLst>
          </p:cNvPr>
          <p:cNvPicPr>
            <a:picLocks noChangeAspect="1" noChangeArrowheads="1"/>
          </p:cNvPicPr>
          <p:nvPr/>
        </p:nvPicPr>
        <p:blipFill>
          <a:blip r:embed="rId2"/>
          <a:srcRect/>
          <a:stretch>
            <a:fillRect/>
          </a:stretch>
        </p:blipFill>
        <p:spPr bwMode="auto">
          <a:xfrm>
            <a:off x="2424113" y="2089150"/>
            <a:ext cx="7092950" cy="2679700"/>
          </a:xfrm>
          <a:prstGeom prst="rect">
            <a:avLst/>
          </a:prstGeom>
          <a:noFill/>
          <a:ln>
            <a:noFill/>
          </a:ln>
          <a:effectLst>
            <a:outerShdw blurRad="292100" dist="139700" dir="2700000" algn="tl" rotWithShape="0">
              <a:srgbClr val="333333">
                <a:alpha val="64999"/>
              </a:srgbClr>
            </a:outerShdw>
          </a:effectLst>
        </p:spPr>
      </p:pic>
      <p:sp>
        <p:nvSpPr>
          <p:cNvPr id="6" name="Rectangle: Rounded Corners 5">
            <a:extLst>
              <a:ext uri="{FF2B5EF4-FFF2-40B4-BE49-F238E27FC236}">
                <a16:creationId xmlns:a16="http://schemas.microsoft.com/office/drawing/2014/main" id="{E81DF4E8-D388-3C75-C908-0857B54910A2}"/>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physically sort the </a:t>
            </a:r>
            <a:r>
              <a:rPr lang="en-IE" sz="2400" b="1" dirty="0"/>
              <a:t>products</a:t>
            </a:r>
            <a:r>
              <a:rPr lang="en-IE" sz="2400" dirty="0"/>
              <a:t> </a:t>
            </a:r>
            <a:r>
              <a:rPr lang="en-IE" sz="2400" dirty="0" err="1"/>
              <a:t>ArrayList</a:t>
            </a:r>
            <a:r>
              <a:rPr lang="en-IE" sz="2400" dirty="0"/>
              <a:t> by product name ascending. This will involve swapping in and out items in the </a:t>
            </a:r>
            <a:r>
              <a:rPr lang="en-IE" sz="2400" dirty="0" err="1"/>
              <a:t>ArrayList</a:t>
            </a:r>
            <a:r>
              <a:rPr lang="en-IE" sz="2400" dirty="0"/>
              <a:t> until we have a fully sorted collection.</a:t>
            </a:r>
          </a:p>
        </p:txBody>
      </p:sp>
      <p:sp>
        <p:nvSpPr>
          <p:cNvPr id="5" name="Rectangle 4">
            <a:extLst>
              <a:ext uri="{FF2B5EF4-FFF2-40B4-BE49-F238E27FC236}">
                <a16:creationId xmlns:a16="http://schemas.microsoft.com/office/drawing/2014/main" id="{5347FAEF-A2BA-4F69-CDCD-343E58C55E4C}"/>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79D06-2562-D86D-F5A0-5CC77B6F231F}"/>
              </a:ext>
            </a:extLst>
          </p:cNvPr>
          <p:cNvSpPr>
            <a:spLocks noGrp="1"/>
          </p:cNvSpPr>
          <p:nvPr>
            <p:ph type="title"/>
          </p:nvPr>
        </p:nvSpPr>
        <p:spPr/>
        <p:txBody>
          <a:bodyPr/>
          <a:lstStyle/>
          <a:p>
            <a:pPr eaLnBrk="1" hangingPunct="1">
              <a:defRPr/>
            </a:pPr>
            <a:r>
              <a:rPr lang="en-IE" dirty="0"/>
              <a:t>ShopV8.0 – Selection Sort</a:t>
            </a:r>
          </a:p>
        </p:txBody>
      </p:sp>
      <p:sp>
        <p:nvSpPr>
          <p:cNvPr id="6" name="Rectangle: Rounded Corners 5">
            <a:extLst>
              <a:ext uri="{FF2B5EF4-FFF2-40B4-BE49-F238E27FC236}">
                <a16:creationId xmlns:a16="http://schemas.microsoft.com/office/drawing/2014/main" id="{AD1116E7-C8C6-5712-F21B-BC35FAEDA7AF}"/>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physically sort the </a:t>
            </a:r>
            <a:r>
              <a:rPr lang="en-IE" sz="2400" b="1" dirty="0"/>
              <a:t>products</a:t>
            </a:r>
            <a:r>
              <a:rPr lang="en-IE" sz="2400" dirty="0"/>
              <a:t> </a:t>
            </a:r>
            <a:r>
              <a:rPr lang="en-IE" sz="2400" dirty="0" err="1"/>
              <a:t>ArrayList</a:t>
            </a:r>
            <a:r>
              <a:rPr lang="en-IE" sz="2400" dirty="0"/>
              <a:t> by product name ascending. This will involve swapping in and out items in the </a:t>
            </a:r>
            <a:r>
              <a:rPr lang="en-IE" sz="2400" dirty="0" err="1"/>
              <a:t>ArrayList</a:t>
            </a:r>
            <a:r>
              <a:rPr lang="en-IE" sz="2400" dirty="0"/>
              <a:t> until we have a fully sorted collection.</a:t>
            </a:r>
          </a:p>
        </p:txBody>
      </p:sp>
      <p:sp>
        <p:nvSpPr>
          <p:cNvPr id="56324" name="Rectangle 1">
            <a:extLst>
              <a:ext uri="{FF2B5EF4-FFF2-40B4-BE49-F238E27FC236}">
                <a16:creationId xmlns:a16="http://schemas.microsoft.com/office/drawing/2014/main" id="{4776DA7C-8D76-1F76-7EBD-EDF67ECF6919}"/>
              </a:ext>
            </a:extLst>
          </p:cNvPr>
          <p:cNvSpPr>
            <a:spLocks noChangeArrowheads="1"/>
          </p:cNvSpPr>
          <p:nvPr/>
        </p:nvSpPr>
        <p:spPr bwMode="auto">
          <a:xfrm>
            <a:off x="1325563" y="1682750"/>
            <a:ext cx="9540875" cy="369411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0080"/>
                </a:solidFill>
                <a:latin typeface="Courier New" panose="02070309020205020404" pitchFamily="49" charset="0"/>
                <a:cs typeface="Courier New" panose="02070309020205020404" pitchFamily="49" charset="0"/>
              </a:rPr>
              <a:t>public void </a:t>
            </a:r>
            <a:r>
              <a:rPr lang="en-US" altLang="en-US" sz="1800">
                <a:solidFill>
                  <a:srgbClr val="000000"/>
                </a:solidFill>
                <a:latin typeface="Courier New" panose="02070309020205020404" pitchFamily="49" charset="0"/>
                <a:cs typeface="Courier New" panose="02070309020205020404" pitchFamily="49" charset="0"/>
              </a:rPr>
              <a:t>sortProductsByNameAscending(){</a:t>
            </a:r>
          </a:p>
          <a:p>
            <a:pPr>
              <a:spcBef>
                <a:spcPct val="0"/>
              </a:spcBef>
              <a:buFontTx/>
              <a:buNone/>
            </a:pP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r>
              <a:rPr lang="en-US" altLang="en-US" sz="1800" b="1">
                <a:solidFill>
                  <a:srgbClr val="000080"/>
                </a:solidFill>
                <a:latin typeface="Courier New" panose="02070309020205020404" pitchFamily="49" charset="0"/>
                <a:cs typeface="Courier New" panose="02070309020205020404" pitchFamily="49" charset="0"/>
              </a:rPr>
              <a:t>for </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b="1">
                <a:solidFill>
                  <a:srgbClr val="000080"/>
                </a:solidFill>
                <a:latin typeface="Courier New" panose="02070309020205020404" pitchFamily="49" charset="0"/>
                <a:cs typeface="Courier New" panose="02070309020205020404" pitchFamily="49" charset="0"/>
              </a:rPr>
              <a:t>int </a:t>
            </a:r>
            <a:r>
              <a:rPr lang="en-US" altLang="en-US" sz="1800">
                <a:solidFill>
                  <a:srgbClr val="000000"/>
                </a:solidFill>
                <a:latin typeface="Courier New" panose="02070309020205020404" pitchFamily="49" charset="0"/>
                <a:cs typeface="Courier New" panose="02070309020205020404" pitchFamily="49" charset="0"/>
              </a:rPr>
              <a:t>i = </a:t>
            </a:r>
            <a:r>
              <a:rPr lang="en-US" altLang="en-US" sz="1800" b="1">
                <a:solidFill>
                  <a:srgbClr val="660E7A"/>
                </a:solidFill>
                <a:latin typeface="Courier New" panose="02070309020205020404" pitchFamily="49" charset="0"/>
                <a:cs typeface="Courier New" panose="02070309020205020404" pitchFamily="49" charset="0"/>
              </a:rPr>
              <a:t>products</a:t>
            </a:r>
            <a:r>
              <a:rPr lang="en-US" altLang="en-US" sz="1800">
                <a:solidFill>
                  <a:srgbClr val="000000"/>
                </a:solidFill>
                <a:latin typeface="Courier New" panose="02070309020205020404" pitchFamily="49" charset="0"/>
                <a:cs typeface="Courier New" panose="02070309020205020404" pitchFamily="49" charset="0"/>
              </a:rPr>
              <a:t>.size() -</a:t>
            </a:r>
            <a:r>
              <a:rPr lang="en-US" altLang="en-US" sz="1800">
                <a:solidFill>
                  <a:srgbClr val="0000FF"/>
                </a:solidFill>
                <a:latin typeface="Courier New" panose="02070309020205020404" pitchFamily="49" charset="0"/>
                <a:cs typeface="Courier New" panose="02070309020205020404" pitchFamily="49" charset="0"/>
              </a:rPr>
              <a:t>1</a:t>
            </a:r>
            <a:r>
              <a:rPr lang="en-US" altLang="en-US" sz="1800">
                <a:solidFill>
                  <a:srgbClr val="000000"/>
                </a:solidFill>
                <a:latin typeface="Courier New" panose="02070309020205020404" pitchFamily="49" charset="0"/>
                <a:cs typeface="Courier New" panose="02070309020205020404" pitchFamily="49" charset="0"/>
              </a:rPr>
              <a:t>; i &gt;= </a:t>
            </a:r>
            <a:r>
              <a:rPr lang="en-US" altLang="en-US" sz="1800">
                <a:solidFill>
                  <a:srgbClr val="0000FF"/>
                </a:solidFill>
                <a:latin typeface="Courier New" panose="02070309020205020404" pitchFamily="49" charset="0"/>
                <a:cs typeface="Courier New" panose="02070309020205020404" pitchFamily="49" charset="0"/>
              </a:rPr>
              <a:t>0</a:t>
            </a:r>
            <a:r>
              <a:rPr lang="en-US" altLang="en-US" sz="1800">
                <a:solidFill>
                  <a:srgbClr val="000000"/>
                </a:solidFill>
                <a:latin typeface="Courier New" panose="02070309020205020404" pitchFamily="49" charset="0"/>
                <a:cs typeface="Courier New" panose="02070309020205020404" pitchFamily="49" charset="0"/>
              </a:rPr>
              <a:t>; i--) {</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r>
              <a:rPr lang="en-US" altLang="en-US" sz="1800" b="1">
                <a:solidFill>
                  <a:srgbClr val="000080"/>
                </a:solidFill>
                <a:latin typeface="Courier New" panose="02070309020205020404" pitchFamily="49" charset="0"/>
                <a:cs typeface="Courier New" panose="02070309020205020404" pitchFamily="49" charset="0"/>
              </a:rPr>
              <a:t>int </a:t>
            </a:r>
            <a:r>
              <a:rPr lang="en-US" altLang="en-US" sz="1800">
                <a:solidFill>
                  <a:srgbClr val="000000"/>
                </a:solidFill>
                <a:latin typeface="Courier New" panose="02070309020205020404" pitchFamily="49" charset="0"/>
                <a:cs typeface="Courier New" panose="02070309020205020404" pitchFamily="49" charset="0"/>
              </a:rPr>
              <a:t>highestIndex = </a:t>
            </a:r>
            <a:r>
              <a:rPr lang="en-US" altLang="en-US" sz="1800">
                <a:solidFill>
                  <a:srgbClr val="0000FF"/>
                </a:solidFill>
                <a:latin typeface="Courier New" panose="02070309020205020404" pitchFamily="49" charset="0"/>
                <a:cs typeface="Courier New" panose="02070309020205020404" pitchFamily="49" charset="0"/>
              </a:rPr>
              <a:t>0</a:t>
            </a:r>
            <a:r>
              <a:rPr lang="en-US" altLang="en-US" sz="1800">
                <a:solidFill>
                  <a:srgbClr val="000000"/>
                </a:solidFill>
                <a:latin typeface="Courier New" panose="02070309020205020404" pitchFamily="49" charset="0"/>
                <a:cs typeface="Courier New" panose="02070309020205020404" pitchFamily="49" charset="0"/>
              </a:rPr>
              <a:t>;</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r>
              <a:rPr lang="en-US" altLang="en-US" sz="1800" b="1">
                <a:solidFill>
                  <a:srgbClr val="000080"/>
                </a:solidFill>
                <a:latin typeface="Courier New" panose="02070309020205020404" pitchFamily="49" charset="0"/>
                <a:cs typeface="Courier New" panose="02070309020205020404" pitchFamily="49" charset="0"/>
              </a:rPr>
              <a:t>for </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b="1">
                <a:solidFill>
                  <a:srgbClr val="000080"/>
                </a:solidFill>
                <a:latin typeface="Courier New" panose="02070309020205020404" pitchFamily="49" charset="0"/>
                <a:cs typeface="Courier New" panose="02070309020205020404" pitchFamily="49" charset="0"/>
              </a:rPr>
              <a:t>int </a:t>
            </a:r>
            <a:r>
              <a:rPr lang="en-US" altLang="en-US" sz="1800">
                <a:solidFill>
                  <a:srgbClr val="000000"/>
                </a:solidFill>
                <a:latin typeface="Courier New" panose="02070309020205020404" pitchFamily="49" charset="0"/>
                <a:cs typeface="Courier New" panose="02070309020205020404" pitchFamily="49" charset="0"/>
              </a:rPr>
              <a:t>j = </a:t>
            </a:r>
            <a:r>
              <a:rPr lang="en-US" altLang="en-US" sz="1800">
                <a:solidFill>
                  <a:srgbClr val="0000FF"/>
                </a:solidFill>
                <a:latin typeface="Courier New" panose="02070309020205020404" pitchFamily="49" charset="0"/>
                <a:cs typeface="Courier New" panose="02070309020205020404" pitchFamily="49" charset="0"/>
              </a:rPr>
              <a:t>0</a:t>
            </a:r>
            <a:r>
              <a:rPr lang="en-US" altLang="en-US" sz="1800">
                <a:solidFill>
                  <a:srgbClr val="000000"/>
                </a:solidFill>
                <a:latin typeface="Courier New" panose="02070309020205020404" pitchFamily="49" charset="0"/>
                <a:cs typeface="Courier New" panose="02070309020205020404" pitchFamily="49" charset="0"/>
              </a:rPr>
              <a:t>; j &lt;= i; j++) {</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r>
              <a:rPr lang="en-US" altLang="en-US" sz="1800" b="1">
                <a:solidFill>
                  <a:srgbClr val="000080"/>
                </a:solidFill>
                <a:latin typeface="Courier New" panose="02070309020205020404" pitchFamily="49" charset="0"/>
                <a:cs typeface="Courier New" panose="02070309020205020404" pitchFamily="49" charset="0"/>
              </a:rPr>
              <a:t>if </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b="1">
                <a:solidFill>
                  <a:srgbClr val="660E7A"/>
                </a:solidFill>
                <a:latin typeface="Courier New" panose="02070309020205020404" pitchFamily="49" charset="0"/>
                <a:cs typeface="Courier New" panose="02070309020205020404" pitchFamily="49" charset="0"/>
              </a:rPr>
              <a:t>products</a:t>
            </a:r>
            <a:r>
              <a:rPr lang="en-US" altLang="en-US" sz="1800">
                <a:solidFill>
                  <a:srgbClr val="000000"/>
                </a:solidFill>
                <a:latin typeface="Courier New" panose="02070309020205020404" pitchFamily="49" charset="0"/>
                <a:cs typeface="Courier New" panose="02070309020205020404" pitchFamily="49" charset="0"/>
              </a:rPr>
              <a:t>.get(j).getProductName().compareTo(</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r>
              <a:rPr lang="en-US" altLang="en-US" sz="1800" b="1">
                <a:solidFill>
                  <a:srgbClr val="660E7A"/>
                </a:solidFill>
                <a:latin typeface="Courier New" panose="02070309020205020404" pitchFamily="49" charset="0"/>
                <a:cs typeface="Courier New" panose="02070309020205020404" pitchFamily="49" charset="0"/>
              </a:rPr>
              <a:t>products</a:t>
            </a:r>
            <a:r>
              <a:rPr lang="en-US" altLang="en-US" sz="1800">
                <a:solidFill>
                  <a:srgbClr val="000000"/>
                </a:solidFill>
                <a:latin typeface="Courier New" panose="02070309020205020404" pitchFamily="49" charset="0"/>
                <a:cs typeface="Courier New" panose="02070309020205020404" pitchFamily="49" charset="0"/>
              </a:rPr>
              <a:t>.get(highestIndex).getProductName()) &gt; </a:t>
            </a:r>
            <a:r>
              <a:rPr lang="en-US" altLang="en-US" sz="1800">
                <a:solidFill>
                  <a:srgbClr val="0000FF"/>
                </a:solidFill>
                <a:latin typeface="Courier New" panose="02070309020205020404" pitchFamily="49" charset="0"/>
                <a:cs typeface="Courier New" panose="02070309020205020404" pitchFamily="49" charset="0"/>
              </a:rPr>
              <a:t>0</a:t>
            </a:r>
            <a:r>
              <a:rPr lang="en-US" altLang="en-US" sz="1800">
                <a:solidFill>
                  <a:srgbClr val="000000"/>
                </a:solidFill>
                <a:latin typeface="Courier New" panose="02070309020205020404" pitchFamily="49" charset="0"/>
                <a:cs typeface="Courier New" panose="02070309020205020404" pitchFamily="49" charset="0"/>
              </a:rPr>
              <a:t>) {</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highestIndex = j;</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swapProducts(</a:t>
            </a:r>
            <a:r>
              <a:rPr lang="en-US" altLang="en-US" sz="1800" b="1">
                <a:solidFill>
                  <a:srgbClr val="660E7A"/>
                </a:solidFill>
                <a:latin typeface="Courier New" panose="02070309020205020404" pitchFamily="49" charset="0"/>
                <a:cs typeface="Courier New" panose="02070309020205020404" pitchFamily="49" charset="0"/>
              </a:rPr>
              <a:t>products</a:t>
            </a:r>
            <a:r>
              <a:rPr lang="en-US" altLang="en-US" sz="1800">
                <a:solidFill>
                  <a:srgbClr val="000000"/>
                </a:solidFill>
                <a:latin typeface="Courier New" panose="02070309020205020404" pitchFamily="49" charset="0"/>
                <a:cs typeface="Courier New" panose="02070309020205020404" pitchFamily="49" charset="0"/>
              </a:rPr>
              <a:t>, i, highestIndex);</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a:t>
            </a:r>
            <a:endParaRPr lang="en-US" altLang="en-US" sz="6000"/>
          </a:p>
        </p:txBody>
      </p:sp>
      <p:sp>
        <p:nvSpPr>
          <p:cNvPr id="7" name="Rectangle 6">
            <a:extLst>
              <a:ext uri="{FF2B5EF4-FFF2-40B4-BE49-F238E27FC236}">
                <a16:creationId xmlns:a16="http://schemas.microsoft.com/office/drawing/2014/main" id="{7E66A612-3E47-A834-D89F-2D8A083B5BD3}"/>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C8BB6-7B3F-EBD8-DA74-53C0DDC225C5}"/>
              </a:ext>
            </a:extLst>
          </p:cNvPr>
          <p:cNvSpPr/>
          <p:nvPr/>
        </p:nvSpPr>
        <p:spPr>
          <a:xfrm>
            <a:off x="9012238" y="21113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Store.java</a:t>
            </a:r>
          </a:p>
        </p:txBody>
      </p:sp>
      <p:sp>
        <p:nvSpPr>
          <p:cNvPr id="5" name="Rectangle: Rounded Corners 4">
            <a:extLst>
              <a:ext uri="{FF2B5EF4-FFF2-40B4-BE49-F238E27FC236}">
                <a16:creationId xmlns:a16="http://schemas.microsoft.com/office/drawing/2014/main" id="{76DF4770-4506-A8D7-1059-4890DDC522AD}"/>
              </a:ext>
            </a:extLst>
          </p:cNvPr>
          <p:cNvSpPr/>
          <p:nvPr/>
        </p:nvSpPr>
        <p:spPr>
          <a:xfrm>
            <a:off x="1666875" y="5589588"/>
            <a:ext cx="8858250" cy="120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sz="2400" dirty="0">
                <a:solidFill>
                  <a:srgbClr val="FFFF00"/>
                </a:solidFill>
              </a:rPr>
              <a:t>Problem: </a:t>
            </a:r>
            <a:r>
              <a:rPr lang="en-IE" sz="2400" dirty="0"/>
              <a:t>We want to physically sort the </a:t>
            </a:r>
            <a:r>
              <a:rPr lang="en-IE" sz="2400" b="1" dirty="0"/>
              <a:t>products</a:t>
            </a:r>
            <a:r>
              <a:rPr lang="en-IE" sz="2400" dirty="0"/>
              <a:t> </a:t>
            </a:r>
            <a:r>
              <a:rPr lang="en-IE" sz="2400" dirty="0" err="1"/>
              <a:t>ArrayList</a:t>
            </a:r>
            <a:r>
              <a:rPr lang="en-IE" sz="2400" dirty="0"/>
              <a:t> by product name ascending. This will involve swapping in and out items in the </a:t>
            </a:r>
            <a:r>
              <a:rPr lang="en-IE" sz="2400" dirty="0" err="1"/>
              <a:t>ArrayList</a:t>
            </a:r>
            <a:r>
              <a:rPr lang="en-IE" sz="2400" dirty="0"/>
              <a:t> until we have a fully sorted collection.</a:t>
            </a:r>
          </a:p>
        </p:txBody>
      </p:sp>
      <p:sp>
        <p:nvSpPr>
          <p:cNvPr id="57348" name="Rectangle 1">
            <a:extLst>
              <a:ext uri="{FF2B5EF4-FFF2-40B4-BE49-F238E27FC236}">
                <a16:creationId xmlns:a16="http://schemas.microsoft.com/office/drawing/2014/main" id="{BAE92A3A-97A9-8DA3-7ACE-C68387886825}"/>
              </a:ext>
            </a:extLst>
          </p:cNvPr>
          <p:cNvSpPr>
            <a:spLocks noChangeArrowheads="1"/>
          </p:cNvSpPr>
          <p:nvPr/>
        </p:nvSpPr>
        <p:spPr bwMode="auto">
          <a:xfrm>
            <a:off x="479425" y="1700213"/>
            <a:ext cx="11488738" cy="230822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br>
              <a:rPr lang="en-US" altLang="en-US" sz="1800">
                <a:solidFill>
                  <a:srgbClr val="000000"/>
                </a:solidFill>
                <a:latin typeface="Courier New" panose="02070309020205020404" pitchFamily="49" charset="0"/>
                <a:cs typeface="Courier New" panose="02070309020205020404" pitchFamily="49" charset="0"/>
              </a:rPr>
            </a:br>
            <a:r>
              <a:rPr lang="en-US" altLang="en-US" sz="1800" b="1">
                <a:solidFill>
                  <a:srgbClr val="000080"/>
                </a:solidFill>
                <a:latin typeface="Courier New" panose="02070309020205020404" pitchFamily="49" charset="0"/>
                <a:cs typeface="Courier New" panose="02070309020205020404" pitchFamily="49" charset="0"/>
              </a:rPr>
              <a:t>private void </a:t>
            </a:r>
            <a:r>
              <a:rPr lang="en-US" altLang="en-US" sz="1800">
                <a:solidFill>
                  <a:srgbClr val="000000"/>
                </a:solidFill>
                <a:latin typeface="Courier New" panose="02070309020205020404" pitchFamily="49" charset="0"/>
                <a:cs typeface="Courier New" panose="02070309020205020404" pitchFamily="49" charset="0"/>
              </a:rPr>
              <a:t>swapProducts(ArrayList&lt;Product&gt; products, </a:t>
            </a:r>
            <a:r>
              <a:rPr lang="en-US" altLang="en-US" sz="1800" b="1">
                <a:solidFill>
                  <a:srgbClr val="000080"/>
                </a:solidFill>
                <a:latin typeface="Courier New" panose="02070309020205020404" pitchFamily="49" charset="0"/>
                <a:cs typeface="Courier New" panose="02070309020205020404" pitchFamily="49" charset="0"/>
              </a:rPr>
              <a:t>int </a:t>
            </a:r>
            <a:r>
              <a:rPr lang="en-US" altLang="en-US" sz="1800">
                <a:solidFill>
                  <a:srgbClr val="000000"/>
                </a:solidFill>
                <a:latin typeface="Courier New" panose="02070309020205020404" pitchFamily="49" charset="0"/>
                <a:cs typeface="Courier New" panose="02070309020205020404" pitchFamily="49" charset="0"/>
              </a:rPr>
              <a:t>current, </a:t>
            </a:r>
            <a:r>
              <a:rPr lang="en-US" altLang="en-US" sz="1800" b="1">
                <a:solidFill>
                  <a:srgbClr val="000080"/>
                </a:solidFill>
                <a:latin typeface="Courier New" panose="02070309020205020404" pitchFamily="49" charset="0"/>
                <a:cs typeface="Courier New" panose="02070309020205020404" pitchFamily="49" charset="0"/>
              </a:rPr>
              <a:t>int </a:t>
            </a:r>
            <a:r>
              <a:rPr lang="en-US" altLang="en-US" sz="1800">
                <a:solidFill>
                  <a:srgbClr val="000000"/>
                </a:solidFill>
                <a:latin typeface="Courier New" panose="02070309020205020404" pitchFamily="49" charset="0"/>
                <a:cs typeface="Courier New" panose="02070309020205020404" pitchFamily="49" charset="0"/>
              </a:rPr>
              <a:t>highest) {</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Product smaller = products.get(current);</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Product bigger = products.get(highest);</a:t>
            </a:r>
            <a:br>
              <a:rPr lang="en-US" altLang="en-US" sz="1800">
                <a:solidFill>
                  <a:srgbClr val="000000"/>
                </a:solidFill>
                <a:latin typeface="Courier New" panose="02070309020205020404" pitchFamily="49" charset="0"/>
                <a:cs typeface="Courier New" panose="02070309020205020404" pitchFamily="49" charset="0"/>
              </a:rPr>
            </a:b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products.set(current, bigger);</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    products.set(highest,smaller);</a:t>
            </a:r>
            <a:br>
              <a:rPr lang="en-US" altLang="en-US" sz="1800">
                <a:solidFill>
                  <a:srgbClr val="000000"/>
                </a:solidFill>
                <a:latin typeface="Courier New" panose="02070309020205020404" pitchFamily="49" charset="0"/>
                <a:cs typeface="Courier New" panose="02070309020205020404" pitchFamily="49" charset="0"/>
              </a:rPr>
            </a:br>
            <a:r>
              <a:rPr lang="en-US" altLang="en-US" sz="1800">
                <a:solidFill>
                  <a:srgbClr val="000000"/>
                </a:solidFill>
                <a:latin typeface="Courier New" panose="02070309020205020404" pitchFamily="49" charset="0"/>
                <a:cs typeface="Courier New" panose="02070309020205020404" pitchFamily="49" charset="0"/>
              </a:rPr>
              <a:t>}</a:t>
            </a:r>
            <a:endParaRPr lang="en-US" altLang="en-US" sz="6000"/>
          </a:p>
        </p:txBody>
      </p:sp>
      <p:sp>
        <p:nvSpPr>
          <p:cNvPr id="3" name="Title 2">
            <a:extLst>
              <a:ext uri="{FF2B5EF4-FFF2-40B4-BE49-F238E27FC236}">
                <a16:creationId xmlns:a16="http://schemas.microsoft.com/office/drawing/2014/main" id="{C80FB103-61BB-770B-5F9E-8976A77460BB}"/>
              </a:ext>
            </a:extLst>
          </p:cNvPr>
          <p:cNvSpPr>
            <a:spLocks noGrp="1"/>
          </p:cNvSpPr>
          <p:nvPr>
            <p:ph type="title"/>
          </p:nvPr>
        </p:nvSpPr>
        <p:spPr/>
        <p:txBody>
          <a:bodyPr/>
          <a:lstStyle/>
          <a:p>
            <a:pPr>
              <a:defRPr/>
            </a:pPr>
            <a:r>
              <a:rPr lang="en-IE" dirty="0"/>
              <a:t>ShopV8.0 – Selection Sort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6B3CAD-8136-2EE7-C472-823FD5CCE0A8}"/>
              </a:ext>
            </a:extLst>
          </p:cNvPr>
          <p:cNvSpPr/>
          <p:nvPr/>
        </p:nvSpPr>
        <p:spPr>
          <a:xfrm>
            <a:off x="106363" y="3265488"/>
            <a:ext cx="6853237" cy="36004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IE" sz="1200" b="1" dirty="0">
                <a:solidFill>
                  <a:srgbClr val="000080"/>
                </a:solidFill>
                <a:latin typeface="Courier New" panose="02070309020205020404" pitchFamily="49" charset="0"/>
                <a:cs typeface="Courier New" panose="02070309020205020404" pitchFamily="49" charset="0"/>
              </a:rPr>
              <a:t>switch </a:t>
            </a:r>
            <a:r>
              <a:rPr lang="en-IE" sz="1200" dirty="0">
                <a:latin typeface="Courier New" panose="02070309020205020404" pitchFamily="49" charset="0"/>
                <a:cs typeface="Courier New" panose="02070309020205020404" pitchFamily="49" charset="0"/>
              </a:rPr>
              <a:t>(option) {</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4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5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addDescriptionToProduct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6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listProductDescriptions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7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updateDescriptionInProduct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8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deleteDescriptionFromProduct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printCurrentProducts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printAverageProductPrice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printCheapestProduct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printProductsAboveAPrice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14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searchProductByName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b="1" dirty="0">
                <a:solidFill>
                  <a:srgbClr val="0000FF"/>
                </a:solidFill>
                <a:latin typeface="Courier New" panose="02070309020205020404" pitchFamily="49" charset="0"/>
                <a:cs typeface="Courier New" panose="02070309020205020404" pitchFamily="49" charset="0"/>
              </a:rPr>
              <a:t>15 </a:t>
            </a:r>
            <a:r>
              <a:rPr lang="en-IE" sz="1200" b="1" dirty="0">
                <a:latin typeface="Courier New" panose="02070309020205020404" pitchFamily="49" charset="0"/>
                <a:cs typeface="Courier New" panose="02070309020205020404" pitchFamily="49" charset="0"/>
              </a:rPr>
              <a:t>-&gt; </a:t>
            </a:r>
            <a:r>
              <a:rPr lang="en-IE" sz="1200" b="1" dirty="0" err="1">
                <a:latin typeface="Courier New" panose="02070309020205020404" pitchFamily="49" charset="0"/>
                <a:cs typeface="Courier New" panose="02070309020205020404" pitchFamily="49" charset="0"/>
              </a:rPr>
              <a:t>sortProductByName</a:t>
            </a:r>
            <a:r>
              <a:rPr lang="en-IE" sz="1200" b="1"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saveProducts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loadProducts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default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System.</a:t>
            </a:r>
            <a:r>
              <a:rPr lang="en-IE" sz="1200" b="1" i="1" dirty="0" err="1">
                <a:solidFill>
                  <a:srgbClr val="660E7A"/>
                </a:solidFill>
                <a:latin typeface="Courier New" panose="02070309020205020404" pitchFamily="49" charset="0"/>
                <a:cs typeface="Courier New" panose="02070309020205020404" pitchFamily="49" charset="0"/>
              </a:rPr>
              <a:t>out</a:t>
            </a:r>
            <a:r>
              <a:rPr lang="en-IE" sz="1200" dirty="0" err="1">
                <a:latin typeface="Courier New" panose="02070309020205020404" pitchFamily="49" charset="0"/>
                <a:cs typeface="Courier New" panose="02070309020205020404" pitchFamily="49" charset="0"/>
              </a:rPr>
              <a:t>.println</a:t>
            </a:r>
            <a:r>
              <a:rPr lang="en-IE" sz="1200" dirty="0">
                <a:latin typeface="Courier New" panose="02070309020205020404" pitchFamily="49" charset="0"/>
                <a:cs typeface="Courier New" panose="02070309020205020404" pitchFamily="49" charset="0"/>
              </a:rPr>
              <a:t>(</a:t>
            </a:r>
            <a:r>
              <a:rPr lang="en-IE" sz="1200" b="1" dirty="0">
                <a:solidFill>
                  <a:srgbClr val="008000"/>
                </a:solidFill>
                <a:latin typeface="Courier New" panose="02070309020205020404" pitchFamily="49" charset="0"/>
                <a:cs typeface="Courier New" panose="02070309020205020404" pitchFamily="49" charset="0"/>
              </a:rPr>
              <a:t>"Invalid option entered: " </a:t>
            </a:r>
            <a:r>
              <a:rPr lang="en-IE" sz="1200" dirty="0">
                <a:latin typeface="Courier New" panose="02070309020205020404" pitchFamily="49" charset="0"/>
                <a:cs typeface="Courier New" panose="02070309020205020404" pitchFamily="49" charset="0"/>
              </a:rPr>
              <a:t>+ option);</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F2D07406-DD06-286B-08E1-7EF01F0AAF77}"/>
              </a:ext>
            </a:extLst>
          </p:cNvPr>
          <p:cNvSpPr/>
          <p:nvPr/>
        </p:nvSpPr>
        <p:spPr>
          <a:xfrm>
            <a:off x="106363" y="11588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Driver.java</a:t>
            </a:r>
          </a:p>
        </p:txBody>
      </p:sp>
      <p:sp>
        <p:nvSpPr>
          <p:cNvPr id="2" name="Rectangle 1">
            <a:extLst>
              <a:ext uri="{FF2B5EF4-FFF2-40B4-BE49-F238E27FC236}">
                <a16:creationId xmlns:a16="http://schemas.microsoft.com/office/drawing/2014/main" id="{A567F573-C974-8297-95A5-7DB0AA1C462F}"/>
              </a:ext>
            </a:extLst>
          </p:cNvPr>
          <p:cNvSpPr/>
          <p:nvPr/>
        </p:nvSpPr>
        <p:spPr>
          <a:xfrm>
            <a:off x="4522788" y="11113"/>
            <a:ext cx="7597775" cy="637063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IE" sz="1200" b="1" dirty="0">
                <a:solidFill>
                  <a:srgbClr val="000080"/>
                </a:solidFill>
                <a:latin typeface="Courier New" panose="02070309020205020404" pitchFamily="49" charset="0"/>
                <a:cs typeface="Courier New" panose="02070309020205020404" pitchFamily="49" charset="0"/>
              </a:rPr>
              <a:t>private int </a:t>
            </a:r>
            <a:r>
              <a:rPr lang="en-IE" sz="1200" dirty="0" err="1">
                <a:latin typeface="Courier New" panose="02070309020205020404" pitchFamily="49" charset="0"/>
                <a:cs typeface="Courier New" panose="02070309020205020404" pitchFamily="49" charset="0"/>
              </a:rPr>
              <a:t>mainMenu</a:t>
            </a:r>
            <a:r>
              <a:rPr lang="en-IE" sz="1200" dirty="0">
                <a:latin typeface="Courier New" panose="02070309020205020404" pitchFamily="49" charset="0"/>
                <a:cs typeface="Courier New" panose="02070309020205020404" pitchFamily="49" charset="0"/>
              </a:rPr>
              <a:t>() {</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int </a:t>
            </a:r>
            <a:r>
              <a:rPr lang="en-IE" sz="1200" dirty="0">
                <a:latin typeface="Courier New" panose="02070309020205020404" pitchFamily="49" charset="0"/>
                <a:cs typeface="Courier New" panose="02070309020205020404" pitchFamily="49" charset="0"/>
              </a:rPr>
              <a:t>option = </a:t>
            </a:r>
            <a:r>
              <a:rPr lang="en-IE" sz="1200" dirty="0" err="1">
                <a:latin typeface="Courier New" panose="02070309020205020404" pitchFamily="49" charset="0"/>
                <a:cs typeface="Courier New" panose="02070309020205020404" pitchFamily="49" charset="0"/>
              </a:rPr>
              <a:t>ScannerInput.</a:t>
            </a:r>
            <a:r>
              <a:rPr lang="en-IE" sz="1200" i="1" dirty="0" err="1">
                <a:latin typeface="Courier New" panose="02070309020205020404" pitchFamily="49" charset="0"/>
                <a:cs typeface="Courier New" panose="02070309020205020404" pitchFamily="49" charset="0"/>
              </a:rPr>
              <a:t>readNextInt</a:t>
            </a:r>
            <a:r>
              <a:rPr lang="en-IE" sz="1200" dirty="0">
                <a:latin typeface="Courier New" panose="02070309020205020404" pitchFamily="49" charset="0"/>
                <a:cs typeface="Courier New" panose="02070309020205020404" pitchFamily="49" charset="0"/>
              </a:rPr>
              <a:t>(</a:t>
            </a:r>
            <a:r>
              <a:rPr lang="en-IE" sz="1200" b="1" dirty="0">
                <a:solidFill>
                  <a:srgbClr val="008000"/>
                </a:solidFill>
                <a:latin typeface="Courier New" panose="02070309020205020404" pitchFamily="49" charset="0"/>
                <a:cs typeface="Courier New" panose="02070309020205020404" pitchFamily="49" charset="0"/>
              </a:rPr>
              <a:t>"""</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Shop Menu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PRODUCT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 Add a product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2) List the Products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3) Update a product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4) Delete a product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PRODUCT DESCRIPTION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5) Add a product description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6) List product description(s)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7) Update a product description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8) Delete a product description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REPORT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10) List the current products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11) Display average product unit cost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12) Display cheapest product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13) List products that are more expensive than a given price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SEARCH AND SORT MENU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14) Search products by name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15) Sort products by name ascending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20) Save products to </a:t>
            </a:r>
            <a:r>
              <a:rPr lang="en-IE" sz="1200" b="1" dirty="0" err="1">
                <a:solidFill>
                  <a:srgbClr val="008000"/>
                </a:solidFill>
                <a:latin typeface="Courier New" panose="02070309020205020404" pitchFamily="49" charset="0"/>
                <a:cs typeface="Courier New" panose="02070309020205020404" pitchFamily="49" charset="0"/>
              </a:rPr>
              <a:t>products.xml</a:t>
            </a:r>
            <a:r>
              <a:rPr lang="en-IE" sz="1200" b="1" dirty="0">
                <a:solidFill>
                  <a:srgbClr val="008000"/>
                </a:solidFill>
                <a:latin typeface="Courier New" panose="02070309020205020404" pitchFamily="49" charset="0"/>
                <a:cs typeface="Courier New" panose="02070309020205020404" pitchFamily="49" charset="0"/>
              </a:rPr>
              <a: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21) Load products from </a:t>
            </a:r>
            <a:r>
              <a:rPr lang="en-IE" sz="1200" b="1" dirty="0" err="1">
                <a:solidFill>
                  <a:srgbClr val="008000"/>
                </a:solidFill>
                <a:latin typeface="Courier New" panose="02070309020205020404" pitchFamily="49" charset="0"/>
                <a:cs typeface="Courier New" panose="02070309020205020404" pitchFamily="49" charset="0"/>
              </a:rPr>
              <a:t>products.xml</a:t>
            </a:r>
            <a:r>
              <a:rPr lang="en-IE" sz="1200" b="1" dirty="0">
                <a:solidFill>
                  <a:srgbClr val="008000"/>
                </a:solidFill>
                <a:latin typeface="Courier New" panose="02070309020205020404" pitchFamily="49" charset="0"/>
                <a:cs typeface="Courier New" panose="02070309020205020404" pitchFamily="49" charset="0"/>
              </a:rPr>
              <a: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   0)  Exit                                                     |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a:t>
            </a:r>
            <a:br>
              <a:rPr lang="en-IE" sz="1200" b="1" dirty="0">
                <a:solidFill>
                  <a:srgbClr val="008000"/>
                </a:solidFill>
                <a:latin typeface="Courier New" panose="02070309020205020404" pitchFamily="49" charset="0"/>
                <a:cs typeface="Courier New" panose="02070309020205020404" pitchFamily="49" charset="0"/>
              </a:rPr>
            </a:br>
            <a:r>
              <a:rPr lang="en-IE" sz="1200" b="1" dirty="0">
                <a:solidFill>
                  <a:srgbClr val="008000"/>
                </a:solidFill>
                <a:latin typeface="Courier New" panose="02070309020205020404" pitchFamily="49" charset="0"/>
                <a:cs typeface="Courier New" panose="02070309020205020404" pitchFamily="49" charset="0"/>
              </a:rPr>
              <a:t>            ==&gt;&gt;  """</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return </a:t>
            </a:r>
            <a:r>
              <a:rPr lang="en-IE" sz="1200" dirty="0">
                <a:latin typeface="Courier New" panose="02070309020205020404" pitchFamily="49" charset="0"/>
                <a:cs typeface="Courier New" panose="02070309020205020404" pitchFamily="49" charset="0"/>
              </a:rPr>
              <a:t>option;</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7" name="Right Arrow 6">
            <a:extLst>
              <a:ext uri="{FF2B5EF4-FFF2-40B4-BE49-F238E27FC236}">
                <a16:creationId xmlns:a16="http://schemas.microsoft.com/office/drawing/2014/main" id="{49137B4B-31D8-7635-CDBE-1A9592A22AAC}"/>
              </a:ext>
            </a:extLst>
          </p:cNvPr>
          <p:cNvSpPr/>
          <p:nvPr/>
        </p:nvSpPr>
        <p:spPr>
          <a:xfrm rot="8834857">
            <a:off x="3873500" y="5133975"/>
            <a:ext cx="1920875" cy="336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E51C96-E715-04B4-882F-01064CEBDE8D}"/>
              </a:ext>
            </a:extLst>
          </p:cNvPr>
          <p:cNvSpPr/>
          <p:nvPr/>
        </p:nvSpPr>
        <p:spPr>
          <a:xfrm>
            <a:off x="106363" y="3265488"/>
            <a:ext cx="6853237" cy="36004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IE" sz="1200" b="1" dirty="0">
                <a:solidFill>
                  <a:srgbClr val="000080"/>
                </a:solidFill>
                <a:latin typeface="Courier New" panose="02070309020205020404" pitchFamily="49" charset="0"/>
                <a:cs typeface="Courier New" panose="02070309020205020404" pitchFamily="49" charset="0"/>
              </a:rPr>
              <a:t>switch </a:t>
            </a:r>
            <a:r>
              <a:rPr lang="en-IE" sz="1200" dirty="0">
                <a:latin typeface="Courier New" panose="02070309020205020404" pitchFamily="49" charset="0"/>
                <a:cs typeface="Courier New" panose="02070309020205020404" pitchFamily="49" charset="0"/>
              </a:rPr>
              <a:t>(option) {</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4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5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addDescriptionToProduct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6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listProductDescriptions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7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updateDescriptionInProduct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8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deleteDescriptionFromProduct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printCurrentProducts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printAverageProductPrice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12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printCheapestProduct</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13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printProductsAboveAPrice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14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searchProductByName</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b="1" dirty="0">
                <a:solidFill>
                  <a:srgbClr val="0000FF"/>
                </a:solidFill>
                <a:latin typeface="Courier New" panose="02070309020205020404" pitchFamily="49" charset="0"/>
                <a:cs typeface="Courier New" panose="02070309020205020404" pitchFamily="49" charset="0"/>
              </a:rPr>
              <a:t>15 </a:t>
            </a:r>
            <a:r>
              <a:rPr lang="en-IE" sz="1200" b="1" dirty="0">
                <a:latin typeface="Courier New" panose="02070309020205020404" pitchFamily="49" charset="0"/>
                <a:cs typeface="Courier New" panose="02070309020205020404" pitchFamily="49" charset="0"/>
              </a:rPr>
              <a:t>-&gt; </a:t>
            </a:r>
            <a:r>
              <a:rPr lang="en-IE" sz="1200" b="1" dirty="0" err="1">
                <a:latin typeface="Courier New" panose="02070309020205020404" pitchFamily="49" charset="0"/>
                <a:cs typeface="Courier New" panose="02070309020205020404" pitchFamily="49" charset="0"/>
              </a:rPr>
              <a:t>sortProductByName</a:t>
            </a:r>
            <a:r>
              <a:rPr lang="en-IE" sz="1200" b="1"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20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saveProducts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case </a:t>
            </a:r>
            <a:r>
              <a:rPr lang="en-IE" sz="1200" dirty="0">
                <a:solidFill>
                  <a:srgbClr val="0000FF"/>
                </a:solidFill>
                <a:latin typeface="Courier New" panose="02070309020205020404" pitchFamily="49" charset="0"/>
                <a:cs typeface="Courier New" panose="02070309020205020404" pitchFamily="49" charset="0"/>
              </a:rPr>
              <a:t>21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loadProducts</a:t>
            </a:r>
            <a:r>
              <a:rPr lang="en-IE" sz="1200" dirty="0">
                <a:latin typeface="Courier New" panose="02070309020205020404" pitchFamily="49" charset="0"/>
                <a:cs typeface="Courier New" panose="02070309020205020404" pitchFamily="49" charset="0"/>
              </a:rPr>
              <a:t>();</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    </a:t>
            </a:r>
            <a:r>
              <a:rPr lang="en-IE" sz="1200" b="1" dirty="0">
                <a:solidFill>
                  <a:srgbClr val="000080"/>
                </a:solidFill>
                <a:latin typeface="Courier New" panose="02070309020205020404" pitchFamily="49" charset="0"/>
                <a:cs typeface="Courier New" panose="02070309020205020404" pitchFamily="49" charset="0"/>
              </a:rPr>
              <a:t>default </a:t>
            </a:r>
            <a:r>
              <a:rPr lang="en-IE" sz="1200" dirty="0">
                <a:latin typeface="Courier New" panose="02070309020205020404" pitchFamily="49" charset="0"/>
                <a:cs typeface="Courier New" panose="02070309020205020404" pitchFamily="49" charset="0"/>
              </a:rPr>
              <a:t>-&gt; </a:t>
            </a:r>
            <a:r>
              <a:rPr lang="en-IE" sz="1200" dirty="0" err="1">
                <a:latin typeface="Courier New" panose="02070309020205020404" pitchFamily="49" charset="0"/>
                <a:cs typeface="Courier New" panose="02070309020205020404" pitchFamily="49" charset="0"/>
              </a:rPr>
              <a:t>System.</a:t>
            </a:r>
            <a:r>
              <a:rPr lang="en-IE" sz="1200" b="1" i="1" dirty="0" err="1">
                <a:solidFill>
                  <a:srgbClr val="660E7A"/>
                </a:solidFill>
                <a:latin typeface="Courier New" panose="02070309020205020404" pitchFamily="49" charset="0"/>
                <a:cs typeface="Courier New" panose="02070309020205020404" pitchFamily="49" charset="0"/>
              </a:rPr>
              <a:t>out</a:t>
            </a:r>
            <a:r>
              <a:rPr lang="en-IE" sz="1200" dirty="0" err="1">
                <a:latin typeface="Courier New" panose="02070309020205020404" pitchFamily="49" charset="0"/>
                <a:cs typeface="Courier New" panose="02070309020205020404" pitchFamily="49" charset="0"/>
              </a:rPr>
              <a:t>.println</a:t>
            </a:r>
            <a:r>
              <a:rPr lang="en-IE" sz="1200" dirty="0">
                <a:latin typeface="Courier New" panose="02070309020205020404" pitchFamily="49" charset="0"/>
                <a:cs typeface="Courier New" panose="02070309020205020404" pitchFamily="49" charset="0"/>
              </a:rPr>
              <a:t>(</a:t>
            </a:r>
            <a:r>
              <a:rPr lang="en-IE" sz="1200" b="1" dirty="0">
                <a:solidFill>
                  <a:srgbClr val="008000"/>
                </a:solidFill>
                <a:latin typeface="Courier New" panose="02070309020205020404" pitchFamily="49" charset="0"/>
                <a:cs typeface="Courier New" panose="02070309020205020404" pitchFamily="49" charset="0"/>
              </a:rPr>
              <a:t>"Invalid option entered: " </a:t>
            </a:r>
            <a:r>
              <a:rPr lang="en-IE" sz="1200" dirty="0">
                <a:latin typeface="Courier New" panose="02070309020205020404" pitchFamily="49" charset="0"/>
                <a:cs typeface="Courier New" panose="02070309020205020404" pitchFamily="49" charset="0"/>
              </a:rPr>
              <a:t>+ option);</a:t>
            </a:r>
            <a:br>
              <a:rPr lang="en-IE" sz="1200" dirty="0">
                <a:latin typeface="Courier New" panose="02070309020205020404" pitchFamily="49" charset="0"/>
                <a:cs typeface="Courier New" panose="02070309020205020404" pitchFamily="49" charset="0"/>
              </a:rPr>
            </a:br>
            <a:r>
              <a:rPr lang="en-IE" sz="1200" dirty="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3" name="Right Arrow 2">
            <a:extLst>
              <a:ext uri="{FF2B5EF4-FFF2-40B4-BE49-F238E27FC236}">
                <a16:creationId xmlns:a16="http://schemas.microsoft.com/office/drawing/2014/main" id="{1C384819-1A50-B23F-7453-C1A2301CF4BE}"/>
              </a:ext>
            </a:extLst>
          </p:cNvPr>
          <p:cNvSpPr/>
          <p:nvPr/>
        </p:nvSpPr>
        <p:spPr>
          <a:xfrm rot="10800000">
            <a:off x="3533775" y="5805488"/>
            <a:ext cx="1727200" cy="301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a:extLst>
              <a:ext uri="{FF2B5EF4-FFF2-40B4-BE49-F238E27FC236}">
                <a16:creationId xmlns:a16="http://schemas.microsoft.com/office/drawing/2014/main" id="{8D5205F2-9B4A-6828-A994-8FAFC585EB9D}"/>
              </a:ext>
            </a:extLst>
          </p:cNvPr>
          <p:cNvSpPr/>
          <p:nvPr/>
        </p:nvSpPr>
        <p:spPr>
          <a:xfrm>
            <a:off x="106363" y="115888"/>
            <a:ext cx="1512887"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Driver.java</a:t>
            </a:r>
          </a:p>
        </p:txBody>
      </p:sp>
      <p:sp>
        <p:nvSpPr>
          <p:cNvPr id="59397" name="Rectangle 2">
            <a:extLst>
              <a:ext uri="{FF2B5EF4-FFF2-40B4-BE49-F238E27FC236}">
                <a16:creationId xmlns:a16="http://schemas.microsoft.com/office/drawing/2014/main" id="{5C71E14C-2606-4D93-AC19-C5DBFE3C7B42}"/>
              </a:ext>
            </a:extLst>
          </p:cNvPr>
          <p:cNvSpPr>
            <a:spLocks noChangeArrowheads="1"/>
          </p:cNvSpPr>
          <p:nvPr/>
        </p:nvSpPr>
        <p:spPr bwMode="auto">
          <a:xfrm>
            <a:off x="5735638" y="2603500"/>
            <a:ext cx="5738812" cy="132397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br>
              <a:rPr lang="en-US" altLang="en-US" sz="1600">
                <a:solidFill>
                  <a:srgbClr val="000000"/>
                </a:solidFill>
                <a:latin typeface="Courier New" panose="02070309020205020404" pitchFamily="49" charset="0"/>
                <a:cs typeface="Courier New" panose="02070309020205020404" pitchFamily="49" charset="0"/>
              </a:rPr>
            </a:br>
            <a:r>
              <a:rPr lang="en-US" altLang="en-US" sz="1600" b="1">
                <a:solidFill>
                  <a:srgbClr val="000080"/>
                </a:solidFill>
                <a:latin typeface="Courier New" panose="02070309020205020404" pitchFamily="49" charset="0"/>
                <a:cs typeface="Courier New" panose="02070309020205020404" pitchFamily="49" charset="0"/>
              </a:rPr>
              <a:t>private void </a:t>
            </a:r>
            <a:r>
              <a:rPr lang="en-US" altLang="en-US" sz="1600">
                <a:solidFill>
                  <a:srgbClr val="000000"/>
                </a:solidFill>
                <a:latin typeface="Courier New" panose="02070309020205020404" pitchFamily="49" charset="0"/>
                <a:cs typeface="Courier New" panose="02070309020205020404" pitchFamily="49" charset="0"/>
              </a:rPr>
              <a:t>sortProductByName() {</a:t>
            </a:r>
            <a:br>
              <a:rPr lang="en-US" altLang="en-US" sz="1600">
                <a:solidFill>
                  <a:srgbClr val="000000"/>
                </a:solidFill>
                <a:latin typeface="Courier New" panose="02070309020205020404" pitchFamily="49" charset="0"/>
                <a:cs typeface="Courier New" panose="02070309020205020404" pitchFamily="49" charset="0"/>
              </a:rPr>
            </a:br>
            <a:r>
              <a:rPr lang="en-US" altLang="en-US" sz="1600">
                <a:solidFill>
                  <a:srgbClr val="000000"/>
                </a:solidFill>
                <a:latin typeface="Courier New" panose="02070309020205020404" pitchFamily="49" charset="0"/>
                <a:cs typeface="Courier New" panose="02070309020205020404" pitchFamily="49" charset="0"/>
              </a:rPr>
              <a:t>    </a:t>
            </a:r>
            <a:r>
              <a:rPr lang="en-US" altLang="en-US" sz="1600" b="1">
                <a:solidFill>
                  <a:srgbClr val="660E7A"/>
                </a:solidFill>
                <a:latin typeface="Courier New" panose="02070309020205020404" pitchFamily="49" charset="0"/>
                <a:cs typeface="Courier New" panose="02070309020205020404" pitchFamily="49" charset="0"/>
              </a:rPr>
              <a:t>store</a:t>
            </a:r>
            <a:r>
              <a:rPr lang="en-US" altLang="en-US" sz="1600">
                <a:solidFill>
                  <a:srgbClr val="000000"/>
                </a:solidFill>
                <a:latin typeface="Courier New" panose="02070309020205020404" pitchFamily="49" charset="0"/>
                <a:cs typeface="Courier New" panose="02070309020205020404" pitchFamily="49" charset="0"/>
              </a:rPr>
              <a:t>.sortProductsByNameAscending();</a:t>
            </a:r>
            <a:br>
              <a:rPr lang="en-US" altLang="en-US" sz="1600">
                <a:solidFill>
                  <a:srgbClr val="000000"/>
                </a:solidFill>
                <a:latin typeface="Courier New" panose="02070309020205020404" pitchFamily="49" charset="0"/>
                <a:cs typeface="Courier New" panose="02070309020205020404" pitchFamily="49" charset="0"/>
              </a:rPr>
            </a:br>
            <a:r>
              <a:rPr lang="en-US" altLang="en-US" sz="1600">
                <a:solidFill>
                  <a:srgbClr val="000000"/>
                </a:solidFill>
                <a:latin typeface="Courier New" panose="02070309020205020404" pitchFamily="49" charset="0"/>
                <a:cs typeface="Courier New" panose="02070309020205020404" pitchFamily="49" charset="0"/>
              </a:rPr>
              <a:t>    System.</a:t>
            </a:r>
            <a:r>
              <a:rPr lang="en-US" altLang="en-US" sz="1600" b="1" i="1">
                <a:solidFill>
                  <a:srgbClr val="660E7A"/>
                </a:solidFill>
                <a:latin typeface="Courier New" panose="02070309020205020404" pitchFamily="49" charset="0"/>
                <a:cs typeface="Courier New" panose="02070309020205020404" pitchFamily="49" charset="0"/>
              </a:rPr>
              <a:t>out</a:t>
            </a:r>
            <a:r>
              <a:rPr lang="en-US" altLang="en-US" sz="1600">
                <a:solidFill>
                  <a:srgbClr val="000000"/>
                </a:solidFill>
                <a:latin typeface="Courier New" panose="02070309020205020404" pitchFamily="49" charset="0"/>
                <a:cs typeface="Courier New" panose="02070309020205020404" pitchFamily="49" charset="0"/>
              </a:rPr>
              <a:t>.println(</a:t>
            </a:r>
            <a:r>
              <a:rPr lang="en-US" altLang="en-US" sz="1600" b="1">
                <a:solidFill>
                  <a:srgbClr val="660E7A"/>
                </a:solidFill>
                <a:latin typeface="Courier New" panose="02070309020205020404" pitchFamily="49" charset="0"/>
                <a:cs typeface="Courier New" panose="02070309020205020404" pitchFamily="49" charset="0"/>
              </a:rPr>
              <a:t>store</a:t>
            </a:r>
            <a:r>
              <a:rPr lang="en-US" altLang="en-US" sz="1600">
                <a:solidFill>
                  <a:srgbClr val="000000"/>
                </a:solidFill>
                <a:latin typeface="Courier New" panose="02070309020205020404" pitchFamily="49" charset="0"/>
                <a:cs typeface="Courier New" panose="02070309020205020404" pitchFamily="49" charset="0"/>
              </a:rPr>
              <a:t>.listProducts());</a:t>
            </a:r>
            <a:br>
              <a:rPr lang="en-US" altLang="en-US" sz="1600">
                <a:solidFill>
                  <a:srgbClr val="000000"/>
                </a:solidFill>
                <a:latin typeface="Courier New" panose="02070309020205020404" pitchFamily="49" charset="0"/>
                <a:cs typeface="Courier New" panose="02070309020205020404" pitchFamily="49" charset="0"/>
              </a:rPr>
            </a:br>
            <a:r>
              <a:rPr lang="en-US" altLang="en-US" sz="1600">
                <a:solidFill>
                  <a:srgbClr val="000000"/>
                </a:solidFill>
                <a:latin typeface="Courier New" panose="02070309020205020404" pitchFamily="49" charset="0"/>
                <a:cs typeface="Courier New" panose="02070309020205020404" pitchFamily="49" charset="0"/>
              </a:rPr>
              <a:t>}</a:t>
            </a:r>
            <a:endParaRPr lang="en-US" altLang="en-US" sz="5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DCD658-C14C-8DAD-A061-45B483C17DC2}"/>
              </a:ext>
            </a:extLst>
          </p:cNvPr>
          <p:cNvPicPr>
            <a:picLocks noChangeAspect="1" noChangeArrowheads="1"/>
          </p:cNvPicPr>
          <p:nvPr/>
        </p:nvPicPr>
        <p:blipFill>
          <a:blip r:embed="rId2"/>
          <a:srcRect/>
          <a:stretch>
            <a:fillRect/>
          </a:stretch>
        </p:blipFill>
        <p:spPr bwMode="auto">
          <a:xfrm>
            <a:off x="723900" y="1246188"/>
            <a:ext cx="10744200" cy="1765300"/>
          </a:xfrm>
          <a:prstGeom prst="rect">
            <a:avLst/>
          </a:prstGeom>
          <a:noFill/>
          <a:ln>
            <a:noFill/>
          </a:ln>
          <a:effectLst>
            <a:outerShdw blurRad="292100" dist="139700" dir="2700000" algn="tl" rotWithShape="0">
              <a:srgbClr val="333333">
                <a:alpha val="64999"/>
              </a:srgbClr>
            </a:outerShdw>
          </a:effectLst>
        </p:spPr>
      </p:pic>
      <p:sp>
        <p:nvSpPr>
          <p:cNvPr id="7" name="Rectangle 6">
            <a:extLst>
              <a:ext uri="{FF2B5EF4-FFF2-40B4-BE49-F238E27FC236}">
                <a16:creationId xmlns:a16="http://schemas.microsoft.com/office/drawing/2014/main" id="{19C1A5A2-BFBE-A6FE-740D-4597DDD1E9B5}"/>
              </a:ext>
            </a:extLst>
          </p:cNvPr>
          <p:cNvSpPr/>
          <p:nvPr/>
        </p:nvSpPr>
        <p:spPr>
          <a:xfrm>
            <a:off x="9953625" y="973138"/>
            <a:ext cx="1512888"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Test Data</a:t>
            </a:r>
          </a:p>
        </p:txBody>
      </p:sp>
      <p:pic>
        <p:nvPicPr>
          <p:cNvPr id="9" name="Picture 8">
            <a:extLst>
              <a:ext uri="{FF2B5EF4-FFF2-40B4-BE49-F238E27FC236}">
                <a16:creationId xmlns:a16="http://schemas.microsoft.com/office/drawing/2014/main" id="{8D96150E-6BBE-6EB2-494B-0083BB596308}"/>
              </a:ext>
            </a:extLst>
          </p:cNvPr>
          <p:cNvPicPr>
            <a:picLocks noChangeAspect="1" noChangeArrowheads="1"/>
          </p:cNvPicPr>
          <p:nvPr/>
        </p:nvPicPr>
        <p:blipFill>
          <a:blip r:embed="rId3"/>
          <a:srcRect/>
          <a:stretch>
            <a:fillRect/>
          </a:stretch>
        </p:blipFill>
        <p:spPr bwMode="auto">
          <a:xfrm>
            <a:off x="723900" y="4327525"/>
            <a:ext cx="10744200" cy="1765300"/>
          </a:xfrm>
          <a:prstGeom prst="rect">
            <a:avLst/>
          </a:prstGeom>
          <a:noFill/>
          <a:ln>
            <a:noFill/>
          </a:ln>
          <a:effectLst>
            <a:outerShdw blurRad="292100" dist="139700" dir="2700000" algn="tl" rotWithShape="0">
              <a:srgbClr val="333333">
                <a:alpha val="64999"/>
              </a:srgbClr>
            </a:outerShdw>
          </a:effectLst>
        </p:spPr>
      </p:pic>
      <p:sp>
        <p:nvSpPr>
          <p:cNvPr id="8" name="Rectangle 7">
            <a:extLst>
              <a:ext uri="{FF2B5EF4-FFF2-40B4-BE49-F238E27FC236}">
                <a16:creationId xmlns:a16="http://schemas.microsoft.com/office/drawing/2014/main" id="{09F8AC47-614E-A5C6-3ACD-FE93B0F55B70}"/>
              </a:ext>
            </a:extLst>
          </p:cNvPr>
          <p:cNvSpPr/>
          <p:nvPr/>
        </p:nvSpPr>
        <p:spPr>
          <a:xfrm>
            <a:off x="9786938" y="4005263"/>
            <a:ext cx="178117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Sorted </a:t>
            </a:r>
            <a:r>
              <a:rPr lang="en-IE" dirty="0" err="1"/>
              <a:t>ArrayList</a:t>
            </a:r>
            <a:endParaRPr lang="en-IE"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F114C8-A3EA-4AD2-160C-B07C0B359000}"/>
              </a:ext>
            </a:extLst>
          </p:cNvPr>
          <p:cNvPicPr>
            <a:picLocks noChangeAspect="1" noChangeArrowheads="1"/>
          </p:cNvPicPr>
          <p:nvPr/>
        </p:nvPicPr>
        <p:blipFill>
          <a:blip r:embed="rId2"/>
          <a:srcRect/>
          <a:stretch>
            <a:fillRect/>
          </a:stretch>
        </p:blipFill>
        <p:spPr bwMode="auto">
          <a:xfrm>
            <a:off x="723900" y="4327525"/>
            <a:ext cx="10744200" cy="1765300"/>
          </a:xfrm>
          <a:prstGeom prst="rect">
            <a:avLst/>
          </a:prstGeom>
          <a:noFill/>
          <a:ln>
            <a:noFill/>
          </a:ln>
          <a:effectLst>
            <a:outerShdw blurRad="292100" dist="139700" dir="2700000" algn="tl" rotWithShape="0">
              <a:srgbClr val="333333">
                <a:alpha val="64999"/>
              </a:srgbClr>
            </a:outerShdw>
          </a:effectLst>
        </p:spPr>
      </p:pic>
      <p:sp>
        <p:nvSpPr>
          <p:cNvPr id="8" name="Rectangle 7">
            <a:extLst>
              <a:ext uri="{FF2B5EF4-FFF2-40B4-BE49-F238E27FC236}">
                <a16:creationId xmlns:a16="http://schemas.microsoft.com/office/drawing/2014/main" id="{F66D8FA5-052E-CCAC-62F5-CCDDC627524E}"/>
              </a:ext>
            </a:extLst>
          </p:cNvPr>
          <p:cNvSpPr/>
          <p:nvPr/>
        </p:nvSpPr>
        <p:spPr>
          <a:xfrm>
            <a:off x="9818688" y="4111625"/>
            <a:ext cx="178117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E" dirty="0"/>
              <a:t>Sorted </a:t>
            </a:r>
            <a:r>
              <a:rPr lang="en-IE" dirty="0" err="1"/>
              <a:t>ArrayList</a:t>
            </a:r>
            <a:endParaRPr lang="en-IE" dirty="0"/>
          </a:p>
        </p:txBody>
      </p:sp>
      <p:sp>
        <p:nvSpPr>
          <p:cNvPr id="4" name="Rounded Rectangle 3">
            <a:extLst>
              <a:ext uri="{FF2B5EF4-FFF2-40B4-BE49-F238E27FC236}">
                <a16:creationId xmlns:a16="http://schemas.microsoft.com/office/drawing/2014/main" id="{C329EEB2-CD6B-D198-FFCF-F5ED23882175}"/>
              </a:ext>
            </a:extLst>
          </p:cNvPr>
          <p:cNvSpPr/>
          <p:nvPr/>
        </p:nvSpPr>
        <p:spPr>
          <a:xfrm>
            <a:off x="3071813" y="4543425"/>
            <a:ext cx="1511300" cy="1549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 name="Picture 4">
            <a:extLst>
              <a:ext uri="{FF2B5EF4-FFF2-40B4-BE49-F238E27FC236}">
                <a16:creationId xmlns:a16="http://schemas.microsoft.com/office/drawing/2014/main" id="{09178A11-5C1A-9780-6D11-C77795D72092}"/>
              </a:ext>
            </a:extLst>
          </p:cNvPr>
          <p:cNvPicPr>
            <a:picLocks noChangeAspect="1" noChangeArrowheads="1"/>
          </p:cNvPicPr>
          <p:nvPr/>
        </p:nvPicPr>
        <p:blipFill>
          <a:blip r:embed="rId3"/>
          <a:srcRect/>
          <a:stretch>
            <a:fillRect/>
          </a:stretch>
        </p:blipFill>
        <p:spPr bwMode="auto">
          <a:xfrm>
            <a:off x="3143250" y="228600"/>
            <a:ext cx="5354638" cy="3833813"/>
          </a:xfrm>
          <a:prstGeom prst="rect">
            <a:avLst/>
          </a:prstGeom>
          <a:noFill/>
          <a:ln>
            <a:noFill/>
          </a:ln>
          <a:effectLst>
            <a:outerShdw blurRad="292100" dist="139700" dir="2700000" algn="tl" rotWithShape="0">
              <a:srgbClr val="333333">
                <a:alpha val="64999"/>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415214-79CD-7FEA-5510-C5206B9CD383}"/>
              </a:ext>
            </a:extLst>
          </p:cNvPr>
          <p:cNvSpPr/>
          <p:nvPr/>
        </p:nvSpPr>
        <p:spPr>
          <a:xfrm>
            <a:off x="1028700" y="1967266"/>
            <a:ext cx="2628900" cy="2547257"/>
          </a:xfrm>
          <a:prstGeom prst="rect">
            <a:avLst/>
          </a:prstGeom>
          <a:noFill/>
        </p:spPr>
        <p:txBody>
          <a:bodyPr anchor="ctr">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lnSpc>
                <a:spcPct val="90000"/>
              </a:lnSpc>
              <a:spcAft>
                <a:spcPts val="600"/>
              </a:spcAft>
              <a:defRPr/>
            </a:pPr>
            <a:r>
              <a:rPr lang="en-US" sz="3600" dirty="0">
                <a:ln w="0"/>
                <a:effectLst>
                  <a:outerShdw blurRad="38100" dist="19050" dir="2700000" algn="tl" rotWithShape="0">
                    <a:schemeClr val="dk1">
                      <a:alpha val="40000"/>
                    </a:schemeClr>
                  </a:outerShdw>
                </a:effectLst>
                <a:latin typeface="+mj-lt"/>
                <a:ea typeface="+mj-ea"/>
                <a:cs typeface="+mj-cs"/>
              </a:rPr>
              <a:t>Any Questions?</a:t>
            </a:r>
          </a:p>
        </p:txBody>
      </p:sp>
      <p:pic>
        <p:nvPicPr>
          <p:cNvPr id="62467" name="Picture 2" descr="A green question mark in a circle&#10;&#10;AI-generated content may be incorrect.">
            <a:extLst>
              <a:ext uri="{FF2B5EF4-FFF2-40B4-BE49-F238E27FC236}">
                <a16:creationId xmlns:a16="http://schemas.microsoft.com/office/drawing/2014/main" id="{1F8A271D-29C6-CF16-82DC-091DC83C8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3213" y="642938"/>
            <a:ext cx="556895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3463</Words>
  <Application>Microsoft Macintosh PowerPoint</Application>
  <PresentationFormat>Widescreen</PresentationFormat>
  <Paragraphs>443</Paragraphs>
  <Slides>40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Calibri</vt:lpstr>
      <vt:lpstr>Arial</vt:lpstr>
      <vt:lpstr>Times New Roman</vt:lpstr>
      <vt:lpstr>MS PGothic</vt:lpstr>
      <vt:lpstr>Trebuchet MS</vt:lpstr>
      <vt:lpstr>Wingdings</vt:lpstr>
      <vt:lpstr>Times</vt:lpstr>
      <vt:lpstr>Courier New</vt:lpstr>
      <vt:lpstr>Office Theme</vt:lpstr>
      <vt:lpstr>Sorting and Searching</vt:lpstr>
      <vt:lpstr>Brief overview of Searching and Sorting</vt:lpstr>
      <vt:lpstr> Linear searching </vt:lpstr>
      <vt:lpstr>Searching</vt:lpstr>
      <vt:lpstr>Linear Search</vt:lpstr>
      <vt:lpstr>ShopV8.0 – Linear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Selection Sort</vt:lpstr>
      <vt:lpstr>Sorting</vt:lpstr>
      <vt:lpstr>Sorting</vt:lpstr>
      <vt:lpstr>ArrayList – Swapping Values</vt:lpstr>
      <vt:lpstr>ArrayList – Swapping Values</vt:lpstr>
      <vt:lpstr>ArrayList – Swapping Values</vt:lpstr>
      <vt:lpstr>ArrayList – Swapping Values</vt:lpstr>
      <vt:lpstr>ArrayList – Swapping Values</vt:lpstr>
      <vt:lpstr>PowerPoint Presentation</vt:lpstr>
      <vt:lpstr>PowerPoint Presentation</vt:lpstr>
      <vt:lpstr>PowerPoint Presentation</vt:lpstr>
      <vt:lpstr>Sorting</vt:lpstr>
      <vt:lpstr>What is a “Sorted List”?</vt:lpstr>
      <vt:lpstr>PowerPoint Presentation</vt:lpstr>
      <vt:lpstr>Selection Sort Algorithm</vt:lpstr>
      <vt:lpstr>PowerPoint Presentation</vt:lpstr>
      <vt:lpstr>PowerPoint Presentation</vt:lpstr>
      <vt:lpstr>PowerPoint Presentation</vt:lpstr>
      <vt:lpstr>ShopV8.0 – Selection Sort</vt:lpstr>
      <vt:lpstr>ShopV8.0 – Selection Sort</vt:lpstr>
      <vt:lpstr>ShopV8.0 – Selection Sort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Objects First with Java - Chapter 6</dc:title>
  <dc:creator>David J. Barnes, Michael Kölling</dc:creator>
  <dc:description>Copyright © David J. Barnes, Michael Kölling</dc:description>
  <cp:lastModifiedBy>Mairead Meagher</cp:lastModifiedBy>
  <cp:revision>160</cp:revision>
  <cp:lastPrinted>2003-09-01T06:58:01Z</cp:lastPrinted>
  <dcterms:created xsi:type="dcterms:W3CDTF">2002-09-11T08:48:08Z</dcterms:created>
  <dcterms:modified xsi:type="dcterms:W3CDTF">2026-04-19T21:22:32Z</dcterms:modified>
</cp:coreProperties>
</file>