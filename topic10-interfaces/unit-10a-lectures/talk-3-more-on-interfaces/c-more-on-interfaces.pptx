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489" r:id="rId3"/>
    <p:sldId id="442" r:id="rId4"/>
    <p:sldId id="427" r:id="rId5"/>
    <p:sldId id="532" r:id="rId6"/>
    <p:sldId id="533" r:id="rId7"/>
    <p:sldId id="496" r:id="rId8"/>
    <p:sldId id="493" r:id="rId9"/>
    <p:sldId id="525" r:id="rId10"/>
    <p:sldId id="528" r:id="rId11"/>
    <p:sldId id="546" r:id="rId12"/>
    <p:sldId id="534" r:id="rId13"/>
    <p:sldId id="455" r:id="rId14"/>
    <p:sldId id="454" r:id="rId15"/>
    <p:sldId id="536" r:id="rId16"/>
    <p:sldId id="538" r:id="rId17"/>
    <p:sldId id="539" r:id="rId18"/>
    <p:sldId id="540" r:id="rId19"/>
    <p:sldId id="541" r:id="rId20"/>
    <p:sldId id="543" r:id="rId21"/>
    <p:sldId id="545" r:id="rId22"/>
    <p:sldId id="498" r:id="rId23"/>
    <p:sldId id="544" r:id="rId24"/>
    <p:sldId id="547" r:id="rId25"/>
    <p:sldId id="497" r:id="rId26"/>
    <p:sldId id="510" r:id="rId27"/>
    <p:sldId id="548" r:id="rId28"/>
    <p:sldId id="549" r:id="rId29"/>
    <p:sldId id="550" r:id="rId30"/>
    <p:sldId id="551" r:id="rId31"/>
    <p:sldId id="553" r:id="rId32"/>
    <p:sldId id="552" r:id="rId33"/>
    <p:sldId id="438" r:id="rId34"/>
    <p:sldId id="392" r:id="rId35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99" autoAdjust="0"/>
    <p:restoredTop sz="94444"/>
  </p:normalViewPr>
  <p:slideViewPr>
    <p:cSldViewPr>
      <p:cViewPr varScale="1">
        <p:scale>
          <a:sx n="63" d="100"/>
          <a:sy n="63" d="100"/>
        </p:scale>
        <p:origin x="82" y="6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965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85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697796" y="3128069"/>
            <a:ext cx="2446179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16"/>
            <a:ext cx="3751796" cy="1110421"/>
            <a:chOff x="0" y="-174374"/>
            <a:chExt cx="4001913" cy="1579263"/>
          </a:xfrm>
        </p:grpSpPr>
        <p:sp>
          <p:nvSpPr>
            <p:cNvPr id="210" name="Shape 210"/>
            <p:cNvSpPr/>
            <p:nvPr/>
          </p:nvSpPr>
          <p:spPr>
            <a:xfrm>
              <a:off x="0" y="-174374"/>
              <a:ext cx="4001913" cy="9583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tter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3600">
                <a:uFill>
                  <a:solidFill/>
                </a:uFill>
              </a:rPr>
              <a:t>Title Text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83590" indent="-285750">
              <a:spcBef>
                <a:spcPts val="500"/>
              </a:spcBef>
              <a:defRPr sz="2400"/>
            </a:lvl2pPr>
            <a:lvl3pPr marL="1183639" indent="-228600">
              <a:spcBef>
                <a:spcPts val="400"/>
              </a:spcBef>
              <a:defRPr sz="2000"/>
            </a:lvl3pPr>
            <a:lvl4pPr marL="1640839" indent="-228600">
              <a:spcBef>
                <a:spcPts val="400"/>
              </a:spcBef>
              <a:defRPr sz="2000"/>
            </a:lvl4pPr>
            <a:lvl5pPr marL="2098039" indent="-228600">
              <a:spcBef>
                <a:spcPts val="400"/>
              </a:spcBef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9" name="Shape 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9270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java/IandI/interfaceAsTyp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on Abstraction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</a:p>
          <a:p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More on Interfaces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DFF18-3F51-B0BC-5E51-845484AFFE31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AC8B84E2-6516-1008-B995-B861510B75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Interfaces define Types.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Recap of Social Network V8.0 – Abstract Classes and Methods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An Interface Example – Social Network V9.0.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Naming Conventions for Interfaces.</a:t>
            </a:r>
            <a:endParaRPr lang="en-IE" b="1" dirty="0"/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 flipV="1">
            <a:off x="914400" y="2133600"/>
            <a:ext cx="57912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531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en-IE" dirty="0"/>
              <a:t>Interfaces Define Types</a:t>
            </a:r>
            <a:endParaRPr dirty="0"/>
          </a:p>
        </p:txBody>
      </p:sp>
      <p:sp>
        <p:nvSpPr>
          <p:cNvPr id="380" name="Shape 380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buClr>
                <a:srgbClr val="000000"/>
              </a:buClr>
              <a:defRPr sz="1800">
                <a:uFillTx/>
              </a:defRPr>
            </a:pPr>
            <a:r>
              <a:rPr lang="en-IE" sz="2800" dirty="0">
                <a:uFill>
                  <a:solidFill/>
                </a:uFill>
              </a:rPr>
              <a:t>Interfaces define Types</a:t>
            </a:r>
          </a:p>
          <a:p>
            <a:pPr lvl="1">
              <a:buClr>
                <a:srgbClr val="000000"/>
              </a:buClr>
              <a:defRPr sz="1800">
                <a:uFillTx/>
              </a:defRPr>
            </a:pPr>
            <a:r>
              <a:rPr lang="en-IE" sz="2400" dirty="0">
                <a:uFill>
                  <a:solidFill/>
                </a:uFill>
              </a:rPr>
              <a:t>They define common behaviour i.e. methods </a:t>
            </a:r>
          </a:p>
          <a:p>
            <a:pPr lvl="1">
              <a:buClr>
                <a:srgbClr val="000000"/>
              </a:buClr>
              <a:defRPr sz="1800">
                <a:uFillTx/>
              </a:defRPr>
            </a:pPr>
            <a:r>
              <a:rPr lang="en-IE" sz="2400" dirty="0">
                <a:uFill>
                  <a:solidFill/>
                </a:uFill>
              </a:rPr>
              <a:t>Can be used to promote design to a higher level of abstraction</a:t>
            </a:r>
          </a:p>
          <a:p>
            <a:pPr lvl="1">
              <a:buClr>
                <a:srgbClr val="000000"/>
              </a:buClr>
              <a:defRPr sz="1800">
                <a:uFillTx/>
              </a:defRPr>
            </a:pPr>
            <a:r>
              <a:rPr lang="en-IE" sz="2400" dirty="0">
                <a:uFill>
                  <a:solidFill/>
                </a:uFill>
              </a:rPr>
              <a:t>Can be used where multiple implementations of one abstraction are envisaged</a:t>
            </a:r>
          </a:p>
          <a:p>
            <a:pPr lvl="1">
              <a:buClr>
                <a:srgbClr val="000000"/>
              </a:buClr>
              <a:defRPr sz="1800">
                <a:uFillTx/>
              </a:defRPr>
            </a:pPr>
            <a:r>
              <a:rPr lang="en-US" altLang="en-US" sz="2400" dirty="0"/>
              <a:t>Implementing classes </a:t>
            </a:r>
            <a:r>
              <a:rPr lang="en-US" altLang="en-US" sz="2400" u="sng" dirty="0"/>
              <a:t>are subtypes</a:t>
            </a:r>
            <a:r>
              <a:rPr lang="en-US" altLang="en-US" sz="2400" dirty="0"/>
              <a:t> of the interface type.</a:t>
            </a:r>
            <a:endParaRPr lang="en-IE" sz="2400" dirty="0">
              <a:uFill>
                <a:solidFill/>
              </a:uFill>
            </a:endParaRPr>
          </a:p>
          <a:p>
            <a:pPr marL="40640" indent="0">
              <a:lnSpc>
                <a:spcPct val="90000"/>
              </a:lnSpc>
              <a:buClr>
                <a:srgbClr val="000000"/>
              </a:buClr>
              <a:buNone/>
              <a:defRPr sz="1800">
                <a:uFillTx/>
              </a:defRPr>
            </a:pPr>
            <a:endParaRPr sz="2800" dirty="0">
              <a:uFill>
                <a:solidFill/>
              </a:uFill>
            </a:endParaRPr>
          </a:p>
          <a:p>
            <a:pPr marL="38354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Classes can implement one or more Interfaces as appropriate i.e. have more than one type.</a:t>
            </a:r>
          </a:p>
        </p:txBody>
      </p:sp>
    </p:spTree>
    <p:extLst>
      <p:ext uri="{BB962C8B-B14F-4D97-AF65-F5344CB8AC3E}">
        <p14:creationId xmlns:p14="http://schemas.microsoft.com/office/powerpoint/2010/main" val="265711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>
                <a:uFillTx/>
              </a:defRPr>
            </a:pPr>
            <a:r>
              <a:rPr sz="3600" dirty="0">
                <a:uFill>
                  <a:solidFill/>
                </a:uFill>
              </a:rPr>
              <a:t>Interfaces</a:t>
            </a:r>
            <a:r>
              <a:rPr lang="en-IE" sz="3600" dirty="0">
                <a:uFill>
                  <a:solidFill/>
                </a:uFill>
              </a:rPr>
              <a:t> Impose</a:t>
            </a:r>
            <a:r>
              <a:rPr sz="3600" dirty="0">
                <a:uFill>
                  <a:solidFill/>
                </a:uFill>
              </a:rPr>
              <a:t> Types</a:t>
            </a:r>
          </a:p>
        </p:txBody>
      </p:sp>
      <p:sp>
        <p:nvSpPr>
          <p:cNvPr id="385" name="Shape 385"/>
          <p:cNvSpPr>
            <a:spLocks noGrp="1"/>
          </p:cNvSpPr>
          <p:nvPr>
            <p:ph idx="1"/>
          </p:nvPr>
        </p:nvSpPr>
        <p:spPr>
          <a:xfrm>
            <a:off x="609600" y="1600201"/>
            <a:ext cx="73914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lr>
                <a:srgbClr val="000000"/>
              </a:buClr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If a variable is declared as an </a:t>
            </a:r>
            <a:r>
              <a:rPr lang="en-IE" sz="2800" dirty="0">
                <a:uFill>
                  <a:solidFill/>
                </a:uFill>
              </a:rPr>
              <a:t>I</a:t>
            </a:r>
            <a:r>
              <a:rPr sz="2800" dirty="0" err="1">
                <a:uFill>
                  <a:solidFill/>
                </a:uFill>
              </a:rPr>
              <a:t>nterface</a:t>
            </a:r>
            <a:r>
              <a:rPr sz="2800" dirty="0">
                <a:uFill>
                  <a:solidFill/>
                </a:uFill>
              </a:rPr>
              <a:t> type</a:t>
            </a:r>
            <a:r>
              <a:rPr lang="en-IE" sz="2800" dirty="0">
                <a:uFill>
                  <a:solidFill/>
                </a:uFill>
              </a:rPr>
              <a:t>: </a:t>
            </a:r>
          </a:p>
          <a:p>
            <a:pPr>
              <a:buClr>
                <a:srgbClr val="000000"/>
              </a:buClr>
              <a:defRPr sz="1800">
                <a:uFillTx/>
              </a:defRPr>
            </a:pPr>
            <a:endParaRPr lang="en-IE" sz="1200" dirty="0">
              <a:uFill>
                <a:solidFill/>
              </a:uFill>
            </a:endParaRP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r>
              <a:rPr lang="en-IE" sz="2000" dirty="0" err="1">
                <a:solidFill>
                  <a:srgbClr val="FF0000"/>
                </a:solidFill>
                <a:uFill>
                  <a:solidFill/>
                </a:uFill>
              </a:rPr>
              <a:t>IMammal</a:t>
            </a:r>
            <a:r>
              <a:rPr lang="en-IE" sz="2000" dirty="0">
                <a:solidFill>
                  <a:srgbClr val="FF0000"/>
                </a:solidFill>
                <a:uFill>
                  <a:solidFill/>
                </a:uFill>
              </a:rPr>
              <a:t> dog;</a:t>
            </a:r>
          </a:p>
          <a:p>
            <a:pPr lvl="2">
              <a:buClr>
                <a:srgbClr val="000000"/>
              </a:buClr>
              <a:defRPr sz="1800">
                <a:uFillTx/>
              </a:defRPr>
            </a:pPr>
            <a:endParaRPr lang="en-IE" dirty="0">
              <a:uFill>
                <a:solidFill/>
              </a:uFill>
            </a:endParaRPr>
          </a:p>
          <a:p>
            <a:pPr marL="0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400" dirty="0">
              <a:uFill>
                <a:solidFill/>
              </a:u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53400" y="1600201"/>
            <a:ext cx="2645032" cy="14773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interface </a:t>
            </a:r>
            <a:r>
              <a:rPr lang="en-IE" dirty="0" err="1"/>
              <a:t>IMammal</a:t>
            </a:r>
            <a:r>
              <a:rPr lang="en-IE" dirty="0"/>
              <a:t> </a:t>
            </a:r>
          </a:p>
          <a:p>
            <a:r>
              <a:rPr lang="en-IE" dirty="0"/>
              <a:t>{ </a:t>
            </a:r>
          </a:p>
          <a:p>
            <a:r>
              <a:rPr lang="en-IE" dirty="0"/>
              <a:t>      void eat(); </a:t>
            </a:r>
          </a:p>
          <a:p>
            <a:r>
              <a:rPr lang="en-IE" dirty="0"/>
              <a:t>      void travel();</a:t>
            </a:r>
          </a:p>
          <a:p>
            <a:r>
              <a:rPr lang="en-IE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21155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>
                <a:uFillTx/>
              </a:defRPr>
            </a:pPr>
            <a:r>
              <a:rPr sz="3600" dirty="0">
                <a:uFill>
                  <a:solidFill/>
                </a:uFill>
              </a:rPr>
              <a:t>Interfaces</a:t>
            </a:r>
            <a:r>
              <a:rPr lang="en-IE" sz="3600" dirty="0">
                <a:uFill>
                  <a:solidFill/>
                </a:uFill>
              </a:rPr>
              <a:t> Impose</a:t>
            </a:r>
            <a:r>
              <a:rPr sz="3600" dirty="0">
                <a:uFill>
                  <a:solidFill/>
                </a:uFill>
              </a:rPr>
              <a:t> Types</a:t>
            </a:r>
          </a:p>
        </p:txBody>
      </p:sp>
      <p:sp>
        <p:nvSpPr>
          <p:cNvPr id="385" name="Shape 385"/>
          <p:cNvSpPr>
            <a:spLocks noGrp="1"/>
          </p:cNvSpPr>
          <p:nvPr>
            <p:ph idx="1"/>
          </p:nvPr>
        </p:nvSpPr>
        <p:spPr>
          <a:xfrm>
            <a:off x="609600" y="1600201"/>
            <a:ext cx="73914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lr>
                <a:srgbClr val="000000"/>
              </a:buClr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If a variable is declared as an </a:t>
            </a:r>
            <a:r>
              <a:rPr lang="en-IE" sz="2800" dirty="0">
                <a:uFill>
                  <a:solidFill/>
                </a:uFill>
              </a:rPr>
              <a:t>I</a:t>
            </a:r>
            <a:r>
              <a:rPr sz="2800" dirty="0" err="1">
                <a:uFill>
                  <a:solidFill/>
                </a:uFill>
              </a:rPr>
              <a:t>nterface</a:t>
            </a:r>
            <a:r>
              <a:rPr sz="2800" dirty="0">
                <a:uFill>
                  <a:solidFill/>
                </a:uFill>
              </a:rPr>
              <a:t> type</a:t>
            </a:r>
            <a:r>
              <a:rPr lang="en-IE" sz="2800" dirty="0">
                <a:uFill>
                  <a:solidFill/>
                </a:uFill>
              </a:rPr>
              <a:t>: </a:t>
            </a:r>
          </a:p>
          <a:p>
            <a:pPr>
              <a:buClr>
                <a:srgbClr val="000000"/>
              </a:buClr>
              <a:defRPr sz="1800">
                <a:uFillTx/>
              </a:defRPr>
            </a:pPr>
            <a:endParaRPr lang="en-IE" sz="1200" dirty="0">
              <a:uFill>
                <a:solidFill/>
              </a:uFill>
            </a:endParaRP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r>
              <a:rPr lang="en-IE" sz="2000" dirty="0" err="1">
                <a:solidFill>
                  <a:srgbClr val="FF0000"/>
                </a:solidFill>
                <a:uFill>
                  <a:solidFill/>
                </a:uFill>
              </a:rPr>
              <a:t>IMammal</a:t>
            </a:r>
            <a:r>
              <a:rPr lang="en-IE" sz="2000" dirty="0">
                <a:solidFill>
                  <a:srgbClr val="FF0000"/>
                </a:solidFill>
                <a:uFill>
                  <a:solidFill/>
                </a:uFill>
              </a:rPr>
              <a:t> dog;</a:t>
            </a: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000" dirty="0">
              <a:solidFill>
                <a:srgbClr val="FF0000"/>
              </a:solidFill>
              <a:uFill>
                <a:solidFill/>
              </a:uFill>
            </a:endParaRP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000" dirty="0">
              <a:solidFill>
                <a:srgbClr val="FF0000"/>
              </a:solidFill>
              <a:uFill>
                <a:solidFill/>
              </a:uFill>
            </a:endParaRP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000" dirty="0">
              <a:solidFill>
                <a:srgbClr val="FF0000"/>
              </a:solidFill>
              <a:uFill>
                <a:solidFill/>
              </a:uFill>
            </a:endParaRPr>
          </a:p>
          <a:p>
            <a:pPr>
              <a:buClr>
                <a:srgbClr val="000000"/>
              </a:buClr>
              <a:defRPr sz="1800">
                <a:uFillTx/>
              </a:defRPr>
            </a:pPr>
            <a:r>
              <a:rPr lang="en-IE" sz="2800" dirty="0">
                <a:uFill>
                  <a:solidFill/>
                </a:uFill>
              </a:rPr>
              <a:t>Then any instance of any class that </a:t>
            </a:r>
            <a:br>
              <a:rPr lang="en-IE" sz="2800" dirty="0">
                <a:uFill>
                  <a:solidFill/>
                </a:uFill>
              </a:rPr>
            </a:br>
            <a:r>
              <a:rPr lang="en-IE" sz="2800" dirty="0">
                <a:uFill>
                  <a:solidFill/>
                </a:uFill>
              </a:rPr>
              <a:t>implements that Interface can be </a:t>
            </a:r>
            <a:br>
              <a:rPr lang="en-IE" sz="2800" dirty="0">
                <a:uFill>
                  <a:solidFill/>
                </a:uFill>
              </a:rPr>
            </a:br>
            <a:r>
              <a:rPr lang="en-IE" sz="2800" dirty="0">
                <a:uFill>
                  <a:solidFill/>
                </a:uFill>
              </a:rPr>
              <a:t>assigned to that variable. </a:t>
            </a:r>
          </a:p>
          <a:p>
            <a:pPr>
              <a:buClr>
                <a:srgbClr val="000000"/>
              </a:buClr>
              <a:defRPr sz="1800">
                <a:uFillTx/>
              </a:defRPr>
            </a:pPr>
            <a:endParaRPr lang="en-IE" sz="1200" dirty="0">
              <a:uFill>
                <a:solidFill/>
              </a:uFill>
            </a:endParaRP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r>
              <a:rPr lang="en-IE" sz="2000" dirty="0" err="1">
                <a:solidFill>
                  <a:srgbClr val="FF0000"/>
                </a:solidFill>
                <a:uFill>
                  <a:solidFill/>
                </a:uFill>
              </a:rPr>
              <a:t>IMammal</a:t>
            </a:r>
            <a:r>
              <a:rPr lang="en-IE" sz="2000" dirty="0">
                <a:solidFill>
                  <a:srgbClr val="FF0000"/>
                </a:solidFill>
                <a:uFill>
                  <a:solidFill/>
                </a:uFill>
              </a:rPr>
              <a:t> dog = new Mammal();</a:t>
            </a: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dirty="0">
              <a:uFill>
                <a:solidFill/>
              </a:uFill>
            </a:endParaRPr>
          </a:p>
          <a:p>
            <a:pPr marL="0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400" dirty="0">
              <a:uFill>
                <a:solidFill/>
              </a:u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53400" y="1600201"/>
            <a:ext cx="2645032" cy="14773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interface </a:t>
            </a:r>
            <a:r>
              <a:rPr lang="en-IE" dirty="0" err="1"/>
              <a:t>IMammal</a:t>
            </a:r>
            <a:r>
              <a:rPr lang="en-IE" dirty="0"/>
              <a:t> </a:t>
            </a:r>
          </a:p>
          <a:p>
            <a:r>
              <a:rPr lang="en-IE" dirty="0"/>
              <a:t>{ </a:t>
            </a:r>
          </a:p>
          <a:p>
            <a:r>
              <a:rPr lang="en-IE" dirty="0"/>
              <a:t>      void eat(); </a:t>
            </a:r>
          </a:p>
          <a:p>
            <a:r>
              <a:rPr lang="en-IE" dirty="0"/>
              <a:t>      void travel();</a:t>
            </a:r>
          </a:p>
          <a:p>
            <a:r>
              <a:rPr lang="en-IE" dirty="0"/>
              <a:t>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15E7F-B913-034A-B94E-9CE0C444D915}"/>
              </a:ext>
            </a:extLst>
          </p:cNvPr>
          <p:cNvSpPr/>
          <p:nvPr/>
        </p:nvSpPr>
        <p:spPr>
          <a:xfrm>
            <a:off x="7543800" y="3540841"/>
            <a:ext cx="4289535" cy="25853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Mammal implements </a:t>
            </a:r>
            <a:r>
              <a:rPr lang="en-IE" dirty="0" err="1"/>
              <a:t>IMammal</a:t>
            </a:r>
            <a:r>
              <a:rPr lang="en-IE" dirty="0"/>
              <a:t>{  </a:t>
            </a:r>
          </a:p>
          <a:p>
            <a:r>
              <a:rPr lang="en-IE" dirty="0"/>
              <a:t>    public void eat(){  </a:t>
            </a:r>
          </a:p>
          <a:p>
            <a:r>
              <a:rPr lang="en-IE" dirty="0"/>
              <a:t>         </a:t>
            </a:r>
            <a:r>
              <a:rPr lang="en-IE" dirty="0" err="1"/>
              <a:t>System.out.println</a:t>
            </a:r>
            <a:r>
              <a:rPr lang="en-IE" dirty="0"/>
              <a:t>("Mammal eats"); </a:t>
            </a:r>
          </a:p>
          <a:p>
            <a:r>
              <a:rPr lang="en-IE" dirty="0"/>
              <a:t>    } </a:t>
            </a:r>
          </a:p>
          <a:p>
            <a:endParaRPr lang="en-IE" dirty="0"/>
          </a:p>
          <a:p>
            <a:r>
              <a:rPr lang="en-IE" dirty="0"/>
              <a:t>    public void travel(){ </a:t>
            </a:r>
          </a:p>
          <a:p>
            <a:r>
              <a:rPr lang="en-IE" dirty="0"/>
              <a:t>         </a:t>
            </a:r>
            <a:r>
              <a:rPr lang="en-IE" dirty="0" err="1"/>
              <a:t>System.out.println</a:t>
            </a:r>
            <a:r>
              <a:rPr lang="en-IE" dirty="0"/>
              <a:t>("Mammal travels"); </a:t>
            </a:r>
          </a:p>
          <a:p>
            <a:r>
              <a:rPr lang="en-IE" dirty="0"/>
              <a:t>    } </a:t>
            </a:r>
          </a:p>
          <a:p>
            <a:r>
              <a:rPr lang="en-IE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84995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>
                <a:uFillTx/>
              </a:defRPr>
            </a:pPr>
            <a:r>
              <a:rPr sz="3600" dirty="0">
                <a:uFill>
                  <a:solidFill/>
                </a:uFill>
              </a:rPr>
              <a:t>Interfaces</a:t>
            </a:r>
            <a:r>
              <a:rPr lang="en-IE" sz="3600" dirty="0">
                <a:uFill>
                  <a:solidFill/>
                </a:uFill>
              </a:rPr>
              <a:t> Impose</a:t>
            </a:r>
            <a:r>
              <a:rPr sz="3600" dirty="0">
                <a:uFill>
                  <a:solidFill/>
                </a:uFill>
              </a:rPr>
              <a:t> Types</a:t>
            </a:r>
          </a:p>
        </p:txBody>
      </p:sp>
      <p:sp>
        <p:nvSpPr>
          <p:cNvPr id="385" name="Shape 385"/>
          <p:cNvSpPr>
            <a:spLocks noGrp="1"/>
          </p:cNvSpPr>
          <p:nvPr>
            <p:ph idx="1"/>
          </p:nvPr>
        </p:nvSpPr>
        <p:spPr>
          <a:xfrm>
            <a:off x="609600" y="1600201"/>
            <a:ext cx="6781800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26390" indent="-28575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400" dirty="0"/>
              <a:t>When you define a new interface, you are defining a new </a:t>
            </a:r>
            <a:r>
              <a:rPr lang="en-IE" sz="2400" b="1" dirty="0"/>
              <a:t>Reference Data Type</a:t>
            </a:r>
            <a:r>
              <a:rPr lang="en-IE" sz="2400" dirty="0"/>
              <a:t>. </a:t>
            </a:r>
          </a:p>
          <a:p>
            <a:pPr marL="40640" indent="0">
              <a:lnSpc>
                <a:spcPct val="90000"/>
              </a:lnSpc>
              <a:buClr>
                <a:srgbClr val="000000"/>
              </a:buClr>
              <a:buNone/>
              <a:defRPr sz="1800">
                <a:uFillTx/>
              </a:defRPr>
            </a:pPr>
            <a:endParaRPr lang="en-IE" sz="2400" dirty="0"/>
          </a:p>
          <a:p>
            <a:pPr marL="326390" indent="-28575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400" dirty="0"/>
              <a:t>You can use interface names anywhere you can use any other data type name. </a:t>
            </a:r>
          </a:p>
          <a:p>
            <a:pPr marL="326390" indent="-28575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endParaRPr lang="en-IE" sz="2400" dirty="0"/>
          </a:p>
          <a:p>
            <a:pPr marL="326390" indent="-28575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400" dirty="0"/>
              <a:t>If you define a </a:t>
            </a:r>
            <a:r>
              <a:rPr lang="en-IE" sz="2400" b="1" dirty="0"/>
              <a:t>Reference </a:t>
            </a:r>
            <a:r>
              <a:rPr lang="en-IE" sz="2400" dirty="0"/>
              <a:t>variable whose type is an interface e.g.</a:t>
            </a:r>
          </a:p>
          <a:p>
            <a:pPr marL="440690" lvl="2" indent="0">
              <a:lnSpc>
                <a:spcPct val="90000"/>
              </a:lnSpc>
              <a:buClr>
                <a:srgbClr val="000000"/>
              </a:buClr>
              <a:buNone/>
              <a:defRPr sz="1800">
                <a:uFillTx/>
              </a:defRPr>
            </a:pPr>
            <a:r>
              <a:rPr lang="en-IE" sz="2000" dirty="0">
                <a:solidFill>
                  <a:srgbClr val="FF0000"/>
                </a:solidFill>
                <a:uFill>
                  <a:solidFill/>
                </a:uFill>
              </a:rPr>
              <a:t>	</a:t>
            </a:r>
            <a:r>
              <a:rPr lang="en-IE" sz="2000" dirty="0" err="1">
                <a:solidFill>
                  <a:srgbClr val="FF0000"/>
                </a:solidFill>
                <a:uFill>
                  <a:solidFill/>
                </a:uFill>
              </a:rPr>
              <a:t>IMammal</a:t>
            </a:r>
            <a:r>
              <a:rPr lang="en-IE" sz="2000" dirty="0">
                <a:solidFill>
                  <a:srgbClr val="FF0000"/>
                </a:solidFill>
                <a:uFill>
                  <a:solidFill/>
                </a:uFill>
              </a:rPr>
              <a:t> dog;</a:t>
            </a:r>
          </a:p>
          <a:p>
            <a:pPr marL="326390" indent="-28575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endParaRPr lang="en-IE" sz="2000" dirty="0"/>
          </a:p>
          <a:p>
            <a:pPr marL="326390" indent="-28575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400" dirty="0"/>
              <a:t>any object you assign to it </a:t>
            </a:r>
            <a:r>
              <a:rPr lang="en-IE" sz="2400" i="1" u="sng" dirty="0"/>
              <a:t>must</a:t>
            </a:r>
            <a:r>
              <a:rPr lang="en-IE" sz="2400" dirty="0"/>
              <a:t> be an instance of a class that implements the interface e.g.</a:t>
            </a:r>
          </a:p>
          <a:p>
            <a:pPr marL="40640" lvl="1" indent="0">
              <a:lnSpc>
                <a:spcPct val="90000"/>
              </a:lnSpc>
              <a:buClr>
                <a:srgbClr val="000000"/>
              </a:buClr>
              <a:buNone/>
              <a:defRPr sz="1800">
                <a:uFillTx/>
              </a:defRPr>
            </a:pPr>
            <a:r>
              <a:rPr lang="en-IE" sz="2400" dirty="0">
                <a:solidFill>
                  <a:srgbClr val="FF0000"/>
                </a:solidFill>
                <a:uFill>
                  <a:solidFill/>
                </a:uFill>
              </a:rPr>
              <a:t>	</a:t>
            </a:r>
            <a:r>
              <a:rPr lang="en-IE" sz="2000" dirty="0">
                <a:solidFill>
                  <a:srgbClr val="FF0000"/>
                </a:solidFill>
                <a:uFill>
                  <a:solidFill/>
                </a:uFill>
              </a:rPr>
              <a:t>dog = new Mammal();</a:t>
            </a:r>
          </a:p>
          <a:p>
            <a:pPr marL="0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000" dirty="0">
              <a:solidFill>
                <a:srgbClr val="FF0000"/>
              </a:solidFill>
              <a:uFill>
                <a:solidFill/>
              </a:uFill>
            </a:endParaRPr>
          </a:p>
          <a:p>
            <a:pPr marL="800100" lvl="2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dirty="0">
              <a:uFill>
                <a:solidFill/>
              </a:uFill>
            </a:endParaRPr>
          </a:p>
          <a:p>
            <a:pPr marL="0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400" dirty="0">
              <a:uFill>
                <a:solidFill/>
              </a:u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53400" y="1600201"/>
            <a:ext cx="2645032" cy="14773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interface </a:t>
            </a:r>
            <a:r>
              <a:rPr lang="en-IE" dirty="0" err="1"/>
              <a:t>IMammal</a:t>
            </a:r>
            <a:r>
              <a:rPr lang="en-IE" dirty="0"/>
              <a:t> </a:t>
            </a:r>
          </a:p>
          <a:p>
            <a:r>
              <a:rPr lang="en-IE" dirty="0"/>
              <a:t>{ </a:t>
            </a:r>
          </a:p>
          <a:p>
            <a:r>
              <a:rPr lang="en-IE" dirty="0"/>
              <a:t>      void eat(); </a:t>
            </a:r>
          </a:p>
          <a:p>
            <a:r>
              <a:rPr lang="en-IE" dirty="0"/>
              <a:t>      void travel();</a:t>
            </a:r>
          </a:p>
          <a:p>
            <a:r>
              <a:rPr lang="en-IE" dirty="0"/>
              <a:t>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15E7F-B913-034A-B94E-9CE0C444D915}"/>
              </a:ext>
            </a:extLst>
          </p:cNvPr>
          <p:cNvSpPr/>
          <p:nvPr/>
        </p:nvSpPr>
        <p:spPr>
          <a:xfrm>
            <a:off x="7543800" y="3540841"/>
            <a:ext cx="4289535" cy="25853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Mammal implements </a:t>
            </a:r>
            <a:r>
              <a:rPr lang="en-IE" dirty="0" err="1"/>
              <a:t>IMammal</a:t>
            </a:r>
            <a:r>
              <a:rPr lang="en-IE" dirty="0"/>
              <a:t>{  </a:t>
            </a:r>
          </a:p>
          <a:p>
            <a:r>
              <a:rPr lang="en-IE" dirty="0"/>
              <a:t>    public void eat(){  </a:t>
            </a:r>
          </a:p>
          <a:p>
            <a:r>
              <a:rPr lang="en-IE" dirty="0"/>
              <a:t>         </a:t>
            </a:r>
            <a:r>
              <a:rPr lang="en-IE" dirty="0" err="1"/>
              <a:t>System.out.println</a:t>
            </a:r>
            <a:r>
              <a:rPr lang="en-IE" dirty="0"/>
              <a:t>("Mammal eats"); </a:t>
            </a:r>
          </a:p>
          <a:p>
            <a:r>
              <a:rPr lang="en-IE" dirty="0"/>
              <a:t>    } </a:t>
            </a:r>
          </a:p>
          <a:p>
            <a:endParaRPr lang="en-IE" dirty="0"/>
          </a:p>
          <a:p>
            <a:r>
              <a:rPr lang="en-IE" dirty="0"/>
              <a:t>    public void travel(){ </a:t>
            </a:r>
          </a:p>
          <a:p>
            <a:r>
              <a:rPr lang="en-IE" dirty="0"/>
              <a:t>         </a:t>
            </a:r>
            <a:r>
              <a:rPr lang="en-IE" dirty="0" err="1"/>
              <a:t>System.out.println</a:t>
            </a:r>
            <a:r>
              <a:rPr lang="en-IE" dirty="0"/>
              <a:t>("Mammal travels"); </a:t>
            </a:r>
          </a:p>
          <a:p>
            <a:r>
              <a:rPr lang="en-IE" dirty="0"/>
              <a:t>    } </a:t>
            </a:r>
          </a:p>
          <a:p>
            <a:r>
              <a:rPr lang="en-IE" dirty="0"/>
              <a:t>}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DA881-E402-9844-ABD1-7E8574ECF3D1}"/>
              </a:ext>
            </a:extLst>
          </p:cNvPr>
          <p:cNvSpPr/>
          <p:nvPr/>
        </p:nvSpPr>
        <p:spPr>
          <a:xfrm>
            <a:off x="2971801" y="6494545"/>
            <a:ext cx="72932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dirty="0">
                <a:hlinkClick r:id="rId2"/>
              </a:rPr>
              <a:t>https://docs.oracle.com/javase/tutorial/java/IandI/interfaceAsType.html</a:t>
            </a:r>
            <a:r>
              <a:rPr lang="en-IE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77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Interfaces in Collections Framework</a:t>
            </a:r>
          </a:p>
        </p:txBody>
      </p:sp>
      <p:pic>
        <p:nvPicPr>
          <p:cNvPr id="37893" name="Picture 5" descr="fig10-5-colo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828800"/>
            <a:ext cx="5842659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329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Interfaces in Collections Framework</a:t>
            </a:r>
          </a:p>
        </p:txBody>
      </p:sp>
      <p:pic>
        <p:nvPicPr>
          <p:cNvPr id="37893" name="Picture 5" descr="fig10-5-colo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297651"/>
            <a:ext cx="2407721" cy="1695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09601" y="1676401"/>
            <a:ext cx="3047999" cy="190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 err="1"/>
              <a:t>ArrayList</a:t>
            </a:r>
            <a:r>
              <a:rPr lang="en-US" altLang="en-US" sz="2400" dirty="0"/>
              <a:t> implements the </a:t>
            </a:r>
            <a:br>
              <a:rPr lang="en-US" altLang="en-US" sz="2400" dirty="0"/>
            </a:br>
            <a:r>
              <a:rPr lang="en-US" altLang="en-US" sz="2400" dirty="0"/>
              <a:t>List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497840" lvl="1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endParaRPr lang="en-IE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404A0A-A65C-4E25-AC9C-AA2F079DBD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88" r="1383"/>
          <a:stretch/>
        </p:blipFill>
        <p:spPr>
          <a:xfrm>
            <a:off x="3140529" y="1551229"/>
            <a:ext cx="5910941" cy="5043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4013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Interfaces in Collections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00200"/>
            <a:ext cx="10820400" cy="448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 err="1"/>
              <a:t>ArrayList</a:t>
            </a:r>
            <a:r>
              <a:rPr lang="en-US" altLang="en-US" sz="2800" dirty="0"/>
              <a:t> implements the List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Recall this rule:</a:t>
            </a:r>
            <a:endParaRPr lang="en-IE" sz="2800" dirty="0"/>
          </a:p>
          <a:p>
            <a:pPr marL="840740" lvl="1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uFillTx/>
              </a:defRPr>
            </a:pPr>
            <a:r>
              <a:rPr lang="en-IE" sz="2800" dirty="0"/>
              <a:t>If you define a reference variable whose type is an interface, any object you assign to it </a:t>
            </a:r>
            <a:r>
              <a:rPr lang="en-IE" sz="2800" i="1" u="sng" dirty="0"/>
              <a:t>must</a:t>
            </a:r>
            <a:r>
              <a:rPr lang="en-IE" sz="2800" dirty="0"/>
              <a:t> be an instance of a class that implements the interface.</a:t>
            </a:r>
          </a:p>
          <a:p>
            <a:pPr marL="840740" lvl="1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uFillTx/>
              </a:defRPr>
            </a:pPr>
            <a:endParaRPr lang="en-IE" sz="2800" dirty="0"/>
          </a:p>
          <a:p>
            <a:pPr marL="38354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uFillTx/>
              </a:defRPr>
            </a:pPr>
            <a:r>
              <a:rPr lang="en-IE" sz="2800" dirty="0"/>
              <a:t>Applying this rule to a List:</a:t>
            </a:r>
          </a:p>
          <a:p>
            <a:pPr marL="497840" lvl="1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endParaRPr lang="en-IE" sz="2800" dirty="0"/>
          </a:p>
          <a:p>
            <a:pPr marL="497840" lvl="1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800" dirty="0">
                <a:solidFill>
                  <a:srgbClr val="FF0000"/>
                </a:solidFill>
              </a:rPr>
              <a:t>List&lt;Product&gt; products = new </a:t>
            </a:r>
            <a:r>
              <a:rPr lang="en-IE" sz="2800" dirty="0" err="1">
                <a:solidFill>
                  <a:srgbClr val="FF0000"/>
                </a:solidFill>
              </a:rPr>
              <a:t>ArrayList</a:t>
            </a:r>
            <a:r>
              <a:rPr lang="en-IE" sz="2800" dirty="0">
                <a:solidFill>
                  <a:srgbClr val="FF0000"/>
                </a:solidFill>
              </a:rPr>
              <a:t>&lt;Product&gt;();</a:t>
            </a:r>
          </a:p>
          <a:p>
            <a:pPr marL="497840" lvl="1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endParaRPr lang="en-IE" sz="2800" dirty="0"/>
          </a:p>
        </p:txBody>
      </p:sp>
      <p:pic>
        <p:nvPicPr>
          <p:cNvPr id="5" name="Picture 5" descr="fig10-5-colour">
            <a:extLst>
              <a:ext uri="{FF2B5EF4-FFF2-40B4-BE49-F238E27FC236}">
                <a16:creationId xmlns:a16="http://schemas.microsoft.com/office/drawing/2014/main" id="{1FCFC88F-3F3B-5B42-AAB6-852AF66C2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297651"/>
            <a:ext cx="2407721" cy="1695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84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Interfaces in Collections Framework</a:t>
            </a:r>
            <a:endParaRPr lang="en-IE" dirty="0"/>
          </a:p>
        </p:txBody>
      </p:sp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93659"/>
            <a:ext cx="9510996" cy="4889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46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Interfaces define Types.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Recap of Social Network V8.0 – Abstract Classes and Methods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Social Network V9.0 - An Interface Example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Naming Conventions for Interfaces.</a:t>
            </a:r>
            <a:endParaRPr lang="en-IE" b="1" dirty="0"/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 flipV="1">
            <a:off x="762000" y="4114800"/>
            <a:ext cx="9906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6115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C58E5D-F8CB-EF4C-A40B-9D7F01ABB822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048703" y="5151963"/>
            <a:ext cx="1036856" cy="721804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dirty="0"/>
              <a:t>RECAP - Social Network V8.0 – Post and </a:t>
            </a:r>
            <a:r>
              <a:rPr lang="en-US" sz="3200" dirty="0" err="1"/>
              <a:t>LikedPost</a:t>
            </a:r>
            <a:r>
              <a:rPr lang="en-US" sz="3200" dirty="0"/>
              <a:t> Abstract</a:t>
            </a:r>
            <a:endParaRPr lang="en-US" sz="3200" b="1" dirty="0"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609600" y="1656629"/>
            <a:ext cx="1840523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Driver</a:t>
            </a:r>
            <a:endParaRPr lang="en-GB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3364523" y="1647248"/>
            <a:ext cx="1830811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NewsFeed</a:t>
            </a:r>
            <a:r>
              <a:rPr lang="en-GB" sz="2400" b="1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2450123" y="1990148"/>
            <a:ext cx="914400" cy="938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4038600" y="5873767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MessagePost</a:t>
            </a:r>
            <a:r>
              <a:rPr lang="en-GB" sz="24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6184683" y="58849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PhotoPost</a:t>
            </a:r>
            <a:endParaRPr lang="en-GB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D0C359-01E8-4BA5-9C14-7963EFFF54D9}"/>
              </a:ext>
            </a:extLst>
          </p:cNvPr>
          <p:cNvSpPr/>
          <p:nvPr/>
        </p:nvSpPr>
        <p:spPr>
          <a:xfrm>
            <a:off x="6820176" y="2563833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/>
              <a:t>Post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B3D04E7-92DE-42B2-88E8-D88713F344EE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5263210" y="1349766"/>
            <a:ext cx="573685" cy="254024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D9C1DD-4451-44D5-AB05-AA0193A19C2D}"/>
              </a:ext>
            </a:extLst>
          </p:cNvPr>
          <p:cNvCxnSpPr>
            <a:cxnSpLocks/>
            <a:stCxn id="20" idx="0"/>
            <a:endCxn id="24" idx="3"/>
          </p:cNvCxnSpPr>
          <p:nvPr/>
        </p:nvCxnSpPr>
        <p:spPr>
          <a:xfrm flipV="1">
            <a:off x="6246768" y="3387883"/>
            <a:ext cx="1432566" cy="1031717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B7F89-588B-4827-8445-85C4A17FF656}"/>
              </a:ext>
            </a:extLst>
          </p:cNvPr>
          <p:cNvCxnSpPr>
            <a:cxnSpLocks/>
            <a:stCxn id="19" idx="0"/>
            <a:endCxn id="26" idx="0"/>
          </p:cNvCxnSpPr>
          <p:nvPr/>
        </p:nvCxnSpPr>
        <p:spPr>
          <a:xfrm flipH="1" flipV="1">
            <a:off x="6380103" y="5137937"/>
            <a:ext cx="814683" cy="746963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D15AE0B-FB3D-4791-B237-EC1F7F74FBA3}"/>
              </a:ext>
            </a:extLst>
          </p:cNvPr>
          <p:cNvSpPr/>
          <p:nvPr/>
        </p:nvSpPr>
        <p:spPr>
          <a:xfrm rot="2859348">
            <a:off x="7614599" y="3248564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923BE58-A8F1-4C5D-8980-8D637BF2F893}"/>
              </a:ext>
            </a:extLst>
          </p:cNvPr>
          <p:cNvSpPr/>
          <p:nvPr/>
        </p:nvSpPr>
        <p:spPr>
          <a:xfrm rot="18796891">
            <a:off x="6314443" y="5111763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C3A3B5-D8D2-411B-BCDA-CFCBE558C771}"/>
              </a:ext>
            </a:extLst>
          </p:cNvPr>
          <p:cNvSpPr/>
          <p:nvPr/>
        </p:nvSpPr>
        <p:spPr>
          <a:xfrm>
            <a:off x="8266973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</a:rPr>
              <a:t>EventPost</a:t>
            </a:r>
            <a:endParaRPr lang="en-GB" sz="24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1FF7E4-B531-40D4-BCFC-FAFCC4A77F67}"/>
              </a:ext>
            </a:extLst>
          </p:cNvPr>
          <p:cNvCxnSpPr>
            <a:cxnSpLocks/>
            <a:stCxn id="31" idx="0"/>
            <a:endCxn id="34" idx="0"/>
          </p:cNvCxnSpPr>
          <p:nvPr/>
        </p:nvCxnSpPr>
        <p:spPr>
          <a:xfrm flipH="1" flipV="1">
            <a:off x="7906840" y="3279060"/>
            <a:ext cx="1370236" cy="1140540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884FE89-DAC3-42D2-ABF8-CCA3433A7D8E}"/>
              </a:ext>
            </a:extLst>
          </p:cNvPr>
          <p:cNvSpPr/>
          <p:nvPr/>
        </p:nvSpPr>
        <p:spPr>
          <a:xfrm rot="18439632">
            <a:off x="7846773" y="3246292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0AB90F-0263-B948-AC03-4237E4C12EA7}"/>
              </a:ext>
            </a:extLst>
          </p:cNvPr>
          <p:cNvSpPr/>
          <p:nvPr/>
        </p:nvSpPr>
        <p:spPr>
          <a:xfrm>
            <a:off x="5236665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 err="1">
                <a:solidFill>
                  <a:schemeClr val="tx1"/>
                </a:solidFill>
              </a:rPr>
              <a:t>LikedPost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" name="Isosceles Triangle 25">
            <a:extLst>
              <a:ext uri="{FF2B5EF4-FFF2-40B4-BE49-F238E27FC236}">
                <a16:creationId xmlns:a16="http://schemas.microsoft.com/office/drawing/2014/main" id="{DC1A52B0-28DB-C44E-9ACB-1A870595C3D6}"/>
              </a:ext>
            </a:extLst>
          </p:cNvPr>
          <p:cNvSpPr/>
          <p:nvPr/>
        </p:nvSpPr>
        <p:spPr>
          <a:xfrm rot="3151146">
            <a:off x="5941324" y="5107635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1498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Recap - Abstract classes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n-ea"/>
              </a:rPr>
              <a:t>If you wish all subclasses of a class to implement a particular method as part of its code, simply write an abstract method heading in the superclass. </a:t>
            </a:r>
          </a:p>
          <a:p>
            <a:pPr eaLnBrk="1" hangingPunct="1">
              <a:defRPr/>
            </a:pPr>
            <a:endParaRPr lang="en-US" dirty="0">
              <a:ea typeface="+mn-ea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</a:rPr>
              <a:t>Each concrete subclass must have this method fully coded.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>
                <a:ea typeface="+mn-ea"/>
              </a:rPr>
              <a:t>Each class that has an abstract method must be made abstract too.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788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>
                <a:ea typeface="+mj-ea"/>
              </a:rPr>
              <a:t>RECAP - Syntax for abstract classes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161AB2-9731-4F40-A8FF-77AB50C3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62200"/>
            <a:ext cx="5690212" cy="378565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abstract class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Post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author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Post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author)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author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(author,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20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 //code omitted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 bwMode="auto">
          <a:xfrm>
            <a:off x="1081643" y="1936698"/>
            <a:ext cx="594757" cy="1066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4B894B56-2041-4372-ACC3-BE40B8BA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9066" y="3276600"/>
            <a:ext cx="4360233" cy="313932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VI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abstract class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LikedPost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Post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likes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LikedPost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author){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(author);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GB" altLang="en-VI" sz="18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</a:t>
            </a:r>
            <a:r>
              <a:rPr kumimoji="0" lang="en-GB" altLang="en-VI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A831A-5A99-4714-BD3B-BC87744FCD35}"/>
              </a:ext>
            </a:extLst>
          </p:cNvPr>
          <p:cNvCxnSpPr>
            <a:cxnSpLocks/>
          </p:cNvCxnSpPr>
          <p:nvPr/>
        </p:nvCxnSpPr>
        <p:spPr bwMode="auto">
          <a:xfrm>
            <a:off x="7766266" y="2743200"/>
            <a:ext cx="594757" cy="1066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2A8F01B-4749-45DE-9988-F2EB2C857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066" y="396987"/>
            <a:ext cx="4360233" cy="2251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244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1F20F5-C5CB-40A2-8EB5-127B96CF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9" y="990600"/>
            <a:ext cx="9764243" cy="5540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76200" y="-76200"/>
            <a:ext cx="48412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in Post</a:t>
            </a:r>
            <a:endParaRPr lang="en-VI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4179AE-6D17-4148-BD82-3BDC48A4B465}"/>
              </a:ext>
            </a:extLst>
          </p:cNvPr>
          <p:cNvCxnSpPr>
            <a:cxnSpLocks/>
          </p:cNvCxnSpPr>
          <p:nvPr/>
        </p:nvCxnSpPr>
        <p:spPr bwMode="auto">
          <a:xfrm flipH="1">
            <a:off x="3276600" y="2438400"/>
            <a:ext cx="254936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382D81-786B-439B-B712-86FC9F8E8010}"/>
              </a:ext>
            </a:extLst>
          </p:cNvPr>
          <p:cNvCxnSpPr>
            <a:cxnSpLocks/>
          </p:cNvCxnSpPr>
          <p:nvPr/>
        </p:nvCxnSpPr>
        <p:spPr bwMode="auto">
          <a:xfrm flipH="1">
            <a:off x="5715000" y="4267200"/>
            <a:ext cx="2592139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87B2289-5C81-4C18-8932-57E055056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971520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A559FC-7EBD-3A46-96AD-7A0ACD8BE19F}"/>
              </a:ext>
            </a:extLst>
          </p:cNvPr>
          <p:cNvSpPr/>
          <p:nvPr/>
        </p:nvSpPr>
        <p:spPr>
          <a:xfrm>
            <a:off x="1295400" y="4038600"/>
            <a:ext cx="4419600" cy="45720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38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EventPost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DE3A5D-1A34-47AA-A056-9FA46EE2CE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41"/>
          <a:stretch/>
        </p:blipFill>
        <p:spPr>
          <a:xfrm>
            <a:off x="3911600" y="142051"/>
            <a:ext cx="7962900" cy="65120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066760" y="32004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813300" y="2971800"/>
            <a:ext cx="7073900" cy="990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182222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8CEDF-6D56-0844-8E09-4578516E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060" y="208207"/>
            <a:ext cx="8321040" cy="6517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PhotoPost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362200" y="32766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624642" y="3048000"/>
            <a:ext cx="7338758" cy="106679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928676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F965A-C55B-1D4E-AB2B-FB332FA3C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470" y="139002"/>
            <a:ext cx="8102600" cy="6515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MessagePost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286000" y="34290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572000" y="3276600"/>
            <a:ext cx="7239000" cy="114299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453175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F6FCB2-6882-DC40-BEEE-8D5D795B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302" y="22666"/>
            <a:ext cx="7802298" cy="6682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NewsFeed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3040655" y="37338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5105400" y="3276600"/>
            <a:ext cx="6858000" cy="149648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E1B22-F5F2-8441-916B-C4B329F92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084917"/>
            <a:ext cx="4310425" cy="1142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8999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Interfaces define Types.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Recap of Social Network V8.0 – Abstract Classes and Methods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Social Network V9.0 - An Interface Example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Naming Conventions for Interfaces.</a:t>
            </a:r>
            <a:endParaRPr lang="en-IE" b="1" dirty="0"/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 flipV="1">
            <a:off x="762000" y="4114800"/>
            <a:ext cx="9906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4612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C58E5D-F8CB-EF4C-A40B-9D7F01ABB822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048703" y="5151963"/>
            <a:ext cx="1036856" cy="721804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dirty="0"/>
              <a:t>Social Network V9.0 – An Interface Example</a:t>
            </a:r>
            <a:endParaRPr lang="en-US" sz="3200" b="1" dirty="0"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609600" y="1656629"/>
            <a:ext cx="1840523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Driver</a:t>
            </a:r>
            <a:endParaRPr lang="en-GB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3364523" y="1647248"/>
            <a:ext cx="1830811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NewsFeed</a:t>
            </a:r>
            <a:r>
              <a:rPr lang="en-GB" sz="2400" b="1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2450123" y="1990148"/>
            <a:ext cx="914400" cy="938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4038600" y="5873767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MessagePost</a:t>
            </a:r>
            <a:r>
              <a:rPr lang="en-GB" sz="24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6184683" y="58849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PhotoPost</a:t>
            </a:r>
            <a:endParaRPr lang="en-GB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D0C359-01E8-4BA5-9C14-7963EFFF54D9}"/>
              </a:ext>
            </a:extLst>
          </p:cNvPr>
          <p:cNvSpPr/>
          <p:nvPr/>
        </p:nvSpPr>
        <p:spPr>
          <a:xfrm>
            <a:off x="6856812" y="292493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/>
              <a:t>Post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B3D04E7-92DE-42B2-88E8-D88713F344EE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5091661" y="1521315"/>
            <a:ext cx="965902" cy="258936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D9C1DD-4451-44D5-AB05-AA0193A19C2D}"/>
              </a:ext>
            </a:extLst>
          </p:cNvPr>
          <p:cNvCxnSpPr>
            <a:cxnSpLocks/>
            <a:stCxn id="20" idx="0"/>
            <a:endCxn id="24" idx="3"/>
          </p:cNvCxnSpPr>
          <p:nvPr/>
        </p:nvCxnSpPr>
        <p:spPr>
          <a:xfrm flipV="1">
            <a:off x="6246768" y="3746700"/>
            <a:ext cx="1399074" cy="672900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B7F89-588B-4827-8445-85C4A17FF656}"/>
              </a:ext>
            </a:extLst>
          </p:cNvPr>
          <p:cNvCxnSpPr>
            <a:cxnSpLocks/>
            <a:stCxn id="19" idx="0"/>
            <a:endCxn id="26" idx="0"/>
          </p:cNvCxnSpPr>
          <p:nvPr/>
        </p:nvCxnSpPr>
        <p:spPr>
          <a:xfrm flipH="1" flipV="1">
            <a:off x="6380103" y="5137937"/>
            <a:ext cx="814683" cy="746963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D15AE0B-FB3D-4791-B237-EC1F7F74FBA3}"/>
              </a:ext>
            </a:extLst>
          </p:cNvPr>
          <p:cNvSpPr/>
          <p:nvPr/>
        </p:nvSpPr>
        <p:spPr>
          <a:xfrm rot="3809639">
            <a:off x="7594075" y="3626302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923BE58-A8F1-4C5D-8980-8D637BF2F893}"/>
              </a:ext>
            </a:extLst>
          </p:cNvPr>
          <p:cNvSpPr/>
          <p:nvPr/>
        </p:nvSpPr>
        <p:spPr>
          <a:xfrm rot="18796891">
            <a:off x="6314443" y="5111763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C3A3B5-D8D2-411B-BCDA-CFCBE558C771}"/>
              </a:ext>
            </a:extLst>
          </p:cNvPr>
          <p:cNvSpPr/>
          <p:nvPr/>
        </p:nvSpPr>
        <p:spPr>
          <a:xfrm>
            <a:off x="8266973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</a:rPr>
              <a:t>EventPost</a:t>
            </a:r>
            <a:endParaRPr lang="en-GB" sz="24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1FF7E4-B531-40D4-BCFC-FAFCC4A77F67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8034170" y="3765622"/>
            <a:ext cx="1242906" cy="653978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884FE89-DAC3-42D2-ABF8-CCA3433A7D8E}"/>
              </a:ext>
            </a:extLst>
          </p:cNvPr>
          <p:cNvSpPr/>
          <p:nvPr/>
        </p:nvSpPr>
        <p:spPr>
          <a:xfrm rot="17815709">
            <a:off x="7826249" y="3624030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0AB90F-0263-B948-AC03-4237E4C12EA7}"/>
              </a:ext>
            </a:extLst>
          </p:cNvPr>
          <p:cNvSpPr/>
          <p:nvPr/>
        </p:nvSpPr>
        <p:spPr>
          <a:xfrm>
            <a:off x="5236665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 err="1">
                <a:solidFill>
                  <a:schemeClr val="tx1"/>
                </a:solidFill>
              </a:rPr>
              <a:t>LikedPost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" name="Isosceles Triangle 25">
            <a:extLst>
              <a:ext uri="{FF2B5EF4-FFF2-40B4-BE49-F238E27FC236}">
                <a16:creationId xmlns:a16="http://schemas.microsoft.com/office/drawing/2014/main" id="{DC1A52B0-28DB-C44E-9ACB-1A870595C3D6}"/>
              </a:ext>
            </a:extLst>
          </p:cNvPr>
          <p:cNvSpPr/>
          <p:nvPr/>
        </p:nvSpPr>
        <p:spPr>
          <a:xfrm rot="3151146">
            <a:off x="5941324" y="5107635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3D9A88-75A1-F343-8566-4EE6A518BB1F}"/>
              </a:ext>
            </a:extLst>
          </p:cNvPr>
          <p:cNvSpPr/>
          <p:nvPr/>
        </p:nvSpPr>
        <p:spPr>
          <a:xfrm>
            <a:off x="6987931" y="1615087"/>
            <a:ext cx="1830811" cy="685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ISerializer</a:t>
            </a:r>
            <a:endParaRPr lang="en-GB" sz="2400" b="1" dirty="0"/>
          </a:p>
        </p:txBody>
      </p:sp>
      <p:cxnSp>
        <p:nvCxnSpPr>
          <p:cNvPr id="23" name="Connector: Elbow 15">
            <a:extLst>
              <a:ext uri="{FF2B5EF4-FFF2-40B4-BE49-F238E27FC236}">
                <a16:creationId xmlns:a16="http://schemas.microsoft.com/office/drawing/2014/main" id="{76311695-8E5D-9C40-945A-9A61731098E8}"/>
              </a:ext>
            </a:extLst>
          </p:cNvPr>
          <p:cNvCxnSpPr>
            <a:cxnSpLocks/>
          </p:cNvCxnSpPr>
          <p:nvPr/>
        </p:nvCxnSpPr>
        <p:spPr>
          <a:xfrm flipV="1">
            <a:off x="5195334" y="1966798"/>
            <a:ext cx="1801334" cy="13807"/>
          </a:xfrm>
          <a:prstGeom prst="bentConnector3">
            <a:avLst>
              <a:gd name="adj1" fmla="val 447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22BA593-9422-A942-BCA1-7D25BC86CCE1}"/>
              </a:ext>
            </a:extLst>
          </p:cNvPr>
          <p:cNvSpPr txBox="1"/>
          <p:nvPr/>
        </p:nvSpPr>
        <p:spPr>
          <a:xfrm>
            <a:off x="5410200" y="1600200"/>
            <a:ext cx="12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implements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0D88D7-63F8-B34B-9D77-92BD87C26B08}"/>
              </a:ext>
            </a:extLst>
          </p:cNvPr>
          <p:cNvSpPr txBox="1"/>
          <p:nvPr/>
        </p:nvSpPr>
        <p:spPr>
          <a:xfrm>
            <a:off x="8708231" y="3826946"/>
            <a:ext cx="9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C011EE-2ED8-5F4C-A94F-3D4BCD76AA47}"/>
              </a:ext>
            </a:extLst>
          </p:cNvPr>
          <p:cNvSpPr txBox="1"/>
          <p:nvPr/>
        </p:nvSpPr>
        <p:spPr>
          <a:xfrm>
            <a:off x="6006930" y="3807789"/>
            <a:ext cx="9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67A99D-2BEA-EB4D-A2C5-4127E6532001}"/>
              </a:ext>
            </a:extLst>
          </p:cNvPr>
          <p:cNvSpPr txBox="1"/>
          <p:nvPr/>
        </p:nvSpPr>
        <p:spPr>
          <a:xfrm>
            <a:off x="6846337" y="5243985"/>
            <a:ext cx="9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90A573-0F35-AC41-BE49-64D183D9A58E}"/>
              </a:ext>
            </a:extLst>
          </p:cNvPr>
          <p:cNvSpPr txBox="1"/>
          <p:nvPr/>
        </p:nvSpPr>
        <p:spPr>
          <a:xfrm>
            <a:off x="4614439" y="5254295"/>
            <a:ext cx="9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E1D821-C1E6-B44E-90BA-F34DF6C5C184}"/>
              </a:ext>
            </a:extLst>
          </p:cNvPr>
          <p:cNvSpPr txBox="1"/>
          <p:nvPr/>
        </p:nvSpPr>
        <p:spPr>
          <a:xfrm>
            <a:off x="5109476" y="290551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0055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Interfaces in Collections Framework</a:t>
            </a:r>
            <a:endParaRPr lang="en-IE" dirty="0"/>
          </a:p>
        </p:txBody>
      </p:sp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76400"/>
            <a:ext cx="9220200" cy="4740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4535793B-2C87-0C4E-A4E5-1F94BBF7D419}"/>
              </a:ext>
            </a:extLst>
          </p:cNvPr>
          <p:cNvSpPr/>
          <p:nvPr/>
        </p:nvSpPr>
        <p:spPr>
          <a:xfrm>
            <a:off x="762000" y="3048000"/>
            <a:ext cx="1371600" cy="1143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46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93A84F-89FF-0A47-BF3B-2536F30A415F}"/>
              </a:ext>
            </a:extLst>
          </p:cNvPr>
          <p:cNvSpPr txBox="1"/>
          <p:nvPr/>
        </p:nvSpPr>
        <p:spPr>
          <a:xfrm>
            <a:off x="7010400" y="3171735"/>
            <a:ext cx="35052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Add a getter and a setter for the posts </a:t>
            </a:r>
            <a:r>
              <a:rPr lang="en-IE" sz="2400" dirty="0" err="1"/>
              <a:t>ArrayList</a:t>
            </a:r>
            <a:r>
              <a:rPr lang="en-IE" sz="2400" dirty="0"/>
              <a:t> in </a:t>
            </a:r>
            <a:r>
              <a:rPr lang="en-IE" sz="2400" dirty="0" err="1"/>
              <a:t>NewsFeed</a:t>
            </a:r>
            <a:r>
              <a:rPr lang="en-IE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28997-C191-F24F-8CCD-017FDE3C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659399"/>
            <a:ext cx="5918200" cy="5539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1887B5-294E-2F44-A9E9-AC00BA81631A}"/>
              </a:ext>
            </a:extLst>
          </p:cNvPr>
          <p:cNvSpPr/>
          <p:nvPr/>
        </p:nvSpPr>
        <p:spPr>
          <a:xfrm>
            <a:off x="838200" y="3733799"/>
            <a:ext cx="5486400" cy="246480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53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133320-8B0C-0D47-BBC7-2F56168C5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70024"/>
            <a:ext cx="5867400" cy="5766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1887B5-294E-2F44-A9E9-AC00BA81631A}"/>
              </a:ext>
            </a:extLst>
          </p:cNvPr>
          <p:cNvSpPr/>
          <p:nvPr/>
        </p:nvSpPr>
        <p:spPr>
          <a:xfrm>
            <a:off x="740229" y="914400"/>
            <a:ext cx="3222171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D0FA0-9D36-5249-A48F-FAE7DDF4B4AA}"/>
              </a:ext>
            </a:extLst>
          </p:cNvPr>
          <p:cNvSpPr txBox="1"/>
          <p:nvPr/>
        </p:nvSpPr>
        <p:spPr>
          <a:xfrm>
            <a:off x="7391400" y="2417734"/>
            <a:ext cx="3119284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We will now refactor our app so that our </a:t>
            </a:r>
            <a:r>
              <a:rPr lang="en-IE" sz="2400" b="1" dirty="0"/>
              <a:t>posts</a:t>
            </a:r>
            <a:r>
              <a:rPr lang="en-IE" sz="2400" dirty="0"/>
              <a:t> </a:t>
            </a:r>
            <a:r>
              <a:rPr lang="en-IE" sz="2400" dirty="0" err="1"/>
              <a:t>ArrayList</a:t>
            </a:r>
            <a:r>
              <a:rPr lang="en-IE" sz="2400" dirty="0"/>
              <a:t> is defined using interfaces instead of concrete classes.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93C8EB-A3AD-914D-AF24-388C1C6E2920}"/>
              </a:ext>
            </a:extLst>
          </p:cNvPr>
          <p:cNvSpPr/>
          <p:nvPr/>
        </p:nvSpPr>
        <p:spPr>
          <a:xfrm>
            <a:off x="1066800" y="2209800"/>
            <a:ext cx="3222171" cy="41586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3D1C3CC-8DB4-E147-826C-E2C3D32D85FF}"/>
              </a:ext>
            </a:extLst>
          </p:cNvPr>
          <p:cNvSpPr/>
          <p:nvPr/>
        </p:nvSpPr>
        <p:spPr>
          <a:xfrm>
            <a:off x="1904999" y="4070152"/>
            <a:ext cx="1295401" cy="4256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1C8BA3D-0435-BF44-A4CB-B1E9C4414BC2}"/>
              </a:ext>
            </a:extLst>
          </p:cNvPr>
          <p:cNvSpPr/>
          <p:nvPr/>
        </p:nvSpPr>
        <p:spPr>
          <a:xfrm>
            <a:off x="3429000" y="5321457"/>
            <a:ext cx="2057400" cy="41586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60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Interfaces in Collections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788957"/>
            <a:ext cx="11049000" cy="4284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altLang="en-US" sz="2400" dirty="0"/>
              <a:t>Your code is more </a:t>
            </a:r>
            <a:r>
              <a:rPr lang="en-IE" altLang="en-US" sz="2400" b="1" dirty="0"/>
              <a:t>maintainable</a:t>
            </a:r>
            <a:r>
              <a:rPr lang="en-IE" altLang="en-US" sz="2400" dirty="0"/>
              <a:t> when you define collections like this:</a:t>
            </a:r>
          </a:p>
          <a:p>
            <a:endParaRPr lang="en-IE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altLang="en-US" sz="2400" dirty="0"/>
              <a:t> </a:t>
            </a:r>
            <a:r>
              <a:rPr lang="en-IE" altLang="en-US" sz="2400" dirty="0" err="1"/>
              <a:t>ArrayLists</a:t>
            </a:r>
            <a:r>
              <a:rPr lang="en-IE" altLang="en-US" sz="2400" dirty="0"/>
              <a:t>:</a:t>
            </a:r>
          </a:p>
          <a:p>
            <a:r>
              <a:rPr lang="en-IE" sz="2400" dirty="0">
                <a:solidFill>
                  <a:srgbClr val="FF0000"/>
                </a:solidFill>
              </a:rPr>
              <a:t>     List&lt;Post&gt; posts = new </a:t>
            </a:r>
            <a:r>
              <a:rPr lang="en-IE" sz="2400" dirty="0" err="1">
                <a:solidFill>
                  <a:srgbClr val="FF0000"/>
                </a:solidFill>
              </a:rPr>
              <a:t>ArrayList</a:t>
            </a:r>
            <a:r>
              <a:rPr lang="en-IE" sz="2400" dirty="0">
                <a:solidFill>
                  <a:srgbClr val="FF0000"/>
                </a:solidFill>
              </a:rPr>
              <a:t>&lt;Post&gt;();</a:t>
            </a:r>
          </a:p>
          <a:p>
            <a:pPr marL="497840" lvl="1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endParaRPr lang="en-IE" sz="2400" dirty="0">
              <a:solidFill>
                <a:srgbClr val="FF0000"/>
              </a:solidFill>
            </a:endParaRPr>
          </a:p>
          <a:p>
            <a:pPr marL="38354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uFillTx/>
              </a:defRPr>
            </a:pPr>
            <a:r>
              <a:rPr lang="en-IE" sz="2400" dirty="0"/>
              <a:t>Maps:</a:t>
            </a:r>
          </a:p>
          <a:p>
            <a:pPr marL="40640" lvl="1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000" dirty="0">
                <a:solidFill>
                  <a:srgbClr val="FF0000"/>
                </a:solidFill>
              </a:rPr>
              <a:t>      </a:t>
            </a:r>
            <a:r>
              <a:rPr lang="en-IE" sz="2400" dirty="0">
                <a:solidFill>
                  <a:srgbClr val="FF0000"/>
                </a:solidFill>
              </a:rPr>
              <a:t>Map&lt;String, String&gt; addresses = new </a:t>
            </a:r>
            <a:r>
              <a:rPr lang="en-IE" sz="2400" dirty="0" err="1">
                <a:solidFill>
                  <a:srgbClr val="FF0000"/>
                </a:solidFill>
              </a:rPr>
              <a:t>HashMap</a:t>
            </a:r>
            <a:r>
              <a:rPr lang="en-IE" sz="2400" dirty="0">
                <a:solidFill>
                  <a:srgbClr val="FF0000"/>
                </a:solidFill>
              </a:rPr>
              <a:t>&lt;String, String&gt;();</a:t>
            </a:r>
          </a:p>
          <a:p>
            <a:pPr marL="38354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uFillTx/>
              </a:defRPr>
            </a:pPr>
            <a:endParaRPr lang="en-IE" sz="2800" dirty="0"/>
          </a:p>
          <a:p>
            <a:pPr marL="38354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uFillTx/>
              </a:defRPr>
            </a:pPr>
            <a:r>
              <a:rPr lang="en-IE" sz="2400" dirty="0"/>
              <a:t>Sets:</a:t>
            </a:r>
          </a:p>
          <a:p>
            <a:pPr marL="4064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400" dirty="0">
                <a:solidFill>
                  <a:srgbClr val="FF0000"/>
                </a:solidFill>
              </a:rPr>
              <a:t>     Set&lt;String&gt; words = new </a:t>
            </a:r>
            <a:r>
              <a:rPr lang="en-IE" sz="2400" dirty="0" err="1">
                <a:solidFill>
                  <a:srgbClr val="FF0000"/>
                </a:solidFill>
              </a:rPr>
              <a:t>HashSet</a:t>
            </a:r>
            <a:r>
              <a:rPr lang="en-IE" sz="2400" dirty="0">
                <a:solidFill>
                  <a:srgbClr val="FF0000"/>
                </a:solidFill>
              </a:rPr>
              <a:t>&lt;String&gt;();</a:t>
            </a:r>
          </a:p>
          <a:p>
            <a:pPr marL="4064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endParaRPr lang="en-IE" sz="2400" i="1" dirty="0"/>
          </a:p>
          <a:p>
            <a:pPr marL="40640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400" i="1" dirty="0"/>
              <a:t>Note:  Include this approach in your Assignment 2.</a:t>
            </a:r>
          </a:p>
        </p:txBody>
      </p:sp>
    </p:spTree>
    <p:extLst>
      <p:ext uri="{BB962C8B-B14F-4D97-AF65-F5344CB8AC3E}">
        <p14:creationId xmlns:p14="http://schemas.microsoft.com/office/powerpoint/2010/main" val="2751242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Interfaces in Collections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00200"/>
            <a:ext cx="9829800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altLang="en-US" sz="2400" dirty="0"/>
              <a:t>Why is code more maintainable when </a:t>
            </a:r>
            <a:r>
              <a:rPr lang="en-IE" altLang="en-US" sz="2400" dirty="0" err="1"/>
              <a:t>ArrayLists</a:t>
            </a:r>
            <a:r>
              <a:rPr lang="en-IE" altLang="en-US" sz="2400" dirty="0"/>
              <a:t> are defined like:</a:t>
            </a:r>
          </a:p>
          <a:p>
            <a:pPr marL="497840" lvl="1">
              <a:lnSpc>
                <a:spcPct val="90000"/>
              </a:lnSpc>
              <a:buClr>
                <a:srgbClr val="000000"/>
              </a:buClr>
              <a:defRPr sz="1800">
                <a:uFillTx/>
              </a:defRPr>
            </a:pPr>
            <a:r>
              <a:rPr lang="en-IE" sz="2400" dirty="0">
                <a:solidFill>
                  <a:srgbClr val="FF0000"/>
                </a:solidFill>
              </a:rPr>
              <a:t>List&lt;Post&gt; posts = new </a:t>
            </a:r>
            <a:r>
              <a:rPr lang="en-IE" sz="2400" dirty="0" err="1">
                <a:solidFill>
                  <a:srgbClr val="FF0000"/>
                </a:solidFill>
              </a:rPr>
              <a:t>ArrayList</a:t>
            </a:r>
            <a:r>
              <a:rPr lang="en-IE" sz="2400" dirty="0">
                <a:solidFill>
                  <a:srgbClr val="FF0000"/>
                </a:solidFill>
              </a:rPr>
              <a:t>&lt;Post&gt;();</a:t>
            </a:r>
          </a:p>
        </p:txBody>
      </p:sp>
      <p:pic>
        <p:nvPicPr>
          <p:cNvPr id="4" name="Picture 5" descr="fig10-5-colo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3076213"/>
            <a:ext cx="3048000" cy="2146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9600" y="2819400"/>
            <a:ext cx="6934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Answer:  if we decided, at a later date, that we wanted to use a </a:t>
            </a:r>
            <a:r>
              <a:rPr lang="en-IE" sz="2400" dirty="0" err="1"/>
              <a:t>LinkedList</a:t>
            </a:r>
            <a:r>
              <a:rPr lang="en-IE" sz="2400" dirty="0"/>
              <a:t> instead of an </a:t>
            </a:r>
            <a:r>
              <a:rPr lang="en-IE" sz="2400" dirty="0" err="1"/>
              <a:t>ArrayList</a:t>
            </a:r>
            <a:r>
              <a:rPr lang="en-IE" sz="2400" dirty="0"/>
              <a:t>, we only have to make minor changes in the class i.e.</a:t>
            </a:r>
          </a:p>
          <a:p>
            <a:endParaRPr lang="en-IE" sz="2400" dirty="0"/>
          </a:p>
          <a:p>
            <a:pPr marL="457200" lvl="2"/>
            <a:r>
              <a:rPr lang="en-IE" sz="2400" dirty="0">
                <a:solidFill>
                  <a:srgbClr val="FF0000"/>
                </a:solidFill>
              </a:rPr>
              <a:t>new </a:t>
            </a:r>
            <a:r>
              <a:rPr lang="en-IE" sz="2400" dirty="0" err="1">
                <a:solidFill>
                  <a:srgbClr val="FF0000"/>
                </a:solidFill>
              </a:rPr>
              <a:t>ArrayList</a:t>
            </a:r>
            <a:r>
              <a:rPr lang="en-IE" sz="2400" dirty="0">
                <a:solidFill>
                  <a:srgbClr val="FF0000"/>
                </a:solidFill>
              </a:rPr>
              <a:t>&lt;Post&gt;();</a:t>
            </a:r>
            <a:endParaRPr lang="en-IE" sz="2400" dirty="0"/>
          </a:p>
          <a:p>
            <a:r>
              <a:rPr lang="en-IE" sz="2400" dirty="0"/>
              <a:t>becomes</a:t>
            </a:r>
          </a:p>
          <a:p>
            <a:pPr marL="457200" lvl="2"/>
            <a:r>
              <a:rPr lang="en-IE" sz="2400" dirty="0">
                <a:solidFill>
                  <a:srgbClr val="FF0000"/>
                </a:solidFill>
              </a:rPr>
              <a:t>new LinkedList&lt;Post&gt;();</a:t>
            </a:r>
          </a:p>
          <a:p>
            <a:pPr marL="457200" lvl="2"/>
            <a:endParaRPr lang="en-IE" sz="2400" dirty="0">
              <a:solidFill>
                <a:srgbClr val="FF0000"/>
              </a:solidFill>
            </a:endParaRPr>
          </a:p>
          <a:p>
            <a:pPr marL="0" lvl="1"/>
            <a:r>
              <a:rPr lang="en-IE" sz="2400" dirty="0"/>
              <a:t>and </a:t>
            </a:r>
            <a:r>
              <a:rPr lang="en-IE" sz="2400" dirty="0">
                <a:solidFill>
                  <a:srgbClr val="FF0000"/>
                </a:solidFill>
              </a:rPr>
              <a:t>import </a:t>
            </a:r>
            <a:r>
              <a:rPr lang="en-IE" sz="2400" dirty="0" err="1">
                <a:solidFill>
                  <a:srgbClr val="FF0000"/>
                </a:solidFill>
              </a:rPr>
              <a:t>java.util.LinkedList</a:t>
            </a:r>
            <a:r>
              <a:rPr lang="en-IE" sz="2400" dirty="0">
                <a:solidFill>
                  <a:srgbClr val="FF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58366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C3CD-0535-3244-A527-90989944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Network V9.0 – Adding </a:t>
            </a:r>
            <a:r>
              <a:rPr lang="en-US" dirty="0" err="1"/>
              <a:t>ISerializer</a:t>
            </a:r>
            <a:r>
              <a:rPr lang="en-US" dirty="0"/>
              <a:t>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F09BA-B864-664A-B8CC-874125F8F77B}"/>
              </a:ext>
            </a:extLst>
          </p:cNvPr>
          <p:cNvSpPr txBox="1"/>
          <p:nvPr/>
        </p:nvSpPr>
        <p:spPr>
          <a:xfrm>
            <a:off x="582705" y="1937310"/>
            <a:ext cx="4903695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We have used Interfaces in our code (i.e. the List Collection) but we have not written an actual Interface entity ourselves.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B67EE-C9D7-294B-B67D-A71D428D5D0D}"/>
              </a:ext>
            </a:extLst>
          </p:cNvPr>
          <p:cNvSpPr txBox="1"/>
          <p:nvPr/>
        </p:nvSpPr>
        <p:spPr>
          <a:xfrm>
            <a:off x="587188" y="4538008"/>
            <a:ext cx="10995212" cy="19389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Now we will write an Interface called </a:t>
            </a:r>
            <a:r>
              <a:rPr lang="en-IE" sz="2400" dirty="0" err="1">
                <a:solidFill>
                  <a:srgbClr val="FF0000"/>
                </a:solidFill>
              </a:rPr>
              <a:t>ISerializer</a:t>
            </a:r>
            <a:r>
              <a:rPr lang="en-IE" sz="2400" dirty="0"/>
              <a:t> that imposes a design contract on all classes implementing it.</a:t>
            </a:r>
            <a:endParaRPr lang="en-IE" sz="2400" dirty="0">
              <a:solidFill>
                <a:srgbClr val="FF0000"/>
              </a:solidFill>
            </a:endParaRPr>
          </a:p>
          <a:p>
            <a:endParaRPr lang="en-IE" sz="2400" dirty="0">
              <a:solidFill>
                <a:srgbClr val="FF0000"/>
              </a:solidFill>
            </a:endParaRPr>
          </a:p>
          <a:p>
            <a:r>
              <a:rPr lang="en-IE" sz="2400" dirty="0">
                <a:solidFill>
                  <a:schemeClr val="tx1"/>
                </a:solidFill>
              </a:rPr>
              <a:t>When the </a:t>
            </a:r>
            <a:r>
              <a:rPr lang="en-IE" sz="2400" dirty="0" err="1">
                <a:solidFill>
                  <a:srgbClr val="FF0000"/>
                </a:solidFill>
              </a:rPr>
              <a:t>NewsFeed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>
                <a:solidFill>
                  <a:schemeClr val="tx1"/>
                </a:solidFill>
              </a:rPr>
              <a:t>class implements this interface, it will be forced to provide an implementation for the abstract methods defined in </a:t>
            </a:r>
            <a:r>
              <a:rPr lang="en-IE" sz="2400" dirty="0" err="1">
                <a:solidFill>
                  <a:srgbClr val="FF0000"/>
                </a:solidFill>
              </a:rPr>
              <a:t>ISerializer</a:t>
            </a:r>
            <a:r>
              <a:rPr lang="en-IE" sz="24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612719-EA06-994B-8869-A5668133D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76399"/>
            <a:ext cx="5181600" cy="2671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1007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C3CD-0535-3244-A527-90989944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Network V9.0 – Create </a:t>
            </a:r>
            <a:r>
              <a:rPr lang="en-US" dirty="0" err="1"/>
              <a:t>ISerializer</a:t>
            </a:r>
            <a:r>
              <a:rPr lang="en-US" dirty="0"/>
              <a:t>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89FE4-91CB-F340-A0A4-9140AAEA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7307"/>
            <a:ext cx="7924800" cy="4799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8E4008-CBF0-F743-B268-FA7072F3E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2701526"/>
            <a:ext cx="3505200" cy="1807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1499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C3CD-0535-3244-A527-90989944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Social Network V9.0 – Implement </a:t>
            </a:r>
            <a:r>
              <a:rPr lang="en-US" sz="3600" dirty="0" err="1"/>
              <a:t>ISerializer</a:t>
            </a:r>
            <a:r>
              <a:rPr lang="en-US" sz="3600" dirty="0"/>
              <a:t>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BB8534-6469-BB4B-A5DA-6D82797F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97" y="1676400"/>
            <a:ext cx="8374676" cy="4906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24B21C-696B-544D-A6E6-1F16DA2DF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2701526"/>
            <a:ext cx="3505200" cy="1807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9901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B2E65A-0BC5-E24D-9E7E-0C1253A0B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61959"/>
            <a:ext cx="3577389" cy="121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8CC3CD-0535-3244-A527-90989944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Social Network V9.0 – Implement </a:t>
            </a:r>
            <a:r>
              <a:rPr lang="en-US" sz="3600" dirty="0" err="1"/>
              <a:t>ISerializer</a:t>
            </a:r>
            <a:r>
              <a:rPr lang="en-US" sz="3600" dirty="0"/>
              <a:t> 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F2D0FD-06D8-A247-87A5-B7F52F937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74863"/>
            <a:ext cx="6259243" cy="2308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824597-7364-DC4A-9663-E4FA9D7F994F}"/>
              </a:ext>
            </a:extLst>
          </p:cNvPr>
          <p:cNvSpPr/>
          <p:nvPr/>
        </p:nvSpPr>
        <p:spPr>
          <a:xfrm>
            <a:off x="304800" y="1655409"/>
            <a:ext cx="2362200" cy="7159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Already Added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FE3069-70E9-6442-951E-C6618F1D116C}"/>
              </a:ext>
            </a:extLst>
          </p:cNvPr>
          <p:cNvSpPr/>
          <p:nvPr/>
        </p:nvSpPr>
        <p:spPr>
          <a:xfrm>
            <a:off x="304800" y="4844609"/>
            <a:ext cx="2362200" cy="7159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 be Added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35A7DB-652B-094E-BFD0-C76CDCBC3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2701526"/>
            <a:ext cx="3505200" cy="1807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04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C3CD-0535-3244-A527-90989944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Social Network V9.0 – Using </a:t>
            </a:r>
            <a:r>
              <a:rPr lang="en-US" sz="3600" dirty="0" err="1"/>
              <a:t>ISerializer</a:t>
            </a:r>
            <a:r>
              <a:rPr lang="en-US" sz="3600" dirty="0"/>
              <a:t>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D37A3-1A4F-BD47-951B-260220E5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62" y="1524000"/>
            <a:ext cx="8662938" cy="52010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35A7DB-652B-094E-BFD0-C76CDCBC3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2701526"/>
            <a:ext cx="3505200" cy="1807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7187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Interfaces define Types.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Recap of Social Network V8.0 – Abstract Classes and Methods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Social Network V9.0 - An Interface Example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Naming Conventions for Interfaces.</a:t>
            </a:r>
            <a:endParaRPr lang="en-IE" b="1" dirty="0"/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 flipV="1">
            <a:off x="762000" y="5105400"/>
            <a:ext cx="9906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7905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/>
            <a:r>
              <a:rPr lang="en-IE" dirty="0"/>
              <a:t>Common Naming Conventions for Interfaces</a:t>
            </a:r>
          </a:p>
        </p:txBody>
      </p:sp>
      <p:sp>
        <p:nvSpPr>
          <p:cNvPr id="474" name="Shape 47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Suffix </a:t>
            </a:r>
            <a:r>
              <a:rPr lang="en-IE" b="1" i="1" dirty="0"/>
              <a:t>able</a:t>
            </a:r>
            <a:r>
              <a:rPr lang="en-IE" dirty="0"/>
              <a:t> is often used for interfaces</a:t>
            </a:r>
          </a:p>
          <a:p>
            <a:pPr lvl="1"/>
            <a:r>
              <a:rPr lang="en-IE" dirty="0" err="1"/>
              <a:t>Cloneable</a:t>
            </a:r>
            <a:r>
              <a:rPr lang="en-IE" dirty="0"/>
              <a:t>,  Serializable, and Transferable</a:t>
            </a:r>
          </a:p>
          <a:p>
            <a:r>
              <a:rPr lang="en-IE" dirty="0"/>
              <a:t>Nouns are often used for implementing classes names, and I + noun for interfaces</a:t>
            </a:r>
          </a:p>
          <a:p>
            <a:pPr lvl="1"/>
            <a:r>
              <a:rPr lang="en-IE" dirty="0"/>
              <a:t>Interfaces: </a:t>
            </a:r>
            <a:r>
              <a:rPr lang="en-IE" dirty="0" err="1"/>
              <a:t>IColor</a:t>
            </a:r>
            <a:r>
              <a:rPr lang="en-IE" dirty="0"/>
              <a:t>, </a:t>
            </a:r>
            <a:r>
              <a:rPr lang="en-IE" dirty="0" err="1"/>
              <a:t>ICar</a:t>
            </a:r>
            <a:r>
              <a:rPr lang="en-IE" dirty="0"/>
              <a:t>, and </a:t>
            </a:r>
            <a:r>
              <a:rPr lang="en-IE" dirty="0" err="1"/>
              <a:t>IColoredCar</a:t>
            </a:r>
            <a:endParaRPr lang="en-IE" dirty="0"/>
          </a:p>
          <a:p>
            <a:pPr lvl="1"/>
            <a:r>
              <a:rPr lang="en-IE" dirty="0"/>
              <a:t>Classes: </a:t>
            </a:r>
            <a:r>
              <a:rPr lang="en-IE" dirty="0" err="1"/>
              <a:t>Color</a:t>
            </a:r>
            <a:r>
              <a:rPr lang="en-IE" dirty="0"/>
              <a:t>, Car, and </a:t>
            </a:r>
            <a:r>
              <a:rPr lang="en-IE" dirty="0" err="1"/>
              <a:t>ColoredCar</a:t>
            </a:r>
            <a:endParaRPr lang="en-IE" dirty="0"/>
          </a:p>
          <a:p>
            <a:r>
              <a:rPr lang="en-IE" dirty="0"/>
              <a:t>Nouns are often used for interfaces names, and </a:t>
            </a:r>
            <a:r>
              <a:rPr lang="en-IE" dirty="0" err="1"/>
              <a:t>noun+Impl</a:t>
            </a:r>
            <a:r>
              <a:rPr lang="en-IE" dirty="0"/>
              <a:t> for implementing classes</a:t>
            </a:r>
          </a:p>
          <a:p>
            <a:pPr lvl="1"/>
            <a:r>
              <a:rPr lang="en-IE" dirty="0"/>
              <a:t>Interfaces: </a:t>
            </a:r>
            <a:r>
              <a:rPr lang="en-IE" dirty="0" err="1"/>
              <a:t>Color</a:t>
            </a:r>
            <a:r>
              <a:rPr lang="en-IE" dirty="0"/>
              <a:t>, Car, and </a:t>
            </a:r>
            <a:r>
              <a:rPr lang="en-IE" dirty="0" err="1"/>
              <a:t>ColoredCar</a:t>
            </a:r>
            <a:endParaRPr lang="en-IE" dirty="0"/>
          </a:p>
          <a:p>
            <a:pPr lvl="1"/>
            <a:r>
              <a:rPr lang="en-IE" dirty="0"/>
              <a:t>Classes: </a:t>
            </a:r>
            <a:r>
              <a:rPr lang="en-IE" dirty="0" err="1"/>
              <a:t>ColorImpl</a:t>
            </a:r>
            <a:r>
              <a:rPr lang="en-IE" dirty="0"/>
              <a:t>, </a:t>
            </a:r>
            <a:r>
              <a:rPr lang="en-IE" dirty="0" err="1"/>
              <a:t>CarImpl</a:t>
            </a:r>
            <a:r>
              <a:rPr lang="en-IE" dirty="0"/>
              <a:t>, and </a:t>
            </a:r>
            <a:r>
              <a:rPr lang="en-IE" dirty="0" err="1"/>
              <a:t>ColoredCarImpl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1191645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9FA424CB-A630-4C32-B8B5-E86E94B04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</Words>
  <Application>Microsoft Office PowerPoint</Application>
  <PresentationFormat>Widescreen</PresentationFormat>
  <Paragraphs>226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Gill Sans</vt:lpstr>
      <vt:lpstr>JetBrains Mono</vt:lpstr>
      <vt:lpstr>Times New Roman</vt:lpstr>
      <vt:lpstr>Office Theme</vt:lpstr>
      <vt:lpstr>More on Abstraction in Java</vt:lpstr>
      <vt:lpstr>Topic List </vt:lpstr>
      <vt:lpstr>Interfaces Define Types</vt:lpstr>
      <vt:lpstr>Interfaces Impose Types</vt:lpstr>
      <vt:lpstr>Interfaces Impose Types</vt:lpstr>
      <vt:lpstr>Interfaces Impose Types</vt:lpstr>
      <vt:lpstr>Interfaces in Collections Framework</vt:lpstr>
      <vt:lpstr>Interfaces in Collections Framework</vt:lpstr>
      <vt:lpstr>Interfaces in Collections Framework</vt:lpstr>
      <vt:lpstr>Interfaces in Collections Framework</vt:lpstr>
      <vt:lpstr>Topic List </vt:lpstr>
      <vt:lpstr>RECAP - Social Network V8.0 – Post and LikedPost Abstract</vt:lpstr>
      <vt:lpstr>Recap - Abstract classes and methods</vt:lpstr>
      <vt:lpstr>RECAP - Syntax for abstract classes</vt:lpstr>
      <vt:lpstr>displayCondensed() in Post</vt:lpstr>
      <vt:lpstr>displayCondensed()  in EventPost</vt:lpstr>
      <vt:lpstr>displayCondensed()  in PhotoPost</vt:lpstr>
      <vt:lpstr>displayCondensed()  in MessagePost</vt:lpstr>
      <vt:lpstr>displayCondensed()  in NewsFeed</vt:lpstr>
      <vt:lpstr>Topic List </vt:lpstr>
      <vt:lpstr>Social Network V9.0 – An Interface Example</vt:lpstr>
      <vt:lpstr>Interfaces in Collections Framework</vt:lpstr>
      <vt:lpstr>PowerPoint Presentation</vt:lpstr>
      <vt:lpstr>PowerPoint Presentation</vt:lpstr>
      <vt:lpstr>Interfaces in Collections Framework</vt:lpstr>
      <vt:lpstr>Interfaces in Collections Framework</vt:lpstr>
      <vt:lpstr>Social Network V9.0 – Adding ISerializer Interface</vt:lpstr>
      <vt:lpstr>Social Network V9.0 – Create ISerializer Interface</vt:lpstr>
      <vt:lpstr>Social Network V9.0 – Implement ISerializer Interface</vt:lpstr>
      <vt:lpstr>Social Network V9.0 – Implement ISerializer methods</vt:lpstr>
      <vt:lpstr>Social Network V9.0 – Using ISerializer methods</vt:lpstr>
      <vt:lpstr>Topic List </vt:lpstr>
      <vt:lpstr>Common Naming Conventions for Interfaces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221</cp:revision>
  <dcterms:created xsi:type="dcterms:W3CDTF">2006-08-16T00:00:00Z</dcterms:created>
  <dcterms:modified xsi:type="dcterms:W3CDTF">2026-04-09T12:28:16Z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