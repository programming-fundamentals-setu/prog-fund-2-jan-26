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462" r:id="rId3"/>
    <p:sldId id="404" r:id="rId4"/>
    <p:sldId id="407" r:id="rId5"/>
    <p:sldId id="408" r:id="rId6"/>
    <p:sldId id="531" r:id="rId7"/>
    <p:sldId id="532" r:id="rId8"/>
    <p:sldId id="534" r:id="rId9"/>
    <p:sldId id="535" r:id="rId10"/>
    <p:sldId id="536" r:id="rId11"/>
    <p:sldId id="537" r:id="rId12"/>
    <p:sldId id="538" r:id="rId13"/>
    <p:sldId id="539" r:id="rId14"/>
    <p:sldId id="466" r:id="rId15"/>
    <p:sldId id="451" r:id="rId16"/>
    <p:sldId id="461" r:id="rId17"/>
    <p:sldId id="452" r:id="rId18"/>
    <p:sldId id="453" r:id="rId19"/>
    <p:sldId id="454" r:id="rId20"/>
    <p:sldId id="456" r:id="rId21"/>
    <p:sldId id="455" r:id="rId22"/>
    <p:sldId id="458" r:id="rId23"/>
    <p:sldId id="457" r:id="rId24"/>
    <p:sldId id="459" r:id="rId25"/>
    <p:sldId id="392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 autoAdjust="0"/>
    <p:restoredTop sz="94398"/>
  </p:normalViewPr>
  <p:slideViewPr>
    <p:cSldViewPr>
      <p:cViewPr varScale="1">
        <p:scale>
          <a:sx n="73" d="100"/>
          <a:sy n="73" d="100"/>
        </p:scale>
        <p:origin x="82" y="43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09/04/2026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200" b="0">
                <a:latin typeface="Times New Roman" charset="0"/>
              </a:rPr>
              <a:t>Objects First with Java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1200" b="0">
                <a:latin typeface="Times New Roman" pitchFamily="18" charset="0"/>
              </a:rPr>
              <a:t>© David J. Barnes and Michael Kölling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itchFamily="49" charset="0"/>
                <a:ea typeface="MS PGothic" pitchFamily="34" charset="-128"/>
              </a:defRPr>
            </a:lvl9pPr>
          </a:lstStyle>
          <a:p>
            <a:pPr>
              <a:defRPr/>
            </a:pPr>
            <a:fld id="{AA88746B-1452-4FDB-A335-F32686CD2CA2}" type="slidenum">
              <a:rPr lang="en-GB" altLang="en-US" sz="1200" b="0" smtClean="0">
                <a:latin typeface="Times New Roman" pitchFamily="18" charset="0"/>
              </a:rPr>
              <a:pPr>
                <a:defRPr/>
              </a:pPr>
              <a:t>6</a:t>
            </a:fld>
            <a:endParaRPr lang="en-GB" altLang="en-US" sz="1200" b="0">
              <a:latin typeface="Times New Roman" pitchFamily="18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dirty="0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96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697796" y="3128069"/>
            <a:ext cx="2446179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16"/>
            <a:ext cx="3751796" cy="1110421"/>
            <a:chOff x="0" y="-174374"/>
            <a:chExt cx="4001913" cy="1579263"/>
          </a:xfrm>
        </p:grpSpPr>
        <p:sp>
          <p:nvSpPr>
            <p:cNvPr id="210" name="Shape 210"/>
            <p:cNvSpPr/>
            <p:nvPr/>
          </p:nvSpPr>
          <p:spPr>
            <a:xfrm>
              <a:off x="0" y="-174374"/>
              <a:ext cx="4001913" cy="9583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8382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on Abstraction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 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209800" y="22098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Deadly Diamond of Death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217AF-6640-DF2E-32F1-467AAC13A162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D23A895-6146-A8E8-5402-1688C963E7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406C-A71D-4CEC-A0BF-912ED8E0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2590801"/>
            <a:ext cx="7772400" cy="1362075"/>
          </a:xfrm>
        </p:spPr>
        <p:txBody>
          <a:bodyPr/>
          <a:lstStyle/>
          <a:p>
            <a:r>
              <a:rPr lang="en-IE" dirty="0"/>
              <a:t>Recap on Abstraction</a:t>
            </a:r>
          </a:p>
        </p:txBody>
      </p:sp>
    </p:spTree>
    <p:extLst>
      <p:ext uri="{BB962C8B-B14F-4D97-AF65-F5344CB8AC3E}">
        <p14:creationId xmlns:p14="http://schemas.microsoft.com/office/powerpoint/2010/main" val="120492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Abstract vs Concrete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>
                <a:ea typeface="+mn-ea"/>
              </a:rPr>
              <a:t>Abstract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Implementation delayed</a:t>
            </a:r>
          </a:p>
          <a:p>
            <a:pPr marL="457200" lvl="1" indent="0">
              <a:buNone/>
              <a:defRPr/>
            </a:pPr>
            <a:r>
              <a:rPr lang="en-US" dirty="0"/>
              <a:t>		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abstract method has no code</a:t>
            </a:r>
          </a:p>
          <a:p>
            <a:pPr marL="457200" lvl="1" indent="0">
              <a:buNone/>
              <a:defRPr/>
            </a:pPr>
            <a:r>
              <a:rPr lang="en-US" dirty="0">
                <a:ea typeface="+mn-ea"/>
              </a:rPr>
              <a:t>		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ea typeface="+mn-ea"/>
              </a:rPr>
              <a:t> cannot instantiate an abstract class (it has, by definition 		“unfinished” methods)</a:t>
            </a:r>
          </a:p>
          <a:p>
            <a:pPr marL="514350" indent="-457200">
              <a:defRPr/>
            </a:pPr>
            <a:endParaRPr lang="en-US" dirty="0">
              <a:ea typeface="+mn-ea"/>
            </a:endParaRPr>
          </a:p>
          <a:p>
            <a:pPr marL="514350" indent="-457200">
              <a:defRPr/>
            </a:pPr>
            <a:r>
              <a:rPr lang="en-US" dirty="0">
                <a:ea typeface="+mn-ea"/>
              </a:rPr>
              <a:t>Concrete 	</a:t>
            </a:r>
          </a:p>
          <a:p>
            <a:pPr marL="914400" lvl="1" indent="-457200">
              <a:defRPr/>
            </a:pPr>
            <a:r>
              <a:rPr lang="en-US" dirty="0">
                <a:ea typeface="+mn-ea"/>
              </a:rPr>
              <a:t>Ready to go.</a:t>
            </a:r>
          </a:p>
          <a:p>
            <a:pPr marL="914400" lvl="1" indent="-457200">
              <a:defRPr/>
            </a:pPr>
            <a:r>
              <a:rPr lang="en-US" dirty="0">
                <a:ea typeface="+mn-ea"/>
              </a:rPr>
              <a:t>Everything up to now has been concrete.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1954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Abstract Methods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Abstract methods have </a:t>
            </a:r>
            <a:r>
              <a:rPr lang="en-US" altLang="en-US" sz="2800" dirty="0">
                <a:latin typeface="Courier New" pitchFamily="49" charset="0"/>
              </a:rPr>
              <a:t>abstract</a:t>
            </a:r>
            <a:r>
              <a:rPr lang="en-US" altLang="en-US" sz="2800" dirty="0"/>
              <a:t> in the signature.</a:t>
            </a:r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800" dirty="0"/>
              <a:t>Abstract methods have no body.</a:t>
            </a:r>
          </a:p>
          <a:p>
            <a:pPr lvl="1" eaLnBrk="1" hangingPunct="1"/>
            <a:r>
              <a:rPr lang="en-US" altLang="en-US" sz="2400" dirty="0"/>
              <a:t>‘We promise to write this later. Every (concrete) subclass of this class will have this implemented in the subclass.’</a:t>
            </a:r>
          </a:p>
          <a:p>
            <a:pPr lvl="1" eaLnBrk="1" hangingPunct="1"/>
            <a:endParaRPr lang="en-US" altLang="en-US" sz="2400" dirty="0"/>
          </a:p>
          <a:p>
            <a:pPr>
              <a:defRPr/>
            </a:pPr>
            <a:r>
              <a:rPr lang="en-US" sz="2800" dirty="0"/>
              <a:t>Abstract methods make the class abstract.</a:t>
            </a:r>
          </a:p>
          <a:p>
            <a:pPr lvl="1">
              <a:defRPr/>
            </a:pPr>
            <a:r>
              <a:rPr lang="en-US" sz="2400" dirty="0"/>
              <a:t>Think about why this is?</a:t>
            </a:r>
          </a:p>
          <a:p>
            <a:pPr marL="457200" lvl="1" indent="0">
              <a:buNone/>
            </a:pPr>
            <a:endParaRPr lang="en-US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775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An abstract class is a class that contains </a:t>
            </a:r>
            <a:r>
              <a:rPr lang="en-US" sz="2800" u="sng" dirty="0"/>
              <a:t>zero or more</a:t>
            </a:r>
            <a:r>
              <a:rPr lang="en-US" sz="2800" dirty="0"/>
              <a:t> abstract methods.</a:t>
            </a:r>
          </a:p>
          <a:p>
            <a:pPr eaLnBrk="1" hangingPunct="1">
              <a:defRPr/>
            </a:pPr>
            <a:r>
              <a:rPr lang="en-US" sz="2800" dirty="0"/>
              <a:t>An class that has an abstract method </a:t>
            </a:r>
            <a:r>
              <a:rPr lang="en-US" sz="2800" u="sng" dirty="0"/>
              <a:t>must</a:t>
            </a:r>
            <a:r>
              <a:rPr lang="en-US" sz="2800" dirty="0"/>
              <a:t> be declared abstract.</a:t>
            </a:r>
          </a:p>
          <a:p>
            <a:pPr eaLnBrk="1" hangingPunct="1">
              <a:defRPr/>
            </a:pPr>
            <a:r>
              <a:rPr lang="en-US" sz="2800" dirty="0"/>
              <a:t>Abstract classes cannot be instantiated.</a:t>
            </a:r>
          </a:p>
          <a:p>
            <a:pPr eaLnBrk="1" hangingPunct="1">
              <a:defRPr/>
            </a:pPr>
            <a:r>
              <a:rPr lang="en-US" sz="2800" dirty="0"/>
              <a:t>Abstract classes function as a “base” for subclasses.</a:t>
            </a:r>
          </a:p>
          <a:p>
            <a:pPr marL="0" indent="0">
              <a:buNone/>
              <a:defRPr/>
            </a:pPr>
            <a:r>
              <a:rPr lang="en-US" sz="2800" dirty="0"/>
              <a:t>	</a:t>
            </a:r>
            <a:r>
              <a:rPr lang="en-US" sz="2800" dirty="0">
                <a:sym typeface="Wingdings" panose="05000000000000000000" pitchFamily="2" charset="2"/>
              </a:rPr>
              <a:t> abstract classes can be </a:t>
            </a:r>
            <a:r>
              <a:rPr lang="en-US" sz="2800" dirty="0" err="1">
                <a:sym typeface="Wingdings" panose="05000000000000000000" pitchFamily="2" charset="2"/>
              </a:rPr>
              <a:t>subclassed</a:t>
            </a:r>
            <a:r>
              <a:rPr lang="en-US" sz="2800" dirty="0">
                <a:sym typeface="Wingdings" panose="05000000000000000000" pitchFamily="2" charset="2"/>
              </a:rPr>
              <a:t>.</a:t>
            </a:r>
            <a:endParaRPr lang="en-US" sz="2800" dirty="0"/>
          </a:p>
          <a:p>
            <a:pPr eaLnBrk="1" hangingPunct="1">
              <a:defRPr/>
            </a:pPr>
            <a:r>
              <a:rPr lang="en-US" sz="2800" dirty="0"/>
              <a:t>Concrete subclasses complete the implementation.</a:t>
            </a:r>
          </a:p>
          <a:p>
            <a:pPr eaLnBrk="1" hangingPunct="1">
              <a:defRPr/>
            </a:pPr>
            <a:endParaRPr lang="en-US" dirty="0"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511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C58E5D-F8CB-EF4C-A40B-9D7F01ABB822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048703" y="5151963"/>
            <a:ext cx="1036856" cy="721804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dirty="0"/>
              <a:t>RECAP - Social Network V8.0 – Post and </a:t>
            </a:r>
            <a:r>
              <a:rPr lang="en-US" sz="3200" dirty="0" err="1"/>
              <a:t>LikedPost</a:t>
            </a:r>
            <a:r>
              <a:rPr lang="en-US" sz="3200" dirty="0"/>
              <a:t> Abstract</a:t>
            </a:r>
            <a:endParaRPr lang="en-US" sz="3200" b="1" dirty="0"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BF1E8-0948-4665-85C9-EE94EDF56D26}"/>
              </a:ext>
            </a:extLst>
          </p:cNvPr>
          <p:cNvSpPr/>
          <p:nvPr/>
        </p:nvSpPr>
        <p:spPr>
          <a:xfrm>
            <a:off x="609600" y="1656629"/>
            <a:ext cx="1840523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Driver</a:t>
            </a:r>
            <a:endParaRPr lang="en-GB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D6D3-5862-465E-AFE4-7C551D64BD45}"/>
              </a:ext>
            </a:extLst>
          </p:cNvPr>
          <p:cNvSpPr/>
          <p:nvPr/>
        </p:nvSpPr>
        <p:spPr>
          <a:xfrm>
            <a:off x="3364523" y="1647248"/>
            <a:ext cx="1830811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NewsFeed</a:t>
            </a:r>
            <a:r>
              <a:rPr lang="en-GB" sz="2400" b="1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DB5AF-C62C-47F4-A592-2781AA48789E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2450123" y="1990148"/>
            <a:ext cx="914400" cy="938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1D0F98-6909-44F0-85B2-B7A8CFEB5EF7}"/>
              </a:ext>
            </a:extLst>
          </p:cNvPr>
          <p:cNvSpPr/>
          <p:nvPr/>
        </p:nvSpPr>
        <p:spPr>
          <a:xfrm>
            <a:off x="4038600" y="5873767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MessagePost</a:t>
            </a:r>
            <a:r>
              <a:rPr lang="en-GB" sz="2400" b="1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F50A5-9B25-4BF8-AC34-2F091245F9E1}"/>
              </a:ext>
            </a:extLst>
          </p:cNvPr>
          <p:cNvSpPr/>
          <p:nvPr/>
        </p:nvSpPr>
        <p:spPr>
          <a:xfrm>
            <a:off x="6184683" y="58849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/>
              <a:t>PhotoPost</a:t>
            </a:r>
            <a:endParaRPr lang="en-GB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D0C359-01E8-4BA5-9C14-7963EFFF54D9}"/>
              </a:ext>
            </a:extLst>
          </p:cNvPr>
          <p:cNvSpPr/>
          <p:nvPr/>
        </p:nvSpPr>
        <p:spPr>
          <a:xfrm>
            <a:off x="6820176" y="2563833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00000"/>
                </a:solidFill>
              </a:rPr>
              <a:t>&lt;abstract&gt;</a:t>
            </a:r>
            <a:br>
              <a:rPr lang="en-GB" sz="2000" b="1" dirty="0">
                <a:solidFill>
                  <a:srgbClr val="C00000"/>
                </a:solidFill>
              </a:rPr>
            </a:br>
            <a:r>
              <a:rPr lang="en-GB" sz="2400" b="1" dirty="0"/>
              <a:t>Post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B3D04E7-92DE-42B2-88E8-D88713F344EE}"/>
              </a:ext>
            </a:extLst>
          </p:cNvPr>
          <p:cNvCxnSpPr>
            <a:cxnSpLocks/>
            <a:stCxn id="12" idx="2"/>
            <a:endCxn id="14" idx="1"/>
          </p:cNvCxnSpPr>
          <p:nvPr/>
        </p:nvCxnSpPr>
        <p:spPr>
          <a:xfrm rot="16200000" flipH="1">
            <a:off x="5263210" y="1349766"/>
            <a:ext cx="573685" cy="2540247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D9C1DD-4451-44D5-AB05-AA0193A19C2D}"/>
              </a:ext>
            </a:extLst>
          </p:cNvPr>
          <p:cNvCxnSpPr>
            <a:cxnSpLocks/>
            <a:stCxn id="20" idx="0"/>
            <a:endCxn id="24" idx="3"/>
          </p:cNvCxnSpPr>
          <p:nvPr/>
        </p:nvCxnSpPr>
        <p:spPr>
          <a:xfrm flipV="1">
            <a:off x="6246768" y="3387883"/>
            <a:ext cx="1432566" cy="1031717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B7F89-588B-4827-8445-85C4A17FF656}"/>
              </a:ext>
            </a:extLst>
          </p:cNvPr>
          <p:cNvCxnSpPr>
            <a:cxnSpLocks/>
            <a:stCxn id="19" idx="0"/>
            <a:endCxn id="26" idx="0"/>
          </p:cNvCxnSpPr>
          <p:nvPr/>
        </p:nvCxnSpPr>
        <p:spPr>
          <a:xfrm flipH="1" flipV="1">
            <a:off x="6380103" y="5137937"/>
            <a:ext cx="814683" cy="746963"/>
          </a:xfrm>
          <a:prstGeom prst="straightConnector1">
            <a:avLst/>
          </a:prstGeom>
          <a:ln cap="flat"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D15AE0B-FB3D-4791-B237-EC1F7F74FBA3}"/>
              </a:ext>
            </a:extLst>
          </p:cNvPr>
          <p:cNvSpPr/>
          <p:nvPr/>
        </p:nvSpPr>
        <p:spPr>
          <a:xfrm rot="2859348">
            <a:off x="7614599" y="3248564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923BE58-A8F1-4C5D-8980-8D637BF2F893}"/>
              </a:ext>
            </a:extLst>
          </p:cNvPr>
          <p:cNvSpPr/>
          <p:nvPr/>
        </p:nvSpPr>
        <p:spPr>
          <a:xfrm rot="18796891">
            <a:off x="6314443" y="5111763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C3A3B5-D8D2-411B-BCDA-CFCBE558C771}"/>
              </a:ext>
            </a:extLst>
          </p:cNvPr>
          <p:cNvSpPr/>
          <p:nvPr/>
        </p:nvSpPr>
        <p:spPr>
          <a:xfrm>
            <a:off x="8266973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 err="1">
                <a:solidFill>
                  <a:schemeClr val="tx1"/>
                </a:solidFill>
              </a:rPr>
              <a:t>EventPost</a:t>
            </a:r>
            <a:endParaRPr lang="en-GB" sz="2400" b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1FF7E4-B531-40D4-BCFC-FAFCC4A77F67}"/>
              </a:ext>
            </a:extLst>
          </p:cNvPr>
          <p:cNvCxnSpPr>
            <a:cxnSpLocks/>
            <a:stCxn id="31" idx="0"/>
            <a:endCxn id="34" idx="0"/>
          </p:cNvCxnSpPr>
          <p:nvPr/>
        </p:nvCxnSpPr>
        <p:spPr>
          <a:xfrm flipH="1" flipV="1">
            <a:off x="7906840" y="3279060"/>
            <a:ext cx="1370236" cy="1140540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884FE89-DAC3-42D2-ABF8-CCA3433A7D8E}"/>
              </a:ext>
            </a:extLst>
          </p:cNvPr>
          <p:cNvSpPr/>
          <p:nvPr/>
        </p:nvSpPr>
        <p:spPr>
          <a:xfrm rot="18439632">
            <a:off x="7846773" y="3246292"/>
            <a:ext cx="252526" cy="166492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0AB90F-0263-B948-AC03-4237E4C12EA7}"/>
              </a:ext>
            </a:extLst>
          </p:cNvPr>
          <p:cNvSpPr/>
          <p:nvPr/>
        </p:nvSpPr>
        <p:spPr>
          <a:xfrm>
            <a:off x="5236665" y="4419600"/>
            <a:ext cx="2020205" cy="685800"/>
          </a:xfrm>
          <a:prstGeom prst="rect">
            <a:avLst/>
          </a:prstGeom>
          <a:solidFill>
            <a:srgbClr val="FED6AA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C00000"/>
                </a:solidFill>
              </a:rPr>
              <a:t>&lt;abstract&gt;</a:t>
            </a:r>
            <a:br>
              <a:rPr lang="en-GB" sz="2000" b="1" dirty="0">
                <a:solidFill>
                  <a:srgbClr val="C00000"/>
                </a:solidFill>
              </a:rPr>
            </a:br>
            <a:r>
              <a:rPr lang="en-GB" sz="2400" b="1" dirty="0" err="1">
                <a:solidFill>
                  <a:schemeClr val="tx1"/>
                </a:solidFill>
              </a:rPr>
              <a:t>LikedPost</a:t>
            </a:r>
            <a:r>
              <a:rPr lang="en-GB" sz="24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" name="Isosceles Triangle 25">
            <a:extLst>
              <a:ext uri="{FF2B5EF4-FFF2-40B4-BE49-F238E27FC236}">
                <a16:creationId xmlns:a16="http://schemas.microsoft.com/office/drawing/2014/main" id="{DC1A52B0-28DB-C44E-9ACB-1A870595C3D6}"/>
              </a:ext>
            </a:extLst>
          </p:cNvPr>
          <p:cNvSpPr/>
          <p:nvPr/>
        </p:nvSpPr>
        <p:spPr>
          <a:xfrm rot="3151146">
            <a:off x="5941324" y="5107635"/>
            <a:ext cx="252526" cy="16649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 sz="1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149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>
                <a:ea typeface="+mj-ea"/>
              </a:rPr>
              <a:t>RECAP - Syntax for abstract classes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161AB2-9731-4F40-A8FF-77AB50C34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62200"/>
            <a:ext cx="5690212" cy="378565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abstract class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Post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author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Post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author)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author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2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(author,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2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VI" sz="20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 //code omitted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 bwMode="auto">
          <a:xfrm>
            <a:off x="1081643" y="1936698"/>
            <a:ext cx="594757" cy="1066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4B894B56-2041-4372-ACC3-BE40B8BA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9066" y="3276600"/>
            <a:ext cx="4360233" cy="313932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VI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VI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abstract class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LikedPost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Post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likes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LikedPost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author){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(author);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GB" altLang="en-VI" sz="18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</a:t>
            </a:r>
            <a:r>
              <a:rPr kumimoji="0" lang="en-GB" altLang="en-VI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A831A-5A99-4714-BD3B-BC87744FCD35}"/>
              </a:ext>
            </a:extLst>
          </p:cNvPr>
          <p:cNvCxnSpPr>
            <a:cxnSpLocks/>
          </p:cNvCxnSpPr>
          <p:nvPr/>
        </p:nvCxnSpPr>
        <p:spPr bwMode="auto">
          <a:xfrm>
            <a:off x="7766266" y="2743200"/>
            <a:ext cx="594757" cy="1066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2A8F01B-4749-45DE-9988-F2EB2C857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066" y="396987"/>
            <a:ext cx="4360233" cy="2251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244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1F20F5-C5CB-40A2-8EB5-127B96CF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9" y="990600"/>
            <a:ext cx="9764243" cy="5540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76200" y="-76200"/>
            <a:ext cx="48412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in Post</a:t>
            </a:r>
            <a:endParaRPr lang="en-VI" sz="2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4179AE-6D17-4148-BD82-3BDC48A4B465}"/>
              </a:ext>
            </a:extLst>
          </p:cNvPr>
          <p:cNvCxnSpPr>
            <a:cxnSpLocks/>
          </p:cNvCxnSpPr>
          <p:nvPr/>
        </p:nvCxnSpPr>
        <p:spPr bwMode="auto">
          <a:xfrm flipH="1">
            <a:off x="3490360" y="2438400"/>
            <a:ext cx="254936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382D81-786B-439B-B712-86FC9F8E8010}"/>
              </a:ext>
            </a:extLst>
          </p:cNvPr>
          <p:cNvCxnSpPr>
            <a:cxnSpLocks/>
          </p:cNvCxnSpPr>
          <p:nvPr/>
        </p:nvCxnSpPr>
        <p:spPr bwMode="auto">
          <a:xfrm flipH="1">
            <a:off x="5715000" y="4267200"/>
            <a:ext cx="2592139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87B2289-5C81-4C18-8932-57E055056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971520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3238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EventPost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8802B2-51C6-439C-B431-008C61735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465" y="846518"/>
            <a:ext cx="6820193" cy="52701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9EB3FB-3171-4ECE-96A9-CCCE3219A9F2}"/>
              </a:ext>
            </a:extLst>
          </p:cNvPr>
          <p:cNvSpPr txBox="1"/>
          <p:nvPr/>
        </p:nvSpPr>
        <p:spPr>
          <a:xfrm>
            <a:off x="307340" y="1686300"/>
            <a:ext cx="3474720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compiler is complaining that the concrete classes in the hierarchy have no implementation of </a:t>
            </a:r>
            <a:r>
              <a:rPr lang="en-IE" sz="2400" b="1" dirty="0" err="1"/>
              <a:t>displayCondensed</a:t>
            </a:r>
            <a:r>
              <a:rPr lang="en-IE" sz="24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6943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EventPost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DE3A5D-1A34-47AA-A056-9FA46EE2CE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41"/>
          <a:stretch/>
        </p:blipFill>
        <p:spPr>
          <a:xfrm>
            <a:off x="3911600" y="142051"/>
            <a:ext cx="7962900" cy="65120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066760" y="32004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813300" y="2971800"/>
            <a:ext cx="7073900" cy="990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182222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8CEDF-6D56-0844-8E09-4578516E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060" y="208207"/>
            <a:ext cx="8321040" cy="6517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PhotoPost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362200" y="32766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624642" y="3048000"/>
            <a:ext cx="7338758" cy="106679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92867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F965A-C55B-1D4E-AB2B-FB332FA3C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470" y="139002"/>
            <a:ext cx="8102600" cy="6515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MessagePost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2286000" y="34290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4572000" y="3276600"/>
            <a:ext cx="7239000" cy="114299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453175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F6FCB2-6882-DC40-BEEE-8D5D795B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302" y="22666"/>
            <a:ext cx="7802298" cy="6682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3EA23-C126-485A-A866-177DF5896E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" y="203898"/>
            <a:ext cx="3723640" cy="1143000"/>
          </a:xfrm>
        </p:spPr>
        <p:txBody>
          <a:bodyPr>
            <a:noAutofit/>
          </a:bodyPr>
          <a:lstStyle/>
          <a:p>
            <a:r>
              <a:rPr lang="en-GB" sz="2800" dirty="0" err="1"/>
              <a:t>displayCondensed</a:t>
            </a:r>
            <a:r>
              <a:rPr lang="en-GB" sz="2800" dirty="0"/>
              <a:t>() </a:t>
            </a:r>
            <a:br>
              <a:rPr lang="en-GB" sz="2800" dirty="0"/>
            </a:br>
            <a:r>
              <a:rPr lang="en-GB" sz="2800" dirty="0"/>
              <a:t>in </a:t>
            </a:r>
            <a:r>
              <a:rPr lang="en-GB" sz="2800" dirty="0" err="1"/>
              <a:t>NewsFeed</a:t>
            </a:r>
            <a:endParaRPr lang="en-VI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864B9-E177-4453-86D9-5934FBD5A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4773083"/>
            <a:ext cx="3505200" cy="1810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63A9E-39E9-439A-B64F-33999399FC05}"/>
              </a:ext>
            </a:extLst>
          </p:cNvPr>
          <p:cNvCxnSpPr>
            <a:cxnSpLocks/>
          </p:cNvCxnSpPr>
          <p:nvPr/>
        </p:nvCxnSpPr>
        <p:spPr bwMode="auto">
          <a:xfrm>
            <a:off x="3040655" y="3733800"/>
            <a:ext cx="187024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BED668-7F85-4657-B390-427E1030C3C7}"/>
              </a:ext>
            </a:extLst>
          </p:cNvPr>
          <p:cNvSpPr/>
          <p:nvPr/>
        </p:nvSpPr>
        <p:spPr>
          <a:xfrm>
            <a:off x="5105400" y="3276600"/>
            <a:ext cx="6858000" cy="149648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E1B22-F5F2-8441-916B-C4B329F92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084917"/>
            <a:ext cx="4310425" cy="11429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8999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406C-A71D-4CEC-A0BF-912ED8E0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2828926"/>
            <a:ext cx="7772400" cy="1362075"/>
          </a:xfrm>
        </p:spPr>
        <p:txBody>
          <a:bodyPr/>
          <a:lstStyle/>
          <a:p>
            <a:r>
              <a:rPr lang="en-IE" dirty="0"/>
              <a:t>Deadly Diamond of death</a:t>
            </a:r>
          </a:p>
        </p:txBody>
      </p:sp>
    </p:spTree>
    <p:extLst>
      <p:ext uri="{BB962C8B-B14F-4D97-AF65-F5344CB8AC3E}">
        <p14:creationId xmlns:p14="http://schemas.microsoft.com/office/powerpoint/2010/main" val="967949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Deadly Diamond of Death!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Recall that multiple inheritance is not allowed in Java.</a:t>
            </a:r>
          </a:p>
          <a:p>
            <a:endParaRPr lang="en-US" dirty="0"/>
          </a:p>
          <a:p>
            <a:r>
              <a:rPr lang="en-US" dirty="0"/>
              <a:t>Any idea why the Java designers decided to not allow multiple inheritance?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824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Deadly Diamond of Death!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Recall that multiple inheritance is not allowed in Java.</a:t>
            </a:r>
          </a:p>
          <a:p>
            <a:endParaRPr lang="en-US" dirty="0"/>
          </a:p>
          <a:p>
            <a:r>
              <a:rPr lang="en-US" dirty="0"/>
              <a:t>Any idea why the Java designers decided to not allow multiple inheritance?</a:t>
            </a:r>
          </a:p>
          <a:p>
            <a:endParaRPr lang="en-US" dirty="0"/>
          </a:p>
          <a:p>
            <a:r>
              <a:rPr lang="en-US" dirty="0"/>
              <a:t>It is because of the Deadly Diamond of Death problem!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66514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Deadly Diamond of Death!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This is easiest explained by example.</a:t>
            </a:r>
          </a:p>
          <a:p>
            <a:endParaRPr lang="en-IE" dirty="0"/>
          </a:p>
          <a:p>
            <a:r>
              <a:rPr lang="en-IE" dirty="0"/>
              <a:t>Let’s pretend that Java allows multiple inheritance and we will see really quickly what the Deadly Diamond of Death is!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488668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http://javacodeonline.blogspot.ie/2009/08/deadly-diamond-of-death.html</a:t>
            </a:r>
          </a:p>
        </p:txBody>
      </p:sp>
    </p:spTree>
    <p:extLst>
      <p:ext uri="{BB962C8B-B14F-4D97-AF65-F5344CB8AC3E}">
        <p14:creationId xmlns:p14="http://schemas.microsoft.com/office/powerpoint/2010/main" val="4053596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Deadly Diamond of Death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Suppose that we have an abstract super class, with an abstract method in it.</a:t>
            </a:r>
            <a:br>
              <a:rPr lang="en-IE" dirty="0"/>
            </a:br>
            <a:br>
              <a:rPr lang="en-IE" dirty="0"/>
            </a:b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2667000" y="3276600"/>
            <a:ext cx="6477000" cy="13849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public abstract class </a:t>
            </a:r>
            <a:r>
              <a:rPr lang="en-IE" sz="2800" dirty="0" err="1"/>
              <a:t>AbstractSuperClass</a:t>
            </a:r>
            <a:r>
              <a:rPr lang="en-IE" sz="2800" dirty="0"/>
              <a:t>{</a:t>
            </a:r>
          </a:p>
          <a:p>
            <a:r>
              <a:rPr lang="en-IE" sz="2800" dirty="0"/>
              <a:t>	abstract void do();</a:t>
            </a:r>
            <a:br>
              <a:rPr lang="en-IE" sz="2800" dirty="0"/>
            </a:br>
            <a:r>
              <a:rPr lang="en-IE" sz="2800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6488668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http://javacodeonline.blogspot.ie/2009/08/deadly-diamond-of-death.html</a:t>
            </a:r>
          </a:p>
        </p:txBody>
      </p:sp>
    </p:spTree>
    <p:extLst>
      <p:ext uri="{BB962C8B-B14F-4D97-AF65-F5344CB8AC3E}">
        <p14:creationId xmlns:p14="http://schemas.microsoft.com/office/powerpoint/2010/main" val="3152177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Deadly Diamond of Death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Now two concrete classes extend this abstract super class.</a:t>
            </a:r>
          </a:p>
          <a:p>
            <a:r>
              <a:rPr lang="en-IE" sz="2800" dirty="0"/>
              <a:t>Each classes provides their own implementation of the abstract method defined in the super class.</a:t>
            </a:r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3505200" y="5208500"/>
            <a:ext cx="7010400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</a:t>
            </a:r>
            <a:r>
              <a:rPr lang="en-IE" dirty="0" err="1"/>
              <a:t>ConcreteTwo</a:t>
            </a:r>
            <a:r>
              <a:rPr lang="en-IE" dirty="0"/>
              <a:t> extends </a:t>
            </a:r>
            <a:r>
              <a:rPr lang="en-IE" dirty="0" err="1"/>
              <a:t>AbstractSuperClass</a:t>
            </a: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  void do(){</a:t>
            </a:r>
            <a:br>
              <a:rPr lang="en-IE" dirty="0"/>
            </a:br>
            <a:r>
              <a:rPr lang="en-IE" dirty="0"/>
              <a:t>          </a:t>
            </a:r>
            <a:r>
              <a:rPr lang="en-IE" b="1" dirty="0" err="1"/>
              <a:t>System.out.println</a:t>
            </a:r>
            <a:r>
              <a:rPr lang="en-IE" b="1" dirty="0"/>
              <a:t>("I will cause the Deadly Diamond of Death");</a:t>
            </a:r>
            <a:br>
              <a:rPr lang="en-IE" b="1" dirty="0"/>
            </a:br>
            <a:r>
              <a:rPr lang="en-IE" dirty="0"/>
              <a:t>     }</a:t>
            </a:r>
            <a:br>
              <a:rPr lang="en-IE" dirty="0"/>
            </a:br>
            <a:r>
              <a:rPr lang="en-IE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2200" y="3581400"/>
            <a:ext cx="6400800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</a:t>
            </a:r>
            <a:r>
              <a:rPr lang="en-IE" dirty="0" err="1"/>
              <a:t>ConcreteOne</a:t>
            </a:r>
            <a:r>
              <a:rPr lang="en-IE" dirty="0"/>
              <a:t> extends </a:t>
            </a:r>
            <a:r>
              <a:rPr lang="en-IE" dirty="0" err="1"/>
              <a:t>AbstractSuperClass</a:t>
            </a: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void do(){</a:t>
            </a:r>
            <a:br>
              <a:rPr lang="en-IE" dirty="0"/>
            </a:br>
            <a:r>
              <a:rPr lang="en-IE" dirty="0"/>
              <a:t>         </a:t>
            </a:r>
            <a:r>
              <a:rPr lang="en-IE" b="1" dirty="0" err="1"/>
              <a:t>System.out.println</a:t>
            </a:r>
            <a:r>
              <a:rPr lang="en-IE" b="1" dirty="0"/>
              <a:t>("I am testing multiple Inheritance");</a:t>
            </a:r>
            <a:br>
              <a:rPr lang="en-IE" b="1" dirty="0"/>
            </a:br>
            <a:r>
              <a:rPr lang="en-IE" dirty="0"/>
              <a:t>    }</a:t>
            </a:r>
            <a:br>
              <a:rPr lang="en-IE" dirty="0"/>
            </a:br>
            <a:r>
              <a:rPr lang="en-IE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5911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Deadly Diamond of Death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So far, our class diagram looks like this: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362201"/>
            <a:ext cx="2593428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&lt;&lt;abstract&gt;&gt;</a:t>
            </a:r>
          </a:p>
          <a:p>
            <a:pPr algn="ctr"/>
            <a:r>
              <a:rPr lang="en-IE" sz="2400" dirty="0" err="1"/>
              <a:t>AbstractSuperClass</a:t>
            </a:r>
            <a:endParaRPr lang="en-IE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971800" y="3993931"/>
            <a:ext cx="2286000" cy="589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E" sz="2400" dirty="0" err="1"/>
              <a:t>ConcreteOne</a:t>
            </a:r>
            <a:endParaRPr lang="en-I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477000" y="3993931"/>
            <a:ext cx="2286000" cy="589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E" sz="2400" dirty="0" err="1"/>
              <a:t>ConcreteTwo</a:t>
            </a:r>
            <a:endParaRPr lang="en-IE" sz="2400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344714" y="3193197"/>
            <a:ext cx="1524000" cy="80073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5868714" y="3193197"/>
            <a:ext cx="1524000" cy="80073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28800" y="6488668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http://javacodeonline.blogspot.ie/2009/08/deadly-diamond-of-death.html</a:t>
            </a:r>
          </a:p>
        </p:txBody>
      </p:sp>
    </p:spTree>
    <p:extLst>
      <p:ext uri="{BB962C8B-B14F-4D97-AF65-F5344CB8AC3E}">
        <p14:creationId xmlns:p14="http://schemas.microsoft.com/office/powerpoint/2010/main" val="2284462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Deadly Diamond of Death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Now a fourth class comes into picture which </a:t>
            </a:r>
            <a:r>
              <a:rPr lang="en-IE" sz="2800" b="1" dirty="0"/>
              <a:t>extends</a:t>
            </a:r>
            <a:r>
              <a:rPr lang="en-IE" sz="2800" dirty="0"/>
              <a:t> the above two concrete classes. 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7986" y="3337035"/>
            <a:ext cx="82296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public class </a:t>
            </a:r>
            <a:r>
              <a:rPr lang="en-IE" sz="2400" dirty="0" err="1"/>
              <a:t>DiamondEffect</a:t>
            </a:r>
            <a:r>
              <a:rPr lang="en-IE" sz="2400" dirty="0"/>
              <a:t> extends </a:t>
            </a:r>
            <a:r>
              <a:rPr lang="en-IE" sz="2400" dirty="0" err="1"/>
              <a:t>ConcreteOne</a:t>
            </a:r>
            <a:r>
              <a:rPr lang="en-IE" sz="2400" dirty="0"/>
              <a:t>, </a:t>
            </a:r>
            <a:r>
              <a:rPr lang="en-IE" sz="2400" dirty="0" err="1"/>
              <a:t>ConcreteTwo</a:t>
            </a:r>
            <a:r>
              <a:rPr lang="en-IE" sz="2400" dirty="0"/>
              <a:t>{</a:t>
            </a:r>
            <a:br>
              <a:rPr lang="en-IE" sz="2400" dirty="0"/>
            </a:br>
            <a:r>
              <a:rPr lang="en-IE" sz="2400" dirty="0"/>
              <a:t>      //Some methods of this class</a:t>
            </a:r>
            <a:br>
              <a:rPr lang="en-IE" sz="2400" dirty="0"/>
            </a:br>
            <a:r>
              <a:rPr lang="en-IE" sz="2400" dirty="0"/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6488668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http://javacodeonline.blogspot.ie/2009/08/deadly-diamond-of-death.html</a:t>
            </a:r>
          </a:p>
        </p:txBody>
      </p:sp>
    </p:spTree>
    <p:extLst>
      <p:ext uri="{BB962C8B-B14F-4D97-AF65-F5344CB8AC3E}">
        <p14:creationId xmlns:p14="http://schemas.microsoft.com/office/powerpoint/2010/main" val="3887953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Deadly Diamond of Death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570531"/>
            <a:ext cx="8229600" cy="4525963"/>
          </a:xfrm>
        </p:spPr>
        <p:txBody>
          <a:bodyPr>
            <a:normAutofit/>
          </a:bodyPr>
          <a:lstStyle/>
          <a:p>
            <a:r>
              <a:rPr lang="en-IE" sz="2800" dirty="0"/>
              <a:t>Note that our class diagram is a diamond shape.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400" y="2362201"/>
            <a:ext cx="2593428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&lt;&lt;abstract&gt;&gt;</a:t>
            </a:r>
          </a:p>
          <a:p>
            <a:pPr algn="ctr"/>
            <a:r>
              <a:rPr lang="en-IE" sz="2400" dirty="0" err="1"/>
              <a:t>AbstractSuperClass</a:t>
            </a:r>
            <a:endParaRPr lang="en-IE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124200" y="3993931"/>
            <a:ext cx="2286000" cy="589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E" sz="2400" dirty="0" err="1"/>
              <a:t>ConcreteOne</a:t>
            </a:r>
            <a:endParaRPr lang="en-IE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629400" y="3993931"/>
            <a:ext cx="2286000" cy="589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E" sz="2400" dirty="0" err="1"/>
              <a:t>ConcreteTwo</a:t>
            </a:r>
            <a:endParaRPr lang="en-IE" sz="2400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497114" y="3193197"/>
            <a:ext cx="1524000" cy="80073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6021114" y="3193197"/>
            <a:ext cx="1524000" cy="80073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78114" y="5562600"/>
            <a:ext cx="2286000" cy="5890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E" sz="2400" dirty="0" err="1"/>
              <a:t>DiamondEffect</a:t>
            </a:r>
            <a:endParaRPr lang="en-IE" sz="2400" dirty="0"/>
          </a:p>
        </p:txBody>
      </p:sp>
      <p:cxnSp>
        <p:nvCxnSpPr>
          <p:cNvPr id="10" name="Straight Arrow Connector 9"/>
          <p:cNvCxnSpPr>
            <a:stCxn id="9" idx="0"/>
            <a:endCxn id="5" idx="2"/>
          </p:cNvCxnSpPr>
          <p:nvPr/>
        </p:nvCxnSpPr>
        <p:spPr>
          <a:xfrm flipH="1" flipV="1">
            <a:off x="4267200" y="4583004"/>
            <a:ext cx="1753914" cy="97959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9" idx="0"/>
            <a:endCxn id="6" idx="2"/>
          </p:cNvCxnSpPr>
          <p:nvPr/>
        </p:nvCxnSpPr>
        <p:spPr>
          <a:xfrm flipV="1">
            <a:off x="6021114" y="4583004"/>
            <a:ext cx="1751286" cy="97959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28800" y="6488668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http://javacodeonline.blogspot.ie/2009/08/deadly-diamond-of-death.html</a:t>
            </a:r>
          </a:p>
        </p:txBody>
      </p:sp>
    </p:spTree>
    <p:extLst>
      <p:ext uri="{BB962C8B-B14F-4D97-AF65-F5344CB8AC3E}">
        <p14:creationId xmlns:p14="http://schemas.microsoft.com/office/powerpoint/2010/main" val="1195102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Deadly Diamond of Death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73" y="1690171"/>
            <a:ext cx="5867400" cy="4525963"/>
          </a:xfrm>
        </p:spPr>
        <p:txBody>
          <a:bodyPr>
            <a:normAutofit fontScale="85000" lnSpcReduction="10000"/>
          </a:bodyPr>
          <a:lstStyle/>
          <a:p>
            <a:r>
              <a:rPr lang="en-IE" dirty="0"/>
              <a:t>The </a:t>
            </a:r>
            <a:r>
              <a:rPr lang="en-IE" dirty="0" err="1"/>
              <a:t>DiamondEffect</a:t>
            </a:r>
            <a:r>
              <a:rPr lang="en-IE" dirty="0"/>
              <a:t> class inherits all the methods of the parent classes.</a:t>
            </a:r>
          </a:p>
          <a:p>
            <a:endParaRPr lang="en-IE" dirty="0"/>
          </a:p>
          <a:p>
            <a:r>
              <a:rPr lang="en-IE" dirty="0"/>
              <a:t>BUT we have a common method (</a:t>
            </a:r>
            <a:r>
              <a:rPr lang="en-IE" dirty="0">
                <a:latin typeface="Aparajita" panose="020B0604020202020204" pitchFamily="34" charset="0"/>
                <a:cs typeface="Aparajita" panose="020B0604020202020204" pitchFamily="34" charset="0"/>
              </a:rPr>
              <a:t>void do()</a:t>
            </a:r>
            <a:r>
              <a:rPr lang="en-IE" dirty="0"/>
              <a:t>) in the two concrete classes, each with a different implementation.</a:t>
            </a:r>
          </a:p>
          <a:p>
            <a:endParaRPr lang="en-IE" dirty="0"/>
          </a:p>
          <a:p>
            <a:r>
              <a:rPr lang="en-IE" dirty="0">
                <a:solidFill>
                  <a:srgbClr val="FF0000"/>
                </a:solidFill>
              </a:rPr>
              <a:t>So which </a:t>
            </a:r>
            <a:r>
              <a:rPr lang="en-IE" b="1" dirty="0">
                <a:solidFill>
                  <a:srgbClr val="FF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void do() </a:t>
            </a:r>
            <a:r>
              <a:rPr lang="en-IE" dirty="0">
                <a:solidFill>
                  <a:srgbClr val="FF0000"/>
                </a:solidFill>
              </a:rPr>
              <a:t>implementation will be used for the </a:t>
            </a:r>
            <a:r>
              <a:rPr lang="en-IE" dirty="0" err="1">
                <a:solidFill>
                  <a:srgbClr val="FF0000"/>
                </a:solidFill>
              </a:rPr>
              <a:t>DiamondEffect</a:t>
            </a:r>
            <a:r>
              <a:rPr lang="en-IE" dirty="0">
                <a:solidFill>
                  <a:srgbClr val="FF0000"/>
                </a:solidFill>
              </a:rPr>
              <a:t> class as it inherits both these classes?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6488668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http://javacodeonline.blogspot.ie/2009/08/deadly-diamond-of-death.html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730943" y="2386431"/>
            <a:ext cx="3730792" cy="2720834"/>
            <a:chOff x="1600200" y="2147298"/>
            <a:chExt cx="5791200" cy="4044803"/>
          </a:xfrm>
        </p:grpSpPr>
        <p:sp>
          <p:nvSpPr>
            <p:cNvPr id="5" name="TextBox 4"/>
            <p:cNvSpPr txBox="1"/>
            <p:nvPr/>
          </p:nvSpPr>
          <p:spPr>
            <a:xfrm>
              <a:off x="2869435" y="2147298"/>
              <a:ext cx="3210067" cy="86932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E" sz="1600" dirty="0">
                  <a:solidFill>
                    <a:schemeClr val="bg1">
                      <a:lumMod val="50000"/>
                    </a:schemeClr>
                  </a:solidFill>
                </a:rPr>
                <a:t>&lt;&lt;abstract&gt;&gt;</a:t>
              </a:r>
            </a:p>
            <a:p>
              <a:pPr algn="ctr"/>
              <a:r>
                <a:rPr lang="en-IE" sz="1600" dirty="0" err="1"/>
                <a:t>AbstractSuperClass</a:t>
              </a:r>
              <a:endParaRPr lang="en-IE" sz="16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600200" y="3993931"/>
              <a:ext cx="2286000" cy="62950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</a:pPr>
              <a:r>
                <a:rPr lang="en-IE" sz="1600" dirty="0" err="1"/>
                <a:t>ConcreteOne</a:t>
              </a:r>
              <a:endParaRPr lang="en-IE" sz="16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105400" y="3993930"/>
              <a:ext cx="2286000" cy="62950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</a:pPr>
              <a:r>
                <a:rPr lang="en-IE" sz="1600" dirty="0" err="1"/>
                <a:t>ConcreteTwo</a:t>
              </a:r>
              <a:endParaRPr lang="en-IE" sz="1600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2973114" y="3193197"/>
              <a:ext cx="1524000" cy="80073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4497114" y="3193197"/>
              <a:ext cx="1524000" cy="80073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354114" y="5562600"/>
              <a:ext cx="2286000" cy="62950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1200"/>
                </a:spcBef>
                <a:spcAft>
                  <a:spcPts val="1200"/>
                </a:spcAft>
              </a:pPr>
              <a:r>
                <a:rPr lang="en-IE" sz="1600" dirty="0" err="1"/>
                <a:t>DiamondEffect</a:t>
              </a:r>
              <a:endParaRPr lang="en-IE" sz="1600" dirty="0"/>
            </a:p>
          </p:txBody>
        </p:sp>
        <p:cxnSp>
          <p:nvCxnSpPr>
            <p:cNvPr id="11" name="Straight Arrow Connector 10"/>
            <p:cNvCxnSpPr>
              <a:stCxn id="10" idx="0"/>
              <a:endCxn id="6" idx="2"/>
            </p:cNvCxnSpPr>
            <p:nvPr/>
          </p:nvCxnSpPr>
          <p:spPr>
            <a:xfrm flipH="1" flipV="1">
              <a:off x="2743201" y="4623432"/>
              <a:ext cx="1753914" cy="93916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10" idx="0"/>
              <a:endCxn id="7" idx="2"/>
            </p:cNvCxnSpPr>
            <p:nvPr/>
          </p:nvCxnSpPr>
          <p:spPr>
            <a:xfrm flipV="1">
              <a:off x="4497115" y="4623430"/>
              <a:ext cx="1751286" cy="93917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13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Deadly Diamond of Death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Actually no one has got the answer to the above question, and so to avoid this sort of critical issue, </a:t>
            </a:r>
            <a:r>
              <a:rPr lang="en-IE" dirty="0">
                <a:solidFill>
                  <a:srgbClr val="FF0000"/>
                </a:solidFill>
              </a:rPr>
              <a:t>Java banned multiple inheritance</a:t>
            </a:r>
            <a:r>
              <a:rPr lang="en-IE" dirty="0"/>
              <a:t>. </a:t>
            </a:r>
          </a:p>
          <a:p>
            <a:endParaRPr lang="en-IE" dirty="0"/>
          </a:p>
          <a:p>
            <a:r>
              <a:rPr lang="en-IE" dirty="0"/>
              <a:t>The class diagram which is formed above is like that of a diamond, but with no solution or outcome, and so it is called Deadly Diamond of Death.</a:t>
            </a:r>
            <a:br>
              <a:rPr lang="en-IE" dirty="0"/>
            </a:b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1828800" y="6488668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http://javacodeonline.blogspot.ie/2009/08/deadly-diamond-of-death.html</a:t>
            </a:r>
          </a:p>
        </p:txBody>
      </p:sp>
    </p:spTree>
    <p:extLst>
      <p:ext uri="{BB962C8B-B14F-4D97-AF65-F5344CB8AC3E}">
        <p14:creationId xmlns:p14="http://schemas.microsoft.com/office/powerpoint/2010/main" val="2519305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CF860B98-D563-7CBE-980D-77BC51543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</Words>
  <Application>Microsoft Office PowerPoint</Application>
  <PresentationFormat>Widescreen</PresentationFormat>
  <Paragraphs>125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Aparajita</vt:lpstr>
      <vt:lpstr>Arial</vt:lpstr>
      <vt:lpstr>Calibri</vt:lpstr>
      <vt:lpstr>Courier New</vt:lpstr>
      <vt:lpstr>Gill Sans</vt:lpstr>
      <vt:lpstr>JetBrains Mono</vt:lpstr>
      <vt:lpstr>Times New Roman</vt:lpstr>
      <vt:lpstr>Wingdings</vt:lpstr>
      <vt:lpstr>Office Theme</vt:lpstr>
      <vt:lpstr>More on Abstraction in Java</vt:lpstr>
      <vt:lpstr>Recap on Abstraction</vt:lpstr>
      <vt:lpstr>Abstract vs Concrete</vt:lpstr>
      <vt:lpstr>Abstract Methods</vt:lpstr>
      <vt:lpstr>Abstract Classes</vt:lpstr>
      <vt:lpstr>RECAP - Social Network V8.0 – Post and LikedPost Abstract</vt:lpstr>
      <vt:lpstr>RECAP - Syntax for abstract classes</vt:lpstr>
      <vt:lpstr>displayCondensed() in Post</vt:lpstr>
      <vt:lpstr>displayCondensed()  in EventPost</vt:lpstr>
      <vt:lpstr>displayCondensed()  in EventPost</vt:lpstr>
      <vt:lpstr>displayCondensed()  in PhotoPost</vt:lpstr>
      <vt:lpstr>displayCondensed()  in MessagePost</vt:lpstr>
      <vt:lpstr>displayCondensed()  in NewsFeed</vt:lpstr>
      <vt:lpstr>Deadly Diamond of death</vt:lpstr>
      <vt:lpstr>Deadly Diamond of Death!</vt:lpstr>
      <vt:lpstr>Deadly Diamond of Death!</vt:lpstr>
      <vt:lpstr>Deadly Diamond of Death!</vt:lpstr>
      <vt:lpstr>Deadly Diamond of Death - Example</vt:lpstr>
      <vt:lpstr>Deadly Diamond of Death - Example</vt:lpstr>
      <vt:lpstr>Deadly Diamond of Death - Example</vt:lpstr>
      <vt:lpstr>Deadly Diamond of Death - Example</vt:lpstr>
      <vt:lpstr>Deadly Diamond of Death - Example</vt:lpstr>
      <vt:lpstr>Deadly Diamond of Death - Example</vt:lpstr>
      <vt:lpstr>Deadly Diamond of Death -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205</cp:revision>
  <dcterms:created xsi:type="dcterms:W3CDTF">2006-08-16T00:00:00Z</dcterms:created>
  <dcterms:modified xsi:type="dcterms:W3CDTF">2026-04-09T11:56:53Z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