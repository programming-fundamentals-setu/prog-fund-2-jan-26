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56" r:id="rId2"/>
    <p:sldId id="486" r:id="rId3"/>
    <p:sldId id="417" r:id="rId4"/>
    <p:sldId id="463" r:id="rId5"/>
    <p:sldId id="464" r:id="rId6"/>
    <p:sldId id="465" r:id="rId7"/>
    <p:sldId id="490" r:id="rId8"/>
    <p:sldId id="491" r:id="rId9"/>
    <p:sldId id="466" r:id="rId10"/>
    <p:sldId id="467" r:id="rId11"/>
    <p:sldId id="468" r:id="rId12"/>
    <p:sldId id="469" r:id="rId13"/>
    <p:sldId id="470" r:id="rId14"/>
    <p:sldId id="492" r:id="rId15"/>
    <p:sldId id="482" r:id="rId16"/>
    <p:sldId id="474" r:id="rId17"/>
    <p:sldId id="475" r:id="rId18"/>
    <p:sldId id="476" r:id="rId19"/>
    <p:sldId id="392" r:id="rId20"/>
  </p:sldIdLst>
  <p:sldSz cx="12192000" cy="6858000"/>
  <p:notesSz cx="6858000" cy="9144000"/>
  <p:custDataLst>
    <p:tags r:id="rId22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196" autoAdjust="0"/>
    <p:restoredTop sz="94398"/>
  </p:normalViewPr>
  <p:slideViewPr>
    <p:cSldViewPr>
      <p:cViewPr varScale="1">
        <p:scale>
          <a:sx n="90" d="100"/>
          <a:sy n="90" d="100"/>
        </p:scale>
        <p:origin x="67" y="6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-3741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gs" Target="tags/tag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6BC3C30-7F3D-4B20-9974-47C57B22CA6E}" type="datetimeFigureOut">
              <a:rPr lang="en-IE" smtClean="0"/>
              <a:t>09/04/2026</a:t>
            </a:fld>
            <a:endParaRPr lang="en-I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09BE90-ABBD-4931-8E0C-089E0ACACA6B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898184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www.wit.ie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 userDrawn="1"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6" name="Straight Connector 5"/>
          <p:cNvCxnSpPr/>
          <p:nvPr userDrawn="1"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1_Lab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Shape 206"/>
          <p:cNvSpPr/>
          <p:nvPr/>
        </p:nvSpPr>
        <p:spPr>
          <a:xfrm flipV="1">
            <a:off x="851522" y="3070411"/>
            <a:ext cx="10519439" cy="47"/>
          </a:xfrm>
          <a:prstGeom prst="line">
            <a:avLst/>
          </a:prstGeom>
          <a:ln w="12700">
            <a:solidFill>
              <a:srgbClr val="919191"/>
            </a:solidFill>
            <a:miter lim="400000"/>
          </a:ln>
        </p:spPr>
        <p:txBody>
          <a:bodyPr lIns="35717" tIns="35717" rIns="35717" bIns="35717" anchor="ctr"/>
          <a:lstStyle/>
          <a:p>
            <a:endParaRPr sz="1800"/>
          </a:p>
        </p:txBody>
      </p:sp>
      <p:pic>
        <p:nvPicPr>
          <p:cNvPr id="207" name="WI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9157" y="6134697"/>
            <a:ext cx="3033804" cy="473273"/>
          </a:xfrm>
          <a:prstGeom prst="rect">
            <a:avLst/>
          </a:prstGeom>
          <a:ln w="12700">
            <a:miter lim="400000"/>
          </a:ln>
        </p:spPr>
      </p:pic>
      <p:pic>
        <p:nvPicPr>
          <p:cNvPr id="208" name="esu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72625" y="6206134"/>
            <a:ext cx="1812472" cy="321469"/>
          </a:xfrm>
          <a:prstGeom prst="rect">
            <a:avLst/>
          </a:prstGeom>
          <a:ln w="12700">
            <a:miter lim="400000"/>
          </a:ln>
        </p:spPr>
      </p:pic>
      <p:sp>
        <p:nvSpPr>
          <p:cNvPr id="209" name="Shape 209"/>
          <p:cNvSpPr/>
          <p:nvPr/>
        </p:nvSpPr>
        <p:spPr>
          <a:xfrm>
            <a:off x="697796" y="3128069"/>
            <a:ext cx="2446179" cy="11555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35717" tIns="35717" rIns="35717" bIns="35717" anchor="ctr">
            <a:spAutoFit/>
          </a:bodyPr>
          <a:lstStyle/>
          <a:p>
            <a:pPr algn="r" defTabSz="410751">
              <a:lnSpc>
                <a:spcPct val="80000"/>
              </a:lnSpc>
              <a:defRPr sz="4400">
                <a:solidFill>
                  <a:srgbClr val="AAAAAA"/>
                </a:solidFill>
                <a:latin typeface="Helvetica Neue UltraLight"/>
                <a:ea typeface="Helvetica Neue UltraLight"/>
                <a:cs typeface="Helvetica Neue UltraLight"/>
                <a:sym typeface="Helvetica Neue UltraLight"/>
              </a:defRPr>
            </a:pPr>
            <a:r>
              <a:rPr sz="4400"/>
              <a:t>Produced </a:t>
            </a:r>
          </a:p>
          <a:p>
            <a:pPr algn="r" defTabSz="410751">
              <a:lnSpc>
                <a:spcPct val="80000"/>
              </a:lnSpc>
              <a:defRPr sz="4400">
                <a:solidFill>
                  <a:srgbClr val="AAAAAA"/>
                </a:solidFill>
                <a:latin typeface="Helvetica Neue UltraLight"/>
                <a:ea typeface="Helvetica Neue UltraLight"/>
                <a:cs typeface="Helvetica Neue UltraLight"/>
                <a:sym typeface="Helvetica Neue UltraLight"/>
              </a:defRPr>
            </a:pPr>
            <a:r>
              <a:rPr sz="4400"/>
              <a:t>by</a:t>
            </a:r>
          </a:p>
        </p:txBody>
      </p:sp>
      <p:grpSp>
        <p:nvGrpSpPr>
          <p:cNvPr id="213" name="Group 213"/>
          <p:cNvGrpSpPr/>
          <p:nvPr/>
        </p:nvGrpSpPr>
        <p:grpSpPr>
          <a:xfrm>
            <a:off x="3476624" y="4561016"/>
            <a:ext cx="3751796" cy="1110421"/>
            <a:chOff x="0" y="-174374"/>
            <a:chExt cx="4001913" cy="1579263"/>
          </a:xfrm>
        </p:grpSpPr>
        <p:sp>
          <p:nvSpPr>
            <p:cNvPr id="210" name="Shape 210"/>
            <p:cNvSpPr/>
            <p:nvPr/>
          </p:nvSpPr>
          <p:spPr>
            <a:xfrm>
              <a:off x="0" y="-174374"/>
              <a:ext cx="4001913" cy="95834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 defTabSz="410751">
                <a:lnSpc>
                  <a:spcPct val="120000"/>
                </a:lnSpc>
                <a:defRPr sz="1600">
                  <a:solidFill>
                    <a:srgbClr val="133455"/>
                  </a:solidFill>
                  <a:latin typeface="+mj-lt"/>
                  <a:ea typeface="+mj-ea"/>
                  <a:cs typeface="+mj-cs"/>
                  <a:sym typeface="Helvetica Neue"/>
                </a:defRPr>
              </a:pPr>
              <a:r>
                <a:rPr sz="1600"/>
                <a:t>Department of Computing, Maths &amp; Physics</a:t>
              </a:r>
            </a:p>
            <a:p>
              <a:pPr defTabSz="410751">
                <a:lnSpc>
                  <a:spcPct val="120000"/>
                </a:lnSpc>
                <a:defRPr sz="1600">
                  <a:solidFill>
                    <a:srgbClr val="133455"/>
                  </a:solidFill>
                  <a:latin typeface="+mj-lt"/>
                  <a:ea typeface="+mj-ea"/>
                  <a:cs typeface="+mj-cs"/>
                  <a:sym typeface="Helvetica Neue"/>
                </a:defRPr>
              </a:pPr>
              <a:r>
                <a:rPr sz="1600"/>
                <a:t>Waterford Institute of Technology</a:t>
              </a:r>
            </a:p>
          </p:txBody>
        </p:sp>
        <p:sp>
          <p:nvSpPr>
            <p:cNvPr id="211" name="Shape 211"/>
            <p:cNvSpPr/>
            <p:nvPr/>
          </p:nvSpPr>
          <p:spPr>
            <a:xfrm>
              <a:off x="0" y="560227"/>
              <a:ext cx="1909513" cy="53986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defTabSz="584200">
                <a:defRPr>
                  <a:latin typeface="+mj-lt"/>
                  <a:ea typeface="+mj-ea"/>
                  <a:cs typeface="+mj-cs"/>
                  <a:sym typeface="Helvetica Neue"/>
                  <a:hlinkClick r:id="" action="ppaction://noaction"/>
                </a:defRPr>
              </a:lvl1pPr>
            </a:lstStyle>
            <a:p>
              <a:r>
                <a:rPr sz="1800">
                  <a:hlinkClick r:id="rId4"/>
                </a:rPr>
                <a:t>http://www.wit.ie</a:t>
              </a:r>
            </a:p>
          </p:txBody>
        </p:sp>
        <p:sp>
          <p:nvSpPr>
            <p:cNvPr id="212" name="Shape 212"/>
            <p:cNvSpPr/>
            <p:nvPr/>
          </p:nvSpPr>
          <p:spPr>
            <a:xfrm>
              <a:off x="0" y="865027"/>
              <a:ext cx="2329252" cy="53986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defTabSz="584200">
                <a:defRPr>
                  <a:latin typeface="+mj-lt"/>
                  <a:ea typeface="+mj-ea"/>
                  <a:cs typeface="+mj-cs"/>
                  <a:sym typeface="Helvetica Neue"/>
                  <a:hlinkClick r:id="" action="ppaction://noaction"/>
                </a:defRPr>
              </a:lvl1pPr>
            </a:lstStyle>
            <a:p>
              <a:r>
                <a:rPr sz="1800">
                  <a:hlinkClick r:id="rId4"/>
                </a:rPr>
                <a:t>http://elearning.wit.ie</a:t>
              </a:r>
            </a:p>
          </p:txBody>
        </p:sp>
      </p:grpSp>
      <p:sp>
        <p:nvSpPr>
          <p:cNvPr id="214" name="Shape 214"/>
          <p:cNvSpPr>
            <a:spLocks noGrp="1"/>
          </p:cNvSpPr>
          <p:nvPr>
            <p:ph type="body" sz="quarter" idx="13"/>
          </p:nvPr>
        </p:nvSpPr>
        <p:spPr>
          <a:xfrm>
            <a:off x="839391" y="2428449"/>
            <a:ext cx="10537031" cy="400110"/>
          </a:xfrm>
          <a:prstGeom prst="rect">
            <a:avLst/>
          </a:prstGeom>
        </p:spPr>
        <p:txBody>
          <a:bodyPr anchor="ctr">
            <a:spAutoFit/>
          </a:bodyPr>
          <a:lstStyle>
            <a:lvl1pPr marL="0" indent="0">
              <a:spcBef>
                <a:spcPts val="0"/>
              </a:spcBef>
              <a:buSzTx/>
              <a:buNone/>
              <a:defRPr sz="2000">
                <a:solidFill>
                  <a:srgbClr val="606060"/>
                </a:solidFill>
              </a:defRPr>
            </a:lvl1pPr>
          </a:lstStyle>
          <a:p>
            <a:r>
              <a:t>Subtitle</a:t>
            </a:r>
          </a:p>
        </p:txBody>
      </p:sp>
      <p:sp>
        <p:nvSpPr>
          <p:cNvPr id="215" name="Shape 215"/>
          <p:cNvSpPr>
            <a:spLocks noGrp="1"/>
          </p:cNvSpPr>
          <p:nvPr>
            <p:ph type="title"/>
          </p:nvPr>
        </p:nvSpPr>
        <p:spPr>
          <a:xfrm>
            <a:off x="833438" y="1665388"/>
            <a:ext cx="10537031" cy="723305"/>
          </a:xfrm>
          <a:prstGeom prst="rect">
            <a:avLst/>
          </a:prstGeom>
        </p:spPr>
        <p:txBody>
          <a:bodyPr anchor="ctr"/>
          <a:lstStyle>
            <a:lvl1pPr>
              <a:defRPr sz="3100"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r>
              <a:t>Title Text</a:t>
            </a:r>
          </a:p>
        </p:txBody>
      </p:sp>
      <p:sp>
        <p:nvSpPr>
          <p:cNvPr id="216" name="Shape 216"/>
          <p:cNvSpPr>
            <a:spLocks noGrp="1"/>
          </p:cNvSpPr>
          <p:nvPr>
            <p:ph type="body" sz="quarter" idx="1"/>
          </p:nvPr>
        </p:nvSpPr>
        <p:spPr>
          <a:xfrm>
            <a:off x="3494484" y="3330774"/>
            <a:ext cx="5417344" cy="139303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spcBef>
                <a:spcPts val="0"/>
              </a:spcBef>
              <a:buSzTx/>
              <a:buNone/>
              <a:defRPr sz="1300"/>
            </a:lvl1pPr>
            <a:lvl2pPr marL="0" indent="0">
              <a:lnSpc>
                <a:spcPct val="120000"/>
              </a:lnSpc>
              <a:spcBef>
                <a:spcPts val="0"/>
              </a:spcBef>
              <a:buSzTx/>
              <a:buNone/>
              <a:defRPr sz="1300"/>
            </a:lvl2pPr>
            <a:lvl3pPr marL="0" indent="0">
              <a:lnSpc>
                <a:spcPct val="120000"/>
              </a:lnSpc>
              <a:spcBef>
                <a:spcPts val="0"/>
              </a:spcBef>
              <a:buSzTx/>
              <a:buNone/>
              <a:defRPr sz="1300"/>
            </a:lvl3pPr>
            <a:lvl4pPr marL="0" indent="0">
              <a:lnSpc>
                <a:spcPct val="120000"/>
              </a:lnSpc>
              <a:spcBef>
                <a:spcPts val="0"/>
              </a:spcBef>
              <a:buSzTx/>
              <a:buNone/>
              <a:defRPr sz="1300"/>
            </a:lvl4pPr>
            <a:lvl5pPr marL="0" indent="0">
              <a:lnSpc>
                <a:spcPct val="120000"/>
              </a:lnSpc>
              <a:spcBef>
                <a:spcPts val="0"/>
              </a:spcBef>
              <a:buSzTx/>
              <a:buNone/>
              <a:defRPr sz="13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17" name="Shape 217"/>
          <p:cNvSpPr>
            <a:spLocks noGrp="1"/>
          </p:cNvSpPr>
          <p:nvPr>
            <p:ph type="sldNum" sz="quarter" idx="2"/>
          </p:nvPr>
        </p:nvSpPr>
        <p:spPr>
          <a:xfrm>
            <a:off x="5935265" y="6527601"/>
            <a:ext cx="297656" cy="241102"/>
          </a:xfrm>
          <a:prstGeom prst="rect">
            <a:avLst/>
          </a:prstGeom>
        </p:spPr>
        <p:txBody>
          <a:bodyPr/>
          <a:lstStyle>
            <a:lvl1pPr algn="ctr">
              <a:defRPr sz="1100">
                <a:latin typeface="Gill Sans"/>
                <a:ea typeface="Gill Sans"/>
                <a:cs typeface="Gill Sans"/>
                <a:sym typeface="Gill Sans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50379749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2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://www.tutorialspoint.com/java/java_interfaces.htm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://www.tutorialspoint.com/java/java_interfaces.htm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://www.tutorialspoint.com/java/java_interfaces.htm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://www.tutorialspoint.com/java/java_interfaces.htm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://www.tutorialspoint.com/java/java_interfaces.htm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://www.tutorialspoint.com/java/java_interfaces.htm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://www.tutorialspoint.com/java/java_interfaces.htm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://www.tutorialspoint.com/java/java_interfaces.htm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://www.tutorialspoint.com/java/java_interfaces.htm" TargetMode="Externa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http://www.tutorialspoint.com/java/java_interfaces.htm" TargetMode="Externa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hyperlink" Target="http://www.tutorialspoint.com/java/java_interfaces.htm" TargetMode="Externa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hyperlink" Target="http://www.tutorialspoint.com/java/java_interfaces.htm" TargetMode="Externa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175641" y="914401"/>
            <a:ext cx="7772400" cy="1470025"/>
          </a:xfrm>
        </p:spPr>
        <p:txBody>
          <a:bodyPr>
            <a:normAutofit/>
          </a:bodyPr>
          <a:lstStyle/>
          <a:p>
            <a:pPr algn="l"/>
            <a:r>
              <a:rPr lang="en-IE" sz="4000" dirty="0"/>
              <a:t>More on Abstraction in Java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38300" y="3810000"/>
            <a:ext cx="1866900" cy="1066800"/>
          </a:xfrm>
        </p:spPr>
        <p:txBody>
          <a:bodyPr>
            <a:norm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</a:pPr>
            <a:r>
              <a:rPr lang="en-IE" sz="2400" dirty="0"/>
              <a:t>Produced </a:t>
            </a:r>
          </a:p>
          <a:p>
            <a:pPr algn="r">
              <a:lnSpc>
                <a:spcPct val="110000"/>
              </a:lnSpc>
              <a:spcBef>
                <a:spcPts val="0"/>
              </a:spcBef>
            </a:pPr>
            <a:r>
              <a:rPr lang="en-IE" sz="2400" dirty="0"/>
              <a:t>by: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2251841" y="3124200"/>
            <a:ext cx="762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3810000" y="3817204"/>
            <a:ext cx="29718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Dr. Siobhán Drohan</a:t>
            </a:r>
          </a:p>
          <a:p>
            <a:r>
              <a:rPr lang="en-IE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Mairead Meagher</a:t>
            </a:r>
          </a:p>
          <a:p>
            <a:r>
              <a:rPr lang="en-IE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Eamonn de </a:t>
            </a:r>
            <a:r>
              <a:rPr lang="en-IE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Leastar</a:t>
            </a:r>
            <a:endParaRPr lang="en-IE" sz="2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en-IE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Siobhán</a:t>
            </a:r>
            <a:r>
              <a:rPr lang="en-IE" sz="2400">
                <a:solidFill>
                  <a:schemeClr val="tx1">
                    <a:lumMod val="75000"/>
                    <a:lumOff val="25000"/>
                  </a:schemeClr>
                </a:solidFill>
              </a:rPr>
              <a:t> Roche</a:t>
            </a:r>
            <a:endParaRPr lang="en-IE" sz="2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2" name="Title 1"/>
          <p:cNvSpPr txBox="1">
            <a:spLocks/>
          </p:cNvSpPr>
          <p:nvPr/>
        </p:nvSpPr>
        <p:spPr>
          <a:xfrm>
            <a:off x="2175641" y="2133601"/>
            <a:ext cx="7772400" cy="9366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E" sz="3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Introduction to Interfaces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F26C061-E30E-B32B-9377-721F10334EF4}"/>
              </a:ext>
            </a:extLst>
          </p:cNvPr>
          <p:cNvSpPr txBox="1"/>
          <p:nvPr/>
        </p:nvSpPr>
        <p:spPr>
          <a:xfrm>
            <a:off x="7336971" y="5849826"/>
            <a:ext cx="40727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1600" dirty="0"/>
              <a:t>Department of Computing and Mathematics</a:t>
            </a:r>
          </a:p>
          <a:p>
            <a:r>
              <a:rPr lang="en-IE" sz="1600" dirty="0"/>
              <a:t>http://www.setu.ie/</a:t>
            </a:r>
          </a:p>
        </p:txBody>
      </p:sp>
      <p:pic>
        <p:nvPicPr>
          <p:cNvPr id="7" name="Picture 6" descr="Text&#10;&#10;Description automatically generated">
            <a:extLst>
              <a:ext uri="{FF2B5EF4-FFF2-40B4-BE49-F238E27FC236}">
                <a16:creationId xmlns:a16="http://schemas.microsoft.com/office/drawing/2014/main" id="{16A17178-B240-94D0-5EC7-A09FAA44676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641" y="5501441"/>
            <a:ext cx="2286000" cy="1281546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0423712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E" dirty="0"/>
              <a:t>Topic List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lvl="1" indent="0">
              <a:buNone/>
            </a:pPr>
            <a:endParaRPr lang="en-IE" dirty="0"/>
          </a:p>
          <a:p>
            <a:pPr lvl="1"/>
            <a:r>
              <a:rPr lang="en-IE" dirty="0"/>
              <a:t>What are Interfaces?</a:t>
            </a:r>
          </a:p>
          <a:p>
            <a:pPr lvl="1"/>
            <a:endParaRPr lang="en-IE" dirty="0"/>
          </a:p>
          <a:p>
            <a:pPr lvl="1"/>
            <a:r>
              <a:rPr lang="en-IE" dirty="0"/>
              <a:t>Syntax for an Interface.</a:t>
            </a:r>
          </a:p>
          <a:p>
            <a:pPr lvl="1"/>
            <a:endParaRPr lang="en-IE" dirty="0"/>
          </a:p>
          <a:p>
            <a:pPr lvl="1"/>
            <a:r>
              <a:rPr lang="en-IE" dirty="0"/>
              <a:t>Implementing Interfaces. </a:t>
            </a:r>
          </a:p>
          <a:p>
            <a:pPr lvl="1"/>
            <a:endParaRPr lang="en-IE" dirty="0"/>
          </a:p>
          <a:p>
            <a:pPr marL="0" indent="0">
              <a:buNone/>
            </a:pPr>
            <a:endParaRPr lang="en-IE" dirty="0"/>
          </a:p>
          <a:p>
            <a:endParaRPr lang="en-IE" dirty="0"/>
          </a:p>
        </p:txBody>
      </p:sp>
      <p:sp>
        <p:nvSpPr>
          <p:cNvPr id="4" name="Rectangle 3"/>
          <p:cNvSpPr/>
          <p:nvPr/>
        </p:nvSpPr>
        <p:spPr>
          <a:xfrm flipV="1">
            <a:off x="990600" y="2133600"/>
            <a:ext cx="4724400" cy="5334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9904263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>
                <a:ea typeface="+mj-ea"/>
              </a:rPr>
              <a:t>Interfaces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en-US" dirty="0"/>
              <a:t>We now know why multiple inheritance is not allowed in Java.</a:t>
            </a:r>
          </a:p>
          <a:p>
            <a:endParaRPr lang="en-US" altLang="en-US" dirty="0"/>
          </a:p>
          <a:p>
            <a:pPr eaLnBrk="1" hangingPunct="1"/>
            <a:r>
              <a:rPr lang="en-US" altLang="en-US" dirty="0"/>
              <a:t>However, there is a way to “simulate” multiple inheritance.  </a:t>
            </a:r>
          </a:p>
          <a:p>
            <a:pPr eaLnBrk="1" hangingPunct="1"/>
            <a:endParaRPr lang="en-US" altLang="en-US" dirty="0"/>
          </a:p>
          <a:p>
            <a:pPr eaLnBrk="1" hangingPunct="1"/>
            <a:r>
              <a:rPr lang="en-US" altLang="en-US" dirty="0"/>
              <a:t>We will now look at interfaces which are used when you can see a “multiple inheritance” in your class design.</a:t>
            </a:r>
          </a:p>
          <a:p>
            <a:pPr eaLnBrk="1" hangingPunct="1"/>
            <a:endParaRPr lang="en-US" alt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6965823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What is an interface?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 dirty="0"/>
              <a:t>Writing an interface is similar to writing a class. </a:t>
            </a:r>
          </a:p>
          <a:p>
            <a:endParaRPr lang="en-IE" dirty="0"/>
          </a:p>
          <a:p>
            <a:r>
              <a:rPr lang="en-IE" dirty="0"/>
              <a:t>But a class describes the </a:t>
            </a:r>
            <a:r>
              <a:rPr lang="en-IE" dirty="0">
                <a:solidFill>
                  <a:srgbClr val="FF0000"/>
                </a:solidFill>
              </a:rPr>
              <a:t>attributes</a:t>
            </a:r>
            <a:r>
              <a:rPr lang="en-IE" dirty="0"/>
              <a:t> and </a:t>
            </a:r>
            <a:r>
              <a:rPr lang="en-IE" dirty="0">
                <a:solidFill>
                  <a:srgbClr val="FF0000"/>
                </a:solidFill>
              </a:rPr>
              <a:t>behaviours </a:t>
            </a:r>
            <a:r>
              <a:rPr lang="en-IE" dirty="0"/>
              <a:t>of an object. </a:t>
            </a:r>
          </a:p>
          <a:p>
            <a:endParaRPr lang="en-IE" dirty="0"/>
          </a:p>
          <a:p>
            <a:r>
              <a:rPr lang="en-IE" dirty="0"/>
              <a:t>And an interface contains </a:t>
            </a:r>
            <a:r>
              <a:rPr lang="en-IE" dirty="0">
                <a:solidFill>
                  <a:srgbClr val="FF0000"/>
                </a:solidFill>
              </a:rPr>
              <a:t>behaviours</a:t>
            </a:r>
            <a:r>
              <a:rPr lang="en-IE" dirty="0"/>
              <a:t> that a class implements.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0" y="6477782"/>
            <a:ext cx="57912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IE" dirty="0">
                <a:hlinkClick r:id="rId2"/>
              </a:rPr>
              <a:t>http://www.tutorialspoint.com/java/java_interfaces.htm</a:t>
            </a:r>
            <a:r>
              <a:rPr lang="en-IE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5684154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What is an interface?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 dirty="0"/>
              <a:t>An interface is:</a:t>
            </a:r>
          </a:p>
          <a:p>
            <a:pPr lvl="1"/>
            <a:r>
              <a:rPr lang="en-IE" dirty="0"/>
              <a:t>a reference </a:t>
            </a:r>
            <a:r>
              <a:rPr lang="en-IE" dirty="0">
                <a:solidFill>
                  <a:srgbClr val="FF0000"/>
                </a:solidFill>
              </a:rPr>
              <a:t>type</a:t>
            </a:r>
            <a:r>
              <a:rPr lang="en-IE" dirty="0"/>
              <a:t> in Java</a:t>
            </a:r>
          </a:p>
          <a:p>
            <a:pPr lvl="1"/>
            <a:r>
              <a:rPr lang="en-IE" dirty="0"/>
              <a:t>similar(</a:t>
            </a:r>
            <a:r>
              <a:rPr lang="en-IE" dirty="0" err="1"/>
              <a:t>ish</a:t>
            </a:r>
            <a:r>
              <a:rPr lang="en-IE" dirty="0"/>
              <a:t>) to a class, </a:t>
            </a:r>
          </a:p>
          <a:p>
            <a:pPr lvl="1"/>
            <a:r>
              <a:rPr lang="en-IE" dirty="0"/>
              <a:t>a collection of abstract method signatures. </a:t>
            </a:r>
          </a:p>
          <a:p>
            <a:pPr lvl="1"/>
            <a:endParaRPr lang="en-IE" dirty="0"/>
          </a:p>
          <a:p>
            <a:pPr marL="514350" indent="-457200"/>
            <a:r>
              <a:rPr lang="en-IE" dirty="0"/>
              <a:t>A class </a:t>
            </a:r>
            <a:r>
              <a:rPr lang="en-IE" dirty="0">
                <a:solidFill>
                  <a:srgbClr val="FF0000"/>
                </a:solidFill>
              </a:rPr>
              <a:t>implements</a:t>
            </a:r>
            <a:r>
              <a:rPr lang="en-IE" dirty="0"/>
              <a:t> an interface, thereby inheriting the abstract methods of the interface.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0538BE8-57CE-EA44-A49B-00C93EB75197}"/>
              </a:ext>
            </a:extLst>
          </p:cNvPr>
          <p:cNvSpPr/>
          <p:nvPr/>
        </p:nvSpPr>
        <p:spPr>
          <a:xfrm>
            <a:off x="6400800" y="6477782"/>
            <a:ext cx="57912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IE" dirty="0">
                <a:hlinkClick r:id="rId2"/>
              </a:rPr>
              <a:t>http://www.tutorialspoint.com/java/java_interfaces.htm</a:t>
            </a:r>
            <a:r>
              <a:rPr lang="en-IE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6302272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What is an interface?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IE" dirty="0"/>
              <a:t>Along with abstract methods an interface may also contain:</a:t>
            </a:r>
          </a:p>
          <a:p>
            <a:pPr lvl="1"/>
            <a:r>
              <a:rPr lang="en-IE" dirty="0"/>
              <a:t>constants i.e. final static fields </a:t>
            </a:r>
          </a:p>
          <a:p>
            <a:pPr lvl="1"/>
            <a:r>
              <a:rPr lang="en-IE" dirty="0"/>
              <a:t>default methods</a:t>
            </a:r>
          </a:p>
          <a:p>
            <a:pPr lvl="1"/>
            <a:r>
              <a:rPr lang="en-IE" dirty="0"/>
              <a:t>static methods</a:t>
            </a:r>
          </a:p>
          <a:p>
            <a:pPr lvl="1"/>
            <a:endParaRPr lang="en-IE" dirty="0"/>
          </a:p>
          <a:p>
            <a:r>
              <a:rPr lang="en-IE" dirty="0"/>
              <a:t>Method bodies exist </a:t>
            </a:r>
            <a:r>
              <a:rPr lang="en-IE" u="sng" dirty="0"/>
              <a:t>only</a:t>
            </a:r>
            <a:r>
              <a:rPr lang="en-IE" dirty="0"/>
              <a:t> for default methods and static methods.</a:t>
            </a:r>
          </a:p>
          <a:p>
            <a:endParaRPr lang="en-IE" dirty="0"/>
          </a:p>
          <a:p>
            <a:r>
              <a:rPr lang="en-IE" dirty="0"/>
              <a:t>NOTE: Pre Java 8, Interfaces did not have static and default methods.</a:t>
            </a:r>
          </a:p>
          <a:p>
            <a:endParaRPr lang="en-IE" dirty="0"/>
          </a:p>
          <a:p>
            <a:endParaRPr lang="en-IE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67CB9D1-916E-3742-AA65-35C255D4BE68}"/>
              </a:ext>
            </a:extLst>
          </p:cNvPr>
          <p:cNvSpPr/>
          <p:nvPr/>
        </p:nvSpPr>
        <p:spPr>
          <a:xfrm>
            <a:off x="6400800" y="6477782"/>
            <a:ext cx="57912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IE" dirty="0">
                <a:hlinkClick r:id="rId2"/>
              </a:rPr>
              <a:t>http://www.tutorialspoint.com/java/java_interfaces.htm</a:t>
            </a:r>
            <a:r>
              <a:rPr lang="en-IE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3544459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Shape 401"/>
          <p:cNvSpPr>
            <a:spLocks noGrp="1"/>
          </p:cNvSpPr>
          <p:nvPr>
            <p:ph type="title"/>
          </p:nvPr>
        </p:nvSpPr>
        <p:spPr>
          <a:xfrm>
            <a:off x="1905000" y="304800"/>
            <a:ext cx="8229600" cy="1143000"/>
          </a:xfrm>
          <a:prstGeom prst="rect">
            <a:avLst/>
          </a:prstGeom>
        </p:spPr>
        <p:txBody>
          <a:bodyPr/>
          <a:lstStyle/>
          <a:p>
            <a:pPr lvl="0">
              <a:defRPr sz="1800">
                <a:uFillTx/>
              </a:defRPr>
            </a:pPr>
            <a:r>
              <a:rPr lang="en-IE" sz="3600" dirty="0">
                <a:uFill>
                  <a:solidFill/>
                </a:uFill>
              </a:rPr>
              <a:t>Interface </a:t>
            </a:r>
            <a:r>
              <a:rPr sz="3600" dirty="0">
                <a:uFill>
                  <a:solidFill/>
                </a:uFill>
              </a:rPr>
              <a:t>Rules</a:t>
            </a:r>
            <a:r>
              <a:rPr lang="en-IE" sz="3600" dirty="0">
                <a:uFill>
                  <a:solidFill/>
                </a:uFill>
              </a:rPr>
              <a:t> Summary </a:t>
            </a:r>
            <a:endParaRPr sz="3600" dirty="0">
              <a:uFill>
                <a:solidFill/>
              </a:uFill>
            </a:endParaRPr>
          </a:p>
        </p:txBody>
      </p:sp>
      <p:sp>
        <p:nvSpPr>
          <p:cNvPr id="402" name="Shape 402"/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>
            <a:noAutofit/>
          </a:bodyPr>
          <a:lstStyle/>
          <a:p>
            <a:pPr>
              <a:buClr>
                <a:srgbClr val="000000"/>
              </a:buClr>
              <a:defRPr sz="1800">
                <a:uFillTx/>
              </a:defRPr>
            </a:pPr>
            <a:r>
              <a:rPr sz="2800" dirty="0">
                <a:uFill>
                  <a:solidFill/>
                </a:uFill>
              </a:rPr>
              <a:t>Interfaces can contain:</a:t>
            </a:r>
          </a:p>
          <a:p>
            <a:pPr marL="840740" lvl="1" indent="-342900">
              <a:buClr>
                <a:srgbClr val="000000"/>
              </a:buClr>
              <a:defRPr sz="1800">
                <a:uFillTx/>
              </a:defRPr>
            </a:pPr>
            <a:r>
              <a:rPr sz="2400" dirty="0">
                <a:uFill>
                  <a:solidFill/>
                </a:uFill>
              </a:rPr>
              <a:t>Only method signatures</a:t>
            </a:r>
            <a:r>
              <a:rPr lang="en-IE" sz="2400" dirty="0">
                <a:uFill>
                  <a:solidFill/>
                </a:uFill>
              </a:rPr>
              <a:t> for abstract methods.</a:t>
            </a:r>
            <a:endParaRPr sz="2400" dirty="0">
              <a:uFill>
                <a:solidFill/>
              </a:uFill>
            </a:endParaRPr>
          </a:p>
          <a:p>
            <a:pPr marL="840740" lvl="1" indent="-342900">
              <a:buClr>
                <a:srgbClr val="000000"/>
              </a:buClr>
              <a:defRPr sz="1800">
                <a:uFillTx/>
              </a:defRPr>
            </a:pPr>
            <a:r>
              <a:rPr sz="2400" dirty="0">
                <a:uFill>
                  <a:solidFill/>
                </a:uFill>
              </a:rPr>
              <a:t>Only final static fields</a:t>
            </a:r>
            <a:r>
              <a:rPr lang="en-IE" sz="2400" dirty="0">
                <a:uFill>
                  <a:solidFill/>
                </a:uFill>
              </a:rPr>
              <a:t>.</a:t>
            </a:r>
          </a:p>
          <a:p>
            <a:pPr marL="840740" lvl="1" indent="-342900">
              <a:buClr>
                <a:srgbClr val="000000"/>
              </a:buClr>
              <a:defRPr sz="1800">
                <a:uFillTx/>
              </a:defRPr>
            </a:pPr>
            <a:r>
              <a:rPr lang="en-IE" sz="2400" dirty="0"/>
              <a:t>default and static methods (including their implementation).</a:t>
            </a:r>
          </a:p>
          <a:p>
            <a:pPr marL="0" indent="0">
              <a:buClr>
                <a:srgbClr val="000000"/>
              </a:buClr>
              <a:buNone/>
              <a:defRPr sz="1800">
                <a:uFillTx/>
              </a:defRPr>
            </a:pPr>
            <a:endParaRPr lang="en-IE" sz="2800" dirty="0">
              <a:uFill>
                <a:solidFill/>
              </a:uFill>
            </a:endParaRPr>
          </a:p>
          <a:p>
            <a:pPr>
              <a:buClr>
                <a:srgbClr val="000000"/>
              </a:buClr>
              <a:defRPr sz="1800">
                <a:uFillTx/>
              </a:defRPr>
            </a:pPr>
            <a:r>
              <a:rPr sz="2800" dirty="0">
                <a:uFill>
                  <a:solidFill/>
                </a:uFill>
              </a:rPr>
              <a:t>Interfaces cannot contain:</a:t>
            </a:r>
          </a:p>
          <a:p>
            <a:pPr marL="840740" lvl="1" indent="-342900">
              <a:buClr>
                <a:srgbClr val="000000"/>
              </a:buClr>
              <a:defRPr sz="1800">
                <a:uFillTx/>
              </a:defRPr>
            </a:pPr>
            <a:r>
              <a:rPr sz="2400" dirty="0">
                <a:uFill>
                  <a:solidFill/>
                </a:uFill>
              </a:rPr>
              <a:t>Any fields other than </a:t>
            </a:r>
            <a:r>
              <a:rPr lang="en-IE" sz="2400" dirty="0">
                <a:uFill>
                  <a:solidFill/>
                </a:uFill>
              </a:rPr>
              <a:t>public </a:t>
            </a:r>
            <a:r>
              <a:rPr sz="2400" dirty="0">
                <a:uFill>
                  <a:solidFill/>
                </a:uFill>
              </a:rPr>
              <a:t>final static fields</a:t>
            </a:r>
            <a:r>
              <a:rPr lang="en-IE" sz="2400" dirty="0">
                <a:uFill>
                  <a:solidFill/>
                </a:uFill>
              </a:rPr>
              <a:t>.</a:t>
            </a:r>
            <a:endParaRPr sz="2400" dirty="0">
              <a:uFill>
                <a:solidFill/>
              </a:uFill>
            </a:endParaRPr>
          </a:p>
          <a:p>
            <a:pPr lvl="1">
              <a:buClr>
                <a:srgbClr val="000000"/>
              </a:buClr>
              <a:defRPr sz="1800">
                <a:uFillTx/>
              </a:defRPr>
            </a:pPr>
            <a:r>
              <a:rPr sz="2400" dirty="0">
                <a:uFill>
                  <a:solidFill/>
                </a:uFill>
              </a:rPr>
              <a:t>Any constructors</a:t>
            </a:r>
            <a:r>
              <a:rPr lang="en-IE" sz="2400" dirty="0">
                <a:uFill>
                  <a:solidFill/>
                </a:uFill>
              </a:rPr>
              <a:t>.</a:t>
            </a:r>
          </a:p>
          <a:p>
            <a:pPr lvl="1">
              <a:buClr>
                <a:srgbClr val="000000"/>
              </a:buClr>
              <a:defRPr sz="1800">
                <a:uFillTx/>
              </a:defRPr>
            </a:pPr>
            <a:r>
              <a:rPr lang="en-IE" sz="2400" dirty="0"/>
              <a:t>Any concrete methods, other than default and static ones.</a:t>
            </a:r>
            <a:endParaRPr sz="2400" dirty="0">
              <a:uFill>
                <a:solidFill/>
              </a:uFill>
            </a:endParaRPr>
          </a:p>
        </p:txBody>
      </p:sp>
    </p:spTree>
    <p:extLst>
      <p:ext uri="{BB962C8B-B14F-4D97-AF65-F5344CB8AC3E}">
        <p14:creationId xmlns:p14="http://schemas.microsoft.com/office/powerpoint/2010/main" val="17936448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E" dirty="0"/>
              <a:t>Topic List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lvl="1" indent="0">
              <a:buNone/>
            </a:pPr>
            <a:endParaRPr lang="en-IE" dirty="0"/>
          </a:p>
          <a:p>
            <a:pPr lvl="1"/>
            <a:r>
              <a:rPr lang="en-IE" dirty="0"/>
              <a:t>What are Interfaces?</a:t>
            </a:r>
          </a:p>
          <a:p>
            <a:pPr lvl="1"/>
            <a:endParaRPr lang="en-IE" dirty="0"/>
          </a:p>
          <a:p>
            <a:pPr lvl="1"/>
            <a:r>
              <a:rPr lang="en-IE" dirty="0"/>
              <a:t>Syntax for an Interface.</a:t>
            </a:r>
          </a:p>
          <a:p>
            <a:pPr lvl="1"/>
            <a:endParaRPr lang="en-IE" dirty="0"/>
          </a:p>
          <a:p>
            <a:pPr lvl="1"/>
            <a:r>
              <a:rPr lang="en-IE" dirty="0"/>
              <a:t>Implementing Interfaces. </a:t>
            </a:r>
          </a:p>
          <a:p>
            <a:pPr lvl="1"/>
            <a:endParaRPr lang="en-IE" dirty="0"/>
          </a:p>
          <a:p>
            <a:pPr marL="0" indent="0">
              <a:buNone/>
            </a:pPr>
            <a:endParaRPr lang="en-IE" dirty="0"/>
          </a:p>
          <a:p>
            <a:endParaRPr lang="en-IE" dirty="0"/>
          </a:p>
        </p:txBody>
      </p:sp>
      <p:sp>
        <p:nvSpPr>
          <p:cNvPr id="4" name="Rectangle 3"/>
          <p:cNvSpPr/>
          <p:nvPr/>
        </p:nvSpPr>
        <p:spPr>
          <a:xfrm flipV="1">
            <a:off x="838200" y="3162300"/>
            <a:ext cx="4724400" cy="5334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018871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Syntax for an Interface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E" dirty="0"/>
              <a:t>Writing an interface is similar to writing a class. </a:t>
            </a:r>
          </a:p>
          <a:p>
            <a:endParaRPr lang="en-IE" dirty="0"/>
          </a:p>
          <a:p>
            <a:r>
              <a:rPr lang="en-IE" dirty="0">
                <a:solidFill>
                  <a:srgbClr val="FF0000"/>
                </a:solidFill>
              </a:rPr>
              <a:t>But…</a:t>
            </a:r>
          </a:p>
          <a:p>
            <a:pPr lvl="1"/>
            <a:r>
              <a:rPr lang="en-IE" dirty="0"/>
              <a:t>a class describes the attributes and behaviours of an object. </a:t>
            </a:r>
          </a:p>
          <a:p>
            <a:pPr lvl="1"/>
            <a:r>
              <a:rPr lang="en-IE" dirty="0"/>
              <a:t>an interface contains behaviours that a class implements.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935E1A8-25B9-F246-AA8D-F74BB79171FC}"/>
              </a:ext>
            </a:extLst>
          </p:cNvPr>
          <p:cNvSpPr/>
          <p:nvPr/>
        </p:nvSpPr>
        <p:spPr>
          <a:xfrm>
            <a:off x="6400800" y="6477782"/>
            <a:ext cx="57912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IE" dirty="0">
                <a:hlinkClick r:id="rId2"/>
              </a:rPr>
              <a:t>http://www.tutorialspoint.com/java/java_interfaces.htm</a:t>
            </a:r>
            <a:r>
              <a:rPr lang="en-IE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4171913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Syntax for an Interface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E" dirty="0"/>
          </a:p>
          <a:p>
            <a:r>
              <a:rPr lang="en-IE" dirty="0"/>
              <a:t>The </a:t>
            </a:r>
            <a:r>
              <a:rPr lang="en-IE" dirty="0">
                <a:solidFill>
                  <a:srgbClr val="FF0000"/>
                </a:solidFill>
              </a:rPr>
              <a:t>interface</a:t>
            </a:r>
            <a:r>
              <a:rPr lang="en-IE" dirty="0"/>
              <a:t> keyword is used to declare an interface.</a:t>
            </a:r>
          </a:p>
          <a:p>
            <a:endParaRPr lang="en-IE" dirty="0"/>
          </a:p>
          <a:p>
            <a:r>
              <a:rPr lang="en-IE" dirty="0"/>
              <a:t>Unless the class that implements the interface is abstract, </a:t>
            </a:r>
            <a:r>
              <a:rPr lang="en-IE" u="sng" dirty="0"/>
              <a:t>all</a:t>
            </a:r>
            <a:r>
              <a:rPr lang="en-IE" dirty="0"/>
              <a:t> the abstract methods of the interface need to be defined in the class.</a:t>
            </a:r>
          </a:p>
          <a:p>
            <a:endParaRPr lang="en-IE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3AABEA9-AB0A-2C4A-A5D7-D243EEBF0D2A}"/>
              </a:ext>
            </a:extLst>
          </p:cNvPr>
          <p:cNvSpPr/>
          <p:nvPr/>
        </p:nvSpPr>
        <p:spPr>
          <a:xfrm>
            <a:off x="6400800" y="6477782"/>
            <a:ext cx="57912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IE" dirty="0">
                <a:hlinkClick r:id="rId2"/>
              </a:rPr>
              <a:t>http://www.tutorialspoint.com/java/java_interfaces.htm</a:t>
            </a:r>
            <a:r>
              <a:rPr lang="en-IE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911136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Syntax for an Interface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1981200" y="1525012"/>
            <a:ext cx="8305800" cy="3046988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E" sz="2400" dirty="0"/>
              <a:t>import </a:t>
            </a:r>
            <a:r>
              <a:rPr lang="en-IE" sz="2400" dirty="0" err="1"/>
              <a:t>java.lang</a:t>
            </a:r>
            <a:r>
              <a:rPr lang="en-IE" sz="2400" dirty="0"/>
              <a:t>.*; </a:t>
            </a:r>
          </a:p>
          <a:p>
            <a:r>
              <a:rPr lang="en-IE" sz="2400" dirty="0">
                <a:solidFill>
                  <a:schemeClr val="bg1">
                    <a:lumMod val="50000"/>
                  </a:schemeClr>
                </a:solidFill>
              </a:rPr>
              <a:t>//Any number of import statements </a:t>
            </a:r>
          </a:p>
          <a:p>
            <a:endParaRPr lang="en-IE" sz="2400" dirty="0"/>
          </a:p>
          <a:p>
            <a:r>
              <a:rPr lang="en-IE" sz="2400" dirty="0"/>
              <a:t>public interface </a:t>
            </a:r>
            <a:r>
              <a:rPr lang="en-IE" sz="2400" dirty="0" err="1"/>
              <a:t>NameOfInterface</a:t>
            </a:r>
            <a:r>
              <a:rPr lang="en-IE" sz="2400" dirty="0"/>
              <a:t> { </a:t>
            </a:r>
          </a:p>
          <a:p>
            <a:r>
              <a:rPr lang="en-IE" sz="2400" dirty="0">
                <a:solidFill>
                  <a:schemeClr val="bg1">
                    <a:lumMod val="50000"/>
                  </a:schemeClr>
                </a:solidFill>
              </a:rPr>
              <a:t>      //Any number of final, static fields </a:t>
            </a:r>
          </a:p>
          <a:p>
            <a:r>
              <a:rPr lang="en-IE" sz="2400" dirty="0">
                <a:solidFill>
                  <a:schemeClr val="bg1">
                    <a:lumMod val="50000"/>
                  </a:schemeClr>
                </a:solidFill>
              </a:rPr>
              <a:t>      //Any number of abstract method declarations</a:t>
            </a:r>
          </a:p>
          <a:p>
            <a:r>
              <a:rPr lang="en-IE" sz="2400" dirty="0">
                <a:solidFill>
                  <a:schemeClr val="bg1">
                    <a:lumMod val="50000"/>
                  </a:schemeClr>
                </a:solidFill>
              </a:rPr>
              <a:t>      //Any number of default and static method implementations</a:t>
            </a:r>
            <a:endParaRPr lang="en-IE" sz="2400" dirty="0"/>
          </a:p>
          <a:p>
            <a:r>
              <a:rPr lang="en-IE" sz="2400" dirty="0"/>
              <a:t>}   </a:t>
            </a:r>
          </a:p>
        </p:txBody>
      </p:sp>
      <p:sp>
        <p:nvSpPr>
          <p:cNvPr id="6" name="Rectangle 5"/>
          <p:cNvSpPr/>
          <p:nvPr/>
        </p:nvSpPr>
        <p:spPr>
          <a:xfrm>
            <a:off x="7088724" y="1524001"/>
            <a:ext cx="3198277" cy="830997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IE" sz="2400" dirty="0"/>
              <a:t>File name : NameOfInterface.java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CF91376-C384-7A43-9590-57710486F76D}"/>
              </a:ext>
            </a:extLst>
          </p:cNvPr>
          <p:cNvSpPr/>
          <p:nvPr/>
        </p:nvSpPr>
        <p:spPr>
          <a:xfrm>
            <a:off x="6400800" y="6477782"/>
            <a:ext cx="57912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IE" dirty="0">
                <a:hlinkClick r:id="rId2"/>
              </a:rPr>
              <a:t>http://www.tutorialspoint.com/java/java_interfaces.htm</a:t>
            </a:r>
            <a:r>
              <a:rPr lang="en-IE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9900896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Syntax for an Interface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1981200" y="1525012"/>
            <a:ext cx="8305800" cy="3046988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E" sz="2400" dirty="0"/>
              <a:t>import </a:t>
            </a:r>
            <a:r>
              <a:rPr lang="en-IE" sz="2400" dirty="0" err="1"/>
              <a:t>java.lang</a:t>
            </a:r>
            <a:r>
              <a:rPr lang="en-IE" sz="2400" dirty="0"/>
              <a:t>.*; </a:t>
            </a:r>
          </a:p>
          <a:p>
            <a:r>
              <a:rPr lang="en-IE" sz="2400" dirty="0">
                <a:solidFill>
                  <a:schemeClr val="bg1">
                    <a:lumMod val="50000"/>
                  </a:schemeClr>
                </a:solidFill>
              </a:rPr>
              <a:t>//Any number of import statements </a:t>
            </a:r>
          </a:p>
          <a:p>
            <a:endParaRPr lang="en-IE" sz="2400" dirty="0"/>
          </a:p>
          <a:p>
            <a:r>
              <a:rPr lang="en-IE" sz="2400" dirty="0"/>
              <a:t>public interface </a:t>
            </a:r>
            <a:r>
              <a:rPr lang="en-IE" sz="2400" dirty="0" err="1"/>
              <a:t>NameOfInterface</a:t>
            </a:r>
            <a:r>
              <a:rPr lang="en-IE" sz="2400" dirty="0"/>
              <a:t> { </a:t>
            </a:r>
          </a:p>
          <a:p>
            <a:r>
              <a:rPr lang="en-IE" sz="2400" dirty="0">
                <a:solidFill>
                  <a:schemeClr val="bg1">
                    <a:lumMod val="50000"/>
                  </a:schemeClr>
                </a:solidFill>
              </a:rPr>
              <a:t>      //Any number of final, static fields </a:t>
            </a:r>
          </a:p>
          <a:p>
            <a:r>
              <a:rPr lang="en-IE" sz="2400" dirty="0">
                <a:solidFill>
                  <a:schemeClr val="bg1">
                    <a:lumMod val="50000"/>
                  </a:schemeClr>
                </a:solidFill>
              </a:rPr>
              <a:t>      //Any number of abstract method declarations</a:t>
            </a:r>
          </a:p>
          <a:p>
            <a:r>
              <a:rPr lang="en-IE" sz="2400" dirty="0">
                <a:solidFill>
                  <a:schemeClr val="bg1">
                    <a:lumMod val="50000"/>
                  </a:schemeClr>
                </a:solidFill>
              </a:rPr>
              <a:t>      //Any number of default and static method implementations</a:t>
            </a:r>
            <a:endParaRPr lang="en-IE" sz="2400" dirty="0"/>
          </a:p>
          <a:p>
            <a:r>
              <a:rPr lang="en-IE" sz="2400" dirty="0"/>
              <a:t>}   </a:t>
            </a:r>
          </a:p>
        </p:txBody>
      </p:sp>
      <p:sp>
        <p:nvSpPr>
          <p:cNvPr id="6" name="Rectangle 5"/>
          <p:cNvSpPr/>
          <p:nvPr/>
        </p:nvSpPr>
        <p:spPr>
          <a:xfrm>
            <a:off x="7088724" y="1531204"/>
            <a:ext cx="3198277" cy="830997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IE" sz="2400" dirty="0"/>
              <a:t>File name : NameOfInterface.java</a:t>
            </a:r>
          </a:p>
        </p:txBody>
      </p:sp>
      <p:sp>
        <p:nvSpPr>
          <p:cNvPr id="7" name="Rectangle 6"/>
          <p:cNvSpPr/>
          <p:nvPr/>
        </p:nvSpPr>
        <p:spPr>
          <a:xfrm>
            <a:off x="1981200" y="4618269"/>
            <a:ext cx="8305800" cy="1938992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E" sz="2400" dirty="0"/>
              <a:t>interface </a:t>
            </a:r>
            <a:r>
              <a:rPr lang="en-IE" sz="2400" dirty="0" err="1"/>
              <a:t>IMammal</a:t>
            </a:r>
            <a:r>
              <a:rPr lang="en-IE" sz="2400" dirty="0"/>
              <a:t> </a:t>
            </a:r>
          </a:p>
          <a:p>
            <a:r>
              <a:rPr lang="en-IE" sz="2400" dirty="0"/>
              <a:t>{ </a:t>
            </a:r>
          </a:p>
          <a:p>
            <a:r>
              <a:rPr lang="en-IE" sz="2400" dirty="0"/>
              <a:t>      public void eat(); </a:t>
            </a:r>
          </a:p>
          <a:p>
            <a:r>
              <a:rPr lang="en-IE" sz="2400" dirty="0"/>
              <a:t>      public void travel();</a:t>
            </a:r>
          </a:p>
          <a:p>
            <a:r>
              <a:rPr lang="en-IE" sz="2400" dirty="0"/>
              <a:t> }</a:t>
            </a:r>
          </a:p>
        </p:txBody>
      </p:sp>
      <p:sp>
        <p:nvSpPr>
          <p:cNvPr id="8" name="Rectangle 7"/>
          <p:cNvSpPr/>
          <p:nvPr/>
        </p:nvSpPr>
        <p:spPr>
          <a:xfrm>
            <a:off x="6705601" y="4632447"/>
            <a:ext cx="3576084" cy="461665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IE" sz="2400" dirty="0"/>
              <a:t>File name : IMammal.java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61884E7-5733-2840-8ABA-8D1906F93AE5}"/>
              </a:ext>
            </a:extLst>
          </p:cNvPr>
          <p:cNvSpPr/>
          <p:nvPr/>
        </p:nvSpPr>
        <p:spPr>
          <a:xfrm>
            <a:off x="6400800" y="6477782"/>
            <a:ext cx="57912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IE" dirty="0">
                <a:hlinkClick r:id="rId2"/>
              </a:rPr>
              <a:t>http://www.tutorialspoint.com/java/java_interfaces.htm</a:t>
            </a:r>
            <a:r>
              <a:rPr lang="en-IE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5746604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Syntax for an Interface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E" dirty="0"/>
          </a:p>
          <a:p>
            <a:r>
              <a:rPr lang="en-IE" dirty="0"/>
              <a:t>Interfaces have the following properties:</a:t>
            </a:r>
          </a:p>
          <a:p>
            <a:pPr lvl="1"/>
            <a:r>
              <a:rPr lang="en-IE" dirty="0"/>
              <a:t>An interface is implicitly abstract. You do not need to use the </a:t>
            </a:r>
            <a:r>
              <a:rPr lang="en-IE" b="1" dirty="0"/>
              <a:t>abstract</a:t>
            </a:r>
            <a:r>
              <a:rPr lang="en-IE" dirty="0"/>
              <a:t> keyword while declaring an interface.</a:t>
            </a:r>
          </a:p>
          <a:p>
            <a:pPr lvl="1"/>
            <a:r>
              <a:rPr lang="en-IE" dirty="0"/>
              <a:t>Each method in an interface is also implicitly abstract, so the abstract keyword is not needed.</a:t>
            </a:r>
          </a:p>
          <a:p>
            <a:pPr lvl="1"/>
            <a:r>
              <a:rPr lang="en-IE" dirty="0"/>
              <a:t>Methods in an interface are implicitly public, so the keyword public is also not required. </a:t>
            </a:r>
          </a:p>
        </p:txBody>
      </p:sp>
      <p:sp>
        <p:nvSpPr>
          <p:cNvPr id="6" name="Rectangle 5"/>
          <p:cNvSpPr/>
          <p:nvPr/>
        </p:nvSpPr>
        <p:spPr>
          <a:xfrm>
            <a:off x="7467600" y="152400"/>
            <a:ext cx="3124200" cy="1938992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E" sz="2400" dirty="0"/>
              <a:t>Interface </a:t>
            </a:r>
            <a:r>
              <a:rPr lang="en-IE" sz="2400" dirty="0" err="1"/>
              <a:t>IMammal</a:t>
            </a:r>
            <a:r>
              <a:rPr lang="en-IE" sz="2400" dirty="0"/>
              <a:t> </a:t>
            </a:r>
          </a:p>
          <a:p>
            <a:r>
              <a:rPr lang="en-IE" sz="2400" dirty="0"/>
              <a:t>{ </a:t>
            </a:r>
          </a:p>
          <a:p>
            <a:r>
              <a:rPr lang="en-IE" sz="2400" dirty="0"/>
              <a:t>      void eat(); </a:t>
            </a:r>
          </a:p>
          <a:p>
            <a:r>
              <a:rPr lang="en-IE" sz="2400" dirty="0"/>
              <a:t>      void travel();</a:t>
            </a:r>
          </a:p>
          <a:p>
            <a:r>
              <a:rPr lang="en-IE" sz="2400" dirty="0"/>
              <a:t> }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BB025CD-5F04-BF40-88B8-247D217D8019}"/>
              </a:ext>
            </a:extLst>
          </p:cNvPr>
          <p:cNvSpPr/>
          <p:nvPr/>
        </p:nvSpPr>
        <p:spPr>
          <a:xfrm>
            <a:off x="6400800" y="6477782"/>
            <a:ext cx="57912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IE" dirty="0">
                <a:hlinkClick r:id="rId2"/>
              </a:rPr>
              <a:t>http://www.tutorialspoint.com/java/java_interfaces.htm</a:t>
            </a:r>
            <a:r>
              <a:rPr lang="en-IE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3825441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E" dirty="0"/>
              <a:t>Topic List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lvl="1" indent="0">
              <a:buNone/>
            </a:pPr>
            <a:endParaRPr lang="en-IE" dirty="0"/>
          </a:p>
          <a:p>
            <a:pPr lvl="1"/>
            <a:r>
              <a:rPr lang="en-IE" dirty="0"/>
              <a:t>What are Interfaces?</a:t>
            </a:r>
          </a:p>
          <a:p>
            <a:pPr lvl="1"/>
            <a:endParaRPr lang="en-IE" dirty="0"/>
          </a:p>
          <a:p>
            <a:pPr lvl="1"/>
            <a:r>
              <a:rPr lang="en-IE" dirty="0"/>
              <a:t>Syntax for an Interface.</a:t>
            </a:r>
          </a:p>
          <a:p>
            <a:pPr lvl="1"/>
            <a:endParaRPr lang="en-IE" dirty="0"/>
          </a:p>
          <a:p>
            <a:pPr lvl="1"/>
            <a:r>
              <a:rPr lang="en-IE" dirty="0"/>
              <a:t>Implementing Interfaces. </a:t>
            </a:r>
          </a:p>
          <a:p>
            <a:pPr lvl="1"/>
            <a:endParaRPr lang="en-IE" dirty="0"/>
          </a:p>
          <a:p>
            <a:pPr marL="0" indent="0">
              <a:buNone/>
            </a:pPr>
            <a:endParaRPr lang="en-IE" dirty="0"/>
          </a:p>
          <a:p>
            <a:endParaRPr lang="en-IE" dirty="0"/>
          </a:p>
        </p:txBody>
      </p:sp>
      <p:sp>
        <p:nvSpPr>
          <p:cNvPr id="4" name="Rectangle 3"/>
          <p:cNvSpPr/>
          <p:nvPr/>
        </p:nvSpPr>
        <p:spPr>
          <a:xfrm flipV="1">
            <a:off x="914400" y="4191000"/>
            <a:ext cx="4724400" cy="5334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245008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Implementing an Interface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1"/>
            <a:ext cx="10972800" cy="4525963"/>
          </a:xfrm>
        </p:spPr>
        <p:txBody>
          <a:bodyPr>
            <a:normAutofit/>
          </a:bodyPr>
          <a:lstStyle/>
          <a:p>
            <a:r>
              <a:rPr lang="en-IE" dirty="0"/>
              <a:t>When a class implements an interface:</a:t>
            </a:r>
          </a:p>
          <a:p>
            <a:pPr lvl="1"/>
            <a:r>
              <a:rPr lang="en-IE" dirty="0"/>
              <a:t>you can think of the class as </a:t>
            </a:r>
            <a:r>
              <a:rPr lang="en-IE" dirty="0">
                <a:solidFill>
                  <a:srgbClr val="FF0000"/>
                </a:solidFill>
              </a:rPr>
              <a:t>signing a contract</a:t>
            </a:r>
            <a:r>
              <a:rPr lang="en-IE" dirty="0"/>
              <a:t>, agreeing to perform the specific behaviours of the interface. </a:t>
            </a:r>
          </a:p>
          <a:p>
            <a:pPr lvl="1"/>
            <a:endParaRPr lang="en-IE" dirty="0"/>
          </a:p>
          <a:p>
            <a:r>
              <a:rPr lang="en-IE" dirty="0"/>
              <a:t>If a class does not perform all the behaviours of the interface, the class must declare itself as abstract.</a:t>
            </a:r>
          </a:p>
          <a:p>
            <a:endParaRPr lang="en-IE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876BDD4-0A8C-9044-A8E5-6BD5B97C44A0}"/>
              </a:ext>
            </a:extLst>
          </p:cNvPr>
          <p:cNvSpPr/>
          <p:nvPr/>
        </p:nvSpPr>
        <p:spPr>
          <a:xfrm>
            <a:off x="6400800" y="6477782"/>
            <a:ext cx="57912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IE" dirty="0">
                <a:hlinkClick r:id="rId2"/>
              </a:rPr>
              <a:t>http://www.tutorialspoint.com/java/java_interfaces.htm</a:t>
            </a:r>
            <a:r>
              <a:rPr lang="en-IE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5214190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Implementing an Interface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0"/>
            <a:ext cx="11049000" cy="4525963"/>
          </a:xfrm>
        </p:spPr>
        <p:txBody>
          <a:bodyPr>
            <a:normAutofit/>
          </a:bodyPr>
          <a:lstStyle/>
          <a:p>
            <a:r>
              <a:rPr lang="en-IE" dirty="0"/>
              <a:t>A class uses the </a:t>
            </a:r>
            <a:r>
              <a:rPr lang="en-IE" b="1" dirty="0"/>
              <a:t>implements</a:t>
            </a:r>
            <a:r>
              <a:rPr lang="en-IE" dirty="0"/>
              <a:t> keyword to implement an interface. </a:t>
            </a:r>
          </a:p>
          <a:p>
            <a:endParaRPr lang="en-IE" dirty="0"/>
          </a:p>
          <a:p>
            <a:r>
              <a:rPr lang="en-IE" dirty="0"/>
              <a:t>The implements keyword appears in the class declaration following the extends portion (if there is one).</a:t>
            </a:r>
          </a:p>
          <a:p>
            <a:endParaRPr lang="en-IE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CFE5125-B043-124C-AF72-6B1508D1AB40}"/>
              </a:ext>
            </a:extLst>
          </p:cNvPr>
          <p:cNvSpPr/>
          <p:nvPr/>
        </p:nvSpPr>
        <p:spPr>
          <a:xfrm>
            <a:off x="6400800" y="6477782"/>
            <a:ext cx="57912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IE" dirty="0">
                <a:hlinkClick r:id="rId2"/>
              </a:rPr>
              <a:t>http://www.tutorialspoint.com/java/java_interfaces.htm</a:t>
            </a:r>
            <a:r>
              <a:rPr lang="en-IE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4757574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Implementing an Interface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803134" y="1470031"/>
            <a:ext cx="4800600" cy="5355312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E" dirty="0"/>
              <a:t>public class Mammal implements </a:t>
            </a:r>
            <a:r>
              <a:rPr lang="en-IE" dirty="0" err="1"/>
              <a:t>IMammal</a:t>
            </a:r>
            <a:r>
              <a:rPr lang="en-IE" dirty="0"/>
              <a:t>{  </a:t>
            </a:r>
          </a:p>
          <a:p>
            <a:r>
              <a:rPr lang="en-IE" dirty="0"/>
              <a:t>    public void eat(){  </a:t>
            </a:r>
          </a:p>
          <a:p>
            <a:r>
              <a:rPr lang="en-IE" dirty="0"/>
              <a:t>         </a:t>
            </a:r>
            <a:r>
              <a:rPr lang="en-IE" dirty="0" err="1"/>
              <a:t>System.out.println</a:t>
            </a:r>
            <a:r>
              <a:rPr lang="en-IE" dirty="0"/>
              <a:t>("Mammal eats"); </a:t>
            </a:r>
          </a:p>
          <a:p>
            <a:r>
              <a:rPr lang="en-IE" dirty="0"/>
              <a:t>    } </a:t>
            </a:r>
          </a:p>
          <a:p>
            <a:endParaRPr lang="en-IE" dirty="0"/>
          </a:p>
          <a:p>
            <a:r>
              <a:rPr lang="en-IE" dirty="0"/>
              <a:t>    public void travel(){ </a:t>
            </a:r>
          </a:p>
          <a:p>
            <a:r>
              <a:rPr lang="en-IE" dirty="0"/>
              <a:t>         </a:t>
            </a:r>
            <a:r>
              <a:rPr lang="en-IE" dirty="0" err="1"/>
              <a:t>System.out.println</a:t>
            </a:r>
            <a:r>
              <a:rPr lang="en-IE" dirty="0"/>
              <a:t>("Mammal travels"); </a:t>
            </a:r>
          </a:p>
          <a:p>
            <a:r>
              <a:rPr lang="en-IE" dirty="0"/>
              <a:t>    } </a:t>
            </a:r>
          </a:p>
          <a:p>
            <a:endParaRPr lang="en-IE" dirty="0"/>
          </a:p>
          <a:p>
            <a:r>
              <a:rPr lang="en-IE" dirty="0"/>
              <a:t>    public </a:t>
            </a:r>
            <a:r>
              <a:rPr lang="en-IE" dirty="0" err="1"/>
              <a:t>int</a:t>
            </a:r>
            <a:r>
              <a:rPr lang="en-IE" dirty="0"/>
              <a:t> </a:t>
            </a:r>
            <a:r>
              <a:rPr lang="en-IE" dirty="0" err="1"/>
              <a:t>noOfLegs</a:t>
            </a:r>
            <a:r>
              <a:rPr lang="en-IE" dirty="0"/>
              <a:t>(){ </a:t>
            </a:r>
          </a:p>
          <a:p>
            <a:r>
              <a:rPr lang="en-IE" dirty="0"/>
              <a:t>         return 0; </a:t>
            </a:r>
          </a:p>
          <a:p>
            <a:r>
              <a:rPr lang="en-IE" dirty="0"/>
              <a:t>    } </a:t>
            </a:r>
          </a:p>
          <a:p>
            <a:endParaRPr lang="en-IE" dirty="0"/>
          </a:p>
          <a:p>
            <a:r>
              <a:rPr lang="en-IE" dirty="0"/>
              <a:t>    public static void main(String </a:t>
            </a:r>
            <a:r>
              <a:rPr lang="en-IE" dirty="0" err="1"/>
              <a:t>args</a:t>
            </a:r>
            <a:r>
              <a:rPr lang="en-IE" dirty="0"/>
              <a:t>[]){</a:t>
            </a:r>
          </a:p>
          <a:p>
            <a:r>
              <a:rPr lang="en-IE" dirty="0"/>
              <a:t>          Mammal m = new Mammal(); </a:t>
            </a:r>
          </a:p>
          <a:p>
            <a:r>
              <a:rPr lang="en-IE" dirty="0"/>
              <a:t>          </a:t>
            </a:r>
            <a:r>
              <a:rPr lang="en-IE" dirty="0" err="1"/>
              <a:t>m.eat</a:t>
            </a:r>
            <a:r>
              <a:rPr lang="en-IE" dirty="0"/>
              <a:t>(); </a:t>
            </a:r>
          </a:p>
          <a:p>
            <a:r>
              <a:rPr lang="en-IE" dirty="0"/>
              <a:t>          m.travel(); </a:t>
            </a:r>
          </a:p>
          <a:p>
            <a:r>
              <a:rPr lang="en-IE" dirty="0"/>
              <a:t>    } </a:t>
            </a:r>
          </a:p>
          <a:p>
            <a:r>
              <a:rPr lang="en-IE" dirty="0"/>
              <a:t>} </a:t>
            </a:r>
          </a:p>
        </p:txBody>
      </p:sp>
      <p:sp>
        <p:nvSpPr>
          <p:cNvPr id="6" name="Rectangle 5"/>
          <p:cNvSpPr/>
          <p:nvPr/>
        </p:nvSpPr>
        <p:spPr>
          <a:xfrm>
            <a:off x="3709822" y="6246949"/>
            <a:ext cx="2215868" cy="461665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IE" sz="2400" dirty="0"/>
              <a:t>Mammal.java</a:t>
            </a:r>
          </a:p>
        </p:txBody>
      </p:sp>
      <p:sp>
        <p:nvSpPr>
          <p:cNvPr id="7" name="Rectangle 6"/>
          <p:cNvSpPr/>
          <p:nvPr/>
        </p:nvSpPr>
        <p:spPr>
          <a:xfrm>
            <a:off x="7239000" y="2362200"/>
            <a:ext cx="3200400" cy="1938992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E" sz="2400" dirty="0"/>
              <a:t>interface </a:t>
            </a:r>
            <a:r>
              <a:rPr lang="en-IE" sz="2400" dirty="0" err="1"/>
              <a:t>IMammal</a:t>
            </a:r>
            <a:r>
              <a:rPr lang="en-IE" sz="2400" dirty="0"/>
              <a:t> </a:t>
            </a:r>
          </a:p>
          <a:p>
            <a:r>
              <a:rPr lang="en-IE" sz="2400" dirty="0"/>
              <a:t>{ </a:t>
            </a:r>
          </a:p>
          <a:p>
            <a:r>
              <a:rPr lang="en-IE" sz="2400" dirty="0"/>
              <a:t>      void eat(); </a:t>
            </a:r>
          </a:p>
          <a:p>
            <a:r>
              <a:rPr lang="en-IE" sz="2400" dirty="0"/>
              <a:t>      void travel();</a:t>
            </a:r>
          </a:p>
          <a:p>
            <a:r>
              <a:rPr lang="en-IE" sz="2400" dirty="0"/>
              <a:t> }</a:t>
            </a:r>
          </a:p>
        </p:txBody>
      </p:sp>
      <p:sp>
        <p:nvSpPr>
          <p:cNvPr id="8" name="Rectangle 7"/>
          <p:cNvSpPr/>
          <p:nvPr/>
        </p:nvSpPr>
        <p:spPr>
          <a:xfrm>
            <a:off x="8311116" y="1900536"/>
            <a:ext cx="2128285" cy="461665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IE" sz="2400" dirty="0"/>
              <a:t>IMammal.java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7C6A677-A97A-2046-87E4-DC8574EA3A73}"/>
              </a:ext>
            </a:extLst>
          </p:cNvPr>
          <p:cNvSpPr/>
          <p:nvPr/>
        </p:nvSpPr>
        <p:spPr>
          <a:xfrm>
            <a:off x="6400800" y="6477782"/>
            <a:ext cx="57912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IE" dirty="0">
                <a:hlinkClick r:id="rId2"/>
              </a:rPr>
              <a:t>http://www.tutorialspoint.com/java/java_interfaces.htm</a:t>
            </a:r>
            <a:r>
              <a:rPr lang="en-IE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7179012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E" dirty="0"/>
              <a:t>Implementing an Interface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1"/>
            <a:ext cx="11049000" cy="4525963"/>
          </a:xfrm>
        </p:spPr>
        <p:txBody>
          <a:bodyPr>
            <a:normAutofit/>
          </a:bodyPr>
          <a:lstStyle/>
          <a:p>
            <a:r>
              <a:rPr lang="en-IE" dirty="0"/>
              <a:t>When </a:t>
            </a:r>
            <a:r>
              <a:rPr lang="en-IE" dirty="0" err="1"/>
              <a:t>implementating</a:t>
            </a:r>
            <a:r>
              <a:rPr lang="en-IE" dirty="0"/>
              <a:t> interfaces there are several rules:</a:t>
            </a:r>
          </a:p>
          <a:p>
            <a:pPr lvl="1"/>
            <a:r>
              <a:rPr lang="en-IE" dirty="0"/>
              <a:t>A class can implement more than one interface at a time.</a:t>
            </a:r>
          </a:p>
          <a:p>
            <a:pPr lvl="1"/>
            <a:r>
              <a:rPr lang="en-IE" dirty="0"/>
              <a:t>A class can extend only one class, but implement many interfaces. </a:t>
            </a:r>
          </a:p>
          <a:p>
            <a:pPr lvl="1"/>
            <a:r>
              <a:rPr lang="en-IE" dirty="0"/>
              <a:t>An interface can extend another interface, similarly to the way that a class can extend another class.</a:t>
            </a:r>
          </a:p>
          <a:p>
            <a:pPr lvl="1"/>
            <a:r>
              <a:rPr lang="en-IE" dirty="0"/>
              <a:t>An interface cannot implement another interface.</a:t>
            </a:r>
          </a:p>
          <a:p>
            <a:endParaRPr lang="en-IE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72984F1-B79A-3243-BBEE-D42FA70F1B92}"/>
              </a:ext>
            </a:extLst>
          </p:cNvPr>
          <p:cNvSpPr/>
          <p:nvPr/>
        </p:nvSpPr>
        <p:spPr>
          <a:xfrm>
            <a:off x="6400800" y="6477782"/>
            <a:ext cx="57912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IE" dirty="0">
                <a:hlinkClick r:id="rId2"/>
              </a:rPr>
              <a:t>http://www.tutorialspoint.com/java/java_interfaces.htm</a:t>
            </a:r>
            <a:r>
              <a:rPr lang="en-IE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26435212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rrow: Pentagon 1"/>
          <p:cNvSpPr/>
          <p:nvPr/>
        </p:nvSpPr>
        <p:spPr>
          <a:xfrm>
            <a:off x="1289261" y="2362200"/>
            <a:ext cx="4120939" cy="1754326"/>
          </a:xfrm>
          <a:prstGeom prst="homePlate">
            <a:avLst/>
          </a:prstGeom>
          <a:solidFill>
            <a:schemeClr val="tx1"/>
          </a:solidFill>
        </p:spPr>
        <p:txBody>
          <a:bodyPr wrap="squar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en-US" sz="5400" b="1" dirty="0">
                <a:ln w="11430"/>
                <a:solidFill>
                  <a:schemeClr val="bg1">
                    <a:lumMod val="9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Any Questions?</a:t>
            </a:r>
          </a:p>
        </p:txBody>
      </p:sp>
      <p:pic>
        <p:nvPicPr>
          <p:cNvPr id="3" name="Picture 2" descr="A green question mark in a circle&#10;&#10;AI-generated content may be incorrect.">
            <a:extLst>
              <a:ext uri="{FF2B5EF4-FFF2-40B4-BE49-F238E27FC236}">
                <a16:creationId xmlns:a16="http://schemas.microsoft.com/office/drawing/2014/main" id="{5CA18E50-A229-D0C5-0998-6A0069FBCCB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0" y="644630"/>
            <a:ext cx="5568739" cy="5568739"/>
          </a:xfrm>
          <a:prstGeom prst="rect">
            <a:avLst/>
          </a:prstGeom>
          <a:noFill/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15038132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PROJECT_OPEN" val="0"/>
  <p:tag name="ARTICULATE_SLIDE_COUNT" val="15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1026</Words>
  <Application>Microsoft Office PowerPoint</Application>
  <PresentationFormat>Widescreen</PresentationFormat>
  <Paragraphs>175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Calibri</vt:lpstr>
      <vt:lpstr>Gill Sans</vt:lpstr>
      <vt:lpstr>Office Theme</vt:lpstr>
      <vt:lpstr>More on Abstraction in Java</vt:lpstr>
      <vt:lpstr>Topic List </vt:lpstr>
      <vt:lpstr>Interfaces</vt:lpstr>
      <vt:lpstr>What is an interface? </vt:lpstr>
      <vt:lpstr>What is an interface? </vt:lpstr>
      <vt:lpstr>What is an interface? </vt:lpstr>
      <vt:lpstr>Interface Rules Summary </vt:lpstr>
      <vt:lpstr>Topic List </vt:lpstr>
      <vt:lpstr>Syntax for an Interface</vt:lpstr>
      <vt:lpstr>Syntax for an Interface</vt:lpstr>
      <vt:lpstr>Syntax for an Interface</vt:lpstr>
      <vt:lpstr>Syntax for an Interface</vt:lpstr>
      <vt:lpstr>Syntax for an Interface</vt:lpstr>
      <vt:lpstr>Topic List </vt:lpstr>
      <vt:lpstr>Implementing an Interface</vt:lpstr>
      <vt:lpstr>Implementing an Interface</vt:lpstr>
      <vt:lpstr>Implementing an Interface</vt:lpstr>
      <vt:lpstr>Implementing an Interface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 Introduction to Processing</dc:title>
  <dc:creator>Siobhan Drohan</dc:creator>
  <cp:lastModifiedBy>Siobhan Roche</cp:lastModifiedBy>
  <cp:revision>203</cp:revision>
  <dcterms:created xsi:type="dcterms:W3CDTF">2006-08-16T00:00:00Z</dcterms:created>
  <dcterms:modified xsi:type="dcterms:W3CDTF">2026-04-09T12:16:06Z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FF5A7D80-6C30-434A-9D59-15D7BAD30DD1</vt:lpwstr>
  </property>
  <property fmtid="{D5CDD505-2E9C-101B-9397-08002B2CF9AE}" pid="3" name="ArticulatePath">
    <vt:lpwstr>a-prog-fund-2-TDD</vt:lpwstr>
  </property>
</Properties>
</file>