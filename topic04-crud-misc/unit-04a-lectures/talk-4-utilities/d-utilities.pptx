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93" r:id="rId3"/>
    <p:sldId id="395" r:id="rId4"/>
    <p:sldId id="394" r:id="rId5"/>
    <p:sldId id="396" r:id="rId6"/>
    <p:sldId id="397" r:id="rId7"/>
    <p:sldId id="398" r:id="rId8"/>
    <p:sldId id="403" r:id="rId9"/>
    <p:sldId id="402" r:id="rId10"/>
    <p:sldId id="401" r:id="rId11"/>
    <p:sldId id="392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22" autoAdjust="0"/>
    <p:restoredTop sz="94521"/>
  </p:normalViewPr>
  <p:slideViewPr>
    <p:cSldViewPr>
      <p:cViewPr varScale="1">
        <p:scale>
          <a:sx n="115" d="100"/>
          <a:sy n="115" d="100"/>
        </p:scale>
        <p:origin x="480" y="2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25/02/2025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8084" y="924703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Utilities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" y="3821158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1066800" y="3012405"/>
            <a:ext cx="9982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999369" y="2076451"/>
            <a:ext cx="9330559" cy="83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Creating reusable validation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8A713-3A92-43D7-9854-D52C90EF7929}"/>
              </a:ext>
            </a:extLst>
          </p:cNvPr>
          <p:cNvSpPr txBox="1"/>
          <p:nvPr/>
        </p:nvSpPr>
        <p:spPr>
          <a:xfrm>
            <a:off x="2514600" y="3821159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Mairéad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</a:t>
            </a:r>
          </a:p>
        </p:txBody>
      </p:sp>
      <p:pic>
        <p:nvPicPr>
          <p:cNvPr id="1026" name="Picture 2" descr="Utilities Icon | Button UI - Alt System Folders Iconset ...">
            <a:extLst>
              <a:ext uri="{FF2B5EF4-FFF2-40B4-BE49-F238E27FC236}">
                <a16:creationId xmlns:a16="http://schemas.microsoft.com/office/drawing/2014/main" id="{5D602458-0E33-4C29-9259-1F8141A90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932816"/>
            <a:ext cx="1861316" cy="186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780F03-EC05-E4DE-6B52-FA60A5D26201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2138906-2240-05C7-9A8B-3AFC9E6D7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6A7F66-A0D2-1243-A0FE-BD4507090B89}"/>
              </a:ext>
            </a:extLst>
          </p:cNvPr>
          <p:cNvSpPr/>
          <p:nvPr/>
        </p:nvSpPr>
        <p:spPr>
          <a:xfrm>
            <a:off x="304800" y="152400"/>
            <a:ext cx="8001000" cy="65556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000080"/>
                </a:solidFill>
              </a:rPr>
              <a:t>package models;</a:t>
            </a:r>
          </a:p>
          <a:p>
            <a:endParaRPr lang="en-IE" sz="1400" b="1" dirty="0">
              <a:solidFill>
                <a:srgbClr val="000080"/>
              </a:solidFill>
            </a:endParaRPr>
          </a:p>
          <a:p>
            <a:r>
              <a:rPr lang="en-IE" sz="1400" b="1" dirty="0">
                <a:solidFill>
                  <a:srgbClr val="000080"/>
                </a:solidFill>
              </a:rPr>
              <a:t>public class </a:t>
            </a:r>
            <a:r>
              <a:rPr lang="en-IE" sz="1400" dirty="0"/>
              <a:t>Product {</a:t>
            </a:r>
            <a:br>
              <a:rPr lang="en-IE" sz="1400" dirty="0"/>
            </a:b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</a:t>
            </a:r>
            <a:r>
              <a:rPr lang="en-IE" sz="1400" dirty="0"/>
              <a:t>String </a:t>
            </a:r>
            <a:r>
              <a:rPr lang="en-IE" sz="1400" b="1" dirty="0" err="1">
                <a:solidFill>
                  <a:srgbClr val="660E7A"/>
                </a:solidFill>
              </a:rPr>
              <a:t>productName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b="1" dirty="0">
                <a:solidFill>
                  <a:srgbClr val="008000"/>
                </a:solidFill>
              </a:rPr>
              <a:t>""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int 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-</a:t>
            </a:r>
            <a:r>
              <a:rPr lang="en-IE" sz="1400" dirty="0">
                <a:solidFill>
                  <a:srgbClr val="0000FF"/>
                </a:solidFill>
              </a:rPr>
              <a:t>1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double </a:t>
            </a:r>
            <a:r>
              <a:rPr lang="en-IE" sz="1400" b="1" dirty="0" err="1">
                <a:solidFill>
                  <a:srgbClr val="660E7A"/>
                </a:solidFill>
              </a:rPr>
              <a:t>unitCost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>
                <a:solidFill>
                  <a:srgbClr val="0000FF"/>
                </a:solidFill>
              </a:rPr>
              <a:t>0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b="1" dirty="0" err="1">
                <a:solidFill>
                  <a:srgbClr val="660E7A"/>
                </a:solidFill>
              </a:rPr>
              <a:t>inCurrentProductLine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b="1" dirty="0">
                <a:solidFill>
                  <a:srgbClr val="000080"/>
                </a:solidFill>
              </a:rPr>
              <a:t>false</a:t>
            </a:r>
            <a:r>
              <a:rPr lang="en-IE" sz="1400" dirty="0"/>
              <a:t>;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</a:t>
            </a:r>
            <a:r>
              <a:rPr lang="en-IE" sz="1400" dirty="0"/>
              <a:t>Product(String </a:t>
            </a:r>
            <a:r>
              <a:rPr lang="en-IE" sz="1400" dirty="0" err="1"/>
              <a:t>productName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productCode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double </a:t>
            </a:r>
            <a:r>
              <a:rPr lang="en-IE" sz="1400" dirty="0" err="1"/>
              <a:t>unitCost</a:t>
            </a:r>
            <a:r>
              <a:rPr lang="en-IE" sz="1400" dirty="0"/>
              <a:t>,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dirty="0" err="1"/>
              <a:t>inCurrentProductLine</a:t>
            </a:r>
            <a:r>
              <a:rPr lang="en-IE" sz="1400" dirty="0"/>
              <a:t>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productName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productName</a:t>
            </a:r>
            <a:r>
              <a:rPr lang="en-IE" sz="1400" dirty="0"/>
              <a:t>;</a:t>
            </a:r>
          </a:p>
          <a:p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if </a:t>
            </a:r>
            <a:r>
              <a:rPr lang="en-IE" sz="1400" dirty="0"/>
              <a:t>((</a:t>
            </a:r>
            <a:r>
              <a:rPr lang="en-IE" sz="1400" dirty="0" err="1"/>
              <a:t>productCode</a:t>
            </a:r>
            <a:r>
              <a:rPr lang="en-IE" sz="1400" dirty="0"/>
              <a:t> &gt;= </a:t>
            </a:r>
            <a:r>
              <a:rPr lang="en-IE" sz="1400" dirty="0">
                <a:solidFill>
                  <a:srgbClr val="0000FF"/>
                </a:solidFill>
              </a:rPr>
              <a:t>1000</a:t>
            </a:r>
            <a:r>
              <a:rPr lang="en-IE" sz="1400" dirty="0"/>
              <a:t>) &amp;&amp; (</a:t>
            </a:r>
            <a:r>
              <a:rPr lang="en-IE" sz="1400" dirty="0" err="1"/>
              <a:t>productCode</a:t>
            </a:r>
            <a:r>
              <a:rPr lang="en-IE" sz="1400" dirty="0"/>
              <a:t> &lt;= </a:t>
            </a:r>
            <a:r>
              <a:rPr lang="en-IE" sz="1400" dirty="0">
                <a:solidFill>
                  <a:srgbClr val="0000FF"/>
                </a:solidFill>
              </a:rPr>
              <a:t>9999</a:t>
            </a:r>
            <a:r>
              <a:rPr lang="en-IE" sz="1400" dirty="0"/>
              <a:t>)){</a:t>
            </a:r>
            <a:br>
              <a:rPr lang="en-IE" sz="1400" dirty="0"/>
            </a:br>
            <a:r>
              <a:rPr lang="en-IE" sz="1400" dirty="0"/>
              <a:t>    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}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unitCost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unitCost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inCurrentProductLine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inCurrentProductLine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int </a:t>
            </a:r>
            <a:r>
              <a:rPr lang="en-IE" sz="1400" dirty="0" err="1"/>
              <a:t>getProductCode</a:t>
            </a:r>
            <a:r>
              <a:rPr lang="en-IE" sz="1400" dirty="0"/>
              <a:t>()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return 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void </a:t>
            </a:r>
            <a:r>
              <a:rPr lang="en-IE" sz="1400" dirty="0" err="1"/>
              <a:t>setProductCode</a:t>
            </a:r>
            <a:r>
              <a:rPr lang="en-IE" sz="1400" dirty="0"/>
              <a:t>(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productCode</a:t>
            </a:r>
            <a:r>
              <a:rPr lang="en-IE" sz="1400" dirty="0"/>
              <a:t>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if </a:t>
            </a:r>
            <a:r>
              <a:rPr lang="en-IE" sz="1400" dirty="0"/>
              <a:t>((</a:t>
            </a:r>
            <a:r>
              <a:rPr lang="en-IE" sz="1400" dirty="0" err="1"/>
              <a:t>productCode</a:t>
            </a:r>
            <a:r>
              <a:rPr lang="en-IE" sz="1400" dirty="0"/>
              <a:t> &gt;= </a:t>
            </a:r>
            <a:r>
              <a:rPr lang="en-IE" sz="1400" dirty="0">
                <a:solidFill>
                  <a:srgbClr val="0000FF"/>
                </a:solidFill>
              </a:rPr>
              <a:t>1000</a:t>
            </a:r>
            <a:r>
              <a:rPr lang="en-IE" sz="1400" dirty="0"/>
              <a:t>) &amp;&amp; (</a:t>
            </a:r>
            <a:r>
              <a:rPr lang="en-IE" sz="1400" dirty="0" err="1"/>
              <a:t>productCode</a:t>
            </a:r>
            <a:r>
              <a:rPr lang="en-IE" sz="1400" dirty="0"/>
              <a:t> &lt;= </a:t>
            </a:r>
            <a:r>
              <a:rPr lang="en-IE" sz="1400" dirty="0">
                <a:solidFill>
                  <a:srgbClr val="0000FF"/>
                </a:solidFill>
              </a:rPr>
              <a:t>9999</a:t>
            </a:r>
            <a:r>
              <a:rPr lang="en-IE" sz="1400" dirty="0"/>
              <a:t>)){ {</a:t>
            </a:r>
            <a:br>
              <a:rPr lang="en-IE" sz="1400" dirty="0"/>
            </a:br>
            <a:r>
              <a:rPr lang="en-IE" sz="1400" dirty="0"/>
              <a:t>    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}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r>
              <a:rPr lang="en-IE" sz="1400" dirty="0"/>
              <a:t>}</a:t>
            </a:r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9C309-BB71-4B8B-8A37-6B7B57F2FA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21486" y="2514600"/>
            <a:ext cx="3494314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Validating Product Code</a:t>
            </a:r>
            <a:br>
              <a:rPr lang="en-GB" dirty="0"/>
            </a:br>
            <a:br>
              <a:rPr lang="en-GB" dirty="0"/>
            </a:br>
            <a:r>
              <a:rPr lang="en-GB" sz="2700" dirty="0"/>
              <a:t>Must be between 1000 and 9999 inclusive.  </a:t>
            </a:r>
            <a:br>
              <a:rPr lang="en-GB" sz="2700" dirty="0"/>
            </a:br>
            <a:br>
              <a:rPr lang="en-GB" sz="2700" dirty="0"/>
            </a:br>
            <a:r>
              <a:rPr lang="en-GB" sz="2700" dirty="0"/>
              <a:t>When a Product is instantiated and the </a:t>
            </a:r>
            <a:r>
              <a:rPr lang="en-GB" sz="2700" dirty="0" err="1"/>
              <a:t>productCode</a:t>
            </a:r>
            <a:r>
              <a:rPr lang="en-GB" sz="2700" dirty="0"/>
              <a:t> is not matching those values, </a:t>
            </a:r>
            <a:r>
              <a:rPr lang="en-GB" sz="2700" dirty="0" err="1"/>
              <a:t>productCode</a:t>
            </a:r>
            <a:r>
              <a:rPr lang="en-GB" sz="2700" dirty="0"/>
              <a:t> should be -1.</a:t>
            </a:r>
            <a:endParaRPr lang="en-VI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C9B3D8-AEE5-C943-99B9-F42BFFD3E376}"/>
              </a:ext>
            </a:extLst>
          </p:cNvPr>
          <p:cNvSpPr/>
          <p:nvPr/>
        </p:nvSpPr>
        <p:spPr>
          <a:xfrm>
            <a:off x="533400" y="2743200"/>
            <a:ext cx="4343400" cy="6858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F83B00-6A87-2842-8522-D3241A419B5C}"/>
              </a:ext>
            </a:extLst>
          </p:cNvPr>
          <p:cNvSpPr/>
          <p:nvPr/>
        </p:nvSpPr>
        <p:spPr>
          <a:xfrm>
            <a:off x="457200" y="1250112"/>
            <a:ext cx="2362200" cy="27388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67AB14-23FD-FF4E-BA25-0FABAB59F439}"/>
              </a:ext>
            </a:extLst>
          </p:cNvPr>
          <p:cNvSpPr/>
          <p:nvPr/>
        </p:nvSpPr>
        <p:spPr>
          <a:xfrm>
            <a:off x="457200" y="5257800"/>
            <a:ext cx="4343400" cy="990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017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C309-BB71-4B8B-8A37-6B7B57F2FA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21486" y="2514600"/>
            <a:ext cx="3494314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/>
              <a:t>Validating Product Code</a:t>
            </a:r>
            <a:br>
              <a:rPr lang="en-GB" dirty="0"/>
            </a:br>
            <a:br>
              <a:rPr lang="en-GB" dirty="0"/>
            </a:br>
            <a:r>
              <a:rPr lang="en-GB" sz="2700" dirty="0"/>
              <a:t>Repeated Code breaks the DRY principle.  Don’t Repeat Yourself!</a:t>
            </a:r>
            <a:endParaRPr lang="en-VI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CB6D8E-5B66-EA4B-A08E-3FB040EA8A86}"/>
              </a:ext>
            </a:extLst>
          </p:cNvPr>
          <p:cNvSpPr/>
          <p:nvPr/>
        </p:nvSpPr>
        <p:spPr>
          <a:xfrm>
            <a:off x="304800" y="152400"/>
            <a:ext cx="8001000" cy="65556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000080"/>
                </a:solidFill>
              </a:rPr>
              <a:t>package models;</a:t>
            </a:r>
          </a:p>
          <a:p>
            <a:endParaRPr lang="en-IE" sz="1400" b="1" dirty="0">
              <a:solidFill>
                <a:srgbClr val="000080"/>
              </a:solidFill>
            </a:endParaRPr>
          </a:p>
          <a:p>
            <a:r>
              <a:rPr lang="en-IE" sz="1400" b="1" dirty="0">
                <a:solidFill>
                  <a:srgbClr val="000080"/>
                </a:solidFill>
              </a:rPr>
              <a:t>public class </a:t>
            </a:r>
            <a:r>
              <a:rPr lang="en-IE" sz="1400" dirty="0"/>
              <a:t>Product {</a:t>
            </a:r>
            <a:br>
              <a:rPr lang="en-IE" sz="1400" dirty="0"/>
            </a:b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</a:t>
            </a:r>
            <a:r>
              <a:rPr lang="en-IE" sz="1400" dirty="0"/>
              <a:t>String </a:t>
            </a:r>
            <a:r>
              <a:rPr lang="en-IE" sz="1400" b="1" dirty="0" err="1">
                <a:solidFill>
                  <a:srgbClr val="660E7A"/>
                </a:solidFill>
              </a:rPr>
              <a:t>productName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b="1" dirty="0">
                <a:solidFill>
                  <a:srgbClr val="008000"/>
                </a:solidFill>
              </a:rPr>
              <a:t>""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int 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-</a:t>
            </a:r>
            <a:r>
              <a:rPr lang="en-IE" sz="1400" dirty="0">
                <a:solidFill>
                  <a:srgbClr val="0000FF"/>
                </a:solidFill>
              </a:rPr>
              <a:t>1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double </a:t>
            </a:r>
            <a:r>
              <a:rPr lang="en-IE" sz="1400" b="1" dirty="0" err="1">
                <a:solidFill>
                  <a:srgbClr val="660E7A"/>
                </a:solidFill>
              </a:rPr>
              <a:t>unitCost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>
                <a:solidFill>
                  <a:srgbClr val="0000FF"/>
                </a:solidFill>
              </a:rPr>
              <a:t>0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b="1" dirty="0" err="1">
                <a:solidFill>
                  <a:srgbClr val="660E7A"/>
                </a:solidFill>
              </a:rPr>
              <a:t>inCurrentProductLine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b="1" dirty="0">
                <a:solidFill>
                  <a:srgbClr val="000080"/>
                </a:solidFill>
              </a:rPr>
              <a:t>false</a:t>
            </a:r>
            <a:r>
              <a:rPr lang="en-IE" sz="1400" dirty="0"/>
              <a:t>;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</a:t>
            </a:r>
            <a:r>
              <a:rPr lang="en-IE" sz="1400" dirty="0"/>
              <a:t>Product(String </a:t>
            </a:r>
            <a:r>
              <a:rPr lang="en-IE" sz="1400" dirty="0" err="1"/>
              <a:t>productName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productCode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double </a:t>
            </a:r>
            <a:r>
              <a:rPr lang="en-IE" sz="1400" dirty="0" err="1"/>
              <a:t>unitCost</a:t>
            </a:r>
            <a:r>
              <a:rPr lang="en-IE" sz="1400" dirty="0"/>
              <a:t>,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dirty="0" err="1"/>
              <a:t>inCurrentProductLine</a:t>
            </a:r>
            <a:r>
              <a:rPr lang="en-IE" sz="1400" dirty="0"/>
              <a:t>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productName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productName</a:t>
            </a:r>
            <a:r>
              <a:rPr lang="en-IE" sz="1400" dirty="0"/>
              <a:t>;</a:t>
            </a:r>
          </a:p>
          <a:p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if </a:t>
            </a:r>
            <a:r>
              <a:rPr lang="en-IE" sz="1400" dirty="0"/>
              <a:t>((</a:t>
            </a:r>
            <a:r>
              <a:rPr lang="en-IE" sz="1400" dirty="0" err="1"/>
              <a:t>productCode</a:t>
            </a:r>
            <a:r>
              <a:rPr lang="en-IE" sz="1400" dirty="0"/>
              <a:t> &gt;= </a:t>
            </a:r>
            <a:r>
              <a:rPr lang="en-IE" sz="1400" dirty="0">
                <a:solidFill>
                  <a:srgbClr val="0000FF"/>
                </a:solidFill>
              </a:rPr>
              <a:t>1000</a:t>
            </a:r>
            <a:r>
              <a:rPr lang="en-IE" sz="1400" dirty="0"/>
              <a:t>) &amp;&amp; (</a:t>
            </a:r>
            <a:r>
              <a:rPr lang="en-IE" sz="1400" dirty="0" err="1"/>
              <a:t>productCode</a:t>
            </a:r>
            <a:r>
              <a:rPr lang="en-IE" sz="1400" dirty="0"/>
              <a:t> &lt;= </a:t>
            </a:r>
            <a:r>
              <a:rPr lang="en-IE" sz="1400" dirty="0">
                <a:solidFill>
                  <a:srgbClr val="0000FF"/>
                </a:solidFill>
              </a:rPr>
              <a:t>9999</a:t>
            </a:r>
            <a:r>
              <a:rPr lang="en-IE" sz="1400" dirty="0"/>
              <a:t>)){</a:t>
            </a:r>
            <a:br>
              <a:rPr lang="en-IE" sz="1400" dirty="0"/>
            </a:br>
            <a:r>
              <a:rPr lang="en-IE" sz="1400" dirty="0"/>
              <a:t>    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}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unitCost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unitCost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inCurrentProductLine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inCurrentProductLine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int </a:t>
            </a:r>
            <a:r>
              <a:rPr lang="en-IE" sz="1400" dirty="0" err="1"/>
              <a:t>getProductCode</a:t>
            </a:r>
            <a:r>
              <a:rPr lang="en-IE" sz="1400" dirty="0"/>
              <a:t>()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return 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void </a:t>
            </a:r>
            <a:r>
              <a:rPr lang="en-IE" sz="1400" dirty="0" err="1"/>
              <a:t>setProductCode</a:t>
            </a:r>
            <a:r>
              <a:rPr lang="en-IE" sz="1400" dirty="0"/>
              <a:t>(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productCode</a:t>
            </a:r>
            <a:r>
              <a:rPr lang="en-IE" sz="1400" dirty="0"/>
              <a:t>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if </a:t>
            </a:r>
            <a:r>
              <a:rPr lang="en-IE" sz="1400" dirty="0"/>
              <a:t>((</a:t>
            </a:r>
            <a:r>
              <a:rPr lang="en-IE" sz="1400" dirty="0" err="1"/>
              <a:t>productCode</a:t>
            </a:r>
            <a:r>
              <a:rPr lang="en-IE" sz="1400" dirty="0"/>
              <a:t> &gt;= </a:t>
            </a:r>
            <a:r>
              <a:rPr lang="en-IE" sz="1400" dirty="0">
                <a:solidFill>
                  <a:srgbClr val="0000FF"/>
                </a:solidFill>
              </a:rPr>
              <a:t>1000</a:t>
            </a:r>
            <a:r>
              <a:rPr lang="en-IE" sz="1400" dirty="0"/>
              <a:t>) &amp;&amp; (</a:t>
            </a:r>
            <a:r>
              <a:rPr lang="en-IE" sz="1400" dirty="0" err="1"/>
              <a:t>productCode</a:t>
            </a:r>
            <a:r>
              <a:rPr lang="en-IE" sz="1400" dirty="0"/>
              <a:t> &lt;= </a:t>
            </a:r>
            <a:r>
              <a:rPr lang="en-IE" sz="1400" dirty="0">
                <a:solidFill>
                  <a:srgbClr val="0000FF"/>
                </a:solidFill>
              </a:rPr>
              <a:t>9999</a:t>
            </a:r>
            <a:r>
              <a:rPr lang="en-IE" sz="1400" dirty="0"/>
              <a:t>)){ {</a:t>
            </a:r>
            <a:br>
              <a:rPr lang="en-IE" sz="1400" dirty="0"/>
            </a:br>
            <a:r>
              <a:rPr lang="en-IE" sz="1400" dirty="0"/>
              <a:t>    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}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r>
              <a:rPr lang="en-IE" sz="1400" dirty="0"/>
              <a:t>}</a:t>
            </a:r>
            <a:endParaRPr lang="en-US" sz="1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C9B3D8-AEE5-C943-99B9-F42BFFD3E376}"/>
              </a:ext>
            </a:extLst>
          </p:cNvPr>
          <p:cNvSpPr/>
          <p:nvPr/>
        </p:nvSpPr>
        <p:spPr>
          <a:xfrm>
            <a:off x="457200" y="2743200"/>
            <a:ext cx="4419600" cy="45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67AB14-23FD-FF4E-BA25-0FABAB59F439}"/>
              </a:ext>
            </a:extLst>
          </p:cNvPr>
          <p:cNvSpPr/>
          <p:nvPr/>
        </p:nvSpPr>
        <p:spPr>
          <a:xfrm>
            <a:off x="457200" y="5257800"/>
            <a:ext cx="4343400" cy="990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2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40FD-B0C1-FE4B-9889-CAD2DD4E0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Classes and Helper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4B87B-F751-E247-8C43-63B5BA3CC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To avoid repeated code like this, we can write a “helper” method that will perform this validation for us.</a:t>
            </a:r>
          </a:p>
          <a:p>
            <a:endParaRPr lang="en-US" dirty="0"/>
          </a:p>
          <a:p>
            <a:r>
              <a:rPr lang="en-US" dirty="0"/>
              <a:t>We try to make these helper methods as RE-USABLE as possible.</a:t>
            </a:r>
          </a:p>
          <a:p>
            <a:endParaRPr lang="en-US" dirty="0"/>
          </a:p>
          <a:p>
            <a:r>
              <a:rPr lang="en-US" dirty="0"/>
              <a:t>We generally store these RE-USABLE helper methods in Utility classes.</a:t>
            </a:r>
          </a:p>
          <a:p>
            <a:endParaRPr lang="en-US" dirty="0"/>
          </a:p>
          <a:p>
            <a:r>
              <a:rPr lang="en-US" dirty="0"/>
              <a:t>These Utility classes can then be reused in any of our future projects.</a:t>
            </a:r>
          </a:p>
          <a:p>
            <a:endParaRPr lang="en-US" dirty="0"/>
          </a:p>
          <a:p>
            <a:r>
              <a:rPr lang="en-US" dirty="0"/>
              <a:t>Any project can have any number of Utility classes e.g. </a:t>
            </a:r>
            <a:r>
              <a:rPr lang="en-US" dirty="0" err="1"/>
              <a:t>ScannerInput</a:t>
            </a:r>
            <a:r>
              <a:rPr lang="en-US" dirty="0"/>
              <a:t> is a Utility class!</a:t>
            </a:r>
          </a:p>
        </p:txBody>
      </p:sp>
      <p:pic>
        <p:nvPicPr>
          <p:cNvPr id="1026" name="Picture 2" descr="Reduce reuse and recycle icon - Download Free Vectors ...">
            <a:extLst>
              <a:ext uri="{FF2B5EF4-FFF2-40B4-BE49-F238E27FC236}">
                <a16:creationId xmlns:a16="http://schemas.microsoft.com/office/drawing/2014/main" id="{8B1DEAA0-163D-5E4F-B392-75D5F953B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76200"/>
            <a:ext cx="1295400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71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667A-4E39-214D-B0CD-A275A67D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Utilities Class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00BB2-B7DB-8445-9675-C2ED8D5F0678}"/>
              </a:ext>
            </a:extLst>
          </p:cNvPr>
          <p:cNvSpPr/>
          <p:nvPr/>
        </p:nvSpPr>
        <p:spPr>
          <a:xfrm>
            <a:off x="609600" y="1600199"/>
            <a:ext cx="9982200" cy="48013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package </a:t>
            </a:r>
            <a:r>
              <a:rPr lang="en-IE" dirty="0"/>
              <a:t>utils;</a:t>
            </a:r>
            <a:br>
              <a:rPr lang="en-IE" dirty="0"/>
            </a:br>
            <a:br>
              <a:rPr lang="en-IE" dirty="0"/>
            </a:br>
            <a:r>
              <a:rPr lang="en-IE" b="1" dirty="0">
                <a:solidFill>
                  <a:srgbClr val="000080"/>
                </a:solidFill>
              </a:rPr>
              <a:t>public class </a:t>
            </a:r>
            <a:r>
              <a:rPr lang="en-IE" dirty="0"/>
              <a:t>Utilities {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i="1" dirty="0">
                <a:solidFill>
                  <a:srgbClr val="808080"/>
                </a:solidFill>
              </a:rPr>
              <a:t>/**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 This method returns true if the </a:t>
            </a:r>
            <a:r>
              <a:rPr lang="en-IE" i="1" dirty="0" err="1">
                <a:solidFill>
                  <a:srgbClr val="808080"/>
                </a:solidFill>
              </a:rPr>
              <a:t>numberToCheck</a:t>
            </a:r>
            <a:r>
              <a:rPr lang="en-IE" i="1" dirty="0">
                <a:solidFill>
                  <a:srgbClr val="808080"/>
                </a:solidFill>
              </a:rPr>
              <a:t> is between min and max (both inclusive)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 </a:t>
            </a:r>
            <a:r>
              <a:rPr lang="en-IE" b="1" i="1" dirty="0">
                <a:solidFill>
                  <a:srgbClr val="808080"/>
                </a:solidFill>
              </a:rPr>
              <a:t>@param </a:t>
            </a:r>
            <a:r>
              <a:rPr lang="en-IE" b="1" i="1" dirty="0" err="1">
                <a:solidFill>
                  <a:srgbClr val="3D3D3D"/>
                </a:solidFill>
              </a:rPr>
              <a:t>numberToCheck</a:t>
            </a:r>
            <a:r>
              <a:rPr lang="en-IE" b="1" i="1" dirty="0">
                <a:solidFill>
                  <a:srgbClr val="3D3D3D"/>
                </a:solidFill>
              </a:rPr>
              <a:t> </a:t>
            </a:r>
            <a:r>
              <a:rPr lang="en-IE" i="1" dirty="0">
                <a:solidFill>
                  <a:srgbClr val="808080"/>
                </a:solidFill>
              </a:rPr>
              <a:t>The number whose range is being checked.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 </a:t>
            </a:r>
            <a:r>
              <a:rPr lang="en-IE" b="1" i="1" dirty="0">
                <a:solidFill>
                  <a:srgbClr val="808080"/>
                </a:solidFill>
              </a:rPr>
              <a:t>@param </a:t>
            </a:r>
            <a:r>
              <a:rPr lang="en-IE" b="1" i="1" dirty="0">
                <a:solidFill>
                  <a:srgbClr val="3D3D3D"/>
                </a:solidFill>
              </a:rPr>
              <a:t>min </a:t>
            </a:r>
            <a:r>
              <a:rPr lang="en-IE" i="1" dirty="0">
                <a:solidFill>
                  <a:srgbClr val="808080"/>
                </a:solidFill>
              </a:rPr>
              <a:t>The minimum range number to check against (inclusive)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 </a:t>
            </a:r>
            <a:r>
              <a:rPr lang="en-IE" b="1" i="1" dirty="0">
                <a:solidFill>
                  <a:srgbClr val="808080"/>
                </a:solidFill>
              </a:rPr>
              <a:t>@param </a:t>
            </a:r>
            <a:r>
              <a:rPr lang="en-IE" b="1" i="1" dirty="0">
                <a:solidFill>
                  <a:srgbClr val="3D3D3D"/>
                </a:solidFill>
              </a:rPr>
              <a:t>max </a:t>
            </a:r>
            <a:r>
              <a:rPr lang="en-IE" i="1" dirty="0">
                <a:solidFill>
                  <a:srgbClr val="808080"/>
                </a:solidFill>
              </a:rPr>
              <a:t>The maximum range number to check against (inclusive)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 </a:t>
            </a:r>
            <a:r>
              <a:rPr lang="en-IE" b="1" i="1" dirty="0">
                <a:solidFill>
                  <a:srgbClr val="808080"/>
                </a:solidFill>
              </a:rPr>
              <a:t>@return </a:t>
            </a:r>
            <a:r>
              <a:rPr lang="en-IE" i="1" dirty="0">
                <a:solidFill>
                  <a:srgbClr val="808080"/>
                </a:solidFill>
              </a:rPr>
              <a:t>Returns true if </a:t>
            </a:r>
            <a:r>
              <a:rPr lang="en-IE" i="1" dirty="0" err="1">
                <a:solidFill>
                  <a:srgbClr val="808080"/>
                </a:solidFill>
              </a:rPr>
              <a:t>numberToCheck</a:t>
            </a:r>
            <a:r>
              <a:rPr lang="en-IE" i="1" dirty="0">
                <a:solidFill>
                  <a:srgbClr val="808080"/>
                </a:solidFill>
              </a:rPr>
              <a:t> is between min and max (both inclusive), false otherwise.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 */</a:t>
            </a: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b="1" dirty="0">
                <a:solidFill>
                  <a:srgbClr val="000080"/>
                </a:solidFill>
              </a:rPr>
              <a:t>public static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validRange</a:t>
            </a:r>
            <a:r>
              <a:rPr lang="en-IE" dirty="0"/>
              <a:t>(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numberToCheck</a:t>
            </a:r>
            <a:r>
              <a:rPr lang="en-IE" dirty="0"/>
              <a:t>,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/>
              <a:t>min,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/>
              <a:t>max)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return </a:t>
            </a:r>
            <a:r>
              <a:rPr lang="en-IE" dirty="0"/>
              <a:t>((</a:t>
            </a:r>
            <a:r>
              <a:rPr lang="en-IE" dirty="0" err="1"/>
              <a:t>numberToCheck</a:t>
            </a:r>
            <a:r>
              <a:rPr lang="en-IE" dirty="0"/>
              <a:t> &gt;= min) &amp;&amp; (</a:t>
            </a:r>
            <a:r>
              <a:rPr lang="en-IE" dirty="0" err="1"/>
              <a:t>numberToCheck</a:t>
            </a:r>
            <a:r>
              <a:rPr lang="en-IE" dirty="0"/>
              <a:t> &lt;= max));</a:t>
            </a:r>
            <a:br>
              <a:rPr lang="en-IE" dirty="0"/>
            </a:br>
            <a:r>
              <a:rPr lang="en-IE" dirty="0"/>
              <a:t>    }</a:t>
            </a:r>
          </a:p>
          <a:p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6EFF4FC-C8F7-5343-909D-42FDC6F1E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605" y="469056"/>
            <a:ext cx="2329595" cy="367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354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2A3CAB-BE87-084A-AE89-2AF831121B9B}"/>
              </a:ext>
            </a:extLst>
          </p:cNvPr>
          <p:cNvSpPr/>
          <p:nvPr/>
        </p:nvSpPr>
        <p:spPr>
          <a:xfrm>
            <a:off x="228601" y="152400"/>
            <a:ext cx="10363200" cy="63401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400" b="1" dirty="0">
                <a:solidFill>
                  <a:srgbClr val="000080"/>
                </a:solidFill>
              </a:rPr>
              <a:t>package </a:t>
            </a:r>
            <a:r>
              <a:rPr lang="en-IE" sz="1400" dirty="0"/>
              <a:t>models;</a:t>
            </a:r>
            <a:br>
              <a:rPr lang="en-IE" sz="1400" dirty="0"/>
            </a:br>
            <a:br>
              <a:rPr lang="en-IE" sz="1400" dirty="0"/>
            </a:br>
            <a:r>
              <a:rPr lang="en-IE" sz="1400" b="1" dirty="0">
                <a:solidFill>
                  <a:srgbClr val="000080"/>
                </a:solidFill>
              </a:rPr>
              <a:t>import </a:t>
            </a:r>
            <a:r>
              <a:rPr lang="en-IE" sz="1400" dirty="0" err="1"/>
              <a:t>utils.Utilities</a:t>
            </a:r>
            <a:r>
              <a:rPr lang="en-IE" sz="1400" dirty="0"/>
              <a:t>;</a:t>
            </a:r>
            <a:br>
              <a:rPr lang="en-IE" sz="1400" dirty="0"/>
            </a:br>
            <a:endParaRPr lang="en-IE" sz="1400" dirty="0"/>
          </a:p>
          <a:p>
            <a:r>
              <a:rPr lang="en-IE" sz="1400" b="1" dirty="0">
                <a:solidFill>
                  <a:srgbClr val="000080"/>
                </a:solidFill>
              </a:rPr>
              <a:t>public class </a:t>
            </a:r>
            <a:r>
              <a:rPr lang="en-IE" sz="1400" dirty="0"/>
              <a:t>Product {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</a:t>
            </a:r>
            <a:r>
              <a:rPr lang="en-IE" sz="1400" dirty="0"/>
              <a:t>String </a:t>
            </a:r>
            <a:r>
              <a:rPr lang="en-IE" sz="1400" b="1" dirty="0" err="1">
                <a:solidFill>
                  <a:srgbClr val="660E7A"/>
                </a:solidFill>
              </a:rPr>
              <a:t>productName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b="1" dirty="0">
                <a:solidFill>
                  <a:srgbClr val="008000"/>
                </a:solidFill>
              </a:rPr>
              <a:t>""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int 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-</a:t>
            </a:r>
            <a:r>
              <a:rPr lang="en-IE" sz="1400" dirty="0">
                <a:solidFill>
                  <a:srgbClr val="0000FF"/>
                </a:solidFill>
              </a:rPr>
              <a:t>1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double </a:t>
            </a:r>
            <a:r>
              <a:rPr lang="en-IE" sz="1400" b="1" dirty="0" err="1">
                <a:solidFill>
                  <a:srgbClr val="660E7A"/>
                </a:solidFill>
              </a:rPr>
              <a:t>unitCost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>
                <a:solidFill>
                  <a:srgbClr val="0000FF"/>
                </a:solidFill>
              </a:rPr>
              <a:t>0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private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b="1" dirty="0" err="1">
                <a:solidFill>
                  <a:srgbClr val="660E7A"/>
                </a:solidFill>
              </a:rPr>
              <a:t>inCurrentProductLine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b="1" dirty="0">
                <a:solidFill>
                  <a:srgbClr val="000080"/>
                </a:solidFill>
              </a:rPr>
              <a:t>false</a:t>
            </a:r>
            <a:r>
              <a:rPr lang="en-IE" sz="1400" dirty="0"/>
              <a:t>;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</a:t>
            </a:r>
            <a:r>
              <a:rPr lang="en-IE" sz="1400" dirty="0"/>
              <a:t>Product(String </a:t>
            </a:r>
            <a:r>
              <a:rPr lang="en-IE" sz="1400" dirty="0" err="1"/>
              <a:t>productName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productCode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double </a:t>
            </a:r>
            <a:r>
              <a:rPr lang="en-IE" sz="1400" dirty="0" err="1"/>
              <a:t>unitCost</a:t>
            </a:r>
            <a:r>
              <a:rPr lang="en-IE" sz="1400" dirty="0"/>
              <a:t>,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dirty="0" err="1"/>
              <a:t>inCurrentProductLine</a:t>
            </a:r>
            <a:r>
              <a:rPr lang="en-IE" sz="1400" dirty="0"/>
              <a:t>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productName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productName</a:t>
            </a:r>
            <a:r>
              <a:rPr lang="en-IE" sz="1400" dirty="0"/>
              <a:t>;</a:t>
            </a:r>
          </a:p>
          <a:p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dirty="0" err="1"/>
              <a:t>setProductCode</a:t>
            </a:r>
            <a:r>
              <a:rPr lang="en-IE" sz="1400" dirty="0"/>
              <a:t>(</a:t>
            </a:r>
            <a:r>
              <a:rPr lang="en-IE" sz="1400" dirty="0" err="1"/>
              <a:t>productCode</a:t>
            </a:r>
            <a:r>
              <a:rPr lang="en-IE" sz="1400" dirty="0"/>
              <a:t>);</a:t>
            </a:r>
          </a:p>
          <a:p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unitCost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unitCost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inCurrentProductLine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inCurrentProductLine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int </a:t>
            </a:r>
            <a:r>
              <a:rPr lang="en-IE" sz="1400" dirty="0" err="1"/>
              <a:t>getProductCode</a:t>
            </a:r>
            <a:r>
              <a:rPr lang="en-IE" sz="1400" dirty="0"/>
              <a:t>()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return 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   </a:t>
            </a:r>
            <a:r>
              <a:rPr lang="en-IE" sz="1400" b="1" dirty="0">
                <a:solidFill>
                  <a:srgbClr val="000080"/>
                </a:solidFill>
              </a:rPr>
              <a:t>public void </a:t>
            </a:r>
            <a:r>
              <a:rPr lang="en-IE" sz="1400" dirty="0" err="1"/>
              <a:t>setProductCode</a:t>
            </a:r>
            <a:r>
              <a:rPr lang="en-IE" sz="1400" dirty="0"/>
              <a:t>(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productCode</a:t>
            </a:r>
            <a:r>
              <a:rPr lang="en-IE" sz="1400" dirty="0"/>
              <a:t>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if </a:t>
            </a:r>
            <a:r>
              <a:rPr lang="en-IE" sz="1400" dirty="0"/>
              <a:t>(</a:t>
            </a:r>
            <a:r>
              <a:rPr lang="en-IE" sz="1400" dirty="0" err="1"/>
              <a:t>Utilities.</a:t>
            </a:r>
            <a:r>
              <a:rPr lang="en-IE" sz="1400" i="1" dirty="0" err="1"/>
              <a:t>validRange</a:t>
            </a:r>
            <a:r>
              <a:rPr lang="en-IE" sz="1400" dirty="0"/>
              <a:t>(</a:t>
            </a:r>
            <a:r>
              <a:rPr lang="en-IE" sz="1400" dirty="0" err="1"/>
              <a:t>productCode</a:t>
            </a:r>
            <a:r>
              <a:rPr lang="en-IE" sz="1400" dirty="0"/>
              <a:t>, </a:t>
            </a:r>
            <a:r>
              <a:rPr lang="en-IE" sz="1400" dirty="0">
                <a:solidFill>
                  <a:srgbClr val="0000FF"/>
                </a:solidFill>
              </a:rPr>
              <a:t>1000</a:t>
            </a:r>
            <a:r>
              <a:rPr lang="en-IE" sz="1400" dirty="0"/>
              <a:t>, </a:t>
            </a:r>
            <a:r>
              <a:rPr lang="en-IE" sz="1400" dirty="0">
                <a:solidFill>
                  <a:srgbClr val="0000FF"/>
                </a:solidFill>
              </a:rPr>
              <a:t>9999</a:t>
            </a:r>
            <a:r>
              <a:rPr lang="en-IE" sz="1400" dirty="0"/>
              <a:t>)) {</a:t>
            </a:r>
            <a:br>
              <a:rPr lang="en-IE" sz="1400" dirty="0"/>
            </a:br>
            <a:r>
              <a:rPr lang="en-IE" sz="1400" dirty="0"/>
              <a:t>            </a:t>
            </a:r>
            <a:r>
              <a:rPr lang="en-IE" sz="1400" b="1" dirty="0" err="1">
                <a:solidFill>
                  <a:srgbClr val="000080"/>
                </a:solidFill>
              </a:rPr>
              <a:t>this</a:t>
            </a:r>
            <a:r>
              <a:rPr lang="en-IE" sz="1400" dirty="0" err="1"/>
              <a:t>.</a:t>
            </a:r>
            <a:r>
              <a:rPr lang="en-IE" sz="1400" b="1" dirty="0" err="1">
                <a:solidFill>
                  <a:srgbClr val="660E7A"/>
                </a:solidFill>
              </a:rPr>
              <a:t>productCode</a:t>
            </a:r>
            <a:r>
              <a:rPr lang="en-IE" sz="1400" b="1" dirty="0">
                <a:solidFill>
                  <a:srgbClr val="660E7A"/>
                </a:solidFill>
              </a:rPr>
              <a:t> </a:t>
            </a:r>
            <a:r>
              <a:rPr lang="en-IE" sz="1400" dirty="0"/>
              <a:t>= </a:t>
            </a:r>
            <a:r>
              <a:rPr lang="en-IE" sz="1400" dirty="0" err="1"/>
              <a:t>productCode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    }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r>
              <a:rPr lang="en-IE" sz="1400" dirty="0"/>
              <a:t>}</a:t>
            </a:r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1DEDFE-F03D-604F-A044-CC4361FCFA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01351" y="4456012"/>
            <a:ext cx="4044463" cy="169199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dirty="0"/>
              <a:t>Using the Utility method: </a:t>
            </a:r>
            <a:r>
              <a:rPr lang="en-IE" sz="3200" dirty="0" err="1">
                <a:solidFill>
                  <a:srgbClr val="0070C0"/>
                </a:solidFill>
              </a:rPr>
              <a:t>validRange</a:t>
            </a:r>
            <a:r>
              <a:rPr lang="en-IE" sz="3200" dirty="0"/>
              <a:t> </a:t>
            </a:r>
            <a:br>
              <a:rPr lang="en-IE" sz="3200" dirty="0"/>
            </a:br>
            <a:r>
              <a:rPr lang="en-IE" sz="3200" dirty="0"/>
              <a:t>in the Product class.</a:t>
            </a:r>
            <a:r>
              <a:rPr lang="en-US" sz="3200" dirty="0"/>
              <a:t>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61F84B-3F60-9946-9C20-B3C1CFBA7035}"/>
              </a:ext>
            </a:extLst>
          </p:cNvPr>
          <p:cNvSpPr/>
          <p:nvPr/>
        </p:nvSpPr>
        <p:spPr>
          <a:xfrm>
            <a:off x="304800" y="2859436"/>
            <a:ext cx="4419600" cy="45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17FBBC-FD33-FC4B-BF7B-187753333043}"/>
              </a:ext>
            </a:extLst>
          </p:cNvPr>
          <p:cNvSpPr/>
          <p:nvPr/>
        </p:nvSpPr>
        <p:spPr>
          <a:xfrm>
            <a:off x="304800" y="5105400"/>
            <a:ext cx="4419600" cy="9182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92BD88-4C1F-9544-A5DA-1DAA3582CB5E}"/>
              </a:ext>
            </a:extLst>
          </p:cNvPr>
          <p:cNvSpPr/>
          <p:nvPr/>
        </p:nvSpPr>
        <p:spPr>
          <a:xfrm>
            <a:off x="304800" y="533400"/>
            <a:ext cx="1676400" cy="45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34FEA6A-47B8-954D-8275-5C7F72D54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7605" y="469056"/>
            <a:ext cx="2329595" cy="367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29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F19E1-6CA5-D645-B043-CEF26244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Validating Strings Using Utilities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F59C2-E30C-CE49-967C-417D822A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852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E0D5B5-E084-B543-9F25-709D81A58248}"/>
              </a:ext>
            </a:extLst>
          </p:cNvPr>
          <p:cNvSpPr/>
          <p:nvPr/>
        </p:nvSpPr>
        <p:spPr>
          <a:xfrm>
            <a:off x="76200" y="76200"/>
            <a:ext cx="10619233" cy="66787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public class </a:t>
            </a:r>
            <a:r>
              <a:rPr lang="en-IE" dirty="0"/>
              <a:t>Product {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/>
              <a:t>String </a:t>
            </a:r>
            <a:r>
              <a:rPr lang="en-IE" b="1" dirty="0" err="1">
                <a:solidFill>
                  <a:srgbClr val="660E7A"/>
                </a:solidFill>
              </a:rPr>
              <a:t>productName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8000"/>
                </a:solidFill>
              </a:rPr>
              <a:t>""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int </a:t>
            </a:r>
            <a:r>
              <a:rPr lang="en-IE" b="1" dirty="0" err="1">
                <a:solidFill>
                  <a:srgbClr val="660E7A"/>
                </a:solidFill>
              </a:rPr>
              <a:t>productCode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-</a:t>
            </a:r>
            <a:r>
              <a:rPr lang="en-IE" dirty="0">
                <a:solidFill>
                  <a:srgbClr val="0000FF"/>
                </a:solidFill>
              </a:rPr>
              <a:t>1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double </a:t>
            </a:r>
            <a:r>
              <a:rPr lang="en-IE" b="1" dirty="0" err="1">
                <a:solidFill>
                  <a:srgbClr val="660E7A"/>
                </a:solidFill>
              </a:rPr>
              <a:t>unitCost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0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b="1" dirty="0" err="1">
                <a:solidFill>
                  <a:srgbClr val="660E7A"/>
                </a:solidFill>
              </a:rPr>
              <a:t>inCurrentProductLine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false</a:t>
            </a:r>
            <a:r>
              <a:rPr lang="en-IE" dirty="0"/>
              <a:t>;</a:t>
            </a:r>
            <a:br>
              <a:rPr lang="en-IE" dirty="0"/>
            </a:b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b="1" dirty="0">
                <a:solidFill>
                  <a:srgbClr val="000080"/>
                </a:solidFill>
              </a:rPr>
              <a:t>public </a:t>
            </a:r>
            <a:r>
              <a:rPr lang="en-IE" dirty="0"/>
              <a:t>Product(String </a:t>
            </a:r>
            <a:r>
              <a:rPr lang="en-IE" dirty="0" err="1"/>
              <a:t>productName</a:t>
            </a:r>
            <a:r>
              <a:rPr lang="en-IE" dirty="0"/>
              <a:t>,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productCode</a:t>
            </a:r>
            <a:r>
              <a:rPr lang="en-IE" dirty="0"/>
              <a:t>,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 err="1"/>
              <a:t>unitCost</a:t>
            </a:r>
            <a:r>
              <a:rPr lang="en-IE" dirty="0"/>
              <a:t>,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inCurrentProductLine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if </a:t>
            </a:r>
            <a:r>
              <a:rPr lang="en-IE" dirty="0"/>
              <a:t>(</a:t>
            </a:r>
            <a:r>
              <a:rPr lang="en-IE" dirty="0" err="1"/>
              <a:t>productName.length</a:t>
            </a:r>
            <a:r>
              <a:rPr lang="en-IE" dirty="0"/>
              <a:t>() &lt;= </a:t>
            </a:r>
            <a:r>
              <a:rPr lang="en-IE" dirty="0">
                <a:solidFill>
                  <a:srgbClr val="0000FF"/>
                </a:solidFill>
              </a:rPr>
              <a:t>20</a:t>
            </a:r>
            <a:r>
              <a:rPr lang="en-IE" dirty="0"/>
              <a:t>){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productName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productName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    }</a:t>
            </a:r>
            <a:r>
              <a:rPr lang="en-IE" b="1" dirty="0">
                <a:solidFill>
                  <a:srgbClr val="000080"/>
                </a:solidFill>
              </a:rPr>
              <a:t>else</a:t>
            </a:r>
            <a:r>
              <a:rPr lang="en-IE" dirty="0"/>
              <a:t>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dirty="0" err="1"/>
              <a:t>productName.substring</a:t>
            </a:r>
            <a:r>
              <a:rPr lang="en-IE" dirty="0"/>
              <a:t>(</a:t>
            </a:r>
            <a:r>
              <a:rPr lang="en-IE" dirty="0">
                <a:solidFill>
                  <a:srgbClr val="0000FF"/>
                </a:solidFill>
              </a:rPr>
              <a:t>0</a:t>
            </a:r>
            <a:r>
              <a:rPr lang="en-IE" dirty="0"/>
              <a:t>,</a:t>
            </a:r>
            <a:r>
              <a:rPr lang="en-IE" dirty="0">
                <a:solidFill>
                  <a:srgbClr val="0000FF"/>
                </a:solidFill>
              </a:rPr>
              <a:t>20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    }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dirty="0" err="1"/>
              <a:t>setProductCode</a:t>
            </a:r>
            <a:r>
              <a:rPr lang="en-IE" dirty="0"/>
              <a:t>(</a:t>
            </a:r>
            <a:r>
              <a:rPr lang="en-IE" dirty="0" err="1"/>
              <a:t>productCode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unitCost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unitCost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inCurrentProductLine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inCurrentProductLine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b="1" dirty="0">
                <a:solidFill>
                  <a:srgbClr val="000080"/>
                </a:solidFill>
              </a:rPr>
              <a:t>public void </a:t>
            </a:r>
            <a:r>
              <a:rPr lang="en-IE" dirty="0" err="1"/>
              <a:t>setProductName</a:t>
            </a:r>
            <a:r>
              <a:rPr lang="en-IE" dirty="0"/>
              <a:t>(String </a:t>
            </a:r>
            <a:r>
              <a:rPr lang="en-IE" dirty="0" err="1"/>
              <a:t>productName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if </a:t>
            </a:r>
            <a:r>
              <a:rPr lang="en-IE" dirty="0"/>
              <a:t>(</a:t>
            </a:r>
            <a:r>
              <a:rPr lang="en-IE" dirty="0" err="1"/>
              <a:t>productName.length</a:t>
            </a:r>
            <a:r>
              <a:rPr lang="en-IE" dirty="0"/>
              <a:t>() &lt;= </a:t>
            </a:r>
            <a:r>
              <a:rPr lang="en-IE" dirty="0">
                <a:solidFill>
                  <a:srgbClr val="0000FF"/>
                </a:solidFill>
              </a:rPr>
              <a:t>20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productName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productName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    }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r>
              <a:rPr lang="en-IE" dirty="0"/>
              <a:t>}</a:t>
            </a:r>
            <a:endParaRPr lang="en-US" dirty="0"/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14FD443-7873-214E-9FF9-7CDA449D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111500"/>
            <a:ext cx="2329595" cy="367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14FD15-96AD-DD4B-B71B-6D9D864F253E}"/>
              </a:ext>
            </a:extLst>
          </p:cNvPr>
          <p:cNvSpPr txBox="1">
            <a:spLocks/>
          </p:cNvSpPr>
          <p:nvPr/>
        </p:nvSpPr>
        <p:spPr>
          <a:xfrm>
            <a:off x="7553145" y="381000"/>
            <a:ext cx="4400910" cy="1350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Product Class – validate </a:t>
            </a:r>
            <a:r>
              <a:rPr lang="en-US" dirty="0" err="1"/>
              <a:t>productName</a:t>
            </a:r>
            <a:r>
              <a:rPr lang="en-US" dirty="0"/>
              <a:t> without utility methods (to max of 20 chars).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155335-D9E7-3740-9667-2421886E5DDF}"/>
              </a:ext>
            </a:extLst>
          </p:cNvPr>
          <p:cNvSpPr/>
          <p:nvPr/>
        </p:nvSpPr>
        <p:spPr>
          <a:xfrm>
            <a:off x="457200" y="5291328"/>
            <a:ext cx="5290405" cy="88087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771399-EEF9-C94F-A0BD-EB495F868DB3}"/>
              </a:ext>
            </a:extLst>
          </p:cNvPr>
          <p:cNvSpPr/>
          <p:nvPr/>
        </p:nvSpPr>
        <p:spPr>
          <a:xfrm>
            <a:off x="381000" y="2286000"/>
            <a:ext cx="4495800" cy="1371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4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F7CE5E-3B68-E740-A3D7-68C6B6483ABA}"/>
              </a:ext>
            </a:extLst>
          </p:cNvPr>
          <p:cNvSpPr/>
          <p:nvPr/>
        </p:nvSpPr>
        <p:spPr>
          <a:xfrm>
            <a:off x="323490" y="469056"/>
            <a:ext cx="8820509" cy="61247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1400" i="1" dirty="0">
                <a:solidFill>
                  <a:srgbClr val="808080"/>
                </a:solidFill>
              </a:rPr>
              <a:t>/**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 This method returns a string that was passed as a parameter, truncated to a specific length, also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 passed as a parameter.  If the original String is less than the passed length, then the original string is just returned.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</a:t>
            </a:r>
            <a:r>
              <a:rPr lang="en-IE" sz="1400" b="1" i="1" dirty="0">
                <a:solidFill>
                  <a:srgbClr val="808080"/>
                </a:solidFill>
              </a:rPr>
              <a:t>@param </a:t>
            </a:r>
            <a:r>
              <a:rPr lang="en-IE" sz="1400" b="1" i="1" dirty="0" err="1">
                <a:solidFill>
                  <a:srgbClr val="3D3D3D"/>
                </a:solidFill>
              </a:rPr>
              <a:t>stringToTruncate</a:t>
            </a:r>
            <a:r>
              <a:rPr lang="en-IE" sz="1400" b="1" i="1" dirty="0">
                <a:solidFill>
                  <a:srgbClr val="3D3D3D"/>
                </a:solidFill>
              </a:rPr>
              <a:t>  </a:t>
            </a:r>
            <a:r>
              <a:rPr lang="en-IE" sz="1400" i="1" dirty="0">
                <a:solidFill>
                  <a:srgbClr val="808080"/>
                </a:solidFill>
              </a:rPr>
              <a:t>The string that will be truncated to a specific length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</a:t>
            </a:r>
            <a:r>
              <a:rPr lang="en-IE" sz="1400" b="1" i="1" dirty="0">
                <a:solidFill>
                  <a:srgbClr val="808080"/>
                </a:solidFill>
              </a:rPr>
              <a:t>@param </a:t>
            </a:r>
            <a:r>
              <a:rPr lang="en-IE" sz="1400" b="1" i="1" dirty="0">
                <a:solidFill>
                  <a:srgbClr val="3D3D3D"/>
                </a:solidFill>
              </a:rPr>
              <a:t>length </a:t>
            </a:r>
            <a:r>
              <a:rPr lang="en-IE" sz="1400" i="1" dirty="0">
                <a:solidFill>
                  <a:srgbClr val="808080"/>
                </a:solidFill>
              </a:rPr>
              <a:t>The length to which to truncate the string to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</a:t>
            </a:r>
            <a:r>
              <a:rPr lang="en-IE" sz="1400" b="1" i="1" dirty="0">
                <a:solidFill>
                  <a:srgbClr val="808080"/>
                </a:solidFill>
              </a:rPr>
              <a:t>@return </a:t>
            </a:r>
            <a:r>
              <a:rPr lang="en-IE" sz="1400" i="1" dirty="0">
                <a:solidFill>
                  <a:srgbClr val="808080"/>
                </a:solidFill>
              </a:rPr>
              <a:t>The string truncated to a specific length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*/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b="1" dirty="0">
                <a:solidFill>
                  <a:srgbClr val="000080"/>
                </a:solidFill>
              </a:rPr>
              <a:t>public static </a:t>
            </a:r>
            <a:r>
              <a:rPr lang="en-IE" sz="1400" dirty="0"/>
              <a:t>String </a:t>
            </a:r>
            <a:r>
              <a:rPr lang="en-IE" sz="1400" dirty="0" err="1"/>
              <a:t>truncateString</a:t>
            </a:r>
            <a:r>
              <a:rPr lang="en-IE" sz="1400" dirty="0"/>
              <a:t>(String </a:t>
            </a:r>
            <a:r>
              <a:rPr lang="en-IE" sz="1400" dirty="0" err="1"/>
              <a:t>stringToTruncate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/>
              <a:t>length){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if </a:t>
            </a:r>
            <a:r>
              <a:rPr lang="en-IE" sz="1400" dirty="0"/>
              <a:t>(</a:t>
            </a:r>
            <a:r>
              <a:rPr lang="en-IE" sz="1400" dirty="0" err="1"/>
              <a:t>stringToTruncate.length</a:t>
            </a:r>
            <a:r>
              <a:rPr lang="en-IE" sz="1400" dirty="0"/>
              <a:t>() &lt;= length) 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return </a:t>
            </a:r>
            <a:r>
              <a:rPr lang="en-IE" sz="1400" dirty="0" err="1"/>
              <a:t>stringToTruncate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else</a:t>
            </a:r>
            <a:r>
              <a:rPr lang="en-IE" sz="1400" dirty="0"/>
              <a:t>{</a:t>
            </a:r>
            <a:br>
              <a:rPr lang="en-IE" sz="1400" dirty="0"/>
            </a:br>
            <a:r>
              <a:rPr lang="en-IE" sz="1400" dirty="0"/>
              <a:t>        </a:t>
            </a:r>
            <a:r>
              <a:rPr lang="en-IE" sz="1400" b="1" dirty="0">
                <a:solidFill>
                  <a:srgbClr val="000080"/>
                </a:solidFill>
              </a:rPr>
              <a:t>return </a:t>
            </a:r>
            <a:r>
              <a:rPr lang="en-IE" sz="1400" dirty="0" err="1"/>
              <a:t>stringToTruncate.substring</a:t>
            </a:r>
            <a:r>
              <a:rPr lang="en-IE" sz="1400" dirty="0"/>
              <a:t>(</a:t>
            </a:r>
            <a:r>
              <a:rPr lang="en-IE" sz="1400" dirty="0">
                <a:solidFill>
                  <a:srgbClr val="0000FF"/>
                </a:solidFill>
              </a:rPr>
              <a:t>0</a:t>
            </a:r>
            <a:r>
              <a:rPr lang="en-IE" sz="1400" dirty="0"/>
              <a:t>, length);</a:t>
            </a:r>
            <a:br>
              <a:rPr lang="en-IE" sz="1400" dirty="0"/>
            </a:br>
            <a:r>
              <a:rPr lang="en-IE" sz="1400" dirty="0"/>
              <a:t>    }</a:t>
            </a:r>
            <a:br>
              <a:rPr lang="en-IE" sz="1400" dirty="0"/>
            </a:br>
            <a:r>
              <a:rPr lang="en-IE" sz="1400" dirty="0"/>
              <a:t>}</a:t>
            </a:r>
            <a:br>
              <a:rPr lang="en-IE" sz="1400" dirty="0"/>
            </a:br>
            <a:br>
              <a:rPr lang="en-IE" sz="1400" dirty="0"/>
            </a:br>
            <a:r>
              <a:rPr lang="en-IE" sz="1400" i="1" dirty="0">
                <a:solidFill>
                  <a:srgbClr val="808080"/>
                </a:solidFill>
              </a:rPr>
              <a:t>/**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This method takes in a string, passed as a parameter and </a:t>
            </a:r>
            <a:r>
              <a:rPr lang="en-IE" sz="1400" i="1" dirty="0" err="1">
                <a:solidFill>
                  <a:srgbClr val="808080"/>
                </a:solidFill>
              </a:rPr>
              <a:t>valdiates</a:t>
            </a:r>
            <a:r>
              <a:rPr lang="en-IE" sz="1400" i="1" dirty="0">
                <a:solidFill>
                  <a:srgbClr val="808080"/>
                </a:solidFill>
              </a:rPr>
              <a:t> whether it is less than or equal to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a specific length or not.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</a:t>
            </a:r>
            <a:r>
              <a:rPr lang="en-IE" sz="1400" b="1" i="1" dirty="0">
                <a:solidFill>
                  <a:srgbClr val="808080"/>
                </a:solidFill>
              </a:rPr>
              <a:t>@param </a:t>
            </a:r>
            <a:r>
              <a:rPr lang="en-IE" sz="1400" b="1" i="1" dirty="0" err="1">
                <a:solidFill>
                  <a:srgbClr val="3D3D3D"/>
                </a:solidFill>
              </a:rPr>
              <a:t>strToCheck</a:t>
            </a:r>
            <a:r>
              <a:rPr lang="en-IE" sz="1400" b="1" i="1" dirty="0">
                <a:solidFill>
                  <a:srgbClr val="3D3D3D"/>
                </a:solidFill>
              </a:rPr>
              <a:t> </a:t>
            </a:r>
            <a:r>
              <a:rPr lang="en-IE" sz="1400" i="1" dirty="0">
                <a:solidFill>
                  <a:srgbClr val="808080"/>
                </a:solidFill>
              </a:rPr>
              <a:t>The string that will be checked to see if it is a specific length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</a:t>
            </a:r>
            <a:r>
              <a:rPr lang="en-IE" sz="1400" b="1" i="1" dirty="0">
                <a:solidFill>
                  <a:srgbClr val="808080"/>
                </a:solidFill>
              </a:rPr>
              <a:t>@param </a:t>
            </a:r>
            <a:r>
              <a:rPr lang="en-IE" sz="1400" b="1" i="1" dirty="0" err="1">
                <a:solidFill>
                  <a:srgbClr val="3D3D3D"/>
                </a:solidFill>
              </a:rPr>
              <a:t>maxLength</a:t>
            </a:r>
            <a:r>
              <a:rPr lang="en-IE" sz="1400" b="1" i="1" dirty="0">
                <a:solidFill>
                  <a:srgbClr val="3D3D3D"/>
                </a:solidFill>
              </a:rPr>
              <a:t> </a:t>
            </a:r>
            <a:r>
              <a:rPr lang="en-IE" sz="1400" i="1" dirty="0">
                <a:solidFill>
                  <a:srgbClr val="808080"/>
                </a:solidFill>
              </a:rPr>
              <a:t>The length that the string will be validated against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 </a:t>
            </a:r>
            <a:r>
              <a:rPr lang="en-IE" sz="1400" b="1" i="1" dirty="0">
                <a:solidFill>
                  <a:srgbClr val="808080"/>
                </a:solidFill>
              </a:rPr>
              <a:t>@return </a:t>
            </a:r>
            <a:r>
              <a:rPr lang="en-IE" sz="1400" i="1" dirty="0">
                <a:solidFill>
                  <a:srgbClr val="808080"/>
                </a:solidFill>
              </a:rPr>
              <a:t>True if the string is less than or equal the max length and false otherwise.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i="1" dirty="0">
                <a:solidFill>
                  <a:srgbClr val="808080"/>
                </a:solidFill>
              </a:rPr>
              <a:t> */</a:t>
            </a:r>
            <a:br>
              <a:rPr lang="en-IE" sz="1400" i="1" dirty="0">
                <a:solidFill>
                  <a:srgbClr val="808080"/>
                </a:solidFill>
              </a:rPr>
            </a:br>
            <a:r>
              <a:rPr lang="en-IE" sz="1400" b="1" dirty="0">
                <a:solidFill>
                  <a:srgbClr val="000080"/>
                </a:solidFill>
              </a:rPr>
              <a:t>public static </a:t>
            </a:r>
            <a:r>
              <a:rPr lang="en-IE" sz="1400" b="1" dirty="0" err="1">
                <a:solidFill>
                  <a:srgbClr val="000080"/>
                </a:solidFill>
              </a:rPr>
              <a:t>boolean</a:t>
            </a:r>
            <a:r>
              <a:rPr lang="en-IE" sz="1400" b="1" dirty="0">
                <a:solidFill>
                  <a:srgbClr val="000080"/>
                </a:solidFill>
              </a:rPr>
              <a:t> </a:t>
            </a:r>
            <a:r>
              <a:rPr lang="en-IE" sz="1400" dirty="0" err="1"/>
              <a:t>validateStringLength</a:t>
            </a:r>
            <a:r>
              <a:rPr lang="en-IE" sz="1400" dirty="0"/>
              <a:t>(String </a:t>
            </a:r>
            <a:r>
              <a:rPr lang="en-IE" sz="1400" dirty="0" err="1"/>
              <a:t>strToCheck</a:t>
            </a:r>
            <a:r>
              <a:rPr lang="en-IE" sz="1400" dirty="0"/>
              <a:t>, </a:t>
            </a:r>
            <a:r>
              <a:rPr lang="en-IE" sz="1400" b="1" dirty="0">
                <a:solidFill>
                  <a:srgbClr val="000080"/>
                </a:solidFill>
              </a:rPr>
              <a:t>int </a:t>
            </a:r>
            <a:r>
              <a:rPr lang="en-IE" sz="1400" dirty="0" err="1"/>
              <a:t>maxLength</a:t>
            </a:r>
            <a:r>
              <a:rPr lang="en-IE" sz="1400" dirty="0"/>
              <a:t>){</a:t>
            </a:r>
            <a:br>
              <a:rPr lang="en-IE" sz="1400" dirty="0"/>
            </a:br>
            <a:r>
              <a:rPr lang="en-IE" sz="1400" dirty="0"/>
              <a:t>    </a:t>
            </a:r>
            <a:r>
              <a:rPr lang="en-IE" sz="1400" b="1" dirty="0">
                <a:solidFill>
                  <a:srgbClr val="000080"/>
                </a:solidFill>
              </a:rPr>
              <a:t>return </a:t>
            </a:r>
            <a:r>
              <a:rPr lang="en-IE" sz="1400" dirty="0" err="1"/>
              <a:t>strToCheck.length</a:t>
            </a:r>
            <a:r>
              <a:rPr lang="en-IE" sz="1400" dirty="0"/>
              <a:t>() &lt;= </a:t>
            </a:r>
            <a:r>
              <a:rPr lang="en-IE" sz="1400" dirty="0" err="1"/>
              <a:t>maxLength</a:t>
            </a:r>
            <a:r>
              <a:rPr lang="en-IE" sz="1400" dirty="0"/>
              <a:t>;</a:t>
            </a:r>
            <a:br>
              <a:rPr lang="en-IE" sz="1400" dirty="0"/>
            </a:br>
            <a:r>
              <a:rPr lang="en-IE" sz="1400" dirty="0"/>
              <a:t>}</a:t>
            </a:r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6667A-4E39-214D-B0CD-A275A67D02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620000" y="1447800"/>
            <a:ext cx="4400910" cy="1350149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dirty="0"/>
              <a:t>Utilities Class – add two new methods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67F83BC-CA57-C64E-AB75-6D198751F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111500"/>
            <a:ext cx="2329595" cy="367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5920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AF4329-EFB3-8D4F-9286-AB6B58661A12}"/>
              </a:ext>
            </a:extLst>
          </p:cNvPr>
          <p:cNvSpPr/>
          <p:nvPr/>
        </p:nvSpPr>
        <p:spPr>
          <a:xfrm>
            <a:off x="304800" y="228600"/>
            <a:ext cx="10134600" cy="64633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b="1" dirty="0">
                <a:solidFill>
                  <a:srgbClr val="000080"/>
                </a:solidFill>
              </a:rPr>
              <a:t>import </a:t>
            </a:r>
            <a:r>
              <a:rPr lang="en-IE" dirty="0" err="1"/>
              <a:t>utils.Utilities</a:t>
            </a:r>
            <a:r>
              <a:rPr lang="en-IE" dirty="0"/>
              <a:t>;</a:t>
            </a:r>
            <a:br>
              <a:rPr lang="en-IE" dirty="0"/>
            </a:br>
            <a:endParaRPr lang="en-IE" dirty="0"/>
          </a:p>
          <a:p>
            <a:r>
              <a:rPr lang="en-IE" b="1" dirty="0">
                <a:solidFill>
                  <a:srgbClr val="000080"/>
                </a:solidFill>
              </a:rPr>
              <a:t>public class </a:t>
            </a:r>
            <a:r>
              <a:rPr lang="en-IE" dirty="0"/>
              <a:t>Product {</a:t>
            </a:r>
            <a:br>
              <a:rPr lang="en-IE" dirty="0"/>
            </a:b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dirty="0"/>
              <a:t>String </a:t>
            </a:r>
            <a:r>
              <a:rPr lang="en-IE" b="1" dirty="0" err="1">
                <a:solidFill>
                  <a:srgbClr val="660E7A"/>
                </a:solidFill>
              </a:rPr>
              <a:t>productName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8000"/>
                </a:solidFill>
              </a:rPr>
              <a:t>""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int </a:t>
            </a:r>
            <a:r>
              <a:rPr lang="en-IE" b="1" dirty="0" err="1">
                <a:solidFill>
                  <a:srgbClr val="660E7A"/>
                </a:solidFill>
              </a:rPr>
              <a:t>productCode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-</a:t>
            </a:r>
            <a:r>
              <a:rPr lang="en-IE" dirty="0">
                <a:solidFill>
                  <a:srgbClr val="0000FF"/>
                </a:solidFill>
              </a:rPr>
              <a:t>1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double </a:t>
            </a:r>
            <a:r>
              <a:rPr lang="en-IE" b="1" dirty="0" err="1">
                <a:solidFill>
                  <a:srgbClr val="660E7A"/>
                </a:solidFill>
              </a:rPr>
              <a:t>unitCost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>
                <a:solidFill>
                  <a:srgbClr val="0000FF"/>
                </a:solidFill>
              </a:rPr>
              <a:t>0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</a:t>
            </a:r>
            <a:r>
              <a:rPr lang="en-IE" b="1" dirty="0">
                <a:solidFill>
                  <a:srgbClr val="000080"/>
                </a:solidFill>
              </a:rPr>
              <a:t>private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b="1" dirty="0" err="1">
                <a:solidFill>
                  <a:srgbClr val="660E7A"/>
                </a:solidFill>
              </a:rPr>
              <a:t>inCurrentProductLine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b="1" dirty="0">
                <a:solidFill>
                  <a:srgbClr val="000080"/>
                </a:solidFill>
              </a:rPr>
              <a:t>false</a:t>
            </a:r>
            <a:r>
              <a:rPr lang="en-IE" dirty="0"/>
              <a:t>;</a:t>
            </a:r>
            <a:br>
              <a:rPr lang="en-IE" dirty="0"/>
            </a:b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b="1" dirty="0">
                <a:solidFill>
                  <a:srgbClr val="000080"/>
                </a:solidFill>
              </a:rPr>
              <a:t>public </a:t>
            </a:r>
            <a:r>
              <a:rPr lang="en-IE" dirty="0"/>
              <a:t>Product(String </a:t>
            </a:r>
            <a:r>
              <a:rPr lang="en-IE" dirty="0" err="1"/>
              <a:t>productName</a:t>
            </a:r>
            <a:r>
              <a:rPr lang="en-IE" dirty="0"/>
              <a:t>, </a:t>
            </a:r>
            <a:r>
              <a:rPr lang="en-IE" b="1" dirty="0">
                <a:solidFill>
                  <a:srgbClr val="000080"/>
                </a:solidFill>
              </a:rPr>
              <a:t>int </a:t>
            </a:r>
            <a:r>
              <a:rPr lang="en-IE" dirty="0" err="1"/>
              <a:t>productCode</a:t>
            </a:r>
            <a:r>
              <a:rPr lang="en-IE" dirty="0"/>
              <a:t>, </a:t>
            </a:r>
            <a:r>
              <a:rPr lang="en-IE" b="1" dirty="0">
                <a:solidFill>
                  <a:srgbClr val="000080"/>
                </a:solidFill>
              </a:rPr>
              <a:t>double </a:t>
            </a:r>
            <a:r>
              <a:rPr lang="en-IE" dirty="0" err="1"/>
              <a:t>unitCost</a:t>
            </a:r>
            <a:r>
              <a:rPr lang="en-IE" dirty="0"/>
              <a:t>, </a:t>
            </a:r>
            <a:r>
              <a:rPr lang="en-IE" b="1" dirty="0" err="1">
                <a:solidFill>
                  <a:srgbClr val="000080"/>
                </a:solidFill>
              </a:rPr>
              <a:t>boolean</a:t>
            </a:r>
            <a:r>
              <a:rPr lang="en-IE" b="1" dirty="0">
                <a:solidFill>
                  <a:srgbClr val="000080"/>
                </a:solidFill>
              </a:rPr>
              <a:t> </a:t>
            </a:r>
            <a:r>
              <a:rPr lang="en-IE" dirty="0" err="1"/>
              <a:t>inCurrentProductLine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</a:t>
            </a:r>
          </a:p>
          <a:p>
            <a:r>
              <a:rPr lang="en-IE" dirty="0"/>
              <a:t>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productName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Utilities.</a:t>
            </a:r>
            <a:r>
              <a:rPr lang="en-IE" i="1" dirty="0" err="1"/>
              <a:t>truncateString</a:t>
            </a:r>
            <a:r>
              <a:rPr lang="en-IE" dirty="0"/>
              <a:t>(</a:t>
            </a:r>
            <a:r>
              <a:rPr lang="en-IE" dirty="0" err="1"/>
              <a:t>productName</a:t>
            </a:r>
            <a:r>
              <a:rPr lang="en-IE" dirty="0"/>
              <a:t>, </a:t>
            </a:r>
            <a:r>
              <a:rPr lang="en-IE" dirty="0">
                <a:solidFill>
                  <a:srgbClr val="0000FF"/>
                </a:solidFill>
              </a:rPr>
              <a:t>20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 </a:t>
            </a:r>
          </a:p>
          <a:p>
            <a:r>
              <a:rPr lang="en-IE" dirty="0"/>
              <a:t>        </a:t>
            </a:r>
            <a:r>
              <a:rPr lang="en-IE" dirty="0" err="1"/>
              <a:t>setProductCode</a:t>
            </a:r>
            <a:r>
              <a:rPr lang="en-IE" dirty="0"/>
              <a:t>(</a:t>
            </a:r>
            <a:r>
              <a:rPr lang="en-IE" dirty="0" err="1"/>
              <a:t>productCode</a:t>
            </a:r>
            <a:r>
              <a:rPr lang="en-IE" dirty="0"/>
              <a:t>);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unitCost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unitCost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inCurrentProductLine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inCurrentProductLine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}</a:t>
            </a:r>
            <a:br>
              <a:rPr lang="en-IE" dirty="0"/>
            </a:br>
            <a:br>
              <a:rPr lang="en-IE" i="1" dirty="0">
                <a:solidFill>
                  <a:srgbClr val="808080"/>
                </a:solidFill>
              </a:rPr>
            </a:br>
            <a:r>
              <a:rPr lang="en-IE" i="1" dirty="0">
                <a:solidFill>
                  <a:srgbClr val="808080"/>
                </a:solidFill>
              </a:rPr>
              <a:t>    </a:t>
            </a:r>
            <a:r>
              <a:rPr lang="en-IE" b="1" dirty="0">
                <a:solidFill>
                  <a:srgbClr val="000080"/>
                </a:solidFill>
              </a:rPr>
              <a:t>public void </a:t>
            </a:r>
            <a:r>
              <a:rPr lang="en-IE" dirty="0" err="1"/>
              <a:t>setProductName</a:t>
            </a:r>
            <a:r>
              <a:rPr lang="en-IE" dirty="0"/>
              <a:t>(String </a:t>
            </a:r>
            <a:r>
              <a:rPr lang="en-IE" dirty="0" err="1"/>
              <a:t>productName</a:t>
            </a:r>
            <a:r>
              <a:rPr lang="en-IE" dirty="0"/>
              <a:t>) {</a:t>
            </a:r>
            <a:br>
              <a:rPr lang="en-IE" dirty="0"/>
            </a:br>
            <a:r>
              <a:rPr lang="en-IE" dirty="0"/>
              <a:t>        </a:t>
            </a:r>
            <a:r>
              <a:rPr lang="en-IE" b="1" dirty="0">
                <a:solidFill>
                  <a:srgbClr val="000080"/>
                </a:solidFill>
              </a:rPr>
              <a:t>if </a:t>
            </a:r>
            <a:r>
              <a:rPr lang="en-IE" dirty="0"/>
              <a:t>(</a:t>
            </a:r>
            <a:r>
              <a:rPr lang="en-IE" dirty="0" err="1"/>
              <a:t>Utilities.</a:t>
            </a:r>
            <a:r>
              <a:rPr lang="en-IE" i="1" dirty="0" err="1"/>
              <a:t>validateStringLength</a:t>
            </a:r>
            <a:r>
              <a:rPr lang="en-IE" dirty="0"/>
              <a:t>(</a:t>
            </a:r>
            <a:r>
              <a:rPr lang="en-IE" dirty="0" err="1"/>
              <a:t>productName</a:t>
            </a:r>
            <a:r>
              <a:rPr lang="en-IE" dirty="0"/>
              <a:t>, </a:t>
            </a:r>
            <a:r>
              <a:rPr lang="en-IE" dirty="0">
                <a:solidFill>
                  <a:srgbClr val="0000FF"/>
                </a:solidFill>
              </a:rPr>
              <a:t>20</a:t>
            </a:r>
            <a:r>
              <a:rPr lang="en-IE" dirty="0"/>
              <a:t>)) {</a:t>
            </a:r>
            <a:br>
              <a:rPr lang="en-IE" dirty="0"/>
            </a:br>
            <a:r>
              <a:rPr lang="en-IE" dirty="0"/>
              <a:t>            </a:t>
            </a:r>
            <a:r>
              <a:rPr lang="en-IE" b="1" dirty="0" err="1">
                <a:solidFill>
                  <a:srgbClr val="000080"/>
                </a:solidFill>
              </a:rPr>
              <a:t>this</a:t>
            </a:r>
            <a:r>
              <a:rPr lang="en-IE" dirty="0" err="1"/>
              <a:t>.</a:t>
            </a:r>
            <a:r>
              <a:rPr lang="en-IE" b="1" dirty="0" err="1">
                <a:solidFill>
                  <a:srgbClr val="660E7A"/>
                </a:solidFill>
              </a:rPr>
              <a:t>productName</a:t>
            </a:r>
            <a:r>
              <a:rPr lang="en-IE" b="1" dirty="0">
                <a:solidFill>
                  <a:srgbClr val="660E7A"/>
                </a:solidFill>
              </a:rPr>
              <a:t> </a:t>
            </a:r>
            <a:r>
              <a:rPr lang="en-IE" dirty="0"/>
              <a:t>= </a:t>
            </a:r>
            <a:r>
              <a:rPr lang="en-IE" dirty="0" err="1"/>
              <a:t>productName</a:t>
            </a:r>
            <a:r>
              <a:rPr lang="en-IE" dirty="0"/>
              <a:t>;</a:t>
            </a:r>
            <a:br>
              <a:rPr lang="en-IE" dirty="0"/>
            </a:br>
            <a:r>
              <a:rPr lang="en-IE" dirty="0"/>
              <a:t>        }</a:t>
            </a:r>
            <a:br>
              <a:rPr lang="en-IE" dirty="0"/>
            </a:br>
            <a:r>
              <a:rPr lang="en-IE" dirty="0"/>
              <a:t>    }</a:t>
            </a:r>
            <a:endParaRPr lang="en-US" dirty="0"/>
          </a:p>
        </p:txBody>
      </p:sp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14FD443-7873-214E-9FF9-7CDA449DD5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111500"/>
            <a:ext cx="2329595" cy="3670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614FD15-96AD-DD4B-B71B-6D9D864F253E}"/>
              </a:ext>
            </a:extLst>
          </p:cNvPr>
          <p:cNvSpPr txBox="1">
            <a:spLocks/>
          </p:cNvSpPr>
          <p:nvPr/>
        </p:nvSpPr>
        <p:spPr>
          <a:xfrm>
            <a:off x="7498020" y="685800"/>
            <a:ext cx="4400910" cy="13501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Product Class – using two new methods to validate </a:t>
            </a:r>
            <a:r>
              <a:rPr lang="en-US" dirty="0" err="1"/>
              <a:t>productName</a:t>
            </a:r>
            <a:r>
              <a:rPr lang="en-US" dirty="0"/>
              <a:t>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6155335-D9E7-3740-9667-2421886E5DDF}"/>
              </a:ext>
            </a:extLst>
          </p:cNvPr>
          <p:cNvSpPr/>
          <p:nvPr/>
        </p:nvSpPr>
        <p:spPr>
          <a:xfrm>
            <a:off x="576994" y="5486400"/>
            <a:ext cx="5290405" cy="6096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3771399-EEF9-C94F-A0BD-EB495F868DB3}"/>
              </a:ext>
            </a:extLst>
          </p:cNvPr>
          <p:cNvSpPr/>
          <p:nvPr/>
        </p:nvSpPr>
        <p:spPr>
          <a:xfrm>
            <a:off x="609600" y="3164598"/>
            <a:ext cx="6248400" cy="5334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0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0400" y="17526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762598" y="31224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5184</TotalTime>
  <Words>1429</Words>
  <Application>Microsoft Macintosh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Utilities</vt:lpstr>
      <vt:lpstr>Validating Product Code  Must be between 1000 and 9999 inclusive.    When a Product is instantiated and the productCode is not matching those values, productCode should be -1.</vt:lpstr>
      <vt:lpstr>Validating Product Code  Repeated Code breaks the DRY principle.  Don’t Repeat Yourself!</vt:lpstr>
      <vt:lpstr>Utility Classes and Helper Methods</vt:lpstr>
      <vt:lpstr>Utilities Class</vt:lpstr>
      <vt:lpstr>Using the Utility method: validRange  in the Product class. </vt:lpstr>
      <vt:lpstr>Validating Strings Using Utilities</vt:lpstr>
      <vt:lpstr>PowerPoint Presentation</vt:lpstr>
      <vt:lpstr>Utilities Class – add two new methods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</dc:title>
  <dc:creator>Siobhan Drohan</dc:creator>
  <cp:lastModifiedBy>Mairead Meagher</cp:lastModifiedBy>
  <cp:revision>136</cp:revision>
  <cp:lastPrinted>2018-03-30T01:09:02Z</cp:lastPrinted>
  <dcterms:created xsi:type="dcterms:W3CDTF">2006-08-16T00:00:00Z</dcterms:created>
  <dcterms:modified xsi:type="dcterms:W3CDTF">2025-02-25T11:58:39Z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FC85C181-B473-43BE-969B-EDA04EBBD123</vt:lpwstr>
  </property>
  <property fmtid="{D5CDD505-2E9C-101B-9397-08002B2CF9AE}" pid="3" name="ArticulatePath">
    <vt:lpwstr>a-prog-fund-2-Exceptions</vt:lpwstr>
  </property>
</Properties>
</file>