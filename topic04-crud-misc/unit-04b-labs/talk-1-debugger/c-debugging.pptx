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96" r:id="rId3"/>
    <p:sldId id="468" r:id="rId4"/>
    <p:sldId id="470" r:id="rId5"/>
    <p:sldId id="501" r:id="rId6"/>
    <p:sldId id="467" r:id="rId7"/>
    <p:sldId id="464" r:id="rId8"/>
    <p:sldId id="466" r:id="rId9"/>
    <p:sldId id="502" r:id="rId10"/>
    <p:sldId id="469" r:id="rId11"/>
    <p:sldId id="478" r:id="rId12"/>
    <p:sldId id="473" r:id="rId13"/>
    <p:sldId id="480" r:id="rId14"/>
    <p:sldId id="485" r:id="rId15"/>
    <p:sldId id="481" r:id="rId16"/>
    <p:sldId id="482" r:id="rId17"/>
    <p:sldId id="483" r:id="rId18"/>
    <p:sldId id="484" r:id="rId19"/>
    <p:sldId id="486" r:id="rId20"/>
    <p:sldId id="487" r:id="rId21"/>
    <p:sldId id="488" r:id="rId22"/>
    <p:sldId id="489" r:id="rId23"/>
    <p:sldId id="490" r:id="rId24"/>
    <p:sldId id="491" r:id="rId25"/>
    <p:sldId id="492" r:id="rId26"/>
    <p:sldId id="474" r:id="rId27"/>
    <p:sldId id="496" r:id="rId28"/>
    <p:sldId id="494" r:id="rId29"/>
    <p:sldId id="493" r:id="rId30"/>
    <p:sldId id="495" r:id="rId31"/>
    <p:sldId id="497" r:id="rId32"/>
    <p:sldId id="498" r:id="rId33"/>
    <p:sldId id="499" r:id="rId34"/>
    <p:sldId id="500" r:id="rId35"/>
    <p:sldId id="503" r:id="rId36"/>
    <p:sldId id="392" r:id="rId37"/>
  </p:sldIdLst>
  <p:sldSz cx="12192000" cy="6858000"/>
  <p:notesSz cx="6858000" cy="9144000"/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13" autoAdjust="0"/>
    <p:restoredTop sz="94640"/>
  </p:normalViewPr>
  <p:slideViewPr>
    <p:cSldViewPr>
      <p:cViewPr varScale="1">
        <p:scale>
          <a:sx n="117" d="100"/>
          <a:sy n="117" d="100"/>
        </p:scale>
        <p:origin x="760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09/02/2025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.tif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Debugging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0017" y="3311097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381000" y="3124200"/>
            <a:ext cx="11277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Help with finding bugs in your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5A1E43-A9B1-4E1B-83C7-27CBF59003B6}"/>
              </a:ext>
            </a:extLst>
          </p:cNvPr>
          <p:cNvSpPr txBox="1"/>
          <p:nvPr/>
        </p:nvSpPr>
        <p:spPr>
          <a:xfrm>
            <a:off x="3781717" y="331830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357" y="3429000"/>
            <a:ext cx="2198716" cy="146434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9064" y="4594408"/>
            <a:ext cx="620017" cy="5978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E262B3-4A97-3769-13D8-8CD2DCB4EA6F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5C7C92B7-C2C8-D93F-8C71-2BFAD7250E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  <a:defRPr/>
            </a:pPr>
            <a:r>
              <a:rPr lang="en-US" sz="4000" dirty="0"/>
              <a:t>What are </a:t>
            </a:r>
            <a:r>
              <a:rPr lang="en-US" sz="4000" b="1" dirty="0"/>
              <a:t>bugs</a:t>
            </a:r>
            <a:r>
              <a:rPr lang="en-US" sz="4000" dirty="0"/>
              <a:t>?</a:t>
            </a:r>
          </a:p>
          <a:p>
            <a:pPr>
              <a:defRPr/>
            </a:pPr>
            <a:endParaRPr lang="en-US" sz="4000" dirty="0"/>
          </a:p>
          <a:p>
            <a:pPr marL="742950" indent="-742950">
              <a:buFont typeface="+mj-lt"/>
              <a:buAutoNum type="arabicPeriod" startAt="2"/>
              <a:defRPr/>
            </a:pPr>
            <a:r>
              <a:rPr lang="en-US" sz="4000" dirty="0"/>
              <a:t>What are </a:t>
            </a:r>
            <a:r>
              <a:rPr lang="en-US" sz="4000" b="1" dirty="0"/>
              <a:t>debuggers</a:t>
            </a:r>
            <a:r>
              <a:rPr lang="en-US" sz="4000" dirty="0"/>
              <a:t>?</a:t>
            </a:r>
          </a:p>
          <a:p>
            <a:pPr>
              <a:defRPr/>
            </a:pPr>
            <a:endParaRPr lang="en-US" sz="4000" dirty="0"/>
          </a:p>
          <a:p>
            <a:pPr marL="742950" indent="-742950">
              <a:buFont typeface="+mj-lt"/>
              <a:buAutoNum type="arabicPeriod" startAt="3"/>
              <a:defRPr/>
            </a:pPr>
            <a:r>
              <a:rPr lang="en-US" sz="4000" dirty="0"/>
              <a:t>How do I use them?</a:t>
            </a: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381000" y="1610535"/>
            <a:ext cx="6477000" cy="762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848496"/>
            <a:ext cx="1143000" cy="11021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600200"/>
            <a:ext cx="1143000" cy="7612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are </a:t>
            </a:r>
            <a:r>
              <a:rPr lang="en-IE" b="1" dirty="0"/>
              <a:t>bugs</a:t>
            </a:r>
            <a:r>
              <a:rPr lang="en-IE" dirty="0"/>
              <a:t>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2245311"/>
            <a:ext cx="8702040" cy="3276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63145"/>
            <a:ext cx="2021299" cy="134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187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Bugs can be frustrating to find/fix</a:t>
            </a:r>
          </a:p>
        </p:txBody>
      </p:sp>
      <p:pic>
        <p:nvPicPr>
          <p:cNvPr id="1026" name="Picture 2" descr="http://4.bp.blogspot.com/_S-KMVo2Jdos/RpxYaaOEUAI/AAAAAAAAAH4/8jN7Uk4i4Ms/s320/frus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905000"/>
            <a:ext cx="4800600" cy="4350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87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  <a:defRPr/>
            </a:pPr>
            <a:r>
              <a:rPr lang="en-US" sz="4000" dirty="0"/>
              <a:t>What are </a:t>
            </a:r>
            <a:r>
              <a:rPr lang="en-US" sz="4000" b="1" dirty="0"/>
              <a:t>bugs</a:t>
            </a:r>
            <a:r>
              <a:rPr lang="en-US" sz="4000" dirty="0"/>
              <a:t>?</a:t>
            </a:r>
          </a:p>
          <a:p>
            <a:pPr>
              <a:defRPr/>
            </a:pPr>
            <a:endParaRPr lang="en-US" sz="4000" dirty="0"/>
          </a:p>
          <a:p>
            <a:pPr marL="742950" indent="-742950">
              <a:buFont typeface="+mj-lt"/>
              <a:buAutoNum type="arabicPeriod" startAt="2"/>
              <a:defRPr/>
            </a:pPr>
            <a:r>
              <a:rPr lang="en-US" sz="4000" dirty="0"/>
              <a:t>What are </a:t>
            </a:r>
            <a:r>
              <a:rPr lang="en-US" sz="4000" b="1" dirty="0"/>
              <a:t>debuggers</a:t>
            </a:r>
            <a:r>
              <a:rPr lang="en-US" sz="4000" dirty="0"/>
              <a:t>?</a:t>
            </a:r>
          </a:p>
          <a:p>
            <a:pPr>
              <a:defRPr/>
            </a:pPr>
            <a:endParaRPr lang="en-US" sz="4000" dirty="0"/>
          </a:p>
          <a:p>
            <a:pPr marL="742950" indent="-742950">
              <a:buFont typeface="+mj-lt"/>
              <a:buAutoNum type="arabicPeriod" startAt="3"/>
              <a:defRPr/>
            </a:pPr>
            <a:r>
              <a:rPr lang="en-US" sz="4000" dirty="0"/>
              <a:t>How do I use them?</a:t>
            </a: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295400" y="3048000"/>
            <a:ext cx="6477000" cy="762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955585"/>
            <a:ext cx="1143000" cy="11021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707289"/>
            <a:ext cx="1143000" cy="7612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8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Help is at hand…debuggers!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sz="4000" dirty="0"/>
              <a:t>A debugger can be </a:t>
            </a:r>
            <a:r>
              <a:rPr lang="en-US" sz="4000" b="1" dirty="0"/>
              <a:t>used to fix bugs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000" dirty="0"/>
              <a:t>	…hence the name debugger!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71564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Debugger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600201"/>
            <a:ext cx="11201400" cy="4525963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debugger</a:t>
            </a:r>
            <a:r>
              <a:rPr lang="en-US" dirty="0"/>
              <a:t> is a software tool that </a:t>
            </a:r>
          </a:p>
          <a:p>
            <a:pPr lvl="1"/>
            <a:r>
              <a:rPr lang="en-US" dirty="0"/>
              <a:t>helps in examining how an application executes</a:t>
            </a:r>
          </a:p>
          <a:p>
            <a:pPr lvl="1"/>
            <a:r>
              <a:rPr lang="en-US" dirty="0"/>
              <a:t>allows programmers execute an application one statement at a time. </a:t>
            </a:r>
          </a:p>
          <a:p>
            <a:pPr lvl="2"/>
            <a:r>
              <a:rPr lang="en-US" b="1" dirty="0"/>
              <a:t>Step, step into, step out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typically provides functions </a:t>
            </a:r>
          </a:p>
          <a:p>
            <a:pPr lvl="2"/>
            <a:r>
              <a:rPr lang="en-US" dirty="0"/>
              <a:t>to stop and start a program at selected points in the source code(</a:t>
            </a:r>
            <a:r>
              <a:rPr lang="en-US" b="1" dirty="0"/>
              <a:t>breakpoints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to examine the values of variables (</a:t>
            </a:r>
            <a:r>
              <a:rPr lang="en-US" b="1" dirty="0"/>
              <a:t>watch, trace</a:t>
            </a:r>
            <a:r>
              <a:rPr lang="en-US" dirty="0"/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95048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9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Debugger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600200"/>
            <a:ext cx="9296400" cy="5105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Debuggers are especially useful when your program contains </a:t>
            </a:r>
            <a:r>
              <a:rPr lang="en-US" dirty="0">
                <a:solidFill>
                  <a:srgbClr val="FF0000"/>
                </a:solidFill>
              </a:rPr>
              <a:t>logical errors</a:t>
            </a:r>
            <a:r>
              <a:rPr lang="en-US" dirty="0"/>
              <a:t>.</a:t>
            </a:r>
          </a:p>
          <a:p>
            <a:pPr lvl="1"/>
            <a:r>
              <a:rPr lang="en-US" sz="2400" dirty="0"/>
              <a:t>i.e. errors that the compiler will not pickup but that lead to incorrect results </a:t>
            </a:r>
          </a:p>
          <a:p>
            <a:pPr lvl="1"/>
            <a:r>
              <a:rPr lang="en-US" sz="2400" dirty="0"/>
              <a:t>e.g. if your syntax is correct but the logic of your problem solution is faulty.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Using the debugger, you can </a:t>
            </a:r>
            <a:r>
              <a:rPr lang="en-US" b="1" dirty="0">
                <a:solidFill>
                  <a:srgbClr val="00B050"/>
                </a:solidFill>
              </a:rPr>
              <a:t>trace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how each of the calculations and changes made to fields/variables happen and hopefully </a:t>
            </a:r>
            <a:r>
              <a:rPr lang="en-US" b="1" dirty="0">
                <a:solidFill>
                  <a:srgbClr val="FF0000"/>
                </a:solidFill>
              </a:rPr>
              <a:t>figure out where the error is occurring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IE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000" t="10407" r="18500" b="9500"/>
          <a:stretch/>
        </p:blipFill>
        <p:spPr>
          <a:xfrm>
            <a:off x="10147177" y="1600200"/>
            <a:ext cx="1524000" cy="1984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855BC3-B111-4B98-BDBF-CB26D11B5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295048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37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  <a:defRPr/>
            </a:pPr>
            <a:r>
              <a:rPr lang="en-US" sz="4000" dirty="0"/>
              <a:t>What are </a:t>
            </a:r>
            <a:r>
              <a:rPr lang="en-US" sz="4000" b="1" dirty="0"/>
              <a:t>bugs</a:t>
            </a:r>
            <a:r>
              <a:rPr lang="en-US" sz="4000" dirty="0"/>
              <a:t>?</a:t>
            </a:r>
          </a:p>
          <a:p>
            <a:pPr>
              <a:defRPr/>
            </a:pPr>
            <a:endParaRPr lang="en-US" sz="4000" dirty="0"/>
          </a:p>
          <a:p>
            <a:pPr marL="742950" indent="-742950">
              <a:buFont typeface="+mj-lt"/>
              <a:buAutoNum type="arabicPeriod" startAt="2"/>
              <a:defRPr/>
            </a:pPr>
            <a:r>
              <a:rPr lang="en-US" sz="4000" dirty="0"/>
              <a:t>What are </a:t>
            </a:r>
            <a:r>
              <a:rPr lang="en-US" sz="4000" b="1" dirty="0"/>
              <a:t>debuggers</a:t>
            </a:r>
            <a:r>
              <a:rPr lang="en-US" sz="4000" dirty="0"/>
              <a:t>?</a:t>
            </a:r>
          </a:p>
          <a:p>
            <a:pPr>
              <a:defRPr/>
            </a:pPr>
            <a:endParaRPr lang="en-US" sz="4000" dirty="0"/>
          </a:p>
          <a:p>
            <a:pPr marL="742950" indent="-742950">
              <a:buFont typeface="+mj-lt"/>
              <a:buAutoNum type="arabicPeriod" startAt="3"/>
              <a:defRPr/>
            </a:pPr>
            <a:r>
              <a:rPr lang="en-US" sz="4000" dirty="0"/>
              <a:t>How do I use them?</a:t>
            </a: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1219200" y="4490619"/>
            <a:ext cx="6477000" cy="762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955585"/>
            <a:ext cx="1143000" cy="11021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707289"/>
            <a:ext cx="1143000" cy="7612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941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Debugger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600201"/>
            <a:ext cx="11049000" cy="4525963"/>
          </a:xfrm>
        </p:spPr>
        <p:txBody>
          <a:bodyPr>
            <a:normAutofit/>
          </a:bodyPr>
          <a:lstStyle/>
          <a:p>
            <a:r>
              <a:rPr lang="en-US" dirty="0"/>
              <a:t>Most IDEs come with a debugger; </a:t>
            </a:r>
            <a:r>
              <a:rPr lang="en-US" dirty="0">
                <a:solidFill>
                  <a:srgbClr val="00B050"/>
                </a:solidFill>
              </a:rPr>
              <a:t>IntelliJ </a:t>
            </a:r>
            <a:r>
              <a:rPr lang="en-US" dirty="0"/>
              <a:t>has one.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are going to use the </a:t>
            </a:r>
            <a:r>
              <a:rPr lang="en-US" dirty="0">
                <a:solidFill>
                  <a:srgbClr val="00B050"/>
                </a:solidFill>
              </a:rPr>
              <a:t>IntelliJ Debugger </a:t>
            </a:r>
            <a:r>
              <a:rPr lang="en-US" dirty="0"/>
              <a:t>to </a:t>
            </a:r>
            <a:r>
              <a:rPr lang="en-US" b="1" dirty="0"/>
              <a:t>step</a:t>
            </a:r>
            <a:r>
              <a:rPr lang="en-US" dirty="0"/>
              <a:t> through the debugging of a small program</a:t>
            </a:r>
          </a:p>
          <a:p>
            <a:endParaRPr lang="en-US" dirty="0"/>
          </a:p>
          <a:p>
            <a:pPr lvl="1"/>
            <a:r>
              <a:rPr lang="en-US" dirty="0"/>
              <a:t>The program iterates over a primitive array of </a:t>
            </a:r>
            <a:r>
              <a:rPr lang="en-US" b="1" i="1" dirty="0" err="1"/>
              <a:t>int</a:t>
            </a:r>
            <a:r>
              <a:rPr lang="en-US" dirty="0"/>
              <a:t> and prints out the largest number in the array.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248437-FEC0-43CA-B98B-F54F7701F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95048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8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5800" y="3431219"/>
            <a:ext cx="2819400" cy="6096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IE" sz="2800" dirty="0"/>
              <a:t>Given this code…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61811-871D-4C21-A8AE-E2228F45AC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34" t="18239"/>
          <a:stretch/>
        </p:blipFill>
        <p:spPr>
          <a:xfrm>
            <a:off x="419100" y="228600"/>
            <a:ext cx="8153400" cy="27462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174671-2557-4CC4-8918-4495FC41B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653" y="2743200"/>
            <a:ext cx="5867400" cy="37504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5B8B72-B39F-464F-A4E7-40F431B555CD}"/>
              </a:ext>
            </a:extLst>
          </p:cNvPr>
          <p:cNvSpPr txBox="1"/>
          <p:nvPr/>
        </p:nvSpPr>
        <p:spPr>
          <a:xfrm>
            <a:off x="685800" y="4114800"/>
            <a:ext cx="4876800" cy="19389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We are expecting this output:</a:t>
            </a:r>
          </a:p>
          <a:p>
            <a:r>
              <a:rPr lang="en-IE" sz="2400" dirty="0"/>
              <a:t>     Largest number is: 5</a:t>
            </a:r>
          </a:p>
          <a:p>
            <a:endParaRPr lang="en-IE" sz="2400" dirty="0"/>
          </a:p>
          <a:p>
            <a:r>
              <a:rPr lang="en-IE" sz="2400" b="1" dirty="0"/>
              <a:t>But we get:</a:t>
            </a:r>
          </a:p>
          <a:p>
            <a:r>
              <a:rPr lang="en-IE" sz="2400" dirty="0"/>
              <a:t>    Largest number is: 2147483647</a:t>
            </a:r>
            <a:endParaRPr lang="en-IE" sz="2400" b="1" dirty="0"/>
          </a:p>
        </p:txBody>
      </p:sp>
    </p:spTree>
    <p:extLst>
      <p:ext uri="{BB962C8B-B14F-4D97-AF65-F5344CB8AC3E}">
        <p14:creationId xmlns:p14="http://schemas.microsoft.com/office/powerpoint/2010/main" val="179318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828800"/>
            <a:ext cx="7772400" cy="2746375"/>
          </a:xfrm>
        </p:spPr>
        <p:txBody>
          <a:bodyPr>
            <a:normAutofit/>
          </a:bodyPr>
          <a:lstStyle/>
          <a:p>
            <a:r>
              <a:rPr lang="en-IE" dirty="0"/>
              <a:t>Let’s debug the code </a:t>
            </a:r>
            <a:br>
              <a:rPr lang="en-IE" dirty="0"/>
            </a:br>
            <a:r>
              <a:rPr lang="en-IE" dirty="0"/>
              <a:t>in </a:t>
            </a:r>
            <a:r>
              <a:rPr lang="en-IE" dirty="0">
                <a:solidFill>
                  <a:srgbClr val="00B050"/>
                </a:solidFill>
              </a:rPr>
              <a:t>IntelliJ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to help us find the error…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EB92F9-8A63-4909-B2AB-78A3D7E4A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95048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34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DB477A-9059-4A63-8AE0-E109EB6BCC8B}"/>
              </a:ext>
            </a:extLst>
          </p:cNvPr>
          <p:cNvSpPr/>
          <p:nvPr/>
        </p:nvSpPr>
        <p:spPr>
          <a:xfrm>
            <a:off x="1981200" y="6019800"/>
            <a:ext cx="8229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Click in the grey margin beside line 7.  This will set up a </a:t>
            </a:r>
            <a:r>
              <a:rPr lang="en-IE" b="1" dirty="0">
                <a:solidFill>
                  <a:srgbClr val="FFFF00"/>
                </a:solidFill>
              </a:rPr>
              <a:t>breakpoint</a:t>
            </a:r>
            <a:r>
              <a:rPr lang="en-IE" dirty="0">
                <a:solidFill>
                  <a:srgbClr val="FFFF00"/>
                </a:solidFill>
              </a:rPr>
              <a:t> </a:t>
            </a:r>
            <a:r>
              <a:rPr lang="en-IE" dirty="0"/>
              <a:t>on this line.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5F646D-C97D-4A7E-84F2-27A26CA9657E}"/>
              </a:ext>
            </a:extLst>
          </p:cNvPr>
          <p:cNvSpPr/>
          <p:nvPr/>
        </p:nvSpPr>
        <p:spPr>
          <a:xfrm>
            <a:off x="1752600" y="5715000"/>
            <a:ext cx="6096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b="1" dirty="0"/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A1FB5B-8C8B-4C96-A24D-9BE81691E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072" y="381000"/>
            <a:ext cx="7945856" cy="51907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Donut 6"/>
          <p:cNvSpPr/>
          <p:nvPr/>
        </p:nvSpPr>
        <p:spPr>
          <a:xfrm>
            <a:off x="3810000" y="1905000"/>
            <a:ext cx="914400" cy="2286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8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DB477A-9059-4A63-8AE0-E109EB6BCC8B}"/>
              </a:ext>
            </a:extLst>
          </p:cNvPr>
          <p:cNvSpPr/>
          <p:nvPr/>
        </p:nvSpPr>
        <p:spPr>
          <a:xfrm>
            <a:off x="1981200" y="6019800"/>
            <a:ext cx="8229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From the Run menu, select </a:t>
            </a:r>
            <a:r>
              <a:rPr lang="en-IE" b="1" dirty="0">
                <a:solidFill>
                  <a:srgbClr val="FFFF00"/>
                </a:solidFill>
              </a:rPr>
              <a:t>Debug</a:t>
            </a:r>
            <a:r>
              <a:rPr lang="en-IE" dirty="0">
                <a:solidFill>
                  <a:srgbClr val="FFFF00"/>
                </a:solidFill>
              </a:rPr>
              <a:t> </a:t>
            </a:r>
            <a:r>
              <a:rPr lang="en-IE" dirty="0"/>
              <a:t>‘Driver’.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5F646D-C97D-4A7E-84F2-27A26CA9657E}"/>
              </a:ext>
            </a:extLst>
          </p:cNvPr>
          <p:cNvSpPr/>
          <p:nvPr/>
        </p:nvSpPr>
        <p:spPr>
          <a:xfrm>
            <a:off x="1752600" y="5715000"/>
            <a:ext cx="6096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b="1" dirty="0"/>
              <a:t>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EE66A1-F84F-4065-AC75-0601905AD4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78" r="34166" b="50000"/>
          <a:stretch/>
        </p:blipFill>
        <p:spPr>
          <a:xfrm>
            <a:off x="1824736" y="762000"/>
            <a:ext cx="8668512" cy="3886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Donut 7"/>
          <p:cNvSpPr/>
          <p:nvPr/>
        </p:nvSpPr>
        <p:spPr>
          <a:xfrm>
            <a:off x="4876800" y="1219200"/>
            <a:ext cx="1600200" cy="2286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6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7C769-501B-4485-BBE1-B508949D7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038026"/>
            <a:ext cx="5942200" cy="429597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478260-D3CA-4A99-B6AA-713589AB3AD9}"/>
              </a:ext>
            </a:extLst>
          </p:cNvPr>
          <p:cNvSpPr/>
          <p:nvPr/>
        </p:nvSpPr>
        <p:spPr>
          <a:xfrm>
            <a:off x="1981200" y="6019800"/>
            <a:ext cx="8229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If this window appears, click on “Allow access”.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095816-8318-4B87-A3C5-9EAC718F6B05}"/>
              </a:ext>
            </a:extLst>
          </p:cNvPr>
          <p:cNvSpPr/>
          <p:nvPr/>
        </p:nvSpPr>
        <p:spPr>
          <a:xfrm>
            <a:off x="1752600" y="5715000"/>
            <a:ext cx="6096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b="1" dirty="0"/>
              <a:t>3</a:t>
            </a:r>
          </a:p>
        </p:txBody>
      </p:sp>
      <p:sp>
        <p:nvSpPr>
          <p:cNvPr id="5" name="Donut 4"/>
          <p:cNvSpPr/>
          <p:nvPr/>
        </p:nvSpPr>
        <p:spPr>
          <a:xfrm>
            <a:off x="6553200" y="4876800"/>
            <a:ext cx="1600200" cy="4572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74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858545-0C45-492D-9814-2DEA334E2625}"/>
              </a:ext>
            </a:extLst>
          </p:cNvPr>
          <p:cNvSpPr/>
          <p:nvPr/>
        </p:nvSpPr>
        <p:spPr>
          <a:xfrm>
            <a:off x="1981200" y="6019800"/>
            <a:ext cx="8229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You are now in Debug mode…the program has stopped just before executing line 7.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E673F1-6382-4995-B560-68C99CF2C4EC}"/>
              </a:ext>
            </a:extLst>
          </p:cNvPr>
          <p:cNvSpPr/>
          <p:nvPr/>
        </p:nvSpPr>
        <p:spPr>
          <a:xfrm>
            <a:off x="1752600" y="5715000"/>
            <a:ext cx="6096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b="1" dirty="0"/>
              <a:t>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C03290-857A-4C90-BD4F-40C89B882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51948"/>
            <a:ext cx="8129325" cy="5310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Donut 5"/>
          <p:cNvSpPr/>
          <p:nvPr/>
        </p:nvSpPr>
        <p:spPr>
          <a:xfrm>
            <a:off x="3657600" y="1828800"/>
            <a:ext cx="914400" cy="2286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79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969800-8FFF-423D-8345-3AE97B8E5BC6}"/>
              </a:ext>
            </a:extLst>
          </p:cNvPr>
          <p:cNvSpPr/>
          <p:nvPr/>
        </p:nvSpPr>
        <p:spPr>
          <a:xfrm>
            <a:off x="1981200" y="6019800"/>
            <a:ext cx="8229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‘</a:t>
            </a:r>
            <a:r>
              <a:rPr lang="en-IE" b="1" dirty="0">
                <a:solidFill>
                  <a:srgbClr val="FFFF00"/>
                </a:solidFill>
              </a:rPr>
              <a:t>Step Into</a:t>
            </a:r>
            <a:r>
              <a:rPr lang="en-IE" dirty="0"/>
              <a:t>’ the </a:t>
            </a:r>
            <a:r>
              <a:rPr lang="en-IE" dirty="0" err="1"/>
              <a:t>findLargest</a:t>
            </a:r>
            <a:r>
              <a:rPr lang="en-IE" dirty="0"/>
              <a:t> method…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814ADA0-B846-432D-BFF7-3FA5CBD0924F}"/>
              </a:ext>
            </a:extLst>
          </p:cNvPr>
          <p:cNvSpPr/>
          <p:nvPr/>
        </p:nvSpPr>
        <p:spPr>
          <a:xfrm>
            <a:off x="1752600" y="5715000"/>
            <a:ext cx="6096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b="1" dirty="0"/>
              <a:t>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FD1EC5-AA9C-4D71-B67B-A9948AF9C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51948"/>
            <a:ext cx="8129325" cy="5310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Donut 4"/>
          <p:cNvSpPr/>
          <p:nvPr/>
        </p:nvSpPr>
        <p:spPr>
          <a:xfrm>
            <a:off x="3886200" y="3352800"/>
            <a:ext cx="304800" cy="3048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18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6C5193-0F89-48D9-B5E5-7CBC3E83E2D9}"/>
              </a:ext>
            </a:extLst>
          </p:cNvPr>
          <p:cNvSpPr/>
          <p:nvPr/>
        </p:nvSpPr>
        <p:spPr>
          <a:xfrm>
            <a:off x="1981200" y="6019800"/>
            <a:ext cx="8229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Now that we are in the </a:t>
            </a:r>
            <a:r>
              <a:rPr lang="en-IE" dirty="0" err="1">
                <a:solidFill>
                  <a:srgbClr val="FFC000"/>
                </a:solidFill>
              </a:rPr>
              <a:t>findLargest</a:t>
            </a:r>
            <a:r>
              <a:rPr lang="en-IE" dirty="0"/>
              <a:t> method, we want to execute each line while monitoring the value of </a:t>
            </a:r>
            <a:r>
              <a:rPr lang="en-IE" dirty="0">
                <a:solidFill>
                  <a:srgbClr val="FFC000"/>
                </a:solidFill>
              </a:rPr>
              <a:t>Max</a:t>
            </a:r>
            <a:r>
              <a:rPr lang="en-IE" dirty="0"/>
              <a:t>.  This should help us locate the error…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3F88E7-787E-4DDC-8250-F9AA021B08DE}"/>
              </a:ext>
            </a:extLst>
          </p:cNvPr>
          <p:cNvSpPr/>
          <p:nvPr/>
        </p:nvSpPr>
        <p:spPr>
          <a:xfrm>
            <a:off x="1752600" y="5715000"/>
            <a:ext cx="6096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b="1" dirty="0"/>
              <a:t>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11CE3E-8778-4D86-B454-71886DE06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04800"/>
            <a:ext cx="8077200" cy="5276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7661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6C5193-0F89-48D9-B5E5-7CBC3E83E2D9}"/>
              </a:ext>
            </a:extLst>
          </p:cNvPr>
          <p:cNvSpPr/>
          <p:nvPr/>
        </p:nvSpPr>
        <p:spPr>
          <a:xfrm>
            <a:off x="1981200" y="6019800"/>
            <a:ext cx="8229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FFFF00"/>
                </a:solidFill>
              </a:rPr>
              <a:t>‘Step Into’ </a:t>
            </a:r>
            <a:r>
              <a:rPr lang="en-IE" dirty="0">
                <a:solidFill>
                  <a:schemeClr val="bg1"/>
                </a:solidFill>
              </a:rPr>
              <a:t>again </a:t>
            </a:r>
            <a:r>
              <a:rPr lang="en-IE" dirty="0">
                <a:sym typeface="Wingdings" panose="05000000000000000000" pitchFamily="2" charset="2"/>
              </a:rPr>
              <a:t> </a:t>
            </a:r>
            <a:r>
              <a:rPr lang="en-IE" dirty="0"/>
              <a:t>execution now stopped on line 6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3F88E7-787E-4DDC-8250-F9AA021B08DE}"/>
              </a:ext>
            </a:extLst>
          </p:cNvPr>
          <p:cNvSpPr/>
          <p:nvPr/>
        </p:nvSpPr>
        <p:spPr>
          <a:xfrm>
            <a:off x="1752600" y="5715000"/>
            <a:ext cx="6096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b="1" dirty="0"/>
              <a:t>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2DA334-A609-49C7-98BB-FA885C3C3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42761"/>
            <a:ext cx="8143388" cy="53198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Donut 5"/>
          <p:cNvSpPr/>
          <p:nvPr/>
        </p:nvSpPr>
        <p:spPr>
          <a:xfrm>
            <a:off x="3581400" y="1676400"/>
            <a:ext cx="914400" cy="2286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Donut 4">
            <a:extLst>
              <a:ext uri="{FF2B5EF4-FFF2-40B4-BE49-F238E27FC236}">
                <a16:creationId xmlns:a16="http://schemas.microsoft.com/office/drawing/2014/main" id="{8BCC8B18-E59C-4891-91FC-605A7690D52B}"/>
              </a:ext>
            </a:extLst>
          </p:cNvPr>
          <p:cNvSpPr/>
          <p:nvPr/>
        </p:nvSpPr>
        <p:spPr>
          <a:xfrm>
            <a:off x="3886200" y="3352800"/>
            <a:ext cx="304800" cy="3048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6C5193-0F89-48D9-B5E5-7CBC3E83E2D9}"/>
              </a:ext>
            </a:extLst>
          </p:cNvPr>
          <p:cNvSpPr/>
          <p:nvPr/>
        </p:nvSpPr>
        <p:spPr>
          <a:xfrm>
            <a:off x="1981200" y="6019800"/>
            <a:ext cx="8229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FFFF00"/>
                </a:solidFill>
              </a:rPr>
              <a:t>Step Into</a:t>
            </a:r>
            <a:r>
              <a:rPr lang="en-IE" b="1" dirty="0"/>
              <a:t> </a:t>
            </a:r>
            <a:r>
              <a:rPr lang="en-IE" dirty="0">
                <a:sym typeface="Wingdings" panose="05000000000000000000" pitchFamily="2" charset="2"/>
              </a:rPr>
              <a:t> </a:t>
            </a:r>
            <a:r>
              <a:rPr lang="en-IE" dirty="0"/>
              <a:t>execution now stopped on line 8…note the value of </a:t>
            </a:r>
            <a:r>
              <a:rPr lang="en-IE" b="1" dirty="0">
                <a:solidFill>
                  <a:srgbClr val="FFC000"/>
                </a:solidFill>
              </a:rPr>
              <a:t>max</a:t>
            </a:r>
            <a:r>
              <a:rPr lang="en-IE" b="1" dirty="0"/>
              <a:t>.</a:t>
            </a:r>
            <a:r>
              <a:rPr lang="en-IE" dirty="0"/>
              <a:t>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3F88E7-787E-4DDC-8250-F9AA021B08DE}"/>
              </a:ext>
            </a:extLst>
          </p:cNvPr>
          <p:cNvSpPr/>
          <p:nvPr/>
        </p:nvSpPr>
        <p:spPr>
          <a:xfrm>
            <a:off x="1752600" y="5715000"/>
            <a:ext cx="6096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b="1" dirty="0"/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FC9F43-AE5D-4C50-8A95-141AC332F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52400"/>
            <a:ext cx="8382000" cy="54757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Donut 4"/>
          <p:cNvSpPr/>
          <p:nvPr/>
        </p:nvSpPr>
        <p:spPr>
          <a:xfrm>
            <a:off x="3505200" y="1981200"/>
            <a:ext cx="914400" cy="2286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Donut 4">
            <a:extLst>
              <a:ext uri="{FF2B5EF4-FFF2-40B4-BE49-F238E27FC236}">
                <a16:creationId xmlns:a16="http://schemas.microsoft.com/office/drawing/2014/main" id="{904049DB-1AC5-45C0-900A-207A9566FBE2}"/>
              </a:ext>
            </a:extLst>
          </p:cNvPr>
          <p:cNvSpPr/>
          <p:nvPr/>
        </p:nvSpPr>
        <p:spPr>
          <a:xfrm>
            <a:off x="3886200" y="3352800"/>
            <a:ext cx="304800" cy="3048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24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6C5193-0F89-48D9-B5E5-7CBC3E83E2D9}"/>
              </a:ext>
            </a:extLst>
          </p:cNvPr>
          <p:cNvSpPr/>
          <p:nvPr/>
        </p:nvSpPr>
        <p:spPr>
          <a:xfrm>
            <a:off x="1981200" y="6019800"/>
            <a:ext cx="8229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FFFF00"/>
                </a:solidFill>
              </a:rPr>
              <a:t>Step Into</a:t>
            </a:r>
            <a:r>
              <a:rPr lang="en-IE" dirty="0"/>
              <a:t> </a:t>
            </a:r>
            <a:r>
              <a:rPr lang="en-IE" dirty="0">
                <a:sym typeface="Wingdings" panose="05000000000000000000" pitchFamily="2" charset="2"/>
              </a:rPr>
              <a:t> </a:t>
            </a:r>
            <a:r>
              <a:rPr lang="en-IE" dirty="0"/>
              <a:t>execution now stopped on line 9…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3F88E7-787E-4DDC-8250-F9AA021B08DE}"/>
              </a:ext>
            </a:extLst>
          </p:cNvPr>
          <p:cNvSpPr/>
          <p:nvPr/>
        </p:nvSpPr>
        <p:spPr>
          <a:xfrm>
            <a:off x="1752600" y="5715000"/>
            <a:ext cx="6096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b="1" dirty="0"/>
              <a:t>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9AB55B-9EC7-42E9-96F1-247F214E4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2641"/>
            <a:ext cx="8229600" cy="5376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Donut 5"/>
          <p:cNvSpPr/>
          <p:nvPr/>
        </p:nvSpPr>
        <p:spPr>
          <a:xfrm>
            <a:off x="3505200" y="2209800"/>
            <a:ext cx="914400" cy="2286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Donut 4">
            <a:extLst>
              <a:ext uri="{FF2B5EF4-FFF2-40B4-BE49-F238E27FC236}">
                <a16:creationId xmlns:a16="http://schemas.microsoft.com/office/drawing/2014/main" id="{D05B824C-A4E1-4FF4-BD94-DF9A0B76C9EE}"/>
              </a:ext>
            </a:extLst>
          </p:cNvPr>
          <p:cNvSpPr/>
          <p:nvPr/>
        </p:nvSpPr>
        <p:spPr>
          <a:xfrm>
            <a:off x="3886200" y="3352800"/>
            <a:ext cx="304800" cy="3048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26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6C5193-0F89-48D9-B5E5-7CBC3E83E2D9}"/>
              </a:ext>
            </a:extLst>
          </p:cNvPr>
          <p:cNvSpPr/>
          <p:nvPr/>
        </p:nvSpPr>
        <p:spPr>
          <a:xfrm>
            <a:off x="1981200" y="6019800"/>
            <a:ext cx="82296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FFFF00"/>
                </a:solidFill>
              </a:rPr>
              <a:t>Step Into</a:t>
            </a:r>
            <a:r>
              <a:rPr lang="en-IE" dirty="0"/>
              <a:t> </a:t>
            </a:r>
            <a:r>
              <a:rPr lang="en-IE" dirty="0">
                <a:sym typeface="Wingdings" panose="05000000000000000000" pitchFamily="2" charset="2"/>
              </a:rPr>
              <a:t> </a:t>
            </a:r>
            <a:r>
              <a:rPr lang="en-IE" dirty="0"/>
              <a:t>execution now stopped back on line 8…</a:t>
            </a:r>
            <a:br>
              <a:rPr lang="en-IE" dirty="0"/>
            </a:br>
            <a:r>
              <a:rPr lang="en-IE" dirty="0"/>
              <a:t>can you see the problem?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3F88E7-787E-4DDC-8250-F9AA021B08DE}"/>
              </a:ext>
            </a:extLst>
          </p:cNvPr>
          <p:cNvSpPr/>
          <p:nvPr/>
        </p:nvSpPr>
        <p:spPr>
          <a:xfrm>
            <a:off x="1752600" y="5715000"/>
            <a:ext cx="6096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b="1" dirty="0"/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9F0B78-9176-4887-9307-3CBDD40AB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372" y="152400"/>
            <a:ext cx="8354428" cy="54577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Donut 4"/>
          <p:cNvSpPr/>
          <p:nvPr/>
        </p:nvSpPr>
        <p:spPr>
          <a:xfrm flipV="1">
            <a:off x="3505200" y="1905000"/>
            <a:ext cx="990600" cy="3048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Donut 4">
            <a:extLst>
              <a:ext uri="{FF2B5EF4-FFF2-40B4-BE49-F238E27FC236}">
                <a16:creationId xmlns:a16="http://schemas.microsoft.com/office/drawing/2014/main" id="{8FAF07A2-E15D-49E2-B7FC-734A5FFE02D1}"/>
              </a:ext>
            </a:extLst>
          </p:cNvPr>
          <p:cNvSpPr/>
          <p:nvPr/>
        </p:nvSpPr>
        <p:spPr>
          <a:xfrm>
            <a:off x="3886200" y="3352800"/>
            <a:ext cx="304800" cy="3048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62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1EBA3F-F3AD-4D81-AF01-83FE24697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372" y="152400"/>
            <a:ext cx="8354428" cy="54577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BE20183A-8901-42F0-B822-8CE4CB790B41}"/>
              </a:ext>
            </a:extLst>
          </p:cNvPr>
          <p:cNvSpPr/>
          <p:nvPr/>
        </p:nvSpPr>
        <p:spPr>
          <a:xfrm>
            <a:off x="5715000" y="4000500"/>
            <a:ext cx="3352800" cy="1600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Max is set to the maximum possible value an </a:t>
            </a:r>
            <a:r>
              <a:rPr lang="en-IE" dirty="0" err="1"/>
              <a:t>int</a:t>
            </a:r>
            <a:r>
              <a:rPr lang="en-IE" dirty="0"/>
              <a:t> can be.</a:t>
            </a:r>
          </a:p>
        </p:txBody>
      </p:sp>
      <p:sp>
        <p:nvSpPr>
          <p:cNvPr id="5" name="Donut 4"/>
          <p:cNvSpPr/>
          <p:nvPr/>
        </p:nvSpPr>
        <p:spPr>
          <a:xfrm>
            <a:off x="3886200" y="4648200"/>
            <a:ext cx="1676400" cy="3048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38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8B2935-3826-4212-8FC1-BEC5B97BF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76200"/>
            <a:ext cx="8354428" cy="54577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BE20183A-8901-42F0-B822-8CE4CB790B41}"/>
              </a:ext>
            </a:extLst>
          </p:cNvPr>
          <p:cNvSpPr/>
          <p:nvPr/>
        </p:nvSpPr>
        <p:spPr>
          <a:xfrm>
            <a:off x="5334000" y="3459332"/>
            <a:ext cx="3352800" cy="1600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No value in the list will be greater than this max value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4E1265-F113-497D-AEE9-1C5F1670B810}"/>
              </a:ext>
            </a:extLst>
          </p:cNvPr>
          <p:cNvSpPr/>
          <p:nvPr/>
        </p:nvSpPr>
        <p:spPr>
          <a:xfrm>
            <a:off x="4596314" y="2057400"/>
            <a:ext cx="2033086" cy="152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9B16FD-CF0F-477F-8265-3E518DBA121A}"/>
              </a:ext>
            </a:extLst>
          </p:cNvPr>
          <p:cNvSpPr/>
          <p:nvPr/>
        </p:nvSpPr>
        <p:spPr>
          <a:xfrm>
            <a:off x="3733800" y="3695700"/>
            <a:ext cx="1371600" cy="8763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94062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EF0686-32D8-4A80-BFF5-6E448F2A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76200"/>
            <a:ext cx="8354428" cy="54577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BE20183A-8901-42F0-B822-8CE4CB790B41}"/>
              </a:ext>
            </a:extLst>
          </p:cNvPr>
          <p:cNvSpPr/>
          <p:nvPr/>
        </p:nvSpPr>
        <p:spPr>
          <a:xfrm>
            <a:off x="7620000" y="552450"/>
            <a:ext cx="3379694" cy="2171700"/>
          </a:xfrm>
          <a:prstGeom prst="leftArrow">
            <a:avLst>
              <a:gd name="adj1" fmla="val 50000"/>
              <a:gd name="adj2" fmla="val 605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dirty="0"/>
              <a:t>This is the </a:t>
            </a:r>
            <a:r>
              <a:rPr lang="en-IE" dirty="0">
                <a:solidFill>
                  <a:srgbClr val="FFFF00"/>
                </a:solidFill>
              </a:rPr>
              <a:t>bug</a:t>
            </a:r>
            <a:r>
              <a:rPr lang="en-IE" dirty="0"/>
              <a:t>…</a:t>
            </a:r>
            <a:br>
              <a:rPr lang="en-IE" dirty="0"/>
            </a:br>
            <a:r>
              <a:rPr lang="en-IE" dirty="0"/>
              <a:t>we should have set </a:t>
            </a:r>
            <a:br>
              <a:rPr lang="en-IE" dirty="0"/>
            </a:br>
            <a:r>
              <a:rPr lang="en-IE" dirty="0"/>
              <a:t>the max value </a:t>
            </a:r>
            <a:br>
              <a:rPr lang="en-IE" dirty="0"/>
            </a:br>
            <a:r>
              <a:rPr lang="en-IE" dirty="0"/>
              <a:t>to the first value in the list.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4E1265-F113-497D-AEE9-1C5F1670B810}"/>
              </a:ext>
            </a:extLst>
          </p:cNvPr>
          <p:cNvSpPr/>
          <p:nvPr/>
        </p:nvSpPr>
        <p:spPr>
          <a:xfrm>
            <a:off x="4419600" y="1524000"/>
            <a:ext cx="1966942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46155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Fixing the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  <a:p>
            <a:r>
              <a:rPr lang="en-IE" dirty="0"/>
              <a:t>Instead of the line of code:</a:t>
            </a:r>
          </a:p>
          <a:p>
            <a:pPr marL="400050" lvl="1" indent="0">
              <a:buNone/>
            </a:pPr>
            <a:r>
              <a:rPr lang="en-IE" b="1" dirty="0">
                <a:solidFill>
                  <a:srgbClr val="FF0000"/>
                </a:solidFill>
              </a:rPr>
              <a:t>			int max = </a:t>
            </a:r>
            <a:r>
              <a:rPr lang="en-IE" b="1" dirty="0" err="1">
                <a:solidFill>
                  <a:srgbClr val="FF0000"/>
                </a:solidFill>
              </a:rPr>
              <a:t>Integer.MAX_VALUE</a:t>
            </a:r>
            <a:r>
              <a:rPr lang="en-IE" b="1" dirty="0">
                <a:solidFill>
                  <a:srgbClr val="FF0000"/>
                </a:solidFill>
              </a:rPr>
              <a:t>;</a:t>
            </a:r>
          </a:p>
          <a:p>
            <a:endParaRPr lang="en-IE" dirty="0"/>
          </a:p>
          <a:p>
            <a:r>
              <a:rPr lang="en-IE" dirty="0"/>
              <a:t>We need:</a:t>
            </a:r>
          </a:p>
          <a:p>
            <a:pPr marL="400050" lvl="1" indent="0">
              <a:buNone/>
            </a:pPr>
            <a:r>
              <a:rPr lang="en-IE" b="1" dirty="0">
                <a:solidFill>
                  <a:srgbClr val="FF0000"/>
                </a:solidFill>
              </a:rPr>
              <a:t>			int max = list[0];</a:t>
            </a:r>
          </a:p>
        </p:txBody>
      </p:sp>
    </p:spTree>
    <p:extLst>
      <p:ext uri="{BB962C8B-B14F-4D97-AF65-F5344CB8AC3E}">
        <p14:creationId xmlns:p14="http://schemas.microsoft.com/office/powerpoint/2010/main" val="85375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CE5E91-F3DF-436F-B34E-C3F5FD229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814" y="2266233"/>
            <a:ext cx="7239000" cy="41098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CFF2AF9-F7E5-4E32-8DF1-CE259DA84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066801"/>
            <a:ext cx="7772400" cy="1470025"/>
          </a:xfrm>
        </p:spPr>
        <p:txBody>
          <a:bodyPr/>
          <a:lstStyle/>
          <a:p>
            <a:r>
              <a:rPr lang="en-IE" dirty="0"/>
              <a:t>Some </a:t>
            </a:r>
            <a:r>
              <a:rPr lang="en-IE" dirty="0">
                <a:solidFill>
                  <a:srgbClr val="00B050"/>
                </a:solidFill>
              </a:rPr>
              <a:t>IntelliJ</a:t>
            </a:r>
            <a:r>
              <a:rPr lang="en-IE" dirty="0"/>
              <a:t> </a:t>
            </a:r>
            <a:r>
              <a:rPr lang="en-IE" dirty="0">
                <a:solidFill>
                  <a:srgbClr val="00B050"/>
                </a:solidFill>
              </a:rPr>
              <a:t>debugger</a:t>
            </a:r>
            <a:r>
              <a:rPr lang="en-IE" dirty="0"/>
              <a:t> buttons…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C9D2D9-7D09-45FB-94FD-47109FAC0243}"/>
              </a:ext>
            </a:extLst>
          </p:cNvPr>
          <p:cNvSpPr/>
          <p:nvPr/>
        </p:nvSpPr>
        <p:spPr>
          <a:xfrm>
            <a:off x="1981200" y="2666999"/>
            <a:ext cx="609600" cy="312419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E6CB4A-879F-4DC3-A076-CE520872913B}"/>
              </a:ext>
            </a:extLst>
          </p:cNvPr>
          <p:cNvSpPr/>
          <p:nvPr/>
        </p:nvSpPr>
        <p:spPr>
          <a:xfrm>
            <a:off x="4913050" y="2536826"/>
            <a:ext cx="3505200" cy="5873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28600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3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Some Debugger buttons…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24740"/>
            <a:ext cx="8534400" cy="4525963"/>
          </a:xfrm>
        </p:spPr>
        <p:txBody>
          <a:bodyPr>
            <a:noAutofit/>
          </a:bodyPr>
          <a:lstStyle/>
          <a:p>
            <a:r>
              <a:rPr lang="en-IE" sz="2800" b="1" dirty="0"/>
              <a:t>Step Over </a:t>
            </a:r>
            <a:br>
              <a:rPr lang="en-IE" sz="2800" b="1" dirty="0"/>
            </a:br>
            <a:br>
              <a:rPr lang="en-IE" sz="2800" b="1" dirty="0"/>
            </a:br>
            <a:r>
              <a:rPr lang="en-IE" sz="2800" dirty="0"/>
              <a:t>to step over the next method call (without entering it) at the currently executing line of code.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AF62F9A-936A-4B5E-A3C8-84D76071F943}"/>
              </a:ext>
            </a:extLst>
          </p:cNvPr>
          <p:cNvSpPr/>
          <p:nvPr/>
        </p:nvSpPr>
        <p:spPr>
          <a:xfrm>
            <a:off x="3886200" y="3429000"/>
            <a:ext cx="533400" cy="13716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AD1A07-C71B-4768-BDB4-0DFD283088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63" t="9751" r="6653" b="80979"/>
          <a:stretch/>
        </p:blipFill>
        <p:spPr>
          <a:xfrm>
            <a:off x="3124200" y="4979589"/>
            <a:ext cx="5675469" cy="556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3663EE-AD4B-42DD-BB80-428D5C099A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217" t="9751" r="47017" b="80979"/>
          <a:stretch/>
        </p:blipFill>
        <p:spPr>
          <a:xfrm>
            <a:off x="4114800" y="1624740"/>
            <a:ext cx="609600" cy="556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E306BA-418D-4E89-83AC-9AE7B54C0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28600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03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Some Debugger buttons…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E" sz="2800" b="1" dirty="0"/>
              <a:t>Step Into</a:t>
            </a:r>
            <a:br>
              <a:rPr lang="en-IE" sz="2800" b="1" dirty="0"/>
            </a:br>
            <a:br>
              <a:rPr lang="en-IE" sz="2800" b="1" dirty="0"/>
            </a:br>
            <a:r>
              <a:rPr lang="en-IE" sz="2800" dirty="0"/>
              <a:t>step into the next method call at the currently executing line of code.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AF62F9A-936A-4B5E-A3C8-84D76071F943}"/>
              </a:ext>
            </a:extLst>
          </p:cNvPr>
          <p:cNvSpPr/>
          <p:nvPr/>
        </p:nvSpPr>
        <p:spPr>
          <a:xfrm>
            <a:off x="4572000" y="3344700"/>
            <a:ext cx="533400" cy="1456765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91E551-86F2-41AA-B118-AD7D95C261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63" t="9751" r="6653" b="80979"/>
          <a:stretch/>
        </p:blipFill>
        <p:spPr>
          <a:xfrm>
            <a:off x="3124200" y="4979589"/>
            <a:ext cx="5675469" cy="556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131787-611B-4449-BBBB-4E49E16A5F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84" t="9751" r="41250" b="80979"/>
          <a:stretch/>
        </p:blipFill>
        <p:spPr>
          <a:xfrm>
            <a:off x="2819400" y="1632752"/>
            <a:ext cx="609600" cy="556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120D9A-4794-401D-9084-DF4C0015D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28600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62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Some Debugger buttons…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E" sz="2800" b="1" dirty="0"/>
              <a:t>Step Out </a:t>
            </a:r>
            <a:br>
              <a:rPr lang="en-IE" sz="2800" dirty="0"/>
            </a:br>
            <a:br>
              <a:rPr lang="en-IE" sz="2800" dirty="0"/>
            </a:br>
            <a:r>
              <a:rPr lang="en-IE" sz="2800" dirty="0"/>
              <a:t>executes the remaining lines of a method in which the current execution point lies. </a:t>
            </a:r>
            <a:br>
              <a:rPr lang="en-IE" sz="2800" dirty="0"/>
            </a:br>
            <a:br>
              <a:rPr lang="en-IE" sz="2800" dirty="0"/>
            </a:br>
            <a:r>
              <a:rPr lang="en-IE" sz="2800" dirty="0"/>
              <a:t>The next statement displayed is the statement following the method call.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AF62F9A-936A-4B5E-A3C8-84D76071F943}"/>
              </a:ext>
            </a:extLst>
          </p:cNvPr>
          <p:cNvSpPr/>
          <p:nvPr/>
        </p:nvSpPr>
        <p:spPr>
          <a:xfrm>
            <a:off x="5314234" y="4191000"/>
            <a:ext cx="533400" cy="1482445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A213D8-A820-43FC-808D-EDB788DD25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663" t="9751" r="6653" b="80979"/>
          <a:stretch/>
        </p:blipFill>
        <p:spPr>
          <a:xfrm>
            <a:off x="2743199" y="5796104"/>
            <a:ext cx="5675469" cy="556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D7D2A5-F616-4BA6-B192-1501A64024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169" t="9751" r="30065" b="80979"/>
          <a:stretch/>
        </p:blipFill>
        <p:spPr>
          <a:xfrm>
            <a:off x="2740980" y="1600201"/>
            <a:ext cx="609600" cy="556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1315E1-A26B-4E62-8BFE-FED1A6BF5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28600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921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Some Debugger buttons…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752601"/>
            <a:ext cx="5867400" cy="3763963"/>
          </a:xfrm>
        </p:spPr>
        <p:txBody>
          <a:bodyPr>
            <a:noAutofit/>
          </a:bodyPr>
          <a:lstStyle/>
          <a:p>
            <a:endParaRPr lang="en-IE" sz="2800" b="1" dirty="0"/>
          </a:p>
          <a:p>
            <a:r>
              <a:rPr lang="en-IE" sz="2800" b="1" dirty="0"/>
              <a:t>Resume Program</a:t>
            </a:r>
            <a:r>
              <a:rPr lang="en-IE" sz="2800" dirty="0"/>
              <a:t> </a:t>
            </a:r>
            <a:br>
              <a:rPr lang="en-IE" sz="2800" dirty="0"/>
            </a:br>
            <a:br>
              <a:rPr lang="en-IE" sz="2800" dirty="0"/>
            </a:br>
            <a:r>
              <a:rPr lang="en-IE" sz="2800" dirty="0"/>
              <a:t>resume the execution of the currently suspended program; it will stop again at the next available breakpoint (if any).</a:t>
            </a:r>
            <a:endParaRPr lang="en-IE" sz="2800" b="1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AF62F9A-936A-4B5E-A3C8-84D76071F943}"/>
              </a:ext>
            </a:extLst>
          </p:cNvPr>
          <p:cNvSpPr/>
          <p:nvPr/>
        </p:nvSpPr>
        <p:spPr>
          <a:xfrm rot="16200000">
            <a:off x="8643891" y="2362200"/>
            <a:ext cx="533400" cy="8382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EDF684-0EA0-4DD2-A8C0-1D0AC5C716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37" t="9751" r="94022" b="10524"/>
          <a:stretch/>
        </p:blipFill>
        <p:spPr>
          <a:xfrm>
            <a:off x="9359283" y="1828800"/>
            <a:ext cx="622917" cy="44642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64AA6B-3E09-4B73-9BE7-BA364BD737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02" t="21998" r="94795" b="67115"/>
          <a:stretch/>
        </p:blipFill>
        <p:spPr>
          <a:xfrm>
            <a:off x="4648200" y="2286000"/>
            <a:ext cx="533400" cy="60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DF9FD5-D42E-462E-B2D6-396BB3685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28600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38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Some Debugger buttons…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332038"/>
            <a:ext cx="6019800" cy="3763963"/>
          </a:xfrm>
        </p:spPr>
        <p:txBody>
          <a:bodyPr>
            <a:noAutofit/>
          </a:bodyPr>
          <a:lstStyle/>
          <a:p>
            <a:endParaRPr lang="en-IE" sz="2800" b="1" dirty="0"/>
          </a:p>
          <a:p>
            <a:r>
              <a:rPr lang="en-IE" sz="2800" b="1" dirty="0"/>
              <a:t>Terminate</a:t>
            </a:r>
            <a:r>
              <a:rPr lang="en-IE" sz="2800" dirty="0"/>
              <a:t> </a:t>
            </a:r>
            <a:br>
              <a:rPr lang="en-IE" sz="2800" dirty="0"/>
            </a:br>
            <a:br>
              <a:rPr lang="en-IE" sz="2800" dirty="0"/>
            </a:br>
            <a:r>
              <a:rPr lang="en-IE" sz="2800" dirty="0"/>
              <a:t>to terminate the launch associated with the selected debug target </a:t>
            </a:r>
            <a:br>
              <a:rPr lang="en-IE" sz="2800" dirty="0"/>
            </a:br>
            <a:r>
              <a:rPr lang="en-IE" sz="2800" dirty="0"/>
              <a:t>i.e. </a:t>
            </a:r>
            <a:r>
              <a:rPr lang="en-IE" sz="2800" b="1" dirty="0"/>
              <a:t>stop</a:t>
            </a:r>
            <a:r>
              <a:rPr lang="en-IE" sz="2800" dirty="0"/>
              <a:t> the program.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AF62F9A-936A-4B5E-A3C8-84D76071F943}"/>
              </a:ext>
            </a:extLst>
          </p:cNvPr>
          <p:cNvSpPr/>
          <p:nvPr/>
        </p:nvSpPr>
        <p:spPr>
          <a:xfrm rot="16200000">
            <a:off x="8469297" y="3528219"/>
            <a:ext cx="533400" cy="8382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855291-BE44-4C42-9AE9-FB69D60D21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00" t="40399" r="9300" b="45975"/>
          <a:stretch/>
        </p:blipFill>
        <p:spPr>
          <a:xfrm>
            <a:off x="4876800" y="2895600"/>
            <a:ext cx="457200" cy="53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95EDAF-E532-4DE8-BDFE-152CAD83CC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37" t="9751" r="94022" b="10524"/>
          <a:stretch/>
        </p:blipFill>
        <p:spPr>
          <a:xfrm>
            <a:off x="9359283" y="1828800"/>
            <a:ext cx="622917" cy="44642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158CC7-266D-4FE2-A17C-0668FBADD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28600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890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Some Debugger buttons…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5867400" cy="3657600"/>
          </a:xfrm>
        </p:spPr>
        <p:txBody>
          <a:bodyPr>
            <a:noAutofit/>
          </a:bodyPr>
          <a:lstStyle/>
          <a:p>
            <a:endParaRPr lang="en-IE" sz="2800" b="1" dirty="0"/>
          </a:p>
          <a:p>
            <a:r>
              <a:rPr lang="en-IE" sz="2800" b="1" dirty="0"/>
              <a:t>Show breakpoints</a:t>
            </a:r>
            <a:r>
              <a:rPr lang="en-IE" sz="2800" dirty="0"/>
              <a:t> </a:t>
            </a:r>
            <a:br>
              <a:rPr lang="en-IE" sz="2800" dirty="0"/>
            </a:br>
            <a:br>
              <a:rPr lang="en-IE" sz="2800" dirty="0"/>
            </a:br>
            <a:r>
              <a:rPr lang="en-IE" sz="2800" dirty="0"/>
              <a:t>show all the breakpoints (in a pop up window) in the program.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AF62F9A-936A-4B5E-A3C8-84D76071F943}"/>
              </a:ext>
            </a:extLst>
          </p:cNvPr>
          <p:cNvSpPr/>
          <p:nvPr/>
        </p:nvSpPr>
        <p:spPr>
          <a:xfrm rot="16200000">
            <a:off x="8458200" y="4191000"/>
            <a:ext cx="533400" cy="8382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236CFE-9836-4D11-A2F5-36BC7F484A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37" t="9751" r="94022" b="10524"/>
          <a:stretch/>
        </p:blipFill>
        <p:spPr>
          <a:xfrm>
            <a:off x="9359283" y="1828800"/>
            <a:ext cx="622917" cy="44642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A4378C-7C72-4EFD-97B7-8E333DBB8A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" t="54636" r="94637" b="35838"/>
          <a:stretch/>
        </p:blipFill>
        <p:spPr>
          <a:xfrm>
            <a:off x="4724400" y="2922973"/>
            <a:ext cx="457200" cy="53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849E59-D721-4CB3-A3A6-3B77C6C1A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28600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2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Some Debugger buttons…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3503" y="2431828"/>
            <a:ext cx="4495800" cy="1782763"/>
          </a:xfrm>
        </p:spPr>
        <p:txBody>
          <a:bodyPr>
            <a:noAutofit/>
          </a:bodyPr>
          <a:lstStyle/>
          <a:p>
            <a:endParaRPr lang="en-IE" sz="2800" b="1" dirty="0"/>
          </a:p>
          <a:p>
            <a:r>
              <a:rPr lang="en-IE" sz="2800" b="1" dirty="0"/>
              <a:t>Rerun program</a:t>
            </a:r>
            <a:br>
              <a:rPr lang="en-IE" sz="2800" dirty="0"/>
            </a:br>
            <a:br>
              <a:rPr lang="en-IE" sz="2800" dirty="0"/>
            </a:br>
            <a:r>
              <a:rPr lang="en-IE" sz="2800" dirty="0"/>
              <a:t>start the program again.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AF62F9A-936A-4B5E-A3C8-84D76071F943}"/>
              </a:ext>
            </a:extLst>
          </p:cNvPr>
          <p:cNvSpPr/>
          <p:nvPr/>
        </p:nvSpPr>
        <p:spPr>
          <a:xfrm rot="16200000">
            <a:off x="8458200" y="1729582"/>
            <a:ext cx="533400" cy="8382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C10F82-A31F-4B54-A998-B252450508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37" t="9751" r="94022" b="10524"/>
          <a:stretch/>
        </p:blipFill>
        <p:spPr>
          <a:xfrm>
            <a:off x="9359283" y="1828800"/>
            <a:ext cx="622917" cy="44642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F14313-22B7-4A21-B327-9E1BE4975E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37" t="9751" r="94022" b="79784"/>
          <a:stretch/>
        </p:blipFill>
        <p:spPr>
          <a:xfrm>
            <a:off x="5334000" y="3030204"/>
            <a:ext cx="622917" cy="586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36CDF8-07E8-4333-9F5D-0C6DC9D82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28600"/>
            <a:ext cx="1143000" cy="1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9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74367" y="1861768"/>
            <a:ext cx="6522033" cy="193899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E" sz="2000" dirty="0"/>
          </a:p>
          <a:p>
            <a:pPr algn="ctr"/>
            <a:r>
              <a:rPr lang="en-IE" sz="2000" dirty="0"/>
              <a:t>Now it’s your turn!</a:t>
            </a:r>
          </a:p>
          <a:p>
            <a:pPr algn="ctr"/>
            <a:br>
              <a:rPr lang="en-IE" sz="2000" dirty="0"/>
            </a:br>
            <a:r>
              <a:rPr lang="mr-IN" sz="2000" dirty="0"/>
              <a:t>–</a:t>
            </a:r>
            <a:r>
              <a:rPr lang="en-IE" sz="2000" dirty="0"/>
              <a:t> practice using the debugger on this code (there is a step in your labs to provide support).</a:t>
            </a:r>
          </a:p>
          <a:p>
            <a:pPr algn="ctr"/>
            <a:endParaRPr lang="en-IE" sz="2000" dirty="0"/>
          </a:p>
        </p:txBody>
      </p:sp>
      <p:pic>
        <p:nvPicPr>
          <p:cNvPr id="5" name="Picture 4" descr="Image result for questi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5545" l="7600" r="92400">
                        <a14:foregroundMark x1="61600" y1="2475" x2="64000" y2="84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1263117"/>
            <a:ext cx="834363" cy="67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100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603" y="1219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90801" y="2589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5517</TotalTime>
  <Words>804</Words>
  <Application>Microsoft Macintosh PowerPoint</Application>
  <PresentationFormat>Widescreen</PresentationFormat>
  <Paragraphs>114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Debugging</vt:lpstr>
      <vt:lpstr>Topic List</vt:lpstr>
      <vt:lpstr>What are bugs?</vt:lpstr>
      <vt:lpstr>Bugs can be frustrating to find/fix</vt:lpstr>
      <vt:lpstr>Topic List</vt:lpstr>
      <vt:lpstr>Help is at hand…debuggers!</vt:lpstr>
      <vt:lpstr>Debugger</vt:lpstr>
      <vt:lpstr>Debugger</vt:lpstr>
      <vt:lpstr>Topic List</vt:lpstr>
      <vt:lpstr>Debugger</vt:lpstr>
      <vt:lpstr>Given this code…</vt:lpstr>
      <vt:lpstr>Let’s debug the code  in IntelliJ  to help us find the error…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Fixing the bug</vt:lpstr>
      <vt:lpstr>Some IntelliJ debugger buttons…</vt:lpstr>
      <vt:lpstr>Some Debugger buttons…</vt:lpstr>
      <vt:lpstr>Some Debugger buttons…</vt:lpstr>
      <vt:lpstr>Some Debugger buttons…</vt:lpstr>
      <vt:lpstr>Some Debugger buttons…</vt:lpstr>
      <vt:lpstr>Some Debugger buttons…</vt:lpstr>
      <vt:lpstr>Some Debugger buttons…</vt:lpstr>
      <vt:lpstr>Some Debugger buttons…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Mairead Meagher</cp:lastModifiedBy>
  <cp:revision>151</cp:revision>
  <dcterms:created xsi:type="dcterms:W3CDTF">2006-08-16T00:00:00Z</dcterms:created>
  <dcterms:modified xsi:type="dcterms:W3CDTF">2025-02-09T23:38:42Z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5438E5B2-65E6-471D-8434-8E744F4C105E</vt:lpwstr>
  </property>
  <property fmtid="{D5CDD505-2E9C-101B-9397-08002B2CF9AE}" pid="3" name="ArticulatePath">
    <vt:lpwstr>a-prog-fund-2-abstraction</vt:lpwstr>
  </property>
</Properties>
</file>