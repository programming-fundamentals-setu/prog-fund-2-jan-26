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443" r:id="rId6"/>
    <p:sldId id="424" r:id="rId7"/>
    <p:sldId id="425" r:id="rId8"/>
    <p:sldId id="399" r:id="rId9"/>
    <p:sldId id="455" r:id="rId10"/>
    <p:sldId id="456" r:id="rId11"/>
    <p:sldId id="451" r:id="rId12"/>
    <p:sldId id="457" r:id="rId13"/>
    <p:sldId id="458" r:id="rId14"/>
    <p:sldId id="450" r:id="rId15"/>
    <p:sldId id="459" r:id="rId16"/>
    <p:sldId id="461" r:id="rId17"/>
    <p:sldId id="462" r:id="rId18"/>
    <p:sldId id="463" r:id="rId19"/>
    <p:sldId id="464" r:id="rId20"/>
    <p:sldId id="465" r:id="rId21"/>
    <p:sldId id="466" r:id="rId22"/>
    <p:sldId id="467" r:id="rId23"/>
    <p:sldId id="468" r:id="rId24"/>
    <p:sldId id="27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4751"/>
    <a:srgbClr val="FCCA3A"/>
    <a:srgbClr val="435765"/>
    <a:srgbClr val="006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00"/>
    <p:restoredTop sz="76886"/>
  </p:normalViewPr>
  <p:slideViewPr>
    <p:cSldViewPr snapToGrid="0">
      <p:cViewPr varScale="1">
        <p:scale>
          <a:sx n="91" d="100"/>
          <a:sy n="91" d="100"/>
        </p:scale>
        <p:origin x="1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earne" userId="d211ecec-1162-4091-8ee9-61d4a9e2add7" providerId="ADAL" clId="{69245BB6-ADEA-47C4-9777-4CE7243369F2}"/>
    <pc:docChg chg="modSld">
      <pc:chgData name="David Hearne" userId="d211ecec-1162-4091-8ee9-61d4a9e2add7" providerId="ADAL" clId="{69245BB6-ADEA-47C4-9777-4CE7243369F2}" dt="2023-04-19T12:50:11.483" v="4" actId="14100"/>
      <pc:docMkLst>
        <pc:docMk/>
      </pc:docMkLst>
      <pc:sldChg chg="modSp">
        <pc:chgData name="David Hearne" userId="d211ecec-1162-4091-8ee9-61d4a9e2add7" providerId="ADAL" clId="{69245BB6-ADEA-47C4-9777-4CE7243369F2}" dt="2023-04-19T12:50:11.483" v="4" actId="14100"/>
        <pc:sldMkLst>
          <pc:docMk/>
          <pc:sldMk cId="2203020715" sldId="450"/>
        </pc:sldMkLst>
        <pc:grpChg chg="mod">
          <ac:chgData name="David Hearne" userId="d211ecec-1162-4091-8ee9-61d4a9e2add7" providerId="ADAL" clId="{69245BB6-ADEA-47C4-9777-4CE7243369F2}" dt="2023-04-19T12:50:04.421" v="2" actId="14100"/>
          <ac:grpSpMkLst>
            <pc:docMk/>
            <pc:sldMk cId="2203020715" sldId="450"/>
            <ac:grpSpMk id="6" creationId="{8D8EE782-0828-C1EB-94D4-BB590B3BB6BB}"/>
          </ac:grpSpMkLst>
        </pc:grpChg>
        <pc:grpChg chg="mod">
          <ac:chgData name="David Hearne" userId="d211ecec-1162-4091-8ee9-61d4a9e2add7" providerId="ADAL" clId="{69245BB6-ADEA-47C4-9777-4CE7243369F2}" dt="2023-04-19T12:50:04.421" v="2" actId="14100"/>
          <ac:grpSpMkLst>
            <pc:docMk/>
            <pc:sldMk cId="2203020715" sldId="450"/>
            <ac:grpSpMk id="7" creationId="{55477510-E7E2-9212-3BD9-9CB66C1309B9}"/>
          </ac:grpSpMkLst>
        </pc:grpChg>
        <pc:grpChg chg="mod">
          <ac:chgData name="David Hearne" userId="d211ecec-1162-4091-8ee9-61d4a9e2add7" providerId="ADAL" clId="{69245BB6-ADEA-47C4-9777-4CE7243369F2}" dt="2023-04-19T12:50:04.421" v="2" actId="14100"/>
          <ac:grpSpMkLst>
            <pc:docMk/>
            <pc:sldMk cId="2203020715" sldId="450"/>
            <ac:grpSpMk id="53" creationId="{199722A8-1F66-54A5-03B1-9F230744C2FA}"/>
          </ac:grpSpMkLst>
        </pc:grpChg>
        <pc:cxnChg chg="mod">
          <ac:chgData name="David Hearne" userId="d211ecec-1162-4091-8ee9-61d4a9e2add7" providerId="ADAL" clId="{69245BB6-ADEA-47C4-9777-4CE7243369F2}" dt="2023-04-19T12:50:11.483" v="4" actId="14100"/>
          <ac:cxnSpMkLst>
            <pc:docMk/>
            <pc:sldMk cId="2203020715" sldId="450"/>
            <ac:cxnSpMk id="61" creationId="{013ED19F-98B2-8229-416F-CA9CC8AE5A4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B268A-CA3A-0048-9013-6E7C8FF5127F}" type="datetimeFigureOut">
              <a:rPr lang="en-US" smtClean="0"/>
              <a:t>3/14/25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B84A0-CA4D-2741-806C-17A926449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2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36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73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73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66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inheritance hierarchies are nothing unusual. we see them all the time.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(a masters student is a students is a person...)</a:t>
            </a:r>
          </a:p>
          <a:p>
            <a:endParaRPr lang="en-IE" b="0" i="0" u="none" strike="noStrike" dirty="0">
              <a:solidFill>
                <a:srgbClr val="EEEEEE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77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inheritance hierarchies are nothing unusual. we see them all the time.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(a masters student is a students is a person...)</a:t>
            </a:r>
          </a:p>
          <a:p>
            <a:endParaRPr lang="en-IE" b="0" i="0" u="none" strike="noStrike" dirty="0">
              <a:solidFill>
                <a:srgbClr val="EEEEEE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04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12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we note a lot of code duplication.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this is one problem with this solution (there are others)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66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 err="1">
                <a:latin typeface="Times New Roman" charset="0"/>
                <a:ea typeface="ＭＳ Ｐゴシック" charset="0"/>
                <a:cs typeface="+mn-cs"/>
              </a:rPr>
              <a:t>NewsFeed</a:t>
            </a: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 now only knows about Post rather than the subclasses.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28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add the obvious methods (getters and setters); not complete here - just examples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21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add the obvious methods (getters and setters); not complete here - just examples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342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7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>
                <a:latin typeface="Times New Roman" pitchFamily="18" charset="0"/>
              </a:rPr>
              <a:t>syntax for inheritance: ‘extends’ keyword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4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+mj-lt"/>
                <a:ea typeface="ＭＳ Ｐゴシック" charset="0"/>
                <a:cs typeface="+mn-cs"/>
              </a:rPr>
              <a:t>we define common fields in superclass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697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sz="1200" dirty="0">
                <a:latin typeface="+mj-lt"/>
                <a:ea typeface="ＭＳ Ｐゴシック" charset="0"/>
              </a:rPr>
              <a:t>we add subclass fields; inherit superclass fields </a:t>
            </a:r>
          </a:p>
          <a:p>
            <a:pPr>
              <a:defRPr/>
            </a:pPr>
            <a:r>
              <a:rPr lang="en-GB" sz="1200" dirty="0">
                <a:latin typeface="+mj-lt"/>
                <a:ea typeface="ＭＳ Ｐゴシック" charset="0"/>
              </a:rPr>
              <a:t>subclass objects will have all fields</a:t>
            </a:r>
            <a:endParaRPr lang="en-GB" sz="1200" dirty="0">
              <a:latin typeface="+mj-l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3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how do we initialise the fields? 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superclass: nothing unusual.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276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subclass: must call superclass constructor!</a:t>
            </a:r>
          </a:p>
          <a:p>
            <a:pPr>
              <a:defRPr/>
            </a:pPr>
            <a:r>
              <a:rPr lang="en-GB" dirty="0">
                <a:latin typeface="Times New Roman" charset="0"/>
                <a:ea typeface="ＭＳ Ｐゴシック" charset="0"/>
                <a:cs typeface="+mn-cs"/>
              </a:rPr>
              <a:t>Must take values for all fields that we want to initialise.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85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 will look at inheritance hierarchies and version 2 of social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04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0BDA7-D71E-A617-27B7-787DE42F7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FDDF3-9F54-4D1C-4DAE-AEDCD366F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FFB5B4B7-D13B-783E-5F1E-412BDC5D91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60711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661B-17E5-AEB4-5039-12B9E644B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5D0D1-C408-E0A1-E29C-6EC061803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46475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47124-F0EB-380D-6A94-29423FE38752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EAC70C1C-2BF7-2D24-0C1A-5761BAA46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FB1B1F-BD41-EF6A-29B6-DFF0CE207B39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D162732-2B8A-90F2-EB70-67F0CC6C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706159-FD7A-7A51-FEE5-D8D445CD1D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09011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BE43-B9A7-BC93-E56F-486BC93A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574"/>
            <a:ext cx="10515600" cy="860425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DDD06-17FD-1299-4C21-B4BD9A733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48336"/>
            <a:ext cx="10515600" cy="42534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2D0BB6-0690-69C2-7913-4E641FA5263B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942315C-0F65-972F-774D-73078C31C3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5D37C6-695B-A413-C7D8-CC729BE4A5E7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AF08D71D-633D-03D6-837B-2EC45E80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7F271E0-EC9F-70B2-AF3B-ED4F3927D4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4245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3A76-6FDB-3575-CC11-5859A712D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8481B-3779-5250-135C-D2B0AFD85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3995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50A12-6140-2CE2-EA49-75459114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3995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03AFF-B4F8-FCBD-2728-065160B5E346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13D03AA-0896-FE80-2DAE-DE4C27A47C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A233C6-37BC-F82E-A892-76CA5AB4B7C5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F030FD0F-2DD6-2272-51EE-2BF33059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88EF9FD-1D1E-7A85-9B87-8B09737419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2984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F1BAE-F1D1-9BFF-E81C-9EB6F7E29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DD2EF-5122-99B1-1482-73F47DCFB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AD250-B4A0-9994-DEFD-1003746CE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867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33373-B31C-8067-F4C0-5D8722EE0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E033B8-3B84-5BAF-41E3-F01F70FD2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2867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DBF12C-7C0A-66CC-800F-81E7C7511108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2A6757DB-F33F-B6B9-4AB7-673BFD0C04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8376F0-4941-20F3-0634-CC3CA047EBEE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98434014-9B29-BB02-AFCC-26F5DD9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EA3A214-C271-27A6-1BA5-A7E92A0C4F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82957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FC2BC5-A41F-AF1E-87C1-6C3884228EE1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B80B376-718E-5A67-D7A2-E9C5D84886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0C9288-DA64-5E12-B226-91527D193BD7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B9D84-933C-5819-53CE-724AA8A87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661670FA-CFD1-A883-55F9-FC87F3B1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934E70C-E8D9-B2C2-6196-CB37462C2A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77632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45881D-2D8D-1975-AB67-071538DA5B41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-2721883" y="422310"/>
            <a:ext cx="5443765" cy="548629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350A5-0F76-7CA1-01EE-0506A29F03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25939" y="2422507"/>
            <a:ext cx="8618538" cy="1485900"/>
          </a:xfrm>
        </p:spPr>
        <p:txBody>
          <a:bodyPr>
            <a:normAutofit/>
          </a:bodyPr>
          <a:lstStyle>
            <a:lvl3pPr marL="914400" indent="0" algn="ctr">
              <a:buNone/>
              <a:defRPr sz="6000">
                <a:latin typeface="DM Sans" pitchFamily="2" charset="77"/>
              </a:defRPr>
            </a:lvl3pPr>
          </a:lstStyle>
          <a:p>
            <a:pPr lvl="2"/>
            <a:r>
              <a:rPr lang="en-US" dirty="0"/>
              <a:t>Title Section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B1747D0-142F-29F0-C111-4CA4BB0024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3118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632673" y="433462"/>
            <a:ext cx="5443765" cy="5486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6D9E16-657A-4218-0444-F0A4D4BC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2324554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BFD17A-A184-4C60-C2D7-B6CD6ACBCF9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4077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6F86B-6715-92BC-715F-DFA9AD39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8AFA0-81E3-E9B4-F6E0-8B926D239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2867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034E6-8F9A-4869-D336-F1BAA76F0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2167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FDDB94-FA60-0120-3E53-AB03CF84BA1E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45679F87-5E74-8BA8-0629-1E5B4F4880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BE86B7-2BF4-10EF-5455-B9887AAB8B50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B715A8C-2802-94EC-ED2B-7E87EB76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4062A10-94AD-59F5-B695-6399839DA5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115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F6A3-1FA6-365B-EAE9-C97A97FA2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0FE55-436B-BE4B-A625-5596F318B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5806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895F3-5234-BC3A-AA83-2EC6C8BFB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51064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4B8120-3457-7741-DD19-9CE4C0C22B4A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70E58948-512F-FE8B-DC74-07D466B3C5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61E89E-CE00-6AFD-C38F-ED89F0C488AB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115F357-D0A9-D2BE-D6C4-1DE4D5FB1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539925D-2713-A52D-751E-374F477B25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8506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6E7A3-2933-9A9D-1B68-1C4E7E0E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D318C-66EC-4B7A-FD04-653E50045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3A924-D1C2-80FA-9A28-1F83C8252CD7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A8580AF9-B3B8-8FCD-D5F6-72F55C10E5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8DA9D1-70B7-518A-1D12-6840DCAE9DB6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820A38DC-2F95-7186-592B-18167E2B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69CF7F-4015-09B0-0671-F93589D2D9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34116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05D519-5C13-B1DA-C03B-E55280B896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3825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5BE02F-1224-E3C9-A8BB-96F822DB8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3825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4E5451-8045-E9BC-4D1D-8CF1DD1B3874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3581C137-70E6-F86A-90ED-817935AD6A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7DE500-850E-C45D-5905-16C7BED700DC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638537D-9021-8EF8-E16B-C1CF5CF9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E01E724-D140-6BA0-9EC5-95685A2B78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3245" y="6187327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9883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7A6AA-9A3D-B214-D69B-E407A667B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5717F-6026-BB96-5E0E-E0C78D960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681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6C6F1F5D-051A-FB61-9D09-9FDA371C147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02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ransition spd="slow">
    <p:push dir="u"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35765"/>
          </a:solidFill>
          <a:latin typeface="DM Sans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435765"/>
        </a:buClr>
        <a:buFont typeface="Arial" panose="020B0604020202020204" pitchFamily="34" charset="0"/>
        <a:buChar char="•"/>
        <a:defRPr sz="28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435765"/>
        </a:buClr>
        <a:buFont typeface="Arial" panose="020B0604020202020204" pitchFamily="34" charset="0"/>
        <a:buChar char="•"/>
        <a:defRPr sz="24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435765"/>
        </a:buClr>
        <a:buFont typeface="Arial" panose="020B0604020202020204" pitchFamily="34" charset="0"/>
        <a:buChar char="•"/>
        <a:defRPr sz="20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435765"/>
        </a:buClr>
        <a:buFont typeface="Arial" panose="020B0604020202020204" pitchFamily="34" charset="0"/>
        <a:buChar char="•"/>
        <a:defRPr sz="18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435765"/>
        </a:buClr>
        <a:buFont typeface="Arial" panose="020B0604020202020204" pitchFamily="34" charset="0"/>
        <a:buChar char="•"/>
        <a:defRPr sz="18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icon&#10;&#10;Description automatically generated">
            <a:extLst>
              <a:ext uri="{FF2B5EF4-FFF2-40B4-BE49-F238E27FC236}">
                <a16:creationId xmlns:a16="http://schemas.microsoft.com/office/drawing/2014/main" id="{99CD819F-5324-A9DE-1B40-CA887A54AE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2554628" y="693967"/>
            <a:ext cx="5427662" cy="5470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1A3E84-9222-E321-F48B-5FDB6F80A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435765"/>
                </a:solidFill>
                <a:latin typeface="DM Sans" pitchFamily="2" charset="77"/>
              </a:rPr>
              <a:t>Programming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4409F-DCAA-6F36-5AC8-EB4F83A8AB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sz="2400" dirty="0"/>
              <a:t>Inheritance: Sub Classes</a:t>
            </a:r>
          </a:p>
        </p:txBody>
      </p:sp>
      <p:pic>
        <p:nvPicPr>
          <p:cNvPr id="5" name="Picture 4" descr="Text, logo&#10;&#10;Description automatically generated">
            <a:extLst>
              <a:ext uri="{FF2B5EF4-FFF2-40B4-BE49-F238E27FC236}">
                <a16:creationId xmlns:a16="http://schemas.microsoft.com/office/drawing/2014/main" id="{14BFAFCE-71D5-F584-63E1-3FA32C910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724" y="5703037"/>
            <a:ext cx="2062162" cy="11560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2C7499-CC2E-E18D-EDDF-B6BB380CF21C}"/>
              </a:ext>
            </a:extLst>
          </p:cNvPr>
          <p:cNvSpPr txBox="1"/>
          <p:nvPr/>
        </p:nvSpPr>
        <p:spPr>
          <a:xfrm>
            <a:off x="159203" y="6247817"/>
            <a:ext cx="10253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400" b="1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Produced By: </a:t>
            </a:r>
          </a:p>
          <a:p>
            <a:r>
              <a:rPr lang="en-IE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Mr. Dave Hearne, </a:t>
            </a:r>
            <a:r>
              <a:rPr lang="en-IE" sz="1400" dirty="0" err="1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Dr.</a:t>
            </a:r>
            <a:r>
              <a:rPr lang="en-IE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IE" sz="1400" dirty="0" err="1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Siobhán</a:t>
            </a:r>
            <a:r>
              <a:rPr lang="en-IE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IE" sz="1400" dirty="0" err="1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Drohan</a:t>
            </a:r>
            <a:r>
              <a:rPr lang="en-IE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, Mr. Colm Dunphy, Mr. Diarmuid O’Connor, </a:t>
            </a:r>
            <a:r>
              <a:rPr lang="en-IE" sz="1400" dirty="0" err="1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Dr.</a:t>
            </a:r>
            <a:r>
              <a:rPr lang="en-IE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 Frank Walsh, Ms Mairead Meagher, Ms Siobhan Roche</a:t>
            </a:r>
            <a:endParaRPr lang="en-US" sz="1400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66894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71DF-83EE-F584-76A4-18797A0D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16" y="28454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435765"/>
                </a:solidFill>
                <a:latin typeface="DM Sans" pitchFamily="2" charset="77"/>
              </a:rPr>
              <a:t>Agenda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DFA28BCE-B19E-F23A-7956-1A1DD1679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pic>
        <p:nvPicPr>
          <p:cNvPr id="11" name="Picture 10" descr="A picture containing LEGO, toy&#10;&#10;Description automatically generated">
            <a:extLst>
              <a:ext uri="{FF2B5EF4-FFF2-40B4-BE49-F238E27FC236}">
                <a16:creationId xmlns:a16="http://schemas.microsoft.com/office/drawing/2014/main" id="{CAEA1CE5-DA18-8291-EBC8-4ED7D8153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808" y="562131"/>
            <a:ext cx="4882243" cy="488224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E81001-8F47-6FE3-CC30-C70CB6E96C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3245" y="6181584"/>
            <a:ext cx="1120090" cy="60376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984378-B129-C308-D176-66F7C4DA42CC}"/>
              </a:ext>
            </a:extLst>
          </p:cNvPr>
          <p:cNvSpPr txBox="1">
            <a:spLocks/>
          </p:cNvSpPr>
          <p:nvPr/>
        </p:nvSpPr>
        <p:spPr>
          <a:xfrm>
            <a:off x="259216" y="1882398"/>
            <a:ext cx="5836784" cy="24401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4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0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Inheritance Hierarchies</a:t>
            </a:r>
          </a:p>
          <a:p>
            <a:r>
              <a:rPr lang="en-US" dirty="0"/>
              <a:t>Social Network v5</a:t>
            </a:r>
          </a:p>
          <a:p>
            <a:r>
              <a:rPr lang="en-US" dirty="0"/>
              <a:t>Sub and Super Classes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97150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71DF-83EE-F584-76A4-18797A0D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16" y="-927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435765"/>
                </a:solidFill>
                <a:latin typeface="DM Sans" pitchFamily="2" charset="77"/>
              </a:rPr>
              <a:t>Lectures &amp; Labs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DFA28BCE-B19E-F23A-7956-1A1DD1679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E81001-8F47-6FE3-CC30-C70CB6E96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3245" y="6181584"/>
            <a:ext cx="1120090" cy="60376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984378-B129-C308-D176-66F7C4DA42CC}"/>
              </a:ext>
            </a:extLst>
          </p:cNvPr>
          <p:cNvSpPr txBox="1">
            <a:spLocks/>
          </p:cNvSpPr>
          <p:nvPr/>
        </p:nvSpPr>
        <p:spPr>
          <a:xfrm>
            <a:off x="259216" y="1454341"/>
            <a:ext cx="7028275" cy="37564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4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20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435765"/>
              </a:buClr>
              <a:buFont typeface="Arial" panose="020B0604020202020204" pitchFamily="34" charset="0"/>
              <a:buChar char="•"/>
              <a:defRPr sz="1800" kern="120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weeks lectures and labs are based on examples in:</a:t>
            </a:r>
          </a:p>
          <a:p>
            <a:r>
              <a:rPr lang="en-US" sz="2200" b="1" dirty="0"/>
              <a:t>Objects First with Java </a:t>
            </a:r>
            <a:br>
              <a:rPr lang="en-US" sz="2200" dirty="0"/>
            </a:br>
            <a:r>
              <a:rPr lang="en-US" sz="2200" dirty="0"/>
              <a:t>- A Practical Introduction using </a:t>
            </a:r>
            <a:r>
              <a:rPr lang="en-US" sz="2200" dirty="0" err="1"/>
              <a:t>BlueJ</a:t>
            </a:r>
            <a:r>
              <a:rPr lang="en-US" sz="2200" dirty="0"/>
              <a:t>, © </a:t>
            </a:r>
            <a:r>
              <a:rPr lang="en-US" sz="2200" i="1" dirty="0"/>
              <a:t>David J. Barnes, Michael </a:t>
            </a:r>
            <a:r>
              <a:rPr lang="en-US" sz="2200" i="1" dirty="0" err="1"/>
              <a:t>Kölling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A bird on a branch&#10;&#10;Description automatically generated with medium confidence">
            <a:extLst>
              <a:ext uri="{FF2B5EF4-FFF2-40B4-BE49-F238E27FC236}">
                <a16:creationId xmlns:a16="http://schemas.microsoft.com/office/drawing/2014/main" id="{D627CCD9-58A2-57DF-BE6F-145A898594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491" y="651164"/>
            <a:ext cx="4061769" cy="5026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36134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60773-D94C-D34D-FDCE-AA927F65FFC9}"/>
              </a:ext>
            </a:extLst>
          </p:cNvPr>
          <p:cNvSpPr txBox="1"/>
          <p:nvPr/>
        </p:nvSpPr>
        <p:spPr>
          <a:xfrm>
            <a:off x="2812099" y="2659559"/>
            <a:ext cx="65678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rgbClr val="435765"/>
                </a:solidFill>
                <a:latin typeface="DM Sans" pitchFamily="2" charset="77"/>
              </a:rPr>
              <a:t>Inheritance Hierarchies</a:t>
            </a:r>
            <a:endParaRPr lang="en-US" sz="4000" dirty="0">
              <a:solidFill>
                <a:srgbClr val="435765"/>
              </a:solidFill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6757897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D6E4-7FA9-0947-FD0A-BB2F720B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hierarchies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E57206C-70CA-F217-5C59-03C79E2A230F}"/>
              </a:ext>
            </a:extLst>
          </p:cNvPr>
          <p:cNvGrpSpPr/>
          <p:nvPr/>
        </p:nvGrpSpPr>
        <p:grpSpPr>
          <a:xfrm>
            <a:off x="899149" y="1023390"/>
            <a:ext cx="11228275" cy="4494007"/>
            <a:chOff x="343545" y="1023390"/>
            <a:chExt cx="11861370" cy="4747397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BB39883F-E2B9-6E97-330B-3294A53C283B}"/>
                </a:ext>
              </a:extLst>
            </p:cNvPr>
            <p:cNvSpPr/>
            <p:nvPr/>
          </p:nvSpPr>
          <p:spPr>
            <a:xfrm>
              <a:off x="343545" y="4949377"/>
              <a:ext cx="2123267" cy="821410"/>
            </a:xfrm>
            <a:prstGeom prst="roundRect">
              <a:avLst/>
            </a:prstGeom>
            <a:solidFill>
              <a:srgbClr val="43576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Poodle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B9E1479-3736-B97A-44C1-3D60B6ED0BD5}"/>
                </a:ext>
              </a:extLst>
            </p:cNvPr>
            <p:cNvGrpSpPr/>
            <p:nvPr/>
          </p:nvGrpSpPr>
          <p:grpSpPr>
            <a:xfrm>
              <a:off x="1513668" y="1023390"/>
              <a:ext cx="10691247" cy="4747397"/>
              <a:chOff x="1405179" y="1023390"/>
              <a:chExt cx="10691247" cy="4747397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E9FAB518-E1F2-B015-2101-AF1ED14C7B1D}"/>
                  </a:ext>
                </a:extLst>
              </p:cNvPr>
              <p:cNvSpPr/>
              <p:nvPr/>
            </p:nvSpPr>
            <p:spPr>
              <a:xfrm>
                <a:off x="5618133" y="1023390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Animal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819D69AF-9658-DF2B-EC82-4281BDF13AD2}"/>
                  </a:ext>
                </a:extLst>
              </p:cNvPr>
              <p:cNvSpPr/>
              <p:nvPr/>
            </p:nvSpPr>
            <p:spPr>
              <a:xfrm>
                <a:off x="2926596" y="2259129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Mammal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75A97C99-A302-54F7-FC95-A4A672DA345B}"/>
                  </a:ext>
                </a:extLst>
              </p:cNvPr>
              <p:cNvSpPr/>
              <p:nvPr/>
            </p:nvSpPr>
            <p:spPr>
              <a:xfrm>
                <a:off x="8477571" y="2294252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Bird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16452C4A-124B-D2AE-B91E-26850E301990}"/>
                  </a:ext>
                </a:extLst>
              </p:cNvPr>
              <p:cNvSpPr/>
              <p:nvPr/>
            </p:nvSpPr>
            <p:spPr>
              <a:xfrm>
                <a:off x="1405179" y="3495119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Dog</a:t>
                </a: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22BB369F-19BF-C610-83BB-4FA8F233A0C4}"/>
                  </a:ext>
                </a:extLst>
              </p:cNvPr>
              <p:cNvSpPr/>
              <p:nvPr/>
            </p:nvSpPr>
            <p:spPr>
              <a:xfrm>
                <a:off x="4200039" y="3537507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Cat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846229F6-E5A5-7559-C918-CFE70596D279}"/>
                  </a:ext>
                </a:extLst>
              </p:cNvPr>
              <p:cNvSpPr/>
              <p:nvPr/>
            </p:nvSpPr>
            <p:spPr>
              <a:xfrm>
                <a:off x="2719676" y="4949377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Pug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4BD38597-EF7E-0DC6-EBF6-B95B2906FC82}"/>
                  </a:ext>
                </a:extLst>
              </p:cNvPr>
              <p:cNvSpPr/>
              <p:nvPr/>
            </p:nvSpPr>
            <p:spPr>
              <a:xfrm>
                <a:off x="7415938" y="3530259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Chicken</a:t>
                </a:r>
              </a:p>
            </p:txBody>
          </p:sp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9EFF1E61-E67C-7592-FFE1-278B11F19461}"/>
                  </a:ext>
                </a:extLst>
              </p:cNvPr>
              <p:cNvSpPr/>
              <p:nvPr/>
            </p:nvSpPr>
            <p:spPr>
              <a:xfrm>
                <a:off x="9973159" y="3537507"/>
                <a:ext cx="2123267" cy="821410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Inter" panose="02000503000000020004" pitchFamily="2" charset="0"/>
                    <a:ea typeface="Inter" panose="02000503000000020004" pitchFamily="2" charset="0"/>
                  </a:rPr>
                  <a:t>Robin</a:t>
                </a:r>
              </a:p>
            </p:txBody>
          </p:sp>
          <p:cxnSp>
            <p:nvCxnSpPr>
              <p:cNvPr id="26" name="Elbow Connector 25">
                <a:extLst>
                  <a:ext uri="{FF2B5EF4-FFF2-40B4-BE49-F238E27FC236}">
                    <a16:creationId xmlns:a16="http://schemas.microsoft.com/office/drawing/2014/main" id="{71C5F368-42ED-3F62-3ED5-947866991133}"/>
                  </a:ext>
                </a:extLst>
              </p:cNvPr>
              <p:cNvCxnSpPr>
                <a:stCxn id="21" idx="0"/>
                <a:endCxn id="19" idx="2"/>
              </p:cNvCxnSpPr>
              <p:nvPr/>
            </p:nvCxnSpPr>
            <p:spPr>
              <a:xfrm rot="5400000" flipH="1" flipV="1">
                <a:off x="1619572" y="4102136"/>
                <a:ext cx="632848" cy="1061634"/>
              </a:xfrm>
              <a:prstGeom prst="bentConnector3">
                <a:avLst/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Elbow Connector 26">
                <a:extLst>
                  <a:ext uri="{FF2B5EF4-FFF2-40B4-BE49-F238E27FC236}">
                    <a16:creationId xmlns:a16="http://schemas.microsoft.com/office/drawing/2014/main" id="{CBFA50FA-5AFA-0E92-B897-88141BC283A3}"/>
                  </a:ext>
                </a:extLst>
              </p:cNvPr>
              <p:cNvCxnSpPr>
                <a:cxnSpLocks/>
                <a:stCxn id="22" idx="0"/>
                <a:endCxn id="19" idx="2"/>
              </p:cNvCxnSpPr>
              <p:nvPr/>
            </p:nvCxnSpPr>
            <p:spPr>
              <a:xfrm rot="16200000" flipV="1">
                <a:off x="2807638" y="3975704"/>
                <a:ext cx="632848" cy="131449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Elbow Connector 29">
                <a:extLst>
                  <a:ext uri="{FF2B5EF4-FFF2-40B4-BE49-F238E27FC236}">
                    <a16:creationId xmlns:a16="http://schemas.microsoft.com/office/drawing/2014/main" id="{01D696CB-CAAD-BBC6-466C-49CC348D5B88}"/>
                  </a:ext>
                </a:extLst>
              </p:cNvPr>
              <p:cNvCxnSpPr>
                <a:cxnSpLocks/>
                <a:stCxn id="19" idx="0"/>
                <a:endCxn id="17" idx="2"/>
              </p:cNvCxnSpPr>
              <p:nvPr/>
            </p:nvCxnSpPr>
            <p:spPr>
              <a:xfrm rot="5400000" flipH="1" flipV="1">
                <a:off x="3020231" y="2527121"/>
                <a:ext cx="414580" cy="152141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Elbow Connector 32">
                <a:extLst>
                  <a:ext uri="{FF2B5EF4-FFF2-40B4-BE49-F238E27FC236}">
                    <a16:creationId xmlns:a16="http://schemas.microsoft.com/office/drawing/2014/main" id="{1DB89849-AFE9-C2A0-4842-B3B3C8595F16}"/>
                  </a:ext>
                </a:extLst>
              </p:cNvPr>
              <p:cNvCxnSpPr>
                <a:cxnSpLocks/>
                <a:stCxn id="20" idx="0"/>
                <a:endCxn id="17" idx="2"/>
              </p:cNvCxnSpPr>
              <p:nvPr/>
            </p:nvCxnSpPr>
            <p:spPr>
              <a:xfrm rot="16200000" flipV="1">
                <a:off x="4396468" y="2672301"/>
                <a:ext cx="456968" cy="1273443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Elbow Connector 35">
                <a:extLst>
                  <a:ext uri="{FF2B5EF4-FFF2-40B4-BE49-F238E27FC236}">
                    <a16:creationId xmlns:a16="http://schemas.microsoft.com/office/drawing/2014/main" id="{1D286E5C-C9FC-8844-79DE-5C64F561CAAA}"/>
                  </a:ext>
                </a:extLst>
              </p:cNvPr>
              <p:cNvCxnSpPr>
                <a:cxnSpLocks/>
                <a:stCxn id="23" idx="0"/>
                <a:endCxn id="18" idx="2"/>
              </p:cNvCxnSpPr>
              <p:nvPr/>
            </p:nvCxnSpPr>
            <p:spPr>
              <a:xfrm rot="5400000" flipH="1" flipV="1">
                <a:off x="8801090" y="2792145"/>
                <a:ext cx="414597" cy="1061633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Elbow Connector 38">
                <a:extLst>
                  <a:ext uri="{FF2B5EF4-FFF2-40B4-BE49-F238E27FC236}">
                    <a16:creationId xmlns:a16="http://schemas.microsoft.com/office/drawing/2014/main" id="{7E97525A-28DB-F6B0-D370-F41FAC10D93D}"/>
                  </a:ext>
                </a:extLst>
              </p:cNvPr>
              <p:cNvCxnSpPr>
                <a:cxnSpLocks/>
                <a:stCxn id="24" idx="0"/>
                <a:endCxn id="18" idx="2"/>
              </p:cNvCxnSpPr>
              <p:nvPr/>
            </p:nvCxnSpPr>
            <p:spPr>
              <a:xfrm rot="16200000" flipV="1">
                <a:off x="10076077" y="2578791"/>
                <a:ext cx="421845" cy="1495588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Elbow Connector 45">
                <a:extLst>
                  <a:ext uri="{FF2B5EF4-FFF2-40B4-BE49-F238E27FC236}">
                    <a16:creationId xmlns:a16="http://schemas.microsoft.com/office/drawing/2014/main" id="{5B0BB727-1B2D-0514-4496-D9255DC44A83}"/>
                  </a:ext>
                </a:extLst>
              </p:cNvPr>
              <p:cNvCxnSpPr>
                <a:cxnSpLocks/>
                <a:stCxn id="17" idx="0"/>
                <a:endCxn id="16" idx="2"/>
              </p:cNvCxnSpPr>
              <p:nvPr/>
            </p:nvCxnSpPr>
            <p:spPr>
              <a:xfrm rot="5400000" flipH="1" flipV="1">
                <a:off x="5126834" y="706197"/>
                <a:ext cx="414329" cy="269153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Elbow Connector 48">
                <a:extLst>
                  <a:ext uri="{FF2B5EF4-FFF2-40B4-BE49-F238E27FC236}">
                    <a16:creationId xmlns:a16="http://schemas.microsoft.com/office/drawing/2014/main" id="{9364A773-FD46-A1E8-40D4-2B564AD2410E}"/>
                  </a:ext>
                </a:extLst>
              </p:cNvPr>
              <p:cNvCxnSpPr>
                <a:cxnSpLocks/>
                <a:stCxn id="18" idx="0"/>
                <a:endCxn id="16" idx="2"/>
              </p:cNvCxnSpPr>
              <p:nvPr/>
            </p:nvCxnSpPr>
            <p:spPr>
              <a:xfrm rot="16200000" flipV="1">
                <a:off x="7884760" y="639807"/>
                <a:ext cx="449452" cy="2859438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CCA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6C5EDA4-BBE9-023C-1988-D6376D58452A}"/>
              </a:ext>
            </a:extLst>
          </p:cNvPr>
          <p:cNvCxnSpPr/>
          <p:nvPr/>
        </p:nvCxnSpPr>
        <p:spPr>
          <a:xfrm flipV="1">
            <a:off x="666427" y="1023390"/>
            <a:ext cx="0" cy="4494007"/>
          </a:xfrm>
          <a:prstGeom prst="straightConnector1">
            <a:avLst/>
          </a:prstGeom>
          <a:ln w="76200">
            <a:solidFill>
              <a:srgbClr val="E7475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81E09B9-0EB0-DD75-1506-0826B228001C}"/>
              </a:ext>
            </a:extLst>
          </p:cNvPr>
          <p:cNvSpPr txBox="1"/>
          <p:nvPr/>
        </p:nvSpPr>
        <p:spPr>
          <a:xfrm>
            <a:off x="866932" y="3085727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7475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Is-a</a:t>
            </a:r>
          </a:p>
        </p:txBody>
      </p:sp>
    </p:spTree>
    <p:extLst>
      <p:ext uri="{BB962C8B-B14F-4D97-AF65-F5344CB8AC3E}">
        <p14:creationId xmlns:p14="http://schemas.microsoft.com/office/powerpoint/2010/main" val="30048623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8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D6E4-7FA9-0947-FD0A-BB2F720B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hierarchies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6C5EDA4-BBE9-023C-1988-D6376D58452A}"/>
              </a:ext>
            </a:extLst>
          </p:cNvPr>
          <p:cNvCxnSpPr/>
          <p:nvPr/>
        </p:nvCxnSpPr>
        <p:spPr>
          <a:xfrm flipV="1">
            <a:off x="619932" y="1514746"/>
            <a:ext cx="0" cy="4494007"/>
          </a:xfrm>
          <a:prstGeom prst="straightConnector1">
            <a:avLst/>
          </a:prstGeom>
          <a:ln w="76200">
            <a:solidFill>
              <a:srgbClr val="E7475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81E09B9-0EB0-DD75-1506-0826B228001C}"/>
              </a:ext>
            </a:extLst>
          </p:cNvPr>
          <p:cNvSpPr txBox="1"/>
          <p:nvPr/>
        </p:nvSpPr>
        <p:spPr>
          <a:xfrm>
            <a:off x="866932" y="3085727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7475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Is-a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C2A23-EEDE-A1A4-A47F-69001C2BA95D}"/>
              </a:ext>
            </a:extLst>
          </p:cNvPr>
          <p:cNvSpPr txBox="1"/>
          <p:nvPr/>
        </p:nvSpPr>
        <p:spPr>
          <a:xfrm>
            <a:off x="6043627" y="1426338"/>
            <a:ext cx="1443024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MusicFormat</a:t>
            </a:r>
            <a:endParaRPr lang="en-GB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5A08B2-4977-940A-6862-C033E5D6A3D2}"/>
              </a:ext>
            </a:extLst>
          </p:cNvPr>
          <p:cNvSpPr txBox="1"/>
          <p:nvPr/>
        </p:nvSpPr>
        <p:spPr>
          <a:xfrm>
            <a:off x="3071827" y="2545313"/>
            <a:ext cx="1542410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AnalogFormat</a:t>
            </a:r>
            <a:endParaRPr lang="en-GB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5B418-E84C-1F47-5D7F-762E8CADA2E5}"/>
              </a:ext>
            </a:extLst>
          </p:cNvPr>
          <p:cNvSpPr txBox="1"/>
          <p:nvPr/>
        </p:nvSpPr>
        <p:spPr>
          <a:xfrm>
            <a:off x="8024827" y="2546690"/>
            <a:ext cx="1479892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DigitalFormat</a:t>
            </a:r>
            <a:endParaRPr lang="en-GB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203CA3-3108-2EDC-E192-63E5FCE5E2B8}"/>
              </a:ext>
            </a:extLst>
          </p:cNvPr>
          <p:cNvSpPr txBox="1"/>
          <p:nvPr/>
        </p:nvSpPr>
        <p:spPr>
          <a:xfrm>
            <a:off x="2583840" y="3822177"/>
            <a:ext cx="1055097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Cassette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6C889-EB72-1215-2AB1-5BD73CDA97EA}"/>
              </a:ext>
            </a:extLst>
          </p:cNvPr>
          <p:cNvSpPr txBox="1"/>
          <p:nvPr/>
        </p:nvSpPr>
        <p:spPr>
          <a:xfrm>
            <a:off x="4311205" y="3822177"/>
            <a:ext cx="654346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Vinyl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06BF1-7E48-346B-8474-13ADBF21B1D3}"/>
              </a:ext>
            </a:extLst>
          </p:cNvPr>
          <p:cNvSpPr txBox="1"/>
          <p:nvPr/>
        </p:nvSpPr>
        <p:spPr>
          <a:xfrm>
            <a:off x="3947964" y="4862891"/>
            <a:ext cx="753732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single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71809-B92E-7AE6-2482-0A894FC07E2C}"/>
              </a:ext>
            </a:extLst>
          </p:cNvPr>
          <p:cNvSpPr txBox="1"/>
          <p:nvPr/>
        </p:nvSpPr>
        <p:spPr>
          <a:xfrm>
            <a:off x="1979897" y="4868382"/>
            <a:ext cx="753732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single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BB7716-FE6E-EC4E-704D-75485ACD4777}"/>
              </a:ext>
            </a:extLst>
          </p:cNvPr>
          <p:cNvSpPr txBox="1"/>
          <p:nvPr/>
        </p:nvSpPr>
        <p:spPr>
          <a:xfrm>
            <a:off x="2853108" y="4868382"/>
            <a:ext cx="771365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album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04A82C-205F-BDD5-2DFA-71CB48022774}"/>
              </a:ext>
            </a:extLst>
          </p:cNvPr>
          <p:cNvSpPr txBox="1"/>
          <p:nvPr/>
        </p:nvSpPr>
        <p:spPr>
          <a:xfrm>
            <a:off x="4830287" y="4862891"/>
            <a:ext cx="771365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album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868729-9720-5612-DC2D-427940F04F0C}"/>
              </a:ext>
            </a:extLst>
          </p:cNvPr>
          <p:cNvSpPr txBox="1"/>
          <p:nvPr/>
        </p:nvSpPr>
        <p:spPr>
          <a:xfrm>
            <a:off x="3750634" y="5670199"/>
            <a:ext cx="380232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7”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F93F4F-663A-B7C2-34BA-1C9384DDDDB5}"/>
              </a:ext>
            </a:extLst>
          </p:cNvPr>
          <p:cNvSpPr txBox="1"/>
          <p:nvPr/>
        </p:nvSpPr>
        <p:spPr>
          <a:xfrm>
            <a:off x="4362277" y="5670199"/>
            <a:ext cx="481222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12”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9390D-89C7-B591-5AB8-8F70B20EA89E}"/>
              </a:ext>
            </a:extLst>
          </p:cNvPr>
          <p:cNvSpPr txBox="1"/>
          <p:nvPr/>
        </p:nvSpPr>
        <p:spPr>
          <a:xfrm>
            <a:off x="7477116" y="3805701"/>
            <a:ext cx="603050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DAT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9E7327-86FD-1DB7-3D79-5C067197C976}"/>
              </a:ext>
            </a:extLst>
          </p:cNvPr>
          <p:cNvSpPr txBox="1"/>
          <p:nvPr/>
        </p:nvSpPr>
        <p:spPr>
          <a:xfrm>
            <a:off x="8253863" y="3805701"/>
            <a:ext cx="514885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82BDDA-D2D8-23F6-0886-BAD8A79CDA37}"/>
              </a:ext>
            </a:extLst>
          </p:cNvPr>
          <p:cNvSpPr txBox="1"/>
          <p:nvPr/>
        </p:nvSpPr>
        <p:spPr>
          <a:xfrm>
            <a:off x="6628618" y="3797463"/>
            <a:ext cx="630301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DCC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E3287A-BB62-CF10-B62F-067B9CABC783}"/>
              </a:ext>
            </a:extLst>
          </p:cNvPr>
          <p:cNvSpPr txBox="1"/>
          <p:nvPr/>
        </p:nvSpPr>
        <p:spPr>
          <a:xfrm>
            <a:off x="8962317" y="3805701"/>
            <a:ext cx="481222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C74745-61DC-73E2-E678-E0C905C99635}"/>
              </a:ext>
            </a:extLst>
          </p:cNvPr>
          <p:cNvSpPr txBox="1"/>
          <p:nvPr/>
        </p:nvSpPr>
        <p:spPr>
          <a:xfrm>
            <a:off x="9629582" y="3805701"/>
            <a:ext cx="1133644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Audio File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E1EA9E-4AEC-2CFC-EDB4-B8FDD5FE4CA6}"/>
              </a:ext>
            </a:extLst>
          </p:cNvPr>
          <p:cNvSpPr txBox="1"/>
          <p:nvPr/>
        </p:nvSpPr>
        <p:spPr>
          <a:xfrm>
            <a:off x="9670771" y="4637722"/>
            <a:ext cx="683200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.MP3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479842-328F-9472-7343-E84B3BA32770}"/>
              </a:ext>
            </a:extLst>
          </p:cNvPr>
          <p:cNvSpPr txBox="1"/>
          <p:nvPr/>
        </p:nvSpPr>
        <p:spPr>
          <a:xfrm>
            <a:off x="10445128" y="4637722"/>
            <a:ext cx="668773" cy="338554"/>
          </a:xfrm>
          <a:prstGeom prst="rect">
            <a:avLst/>
          </a:prstGeom>
          <a:solidFill>
            <a:srgbClr val="435765"/>
          </a:solidFill>
          <a:ln w="25400">
            <a:solidFill>
              <a:srgbClr val="435765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.AAC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B892CA8-DC92-5478-4CB4-D5356729DB7B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2356763" y="4191509"/>
            <a:ext cx="448787" cy="676873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85EF502-240E-6F36-AFD8-6717EB946E47}"/>
              </a:ext>
            </a:extLst>
          </p:cNvPr>
          <p:cNvCxnSpPr>
            <a:cxnSpLocks/>
            <a:stCxn id="14" idx="0"/>
            <a:endCxn id="9" idx="2"/>
          </p:cNvCxnSpPr>
          <p:nvPr/>
        </p:nvCxnSpPr>
        <p:spPr>
          <a:xfrm flipH="1" flipV="1">
            <a:off x="4324830" y="5201445"/>
            <a:ext cx="278058" cy="468754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B4C2543-D6FC-3E2E-6545-15F02DA882AD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3940750" y="5243207"/>
            <a:ext cx="255616" cy="426992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8566FB9-35E0-0CA7-75A5-A8ECC67854DF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3111389" y="4160731"/>
            <a:ext cx="146150" cy="699416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F8D54E1-7F1D-6602-B8D9-93ED8B94C14C}"/>
              </a:ext>
            </a:extLst>
          </p:cNvPr>
          <p:cNvCxnSpPr>
            <a:cxnSpLocks/>
          </p:cNvCxnSpPr>
          <p:nvPr/>
        </p:nvCxnSpPr>
        <p:spPr>
          <a:xfrm flipV="1">
            <a:off x="4130749" y="4191509"/>
            <a:ext cx="462412" cy="676873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BEFD35E-8A57-3110-F0F4-12E614866923}"/>
              </a:ext>
            </a:extLst>
          </p:cNvPr>
          <p:cNvCxnSpPr>
            <a:cxnSpLocks/>
          </p:cNvCxnSpPr>
          <p:nvPr/>
        </p:nvCxnSpPr>
        <p:spPr>
          <a:xfrm flipH="1" flipV="1">
            <a:off x="4859438" y="4191509"/>
            <a:ext cx="185712" cy="668638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8CCF205-601F-D5DE-FA3B-A6643910E054}"/>
              </a:ext>
            </a:extLst>
          </p:cNvPr>
          <p:cNvCxnSpPr>
            <a:cxnSpLocks/>
          </p:cNvCxnSpPr>
          <p:nvPr/>
        </p:nvCxnSpPr>
        <p:spPr>
          <a:xfrm flipV="1">
            <a:off x="3117495" y="2922880"/>
            <a:ext cx="442318" cy="891060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6E6AABC-09B1-E93F-6F21-5E8E4EF95A57}"/>
              </a:ext>
            </a:extLst>
          </p:cNvPr>
          <p:cNvCxnSpPr>
            <a:cxnSpLocks/>
          </p:cNvCxnSpPr>
          <p:nvPr/>
        </p:nvCxnSpPr>
        <p:spPr>
          <a:xfrm flipH="1" flipV="1">
            <a:off x="4130749" y="2922880"/>
            <a:ext cx="543696" cy="891059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CEF3144-43BC-BA05-DB0B-E1E7282902B5}"/>
              </a:ext>
            </a:extLst>
          </p:cNvPr>
          <p:cNvCxnSpPr>
            <a:cxnSpLocks/>
          </p:cNvCxnSpPr>
          <p:nvPr/>
        </p:nvCxnSpPr>
        <p:spPr>
          <a:xfrm flipV="1">
            <a:off x="3875376" y="1795023"/>
            <a:ext cx="2701651" cy="733814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57F046F-CFE0-B979-A2C7-21F8B38E5A4B}"/>
              </a:ext>
            </a:extLst>
          </p:cNvPr>
          <p:cNvCxnSpPr>
            <a:cxnSpLocks/>
          </p:cNvCxnSpPr>
          <p:nvPr/>
        </p:nvCxnSpPr>
        <p:spPr>
          <a:xfrm flipH="1" flipV="1">
            <a:off x="7034227" y="1795023"/>
            <a:ext cx="1759138" cy="742052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E4B8CA0-88F7-C411-30E1-023DB15FD3AC}"/>
              </a:ext>
            </a:extLst>
          </p:cNvPr>
          <p:cNvCxnSpPr>
            <a:cxnSpLocks/>
          </p:cNvCxnSpPr>
          <p:nvPr/>
        </p:nvCxnSpPr>
        <p:spPr>
          <a:xfrm flipH="1" flipV="1">
            <a:off x="10407205" y="4161304"/>
            <a:ext cx="308515" cy="437976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6FA800C-50C8-B4AA-3B01-496A19704FD5}"/>
              </a:ext>
            </a:extLst>
          </p:cNvPr>
          <p:cNvCxnSpPr>
            <a:cxnSpLocks/>
          </p:cNvCxnSpPr>
          <p:nvPr/>
        </p:nvCxnSpPr>
        <p:spPr>
          <a:xfrm flipV="1">
            <a:off x="10043964" y="4172288"/>
            <a:ext cx="248402" cy="426992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5CFF87A-14D9-1DA0-0B36-D0CCF5D5B866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9385348" y="2959265"/>
            <a:ext cx="811056" cy="846436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1B773A7-9193-77B6-652D-A7819C9BEEBA}"/>
              </a:ext>
            </a:extLst>
          </p:cNvPr>
          <p:cNvCxnSpPr>
            <a:cxnSpLocks/>
          </p:cNvCxnSpPr>
          <p:nvPr/>
        </p:nvCxnSpPr>
        <p:spPr>
          <a:xfrm flipH="1" flipV="1">
            <a:off x="9091627" y="2953773"/>
            <a:ext cx="136791" cy="829961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4AE29AC-4877-5845-D434-A6C5F7083BBC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8511306" y="2988779"/>
            <a:ext cx="49782" cy="816922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43A487F-1AA6-3B46-9334-1A41E947136A}"/>
              </a:ext>
            </a:extLst>
          </p:cNvPr>
          <p:cNvCxnSpPr>
            <a:cxnSpLocks/>
          </p:cNvCxnSpPr>
          <p:nvPr/>
        </p:nvCxnSpPr>
        <p:spPr>
          <a:xfrm flipV="1">
            <a:off x="7721419" y="2953773"/>
            <a:ext cx="480853" cy="851928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D77239B-6CE3-1B49-0E0B-F93EF4D5F562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6943769" y="2953773"/>
            <a:ext cx="1042002" cy="843690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C84F91D-A7DA-3641-B232-885C8ADC91EF}"/>
              </a:ext>
            </a:extLst>
          </p:cNvPr>
          <p:cNvSpPr txBox="1"/>
          <p:nvPr/>
        </p:nvSpPr>
        <p:spPr>
          <a:xfrm>
            <a:off x="857879" y="975030"/>
            <a:ext cx="8704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highlight>
                  <a:srgbClr val="FCCA3A"/>
                </a:highlight>
                <a:latin typeface="Inter" panose="02000503000000020004" pitchFamily="2" charset="0"/>
                <a:ea typeface="Inter" panose="02000503000000020004" pitchFamily="2" charset="0"/>
              </a:rPr>
              <a:t>Question: </a:t>
            </a:r>
            <a:r>
              <a:rPr lang="en-GB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Create an inheritance hierarchy for something that you can relate to</a:t>
            </a:r>
            <a:endParaRPr lang="en-US" dirty="0">
              <a:solidFill>
                <a:srgbClr val="435765"/>
              </a:solidFill>
              <a:highlight>
                <a:srgbClr val="FCCA3A"/>
              </a:highlight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5567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8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  <p:bldP spid="28" grpId="0" animBg="1"/>
      <p:bldP spid="29" grpId="0" animBg="1"/>
      <p:bldP spid="31" grpId="0" animBg="1"/>
      <p:bldP spid="32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60773-D94C-D34D-FDCE-AA927F65FFC9}"/>
              </a:ext>
            </a:extLst>
          </p:cNvPr>
          <p:cNvSpPr txBox="1"/>
          <p:nvPr/>
        </p:nvSpPr>
        <p:spPr>
          <a:xfrm>
            <a:off x="3603184" y="2659559"/>
            <a:ext cx="49856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rgbClr val="435765"/>
                </a:solidFill>
                <a:latin typeface="DM Sans" pitchFamily="2" charset="77"/>
              </a:rPr>
              <a:t>Social Network v5</a:t>
            </a:r>
            <a:endParaRPr lang="en-US" sz="4000" dirty="0">
              <a:solidFill>
                <a:srgbClr val="435765"/>
              </a:solidFill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6192679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14D3D-04F6-9ED9-FC92-B4F31E6D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Social Network v4 Recap – Class Diagram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4133573-9B3F-390B-E160-158609B31471}"/>
              </a:ext>
            </a:extLst>
          </p:cNvPr>
          <p:cNvSpPr/>
          <p:nvPr/>
        </p:nvSpPr>
        <p:spPr>
          <a:xfrm>
            <a:off x="821411" y="1379351"/>
            <a:ext cx="2603715" cy="1317356"/>
          </a:xfrm>
          <a:prstGeom prst="roundRect">
            <a:avLst/>
          </a:prstGeom>
          <a:solidFill>
            <a:srgbClr val="0062A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NewsFeed</a:t>
            </a:r>
            <a:endParaRPr lang="en-US" sz="24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602CFF5-8BC5-B5DD-7787-9ECA56754C86}"/>
              </a:ext>
            </a:extLst>
          </p:cNvPr>
          <p:cNvSpPr/>
          <p:nvPr/>
        </p:nvSpPr>
        <p:spPr>
          <a:xfrm>
            <a:off x="4845804" y="2274378"/>
            <a:ext cx="2603715" cy="1317356"/>
          </a:xfrm>
          <a:prstGeom prst="round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MessagePost</a:t>
            </a:r>
            <a:endParaRPr lang="en-US" sz="24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CDC5C1E-6880-F7AA-728A-F6E2BBD7EE7F}"/>
              </a:ext>
            </a:extLst>
          </p:cNvPr>
          <p:cNvSpPr/>
          <p:nvPr/>
        </p:nvSpPr>
        <p:spPr>
          <a:xfrm>
            <a:off x="4845804" y="3988479"/>
            <a:ext cx="2603715" cy="1317356"/>
          </a:xfrm>
          <a:prstGeom prst="roundRect">
            <a:avLst/>
          </a:prstGeom>
          <a:solidFill>
            <a:srgbClr val="FCCA3A"/>
          </a:solidFill>
          <a:ln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435765"/>
                </a:solidFill>
              </a:rPr>
              <a:t>PhotoPost</a:t>
            </a:r>
            <a:endParaRPr lang="en-US" sz="2400" dirty="0">
              <a:solidFill>
                <a:srgbClr val="435765"/>
              </a:solidFill>
            </a:endParaRP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63FAD848-9BA4-1277-5111-BB2E3DCD52D1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3366362" y="1453613"/>
            <a:ext cx="236349" cy="2722535"/>
          </a:xfrm>
          <a:prstGeom prst="bentConnector2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A439AF5B-E5B9-AB6C-D23D-480706FE7B51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 rot="16200000" flipH="1">
            <a:off x="2509311" y="2310664"/>
            <a:ext cx="1950450" cy="2722535"/>
          </a:xfrm>
          <a:prstGeom prst="bentConnector2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167110CC-EE6F-E0B8-5DA4-5E02D2F7A3C6}"/>
              </a:ext>
            </a:extLst>
          </p:cNvPr>
          <p:cNvSpPr/>
          <p:nvPr/>
        </p:nvSpPr>
        <p:spPr>
          <a:xfrm>
            <a:off x="9155227" y="2326516"/>
            <a:ext cx="1712683" cy="740378"/>
          </a:xfrm>
          <a:prstGeom prst="wedgeRoundRectCallout">
            <a:avLst/>
          </a:prstGeom>
          <a:solidFill>
            <a:srgbClr val="435765"/>
          </a:solidFill>
          <a:ln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IE" sz="1200" dirty="0">
              <a:solidFill>
                <a:srgbClr val="E7E9E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just setting up my </a:t>
            </a:r>
            <a:r>
              <a:rPr lang="en-IE" sz="1200" b="0" i="0" dirty="0" err="1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twttr</a:t>
            </a:r>
            <a:endParaRPr lang="en-IE" sz="1200" b="0" i="0" dirty="0">
              <a:solidFill>
                <a:srgbClr val="E7E9EA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br>
              <a:rPr lang="en-IE" sz="1200" dirty="0">
                <a:effectLst/>
              </a:rPr>
            </a:br>
            <a:endParaRPr lang="en-IE" sz="1200" dirty="0">
              <a:effectLst/>
            </a:endParaRPr>
          </a:p>
          <a:p>
            <a:pPr algn="ctr"/>
            <a:endParaRPr lang="en-US" sz="1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ED7E82-8BCD-AF9E-78DD-DC36DAB2895D}"/>
              </a:ext>
            </a:extLst>
          </p:cNvPr>
          <p:cNvGrpSpPr/>
          <p:nvPr/>
        </p:nvGrpSpPr>
        <p:grpSpPr>
          <a:xfrm>
            <a:off x="9155227" y="3467053"/>
            <a:ext cx="1712683" cy="1713257"/>
            <a:chOff x="5138059" y="2103999"/>
            <a:chExt cx="1712683" cy="1713257"/>
          </a:xfrm>
        </p:grpSpPr>
        <p:sp>
          <p:nvSpPr>
            <p:cNvPr id="14" name="Rounded Rectangular Callout 13">
              <a:extLst>
                <a:ext uri="{FF2B5EF4-FFF2-40B4-BE49-F238E27FC236}">
                  <a16:creationId xmlns:a16="http://schemas.microsoft.com/office/drawing/2014/main" id="{44E09FD2-C22B-8D6F-00BA-7CE77A2C874D}"/>
                </a:ext>
              </a:extLst>
            </p:cNvPr>
            <p:cNvSpPr/>
            <p:nvPr/>
          </p:nvSpPr>
          <p:spPr>
            <a:xfrm>
              <a:off x="5138059" y="2103999"/>
              <a:ext cx="1712683" cy="1713257"/>
            </a:xfrm>
            <a:prstGeom prst="wedgeRoundRectCallout">
              <a:avLst/>
            </a:prstGeom>
            <a:solidFill>
              <a:srgbClr val="FCCA3A"/>
            </a:solidFill>
            <a:ln>
              <a:solidFill>
                <a:srgbClr val="4357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b="0" i="0" dirty="0">
                <a:solidFill>
                  <a:srgbClr val="E7E9EA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endParaRPr lang="en-IE" sz="1200" dirty="0">
                <a:solidFill>
                  <a:srgbClr val="E7E9EA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IE" sz="1200" b="0" i="0" dirty="0">
                  <a:solidFill>
                    <a:srgbClr val="435765"/>
                  </a:solidFill>
                  <a:effectLst/>
                  <a:latin typeface="Inter" panose="02000503000000020004" pitchFamily="2" charset="0"/>
                  <a:ea typeface="Inter" panose="02000503000000020004" pitchFamily="2" charset="0"/>
                </a:rPr>
                <a:t>   First post</a:t>
              </a:r>
            </a:p>
            <a:p>
              <a:br>
                <a:rPr lang="en-IE" sz="1200" dirty="0">
                  <a:effectLst/>
                </a:rPr>
              </a:br>
              <a:endParaRPr lang="en-IE" sz="1200" dirty="0">
                <a:effectLst/>
              </a:endParaRPr>
            </a:p>
            <a:p>
              <a:pPr algn="ctr"/>
              <a:endParaRPr lang="en-US" sz="1200" dirty="0"/>
            </a:p>
          </p:txBody>
        </p:sp>
        <p:pic>
          <p:nvPicPr>
            <p:cNvPr id="15" name="Picture 14" descr="A picture containing dark&#10;&#10;Description automatically generated">
              <a:extLst>
                <a:ext uri="{FF2B5EF4-FFF2-40B4-BE49-F238E27FC236}">
                  <a16:creationId xmlns:a16="http://schemas.microsoft.com/office/drawing/2014/main" id="{BCB445EE-7BC4-1DA8-7D9A-E67208C30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08130" y="2133028"/>
              <a:ext cx="1172540" cy="11843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87191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945D-7DD0-515B-47E4-2BE2F326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Critique of Social Network v4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C51C2-2A3D-4E1A-A7A0-A49F6D43A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5765"/>
                </a:solidFill>
              </a:rPr>
              <a:t>Code duplication: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35765"/>
                </a:solidFill>
                <a:highlight>
                  <a:srgbClr val="FCCA3A"/>
                </a:highlight>
              </a:rPr>
              <a:t>MessagePost</a:t>
            </a:r>
            <a:r>
              <a:rPr lang="en-US" dirty="0">
                <a:solidFill>
                  <a:srgbClr val="435765"/>
                </a:solidFill>
              </a:rPr>
              <a:t> and </a:t>
            </a:r>
            <a:r>
              <a:rPr lang="en-US" dirty="0" err="1">
                <a:solidFill>
                  <a:srgbClr val="435765"/>
                </a:solidFill>
                <a:highlight>
                  <a:srgbClr val="FCCA3A"/>
                </a:highlight>
              </a:rPr>
              <a:t>PhotoPost</a:t>
            </a:r>
            <a:r>
              <a:rPr lang="en-US" dirty="0">
                <a:solidFill>
                  <a:srgbClr val="435765"/>
                </a:solidFill>
              </a:rPr>
              <a:t> classes </a:t>
            </a:r>
            <a:r>
              <a:rPr lang="en-US" i="1" dirty="0">
                <a:solidFill>
                  <a:srgbClr val="435765"/>
                </a:solidFill>
              </a:rPr>
              <a:t>very similar (large parts are identical)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5765"/>
                </a:solidFill>
              </a:rPr>
              <a:t>makes </a:t>
            </a:r>
            <a:r>
              <a:rPr lang="en-US" b="1" dirty="0">
                <a:solidFill>
                  <a:srgbClr val="435765"/>
                </a:solidFill>
              </a:rPr>
              <a:t>maintenance</a:t>
            </a:r>
            <a:r>
              <a:rPr lang="en-US" dirty="0">
                <a:solidFill>
                  <a:srgbClr val="435765"/>
                </a:solidFill>
              </a:rPr>
              <a:t> difficult/more work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5765"/>
                </a:solidFill>
              </a:rPr>
              <a:t>introduces </a:t>
            </a:r>
            <a:r>
              <a:rPr lang="en-US" b="1" dirty="0">
                <a:solidFill>
                  <a:srgbClr val="435765"/>
                </a:solidFill>
              </a:rPr>
              <a:t>danger of bugs </a:t>
            </a:r>
            <a:r>
              <a:rPr lang="en-US" dirty="0">
                <a:solidFill>
                  <a:srgbClr val="435765"/>
                </a:solidFill>
              </a:rPr>
              <a:t>through incorrect maintenance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43576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5765"/>
                </a:solidFill>
              </a:rPr>
              <a:t>Code duplication in </a:t>
            </a:r>
            <a:r>
              <a:rPr lang="en-US" b="1" dirty="0" err="1">
                <a:solidFill>
                  <a:srgbClr val="435765"/>
                </a:solidFill>
              </a:rPr>
              <a:t>NewsFeed</a:t>
            </a:r>
            <a:r>
              <a:rPr lang="en-US" b="1" dirty="0">
                <a:solidFill>
                  <a:srgbClr val="435765"/>
                </a:solidFill>
              </a:rPr>
              <a:t> class </a:t>
            </a:r>
            <a:r>
              <a:rPr lang="en-US" dirty="0">
                <a:solidFill>
                  <a:srgbClr val="435765"/>
                </a:solidFill>
              </a:rPr>
              <a:t>as well.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30232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14D3D-04F6-9ED9-FC92-B4F31E6D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Social Network v5 Class Diagram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4133573-9B3F-390B-E160-158609B31471}"/>
              </a:ext>
            </a:extLst>
          </p:cNvPr>
          <p:cNvSpPr/>
          <p:nvPr/>
        </p:nvSpPr>
        <p:spPr>
          <a:xfrm>
            <a:off x="821411" y="1379351"/>
            <a:ext cx="2603715" cy="1317356"/>
          </a:xfrm>
          <a:prstGeom prst="roundRect">
            <a:avLst/>
          </a:prstGeom>
          <a:solidFill>
            <a:srgbClr val="0062A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NewsFeed</a:t>
            </a:r>
            <a:endParaRPr lang="en-US" sz="24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602CFF5-8BC5-B5DD-7787-9ECA56754C86}"/>
              </a:ext>
            </a:extLst>
          </p:cNvPr>
          <p:cNvSpPr/>
          <p:nvPr/>
        </p:nvSpPr>
        <p:spPr>
          <a:xfrm>
            <a:off x="2944676" y="4364141"/>
            <a:ext cx="2603715" cy="1317356"/>
          </a:xfrm>
          <a:prstGeom prst="roundRect">
            <a:avLst/>
          </a:prstGeom>
          <a:solidFill>
            <a:srgbClr val="FCCA3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435765"/>
                </a:solidFill>
              </a:rPr>
              <a:t>MessagePost</a:t>
            </a:r>
            <a:endParaRPr lang="en-US" sz="2400" dirty="0">
              <a:solidFill>
                <a:srgbClr val="435765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CDC5C1E-6880-F7AA-728A-F6E2BBD7EE7F}"/>
              </a:ext>
            </a:extLst>
          </p:cNvPr>
          <p:cNvSpPr/>
          <p:nvPr/>
        </p:nvSpPr>
        <p:spPr>
          <a:xfrm>
            <a:off x="6850249" y="4364141"/>
            <a:ext cx="2603715" cy="1317356"/>
          </a:xfrm>
          <a:prstGeom prst="roundRect">
            <a:avLst/>
          </a:prstGeom>
          <a:solidFill>
            <a:srgbClr val="FCCA3A"/>
          </a:solidFill>
          <a:ln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435765"/>
                </a:solidFill>
              </a:rPr>
              <a:t>PhotoPost</a:t>
            </a:r>
            <a:endParaRPr lang="en-US" sz="2400" dirty="0">
              <a:solidFill>
                <a:srgbClr val="435765"/>
              </a:solidFill>
            </a:endParaRP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A439AF5B-E5B9-AB6C-D23D-480706FE7B51}"/>
              </a:ext>
            </a:extLst>
          </p:cNvPr>
          <p:cNvCxnSpPr>
            <a:cxnSpLocks/>
            <a:stCxn id="4" idx="2"/>
            <a:endCxn id="17" idx="1"/>
          </p:cNvCxnSpPr>
          <p:nvPr/>
        </p:nvCxnSpPr>
        <p:spPr>
          <a:xfrm rot="16200000" flipH="1">
            <a:off x="3166946" y="1653029"/>
            <a:ext cx="630017" cy="2717371"/>
          </a:xfrm>
          <a:prstGeom prst="bentConnector2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D147BA6-ADB5-BC22-3D73-95040DE6EC39}"/>
              </a:ext>
            </a:extLst>
          </p:cNvPr>
          <p:cNvSpPr/>
          <p:nvPr/>
        </p:nvSpPr>
        <p:spPr>
          <a:xfrm>
            <a:off x="4840640" y="2668046"/>
            <a:ext cx="2603715" cy="1317356"/>
          </a:xfrm>
          <a:prstGeom prst="round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Post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AC67A4-D2CC-3BED-8E8B-FED9B911EDAF}"/>
              </a:ext>
            </a:extLst>
          </p:cNvPr>
          <p:cNvCxnSpPr>
            <a:stCxn id="17" idx="2"/>
            <a:endCxn id="5" idx="0"/>
          </p:cNvCxnSpPr>
          <p:nvPr/>
        </p:nvCxnSpPr>
        <p:spPr>
          <a:xfrm flipH="1">
            <a:off x="4246534" y="3985402"/>
            <a:ext cx="1895964" cy="378739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B88F8A-BEAD-1301-0AC9-52ABE567129D}"/>
              </a:ext>
            </a:extLst>
          </p:cNvPr>
          <p:cNvCxnSpPr>
            <a:cxnSpLocks/>
            <a:stCxn id="17" idx="2"/>
            <a:endCxn id="6" idx="0"/>
          </p:cNvCxnSpPr>
          <p:nvPr/>
        </p:nvCxnSpPr>
        <p:spPr>
          <a:xfrm>
            <a:off x="6142498" y="3985402"/>
            <a:ext cx="2009609" cy="378739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6418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D6E4-7FA9-0947-FD0A-BB2F720B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Network v5 - Classes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D8EE782-0828-C1EB-94D4-BB590B3BB6BB}"/>
              </a:ext>
            </a:extLst>
          </p:cNvPr>
          <p:cNvGrpSpPr/>
          <p:nvPr/>
        </p:nvGrpSpPr>
        <p:grpSpPr>
          <a:xfrm>
            <a:off x="5119218" y="1149525"/>
            <a:ext cx="2481943" cy="3855634"/>
            <a:chOff x="2627086" y="1320801"/>
            <a:chExt cx="2481943" cy="385563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1598BE4-AA1F-9D23-F2FD-EFAD3CB1C763}"/>
                </a:ext>
              </a:extLst>
            </p:cNvPr>
            <p:cNvGrpSpPr/>
            <p:nvPr/>
          </p:nvGrpSpPr>
          <p:grpSpPr>
            <a:xfrm>
              <a:off x="2627086" y="1320801"/>
              <a:ext cx="2481943" cy="3855634"/>
              <a:chOff x="2627086" y="1320802"/>
              <a:chExt cx="2481943" cy="3393957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F9D0C56A-5BAC-7C5E-21FE-CD246095A15D}"/>
                  </a:ext>
                </a:extLst>
              </p:cNvPr>
              <p:cNvSpPr/>
              <p:nvPr/>
            </p:nvSpPr>
            <p:spPr>
              <a:xfrm>
                <a:off x="2627086" y="1320802"/>
                <a:ext cx="2481943" cy="3393957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43FFE0-0C51-1107-1AE9-1E233605F493}"/>
                  </a:ext>
                </a:extLst>
              </p:cNvPr>
              <p:cNvSpPr txBox="1"/>
              <p:nvPr/>
            </p:nvSpPr>
            <p:spPr>
              <a:xfrm>
                <a:off x="2799267" y="1448333"/>
                <a:ext cx="671979" cy="325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CCA3A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Post</a:t>
                </a:r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CBED639-A6A6-6235-EA7B-9E433C0C7CB0}"/>
                </a:ext>
              </a:extLst>
            </p:cNvPr>
            <p:cNvSpPr/>
            <p:nvPr/>
          </p:nvSpPr>
          <p:spPr>
            <a:xfrm>
              <a:off x="2799267" y="1854256"/>
              <a:ext cx="2135590" cy="316873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435765"/>
                  </a:solidFill>
                </a:rPr>
                <a:t>username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timestamp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likes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comments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_________________</a:t>
              </a:r>
            </a:p>
            <a:p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>
                  <a:solidFill>
                    <a:srgbClr val="435765"/>
                  </a:solidFill>
                </a:rPr>
                <a:t>like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unlike</a:t>
              </a:r>
            </a:p>
            <a:p>
              <a:r>
                <a:rPr lang="en-US" dirty="0" err="1">
                  <a:solidFill>
                    <a:srgbClr val="435765"/>
                  </a:solidFill>
                </a:rPr>
                <a:t>addComment</a:t>
              </a:r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getTimestamp</a:t>
              </a:r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>
                  <a:solidFill>
                    <a:srgbClr val="435765"/>
                  </a:solidFill>
                </a:rPr>
                <a:t>display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5477510-E7E2-9212-3BD9-9CB66C1309B9}"/>
              </a:ext>
            </a:extLst>
          </p:cNvPr>
          <p:cNvGrpSpPr/>
          <p:nvPr/>
        </p:nvGrpSpPr>
        <p:grpSpPr>
          <a:xfrm>
            <a:off x="8757037" y="3077342"/>
            <a:ext cx="2481943" cy="2755254"/>
            <a:chOff x="7082972" y="1320801"/>
            <a:chExt cx="2481943" cy="275525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5C80857-57D3-98BC-815B-A31971996A2E}"/>
                </a:ext>
              </a:extLst>
            </p:cNvPr>
            <p:cNvGrpSpPr/>
            <p:nvPr/>
          </p:nvGrpSpPr>
          <p:grpSpPr>
            <a:xfrm>
              <a:off x="7082972" y="1320801"/>
              <a:ext cx="2481943" cy="2755254"/>
              <a:chOff x="2627086" y="1320802"/>
              <a:chExt cx="2481943" cy="2523619"/>
            </a:xfrm>
          </p:grpSpPr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F885DD93-8E97-E4C3-7844-9270259A9B6E}"/>
                  </a:ext>
                </a:extLst>
              </p:cNvPr>
              <p:cNvSpPr/>
              <p:nvPr/>
            </p:nvSpPr>
            <p:spPr>
              <a:xfrm>
                <a:off x="2627086" y="1320802"/>
                <a:ext cx="2481943" cy="2523619"/>
              </a:xfrm>
              <a:prstGeom prst="roundRect">
                <a:avLst/>
              </a:prstGeom>
              <a:solidFill>
                <a:srgbClr val="FCCA3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3E45D67-48BA-6C0D-ED91-2DC81B755326}"/>
                  </a:ext>
                </a:extLst>
              </p:cNvPr>
              <p:cNvSpPr txBox="1"/>
              <p:nvPr/>
            </p:nvSpPr>
            <p:spPr>
              <a:xfrm>
                <a:off x="2799267" y="1406380"/>
                <a:ext cx="1313180" cy="338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435765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PhotoPost</a:t>
                </a:r>
                <a:endParaRPr lang="en-US" dirty="0">
                  <a:solidFill>
                    <a:srgbClr val="435765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9F09E9-9FC9-4DDF-5803-EC16DD2D649C}"/>
                </a:ext>
              </a:extLst>
            </p:cNvPr>
            <p:cNvSpPr/>
            <p:nvPr/>
          </p:nvSpPr>
          <p:spPr>
            <a:xfrm>
              <a:off x="7257143" y="1727313"/>
              <a:ext cx="2135590" cy="193028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435765"/>
                  </a:solidFill>
                </a:rPr>
                <a:t>filename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caption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_________________</a:t>
              </a:r>
            </a:p>
            <a:p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getImageFile</a:t>
              </a:r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getCaption</a:t>
              </a:r>
              <a:endParaRPr lang="en-US" dirty="0">
                <a:solidFill>
                  <a:srgbClr val="435765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99722A8-1F66-54A5-03B1-9F230744C2FA}"/>
              </a:ext>
            </a:extLst>
          </p:cNvPr>
          <p:cNvGrpSpPr/>
          <p:nvPr/>
        </p:nvGrpSpPr>
        <p:grpSpPr>
          <a:xfrm>
            <a:off x="1481399" y="3833386"/>
            <a:ext cx="2481943" cy="2036656"/>
            <a:chOff x="7082972" y="1320801"/>
            <a:chExt cx="2481943" cy="2036656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9541D3-0B92-F259-E54E-B044198440AA}"/>
                </a:ext>
              </a:extLst>
            </p:cNvPr>
            <p:cNvGrpSpPr/>
            <p:nvPr/>
          </p:nvGrpSpPr>
          <p:grpSpPr>
            <a:xfrm>
              <a:off x="7082972" y="1320801"/>
              <a:ext cx="2481943" cy="2036656"/>
              <a:chOff x="2627086" y="1320802"/>
              <a:chExt cx="2481943" cy="1865434"/>
            </a:xfrm>
          </p:grpSpPr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02203100-FCBB-BA56-ED75-CB1C03CD2394}"/>
                  </a:ext>
                </a:extLst>
              </p:cNvPr>
              <p:cNvSpPr/>
              <p:nvPr/>
            </p:nvSpPr>
            <p:spPr>
              <a:xfrm>
                <a:off x="2627086" y="1320802"/>
                <a:ext cx="2481943" cy="1865434"/>
              </a:xfrm>
              <a:prstGeom prst="roundRect">
                <a:avLst/>
              </a:prstGeom>
              <a:solidFill>
                <a:srgbClr val="FCCA3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AA73655-8056-239F-BEAE-60D2883EC158}"/>
                  </a:ext>
                </a:extLst>
              </p:cNvPr>
              <p:cNvSpPr txBox="1"/>
              <p:nvPr/>
            </p:nvSpPr>
            <p:spPr>
              <a:xfrm>
                <a:off x="2799267" y="1406380"/>
                <a:ext cx="1657826" cy="338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435765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MessagePost</a:t>
                </a:r>
                <a:endParaRPr lang="en-US" dirty="0">
                  <a:solidFill>
                    <a:srgbClr val="435765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6D08011-2208-5C7C-8262-7076EDFBE48D}"/>
                </a:ext>
              </a:extLst>
            </p:cNvPr>
            <p:cNvSpPr/>
            <p:nvPr/>
          </p:nvSpPr>
          <p:spPr>
            <a:xfrm>
              <a:off x="7257143" y="1727313"/>
              <a:ext cx="2135590" cy="12744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435765"/>
                  </a:solidFill>
                </a:rPr>
                <a:t>message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_________________</a:t>
              </a:r>
            </a:p>
            <a:p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getText</a:t>
              </a:r>
              <a:endParaRPr lang="en-US" dirty="0">
                <a:solidFill>
                  <a:srgbClr val="435765"/>
                </a:solidFill>
              </a:endParaRP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13ED19F-98B2-8229-416F-CA9CC8AE5A4F}"/>
              </a:ext>
            </a:extLst>
          </p:cNvPr>
          <p:cNvCxnSpPr>
            <a:cxnSpLocks/>
            <a:stCxn id="35" idx="1"/>
            <a:endCxn id="17" idx="3"/>
          </p:cNvCxnSpPr>
          <p:nvPr/>
        </p:nvCxnSpPr>
        <p:spPr>
          <a:xfrm flipH="1" flipV="1">
            <a:off x="7601161" y="3077342"/>
            <a:ext cx="1155876" cy="1377627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1B65C01-F7E2-A8C8-A0E1-C1C9578EBAFC}"/>
              </a:ext>
            </a:extLst>
          </p:cNvPr>
          <p:cNvCxnSpPr>
            <a:cxnSpLocks/>
            <a:stCxn id="58" idx="3"/>
            <a:endCxn id="17" idx="1"/>
          </p:cNvCxnSpPr>
          <p:nvPr/>
        </p:nvCxnSpPr>
        <p:spPr>
          <a:xfrm flipV="1">
            <a:off x="3963342" y="3077342"/>
            <a:ext cx="1155876" cy="1774372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0207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D6E4-7FA9-0947-FD0A-BB2F720B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Network v5 - Classes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D8EE782-0828-C1EB-94D4-BB590B3BB6BB}"/>
              </a:ext>
            </a:extLst>
          </p:cNvPr>
          <p:cNvGrpSpPr/>
          <p:nvPr/>
        </p:nvGrpSpPr>
        <p:grpSpPr>
          <a:xfrm>
            <a:off x="5119218" y="1149525"/>
            <a:ext cx="2481943" cy="3855634"/>
            <a:chOff x="2627086" y="1320801"/>
            <a:chExt cx="2481943" cy="385563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1598BE4-AA1F-9D23-F2FD-EFAD3CB1C763}"/>
                </a:ext>
              </a:extLst>
            </p:cNvPr>
            <p:cNvGrpSpPr/>
            <p:nvPr/>
          </p:nvGrpSpPr>
          <p:grpSpPr>
            <a:xfrm>
              <a:off x="2627086" y="1320801"/>
              <a:ext cx="2481943" cy="3855634"/>
              <a:chOff x="2627086" y="1320802"/>
              <a:chExt cx="2481943" cy="3393957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F9D0C56A-5BAC-7C5E-21FE-CD246095A15D}"/>
                  </a:ext>
                </a:extLst>
              </p:cNvPr>
              <p:cNvSpPr/>
              <p:nvPr/>
            </p:nvSpPr>
            <p:spPr>
              <a:xfrm>
                <a:off x="2627086" y="1320802"/>
                <a:ext cx="2481943" cy="3393957"/>
              </a:xfrm>
              <a:prstGeom prst="roundRect">
                <a:avLst/>
              </a:prstGeom>
              <a:solidFill>
                <a:srgbClr val="43576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43FFE0-0C51-1107-1AE9-1E233605F493}"/>
                  </a:ext>
                </a:extLst>
              </p:cNvPr>
              <p:cNvSpPr txBox="1"/>
              <p:nvPr/>
            </p:nvSpPr>
            <p:spPr>
              <a:xfrm>
                <a:off x="2799267" y="1448333"/>
                <a:ext cx="671979" cy="325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CCA3A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Post</a:t>
                </a:r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CBED639-A6A6-6235-EA7B-9E433C0C7CB0}"/>
                </a:ext>
              </a:extLst>
            </p:cNvPr>
            <p:cNvSpPr/>
            <p:nvPr/>
          </p:nvSpPr>
          <p:spPr>
            <a:xfrm>
              <a:off x="2799267" y="1854256"/>
              <a:ext cx="2135590" cy="316873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435765"/>
                  </a:solidFill>
                </a:rPr>
                <a:t>username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timestamp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likes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comments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_________________</a:t>
              </a:r>
            </a:p>
            <a:p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>
                  <a:solidFill>
                    <a:srgbClr val="435765"/>
                  </a:solidFill>
                </a:rPr>
                <a:t>like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unlike</a:t>
              </a:r>
            </a:p>
            <a:p>
              <a:r>
                <a:rPr lang="en-US" dirty="0" err="1">
                  <a:solidFill>
                    <a:srgbClr val="435765"/>
                  </a:solidFill>
                </a:rPr>
                <a:t>addComment</a:t>
              </a:r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getTimestamp</a:t>
              </a:r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>
                  <a:solidFill>
                    <a:srgbClr val="435765"/>
                  </a:solidFill>
                </a:rPr>
                <a:t>display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5477510-E7E2-9212-3BD9-9CB66C1309B9}"/>
              </a:ext>
            </a:extLst>
          </p:cNvPr>
          <p:cNvGrpSpPr/>
          <p:nvPr/>
        </p:nvGrpSpPr>
        <p:grpSpPr>
          <a:xfrm>
            <a:off x="8757037" y="3077342"/>
            <a:ext cx="2481943" cy="2755254"/>
            <a:chOff x="7082972" y="1320801"/>
            <a:chExt cx="2481943" cy="275525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5C80857-57D3-98BC-815B-A31971996A2E}"/>
                </a:ext>
              </a:extLst>
            </p:cNvPr>
            <p:cNvGrpSpPr/>
            <p:nvPr/>
          </p:nvGrpSpPr>
          <p:grpSpPr>
            <a:xfrm>
              <a:off x="7082972" y="1320801"/>
              <a:ext cx="2481943" cy="2755254"/>
              <a:chOff x="2627086" y="1320802"/>
              <a:chExt cx="2481943" cy="2523619"/>
            </a:xfrm>
          </p:grpSpPr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F885DD93-8E97-E4C3-7844-9270259A9B6E}"/>
                  </a:ext>
                </a:extLst>
              </p:cNvPr>
              <p:cNvSpPr/>
              <p:nvPr/>
            </p:nvSpPr>
            <p:spPr>
              <a:xfrm>
                <a:off x="2627086" y="1320802"/>
                <a:ext cx="2481943" cy="2523619"/>
              </a:xfrm>
              <a:prstGeom prst="roundRect">
                <a:avLst/>
              </a:prstGeom>
              <a:solidFill>
                <a:srgbClr val="FCCA3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3E45D67-48BA-6C0D-ED91-2DC81B755326}"/>
                  </a:ext>
                </a:extLst>
              </p:cNvPr>
              <p:cNvSpPr txBox="1"/>
              <p:nvPr/>
            </p:nvSpPr>
            <p:spPr>
              <a:xfrm>
                <a:off x="2799267" y="1406380"/>
                <a:ext cx="1313180" cy="338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435765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PhotoPost</a:t>
                </a:r>
                <a:endParaRPr lang="en-US" dirty="0">
                  <a:solidFill>
                    <a:srgbClr val="435765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9F09E9-9FC9-4DDF-5803-EC16DD2D649C}"/>
                </a:ext>
              </a:extLst>
            </p:cNvPr>
            <p:cNvSpPr/>
            <p:nvPr/>
          </p:nvSpPr>
          <p:spPr>
            <a:xfrm>
              <a:off x="7257143" y="1727313"/>
              <a:ext cx="2135590" cy="193028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435765"/>
                  </a:solidFill>
                </a:rPr>
                <a:t>filename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caption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_________________</a:t>
              </a:r>
            </a:p>
            <a:p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getImageFile</a:t>
              </a:r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getCaption</a:t>
              </a:r>
              <a:endParaRPr lang="en-US" dirty="0">
                <a:solidFill>
                  <a:srgbClr val="435765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99722A8-1F66-54A5-03B1-9F230744C2FA}"/>
              </a:ext>
            </a:extLst>
          </p:cNvPr>
          <p:cNvGrpSpPr/>
          <p:nvPr/>
        </p:nvGrpSpPr>
        <p:grpSpPr>
          <a:xfrm>
            <a:off x="1481399" y="3833386"/>
            <a:ext cx="2481943" cy="2036656"/>
            <a:chOff x="7082972" y="1320801"/>
            <a:chExt cx="2481943" cy="2036656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9541D3-0B92-F259-E54E-B044198440AA}"/>
                </a:ext>
              </a:extLst>
            </p:cNvPr>
            <p:cNvGrpSpPr/>
            <p:nvPr/>
          </p:nvGrpSpPr>
          <p:grpSpPr>
            <a:xfrm>
              <a:off x="7082972" y="1320801"/>
              <a:ext cx="2481943" cy="2036656"/>
              <a:chOff x="2627086" y="1320802"/>
              <a:chExt cx="2481943" cy="1865434"/>
            </a:xfrm>
          </p:grpSpPr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02203100-FCBB-BA56-ED75-CB1C03CD2394}"/>
                  </a:ext>
                </a:extLst>
              </p:cNvPr>
              <p:cNvSpPr/>
              <p:nvPr/>
            </p:nvSpPr>
            <p:spPr>
              <a:xfrm>
                <a:off x="2627086" y="1320802"/>
                <a:ext cx="2481943" cy="1865434"/>
              </a:xfrm>
              <a:prstGeom prst="roundRect">
                <a:avLst/>
              </a:prstGeom>
              <a:solidFill>
                <a:srgbClr val="FCCA3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AA73655-8056-239F-BEAE-60D2883EC158}"/>
                  </a:ext>
                </a:extLst>
              </p:cNvPr>
              <p:cNvSpPr txBox="1"/>
              <p:nvPr/>
            </p:nvSpPr>
            <p:spPr>
              <a:xfrm>
                <a:off x="2799267" y="1406380"/>
                <a:ext cx="1657826" cy="338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rgbClr val="435765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MessagePost</a:t>
                </a:r>
                <a:endParaRPr lang="en-US" dirty="0">
                  <a:solidFill>
                    <a:srgbClr val="435765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6D08011-2208-5C7C-8262-7076EDFBE48D}"/>
                </a:ext>
              </a:extLst>
            </p:cNvPr>
            <p:cNvSpPr/>
            <p:nvPr/>
          </p:nvSpPr>
          <p:spPr>
            <a:xfrm>
              <a:off x="7257143" y="1727313"/>
              <a:ext cx="2135590" cy="127442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435765"/>
                  </a:solidFill>
                </a:rPr>
                <a:t>message</a:t>
              </a:r>
            </a:p>
            <a:p>
              <a:r>
                <a:rPr lang="en-US" dirty="0">
                  <a:solidFill>
                    <a:srgbClr val="435765"/>
                  </a:solidFill>
                </a:rPr>
                <a:t>_________________</a:t>
              </a:r>
            </a:p>
            <a:p>
              <a:endParaRPr lang="en-US" dirty="0">
                <a:solidFill>
                  <a:srgbClr val="435765"/>
                </a:solidFill>
              </a:endParaRPr>
            </a:p>
            <a:p>
              <a:r>
                <a:rPr lang="en-US" dirty="0" err="1">
                  <a:solidFill>
                    <a:srgbClr val="435765"/>
                  </a:solidFill>
                </a:rPr>
                <a:t>getText</a:t>
              </a:r>
              <a:endParaRPr lang="en-US" dirty="0">
                <a:solidFill>
                  <a:srgbClr val="435765"/>
                </a:solidFill>
              </a:endParaRP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13ED19F-98B2-8229-416F-CA9CC8AE5A4F}"/>
              </a:ext>
            </a:extLst>
          </p:cNvPr>
          <p:cNvCxnSpPr>
            <a:stCxn id="17" idx="3"/>
            <a:endCxn id="35" idx="1"/>
          </p:cNvCxnSpPr>
          <p:nvPr/>
        </p:nvCxnSpPr>
        <p:spPr>
          <a:xfrm>
            <a:off x="7601161" y="3077342"/>
            <a:ext cx="1155876" cy="1377627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1B65C01-F7E2-A8C8-A0E1-C1C9578EBAFC}"/>
              </a:ext>
            </a:extLst>
          </p:cNvPr>
          <p:cNvCxnSpPr>
            <a:cxnSpLocks/>
            <a:stCxn id="17" idx="1"/>
            <a:endCxn id="58" idx="3"/>
          </p:cNvCxnSpPr>
          <p:nvPr/>
        </p:nvCxnSpPr>
        <p:spPr>
          <a:xfrm flipH="1">
            <a:off x="3963342" y="3077342"/>
            <a:ext cx="1155876" cy="1774372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DE97E55-CF21-FB67-4147-5DD1E239F73A}"/>
              </a:ext>
            </a:extLst>
          </p:cNvPr>
          <p:cNvSpPr txBox="1"/>
          <p:nvPr/>
        </p:nvSpPr>
        <p:spPr>
          <a:xfrm>
            <a:off x="3624743" y="3148456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Inherits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5FD015-8D65-4DAA-68D8-2BCCCCFA8DB1}"/>
              </a:ext>
            </a:extLst>
          </p:cNvPr>
          <p:cNvSpPr txBox="1"/>
          <p:nvPr/>
        </p:nvSpPr>
        <p:spPr>
          <a:xfrm>
            <a:off x="7761252" y="2986109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Inherits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8218D0-2153-5A0B-7B57-ED6330EE7512}"/>
              </a:ext>
            </a:extLst>
          </p:cNvPr>
          <p:cNvSpPr txBox="1"/>
          <p:nvPr/>
        </p:nvSpPr>
        <p:spPr>
          <a:xfrm>
            <a:off x="1645846" y="3510771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Sub</a:t>
            </a: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class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FB037-7233-ED6C-37AC-CA73E4306534}"/>
              </a:ext>
            </a:extLst>
          </p:cNvPr>
          <p:cNvSpPr txBox="1"/>
          <p:nvPr/>
        </p:nvSpPr>
        <p:spPr>
          <a:xfrm>
            <a:off x="9039825" y="2733905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Sub</a:t>
            </a: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class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F72208-BE7B-8C69-5E08-52B21320E0B7}"/>
              </a:ext>
            </a:extLst>
          </p:cNvPr>
          <p:cNvSpPr txBox="1"/>
          <p:nvPr/>
        </p:nvSpPr>
        <p:spPr>
          <a:xfrm>
            <a:off x="3481435" y="1209845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Super</a:t>
            </a: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class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23BEA0F-AB68-1772-C1D3-75CDC1EBF631}"/>
              </a:ext>
            </a:extLst>
          </p:cNvPr>
          <p:cNvSpPr/>
          <p:nvPr/>
        </p:nvSpPr>
        <p:spPr>
          <a:xfrm>
            <a:off x="5274200" y="1663736"/>
            <a:ext cx="2087494" cy="1322373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00D823-770F-9BFD-275A-422F94474F14}"/>
              </a:ext>
            </a:extLst>
          </p:cNvPr>
          <p:cNvCxnSpPr>
            <a:stCxn id="13" idx="3"/>
          </p:cNvCxnSpPr>
          <p:nvPr/>
        </p:nvCxnSpPr>
        <p:spPr>
          <a:xfrm flipV="1">
            <a:off x="7361694" y="1479070"/>
            <a:ext cx="1503959" cy="845853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94E20C-CBE8-60EC-86DD-6FF26F7D96EA}"/>
              </a:ext>
            </a:extLst>
          </p:cNvPr>
          <p:cNvSpPr txBox="1"/>
          <p:nvPr/>
        </p:nvSpPr>
        <p:spPr>
          <a:xfrm>
            <a:off x="8865653" y="1294404"/>
            <a:ext cx="2308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Common Attributes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381129D-BC68-D7E4-2680-288936181C10}"/>
              </a:ext>
            </a:extLst>
          </p:cNvPr>
          <p:cNvSpPr/>
          <p:nvPr/>
        </p:nvSpPr>
        <p:spPr>
          <a:xfrm>
            <a:off x="8929218" y="3540107"/>
            <a:ext cx="2087494" cy="699792"/>
          </a:xfrm>
          <a:prstGeom prst="roundRect">
            <a:avLst/>
          </a:prstGeom>
          <a:noFill/>
          <a:ln w="38100"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00D786-12C6-7BE6-B8A7-9E0D78D6AEEB}"/>
              </a:ext>
            </a:extLst>
          </p:cNvPr>
          <p:cNvCxnSpPr>
            <a:cxnSpLocks/>
          </p:cNvCxnSpPr>
          <p:nvPr/>
        </p:nvCxnSpPr>
        <p:spPr>
          <a:xfrm flipV="1">
            <a:off x="10414579" y="2569753"/>
            <a:ext cx="0" cy="970354"/>
          </a:xfrm>
          <a:prstGeom prst="straightConnector1">
            <a:avLst/>
          </a:prstGeom>
          <a:ln w="38100">
            <a:solidFill>
              <a:srgbClr val="4357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3826078-9ED0-D26A-61B2-640E27FCBFE0}"/>
              </a:ext>
            </a:extLst>
          </p:cNvPr>
          <p:cNvSpPr txBox="1"/>
          <p:nvPr/>
        </p:nvSpPr>
        <p:spPr>
          <a:xfrm>
            <a:off x="8522215" y="2060557"/>
            <a:ext cx="3392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Inherit </a:t>
            </a:r>
            <a:r>
              <a:rPr lang="en-IE" sz="1400" b="1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superclass attributes </a:t>
            </a:r>
          </a:p>
          <a:p>
            <a:r>
              <a:rPr lang="en-IE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and add their own </a:t>
            </a:r>
            <a:r>
              <a:rPr lang="en-IE" sz="1400" b="1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specific attributes</a:t>
            </a:r>
            <a:endParaRPr lang="en-US" sz="1400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F0A29AC-8E61-CA7B-636A-8E0D8A91021D}"/>
              </a:ext>
            </a:extLst>
          </p:cNvPr>
          <p:cNvSpPr/>
          <p:nvPr/>
        </p:nvSpPr>
        <p:spPr>
          <a:xfrm>
            <a:off x="8522215" y="2060557"/>
            <a:ext cx="3392275" cy="540192"/>
          </a:xfrm>
          <a:prstGeom prst="roundRect">
            <a:avLst/>
          </a:prstGeom>
          <a:noFill/>
          <a:ln w="38100">
            <a:solidFill>
              <a:srgbClr val="4357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766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 animBg="1"/>
      <p:bldP spid="16" grpId="0"/>
      <p:bldP spid="26" grpId="0" animBg="1"/>
      <p:bldP spid="30" grpId="0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F785-E7A3-4A6D-B7AE-D7600287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Social Network v5 – Inheritance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5B8AA-AAC4-2419-3221-6431221DD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3000" b="0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define one 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superclass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  <a:cs typeface="Courier New"/>
              </a:rPr>
              <a:t>Post</a:t>
            </a:r>
            <a:b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  <a:cs typeface="Courier New"/>
              </a:rPr>
            </a:br>
            <a:endParaRPr kumimoji="0" lang="en-GB" sz="2600" b="1" i="0" u="none" strike="noStrike" kern="1200" cap="none" spc="0" normalizeH="0" baseline="0" noProof="0" dirty="0">
              <a:ln>
                <a:noFill/>
              </a:ln>
              <a:solidFill>
                <a:srgbClr val="435765"/>
              </a:solidFill>
              <a:effectLst/>
              <a:uLnTx/>
              <a:uFillTx/>
              <a:cs typeface="Courier New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3000" b="0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define 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subclasses</a:t>
            </a:r>
            <a:r>
              <a:rPr kumimoji="0" lang="en-GB" sz="3000" b="0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 for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GB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435765"/>
                </a:solidFill>
                <a:effectLst/>
                <a:highlight>
                  <a:srgbClr val="FCCA3A"/>
                </a:highlight>
                <a:uLnTx/>
                <a:uFillTx/>
                <a:cs typeface="Courier New"/>
              </a:rPr>
              <a:t>MessagePost</a:t>
            </a: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highlight>
                  <a:srgbClr val="FCCA3A"/>
                </a:highlight>
                <a:uLnTx/>
                <a:uFillTx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GB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435765"/>
                </a:solidFill>
                <a:effectLst/>
                <a:highlight>
                  <a:srgbClr val="FCCA3A"/>
                </a:highlight>
                <a:uLnTx/>
                <a:uFillTx/>
                <a:cs typeface="Courier New"/>
              </a:rPr>
              <a:t>PhotoPost</a:t>
            </a:r>
            <a:b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  <a:cs typeface="Courier New"/>
              </a:rPr>
            </a:br>
            <a:endParaRPr kumimoji="0" lang="en-GB" sz="2600" b="1" i="0" u="none" strike="noStrike" kern="1200" cap="none" spc="0" normalizeH="0" baseline="0" noProof="0" dirty="0">
              <a:ln>
                <a:noFill/>
              </a:ln>
              <a:solidFill>
                <a:srgbClr val="435765"/>
              </a:solidFill>
              <a:effectLst/>
              <a:uLnTx/>
              <a:uFillTx/>
              <a:cs typeface="Courier New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3000" b="0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the 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super</a:t>
            </a:r>
            <a:r>
              <a:rPr kumimoji="0" lang="en-GB" sz="3000" b="0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class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defines </a:t>
            </a:r>
            <a:r>
              <a:rPr kumimoji="0" lang="en-GB" sz="2600" b="0" i="0" u="sng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common</a:t>
            </a: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 attributes (via fields)</a:t>
            </a:r>
            <a:b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</a:b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srgbClr val="435765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3000" b="0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the 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sub</a:t>
            </a:r>
            <a:r>
              <a:rPr kumimoji="0" lang="en-GB" sz="3000" b="0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classes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GB" sz="2600" b="1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inherit</a:t>
            </a: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 the superclass attributes (fields)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rgbClr val="435765"/>
                </a:solidFill>
                <a:effectLst/>
                <a:uLnTx/>
                <a:uFillTx/>
              </a:rPr>
              <a:t>add other specific attributes (fields)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78250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60773-D94C-D34D-FDCE-AA927F65FFC9}"/>
              </a:ext>
            </a:extLst>
          </p:cNvPr>
          <p:cNvSpPr txBox="1"/>
          <p:nvPr/>
        </p:nvSpPr>
        <p:spPr>
          <a:xfrm>
            <a:off x="1960915" y="2659559"/>
            <a:ext cx="82702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rgbClr val="435765"/>
                </a:solidFill>
                <a:latin typeface="DM Sans" pitchFamily="2" charset="77"/>
              </a:rPr>
              <a:t>Super and Sub classes - code</a:t>
            </a:r>
            <a:endParaRPr lang="en-US" sz="4000" dirty="0">
              <a:solidFill>
                <a:srgbClr val="435765"/>
              </a:solidFill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9415262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4363-F672-D622-7328-8CA32DEA9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in Java</a:t>
            </a:r>
          </a:p>
        </p:txBody>
      </p:sp>
      <p:pic>
        <p:nvPicPr>
          <p:cNvPr id="6" name="Picture 5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B5BA0C06-F8E5-0D6E-2FD2-8FCCA5A61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327" y="1192293"/>
            <a:ext cx="2819400" cy="2768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B4A2BA-982F-5A88-42F0-FD62D6F43709}"/>
              </a:ext>
            </a:extLst>
          </p:cNvPr>
          <p:cNvSpPr txBox="1"/>
          <p:nvPr/>
        </p:nvSpPr>
        <p:spPr>
          <a:xfrm>
            <a:off x="8524069" y="2207261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No changes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87121E-01E7-CEF2-357D-E00E7E5E30DA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7257727" y="2207261"/>
            <a:ext cx="1266342" cy="184666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E05FE1F-AECC-DC4E-91FE-4C33E4613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96" y="4121473"/>
            <a:ext cx="3694839" cy="18347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64DAD27-9376-88B9-FFAF-C59EF2003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333" y="4067723"/>
            <a:ext cx="3558153" cy="1860138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1CBEB1-A791-A030-959D-B9BF474DDE50}"/>
              </a:ext>
            </a:extLst>
          </p:cNvPr>
          <p:cNvCxnSpPr>
            <a:stCxn id="19" idx="0"/>
          </p:cNvCxnSpPr>
          <p:nvPr/>
        </p:nvCxnSpPr>
        <p:spPr>
          <a:xfrm flipV="1">
            <a:off x="2399116" y="2576593"/>
            <a:ext cx="2039211" cy="1544880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80B327-9447-B9D2-5AB8-28113BE2B2D9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7257727" y="2576593"/>
            <a:ext cx="2453683" cy="1491130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64CAD39-65FE-B6F9-1F4C-AF03437643C4}"/>
              </a:ext>
            </a:extLst>
          </p:cNvPr>
          <p:cNvSpPr/>
          <p:nvPr/>
        </p:nvSpPr>
        <p:spPr>
          <a:xfrm>
            <a:off x="2820692" y="4448014"/>
            <a:ext cx="1425843" cy="518782"/>
          </a:xfrm>
          <a:prstGeom prst="ellipse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D3613A1-BF7C-E529-02BD-C48FAD6DD4CD}"/>
              </a:ext>
            </a:extLst>
          </p:cNvPr>
          <p:cNvSpPr/>
          <p:nvPr/>
        </p:nvSpPr>
        <p:spPr>
          <a:xfrm>
            <a:off x="10089398" y="4403440"/>
            <a:ext cx="1339096" cy="518782"/>
          </a:xfrm>
          <a:prstGeom prst="ellipse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B526AB-0A31-9117-05B6-793A43992C56}"/>
              </a:ext>
            </a:extLst>
          </p:cNvPr>
          <p:cNvSpPr txBox="1"/>
          <p:nvPr/>
        </p:nvSpPr>
        <p:spPr>
          <a:xfrm>
            <a:off x="5704669" y="4662514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Change here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1E35169-4601-A787-92F5-93EB8F63B893}"/>
              </a:ext>
            </a:extLst>
          </p:cNvPr>
          <p:cNvCxnSpPr>
            <a:cxnSpLocks/>
            <a:stCxn id="26" idx="1"/>
            <a:endCxn id="23" idx="6"/>
          </p:cNvCxnSpPr>
          <p:nvPr/>
        </p:nvCxnSpPr>
        <p:spPr>
          <a:xfrm flipH="1" flipV="1">
            <a:off x="4246535" y="4707405"/>
            <a:ext cx="1458134" cy="139775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29B00B7-E9B4-0842-ECDE-53C6812D4DB3}"/>
              </a:ext>
            </a:extLst>
          </p:cNvPr>
          <p:cNvCxnSpPr>
            <a:cxnSpLocks/>
            <a:stCxn id="26" idx="3"/>
            <a:endCxn id="24" idx="2"/>
          </p:cNvCxnSpPr>
          <p:nvPr/>
        </p:nvCxnSpPr>
        <p:spPr>
          <a:xfrm flipV="1">
            <a:off x="7291963" y="4662831"/>
            <a:ext cx="2797435" cy="184349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063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 animBg="1"/>
      <p:bldP spid="24" grpId="0" animBg="1"/>
      <p:bldP spid="26" grpId="0"/>
      <p:bldP spid="2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4363-F672-D622-7328-8CA32DEA9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Superclass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902FA081-F319-C1BE-2CF7-301F14AE7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774" y="740025"/>
            <a:ext cx="5754741" cy="49683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E83973-FD84-6DD6-AF0A-531C70F4B9A5}"/>
              </a:ext>
            </a:extLst>
          </p:cNvPr>
          <p:cNvSpPr/>
          <p:nvPr/>
        </p:nvSpPr>
        <p:spPr>
          <a:xfrm>
            <a:off x="6617776" y="2231756"/>
            <a:ext cx="5284922" cy="1875295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0B7CC2-76ED-EC91-2393-D0167DE844A1}"/>
              </a:ext>
            </a:extLst>
          </p:cNvPr>
          <p:cNvSpPr txBox="1"/>
          <p:nvPr/>
        </p:nvSpPr>
        <p:spPr>
          <a:xfrm>
            <a:off x="3367236" y="2978830"/>
            <a:ext cx="187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Common Fields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77DC8D-B626-EEC0-6185-481A37FCF51D}"/>
              </a:ext>
            </a:extLst>
          </p:cNvPr>
          <p:cNvCxnSpPr>
            <a:stCxn id="7" idx="1"/>
            <a:endCxn id="8" idx="3"/>
          </p:cNvCxnSpPr>
          <p:nvPr/>
        </p:nvCxnSpPr>
        <p:spPr>
          <a:xfrm flipH="1" flipV="1">
            <a:off x="5238261" y="3163496"/>
            <a:ext cx="1379515" cy="5908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8680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4363-F672-D622-7328-8CA32DEA9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Subclasses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7C66B468-4AEC-BB2C-F56A-24663BAA9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617" y="1535398"/>
            <a:ext cx="4574183" cy="2877469"/>
          </a:xfrm>
          <a:prstGeom prst="rect">
            <a:avLst/>
          </a:prstGeom>
        </p:spPr>
      </p:pic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C2372CD2-0283-8463-E32A-C5255F3B1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99" y="1501699"/>
            <a:ext cx="4069058" cy="28774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E251A7-29D4-2BE8-A322-9698BECB06F6}"/>
              </a:ext>
            </a:extLst>
          </p:cNvPr>
          <p:cNvSpPr txBox="1"/>
          <p:nvPr/>
        </p:nvSpPr>
        <p:spPr>
          <a:xfrm>
            <a:off x="649899" y="4892867"/>
            <a:ext cx="5969904" cy="8747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Subclass fields are unique to that subclass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Subclass objects inherit all fields from the superclass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4A462A0-8534-35C8-54D5-73807D6D325C}"/>
              </a:ext>
            </a:extLst>
          </p:cNvPr>
          <p:cNvSpPr/>
          <p:nvPr/>
        </p:nvSpPr>
        <p:spPr>
          <a:xfrm>
            <a:off x="838200" y="2541722"/>
            <a:ext cx="3206858" cy="887278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66F189C-5F91-48AE-C49A-5FBA43905DA5}"/>
              </a:ext>
            </a:extLst>
          </p:cNvPr>
          <p:cNvSpPr/>
          <p:nvPr/>
        </p:nvSpPr>
        <p:spPr>
          <a:xfrm>
            <a:off x="7143427" y="2541722"/>
            <a:ext cx="3206858" cy="887278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188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4363-F672-D622-7328-8CA32DEA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7" y="127574"/>
            <a:ext cx="10515600" cy="1344766"/>
          </a:xfrm>
        </p:spPr>
        <p:txBody>
          <a:bodyPr>
            <a:normAutofit/>
          </a:bodyPr>
          <a:lstStyle/>
          <a:p>
            <a:r>
              <a:rPr lang="en-US" dirty="0"/>
              <a:t>Inheritance &amp; Constructors</a:t>
            </a:r>
            <a:br>
              <a:rPr lang="en-US" dirty="0"/>
            </a:br>
            <a:r>
              <a:rPr lang="en-US" dirty="0"/>
              <a:t>- superclass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40543881-DFE3-3739-0035-BE098AD50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149" y="329596"/>
            <a:ext cx="3886295" cy="56411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5B2C3D-DEBB-941C-7201-EC26ED9455C8}"/>
              </a:ext>
            </a:extLst>
          </p:cNvPr>
          <p:cNvSpPr txBox="1"/>
          <p:nvPr/>
        </p:nvSpPr>
        <p:spPr>
          <a:xfrm>
            <a:off x="140777" y="1596326"/>
            <a:ext cx="3865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Nothing unusual in the superclass</a:t>
            </a:r>
          </a:p>
        </p:txBody>
      </p:sp>
    </p:spTree>
    <p:extLst>
      <p:ext uri="{BB962C8B-B14F-4D97-AF65-F5344CB8AC3E}">
        <p14:creationId xmlns:p14="http://schemas.microsoft.com/office/powerpoint/2010/main" val="80652084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4363-F672-D622-7328-8CA32DEA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7" y="127574"/>
            <a:ext cx="10515600" cy="1344766"/>
          </a:xfrm>
        </p:spPr>
        <p:txBody>
          <a:bodyPr>
            <a:normAutofit/>
          </a:bodyPr>
          <a:lstStyle/>
          <a:p>
            <a:r>
              <a:rPr lang="en-US" dirty="0"/>
              <a:t>Inheritance &amp; Constructors</a:t>
            </a:r>
            <a:br>
              <a:rPr lang="en-US" dirty="0"/>
            </a:br>
            <a:r>
              <a:rPr lang="en-US" dirty="0"/>
              <a:t>- subclass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543881-DFE3-3739-0035-BE098AD502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0252" y="728452"/>
            <a:ext cx="5033169" cy="52290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5B2C3D-DEBB-941C-7201-EC26ED9455C8}"/>
              </a:ext>
            </a:extLst>
          </p:cNvPr>
          <p:cNvSpPr txBox="1"/>
          <p:nvPr/>
        </p:nvSpPr>
        <p:spPr>
          <a:xfrm>
            <a:off x="140777" y="1596326"/>
            <a:ext cx="4432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Must extend the superclass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Must call the superclass constructor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BBC1610-553C-4F59-DA6D-DE8EFB758C34}"/>
              </a:ext>
            </a:extLst>
          </p:cNvPr>
          <p:cNvSpPr/>
          <p:nvPr/>
        </p:nvSpPr>
        <p:spPr>
          <a:xfrm>
            <a:off x="9252488" y="960895"/>
            <a:ext cx="1403889" cy="635431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CC9F38-A97C-072D-2852-DBD9A616DCCC}"/>
              </a:ext>
            </a:extLst>
          </p:cNvPr>
          <p:cNvSpPr/>
          <p:nvPr/>
        </p:nvSpPr>
        <p:spPr>
          <a:xfrm>
            <a:off x="7669078" y="3890075"/>
            <a:ext cx="1403889" cy="371959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310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F785-E7A3-4A6D-B7AE-D7600287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ea"/>
                <a:cs typeface="+mj-cs"/>
              </a:rPr>
              <a:t>Superclass constructor call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5B8AA-AAC4-2419-3221-6431221DD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srgbClr val="435765"/>
                </a:solidFill>
                <a:ea typeface="+mn-ea"/>
                <a:cs typeface="+mn-cs"/>
              </a:rPr>
              <a:t>Subclass constructors </a:t>
            </a:r>
            <a:r>
              <a:rPr lang="en-GB" u="sng" dirty="0">
                <a:solidFill>
                  <a:srgbClr val="E74751"/>
                </a:solidFill>
                <a:ea typeface="+mn-ea"/>
                <a:cs typeface="+mn-cs"/>
              </a:rPr>
              <a:t>must</a:t>
            </a:r>
            <a:r>
              <a:rPr lang="en-GB" dirty="0">
                <a:solidFill>
                  <a:srgbClr val="435765"/>
                </a:solidFill>
                <a:ea typeface="+mn-ea"/>
                <a:cs typeface="+mn-cs"/>
              </a:rPr>
              <a:t> always contain a </a:t>
            </a:r>
            <a:r>
              <a:rPr lang="en-GB" b="1" dirty="0">
                <a:solidFill>
                  <a:srgbClr val="435765"/>
                </a:solidFill>
                <a:highlight>
                  <a:srgbClr val="FCCA3A"/>
                </a:highlight>
                <a:ea typeface="+mn-ea"/>
                <a:cs typeface="+mn-cs"/>
              </a:rPr>
              <a:t>super</a:t>
            </a:r>
            <a:r>
              <a:rPr lang="en-GB" dirty="0">
                <a:solidFill>
                  <a:srgbClr val="435765"/>
                </a:solidFill>
                <a:ea typeface="+mn-ea"/>
                <a:cs typeface="+mn-cs"/>
              </a:rPr>
              <a:t> call.</a:t>
            </a:r>
            <a:br>
              <a:rPr lang="en-GB" dirty="0">
                <a:solidFill>
                  <a:srgbClr val="435765"/>
                </a:solidFill>
                <a:ea typeface="+mn-ea"/>
                <a:cs typeface="+mn-cs"/>
              </a:rPr>
            </a:br>
            <a:endParaRPr lang="en-GB" dirty="0">
              <a:solidFill>
                <a:srgbClr val="435765"/>
              </a:solidFill>
              <a:ea typeface="+mn-ea"/>
              <a:cs typeface="+mn-cs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srgbClr val="435765"/>
                </a:solidFill>
                <a:ea typeface="+mn-ea"/>
                <a:cs typeface="+mn-cs"/>
              </a:rPr>
              <a:t>If none is written, the compiler inserts one (without parameters)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srgbClr val="435765"/>
                </a:solidFill>
                <a:ea typeface="+mn-ea"/>
              </a:rPr>
              <a:t>works only, if the superclass has a constructor without parameters</a:t>
            </a:r>
            <a:br>
              <a:rPr lang="en-GB" dirty="0">
                <a:solidFill>
                  <a:srgbClr val="435765"/>
                </a:solidFill>
                <a:ea typeface="+mn-ea"/>
              </a:rPr>
            </a:br>
            <a:endParaRPr lang="en-GB" dirty="0">
              <a:solidFill>
                <a:srgbClr val="435765"/>
              </a:solidFill>
              <a:ea typeface="+mn-ea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GB" b="1" dirty="0">
                <a:solidFill>
                  <a:srgbClr val="435765"/>
                </a:solidFill>
                <a:highlight>
                  <a:srgbClr val="FCCA3A"/>
                </a:highlight>
              </a:rPr>
              <a:t>super</a:t>
            </a:r>
            <a:r>
              <a:rPr lang="en-GB" dirty="0">
                <a:solidFill>
                  <a:srgbClr val="435765"/>
                </a:solidFill>
                <a:ea typeface="+mn-ea"/>
                <a:cs typeface="+mn-cs"/>
              </a:rPr>
              <a:t> call must be the </a:t>
            </a:r>
            <a:r>
              <a:rPr lang="en-GB" u="sng" dirty="0">
                <a:solidFill>
                  <a:srgbClr val="E74751"/>
                </a:solidFill>
                <a:ea typeface="+mn-ea"/>
                <a:cs typeface="+mn-cs"/>
              </a:rPr>
              <a:t>first statement </a:t>
            </a:r>
            <a:r>
              <a:rPr lang="en-GB" dirty="0">
                <a:solidFill>
                  <a:srgbClr val="435765"/>
                </a:solidFill>
                <a:ea typeface="+mn-ea"/>
                <a:cs typeface="+mn-cs"/>
              </a:rPr>
              <a:t>in the subclass constructor.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14120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961F37-97A0-7CB2-E7D5-30919C6E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Questions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6244436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35765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A7B4F4F87092419B4836663A979F72" ma:contentTypeVersion="12" ma:contentTypeDescription="Create a new document." ma:contentTypeScope="" ma:versionID="1705185788f4f7b8606867508f74a2eb">
  <xsd:schema xmlns:xsd="http://www.w3.org/2001/XMLSchema" xmlns:xs="http://www.w3.org/2001/XMLSchema" xmlns:p="http://schemas.microsoft.com/office/2006/metadata/properties" xmlns:ns3="2e073d95-02bc-4c31-9707-1f7b5f2564cb" xmlns:ns4="ecd595b7-854d-4129-8908-394d58e21de0" targetNamespace="http://schemas.microsoft.com/office/2006/metadata/properties" ma:root="true" ma:fieldsID="784458e58d0eaf4d4fb689770e9f109b" ns3:_="" ns4:_="">
    <xsd:import namespace="2e073d95-02bc-4c31-9707-1f7b5f2564cb"/>
    <xsd:import namespace="ecd595b7-854d-4129-8908-394d58e21d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073d95-02bc-4c31-9707-1f7b5f2564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d595b7-854d-4129-8908-394d58e21de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e073d95-02bc-4c31-9707-1f7b5f2564c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847694-5366-4F35-BB14-1B44805440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073d95-02bc-4c31-9707-1f7b5f2564cb"/>
    <ds:schemaRef ds:uri="ecd595b7-854d-4129-8908-394d58e21d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7BD72B-E314-4A2C-A344-AF1319C38FF7}">
  <ds:schemaRefs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ecd595b7-854d-4129-8908-394d58e21de0"/>
    <ds:schemaRef ds:uri="2e073d95-02bc-4c31-9707-1f7b5f2564cb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F0734DE-2FC5-4E40-8FD1-4F58D8D245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6142</TotalTime>
  <Words>631</Words>
  <Application>Microsoft Macintosh PowerPoint</Application>
  <PresentationFormat>Widescreen</PresentationFormat>
  <Paragraphs>201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Courier New</vt:lpstr>
      <vt:lpstr>DM Sans</vt:lpstr>
      <vt:lpstr>Inter</vt:lpstr>
      <vt:lpstr>Inter Medium</vt:lpstr>
      <vt:lpstr>Times New Roman</vt:lpstr>
      <vt:lpstr>Verdana</vt:lpstr>
      <vt:lpstr>Office Theme 2013 - 2022</vt:lpstr>
      <vt:lpstr>Programming Fundamentals</vt:lpstr>
      <vt:lpstr>Agenda</vt:lpstr>
      <vt:lpstr>Lectures &amp; Labs</vt:lpstr>
      <vt:lpstr>PowerPoint Presentation</vt:lpstr>
      <vt:lpstr>Inheritance hierarchies</vt:lpstr>
      <vt:lpstr>Inheritance hierarchies</vt:lpstr>
      <vt:lpstr>PowerPoint Presentation</vt:lpstr>
      <vt:lpstr>Social Network v4 Recap – Class Diagram</vt:lpstr>
      <vt:lpstr>Critique of Social Network v4</vt:lpstr>
      <vt:lpstr>Social Network v5 Class Diagram</vt:lpstr>
      <vt:lpstr>Social Network v5 - Classes</vt:lpstr>
      <vt:lpstr>Social Network v5 - Classes</vt:lpstr>
      <vt:lpstr>Social Network v5 – Inheritance summary</vt:lpstr>
      <vt:lpstr>PowerPoint Presentation</vt:lpstr>
      <vt:lpstr>Inheritance in Java</vt:lpstr>
      <vt:lpstr>Superclass</vt:lpstr>
      <vt:lpstr>Subclasses</vt:lpstr>
      <vt:lpstr>Inheritance &amp; Constructors - superclass</vt:lpstr>
      <vt:lpstr>Inheritance &amp; Constructors - subclass</vt:lpstr>
      <vt:lpstr>Superclass constructor call</vt:lpstr>
      <vt:lpstr>Questions?</vt:lpstr>
    </vt:vector>
  </TitlesOfParts>
  <Manager/>
  <Company>SETU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</dc:title>
  <dc:subject>Software Engineering Teams</dc:subject>
  <dc:creator>David Hearne</dc:creator>
  <cp:keywords/>
  <dc:description/>
  <cp:lastModifiedBy>Mairead Meagher</cp:lastModifiedBy>
  <cp:revision>84</cp:revision>
  <dcterms:created xsi:type="dcterms:W3CDTF">2022-12-30T08:26:58Z</dcterms:created>
  <dcterms:modified xsi:type="dcterms:W3CDTF">2025-03-14T17:19:03Z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0x01010074A7B4F4F87092419B4836663A979F72</vt:lpwstr>
  </property>
</Properties>
</file>