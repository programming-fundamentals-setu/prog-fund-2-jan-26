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tags/tag17.xml" ContentType="application/vnd.openxmlformats-officedocument.presentationml.tags+xml"/>
  <Override PartName="/ppt/notesSlides/notesSlide13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4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5.xml" ContentType="application/vnd.openxmlformats-officedocument.presentationml.notesSlide+xml"/>
  <Override PartName="/ppt/tags/tag22.xml" ContentType="application/vnd.openxmlformats-officedocument.presentationml.tags+xml"/>
  <Override PartName="/ppt/notesSlides/notesSlide16.xml" ContentType="application/vnd.openxmlformats-officedocument.presentationml.notesSlide+xml"/>
  <Override PartName="/ppt/tags/tag23.xml" ContentType="application/vnd.openxmlformats-officedocument.presentationml.tags+xml"/>
  <Override PartName="/ppt/notesSlides/notesSlide17.xml" ContentType="application/vnd.openxmlformats-officedocument.presentationml.notesSlide+xml"/>
  <Override PartName="/ppt/tags/tag24.xml" ContentType="application/vnd.openxmlformats-officedocument.presentationml.tags+xml"/>
  <Override PartName="/ppt/notesSlides/notesSlide18.xml" ContentType="application/vnd.openxmlformats-officedocument.presentationml.notesSlide+xml"/>
  <Override PartName="/ppt/tags/tag25.xml" ContentType="application/vnd.openxmlformats-officedocument.presentationml.tags+xml"/>
  <Override PartName="/ppt/notesSlides/notesSlide19.xml" ContentType="application/vnd.openxmlformats-officedocument.presentationml.notesSlide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396" r:id="rId3"/>
    <p:sldId id="404" r:id="rId4"/>
    <p:sldId id="403" r:id="rId5"/>
    <p:sldId id="487" r:id="rId6"/>
    <p:sldId id="501" r:id="rId7"/>
    <p:sldId id="502" r:id="rId8"/>
    <p:sldId id="476" r:id="rId9"/>
    <p:sldId id="424" r:id="rId10"/>
    <p:sldId id="425" r:id="rId11"/>
    <p:sldId id="426" r:id="rId12"/>
    <p:sldId id="427" r:id="rId13"/>
    <p:sldId id="478" r:id="rId14"/>
    <p:sldId id="429" r:id="rId15"/>
    <p:sldId id="463" r:id="rId16"/>
    <p:sldId id="430" r:id="rId17"/>
    <p:sldId id="431" r:id="rId18"/>
    <p:sldId id="432" r:id="rId19"/>
    <p:sldId id="479" r:id="rId20"/>
    <p:sldId id="433" r:id="rId21"/>
    <p:sldId id="434" r:id="rId22"/>
    <p:sldId id="435" r:id="rId23"/>
    <p:sldId id="436" r:id="rId24"/>
    <p:sldId id="437" r:id="rId25"/>
    <p:sldId id="438" r:id="rId26"/>
    <p:sldId id="439" r:id="rId27"/>
    <p:sldId id="392" r:id="rId28"/>
  </p:sldIdLst>
  <p:sldSz cx="12192000" cy="6858000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7139"/>
    <a:srgbClr val="527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71" autoAdjust="0"/>
    <p:restoredTop sz="90895"/>
  </p:normalViewPr>
  <p:slideViewPr>
    <p:cSldViewPr>
      <p:cViewPr varScale="1">
        <p:scale>
          <a:sx n="70" d="100"/>
          <a:sy n="70" d="100"/>
        </p:scale>
        <p:origin x="192" y="6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13/03/2026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222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AA88746B-1452-4FDB-A335-F32686CD2CA2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3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22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class diagram is simple (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ArrayList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 not shown in 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BlueJ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)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1203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120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7E652BAB-C766-4154-89CC-49561F38877A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4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12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Newsfeed object will hold two collections: one for 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MessagePosts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, one for 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PhotoPosts</a:t>
            </a:r>
            <a:endParaRPr lang="en-GB" dirty="0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222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AA88746B-1452-4FDB-A335-F32686CD2CA2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6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22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class diagram is simple (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ArrayList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 not shown in 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BlueJ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37729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1683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168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A5BE306E-CD94-48C4-BDA3-6B15CC5C53C6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8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16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68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charset="0"/>
                <a:ea typeface="ＭＳ Ｐゴシック" charset="0"/>
                <a:cs typeface="+mn-cs"/>
              </a:rPr>
              <a:t>i.e. we pass in a sub type</a:t>
            </a:r>
          </a:p>
        </p:txBody>
      </p:sp>
    </p:spTree>
    <p:extLst>
      <p:ext uri="{BB962C8B-B14F-4D97-AF65-F5344CB8AC3E}">
        <p14:creationId xmlns:p14="http://schemas.microsoft.com/office/powerpoint/2010/main" val="35470324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927E6D97-980D-4019-B942-D2A638346ABA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9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27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1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charset="0"/>
                <a:ea typeface="ＭＳ Ｐゴシック" charset="0"/>
                <a:cs typeface="+mn-cs"/>
              </a:rPr>
              <a:t>i.e. is-a relationship comes in here….</a:t>
            </a:r>
            <a:r>
              <a:rPr lang="en-US" b="1" dirty="0">
                <a:latin typeface="Times New Roman" charset="0"/>
                <a:ea typeface="ＭＳ Ｐゴシック" charset="0"/>
                <a:cs typeface="+mn-cs"/>
              </a:rPr>
              <a:t>a subtype is-a </a:t>
            </a:r>
            <a:r>
              <a:rPr lang="en-US" b="1" dirty="0" err="1">
                <a:latin typeface="Times New Roman" charset="0"/>
                <a:ea typeface="ＭＳ Ｐゴシック" charset="0"/>
                <a:cs typeface="+mn-cs"/>
              </a:rPr>
              <a:t>supertype</a:t>
            </a:r>
            <a:r>
              <a:rPr lang="en-US" b="1" dirty="0">
                <a:latin typeface="Times New Roman" charset="0"/>
                <a:ea typeface="ＭＳ Ｐゴシック" charset="0"/>
                <a:cs typeface="+mn-cs"/>
              </a:rPr>
              <a:t> </a:t>
            </a:r>
            <a:br>
              <a:rPr lang="en-US" dirty="0">
                <a:latin typeface="Times New Roman" charset="0"/>
                <a:ea typeface="ＭＳ Ｐゴシック" charset="0"/>
                <a:cs typeface="+mn-cs"/>
              </a:rPr>
            </a:br>
            <a:r>
              <a:rPr lang="en-US" dirty="0">
                <a:latin typeface="Times New Roman" charset="0"/>
                <a:ea typeface="ＭＳ Ｐゴシック" charset="0"/>
                <a:cs typeface="+mn-cs"/>
              </a:rPr>
              <a:t>(follow the direction of the inheritance arrows)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3731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373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A1E566E9-A46A-4E31-87C1-E97C5462F0E6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10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37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4755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475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AE8F66C3-1B5C-437F-99CD-3E5098C03F7C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11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47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5779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578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79C02AB6-3940-4F0C-B42F-781F4A15BE80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12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57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7578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NewsFeed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 object will hold a </a:t>
            </a:r>
            <a:r>
              <a:rPr lang="en-GB" b="1" dirty="0">
                <a:latin typeface="Times New Roman" charset="0"/>
                <a:ea typeface="ＭＳ Ｐゴシック" charset="0"/>
                <a:cs typeface="+mn-cs"/>
              </a:rPr>
              <a:t>single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, mixed collection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782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782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93F8C00B-44AE-4B00-BFAF-F55FB995A223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14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78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783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5779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578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79C02AB6-3940-4F0C-B42F-781F4A15BE80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15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57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7578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NewsFeed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 object will hold a single, mixed collection</a:t>
            </a:r>
          </a:p>
        </p:txBody>
      </p:sp>
    </p:spTree>
    <p:extLst>
      <p:ext uri="{BB962C8B-B14F-4D97-AF65-F5344CB8AC3E}">
        <p14:creationId xmlns:p14="http://schemas.microsoft.com/office/powerpoint/2010/main" val="12366383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8851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885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3DFBAC90-0666-49A9-B37C-E7E7517F25D5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16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88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9875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987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BC11E94C-E063-40C9-AA31-72DF46E48566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17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98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987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80899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8090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C705EB16-5660-40D2-AB9B-2A93ADCD088A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18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809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81923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8192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DB18940F-C0D9-41C7-A66C-EB803D71F957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20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819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192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8294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8294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83D46518-DD20-483A-96E8-0C29FE1C9AED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22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829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5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83971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8397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833298AD-81D8-44F1-AD8C-C0EA5B609D79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23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839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397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84995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8499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C541AABF-CB72-4713-A23C-348FD55EDD27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24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849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499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86019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8602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9732E7AE-E9E5-4A6D-A4C2-CC1BE928D0C5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25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860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60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87043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8704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A0BE3CBD-74F4-4C00-BD55-762FF50CCD1C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26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870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704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914401"/>
            <a:ext cx="8881241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Inheritance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1066800" y="3124200"/>
            <a:ext cx="10058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1066800" y="2133601"/>
            <a:ext cx="102870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Subtyping, substitution and polymorphic collections &amp; variables.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B6E3D8-40D8-40DD-AB3A-5A145588CC6B}"/>
              </a:ext>
            </a:extLst>
          </p:cNvPr>
          <p:cNvSpPr txBox="1"/>
          <p:nvPr/>
        </p:nvSpPr>
        <p:spPr>
          <a:xfrm>
            <a:off x="3581400" y="3886201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Mairéad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8A45A-F139-353F-DAAE-0FEC3904705A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6B75086F-CD40-E024-A00C-950D9864B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108966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Subtyping and Substitution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Polymorphic Variables 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Polymorphic Collections</a:t>
            </a:r>
          </a:p>
          <a:p>
            <a:pPr lvl="1">
              <a:defRPr/>
            </a:pPr>
            <a:r>
              <a:rPr lang="en-US" dirty="0"/>
              <a:t>Includes </a:t>
            </a:r>
          </a:p>
          <a:p>
            <a:pPr lvl="2">
              <a:defRPr/>
            </a:pPr>
            <a:r>
              <a:rPr lang="en-US" dirty="0"/>
              <a:t>Casting</a:t>
            </a:r>
          </a:p>
          <a:p>
            <a:pPr lvl="2">
              <a:defRPr/>
            </a:pPr>
            <a:r>
              <a:rPr lang="en-US" dirty="0"/>
              <a:t>Wrapper classes</a:t>
            </a:r>
          </a:p>
          <a:p>
            <a:pPr lvl="2">
              <a:defRPr/>
            </a:pPr>
            <a:r>
              <a:rPr lang="en-US" dirty="0"/>
              <a:t>Autoboxing</a:t>
            </a:r>
          </a:p>
          <a:p>
            <a:pPr lvl="2">
              <a:defRPr/>
            </a:pPr>
            <a:r>
              <a:rPr lang="en-US" dirty="0"/>
              <a:t>Unboxing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580292" y="1676400"/>
            <a:ext cx="5668108" cy="4572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583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RECAP - Social Network V4.0 – </a:t>
            </a:r>
            <a:r>
              <a:rPr lang="en-US" dirty="0">
                <a:solidFill>
                  <a:srgbClr val="C00000"/>
                </a:solidFill>
              </a:rPr>
              <a:t>NO Inheritance</a:t>
            </a:r>
            <a:endParaRPr lang="en-US" b="1" dirty="0">
              <a:solidFill>
                <a:srgbClr val="C00000"/>
              </a:solidFill>
              <a:ea typeface="+mj-ea"/>
              <a:cs typeface="+mj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9815513" y="3687208"/>
            <a:ext cx="1466850" cy="4091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0228319" y="4876801"/>
            <a:ext cx="765057" cy="92323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E1BF1E8-0948-4665-85C9-EE94EDF56D26}"/>
              </a:ext>
            </a:extLst>
          </p:cNvPr>
          <p:cNvSpPr/>
          <p:nvPr/>
        </p:nvSpPr>
        <p:spPr>
          <a:xfrm>
            <a:off x="750277" y="1905000"/>
            <a:ext cx="2221523" cy="955673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  <a:tailEnd w="lg" len="lg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Driver</a:t>
            </a:r>
            <a:endParaRPr lang="en-GB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1DD6D3-5862-465E-AFE4-7C551D64BD45}"/>
              </a:ext>
            </a:extLst>
          </p:cNvPr>
          <p:cNvSpPr/>
          <p:nvPr/>
        </p:nvSpPr>
        <p:spPr>
          <a:xfrm>
            <a:off x="4038600" y="1916237"/>
            <a:ext cx="2209800" cy="955673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  <a:tailEnd w="lg" len="lg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err="1"/>
              <a:t>NewsFeed</a:t>
            </a:r>
            <a:r>
              <a:rPr lang="en-GB" sz="3200" b="1" dirty="0"/>
              <a:t>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B4DB5AF-C62C-47F4-A592-2781AA48789E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2971800" y="2382837"/>
            <a:ext cx="1066800" cy="11237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41D0F98-6909-44F0-85B2-B7A8CFEB5EF7}"/>
              </a:ext>
            </a:extLst>
          </p:cNvPr>
          <p:cNvSpPr/>
          <p:nvPr/>
        </p:nvSpPr>
        <p:spPr>
          <a:xfrm>
            <a:off x="6858000" y="3553848"/>
            <a:ext cx="2438400" cy="955673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err="1"/>
              <a:t>MessagePost</a:t>
            </a:r>
            <a:r>
              <a:rPr lang="en-GB" sz="3200" b="1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1F50A5-9B25-4BF8-AC34-2F091245F9E1}"/>
              </a:ext>
            </a:extLst>
          </p:cNvPr>
          <p:cNvSpPr/>
          <p:nvPr/>
        </p:nvSpPr>
        <p:spPr>
          <a:xfrm>
            <a:off x="6858000" y="4876801"/>
            <a:ext cx="2438400" cy="955673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err="1"/>
              <a:t>PhotoPost</a:t>
            </a:r>
            <a:endParaRPr lang="en-GB" sz="3200" b="1" dirty="0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93A82A7-AB4F-4F30-890B-D2F248570F81}"/>
              </a:ext>
            </a:extLst>
          </p:cNvPr>
          <p:cNvCxnSpPr>
            <a:stCxn id="12" idx="2"/>
            <a:endCxn id="18" idx="1"/>
          </p:cNvCxnSpPr>
          <p:nvPr/>
        </p:nvCxnSpPr>
        <p:spPr>
          <a:xfrm rot="16200000" flipH="1">
            <a:off x="5420863" y="2594547"/>
            <a:ext cx="1159775" cy="1714500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9E6B8717-9E67-4DEA-AAF7-EC824BABE8AA}"/>
              </a:ext>
            </a:extLst>
          </p:cNvPr>
          <p:cNvCxnSpPr>
            <a:cxnSpLocks/>
            <a:endCxn id="19" idx="1"/>
          </p:cNvCxnSpPr>
          <p:nvPr/>
        </p:nvCxnSpPr>
        <p:spPr>
          <a:xfrm rot="16200000" flipH="1">
            <a:off x="4699214" y="3195852"/>
            <a:ext cx="2469724" cy="1847847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2144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RECAP - Social Network V4.0 – </a:t>
            </a:r>
            <a:r>
              <a:rPr lang="en-US" dirty="0">
                <a:solidFill>
                  <a:srgbClr val="C00000"/>
                </a:solidFill>
                <a:ea typeface="+mj-ea"/>
                <a:cs typeface="+mj-cs"/>
              </a:rPr>
              <a:t>TWO </a:t>
            </a:r>
            <a:r>
              <a:rPr lang="en-US" dirty="0" err="1">
                <a:solidFill>
                  <a:srgbClr val="C00000"/>
                </a:solidFill>
                <a:ea typeface="+mj-ea"/>
                <a:cs typeface="+mj-cs"/>
              </a:rPr>
              <a:t>ArrayList</a:t>
            </a:r>
            <a:r>
              <a:rPr lang="en-US" dirty="0" err="1">
                <a:solidFill>
                  <a:srgbClr val="C00000"/>
                </a:solidFill>
              </a:rPr>
              <a:t>s</a:t>
            </a:r>
            <a:endParaRPr lang="en-US" b="1" dirty="0">
              <a:solidFill>
                <a:srgbClr val="C00000"/>
              </a:solidFill>
              <a:ea typeface="+mj-ea"/>
              <a:cs typeface="+mj-cs"/>
            </a:endParaRPr>
          </a:p>
        </p:txBody>
      </p:sp>
      <p:pic>
        <p:nvPicPr>
          <p:cNvPr id="8196" name="Picture 2" descr="fig8-3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350" y="1628775"/>
            <a:ext cx="8587850" cy="4772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82643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5">
            <a:extLst>
              <a:ext uri="{FF2B5EF4-FFF2-40B4-BE49-F238E27FC236}">
                <a16:creationId xmlns:a16="http://schemas.microsoft.com/office/drawing/2014/main" id="{ED600FAD-9328-4847-BBC5-BDF5877BD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695" y="4800600"/>
            <a:ext cx="10058400" cy="19242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98000" tIns="190800" rIns="162000" bIns="19080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IE" sz="2800" b="0" noProof="1">
                <a:solidFill>
                  <a:srgbClr val="1A3170"/>
                </a:solidFill>
                <a:latin typeface="Trebuchet MS" charset="0"/>
              </a:rPr>
              <a:t>In V4.0, we</a:t>
            </a:r>
            <a:r>
              <a:rPr sz="2800" b="0" noProof="1">
                <a:solidFill>
                  <a:srgbClr val="1A3170"/>
                </a:solidFill>
                <a:latin typeface="Trebuchet MS" charset="0"/>
              </a:rPr>
              <a:t> had</a:t>
            </a:r>
            <a:r>
              <a:rPr lang="en-IE" sz="2800" b="0" noProof="1">
                <a:solidFill>
                  <a:srgbClr val="1A3170"/>
                </a:solidFill>
                <a:latin typeface="Trebuchet MS" charset="0"/>
              </a:rPr>
              <a:t> (no inheritance)</a:t>
            </a:r>
            <a:r>
              <a:rPr sz="2800" b="0" noProof="1">
                <a:solidFill>
                  <a:srgbClr val="1A3170"/>
                </a:solidFill>
                <a:latin typeface="Trebuchet MS" charset="0"/>
              </a:rPr>
              <a:t>:</a:t>
            </a:r>
            <a:endParaRPr lang="en-IE" sz="2800" b="0" noProof="1">
              <a:solidFill>
                <a:srgbClr val="1A3170"/>
              </a:solidFill>
              <a:latin typeface="Trebuchet MS" charset="0"/>
            </a:endParaRPr>
          </a:p>
          <a:p>
            <a:pPr>
              <a:spcBef>
                <a:spcPct val="0"/>
              </a:spcBef>
              <a:defRPr/>
            </a:pPr>
            <a:endParaRPr lang="en-GB" sz="2400" noProof="1"/>
          </a:p>
          <a:p>
            <a:pPr>
              <a:spcBef>
                <a:spcPct val="0"/>
              </a:spcBef>
              <a:defRPr/>
            </a:pPr>
            <a:r>
              <a:rPr sz="2400" noProof="1">
                <a:solidFill>
                  <a:srgbClr val="FF0000"/>
                </a:solidFill>
              </a:rPr>
              <a:t>public void add</a:t>
            </a:r>
            <a:r>
              <a:rPr lang="en-GB" sz="2400" noProof="1">
                <a:solidFill>
                  <a:srgbClr val="FF0000"/>
                </a:solidFill>
              </a:rPr>
              <a:t>MessagePost</a:t>
            </a:r>
            <a:r>
              <a:rPr sz="2400" noProof="1">
                <a:solidFill>
                  <a:srgbClr val="FF0000"/>
                </a:solidFill>
              </a:rPr>
              <a:t>(</a:t>
            </a:r>
            <a:r>
              <a:rPr lang="en-GB" sz="2400" noProof="1">
                <a:solidFill>
                  <a:srgbClr val="FF0000"/>
                </a:solidFill>
              </a:rPr>
              <a:t>MessagePost message</a:t>
            </a:r>
            <a:r>
              <a:rPr sz="2400" noProof="1">
                <a:solidFill>
                  <a:srgbClr val="FF0000"/>
                </a:solidFill>
              </a:rPr>
              <a:t>)</a:t>
            </a:r>
          </a:p>
          <a:p>
            <a:pPr>
              <a:spcBef>
                <a:spcPct val="0"/>
              </a:spcBef>
              <a:defRPr/>
            </a:pPr>
            <a:r>
              <a:rPr sz="2400" noProof="1">
                <a:solidFill>
                  <a:srgbClr val="FF0000"/>
                </a:solidFill>
              </a:rPr>
              <a:t>public void add</a:t>
            </a:r>
            <a:r>
              <a:rPr lang="en-GB" sz="2400" noProof="1">
                <a:solidFill>
                  <a:srgbClr val="FF0000"/>
                </a:solidFill>
              </a:rPr>
              <a:t>PhotoPost</a:t>
            </a:r>
            <a:r>
              <a:rPr sz="2400" noProof="1">
                <a:solidFill>
                  <a:srgbClr val="FF0000"/>
                </a:solidFill>
              </a:rPr>
              <a:t>(</a:t>
            </a:r>
            <a:r>
              <a:rPr lang="en-GB" sz="2400" noProof="1">
                <a:solidFill>
                  <a:srgbClr val="FF0000"/>
                </a:solidFill>
              </a:rPr>
              <a:t>PhotoPost</a:t>
            </a:r>
            <a:r>
              <a:rPr sz="2400" noProof="1">
                <a:solidFill>
                  <a:srgbClr val="FF0000"/>
                </a:solidFill>
              </a:rPr>
              <a:t> </a:t>
            </a:r>
            <a:r>
              <a:rPr lang="en-GB" sz="2400" noProof="1">
                <a:solidFill>
                  <a:srgbClr val="FF0000"/>
                </a:solidFill>
              </a:rPr>
              <a:t>photo</a:t>
            </a:r>
            <a:r>
              <a:rPr sz="2400" noProof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5777B7-1D3C-4AA2-91B0-A5455C39E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 - Social Network V4.0</a:t>
            </a:r>
            <a:endParaRPr lang="en-V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6AD935-1604-4B2C-831F-F3AB8BED2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74637"/>
            <a:ext cx="4534105" cy="53291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41813C5-09FB-B742-AC33-A6DA04898526}"/>
              </a:ext>
            </a:extLst>
          </p:cNvPr>
          <p:cNvSpPr/>
          <p:nvPr/>
        </p:nvSpPr>
        <p:spPr>
          <a:xfrm>
            <a:off x="7620000" y="762000"/>
            <a:ext cx="3352800" cy="5334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709669-0485-3C43-AECF-2633EA613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99" y="2168270"/>
            <a:ext cx="3994035" cy="19242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944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RECAP - Social Network V5.0 – </a:t>
            </a:r>
            <a:r>
              <a:rPr lang="en-US" dirty="0">
                <a:solidFill>
                  <a:srgbClr val="C00000"/>
                </a:solidFill>
              </a:rPr>
              <a:t>Inheritance</a:t>
            </a:r>
            <a:endParaRPr lang="en-US" b="1" dirty="0">
              <a:solidFill>
                <a:srgbClr val="C00000"/>
              </a:solidFill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1BF1E8-0948-4665-85C9-EE94EDF56D26}"/>
              </a:ext>
            </a:extLst>
          </p:cNvPr>
          <p:cNvSpPr/>
          <p:nvPr/>
        </p:nvSpPr>
        <p:spPr>
          <a:xfrm>
            <a:off x="750277" y="1905000"/>
            <a:ext cx="2221523" cy="955673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Driver</a:t>
            </a:r>
            <a:endParaRPr lang="en-GB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1DD6D3-5862-465E-AFE4-7C551D64BD45}"/>
              </a:ext>
            </a:extLst>
          </p:cNvPr>
          <p:cNvSpPr/>
          <p:nvPr/>
        </p:nvSpPr>
        <p:spPr>
          <a:xfrm>
            <a:off x="4038600" y="1916237"/>
            <a:ext cx="2209800" cy="955673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err="1"/>
              <a:t>NewsFeed</a:t>
            </a:r>
            <a:r>
              <a:rPr lang="en-GB" sz="3200" b="1" dirty="0"/>
              <a:t>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B4DB5AF-C62C-47F4-A592-2781AA48789E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2971800" y="2382837"/>
            <a:ext cx="1066800" cy="11237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41D0F98-6909-44F0-85B2-B7A8CFEB5EF7}"/>
              </a:ext>
            </a:extLst>
          </p:cNvPr>
          <p:cNvSpPr/>
          <p:nvPr/>
        </p:nvSpPr>
        <p:spPr>
          <a:xfrm>
            <a:off x="6172579" y="5627689"/>
            <a:ext cx="2438400" cy="955673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err="1"/>
              <a:t>MessagePost</a:t>
            </a:r>
            <a:r>
              <a:rPr lang="en-GB" sz="3200" b="1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1F50A5-9B25-4BF8-AC34-2F091245F9E1}"/>
              </a:ext>
            </a:extLst>
          </p:cNvPr>
          <p:cNvSpPr/>
          <p:nvPr/>
        </p:nvSpPr>
        <p:spPr>
          <a:xfrm>
            <a:off x="8991600" y="5627688"/>
            <a:ext cx="2438400" cy="955673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err="1"/>
              <a:t>PhotoPost</a:t>
            </a:r>
            <a:endParaRPr lang="en-GB" sz="32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D0C359-01E8-4BA5-9C14-7963EFFF54D9}"/>
              </a:ext>
            </a:extLst>
          </p:cNvPr>
          <p:cNvSpPr/>
          <p:nvPr/>
        </p:nvSpPr>
        <p:spPr>
          <a:xfrm>
            <a:off x="7441223" y="3231918"/>
            <a:ext cx="2438400" cy="955673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Post 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B3D04E7-92DE-42B2-88E8-D88713F344EE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143501" y="2871909"/>
            <a:ext cx="2297722" cy="837846"/>
          </a:xfrm>
          <a:prstGeom prst="bentConnector3">
            <a:avLst>
              <a:gd name="adj1" fmla="val -510"/>
            </a:avLst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D9C1DD-4451-44D5-AB05-AA0193A19C2D}"/>
              </a:ext>
            </a:extLst>
          </p:cNvPr>
          <p:cNvCxnSpPr>
            <a:stCxn id="18" idx="0"/>
            <a:endCxn id="14" idx="2"/>
          </p:cNvCxnSpPr>
          <p:nvPr/>
        </p:nvCxnSpPr>
        <p:spPr>
          <a:xfrm flipV="1">
            <a:off x="7391779" y="4187591"/>
            <a:ext cx="1268644" cy="1440098"/>
          </a:xfrm>
          <a:prstGeom prst="straightConnector1">
            <a:avLst/>
          </a:prstGeom>
          <a:ln cap="flat"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1B7F89-588B-4827-8445-85C4A17FF656}"/>
              </a:ext>
            </a:extLst>
          </p:cNvPr>
          <p:cNvCxnSpPr>
            <a:cxnSpLocks/>
            <a:stCxn id="19" idx="0"/>
            <a:endCxn id="14" idx="2"/>
          </p:cNvCxnSpPr>
          <p:nvPr/>
        </p:nvCxnSpPr>
        <p:spPr>
          <a:xfrm flipH="1" flipV="1">
            <a:off x="8660423" y="4187591"/>
            <a:ext cx="1550377" cy="1440097"/>
          </a:xfrm>
          <a:prstGeom prst="straightConnector1">
            <a:avLst/>
          </a:prstGeom>
          <a:ln cap="flat"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9D15AE0B-FB3D-4791-B237-EC1F7F74FBA3}"/>
              </a:ext>
            </a:extLst>
          </p:cNvPr>
          <p:cNvSpPr/>
          <p:nvPr/>
        </p:nvSpPr>
        <p:spPr>
          <a:xfrm rot="2425860">
            <a:off x="8416431" y="4175149"/>
            <a:ext cx="304800" cy="232009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E923BE58-A8F1-4C5D-8980-8D637BF2F893}"/>
              </a:ext>
            </a:extLst>
          </p:cNvPr>
          <p:cNvSpPr/>
          <p:nvPr/>
        </p:nvSpPr>
        <p:spPr>
          <a:xfrm rot="19151702">
            <a:off x="8607668" y="4175410"/>
            <a:ext cx="304800" cy="232009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2642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14" grpId="0" animBg="1"/>
      <p:bldP spid="24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777B7-1D3C-4AA2-91B0-A5455C39E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 - Social Network V5.0</a:t>
            </a:r>
            <a:endParaRPr lang="en-V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C9BA1E-8CF0-B549-BBC3-BA14F021B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853004"/>
            <a:ext cx="3581400" cy="15950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 Box 5">
            <a:extLst>
              <a:ext uri="{FF2B5EF4-FFF2-40B4-BE49-F238E27FC236}">
                <a16:creationId xmlns:a16="http://schemas.microsoft.com/office/drawing/2014/main" id="{375FC8F4-376D-204D-8009-66B7C7FED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410" y="3951267"/>
            <a:ext cx="10058400" cy="263209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198000" tIns="190800" rIns="162000" bIns="19080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ts val="1200"/>
              </a:spcBef>
              <a:defRPr/>
            </a:pPr>
            <a:r>
              <a:rPr lang="en-US" sz="2800" b="0" dirty="0">
                <a:solidFill>
                  <a:srgbClr val="1A3170"/>
                </a:solidFill>
                <a:latin typeface="Trebuchet MS" charset="0"/>
              </a:rPr>
              <a:t>V5.0 had inheritance:</a:t>
            </a:r>
            <a:endParaRPr lang="en-GB" sz="2400" b="0" noProof="1">
              <a:latin typeface="Courier" charset="0"/>
            </a:endParaRPr>
          </a:p>
          <a:p>
            <a:pPr>
              <a:spcBef>
                <a:spcPct val="0"/>
              </a:spcBef>
              <a:defRPr/>
            </a:pPr>
            <a:r>
              <a:rPr lang="en-GB" sz="2400" noProof="1"/>
              <a:t> </a:t>
            </a:r>
            <a:r>
              <a:rPr lang="en-GB" sz="2400" noProof="1">
                <a:solidFill>
                  <a:srgbClr val="FF0000"/>
                </a:solidFill>
              </a:rPr>
              <a:t> </a:t>
            </a:r>
            <a:r>
              <a:rPr sz="2400" noProof="1">
                <a:solidFill>
                  <a:srgbClr val="FF0000"/>
                </a:solidFill>
              </a:rPr>
              <a:t>public void </a:t>
            </a:r>
            <a:r>
              <a:rPr sz="2400" u="sng" noProof="1">
                <a:solidFill>
                  <a:srgbClr val="FF0000"/>
                </a:solidFill>
              </a:rPr>
              <a:t>add</a:t>
            </a:r>
            <a:r>
              <a:rPr lang="en-GB" sz="2400" u="sng" noProof="1">
                <a:solidFill>
                  <a:srgbClr val="FF0000"/>
                </a:solidFill>
              </a:rPr>
              <a:t>Post</a:t>
            </a:r>
            <a:r>
              <a:rPr sz="2400" noProof="1">
                <a:solidFill>
                  <a:srgbClr val="FF0000"/>
                </a:solidFill>
              </a:rPr>
              <a:t>(</a:t>
            </a:r>
            <a:r>
              <a:rPr lang="en-GB" sz="2400" noProof="1">
                <a:solidFill>
                  <a:srgbClr val="FF0000"/>
                </a:solidFill>
              </a:rPr>
              <a:t>Post post</a:t>
            </a:r>
            <a:r>
              <a:rPr sz="2400" noProof="1">
                <a:solidFill>
                  <a:srgbClr val="FF0000"/>
                </a:solidFill>
              </a:rPr>
              <a:t>)</a:t>
            </a:r>
          </a:p>
          <a:p>
            <a:pPr>
              <a:spcBef>
                <a:spcPct val="0"/>
              </a:spcBef>
              <a:defRPr/>
            </a:pPr>
            <a:endParaRPr lang="en-AU" sz="1800" dirty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defRPr/>
            </a:pPr>
            <a:r>
              <a:rPr lang="en-AU" sz="2800" b="0" dirty="0">
                <a:solidFill>
                  <a:srgbClr val="1A3170"/>
                </a:solidFill>
                <a:latin typeface="Trebuchet MS" charset="0"/>
              </a:rPr>
              <a:t>We call this method with:</a:t>
            </a:r>
          </a:p>
          <a:p>
            <a:pPr>
              <a:spcBef>
                <a:spcPct val="0"/>
              </a:spcBef>
              <a:defRPr/>
            </a:pPr>
            <a:r>
              <a:rPr lang="en-GB" sz="2400" dirty="0"/>
              <a:t>  </a:t>
            </a:r>
            <a:r>
              <a:rPr lang="en-GB" sz="2400" dirty="0" err="1">
                <a:solidFill>
                  <a:srgbClr val="FF0000"/>
                </a:solidFill>
              </a:rPr>
              <a:t>PhotoPost</a:t>
            </a:r>
            <a:r>
              <a:rPr sz="2400" noProof="1">
                <a:solidFill>
                  <a:srgbClr val="FF0000"/>
                </a:solidFill>
              </a:rPr>
              <a:t> my</a:t>
            </a:r>
            <a:r>
              <a:rPr lang="en-GB" sz="2400" noProof="1">
                <a:solidFill>
                  <a:srgbClr val="FF0000"/>
                </a:solidFill>
              </a:rPr>
              <a:t>Photo</a:t>
            </a:r>
            <a:r>
              <a:rPr sz="2400" noProof="1">
                <a:solidFill>
                  <a:srgbClr val="FF0000"/>
                </a:solidFill>
              </a:rPr>
              <a:t> = new </a:t>
            </a:r>
            <a:r>
              <a:rPr lang="en-GB" sz="2400" dirty="0" err="1">
                <a:solidFill>
                  <a:srgbClr val="FF0000"/>
                </a:solidFill>
              </a:rPr>
              <a:t>PhotoPost</a:t>
            </a:r>
            <a:r>
              <a:rPr sz="2400" noProof="1">
                <a:solidFill>
                  <a:srgbClr val="FF0000"/>
                </a:solidFill>
              </a:rPr>
              <a:t>(...);</a:t>
            </a:r>
          </a:p>
          <a:p>
            <a:pPr>
              <a:spcBef>
                <a:spcPct val="0"/>
              </a:spcBef>
              <a:defRPr/>
            </a:pPr>
            <a:r>
              <a:rPr sz="2400" noProof="1">
                <a:solidFill>
                  <a:srgbClr val="FF0000"/>
                </a:solidFill>
              </a:rPr>
              <a:t> </a:t>
            </a:r>
            <a:r>
              <a:rPr lang="en-GB" sz="2400" noProof="1">
                <a:solidFill>
                  <a:srgbClr val="FF0000"/>
                </a:solidFill>
              </a:rPr>
              <a:t> newsFeed</a:t>
            </a:r>
            <a:r>
              <a:rPr sz="2400" u="sng" noProof="1">
                <a:solidFill>
                  <a:srgbClr val="FF0000"/>
                </a:solidFill>
              </a:rPr>
              <a:t>.add</a:t>
            </a:r>
            <a:r>
              <a:rPr lang="en-GB" sz="2400" u="sng" noProof="1">
                <a:solidFill>
                  <a:srgbClr val="FF0000"/>
                </a:solidFill>
              </a:rPr>
              <a:t>Post</a:t>
            </a:r>
            <a:r>
              <a:rPr sz="2400" noProof="1">
                <a:solidFill>
                  <a:srgbClr val="FF0000"/>
                </a:solidFill>
              </a:rPr>
              <a:t>(my</a:t>
            </a:r>
            <a:r>
              <a:rPr lang="en-GB" sz="2400" noProof="1">
                <a:solidFill>
                  <a:srgbClr val="FF0000"/>
                </a:solidFill>
              </a:rPr>
              <a:t>Photo</a:t>
            </a:r>
            <a:r>
              <a:rPr sz="2400" noProof="1">
                <a:solidFill>
                  <a:srgbClr val="FF0000"/>
                </a:solidFill>
              </a:rPr>
              <a:t>);</a:t>
            </a:r>
            <a:endParaRPr lang="en-AU" sz="1800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22C488-9067-A04D-99E4-1D52BE5FD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152400"/>
            <a:ext cx="4561367" cy="4457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41813C5-09FB-B742-AC33-A6DA04898526}"/>
              </a:ext>
            </a:extLst>
          </p:cNvPr>
          <p:cNvSpPr/>
          <p:nvPr/>
        </p:nvSpPr>
        <p:spPr>
          <a:xfrm>
            <a:off x="7620000" y="609600"/>
            <a:ext cx="2819400" cy="2286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05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Subtyping</a:t>
            </a:r>
          </a:p>
        </p:txBody>
      </p:sp>
      <p:sp>
        <p:nvSpPr>
          <p:cNvPr id="28676" name="Text Box 5"/>
          <p:cNvSpPr txBox="1">
            <a:spLocks noChangeArrowheads="1"/>
          </p:cNvSpPr>
          <p:nvPr/>
        </p:nvSpPr>
        <p:spPr bwMode="auto">
          <a:xfrm>
            <a:off x="613410" y="3951267"/>
            <a:ext cx="10058400" cy="263209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198000" tIns="190800" rIns="162000" bIns="19080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ts val="1200"/>
              </a:spcBef>
              <a:defRPr/>
            </a:pPr>
            <a:r>
              <a:rPr lang="en-US" sz="2800" b="0" dirty="0">
                <a:solidFill>
                  <a:srgbClr val="1A3170"/>
                </a:solidFill>
                <a:latin typeface="Trebuchet MS" charset="0"/>
              </a:rPr>
              <a:t>V5.0 has inheritance:</a:t>
            </a:r>
            <a:endParaRPr lang="en-GB" sz="2400" b="0" noProof="1">
              <a:latin typeface="Courier" charset="0"/>
            </a:endParaRPr>
          </a:p>
          <a:p>
            <a:pPr>
              <a:spcBef>
                <a:spcPct val="0"/>
              </a:spcBef>
              <a:defRPr/>
            </a:pPr>
            <a:r>
              <a:rPr lang="en-GB" sz="2400" noProof="1"/>
              <a:t> </a:t>
            </a:r>
            <a:r>
              <a:rPr lang="en-GB" sz="2400" noProof="1">
                <a:solidFill>
                  <a:srgbClr val="FF0000"/>
                </a:solidFill>
              </a:rPr>
              <a:t> </a:t>
            </a:r>
            <a:r>
              <a:rPr sz="2400" noProof="1">
                <a:solidFill>
                  <a:srgbClr val="FF0000"/>
                </a:solidFill>
              </a:rPr>
              <a:t>public void </a:t>
            </a:r>
            <a:r>
              <a:rPr sz="2400" u="sng" noProof="1">
                <a:solidFill>
                  <a:srgbClr val="FF0000"/>
                </a:solidFill>
              </a:rPr>
              <a:t>add</a:t>
            </a:r>
            <a:r>
              <a:rPr lang="en-GB" sz="2400" u="sng" noProof="1">
                <a:solidFill>
                  <a:srgbClr val="FF0000"/>
                </a:solidFill>
              </a:rPr>
              <a:t>Post</a:t>
            </a:r>
            <a:r>
              <a:rPr sz="2400" noProof="1">
                <a:solidFill>
                  <a:srgbClr val="FF0000"/>
                </a:solidFill>
              </a:rPr>
              <a:t>(</a:t>
            </a:r>
            <a:r>
              <a:rPr lang="en-GB" sz="2400" noProof="1">
                <a:solidFill>
                  <a:srgbClr val="FF0000"/>
                </a:solidFill>
              </a:rPr>
              <a:t>Post post</a:t>
            </a:r>
            <a:r>
              <a:rPr sz="2400" noProof="1">
                <a:solidFill>
                  <a:srgbClr val="FF0000"/>
                </a:solidFill>
              </a:rPr>
              <a:t>)</a:t>
            </a:r>
          </a:p>
          <a:p>
            <a:pPr>
              <a:spcBef>
                <a:spcPct val="0"/>
              </a:spcBef>
              <a:defRPr/>
            </a:pPr>
            <a:endParaRPr lang="en-AU" sz="1800" dirty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defRPr/>
            </a:pPr>
            <a:r>
              <a:rPr lang="en-AU" sz="2800" b="0" dirty="0">
                <a:solidFill>
                  <a:srgbClr val="1A3170"/>
                </a:solidFill>
                <a:latin typeface="Trebuchet MS" charset="0"/>
              </a:rPr>
              <a:t>We call this method with:</a:t>
            </a:r>
          </a:p>
          <a:p>
            <a:pPr>
              <a:spcBef>
                <a:spcPct val="0"/>
              </a:spcBef>
              <a:defRPr/>
            </a:pPr>
            <a:r>
              <a:rPr lang="en-GB" sz="2400" dirty="0"/>
              <a:t>  </a:t>
            </a:r>
            <a:r>
              <a:rPr lang="en-GB" sz="2400" dirty="0" err="1">
                <a:solidFill>
                  <a:srgbClr val="FF0000"/>
                </a:solidFill>
              </a:rPr>
              <a:t>PhotoPost</a:t>
            </a:r>
            <a:r>
              <a:rPr sz="2400" noProof="1">
                <a:solidFill>
                  <a:srgbClr val="FF0000"/>
                </a:solidFill>
              </a:rPr>
              <a:t> my</a:t>
            </a:r>
            <a:r>
              <a:rPr lang="en-GB" sz="2400" noProof="1">
                <a:solidFill>
                  <a:srgbClr val="FF0000"/>
                </a:solidFill>
              </a:rPr>
              <a:t>Photo</a:t>
            </a:r>
            <a:r>
              <a:rPr sz="2400" noProof="1">
                <a:solidFill>
                  <a:srgbClr val="FF0000"/>
                </a:solidFill>
              </a:rPr>
              <a:t> = new </a:t>
            </a:r>
            <a:r>
              <a:rPr lang="en-GB" sz="2400" dirty="0" err="1">
                <a:solidFill>
                  <a:srgbClr val="FF0000"/>
                </a:solidFill>
              </a:rPr>
              <a:t>PhotoPost</a:t>
            </a:r>
            <a:r>
              <a:rPr sz="2400" noProof="1">
                <a:solidFill>
                  <a:srgbClr val="FF0000"/>
                </a:solidFill>
              </a:rPr>
              <a:t>(...);</a:t>
            </a:r>
          </a:p>
          <a:p>
            <a:pPr>
              <a:spcBef>
                <a:spcPct val="0"/>
              </a:spcBef>
              <a:defRPr/>
            </a:pPr>
            <a:r>
              <a:rPr sz="2400" noProof="1">
                <a:solidFill>
                  <a:srgbClr val="FF0000"/>
                </a:solidFill>
              </a:rPr>
              <a:t> </a:t>
            </a:r>
            <a:r>
              <a:rPr lang="en-GB" sz="2400" noProof="1">
                <a:solidFill>
                  <a:srgbClr val="FF0000"/>
                </a:solidFill>
              </a:rPr>
              <a:t> newsFeed</a:t>
            </a:r>
            <a:r>
              <a:rPr sz="2400" u="sng" noProof="1">
                <a:solidFill>
                  <a:srgbClr val="FF0000"/>
                </a:solidFill>
              </a:rPr>
              <a:t>.add</a:t>
            </a:r>
            <a:r>
              <a:rPr lang="en-GB" sz="2400" u="sng" noProof="1">
                <a:solidFill>
                  <a:srgbClr val="FF0000"/>
                </a:solidFill>
              </a:rPr>
              <a:t>Post</a:t>
            </a:r>
            <a:r>
              <a:rPr sz="2400" noProof="1">
                <a:solidFill>
                  <a:srgbClr val="FF0000"/>
                </a:solidFill>
              </a:rPr>
              <a:t>(my</a:t>
            </a:r>
            <a:r>
              <a:rPr lang="en-GB" sz="2400" noProof="1">
                <a:solidFill>
                  <a:srgbClr val="FF0000"/>
                </a:solidFill>
              </a:rPr>
              <a:t>Photo</a:t>
            </a:r>
            <a:r>
              <a:rPr sz="2400" noProof="1">
                <a:solidFill>
                  <a:srgbClr val="FF0000"/>
                </a:solidFill>
              </a:rPr>
              <a:t>);</a:t>
            </a:r>
            <a:endParaRPr lang="en-AU" sz="1800" dirty="0">
              <a:solidFill>
                <a:srgbClr val="FF0000"/>
              </a:solidFill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6728A2EF-6E4F-4C5E-A6B3-10D6B9712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790106"/>
            <a:ext cx="10058400" cy="192420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198000" tIns="190800" rIns="162000" bIns="19080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IE" sz="2800" b="0" noProof="1">
                <a:solidFill>
                  <a:srgbClr val="1A3170"/>
                </a:solidFill>
                <a:latin typeface="Trebuchet MS" charset="0"/>
              </a:rPr>
              <a:t>V4.0 </a:t>
            </a:r>
            <a:r>
              <a:rPr sz="2800" b="0" noProof="1">
                <a:solidFill>
                  <a:srgbClr val="1A3170"/>
                </a:solidFill>
                <a:latin typeface="Trebuchet MS" charset="0"/>
              </a:rPr>
              <a:t>had</a:t>
            </a:r>
            <a:r>
              <a:rPr lang="en-IE" sz="2800" b="0" noProof="1">
                <a:solidFill>
                  <a:srgbClr val="1A3170"/>
                </a:solidFill>
                <a:latin typeface="Trebuchet MS" charset="0"/>
              </a:rPr>
              <a:t> no inheritance</a:t>
            </a:r>
            <a:r>
              <a:rPr sz="2800" b="0" noProof="1">
                <a:solidFill>
                  <a:srgbClr val="1A3170"/>
                </a:solidFill>
                <a:latin typeface="Trebuchet MS" charset="0"/>
              </a:rPr>
              <a:t>:</a:t>
            </a:r>
            <a:endParaRPr lang="en-IE" sz="2800" b="0" noProof="1">
              <a:solidFill>
                <a:srgbClr val="1A3170"/>
              </a:solidFill>
              <a:latin typeface="Trebuchet MS" charset="0"/>
            </a:endParaRPr>
          </a:p>
          <a:p>
            <a:pPr>
              <a:spcBef>
                <a:spcPct val="0"/>
              </a:spcBef>
              <a:defRPr/>
            </a:pPr>
            <a:endParaRPr lang="en-GB" sz="2400" noProof="1"/>
          </a:p>
          <a:p>
            <a:pPr>
              <a:spcBef>
                <a:spcPct val="0"/>
              </a:spcBef>
              <a:defRPr/>
            </a:pPr>
            <a:r>
              <a:rPr sz="2400" noProof="1">
                <a:solidFill>
                  <a:srgbClr val="FF0000"/>
                </a:solidFill>
              </a:rPr>
              <a:t>public void add</a:t>
            </a:r>
            <a:r>
              <a:rPr lang="en-GB" sz="2400" noProof="1">
                <a:solidFill>
                  <a:srgbClr val="FF0000"/>
                </a:solidFill>
              </a:rPr>
              <a:t>MessagePost</a:t>
            </a:r>
            <a:r>
              <a:rPr sz="2400" noProof="1">
                <a:solidFill>
                  <a:srgbClr val="FF0000"/>
                </a:solidFill>
              </a:rPr>
              <a:t>(</a:t>
            </a:r>
            <a:r>
              <a:rPr lang="en-GB" sz="2400" noProof="1">
                <a:solidFill>
                  <a:srgbClr val="FF0000"/>
                </a:solidFill>
              </a:rPr>
              <a:t>MessagePost message</a:t>
            </a:r>
            <a:r>
              <a:rPr sz="2400" noProof="1">
                <a:solidFill>
                  <a:srgbClr val="FF0000"/>
                </a:solidFill>
              </a:rPr>
              <a:t>)</a:t>
            </a:r>
          </a:p>
          <a:p>
            <a:pPr>
              <a:spcBef>
                <a:spcPct val="0"/>
              </a:spcBef>
              <a:defRPr/>
            </a:pPr>
            <a:r>
              <a:rPr sz="2400" noProof="1">
                <a:solidFill>
                  <a:srgbClr val="FF0000"/>
                </a:solidFill>
              </a:rPr>
              <a:t>public void add</a:t>
            </a:r>
            <a:r>
              <a:rPr lang="en-GB" sz="2400" noProof="1">
                <a:solidFill>
                  <a:srgbClr val="FF0000"/>
                </a:solidFill>
              </a:rPr>
              <a:t>PhotoPost</a:t>
            </a:r>
            <a:r>
              <a:rPr sz="2400" noProof="1">
                <a:solidFill>
                  <a:srgbClr val="FF0000"/>
                </a:solidFill>
              </a:rPr>
              <a:t>(</a:t>
            </a:r>
            <a:r>
              <a:rPr lang="en-GB" sz="2400" noProof="1">
                <a:solidFill>
                  <a:srgbClr val="FF0000"/>
                </a:solidFill>
              </a:rPr>
              <a:t>PhotoPost</a:t>
            </a:r>
            <a:r>
              <a:rPr sz="2400" noProof="1">
                <a:solidFill>
                  <a:srgbClr val="FF0000"/>
                </a:solidFill>
              </a:rPr>
              <a:t> </a:t>
            </a:r>
            <a:r>
              <a:rPr lang="en-GB" sz="2400" noProof="1">
                <a:solidFill>
                  <a:srgbClr val="FF0000"/>
                </a:solidFill>
              </a:rPr>
              <a:t>photo</a:t>
            </a:r>
            <a:r>
              <a:rPr sz="2400" noProof="1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907453-9F41-5248-8D47-C2638D54B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1751" y="2057400"/>
            <a:ext cx="2372498" cy="1143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7FF8F4-FDEB-3141-8EFB-6606A4E928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7418" y="4648200"/>
            <a:ext cx="3079691" cy="1371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72977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Subclasses and subtyping</a:t>
            </a:r>
          </a:p>
        </p:txBody>
      </p:sp>
      <p:sp>
        <p:nvSpPr>
          <p:cNvPr id="191492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Classes define </a:t>
            </a:r>
            <a:r>
              <a:rPr lang="en-GB" b="1" i="1" dirty="0">
                <a:ea typeface="+mn-ea"/>
                <a:cs typeface="+mn-cs"/>
              </a:rPr>
              <a:t>types</a:t>
            </a:r>
            <a:r>
              <a:rPr lang="en-GB" dirty="0">
                <a:ea typeface="+mn-ea"/>
                <a:cs typeface="+mn-cs"/>
              </a:rPr>
              <a:t>.</a:t>
            </a:r>
          </a:p>
          <a:p>
            <a:pPr eaLnBrk="1" hangingPunct="1">
              <a:defRPr/>
            </a:pPr>
            <a:endParaRPr lang="en-GB" dirty="0">
              <a:ea typeface="+mn-ea"/>
              <a:cs typeface="+mn-cs"/>
            </a:endParaRP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Subclasses define </a:t>
            </a:r>
            <a:r>
              <a:rPr lang="en-GB" b="1" i="1" dirty="0">
                <a:ea typeface="+mn-ea"/>
                <a:cs typeface="+mn-cs"/>
              </a:rPr>
              <a:t>subtypes</a:t>
            </a:r>
            <a:r>
              <a:rPr lang="en-GB" dirty="0">
                <a:ea typeface="+mn-ea"/>
                <a:cs typeface="+mn-cs"/>
              </a:rPr>
              <a:t>.</a:t>
            </a:r>
          </a:p>
          <a:p>
            <a:pPr eaLnBrk="1" hangingPunct="1">
              <a:defRPr/>
            </a:pPr>
            <a:endParaRPr lang="en-GB" dirty="0">
              <a:ea typeface="+mn-ea"/>
              <a:cs typeface="+mn-cs"/>
            </a:endParaRPr>
          </a:p>
          <a:p>
            <a:pPr eaLnBrk="1" hangingPunct="1">
              <a:defRPr/>
            </a:pPr>
            <a:r>
              <a:rPr lang="en-GB" dirty="0">
                <a:solidFill>
                  <a:srgbClr val="FF0000"/>
                </a:solidFill>
                <a:ea typeface="+mn-ea"/>
                <a:cs typeface="+mn-cs"/>
              </a:rPr>
              <a:t>Substitution</a:t>
            </a:r>
            <a:r>
              <a:rPr lang="en-GB" dirty="0">
                <a:ea typeface="+mn-ea"/>
                <a:cs typeface="+mn-cs"/>
              </a:rPr>
              <a:t>:  </a:t>
            </a:r>
            <a:endParaRPr lang="en-GB" dirty="0"/>
          </a:p>
          <a:p>
            <a:pPr lvl="1">
              <a:defRPr/>
            </a:pPr>
            <a:r>
              <a:rPr lang="en-GB" dirty="0">
                <a:ea typeface="+mn-ea"/>
                <a:cs typeface="+mn-cs"/>
              </a:rPr>
              <a:t>objects of </a:t>
            </a:r>
            <a:r>
              <a:rPr lang="en-GB" b="1" i="1" dirty="0">
                <a:ea typeface="+mn-ea"/>
                <a:cs typeface="+mn-cs"/>
              </a:rPr>
              <a:t>subclasses</a:t>
            </a:r>
            <a:r>
              <a:rPr lang="en-GB" dirty="0">
                <a:ea typeface="+mn-ea"/>
                <a:cs typeface="+mn-cs"/>
              </a:rPr>
              <a:t> can be used where </a:t>
            </a:r>
            <a:br>
              <a:rPr lang="en-GB" dirty="0">
                <a:ea typeface="+mn-ea"/>
                <a:cs typeface="+mn-cs"/>
              </a:rPr>
            </a:br>
            <a:r>
              <a:rPr lang="en-GB" dirty="0">
                <a:ea typeface="+mn-ea"/>
                <a:cs typeface="+mn-cs"/>
              </a:rPr>
              <a:t>objects of </a:t>
            </a:r>
            <a:r>
              <a:rPr lang="en-GB" b="1" i="1" dirty="0">
                <a:ea typeface="+mn-ea"/>
                <a:cs typeface="+mn-cs"/>
              </a:rPr>
              <a:t>supertypes</a:t>
            </a:r>
            <a:r>
              <a:rPr lang="en-GB" dirty="0">
                <a:ea typeface="+mn-ea"/>
                <a:cs typeface="+mn-cs"/>
              </a:rPr>
              <a:t> are required.</a:t>
            </a:r>
            <a:br>
              <a:rPr lang="en-GB" dirty="0">
                <a:ea typeface="+mn-ea"/>
                <a:cs typeface="+mn-cs"/>
              </a:rPr>
            </a:br>
            <a:endParaRPr lang="en-GB" dirty="0"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753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Subtyping and assignment</a:t>
            </a:r>
          </a:p>
        </p:txBody>
      </p:sp>
      <p:sp>
        <p:nvSpPr>
          <p:cNvPr id="30724" name="Text Box 5"/>
          <p:cNvSpPr txBox="1">
            <a:spLocks noChangeArrowheads="1"/>
          </p:cNvSpPr>
          <p:nvPr/>
        </p:nvSpPr>
        <p:spPr bwMode="auto">
          <a:xfrm>
            <a:off x="3682405" y="4666972"/>
            <a:ext cx="5252641" cy="13086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vert="horz" wrap="square" lIns="198000" tIns="190800" rIns="162000" bIns="19080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noProof="1"/>
              <a:t>Vehicle v1 = new Vehicle();</a:t>
            </a:r>
          </a:p>
          <a:p>
            <a:pPr>
              <a:spcBef>
                <a:spcPct val="0"/>
              </a:spcBef>
              <a:defRPr/>
            </a:pPr>
            <a:r>
              <a:rPr noProof="1"/>
              <a:t>Vehicle v2 = new Car();</a:t>
            </a:r>
          </a:p>
          <a:p>
            <a:pPr>
              <a:spcBef>
                <a:spcPct val="0"/>
              </a:spcBef>
              <a:defRPr/>
            </a:pPr>
            <a:r>
              <a:rPr lang="en-US" dirty="0"/>
              <a:t>Vehicle v3 = new Bicycle();</a:t>
            </a:r>
            <a:endParaRPr lang="en-AU" dirty="0"/>
          </a:p>
        </p:txBody>
      </p:sp>
      <p:sp>
        <p:nvSpPr>
          <p:cNvPr id="30725" name="Text Box 7"/>
          <p:cNvSpPr txBox="1">
            <a:spLocks noChangeArrowheads="1"/>
          </p:cNvSpPr>
          <p:nvPr/>
        </p:nvSpPr>
        <p:spPr bwMode="auto">
          <a:xfrm>
            <a:off x="6645521" y="2382747"/>
            <a:ext cx="2971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en-GB" sz="2400" i="1" dirty="0">
                <a:latin typeface="Trebuchet MS" charset="0"/>
              </a:rPr>
              <a:t>sub</a:t>
            </a:r>
            <a:r>
              <a:rPr lang="en-GB" sz="2400" b="0" i="1" dirty="0">
                <a:latin typeface="Trebuchet MS" charset="0"/>
              </a:rPr>
              <a:t>class objects </a:t>
            </a:r>
            <a:r>
              <a:rPr lang="en-GB" sz="2400" i="1" dirty="0">
                <a:latin typeface="Trebuchet MS" charset="0"/>
              </a:rPr>
              <a:t>may be assigned to super</a:t>
            </a:r>
            <a:r>
              <a:rPr lang="en-GB" sz="2400" b="0" i="1" dirty="0">
                <a:latin typeface="Trebuchet MS" charset="0"/>
              </a:rPr>
              <a:t>class variables</a:t>
            </a:r>
          </a:p>
        </p:txBody>
      </p:sp>
      <p:pic>
        <p:nvPicPr>
          <p:cNvPr id="30726" name="Picture 8" descr="fig8-13-colou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00200"/>
            <a:ext cx="4514850" cy="276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0051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animBg="1"/>
      <p:bldP spid="307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Subtyping and parameter passing</a:t>
            </a:r>
          </a:p>
        </p:txBody>
      </p:sp>
      <p:sp>
        <p:nvSpPr>
          <p:cNvPr id="31748" name="Text Box 5"/>
          <p:cNvSpPr txBox="1">
            <a:spLocks noChangeArrowheads="1"/>
          </p:cNvSpPr>
          <p:nvPr/>
        </p:nvSpPr>
        <p:spPr bwMode="auto">
          <a:xfrm>
            <a:off x="609600" y="3878748"/>
            <a:ext cx="6858000" cy="175432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endParaRPr sz="1800" noProof="1"/>
          </a:p>
          <a:p>
            <a:pPr>
              <a:spcBef>
                <a:spcPct val="0"/>
              </a:spcBef>
              <a:defRPr/>
            </a:pPr>
            <a:r>
              <a:rPr lang="en-GB" sz="1800" noProof="1"/>
              <a:t>PhotoPost</a:t>
            </a:r>
            <a:r>
              <a:rPr sz="1800" noProof="1"/>
              <a:t> </a:t>
            </a:r>
            <a:r>
              <a:rPr lang="en-GB" sz="1800" dirty="0"/>
              <a:t>photo </a:t>
            </a:r>
            <a:r>
              <a:rPr sz="1800" noProof="1"/>
              <a:t>= new </a:t>
            </a:r>
            <a:r>
              <a:rPr lang="en-US" sz="1800" noProof="1"/>
              <a:t>PhotoPost</a:t>
            </a:r>
            <a:r>
              <a:rPr sz="1800" noProof="1"/>
              <a:t>(...);</a:t>
            </a:r>
          </a:p>
          <a:p>
            <a:pPr>
              <a:spcBef>
                <a:spcPct val="0"/>
              </a:spcBef>
              <a:defRPr/>
            </a:pPr>
            <a:r>
              <a:rPr lang="en-GB" sz="1800" noProof="1"/>
              <a:t>MessagePost message </a:t>
            </a:r>
            <a:r>
              <a:rPr sz="1800" noProof="1"/>
              <a:t>= new </a:t>
            </a:r>
            <a:r>
              <a:rPr lang="en-GB" sz="1800" noProof="1"/>
              <a:t>MessagePost(</a:t>
            </a:r>
            <a:r>
              <a:rPr sz="1800" noProof="1"/>
              <a:t>...);</a:t>
            </a:r>
          </a:p>
          <a:p>
            <a:pPr>
              <a:spcBef>
                <a:spcPct val="0"/>
              </a:spcBef>
              <a:defRPr/>
            </a:pPr>
            <a:endParaRPr sz="1800" noProof="1"/>
          </a:p>
          <a:p>
            <a:pPr>
              <a:spcBef>
                <a:spcPct val="0"/>
              </a:spcBef>
              <a:defRPr/>
            </a:pPr>
            <a:r>
              <a:rPr lang="en-GB" sz="1800" noProof="1"/>
              <a:t>newsFeed</a:t>
            </a:r>
            <a:r>
              <a:rPr sz="1800" noProof="1"/>
              <a:t>.add</a:t>
            </a:r>
            <a:r>
              <a:rPr lang="en-GB" sz="1800" noProof="1"/>
              <a:t>Post</a:t>
            </a:r>
            <a:r>
              <a:rPr sz="1800" noProof="1"/>
              <a:t>(</a:t>
            </a:r>
            <a:r>
              <a:rPr lang="en-GB" sz="1800" noProof="1"/>
              <a:t>photo</a:t>
            </a:r>
            <a:r>
              <a:rPr sz="1800" noProof="1"/>
              <a:t>);</a:t>
            </a:r>
          </a:p>
          <a:p>
            <a:pPr>
              <a:spcBef>
                <a:spcPct val="0"/>
              </a:spcBef>
              <a:defRPr/>
            </a:pPr>
            <a:r>
              <a:rPr lang="en-US" sz="1800" dirty="0" err="1"/>
              <a:t>newFeed.addPost</a:t>
            </a:r>
            <a:r>
              <a:rPr lang="en-US" sz="1800" dirty="0"/>
              <a:t>(message);</a:t>
            </a:r>
            <a:endParaRPr lang="en-GB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257532"/>
            <a:ext cx="2849222" cy="2157103"/>
          </a:xfrm>
          <a:prstGeom prst="rect">
            <a:avLst/>
          </a:prstGeom>
        </p:spPr>
      </p:pic>
      <p:sp>
        <p:nvSpPr>
          <p:cNvPr id="8" name="Frame 7"/>
          <p:cNvSpPr/>
          <p:nvPr/>
        </p:nvSpPr>
        <p:spPr>
          <a:xfrm>
            <a:off x="2794340" y="5319712"/>
            <a:ext cx="1320460" cy="242888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Frame 8"/>
          <p:cNvSpPr/>
          <p:nvPr/>
        </p:nvSpPr>
        <p:spPr>
          <a:xfrm>
            <a:off x="2860210" y="5029642"/>
            <a:ext cx="1320460" cy="280544"/>
          </a:xfrm>
          <a:prstGeom prst="frame">
            <a:avLst>
              <a:gd name="adj1" fmla="val 377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Frame 10"/>
          <p:cNvSpPr/>
          <p:nvPr/>
        </p:nvSpPr>
        <p:spPr>
          <a:xfrm>
            <a:off x="3102485" y="4201178"/>
            <a:ext cx="2688715" cy="280544"/>
          </a:xfrm>
          <a:prstGeom prst="frame">
            <a:avLst>
              <a:gd name="adj1" fmla="val 377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Frame 11"/>
          <p:cNvSpPr/>
          <p:nvPr/>
        </p:nvSpPr>
        <p:spPr>
          <a:xfrm>
            <a:off x="3668486" y="4502587"/>
            <a:ext cx="2960914" cy="298013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1749" name="Text Box 8"/>
          <p:cNvSpPr txBox="1">
            <a:spLocks noChangeArrowheads="1"/>
          </p:cNvSpPr>
          <p:nvPr/>
        </p:nvSpPr>
        <p:spPr bwMode="auto">
          <a:xfrm>
            <a:off x="6477000" y="5169914"/>
            <a:ext cx="4991100" cy="120032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en-GB" sz="2400" i="1" dirty="0">
                <a:solidFill>
                  <a:srgbClr val="F37A20"/>
                </a:solidFill>
                <a:latin typeface="Trebuchet MS" charset="0"/>
              </a:rPr>
              <a:t>sub</a:t>
            </a:r>
            <a:r>
              <a:rPr lang="en-GB" sz="2400" b="0" i="1" dirty="0">
                <a:solidFill>
                  <a:srgbClr val="F37A20"/>
                </a:solidFill>
                <a:latin typeface="Trebuchet MS" charset="0"/>
              </a:rPr>
              <a:t>class objects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GB" sz="2400" b="0" i="1" dirty="0">
                <a:solidFill>
                  <a:srgbClr val="F37A20"/>
                </a:solidFill>
                <a:latin typeface="Trebuchet MS" charset="0"/>
              </a:rPr>
              <a:t>may be used as actual parameters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GB" sz="2400" b="0" i="1" dirty="0">
                <a:solidFill>
                  <a:srgbClr val="F37A20"/>
                </a:solidFill>
                <a:latin typeface="Trebuchet MS" charset="0"/>
              </a:rPr>
              <a:t>when a </a:t>
            </a:r>
            <a:r>
              <a:rPr lang="en-GB" sz="2400" i="1" dirty="0">
                <a:solidFill>
                  <a:srgbClr val="F37A20"/>
                </a:solidFill>
                <a:latin typeface="Trebuchet MS" charset="0"/>
              </a:rPr>
              <a:t>super</a:t>
            </a:r>
            <a:r>
              <a:rPr lang="en-GB" sz="2400" b="0" i="1" dirty="0">
                <a:solidFill>
                  <a:srgbClr val="F37A20"/>
                </a:solidFill>
                <a:latin typeface="Trebuchet MS" charset="0"/>
              </a:rPr>
              <a:t>class is required.</a:t>
            </a: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E39B0145-CB22-1D41-8841-E2F768BF5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73463"/>
            <a:ext cx="6858000" cy="2031325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sz="1800" noProof="1"/>
              <a:t>public class </a:t>
            </a:r>
            <a:r>
              <a:rPr lang="en-GB" sz="1800" noProof="1"/>
              <a:t>NewsFeed</a:t>
            </a:r>
            <a:endParaRPr sz="1800" noProof="1"/>
          </a:p>
          <a:p>
            <a:pPr>
              <a:spcBef>
                <a:spcPct val="0"/>
              </a:spcBef>
              <a:defRPr/>
            </a:pPr>
            <a:r>
              <a:rPr sz="1800" noProof="1"/>
              <a:t>{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public </a:t>
            </a:r>
            <a:r>
              <a:rPr lang="en-IE" sz="1800" noProof="1"/>
              <a:t>boolean</a:t>
            </a:r>
            <a:r>
              <a:rPr sz="1800" noProof="1"/>
              <a:t> add</a:t>
            </a:r>
            <a:r>
              <a:rPr lang="en-GB" sz="1800" noProof="1"/>
              <a:t>Post</a:t>
            </a:r>
            <a:r>
              <a:rPr sz="1800" noProof="1"/>
              <a:t>(</a:t>
            </a:r>
            <a:r>
              <a:rPr lang="en-GB" sz="1800" noProof="1"/>
              <a:t>Post</a:t>
            </a:r>
            <a:r>
              <a:rPr sz="1800" noProof="1"/>
              <a:t> </a:t>
            </a:r>
            <a:r>
              <a:rPr lang="en-GB" sz="1800" noProof="1"/>
              <a:t>post</a:t>
            </a:r>
            <a:r>
              <a:rPr sz="1800" noProof="1"/>
              <a:t>)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{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    ...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}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}</a:t>
            </a:r>
            <a:endParaRPr lang="en-GB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23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Social Network V5.0 - </a:t>
            </a:r>
            <a:r>
              <a:rPr lang="en-US" b="1" dirty="0">
                <a:ea typeface="+mj-ea"/>
                <a:cs typeface="+mj-cs"/>
              </a:rPr>
              <a:t>Object diagram</a:t>
            </a:r>
          </a:p>
        </p:txBody>
      </p:sp>
      <p:pic>
        <p:nvPicPr>
          <p:cNvPr id="32772" name="Picture 1" descr="fig8-unused-2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1770064"/>
            <a:ext cx="7339012" cy="403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rame 3"/>
          <p:cNvSpPr/>
          <p:nvPr/>
        </p:nvSpPr>
        <p:spPr>
          <a:xfrm>
            <a:off x="3352800" y="4953000"/>
            <a:ext cx="1219200" cy="533400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4724400" y="4953001"/>
            <a:ext cx="1143000" cy="533400"/>
          </a:xfrm>
          <a:prstGeom prst="frame">
            <a:avLst>
              <a:gd name="adj1" fmla="val 377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Frame 5"/>
          <p:cNvSpPr/>
          <p:nvPr/>
        </p:nvSpPr>
        <p:spPr>
          <a:xfrm>
            <a:off x="5562600" y="3124200"/>
            <a:ext cx="2362200" cy="533400"/>
          </a:xfrm>
          <a:prstGeom prst="frame">
            <a:avLst>
              <a:gd name="adj1" fmla="val 377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Frame 6"/>
          <p:cNvSpPr/>
          <p:nvPr/>
        </p:nvSpPr>
        <p:spPr>
          <a:xfrm>
            <a:off x="8610600" y="4942114"/>
            <a:ext cx="1143000" cy="533400"/>
          </a:xfrm>
          <a:prstGeom prst="frame">
            <a:avLst>
              <a:gd name="adj1" fmla="val 377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Frame 7"/>
          <p:cNvSpPr/>
          <p:nvPr/>
        </p:nvSpPr>
        <p:spPr>
          <a:xfrm>
            <a:off x="5943600" y="4931228"/>
            <a:ext cx="1219200" cy="555172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Frame 9"/>
          <p:cNvSpPr/>
          <p:nvPr/>
        </p:nvSpPr>
        <p:spPr>
          <a:xfrm>
            <a:off x="7271657" y="4920342"/>
            <a:ext cx="1219200" cy="555172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Frame 10"/>
          <p:cNvSpPr/>
          <p:nvPr/>
        </p:nvSpPr>
        <p:spPr>
          <a:xfrm>
            <a:off x="2895600" y="1981200"/>
            <a:ext cx="2133600" cy="1066800"/>
          </a:xfrm>
          <a:prstGeom prst="frame">
            <a:avLst>
              <a:gd name="adj1" fmla="val 377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4883189" y="5696297"/>
            <a:ext cx="765057" cy="92323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370514" y="5716971"/>
            <a:ext cx="1074371" cy="29965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967108" y="5696297"/>
            <a:ext cx="765057" cy="923233"/>
          </a:xfrm>
          <a:prstGeom prst="rect">
            <a:avLst/>
          </a:prstGeom>
        </p:spPr>
      </p:pic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6406923" y="1911098"/>
            <a:ext cx="4038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r>
              <a:rPr lang="en-GB" sz="2400" b="0" i="1" dirty="0" err="1">
                <a:solidFill>
                  <a:srgbClr val="00B0F0"/>
                </a:solidFill>
                <a:latin typeface="+mn-lt"/>
              </a:rPr>
              <a:t>NewsFeed</a:t>
            </a:r>
            <a:r>
              <a:rPr lang="en-GB" sz="2400" b="0" i="1" dirty="0">
                <a:solidFill>
                  <a:srgbClr val="00B0F0"/>
                </a:solidFill>
                <a:latin typeface="+mn-lt"/>
              </a:rPr>
              <a:t> object </a:t>
            </a:r>
            <a:br>
              <a:rPr lang="en-GB" sz="2400" b="0" i="1" dirty="0">
                <a:solidFill>
                  <a:srgbClr val="00B0F0"/>
                </a:solidFill>
                <a:latin typeface="+mn-lt"/>
              </a:rPr>
            </a:br>
            <a:r>
              <a:rPr lang="en-GB" sz="2400" b="0" i="1" dirty="0">
                <a:solidFill>
                  <a:srgbClr val="00B0F0"/>
                </a:solidFill>
                <a:latin typeface="+mn-lt"/>
              </a:rPr>
              <a:t>holds a </a:t>
            </a:r>
            <a:r>
              <a:rPr lang="en-GB" sz="2400" i="1" dirty="0">
                <a:solidFill>
                  <a:srgbClr val="00B0F0"/>
                </a:solidFill>
                <a:latin typeface="+mn-lt"/>
              </a:rPr>
              <a:t>single</a:t>
            </a:r>
            <a:r>
              <a:rPr lang="en-GB" sz="2400" b="0" i="1" dirty="0">
                <a:solidFill>
                  <a:srgbClr val="00B0F0"/>
                </a:solidFill>
                <a:latin typeface="+mn-lt"/>
              </a:rPr>
              <a:t> mixed collection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783D448-8C9E-4EE2-BE9B-952B6F4E37B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012230" y="5796346"/>
            <a:ext cx="1074371" cy="2996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019726D-FF74-42A4-B054-82F1DAF908B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383830" y="5796346"/>
            <a:ext cx="1074371" cy="2996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14049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108966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Subtyping and Substitution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Polymorphic Variables 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Polymorphic Collections</a:t>
            </a:r>
          </a:p>
          <a:p>
            <a:pPr lvl="1">
              <a:defRPr/>
            </a:pPr>
            <a:r>
              <a:rPr lang="en-US" dirty="0"/>
              <a:t>Includes </a:t>
            </a:r>
          </a:p>
          <a:p>
            <a:pPr lvl="2">
              <a:defRPr/>
            </a:pPr>
            <a:r>
              <a:rPr lang="en-US" dirty="0"/>
              <a:t>Casting</a:t>
            </a:r>
          </a:p>
          <a:p>
            <a:pPr lvl="2">
              <a:defRPr/>
            </a:pPr>
            <a:r>
              <a:rPr lang="en-US" dirty="0"/>
              <a:t>Wrapper classes</a:t>
            </a:r>
          </a:p>
          <a:p>
            <a:pPr lvl="2">
              <a:defRPr/>
            </a:pPr>
            <a:r>
              <a:rPr lang="en-US" dirty="0"/>
              <a:t>Autoboxing</a:t>
            </a:r>
          </a:p>
          <a:p>
            <a:pPr lvl="2">
              <a:defRPr/>
            </a:pPr>
            <a:r>
              <a:rPr lang="en-US" dirty="0"/>
              <a:t>Unboxing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427892" y="2286000"/>
            <a:ext cx="5668108" cy="4572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241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ea typeface="+mj-ea"/>
                <a:cs typeface="+mj-cs"/>
              </a:rPr>
              <a:t>Polymorphic</a:t>
            </a:r>
            <a:r>
              <a:rPr lang="en-US" dirty="0">
                <a:ea typeface="+mj-ea"/>
                <a:cs typeface="+mj-cs"/>
              </a:rPr>
              <a:t> </a:t>
            </a:r>
            <a:r>
              <a:rPr lang="en-US" b="1" dirty="0">
                <a:ea typeface="+mj-ea"/>
                <a:cs typeface="+mj-cs"/>
              </a:rPr>
              <a:t>variables</a:t>
            </a:r>
          </a:p>
        </p:txBody>
      </p:sp>
      <p:sp>
        <p:nvSpPr>
          <p:cNvPr id="194564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endParaRPr lang="en-GB" sz="3600" dirty="0"/>
          </a:p>
          <a:p>
            <a:pPr eaLnBrk="1" hangingPunct="1">
              <a:defRPr/>
            </a:pPr>
            <a:r>
              <a:rPr lang="en-GB" sz="3600" dirty="0"/>
              <a:t>Object variables in Java are </a:t>
            </a:r>
            <a:r>
              <a:rPr lang="en-GB" sz="3600" b="1" dirty="0">
                <a:solidFill>
                  <a:srgbClr val="A57133"/>
                </a:solidFill>
              </a:rPr>
              <a:t>polymorphic</a:t>
            </a:r>
            <a:r>
              <a:rPr lang="en-GB" sz="3600" dirty="0"/>
              <a:t> </a:t>
            </a:r>
          </a:p>
          <a:p>
            <a:pPr lvl="1">
              <a:defRPr/>
            </a:pPr>
            <a:r>
              <a:rPr lang="en-GB" sz="3200" dirty="0"/>
              <a:t>they can hold objects of more than one type</a:t>
            </a:r>
          </a:p>
          <a:p>
            <a:pPr lvl="2">
              <a:defRPr/>
            </a:pPr>
            <a:r>
              <a:rPr lang="en-GB" sz="2800" dirty="0"/>
              <a:t>of the declared type</a:t>
            </a:r>
          </a:p>
          <a:p>
            <a:pPr lvl="2">
              <a:defRPr/>
            </a:pPr>
            <a:r>
              <a:rPr lang="en-GB" sz="2800" dirty="0"/>
              <a:t>or of subtypes of the declared type.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752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2" name="Picture 1" descr="fig8-unused-2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1770064"/>
            <a:ext cx="7339012" cy="403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rame 3"/>
          <p:cNvSpPr/>
          <p:nvPr/>
        </p:nvSpPr>
        <p:spPr>
          <a:xfrm>
            <a:off x="3352800" y="4953000"/>
            <a:ext cx="1219200" cy="533400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4724400" y="4953001"/>
            <a:ext cx="1143000" cy="533400"/>
          </a:xfrm>
          <a:prstGeom prst="frame">
            <a:avLst>
              <a:gd name="adj1" fmla="val 377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Frame 5"/>
          <p:cNvSpPr/>
          <p:nvPr/>
        </p:nvSpPr>
        <p:spPr>
          <a:xfrm>
            <a:off x="5562600" y="3124200"/>
            <a:ext cx="2362200" cy="533400"/>
          </a:xfrm>
          <a:prstGeom prst="frame">
            <a:avLst>
              <a:gd name="adj1" fmla="val 377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Frame 6"/>
          <p:cNvSpPr/>
          <p:nvPr/>
        </p:nvSpPr>
        <p:spPr>
          <a:xfrm>
            <a:off x="8610600" y="4942114"/>
            <a:ext cx="1143000" cy="533400"/>
          </a:xfrm>
          <a:prstGeom prst="frame">
            <a:avLst>
              <a:gd name="adj1" fmla="val 377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Frame 7"/>
          <p:cNvSpPr/>
          <p:nvPr/>
        </p:nvSpPr>
        <p:spPr>
          <a:xfrm>
            <a:off x="5943600" y="4931228"/>
            <a:ext cx="1219200" cy="555172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Frame 9"/>
          <p:cNvSpPr/>
          <p:nvPr/>
        </p:nvSpPr>
        <p:spPr>
          <a:xfrm>
            <a:off x="7271657" y="4920342"/>
            <a:ext cx="1219200" cy="555172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Frame 10"/>
          <p:cNvSpPr/>
          <p:nvPr/>
        </p:nvSpPr>
        <p:spPr>
          <a:xfrm>
            <a:off x="2895600" y="1981200"/>
            <a:ext cx="2133600" cy="1066800"/>
          </a:xfrm>
          <a:prstGeom prst="frame">
            <a:avLst>
              <a:gd name="adj1" fmla="val 377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1143000" y="366711"/>
            <a:ext cx="10210799" cy="12192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600" dirty="0">
                <a:ea typeface="+mj-ea"/>
                <a:cs typeface="+mj-cs"/>
              </a:rPr>
              <a:t>Social Network V5.0 – polymorphic </a:t>
            </a:r>
            <a:r>
              <a:rPr lang="en-US" sz="3600" dirty="0" err="1"/>
              <a:t>ArrayList</a:t>
            </a:r>
            <a:r>
              <a:rPr lang="en-US" sz="3600" dirty="0"/>
              <a:t> of Post</a:t>
            </a:r>
            <a:endParaRPr lang="en-US" sz="3600" dirty="0">
              <a:ea typeface="+mj-ea"/>
              <a:cs typeface="+mj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892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ea typeface="+mj-ea"/>
                <a:cs typeface="+mj-cs"/>
              </a:rPr>
              <a:t>Cast</a:t>
            </a:r>
            <a:r>
              <a:rPr lang="en-US" dirty="0">
                <a:ea typeface="+mj-ea"/>
                <a:cs typeface="+mj-cs"/>
              </a:rPr>
              <a:t>ing</a:t>
            </a:r>
          </a:p>
        </p:txBody>
      </p:sp>
      <p:pic>
        <p:nvPicPr>
          <p:cNvPr id="9" name="Picture 8" descr="fig8-13-colour">
            <a:extLst>
              <a:ext uri="{FF2B5EF4-FFF2-40B4-BE49-F238E27FC236}">
                <a16:creationId xmlns:a16="http://schemas.microsoft.com/office/drawing/2014/main" id="{F0D21309-4E8A-4C82-8108-452B4EB5E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2951" y="1683898"/>
            <a:ext cx="3981450" cy="2438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C5182E-242D-4484-814A-E2C5E6778EA1}"/>
              </a:ext>
            </a:extLst>
          </p:cNvPr>
          <p:cNvSpPr/>
          <p:nvPr/>
        </p:nvSpPr>
        <p:spPr>
          <a:xfrm>
            <a:off x="634057" y="2029346"/>
            <a:ext cx="6405228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GB" altLang="en-US" sz="2000" dirty="0"/>
              <a:t>We can assign </a:t>
            </a:r>
            <a:r>
              <a:rPr lang="en-GB" altLang="en-US" sz="2000" b="1" dirty="0"/>
              <a:t>subtype</a:t>
            </a:r>
            <a:r>
              <a:rPr lang="en-GB" altLang="en-US" sz="2000" dirty="0"/>
              <a:t> to </a:t>
            </a:r>
            <a:r>
              <a:rPr lang="en-GB" altLang="en-US" sz="2000" b="1" dirty="0" err="1"/>
              <a:t>supertype</a:t>
            </a:r>
            <a:r>
              <a:rPr lang="en-GB" altLang="en-US" sz="2000" dirty="0"/>
              <a:t> (note arrow direction)!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A596A5-EB09-45C0-BFC6-95D7617E4903}"/>
              </a:ext>
            </a:extLst>
          </p:cNvPr>
          <p:cNvSpPr/>
          <p:nvPr/>
        </p:nvSpPr>
        <p:spPr>
          <a:xfrm>
            <a:off x="607387" y="2721114"/>
            <a:ext cx="6405228" cy="7078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altLang="en-US" sz="2000" b="1" dirty="0"/>
              <a:t>But </a:t>
            </a:r>
            <a:r>
              <a:rPr lang="en-GB" altLang="en-US" sz="2000" dirty="0"/>
              <a:t>we cannot assign a </a:t>
            </a:r>
            <a:r>
              <a:rPr lang="en-GB" altLang="en-US" sz="2000" b="1" dirty="0" err="1"/>
              <a:t>supertype</a:t>
            </a:r>
            <a:r>
              <a:rPr lang="en-GB" altLang="en-US" sz="2000" dirty="0"/>
              <a:t> to </a:t>
            </a:r>
            <a:r>
              <a:rPr lang="en-GB" altLang="en-US" sz="2000" b="1" dirty="0"/>
              <a:t>subtype</a:t>
            </a:r>
            <a:r>
              <a:rPr lang="en-GB" altLang="en-US" sz="2000" dirty="0"/>
              <a:t> (cannot go against the arrows)!</a:t>
            </a:r>
            <a:endParaRPr lang="en-IE" sz="2000" dirty="0"/>
          </a:p>
        </p:txBody>
      </p:sp>
      <p:sp>
        <p:nvSpPr>
          <p:cNvPr id="4" name="Rectangle 3"/>
          <p:cNvSpPr/>
          <p:nvPr/>
        </p:nvSpPr>
        <p:spPr>
          <a:xfrm>
            <a:off x="1142998" y="6093239"/>
            <a:ext cx="88990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c = (Car) v;</a:t>
            </a:r>
            <a:r>
              <a:rPr lang="en-US" b="1" i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600" b="1" i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//casting…correct (only if the vehicle really is a Car!)</a:t>
            </a:r>
            <a:endParaRPr lang="en-IE" sz="1600" b="1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94013" y="476295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b="1" dirty="0">
                <a:latin typeface="Courier" charset="0"/>
                <a:ea typeface="Courier" charset="0"/>
                <a:cs typeface="Courier" charset="0"/>
              </a:rPr>
              <a:t>Vehicle v;</a:t>
            </a:r>
            <a:br>
              <a:rPr lang="en-US" altLang="en-US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en-US" b="1" dirty="0">
                <a:latin typeface="Courier" charset="0"/>
                <a:ea typeface="Courier" charset="0"/>
                <a:cs typeface="Courier" charset="0"/>
              </a:rPr>
              <a:t>Car c = new Car();</a:t>
            </a:r>
            <a:endParaRPr lang="en-GB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26671" y="5398306"/>
            <a:ext cx="6250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Courier" charset="0"/>
                <a:ea typeface="Courier" charset="0"/>
                <a:cs typeface="Courier" charset="0"/>
              </a:rPr>
              <a:t>v = c;         </a:t>
            </a:r>
            <a:r>
              <a:rPr lang="en-US" altLang="en-US" b="1" i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// correct (car is-a vehicle)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5734887"/>
            <a:ext cx="5285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Courier" charset="0"/>
                <a:ea typeface="Courier" charset="0"/>
                <a:cs typeface="Courier" charset="0"/>
              </a:rPr>
              <a:t>c = v;        </a:t>
            </a:r>
            <a:r>
              <a:rPr lang="en-US" altLang="en-US" b="1" i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// compile-time error!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A596A5-EB09-45C0-BFC6-95D7617E4903}"/>
              </a:ext>
            </a:extLst>
          </p:cNvPr>
          <p:cNvSpPr/>
          <p:nvPr/>
        </p:nvSpPr>
        <p:spPr>
          <a:xfrm>
            <a:off x="8231424" y="5307543"/>
            <a:ext cx="1905000" cy="707886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GB" altLang="en-US" sz="2000" b="1" dirty="0"/>
              <a:t>Without (CASTING)</a:t>
            </a:r>
            <a:endParaRPr lang="en-IE" sz="2000" dirty="0"/>
          </a:p>
        </p:txBody>
      </p:sp>
      <p:sp>
        <p:nvSpPr>
          <p:cNvPr id="12" name="Donut 11"/>
          <p:cNvSpPr/>
          <p:nvPr/>
        </p:nvSpPr>
        <p:spPr>
          <a:xfrm flipV="1">
            <a:off x="1736271" y="6071954"/>
            <a:ext cx="1219200" cy="468427"/>
          </a:xfrm>
          <a:prstGeom prst="donut">
            <a:avLst>
              <a:gd name="adj" fmla="val 1025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Left Arrow 5">
            <a:extLst>
              <a:ext uri="{FF2B5EF4-FFF2-40B4-BE49-F238E27FC236}">
                <a16:creationId xmlns:a16="http://schemas.microsoft.com/office/drawing/2014/main" id="{6461FC4D-CBE3-524C-9477-E5822431E16A}"/>
              </a:ext>
            </a:extLst>
          </p:cNvPr>
          <p:cNvSpPr/>
          <p:nvPr/>
        </p:nvSpPr>
        <p:spPr>
          <a:xfrm>
            <a:off x="7377100" y="5363568"/>
            <a:ext cx="821666" cy="72967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2371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8" grpId="0"/>
      <p:bldP spid="11" grpId="0" animBg="1"/>
      <p:bldP spid="12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b="1" dirty="0">
                <a:ea typeface="+mj-ea"/>
                <a:cs typeface="+mj-cs"/>
              </a:rPr>
              <a:t>Cast</a:t>
            </a:r>
            <a:r>
              <a:rPr lang="en-GB" dirty="0">
                <a:ea typeface="+mj-ea"/>
                <a:cs typeface="+mj-cs"/>
              </a:rPr>
              <a:t>ing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An object type in parentheses.</a:t>
            </a:r>
            <a:endParaRPr lang="en-GB" sz="2400" b="1" dirty="0">
              <a:latin typeface="Courier New" pitchFamily="-32" charset="0"/>
            </a:endParaRP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Used to overcome 'type loss'.</a:t>
            </a: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The object is not changed in any way.</a:t>
            </a: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A runtime check is made to ensure the object really is of that type:</a:t>
            </a:r>
          </a:p>
          <a:p>
            <a:pPr lvl="1" eaLnBrk="1" hangingPunct="1">
              <a:defRPr/>
            </a:pPr>
            <a:r>
              <a:rPr lang="en-GB" b="1" dirty="0" err="1">
                <a:latin typeface="Courier New" pitchFamily="-32" charset="0"/>
                <a:ea typeface="+mn-ea"/>
              </a:rPr>
              <a:t>ClassCastException</a:t>
            </a:r>
            <a:r>
              <a:rPr lang="en-GB" dirty="0">
                <a:ea typeface="+mn-ea"/>
              </a:rPr>
              <a:t> if it isn't!</a:t>
            </a: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Use it sparingly.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675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The Object class</a:t>
            </a:r>
          </a:p>
        </p:txBody>
      </p:sp>
      <p:pic>
        <p:nvPicPr>
          <p:cNvPr id="37892" name="Picture 6" descr="fig8-14-colou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200" y="1981200"/>
            <a:ext cx="67564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7239000" y="1981201"/>
            <a:ext cx="3429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en-GB" sz="2400" b="0" i="1" u="sng" dirty="0">
                <a:latin typeface="Times New Roman" charset="0"/>
              </a:rPr>
              <a:t>All</a:t>
            </a:r>
            <a:r>
              <a:rPr lang="en-GB" sz="2400" b="0" i="1" dirty="0">
                <a:latin typeface="Times New Roman" charset="0"/>
              </a:rPr>
              <a:t> classes inherit from </a:t>
            </a:r>
            <a:r>
              <a:rPr lang="en-GB" sz="2400" dirty="0">
                <a:latin typeface="Trebuchet MS" charset="0"/>
              </a:rPr>
              <a:t>Object</a:t>
            </a:r>
            <a:r>
              <a:rPr lang="en-GB" sz="2400" b="0" i="1" dirty="0">
                <a:latin typeface="Times New Roman" charset="0"/>
              </a:rPr>
              <a:t>.</a:t>
            </a:r>
          </a:p>
        </p:txBody>
      </p:sp>
      <p:sp>
        <p:nvSpPr>
          <p:cNvPr id="5" name="Donut 4"/>
          <p:cNvSpPr/>
          <p:nvPr/>
        </p:nvSpPr>
        <p:spPr>
          <a:xfrm flipV="1">
            <a:off x="4876800" y="1928271"/>
            <a:ext cx="2362200" cy="1272129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115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108966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Subtyping and Substitution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Polymorphic Variables 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Polymorphic Collections</a:t>
            </a:r>
          </a:p>
          <a:p>
            <a:pPr lvl="1">
              <a:defRPr/>
            </a:pPr>
            <a:r>
              <a:rPr lang="en-US" dirty="0"/>
              <a:t>Includes </a:t>
            </a:r>
          </a:p>
          <a:p>
            <a:pPr lvl="2">
              <a:defRPr/>
            </a:pPr>
            <a:r>
              <a:rPr lang="en-US" dirty="0"/>
              <a:t>Casting</a:t>
            </a:r>
          </a:p>
          <a:p>
            <a:pPr lvl="2">
              <a:defRPr/>
            </a:pPr>
            <a:r>
              <a:rPr lang="en-US" dirty="0"/>
              <a:t>Wrapper classes</a:t>
            </a:r>
          </a:p>
          <a:p>
            <a:pPr lvl="2">
              <a:defRPr/>
            </a:pPr>
            <a:r>
              <a:rPr lang="en-US" dirty="0"/>
              <a:t>Autoboxing</a:t>
            </a:r>
          </a:p>
          <a:p>
            <a:pPr lvl="2">
              <a:defRPr/>
            </a:pPr>
            <a:r>
              <a:rPr lang="en-US" dirty="0"/>
              <a:t>Unboxing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592015" y="2819400"/>
            <a:ext cx="4970585" cy="2895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5402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ea typeface="+mj-ea"/>
                <a:cs typeface="+mj-cs"/>
              </a:rPr>
              <a:t>Polymorphic collections</a:t>
            </a:r>
          </a:p>
        </p:txBody>
      </p:sp>
      <p:sp>
        <p:nvSpPr>
          <p:cNvPr id="197636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GB" b="1" u="sng" dirty="0">
                <a:ea typeface="+mn-ea"/>
                <a:cs typeface="+mn-cs"/>
              </a:rPr>
              <a:t>All</a:t>
            </a:r>
            <a:r>
              <a:rPr lang="en-GB" dirty="0">
                <a:ea typeface="+mn-ea"/>
                <a:cs typeface="+mn-cs"/>
              </a:rPr>
              <a:t> collections are polymorphic.</a:t>
            </a:r>
            <a:br>
              <a:rPr lang="en-GB" dirty="0">
                <a:ea typeface="+mn-ea"/>
                <a:cs typeface="+mn-cs"/>
              </a:rPr>
            </a:br>
            <a:endParaRPr lang="en-GB" dirty="0">
              <a:ea typeface="+mn-ea"/>
              <a:cs typeface="+mn-cs"/>
            </a:endParaRP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The elements could simply be of type </a:t>
            </a:r>
            <a:r>
              <a:rPr lang="en-GB" b="1" dirty="0">
                <a:latin typeface="Courier New"/>
                <a:ea typeface="+mn-ea"/>
                <a:cs typeface="Courier New"/>
              </a:rPr>
              <a:t>Object</a:t>
            </a:r>
            <a:r>
              <a:rPr lang="en-GB" dirty="0">
                <a:ea typeface="+mn-ea"/>
                <a:cs typeface="+mn-cs"/>
              </a:rPr>
              <a:t>.</a:t>
            </a:r>
            <a:br>
              <a:rPr lang="en-GB" dirty="0">
                <a:ea typeface="+mn-ea"/>
                <a:cs typeface="+mn-cs"/>
              </a:rPr>
            </a:br>
            <a:br>
              <a:rPr lang="en-GB" dirty="0">
                <a:solidFill>
                  <a:schemeClr val="accent1">
                    <a:lumMod val="75000"/>
                  </a:schemeClr>
                </a:solidFill>
                <a:ea typeface="+mn-ea"/>
                <a:cs typeface="+mn-cs"/>
              </a:rPr>
            </a:b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urier New" pitchFamily="-32" charset="0"/>
              </a:rPr>
              <a:t>public void add(Object element)</a:t>
            </a:r>
            <a:b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urier New" pitchFamily="-32" charset="0"/>
              </a:rPr>
            </a:b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urier New" pitchFamily="-32" charset="0"/>
              </a:rPr>
              <a:t>public Object get(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latin typeface="Courier New" pitchFamily="-32" charset="0"/>
              </a:rPr>
              <a:t>int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urier New" pitchFamily="-32" charset="0"/>
              </a:rPr>
              <a:t> index)</a:t>
            </a:r>
          </a:p>
          <a:p>
            <a:pPr marL="0" indent="0">
              <a:buNone/>
              <a:defRPr/>
            </a:pPr>
            <a:endParaRPr lang="en-US" sz="2800" b="1" dirty="0">
              <a:latin typeface="Courier New" pitchFamily="-32" charset="0"/>
            </a:endParaRP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Usually avoided…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we typically use a type parameter with the collection.</a:t>
            </a:r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120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Polymorphic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9829800" cy="5105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2800" dirty="0"/>
              <a:t>With a type parameter the degree of polymorphism: 	</a:t>
            </a:r>
            <a:r>
              <a:rPr lang="en-US" altLang="en-US" sz="2800" b="1" dirty="0" err="1">
                <a:latin typeface="Courier New" pitchFamily="49" charset="0"/>
                <a:cs typeface="Courier New" pitchFamily="49" charset="0"/>
              </a:rPr>
              <a:t>ArrayList</a:t>
            </a:r>
            <a:r>
              <a:rPr lang="en-US" altLang="en-US" sz="2800" b="1" dirty="0">
                <a:latin typeface="Courier New" pitchFamily="49" charset="0"/>
                <a:cs typeface="Courier New" pitchFamily="49" charset="0"/>
              </a:rPr>
              <a:t>&lt;Post&gt; </a:t>
            </a:r>
          </a:p>
          <a:p>
            <a:pPr marL="400050" lvl="1" indent="0">
              <a:buNone/>
              <a:defRPr/>
            </a:pPr>
            <a:r>
              <a:rPr lang="en-US" altLang="en-US" dirty="0"/>
              <a:t>is </a:t>
            </a:r>
            <a:r>
              <a:rPr lang="en-US" altLang="en-US" b="1" dirty="0"/>
              <a:t>limited</a:t>
            </a:r>
            <a:r>
              <a:rPr lang="en-US" altLang="en-US" dirty="0"/>
              <a:t>.</a:t>
            </a:r>
            <a:br>
              <a:rPr lang="en-US" altLang="en-US" sz="2400" dirty="0">
                <a:cs typeface="Courier New" pitchFamily="49" charset="0"/>
              </a:rPr>
            </a:br>
            <a:endParaRPr lang="en-US" altLang="en-US" sz="2400" dirty="0">
              <a:cs typeface="Courier New" pitchFamily="49" charset="0"/>
            </a:endParaRPr>
          </a:p>
          <a:p>
            <a:pPr>
              <a:defRPr/>
            </a:pPr>
            <a:r>
              <a:rPr lang="en-US" altLang="en-US" sz="2800" dirty="0"/>
              <a:t>Without a type parameter, </a:t>
            </a:r>
          </a:p>
          <a:p>
            <a:pPr marL="800100" lvl="2" indent="0">
              <a:buNone/>
              <a:defRPr/>
            </a:pPr>
            <a:br>
              <a:rPr lang="en-US" altLang="en-US" sz="1600" dirty="0"/>
            </a:br>
            <a:r>
              <a:rPr lang="en-US" altLang="en-US" sz="2800" b="1" dirty="0" err="1">
                <a:latin typeface="Courier New" pitchFamily="49" charset="0"/>
                <a:cs typeface="Courier New" pitchFamily="49" charset="0"/>
              </a:rPr>
              <a:t>ArrayList</a:t>
            </a:r>
            <a:r>
              <a:rPr lang="en-US" altLang="en-US" sz="2800" b="1" dirty="0">
                <a:latin typeface="Courier New" pitchFamily="49" charset="0"/>
                <a:cs typeface="Courier New" pitchFamily="49" charset="0"/>
              </a:rPr>
              <a:t>&lt;Object&gt; </a:t>
            </a:r>
          </a:p>
          <a:p>
            <a:pPr marL="0" indent="0">
              <a:buNone/>
              <a:defRPr/>
            </a:pPr>
            <a:r>
              <a:rPr lang="en-US" altLang="en-US" sz="2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800" dirty="0"/>
              <a:t>is </a:t>
            </a:r>
            <a:r>
              <a:rPr lang="en-US" altLang="en-US" sz="2800" b="1" dirty="0"/>
              <a:t>implied</a:t>
            </a:r>
            <a:r>
              <a:rPr lang="en-US" altLang="en-US" sz="2800" dirty="0"/>
              <a:t>.</a:t>
            </a:r>
          </a:p>
          <a:p>
            <a:pPr lvl="1">
              <a:defRPr/>
            </a:pPr>
            <a:r>
              <a:rPr lang="en-GB" altLang="en-US" sz="2400" dirty="0"/>
              <a:t>Likely to get an </a:t>
            </a:r>
            <a:r>
              <a:rPr lang="en-GB" altLang="en-US" sz="2400" i="1" dirty="0"/>
              <a:t>“</a:t>
            </a:r>
            <a:r>
              <a:rPr lang="en-GB" altLang="ja-JP" sz="2400" i="1" dirty="0"/>
              <a:t>unchecked or unsafe operations</a:t>
            </a:r>
            <a:r>
              <a:rPr lang="en-GB" altLang="en-US" sz="2400" i="1" dirty="0"/>
              <a:t>”</a:t>
            </a:r>
            <a:r>
              <a:rPr lang="en-GB" altLang="ja-JP" sz="2400" i="1" dirty="0"/>
              <a:t> </a:t>
            </a:r>
            <a:r>
              <a:rPr lang="en-GB" altLang="ja-JP" sz="2400" dirty="0"/>
              <a:t>warning.</a:t>
            </a:r>
          </a:p>
          <a:p>
            <a:pPr lvl="1">
              <a:defRPr/>
            </a:pPr>
            <a:r>
              <a:rPr lang="en-GB" altLang="en-US" sz="2400" dirty="0"/>
              <a:t>More likely to have to use </a:t>
            </a:r>
            <a:r>
              <a:rPr lang="en-GB" altLang="en-US" sz="2400" u="sng" dirty="0"/>
              <a:t>casts</a:t>
            </a:r>
            <a:r>
              <a:rPr lang="en-GB" altLang="en-US" sz="2400" dirty="0"/>
              <a:t>.</a:t>
            </a:r>
          </a:p>
          <a:p>
            <a:pPr>
              <a:defRPr/>
            </a:pPr>
            <a:endParaRPr lang="en-US" alt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662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Collections and </a:t>
            </a:r>
            <a:r>
              <a:rPr lang="en-US" b="1" dirty="0">
                <a:ea typeface="+mj-ea"/>
                <a:cs typeface="+mj-cs"/>
              </a:rPr>
              <a:t>primitive types</a:t>
            </a:r>
          </a:p>
        </p:txBody>
      </p:sp>
      <p:sp>
        <p:nvSpPr>
          <p:cNvPr id="199684" name="Rectangle 4"/>
          <p:cNvSpPr>
            <a:spLocks noGrp="1" noChangeArrowheads="1"/>
          </p:cNvSpPr>
          <p:nvPr>
            <p:ph idx="1"/>
          </p:nvPr>
        </p:nvSpPr>
        <p:spPr>
          <a:xfrm>
            <a:off x="609600" y="1600201"/>
            <a:ext cx="9715500" cy="452596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2800" dirty="0"/>
              <a:t>Potentially, all objects can be entered into collections</a:t>
            </a:r>
          </a:p>
          <a:p>
            <a:pPr lvl="1">
              <a:defRPr/>
            </a:pPr>
            <a:r>
              <a:rPr lang="en-GB" sz="2400" dirty="0"/>
              <a:t>because collections can accept elements of type </a:t>
            </a:r>
            <a:r>
              <a:rPr lang="en-GB" sz="2400" b="1" dirty="0">
                <a:latin typeface="Courier New"/>
                <a:cs typeface="Courier New"/>
              </a:rPr>
              <a:t>Object</a:t>
            </a:r>
            <a:r>
              <a:rPr lang="en-GB" sz="2400" dirty="0"/>
              <a:t> </a:t>
            </a:r>
          </a:p>
          <a:p>
            <a:pPr lvl="1">
              <a:defRPr/>
            </a:pPr>
            <a:r>
              <a:rPr lang="en-GB" sz="2400" dirty="0"/>
              <a:t>and all classes are subtypes of </a:t>
            </a:r>
            <a:r>
              <a:rPr lang="en-GB" sz="2400" b="1" dirty="0">
                <a:latin typeface="Courier New"/>
                <a:cs typeface="Courier New"/>
              </a:rPr>
              <a:t>Object</a:t>
            </a:r>
            <a:r>
              <a:rPr lang="en-GB" sz="2400" dirty="0"/>
              <a:t>.</a:t>
            </a:r>
          </a:p>
          <a:p>
            <a:pPr eaLnBrk="1" hangingPunct="1">
              <a:defRPr/>
            </a:pPr>
            <a:endParaRPr lang="en-GB" sz="2800" dirty="0"/>
          </a:p>
          <a:p>
            <a:pPr eaLnBrk="1" hangingPunct="1">
              <a:defRPr/>
            </a:pPr>
            <a:r>
              <a:rPr lang="en-GB" sz="2800" dirty="0"/>
              <a:t>Great! But what about </a:t>
            </a:r>
            <a:r>
              <a:rPr lang="en-GB" sz="2800" i="1" dirty="0"/>
              <a:t>the primitive types</a:t>
            </a:r>
            <a:r>
              <a:rPr lang="en-GB" sz="2800" dirty="0"/>
              <a:t>: </a:t>
            </a:r>
            <a:br>
              <a:rPr lang="en-GB" sz="2800" dirty="0"/>
            </a:br>
            <a:r>
              <a:rPr lang="en-GB" sz="2800" dirty="0"/>
              <a:t>	</a:t>
            </a:r>
            <a:r>
              <a:rPr lang="en-GB" sz="2800" b="1" dirty="0" err="1">
                <a:latin typeface="Courier New"/>
                <a:cs typeface="Courier New"/>
              </a:rPr>
              <a:t>int</a:t>
            </a:r>
            <a:r>
              <a:rPr lang="en-GB" sz="2800" dirty="0"/>
              <a:t>, </a:t>
            </a:r>
            <a:r>
              <a:rPr lang="en-GB" sz="2800" b="1" dirty="0" err="1">
                <a:latin typeface="Courier New"/>
                <a:cs typeface="Courier New"/>
              </a:rPr>
              <a:t>boolean</a:t>
            </a:r>
            <a:r>
              <a:rPr lang="en-GB" sz="2800" dirty="0"/>
              <a:t>, etc.?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480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ea typeface="+mj-ea"/>
                <a:cs typeface="+mj-cs"/>
              </a:rPr>
              <a:t>Wrapper</a:t>
            </a:r>
            <a:r>
              <a:rPr lang="en-US" dirty="0">
                <a:ea typeface="+mj-ea"/>
                <a:cs typeface="+mj-cs"/>
              </a:rPr>
              <a:t> classes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sz="2800" dirty="0"/>
              <a:t>Primitive types are not object types. </a:t>
            </a:r>
            <a:br>
              <a:rPr lang="en-GB" sz="2800" dirty="0"/>
            </a:br>
            <a:r>
              <a:rPr lang="en-GB" sz="2800" dirty="0"/>
              <a:t>Primitive-type values must be </a:t>
            </a:r>
            <a:r>
              <a:rPr lang="en-GB" sz="2800" i="1" u="sng" dirty="0"/>
              <a:t>wrapped</a:t>
            </a:r>
            <a:r>
              <a:rPr lang="en-GB" sz="2800" dirty="0"/>
              <a:t> in objects to be stored in a collection!</a:t>
            </a:r>
            <a:br>
              <a:rPr lang="en-GB" sz="2800" dirty="0"/>
            </a:br>
            <a:endParaRPr lang="en-GB" sz="2800" dirty="0"/>
          </a:p>
          <a:p>
            <a:pPr eaLnBrk="1" hangingPunct="1">
              <a:defRPr/>
            </a:pPr>
            <a:r>
              <a:rPr lang="en-GB" sz="2800" b="1" dirty="0"/>
              <a:t>Wrapper</a:t>
            </a:r>
            <a:r>
              <a:rPr lang="en-GB" sz="2800" dirty="0"/>
              <a:t> classes exist for all primitive types:</a:t>
            </a:r>
          </a:p>
        </p:txBody>
      </p:sp>
      <p:sp>
        <p:nvSpPr>
          <p:cNvPr id="2" name="Rectangle 1"/>
          <p:cNvSpPr/>
          <p:nvPr/>
        </p:nvSpPr>
        <p:spPr>
          <a:xfrm>
            <a:off x="2286000" y="6492313"/>
            <a:ext cx="60817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>
                <a:latin typeface="Times New Roman" charset="0"/>
                <a:ea typeface="ＭＳ Ｐゴシック" charset="0"/>
              </a:rPr>
              <a:t>Note that there is no simple mapping rule from primitive name to wrapper name!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3815" y="4104072"/>
            <a:ext cx="273275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GB" sz="2400" i="1" dirty="0">
                <a:latin typeface="Trebuchet MS" charset="0"/>
              </a:rPr>
              <a:t>primitive type</a:t>
            </a:r>
            <a:br>
              <a:rPr lang="en-GB" sz="2400" i="1" dirty="0">
                <a:latin typeface="Trebuchet MS" charset="0"/>
              </a:rPr>
            </a:br>
            <a:endParaRPr lang="en-GB" sz="2400" i="1" dirty="0">
              <a:latin typeface="Trebuchet MS" charset="0"/>
            </a:endParaRPr>
          </a:p>
          <a:p>
            <a:pPr>
              <a:spcBef>
                <a:spcPct val="0"/>
              </a:spcBef>
              <a:defRPr/>
            </a:pPr>
            <a:r>
              <a:rPr lang="en-GB" sz="2400" dirty="0" err="1">
                <a:latin typeface="Trebuchet MS" charset="0"/>
              </a:rPr>
              <a:t>int</a:t>
            </a:r>
            <a:endParaRPr lang="en-GB" sz="2400" dirty="0">
              <a:latin typeface="Trebuchet MS" charset="0"/>
            </a:endParaRPr>
          </a:p>
          <a:p>
            <a:pPr>
              <a:spcBef>
                <a:spcPct val="0"/>
              </a:spcBef>
              <a:defRPr/>
            </a:pPr>
            <a:r>
              <a:rPr lang="en-GB" sz="2400" dirty="0">
                <a:latin typeface="Trebuchet MS" charset="0"/>
              </a:rPr>
              <a:t>float</a:t>
            </a:r>
          </a:p>
          <a:p>
            <a:pPr>
              <a:spcBef>
                <a:spcPct val="0"/>
              </a:spcBef>
              <a:defRPr/>
            </a:pPr>
            <a:r>
              <a:rPr lang="en-GB" sz="2400" dirty="0">
                <a:latin typeface="Trebuchet MS" charset="0"/>
              </a:rPr>
              <a:t>char</a:t>
            </a:r>
          </a:p>
          <a:p>
            <a:pPr>
              <a:spcBef>
                <a:spcPct val="0"/>
              </a:spcBef>
              <a:defRPr/>
            </a:pPr>
            <a:r>
              <a:rPr lang="en-GB" sz="2400" dirty="0">
                <a:latin typeface="Trebuchet MS" charset="0"/>
              </a:rPr>
              <a:t>...	</a:t>
            </a:r>
            <a:endParaRPr lang="en-GB" sz="2400" dirty="0"/>
          </a:p>
        </p:txBody>
      </p:sp>
      <p:sp>
        <p:nvSpPr>
          <p:cNvPr id="4" name="Rectangle 3"/>
          <p:cNvSpPr/>
          <p:nvPr/>
        </p:nvSpPr>
        <p:spPr>
          <a:xfrm>
            <a:off x="6447435" y="4104072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GB" sz="2400" i="1">
                <a:latin typeface="Trebuchet MS" charset="0"/>
              </a:rPr>
              <a:t>wrapper class</a:t>
            </a:r>
            <a:br>
              <a:rPr lang="en-GB" sz="2400" i="1">
                <a:latin typeface="Trebuchet MS" charset="0"/>
              </a:rPr>
            </a:br>
            <a:endParaRPr lang="en-GB" sz="2400" dirty="0">
              <a:latin typeface="Trebuchet MS" charset="0"/>
            </a:endParaRPr>
          </a:p>
          <a:p>
            <a:pPr>
              <a:spcBef>
                <a:spcPct val="0"/>
              </a:spcBef>
              <a:defRPr/>
            </a:pPr>
            <a:r>
              <a:rPr lang="en-GB" sz="2400" dirty="0">
                <a:latin typeface="Trebuchet MS" charset="0"/>
              </a:rPr>
              <a:t>Integer</a:t>
            </a:r>
          </a:p>
          <a:p>
            <a:pPr>
              <a:spcBef>
                <a:spcPct val="0"/>
              </a:spcBef>
              <a:defRPr/>
            </a:pPr>
            <a:r>
              <a:rPr lang="en-GB" sz="2400" dirty="0">
                <a:latin typeface="Trebuchet MS" charset="0"/>
              </a:rPr>
              <a:t>Float</a:t>
            </a:r>
          </a:p>
          <a:p>
            <a:pPr>
              <a:spcBef>
                <a:spcPct val="0"/>
              </a:spcBef>
              <a:defRPr/>
            </a:pPr>
            <a:r>
              <a:rPr lang="en-GB" sz="2400" dirty="0">
                <a:latin typeface="Trebuchet MS" charset="0"/>
              </a:rPr>
              <a:t>Character</a:t>
            </a:r>
          </a:p>
          <a:p>
            <a:pPr>
              <a:spcBef>
                <a:spcPct val="0"/>
              </a:spcBef>
              <a:defRPr/>
            </a:pPr>
            <a:r>
              <a:rPr lang="en-GB" sz="2400" dirty="0">
                <a:latin typeface="Trebuchet MS" charset="0"/>
              </a:rPr>
              <a:t>...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3581400" y="4724400"/>
            <a:ext cx="5341142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5867400" y="3962399"/>
            <a:ext cx="0" cy="2305436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26913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0" name="Text Box 9"/>
          <p:cNvSpPr txBox="1">
            <a:spLocks noChangeArrowheads="1"/>
          </p:cNvSpPr>
          <p:nvPr/>
        </p:nvSpPr>
        <p:spPr bwMode="auto">
          <a:xfrm>
            <a:off x="8555038" y="3089276"/>
            <a:ext cx="1770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en-GB" sz="2400" b="0" dirty="0">
                <a:solidFill>
                  <a:srgbClr val="A57133"/>
                </a:solidFill>
                <a:latin typeface="Trebuchet MS" charset="0"/>
              </a:rPr>
              <a:t>unwrap it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2819400" y="3138916"/>
            <a:ext cx="6781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 algn="just">
              <a:spcBef>
                <a:spcPct val="0"/>
              </a:spcBef>
              <a:defRPr/>
            </a:pPr>
            <a:r>
              <a:rPr lang="en-GB" altLang="en-US" sz="2400" dirty="0"/>
              <a:t>…</a:t>
            </a:r>
            <a:endParaRPr lang="en-GB" altLang="en-US" sz="2400" noProof="1"/>
          </a:p>
          <a:p>
            <a:pPr algn="just">
              <a:spcBef>
                <a:spcPct val="0"/>
              </a:spcBef>
              <a:defRPr/>
            </a:pPr>
            <a:r>
              <a:rPr lang="en-US" altLang="en-US" sz="2400" dirty="0" err="1"/>
              <a:t>int</a:t>
            </a:r>
            <a:r>
              <a:rPr lang="en-US" altLang="en-US" sz="2400" dirty="0"/>
              <a:t> value = </a:t>
            </a:r>
            <a:r>
              <a:rPr lang="en-US" altLang="en-US" sz="2400" dirty="0" err="1"/>
              <a:t>iwrap.intValue</a:t>
            </a:r>
            <a:r>
              <a:rPr lang="en-US" altLang="en-US" sz="2400" dirty="0"/>
              <a:t>();</a:t>
            </a:r>
            <a:endParaRPr lang="en-GB" altLang="en-US" sz="2400" dirty="0"/>
          </a:p>
        </p:txBody>
      </p:sp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ea typeface="+mj-ea"/>
                <a:cs typeface="+mj-cs"/>
              </a:rPr>
              <a:t>Wrapper</a:t>
            </a:r>
            <a:r>
              <a:rPr lang="en-US" dirty="0">
                <a:ea typeface="+mj-ea"/>
                <a:cs typeface="+mj-cs"/>
              </a:rPr>
              <a:t> classes</a:t>
            </a: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2819400" y="2057401"/>
            <a:ext cx="6781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 algn="just">
              <a:spcBef>
                <a:spcPct val="0"/>
              </a:spcBef>
              <a:defRPr/>
            </a:pPr>
            <a:r>
              <a:rPr lang="en-IE" altLang="en-US" sz="2400" noProof="1"/>
              <a:t>int value = 18; </a:t>
            </a:r>
          </a:p>
          <a:p>
            <a:pPr algn="just">
              <a:spcBef>
                <a:spcPct val="0"/>
              </a:spcBef>
              <a:defRPr/>
            </a:pPr>
            <a:r>
              <a:rPr lang="en-IE" altLang="en-US" sz="2400" noProof="1"/>
              <a:t>Integer iwrap = new Integer(value);</a:t>
            </a:r>
          </a:p>
        </p:txBody>
      </p:sp>
      <p:sp>
        <p:nvSpPr>
          <p:cNvPr id="41989" name="Text Box 6"/>
          <p:cNvSpPr txBox="1">
            <a:spLocks noChangeArrowheads="1"/>
          </p:cNvSpPr>
          <p:nvPr/>
        </p:nvSpPr>
        <p:spPr bwMode="auto">
          <a:xfrm>
            <a:off x="8305800" y="1690262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en-GB" sz="2400" b="0" dirty="0">
                <a:solidFill>
                  <a:srgbClr val="A57133"/>
                </a:solidFill>
                <a:latin typeface="Trebuchet MS" charset="0"/>
              </a:rPr>
              <a:t>wrap the value</a:t>
            </a:r>
          </a:p>
        </p:txBody>
      </p:sp>
      <p:sp>
        <p:nvSpPr>
          <p:cNvPr id="41991" name="Line 14"/>
          <p:cNvSpPr>
            <a:spLocks noChangeShapeType="1"/>
          </p:cNvSpPr>
          <p:nvPr/>
        </p:nvSpPr>
        <p:spPr bwMode="auto">
          <a:xfrm flipH="1">
            <a:off x="7588250" y="3411540"/>
            <a:ext cx="1008062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1992" name="Line 15"/>
          <p:cNvSpPr>
            <a:spLocks noChangeShapeType="1"/>
          </p:cNvSpPr>
          <p:nvPr/>
        </p:nvSpPr>
        <p:spPr bwMode="auto">
          <a:xfrm flipH="1">
            <a:off x="8272462" y="2194823"/>
            <a:ext cx="64770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1993" name="AutoShape 16"/>
          <p:cNvSpPr>
            <a:spLocks noChangeArrowheads="1"/>
          </p:cNvSpPr>
          <p:nvPr/>
        </p:nvSpPr>
        <p:spPr bwMode="auto">
          <a:xfrm>
            <a:off x="2819400" y="4711702"/>
            <a:ext cx="6934200" cy="1328023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2400" dirty="0">
                <a:solidFill>
                  <a:srgbClr val="A57133"/>
                </a:solidFill>
                <a:latin typeface="Trebuchet MS" charset="0"/>
                <a:ea typeface="ＭＳ Ｐゴシック" charset="0"/>
                <a:cs typeface="ＭＳ Ｐゴシック" charset="0"/>
              </a:rPr>
              <a:t>In practice, </a:t>
            </a:r>
            <a:br>
              <a:rPr lang="en-GB" sz="2400" dirty="0">
                <a:solidFill>
                  <a:srgbClr val="A57133"/>
                </a:solidFill>
                <a:latin typeface="Trebuchet MS" charset="0"/>
                <a:ea typeface="ＭＳ Ｐゴシック" charset="0"/>
                <a:cs typeface="ＭＳ Ｐゴシック" charset="0"/>
              </a:rPr>
            </a:br>
            <a:r>
              <a:rPr lang="en-GB" sz="2400" i="1" dirty="0" err="1">
                <a:solidFill>
                  <a:schemeClr val="accent1">
                    <a:lumMod val="75000"/>
                  </a:schemeClr>
                </a:solidFill>
                <a:latin typeface="Trebuchet MS" charset="0"/>
                <a:ea typeface="ＭＳ Ｐゴシック" charset="0"/>
                <a:cs typeface="ＭＳ Ｐゴシック" charset="0"/>
              </a:rPr>
              <a:t>autoboxing</a:t>
            </a:r>
            <a:r>
              <a:rPr lang="en-GB" sz="2400" dirty="0">
                <a:solidFill>
                  <a:srgbClr val="A57133"/>
                </a:solidFill>
                <a:latin typeface="Trebuchet MS" charset="0"/>
                <a:ea typeface="ＭＳ Ｐゴシック" charset="0"/>
                <a:cs typeface="ＭＳ Ｐゴシック" charset="0"/>
              </a:rPr>
              <a:t> and </a:t>
            </a:r>
            <a:r>
              <a:rPr lang="en-GB" sz="2400" i="1" dirty="0">
                <a:solidFill>
                  <a:schemeClr val="accent1">
                    <a:lumMod val="75000"/>
                  </a:schemeClr>
                </a:solidFill>
                <a:latin typeface="Trebuchet MS" charset="0"/>
                <a:ea typeface="ＭＳ Ｐゴシック" charset="0"/>
                <a:cs typeface="ＭＳ Ｐゴシック" charset="0"/>
              </a:rPr>
              <a:t>unboxing</a:t>
            </a:r>
            <a:r>
              <a:rPr lang="en-GB" sz="2400" dirty="0">
                <a:solidFill>
                  <a:srgbClr val="A57133"/>
                </a:solidFill>
                <a:latin typeface="Trebuchet MS" charset="0"/>
                <a:ea typeface="ＭＳ Ｐゴシック" charset="0"/>
                <a:cs typeface="ＭＳ Ｐゴシック" charset="0"/>
              </a:rPr>
              <a:t> </a:t>
            </a:r>
            <a:br>
              <a:rPr lang="en-GB" sz="2400" dirty="0">
                <a:solidFill>
                  <a:srgbClr val="A57133"/>
                </a:solidFill>
                <a:latin typeface="Trebuchet MS" charset="0"/>
                <a:ea typeface="ＭＳ Ｐゴシック" charset="0"/>
                <a:cs typeface="ＭＳ Ｐゴシック" charset="0"/>
              </a:rPr>
            </a:br>
            <a:r>
              <a:rPr lang="en-GB" sz="2400" dirty="0">
                <a:solidFill>
                  <a:srgbClr val="A57133"/>
                </a:solidFill>
                <a:latin typeface="Trebuchet MS" charset="0"/>
                <a:ea typeface="ＭＳ Ｐゴシック" charset="0"/>
                <a:cs typeface="ＭＳ Ｐゴシック" charset="0"/>
              </a:rPr>
              <a:t>mean we don't often have to do this explicitly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523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0" grpId="0"/>
      <p:bldP spid="9" grpId="0"/>
      <p:bldP spid="41988" grpId="0"/>
      <p:bldP spid="41989" grpId="0"/>
      <p:bldP spid="41991" grpId="0" animBg="1"/>
      <p:bldP spid="41992" grpId="0" animBg="1"/>
      <p:bldP spid="4199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b="1" dirty="0" err="1">
                <a:ea typeface="+mj-ea"/>
                <a:cs typeface="+mj-cs"/>
              </a:rPr>
              <a:t>Autoboxing</a:t>
            </a:r>
            <a:r>
              <a:rPr lang="en-GB" dirty="0">
                <a:ea typeface="+mj-ea"/>
                <a:cs typeface="+mj-cs"/>
              </a:rPr>
              <a:t> and </a:t>
            </a:r>
            <a:r>
              <a:rPr lang="en-GB" b="1" dirty="0">
                <a:ea typeface="+mj-ea"/>
                <a:cs typeface="+mj-cs"/>
              </a:rPr>
              <a:t>unboxing</a:t>
            </a:r>
          </a:p>
        </p:txBody>
      </p:sp>
      <p:sp>
        <p:nvSpPr>
          <p:cNvPr id="43012" name="Text Box 3"/>
          <p:cNvSpPr txBox="1">
            <a:spLocks noChangeArrowheads="1"/>
          </p:cNvSpPr>
          <p:nvPr/>
        </p:nvSpPr>
        <p:spPr bwMode="auto">
          <a:xfrm>
            <a:off x="2743200" y="1600201"/>
            <a:ext cx="7315200" cy="31700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dirty="0"/>
              <a:t>private </a:t>
            </a:r>
            <a:r>
              <a:rPr lang="en-GB" altLang="en-US" dirty="0" err="1"/>
              <a:t>ArrayList</a:t>
            </a:r>
            <a:r>
              <a:rPr lang="en-GB" altLang="en-US" dirty="0"/>
              <a:t>&lt;Integer&gt; </a:t>
            </a:r>
            <a:r>
              <a:rPr lang="en-GB" altLang="en-US" dirty="0" err="1"/>
              <a:t>markList</a:t>
            </a:r>
            <a:r>
              <a:rPr lang="en-GB" altLang="en-US" dirty="0"/>
              <a:t>;</a:t>
            </a:r>
          </a:p>
          <a:p>
            <a:pPr>
              <a:defRPr/>
            </a:pPr>
            <a:r>
              <a:rPr lang="en-GB" altLang="en-US" dirty="0"/>
              <a:t>…</a:t>
            </a:r>
          </a:p>
          <a:p>
            <a:pPr>
              <a:defRPr/>
            </a:pPr>
            <a:r>
              <a:rPr lang="en-GB" altLang="en-US" dirty="0"/>
              <a:t>public void </a:t>
            </a:r>
            <a:r>
              <a:rPr lang="en-GB" altLang="en-US" dirty="0" err="1"/>
              <a:t>storeMark</a:t>
            </a:r>
            <a:r>
              <a:rPr lang="en-GB" altLang="en-US" dirty="0"/>
              <a:t>(</a:t>
            </a:r>
            <a:r>
              <a:rPr lang="en-GB" altLang="en-US" dirty="0" err="1"/>
              <a:t>int</a:t>
            </a:r>
            <a:r>
              <a:rPr lang="en-GB" altLang="en-US" dirty="0"/>
              <a:t> mark)</a:t>
            </a:r>
          </a:p>
          <a:p>
            <a:pPr>
              <a:defRPr/>
            </a:pPr>
            <a:r>
              <a:rPr lang="en-GB" altLang="en-US" dirty="0"/>
              <a:t>{</a:t>
            </a:r>
          </a:p>
          <a:p>
            <a:pPr>
              <a:defRPr/>
            </a:pPr>
            <a:r>
              <a:rPr lang="en-GB" altLang="en-US" dirty="0"/>
              <a:t>    </a:t>
            </a:r>
            <a:r>
              <a:rPr lang="en-GB" altLang="en-US" dirty="0" err="1"/>
              <a:t>markList.add</a:t>
            </a:r>
            <a:r>
              <a:rPr lang="en-GB" altLang="en-US" dirty="0"/>
              <a:t>(mark);</a:t>
            </a:r>
          </a:p>
          <a:p>
            <a:pPr>
              <a:defRPr/>
            </a:pPr>
            <a:r>
              <a:rPr lang="en-GB" altLang="en-US" dirty="0"/>
              <a:t>}</a:t>
            </a:r>
          </a:p>
          <a:p>
            <a:pPr>
              <a:defRPr/>
            </a:pPr>
            <a:endParaRPr lang="en-GB" altLang="en-US" dirty="0"/>
          </a:p>
          <a:p>
            <a:pPr>
              <a:defRPr/>
            </a:pPr>
            <a:endParaRPr lang="en-GB" altLang="en-US" dirty="0"/>
          </a:p>
          <a:p>
            <a:pPr>
              <a:defRPr/>
            </a:pPr>
            <a:endParaRPr lang="en-GB" altLang="en-US" dirty="0"/>
          </a:p>
          <a:p>
            <a:pPr>
              <a:defRPr/>
            </a:pPr>
            <a:endParaRPr lang="en-GB" altLang="en-US" dirty="0"/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2754923" y="5347812"/>
            <a:ext cx="7315200" cy="13274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 err="1"/>
              <a:t>firstMark</a:t>
            </a:r>
            <a:r>
              <a:rPr lang="en-GB" dirty="0"/>
              <a:t> = </a:t>
            </a:r>
            <a:r>
              <a:rPr lang="en-GB" dirty="0" err="1"/>
              <a:t>markList.get</a:t>
            </a:r>
            <a:r>
              <a:rPr lang="en-GB" dirty="0"/>
              <a:t>(0);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</p:txBody>
      </p:sp>
      <p:sp>
        <p:nvSpPr>
          <p:cNvPr id="43014" name="AutoShape 6"/>
          <p:cNvSpPr>
            <a:spLocks noChangeArrowheads="1"/>
          </p:cNvSpPr>
          <p:nvPr/>
        </p:nvSpPr>
        <p:spPr bwMode="auto">
          <a:xfrm>
            <a:off x="8240162" y="3470474"/>
            <a:ext cx="1752112" cy="510778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GB" sz="2400" dirty="0" err="1">
                <a:solidFill>
                  <a:srgbClr val="A57133"/>
                </a:solidFill>
                <a:latin typeface="Trebuchet MS" charset="0"/>
                <a:ea typeface="ＭＳ Ｐゴシック" charset="0"/>
                <a:cs typeface="ＭＳ Ｐゴシック" charset="0"/>
              </a:rPr>
              <a:t>autoboxing</a:t>
            </a:r>
            <a:endParaRPr lang="en-GB" dirty="0">
              <a:solidFill>
                <a:srgbClr val="A57133"/>
              </a:solidFill>
              <a:latin typeface="Trebuchet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3015" name="AutoShape 7"/>
          <p:cNvSpPr>
            <a:spLocks noChangeArrowheads="1"/>
          </p:cNvSpPr>
          <p:nvPr/>
        </p:nvSpPr>
        <p:spPr bwMode="auto">
          <a:xfrm>
            <a:off x="8240162" y="5500776"/>
            <a:ext cx="1752112" cy="510778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GB" sz="2400" dirty="0">
                <a:solidFill>
                  <a:srgbClr val="A57133"/>
                </a:solidFill>
                <a:latin typeface="Trebuchet MS" charset="0"/>
                <a:ea typeface="ＭＳ Ｐゴシック" charset="0"/>
                <a:cs typeface="ＭＳ Ｐゴシック" charset="0"/>
              </a:rPr>
              <a:t>unboxing </a:t>
            </a:r>
            <a:endParaRPr lang="en-GB" dirty="0">
              <a:solidFill>
                <a:srgbClr val="A57133"/>
              </a:solidFill>
              <a:latin typeface="Trebuchet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67526" y="6173102"/>
            <a:ext cx="6821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A47139"/>
                </a:solidFill>
              </a:rPr>
              <a:t>Or explicitly unwrapping the first mark in the list </a:t>
            </a:r>
            <a:r>
              <a:rPr lang="en-GB" b="1" dirty="0" err="1">
                <a:solidFill>
                  <a:srgbClr val="A47139"/>
                </a:solidFill>
                <a:latin typeface="Courier" charset="0"/>
                <a:ea typeface="Courier" charset="0"/>
                <a:cs typeface="Courier" charset="0"/>
              </a:rPr>
              <a:t>markList.get</a:t>
            </a:r>
            <a:r>
              <a:rPr lang="en-GB" b="1" dirty="0">
                <a:solidFill>
                  <a:srgbClr val="A47139"/>
                </a:solidFill>
                <a:latin typeface="Courier" charset="0"/>
                <a:ea typeface="Courier" charset="0"/>
                <a:cs typeface="Courier" charset="0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23147" y="4196109"/>
            <a:ext cx="6400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A47139"/>
                </a:solidFill>
              </a:rPr>
              <a:t>i.e. we don’t have to worry about explicitly wrapping </a:t>
            </a:r>
            <a:r>
              <a:rPr lang="en-GB" b="1" dirty="0">
                <a:solidFill>
                  <a:srgbClr val="A47139"/>
                </a:solidFill>
                <a:latin typeface="Courier" charset="0"/>
                <a:ea typeface="Courier" charset="0"/>
                <a:cs typeface="Courier" charset="0"/>
              </a:rPr>
              <a:t>mark</a:t>
            </a:r>
            <a:r>
              <a:rPr lang="en-GB" dirty="0">
                <a:solidFill>
                  <a:srgbClr val="A47139"/>
                </a:solidFill>
              </a:rPr>
              <a:t> above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673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animBg="1"/>
      <p:bldP spid="43013" grpId="0" animBg="1"/>
      <p:bldP spid="43014" grpId="0" animBg="1"/>
      <p:bldP spid="43015" grpId="0" animBg="1"/>
      <p:bldP spid="2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Review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GB" sz="2800" dirty="0"/>
              <a:t>Inheritance allows the definition of classes </a:t>
            </a:r>
            <a:br>
              <a:rPr lang="en-GB" sz="2800" dirty="0"/>
            </a:br>
            <a:r>
              <a:rPr lang="en-GB" sz="2800" dirty="0"/>
              <a:t>as extensions of other classes.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sz="2800" dirty="0"/>
              <a:t>Inheritance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sz="2400" dirty="0"/>
              <a:t>avoids code duplication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sz="2400" dirty="0"/>
              <a:t>allows code reuse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sz="2400" dirty="0"/>
              <a:t>simplifies the code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sz="2400" dirty="0"/>
              <a:t>simplifies maintenance and extending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sz="2800" dirty="0"/>
              <a:t>Variables can hold subtype objects.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sz="2800" dirty="0"/>
              <a:t>Subtypes can be used wherever </a:t>
            </a:r>
            <a:r>
              <a:rPr lang="en-GB" sz="2800" dirty="0" err="1"/>
              <a:t>supertype</a:t>
            </a:r>
            <a:r>
              <a:rPr lang="en-GB" sz="2800" dirty="0"/>
              <a:t> objects are expected (substitution).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467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Siobhan\AppData\Local\Microsoft\Windows\Temporary Internet Files\Content.IE5\D6SFLNVW\questions-2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219200"/>
            <a:ext cx="43942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08598" y="2589074"/>
            <a:ext cx="348580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Any Questions?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5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5868</TotalTime>
  <Words>1258</Words>
  <Application>Microsoft Macintosh PowerPoint</Application>
  <PresentationFormat>Widescreen</PresentationFormat>
  <Paragraphs>259</Paragraphs>
  <Slides>27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Courier</vt:lpstr>
      <vt:lpstr>Courier New</vt:lpstr>
      <vt:lpstr>Times New Roman</vt:lpstr>
      <vt:lpstr>Trebuchet MS</vt:lpstr>
      <vt:lpstr>Office Theme</vt:lpstr>
      <vt:lpstr>Inheritance</vt:lpstr>
      <vt:lpstr>Topic List</vt:lpstr>
      <vt:lpstr>RECAP - Social Network V4.0 – NO Inheritance</vt:lpstr>
      <vt:lpstr>RECAP - Social Network V4.0 – TWO ArrayLists</vt:lpstr>
      <vt:lpstr>RECAP - Social Network V4.0</vt:lpstr>
      <vt:lpstr>RECAP - Social Network V5.0 – Inheritance</vt:lpstr>
      <vt:lpstr>RECAP - Social Network V5.0</vt:lpstr>
      <vt:lpstr>Subtyping</vt:lpstr>
      <vt:lpstr>Subclasses and subtyping</vt:lpstr>
      <vt:lpstr>Subtyping and assignment</vt:lpstr>
      <vt:lpstr>Subtyping and parameter passing</vt:lpstr>
      <vt:lpstr>Social Network V5.0 - Object diagram</vt:lpstr>
      <vt:lpstr>Topic List</vt:lpstr>
      <vt:lpstr>Polymorphic variables</vt:lpstr>
      <vt:lpstr>PowerPoint Presentation</vt:lpstr>
      <vt:lpstr>Casting</vt:lpstr>
      <vt:lpstr>Casting</vt:lpstr>
      <vt:lpstr>The Object class</vt:lpstr>
      <vt:lpstr>Topic List</vt:lpstr>
      <vt:lpstr>Polymorphic collections</vt:lpstr>
      <vt:lpstr>Polymorphic collections</vt:lpstr>
      <vt:lpstr>Collections and primitive types</vt:lpstr>
      <vt:lpstr>Wrapper classes</vt:lpstr>
      <vt:lpstr>Wrapper classes</vt:lpstr>
      <vt:lpstr>Autoboxing and unboxing</vt:lpstr>
      <vt:lpstr>Review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Inheritance</dc:title>
  <dc:creator>Siobhan Drohan</dc:creator>
  <cp:lastModifiedBy>Mairead Meagher</cp:lastModifiedBy>
  <cp:revision>246</cp:revision>
  <dcterms:created xsi:type="dcterms:W3CDTF">2006-08-16T00:00:00Z</dcterms:created>
  <dcterms:modified xsi:type="dcterms:W3CDTF">2026-03-13T15:50:40Z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0680D055-48F7-457D-8FA8-0B98535B426D</vt:lpwstr>
  </property>
  <property fmtid="{D5CDD505-2E9C-101B-9397-08002B2CF9AE}" pid="3" name="ArticulatePath">
    <vt:lpwstr>a-prog-fund-2-inheritance</vt:lpwstr>
  </property>
</Properties>
</file>