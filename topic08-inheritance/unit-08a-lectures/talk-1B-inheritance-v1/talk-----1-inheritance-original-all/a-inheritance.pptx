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1.xml" ContentType="application/vnd.openxmlformats-officedocument.presentationml.notesSlide+xml"/>
  <Override PartName="/ppt/tags/tag18.xml" ContentType="application/vnd.openxmlformats-officedocument.presentationml.tags+xml"/>
  <Override PartName="/ppt/notesSlides/notesSlide12.xml" ContentType="application/vnd.openxmlformats-officedocument.presentationml.notesSlide+xml"/>
  <Override PartName="/ppt/tags/tag19.xml" ContentType="application/vnd.openxmlformats-officedocument.presentationml.tags+xml"/>
  <Override PartName="/ppt/notesSlides/notesSlide13.xml" ContentType="application/vnd.openxmlformats-officedocument.presentationml.notesSlide+xml"/>
  <Override PartName="/ppt/tags/tag20.xml" ContentType="application/vnd.openxmlformats-officedocument.presentationml.tags+xml"/>
  <Override PartName="/ppt/notesSlides/notesSlide14.xml" ContentType="application/vnd.openxmlformats-officedocument.presentationml.notesSlide+xml"/>
  <Override PartName="/ppt/tags/tag21.xml" ContentType="application/vnd.openxmlformats-officedocument.presentationml.tags+xml"/>
  <Override PartName="/ppt/notesSlides/notesSlide15.xml" ContentType="application/vnd.openxmlformats-officedocument.presentationml.notesSlide+xml"/>
  <Override PartName="/ppt/tags/tag22.xml" ContentType="application/vnd.openxmlformats-officedocument.presentationml.tags+xml"/>
  <Override PartName="/ppt/notesSlides/notesSlide16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7.xml" ContentType="application/vnd.openxmlformats-officedocument.presentationml.notesSlide+xml"/>
  <Override PartName="/ppt/tags/tag25.xml" ContentType="application/vnd.openxmlformats-officedocument.presentationml.tags+xml"/>
  <Override PartName="/ppt/notesSlides/notesSlide18.xml" ContentType="application/vnd.openxmlformats-officedocument.presentationml.notesSlide+xml"/>
  <Override PartName="/ppt/tags/tag26.xml" ContentType="application/vnd.openxmlformats-officedocument.presentationml.tags+xml"/>
  <Override PartName="/ppt/notesSlides/notesSlide19.xml" ContentType="application/vnd.openxmlformats-officedocument.presentationml.notesSlide+xml"/>
  <Override PartName="/ppt/tags/tag27.xml" ContentType="application/vnd.openxmlformats-officedocument.presentationml.tags+xml"/>
  <Override PartName="/ppt/notesSlides/notesSlide20.xml" ContentType="application/vnd.openxmlformats-officedocument.presentationml.notesSlide+xml"/>
  <Override PartName="/ppt/tags/tag28.xml" ContentType="application/vnd.openxmlformats-officedocument.presentationml.tags+xml"/>
  <Override PartName="/ppt/notesSlides/notesSlide21.xml" ContentType="application/vnd.openxmlformats-officedocument.presentationml.notesSlide+xml"/>
  <Override PartName="/ppt/tags/tag29.xml" ContentType="application/vnd.openxmlformats-officedocument.presentationml.tags+xml"/>
  <Override PartName="/ppt/notesSlides/notesSlide2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3.xml" ContentType="application/vnd.openxmlformats-officedocument.presentationml.notesSlide+xml"/>
  <Override PartName="/ppt/tags/tag32.xml" ContentType="application/vnd.openxmlformats-officedocument.presentationml.tags+xml"/>
  <Override PartName="/ppt/notesSlides/notesSlide2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5.xml" ContentType="application/vnd.openxmlformats-officedocument.presentationml.notesSlide+xml"/>
  <Override PartName="/ppt/tags/tag35.xml" ContentType="application/vnd.openxmlformats-officedocument.presentationml.tags+xml"/>
  <Override PartName="/ppt/notesSlides/notesSlide26.xml" ContentType="application/vnd.openxmlformats-officedocument.presentationml.notesSlide+xml"/>
  <Override PartName="/ppt/tags/tag36.xml" ContentType="application/vnd.openxmlformats-officedocument.presentationml.tags+xml"/>
  <Override PartName="/ppt/notesSlides/notesSlide2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8.xml" ContentType="application/vnd.openxmlformats-officedocument.presentationml.notesSlide+xml"/>
  <Override PartName="/ppt/tags/tag39.xml" ContentType="application/vnd.openxmlformats-officedocument.presentationml.tags+xml"/>
  <Override PartName="/ppt/notesSlides/notesSlide29.xml" ContentType="application/vnd.openxmlformats-officedocument.presentationml.notesSlide+xml"/>
  <Override PartName="/ppt/tags/tag40.xml" ContentType="application/vnd.openxmlformats-officedocument.presentationml.tags+xml"/>
  <Override PartName="/ppt/notesSlides/notesSlide30.xml" ContentType="application/vnd.openxmlformats-officedocument.presentationml.notesSlide+xml"/>
  <Override PartName="/ppt/tags/tag41.xml" ContentType="application/vnd.openxmlformats-officedocument.presentationml.tags+xml"/>
  <Override PartName="/ppt/notesSlides/notesSlide31.xml" ContentType="application/vnd.openxmlformats-officedocument.presentationml.notesSlide+xml"/>
  <Override PartName="/ppt/tags/tag42.xml" ContentType="application/vnd.openxmlformats-officedocument.presentationml.tags+xml"/>
  <Override PartName="/ppt/notesSlides/notesSlide32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33.xml" ContentType="application/vnd.openxmlformats-officedocument.presentationml.notesSlide+xml"/>
  <Override PartName="/ppt/tags/tag45.xml" ContentType="application/vnd.openxmlformats-officedocument.presentationml.tags+xml"/>
  <Override PartName="/ppt/notesSlides/notesSlide34.xml" ContentType="application/vnd.openxmlformats-officedocument.presentationml.notesSlide+xml"/>
  <Override PartName="/ppt/tags/tag46.xml" ContentType="application/vnd.openxmlformats-officedocument.presentationml.tags+xml"/>
  <Override PartName="/ppt/notesSlides/notesSlide35.xml" ContentType="application/vnd.openxmlformats-officedocument.presentationml.notesSlide+xml"/>
  <Override PartName="/ppt/tags/tag47.xml" ContentType="application/vnd.openxmlformats-officedocument.presentationml.tags+xml"/>
  <Override PartName="/ppt/notesSlides/notesSlide36.xml" ContentType="application/vnd.openxmlformats-officedocument.presentationml.notesSlide+xml"/>
  <Override PartName="/ppt/tags/tag48.xml" ContentType="application/vnd.openxmlformats-officedocument.presentationml.tags+xml"/>
  <Override PartName="/ppt/notesSlides/notesSlide3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38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39.xml" ContentType="application/vnd.openxmlformats-officedocument.presentationml.notesSlide+xml"/>
  <Override PartName="/ppt/tags/tag53.xml" ContentType="application/vnd.openxmlformats-officedocument.presentationml.tags+xml"/>
  <Override PartName="/ppt/notesSlides/notesSlide40.xml" ContentType="application/vnd.openxmlformats-officedocument.presentationml.notesSlide+xml"/>
  <Override PartName="/ppt/tags/tag54.xml" ContentType="application/vnd.openxmlformats-officedocument.presentationml.tags+xml"/>
  <Override PartName="/ppt/notesSlides/notesSlide41.xml" ContentType="application/vnd.openxmlformats-officedocument.presentationml.notesSlide+xml"/>
  <Override PartName="/ppt/tags/tag55.xml" ContentType="application/vnd.openxmlformats-officedocument.presentationml.tags+xml"/>
  <Override PartName="/ppt/notesSlides/notesSlide42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440" r:id="rId3"/>
    <p:sldId id="396" r:id="rId4"/>
    <p:sldId id="400" r:id="rId5"/>
    <p:sldId id="464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65" r:id="rId14"/>
    <p:sldId id="447" r:id="rId15"/>
    <p:sldId id="478" r:id="rId16"/>
    <p:sldId id="466" r:id="rId17"/>
    <p:sldId id="467" r:id="rId18"/>
    <p:sldId id="408" r:id="rId19"/>
    <p:sldId id="457" r:id="rId20"/>
    <p:sldId id="409" r:id="rId21"/>
    <p:sldId id="441" r:id="rId22"/>
    <p:sldId id="410" r:id="rId23"/>
    <p:sldId id="468" r:id="rId24"/>
    <p:sldId id="412" r:id="rId25"/>
    <p:sldId id="413" r:id="rId26"/>
    <p:sldId id="414" r:id="rId27"/>
    <p:sldId id="415" r:id="rId28"/>
    <p:sldId id="416" r:id="rId29"/>
    <p:sldId id="417" r:id="rId30"/>
    <p:sldId id="469" r:id="rId31"/>
    <p:sldId id="418" r:id="rId32"/>
    <p:sldId id="419" r:id="rId33"/>
    <p:sldId id="471" r:id="rId34"/>
    <p:sldId id="420" r:id="rId35"/>
    <p:sldId id="421" r:id="rId36"/>
    <p:sldId id="422" r:id="rId37"/>
    <p:sldId id="474" r:id="rId38"/>
    <p:sldId id="470" r:id="rId39"/>
    <p:sldId id="456" r:id="rId40"/>
    <p:sldId id="424" r:id="rId41"/>
    <p:sldId id="425" r:id="rId42"/>
    <p:sldId id="426" r:id="rId43"/>
    <p:sldId id="427" r:id="rId44"/>
    <p:sldId id="473" r:id="rId45"/>
    <p:sldId id="429" r:id="rId46"/>
    <p:sldId id="463" r:id="rId47"/>
    <p:sldId id="430" r:id="rId48"/>
    <p:sldId id="431" r:id="rId49"/>
    <p:sldId id="432" r:id="rId50"/>
    <p:sldId id="475" r:id="rId51"/>
    <p:sldId id="433" r:id="rId52"/>
    <p:sldId id="434" r:id="rId53"/>
    <p:sldId id="435" r:id="rId54"/>
    <p:sldId id="436" r:id="rId55"/>
    <p:sldId id="437" r:id="rId56"/>
    <p:sldId id="438" r:id="rId57"/>
    <p:sldId id="477" r:id="rId58"/>
    <p:sldId id="476" r:id="rId59"/>
    <p:sldId id="392" r:id="rId60"/>
    <p:sldId id="439" r:id="rId61"/>
  </p:sldIdLst>
  <p:sldSz cx="12192000" cy="6858000"/>
  <p:notesSz cx="6858000" cy="9144000"/>
  <p:custDataLst>
    <p:tags r:id="rId6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7139"/>
    <a:srgbClr val="527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04" autoAdjust="0"/>
    <p:restoredTop sz="91012"/>
  </p:normalViewPr>
  <p:slideViewPr>
    <p:cSldViewPr>
      <p:cViewPr varScale="1">
        <p:scale>
          <a:sx n="155" d="100"/>
          <a:sy n="155" d="100"/>
        </p:scale>
        <p:origin x="200" y="3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06/05/2020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4813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E8C4BBAE-7F93-47A3-A70B-0D7C9D38F57B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233A621-111B-497A-9F85-618622AABFF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one object per post; each object stores details for one particular post.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017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B1E48875-AFC2-455B-B279-6F0F858997D8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7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01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add the obvious methods (getters and setters); not complete here - just examples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7E652BAB-C766-4154-89CC-49561F38877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8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Newsfeed object will hold two collections: one for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MessagePosts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, one for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PhotoPosts</a:t>
            </a: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9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class diagram is simple (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ArrayList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not shown in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BlueJ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674A509D-13A8-4D77-A948-B7F923665A57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10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extract from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MessagePost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code - nothing unusual, just an ordinary class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36C3805D-DD0E-455E-B609-133522CB66F3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11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</a:rPr>
              <a:t>extract from </a:t>
            </a:r>
            <a:r>
              <a:rPr lang="en-GB" dirty="0" err="1">
                <a:latin typeface="Times New Roman" charset="0"/>
                <a:ea typeface="ＭＳ Ｐゴシック" charset="0"/>
              </a:rPr>
              <a:t>PhotoPost</a:t>
            </a:r>
            <a:r>
              <a:rPr lang="en-GB" dirty="0">
                <a:latin typeface="Times New Roman" charset="0"/>
                <a:ea typeface="ＭＳ Ｐゴシック" charset="0"/>
              </a:rPr>
              <a:t> code </a:t>
            </a:r>
          </a:p>
          <a:p>
            <a:pPr>
              <a:defRPr/>
            </a:pPr>
            <a:r>
              <a:rPr lang="en-GB" b="1" dirty="0">
                <a:latin typeface="Times New Roman" charset="0"/>
                <a:ea typeface="ＭＳ Ｐゴシック" charset="0"/>
              </a:rPr>
              <a:t>QUESTION: </a:t>
            </a:r>
            <a:r>
              <a:rPr lang="en-GB" dirty="0">
                <a:latin typeface="Times New Roman" charset="0"/>
                <a:ea typeface="ＭＳ Ｐゴシック" charset="0"/>
              </a:rPr>
              <a:t>(how does it differ from </a:t>
            </a:r>
            <a:r>
              <a:rPr lang="en-GB" dirty="0" err="1">
                <a:latin typeface="Times New Roman" charset="0"/>
                <a:ea typeface="ＭＳ Ｐゴシック" charset="0"/>
              </a:rPr>
              <a:t>MessagePost</a:t>
            </a:r>
            <a:r>
              <a:rPr lang="en-GB" dirty="0">
                <a:latin typeface="Times New Roman" charset="0"/>
                <a:ea typeface="ＭＳ Ｐゴシック" charset="0"/>
              </a:rPr>
              <a:t> code?)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127691A3-86B4-4951-8601-AD78E7B8B81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12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53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extract from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NewsFeed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code.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F9E31F57-A5CE-47F3-9214-AE1706024483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93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inheritance hierarchies are nothing unusual. we see them all the time.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(a masters student is a students is a person...)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F9E31F57-A5CE-47F3-9214-AE1706024483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15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93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inheritance hierarchies are nothing unusual. we see them all the time.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(a masters student is a students is a person...)</a:t>
            </a:r>
          </a:p>
        </p:txBody>
      </p:sp>
    </p:spTree>
    <p:extLst>
      <p:ext uri="{BB962C8B-B14F-4D97-AF65-F5344CB8AC3E}">
        <p14:creationId xmlns:p14="http://schemas.microsoft.com/office/powerpoint/2010/main" val="1859841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17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class diagram is simple (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ArrayList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not shown in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BlueJ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6790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52685C26-67F0-492E-A3BA-6462479EE618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18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63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>
                <a:latin typeface="Times New Roman" charset="0"/>
                <a:ea typeface="ＭＳ Ｐゴシック" charset="0"/>
                <a:cs typeface="+mn-cs"/>
              </a:rPr>
              <a:t>we note a lot of code duplication.</a:t>
            </a:r>
          </a:p>
          <a:p>
            <a:pPr>
              <a:defRPr/>
            </a:pPr>
            <a:r>
              <a:rPr lang="en-GB">
                <a:latin typeface="Times New Roman" charset="0"/>
                <a:ea typeface="ＭＳ Ｐゴシック" charset="0"/>
                <a:cs typeface="+mn-cs"/>
              </a:rPr>
              <a:t>this is one problem with this solution (there are others)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832BFECC-299F-4D92-B979-2B021AB3D4D4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19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68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Newsitem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now only knows about Post rather than the subclasses.</a:t>
            </a:r>
          </a:p>
        </p:txBody>
      </p:sp>
    </p:spTree>
    <p:extLst>
      <p:ext uri="{BB962C8B-B14F-4D97-AF65-F5344CB8AC3E}">
        <p14:creationId xmlns:p14="http://schemas.microsoft.com/office/powerpoint/2010/main" val="4269633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61D28AA3-E1C2-4AF4-86E2-D253814523AF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20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solution: inheritance. </a:t>
            </a:r>
            <a:br>
              <a:rPr lang="en-GB" dirty="0">
                <a:latin typeface="Times New Roman" charset="0"/>
                <a:ea typeface="ＭＳ Ｐゴシック" charset="0"/>
                <a:cs typeface="+mn-cs"/>
              </a:rPr>
            </a:b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make superclass with common attributes, make subclasses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61D28AA3-E1C2-4AF4-86E2-D253814523AF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21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>
                <a:latin typeface="Times New Roman" charset="0"/>
                <a:ea typeface="ＭＳ Ｐゴシック" charset="0"/>
                <a:cs typeface="+mn-cs"/>
              </a:rPr>
              <a:t>solution: inheritance. make superclass with common attributes, make subclasses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415175D-1810-426E-839F-C8DB507AC241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22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83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041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E2E518A1-6390-4CD6-91EF-92EBAB2ABE83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04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altLang="en-US" dirty="0">
                <a:latin typeface="Times New Roman" pitchFamily="18" charset="0"/>
              </a:rPr>
              <a:t>syntax for inheritance: ‘extends’ keyword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144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2B582447-9C48-43A9-B4C1-B25C47F4EE7B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25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1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+mj-lt"/>
                <a:ea typeface="ＭＳ Ｐゴシック" charset="0"/>
                <a:cs typeface="+mn-cs"/>
              </a:rPr>
              <a:t>we define common fields in superclass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246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252A42E8-25E6-4AD3-8CA1-14326F93566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24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we add subclass fields; inherit superclass fields 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subclass objects will have all fields.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349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349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08B37F1A-994C-417A-974F-1C51C2F141F4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27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34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how do we initialise the fields? 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superclass: nothing unusual.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4B879247-DF07-4293-90D8-08320D8E0E1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28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subclass: must call superclass constructor!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Must take values for all fields that we want to initialise.</a:t>
            </a:r>
          </a:p>
          <a:p>
            <a:pPr>
              <a:defRPr/>
            </a:pP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553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1DDCE83B-AA9B-4F41-BCA2-846BEA1BDC6E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29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55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656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6A2B98F5-FB0E-45F6-9892-EC492CB7123D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31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65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it is now much easier to add new types. </a:t>
            </a:r>
          </a:p>
          <a:p>
            <a:pPr>
              <a:defRPr/>
            </a:pPr>
            <a:r>
              <a:rPr lang="en-GB" b="1" dirty="0">
                <a:latin typeface="Times New Roman" charset="0"/>
                <a:ea typeface="ＭＳ Ｐゴシック" charset="0"/>
                <a:cs typeface="+mn-cs"/>
              </a:rPr>
              <a:t>common attributes do not need to be rewritten.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758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07D778A1-77D7-483E-A676-4DB325FDD3C5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32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75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when adding new types, the </a:t>
            </a:r>
            <a:r>
              <a:rPr lang="en-GB" b="1" dirty="0">
                <a:latin typeface="Times New Roman" charset="0"/>
                <a:ea typeface="ＭＳ Ｐゴシック" charset="0"/>
                <a:cs typeface="+mn-cs"/>
              </a:rPr>
              <a:t>hierarchy may be extended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F897DC7C-4B39-4722-98EA-C8F8D77E1816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34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86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6963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DCF6066F-72F7-48D6-8723-09E48FB665C8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35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696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note: code duplication in class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NewsFeed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removed as well!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only one field, one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ArrayList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creation, one add method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166F4C11-A421-482B-AC45-0CEA02A1C867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36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06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...and only one loop in the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showmethod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5BE306E-CD94-48C4-BDA3-6B15CC5C53C6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39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+mn-cs"/>
              </a:rPr>
              <a:t>i.e. we pass in a sub type</a:t>
            </a:r>
          </a:p>
        </p:txBody>
      </p:sp>
    </p:spTree>
    <p:extLst>
      <p:ext uri="{BB962C8B-B14F-4D97-AF65-F5344CB8AC3E}">
        <p14:creationId xmlns:p14="http://schemas.microsoft.com/office/powerpoint/2010/main" val="2141010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27E6D97-980D-4019-B942-D2A638346AB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40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27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+mn-cs"/>
              </a:rPr>
              <a:t>i.e. is-a relationship comes in here….</a:t>
            </a:r>
            <a:r>
              <a:rPr lang="en-US" b="1" dirty="0">
                <a:latin typeface="Times New Roman" charset="0"/>
                <a:ea typeface="ＭＳ Ｐゴシック" charset="0"/>
                <a:cs typeface="+mn-cs"/>
              </a:rPr>
              <a:t>a subtype is-a </a:t>
            </a:r>
            <a:r>
              <a:rPr lang="en-US" b="1" dirty="0" err="1">
                <a:latin typeface="Times New Roman" charset="0"/>
                <a:ea typeface="ＭＳ Ｐゴシック" charset="0"/>
                <a:cs typeface="+mn-cs"/>
              </a:rPr>
              <a:t>supertype</a:t>
            </a:r>
            <a:r>
              <a:rPr lang="en-US" b="1" dirty="0">
                <a:latin typeface="Times New Roman" charset="0"/>
                <a:ea typeface="ＭＳ Ｐゴシック" charset="0"/>
                <a:cs typeface="+mn-cs"/>
              </a:rPr>
              <a:t> </a:t>
            </a:r>
            <a:br>
              <a:rPr lang="en-US" dirty="0">
                <a:latin typeface="Times New Roman" charset="0"/>
                <a:ea typeface="ＭＳ Ｐゴシック" charset="0"/>
                <a:cs typeface="+mn-cs"/>
              </a:rPr>
            </a:br>
            <a:r>
              <a:rPr lang="en-US" dirty="0">
                <a:latin typeface="Times New Roman" charset="0"/>
                <a:ea typeface="ＭＳ Ｐゴシック" charset="0"/>
                <a:cs typeface="+mn-cs"/>
              </a:rPr>
              <a:t>(follow the direction of the inheritance arrows)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1E566E9-A46A-4E31-87C1-E97C5462F0E6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41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3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E8F66C3-1B5C-437F-99CD-3E5098C03F7C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42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47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79C02AB6-3940-4F0C-B42F-781F4A15BE80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43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NewsFeed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object will hold a </a:t>
            </a:r>
            <a:r>
              <a:rPr lang="en-GB" b="1" dirty="0">
                <a:latin typeface="Times New Roman" charset="0"/>
                <a:ea typeface="ＭＳ Ｐゴシック" charset="0"/>
                <a:cs typeface="+mn-cs"/>
              </a:rPr>
              <a:t>single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, mixed collection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3F8C00B-44AE-4B00-BFAF-F55FB995A223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45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7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79C02AB6-3940-4F0C-B42F-781F4A15BE80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NewsFeed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object will hold a single, mixed collection</a:t>
            </a:r>
          </a:p>
        </p:txBody>
      </p:sp>
    </p:spTree>
    <p:extLst>
      <p:ext uri="{BB962C8B-B14F-4D97-AF65-F5344CB8AC3E}">
        <p14:creationId xmlns:p14="http://schemas.microsoft.com/office/powerpoint/2010/main" val="12366383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3DFBAC90-0666-49A9-B37C-E7E7517F25D5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47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88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BC11E94C-E063-40C9-AA31-72DF46E48566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48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79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C705EB16-5660-40D2-AB9B-2A93ADCD088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49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DB18940F-C0D9-41C7-A66C-EB803D71F957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51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1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83D46518-DD20-483A-96E8-0C29FE1C9AED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53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833298AD-81D8-44F1-AD8C-C0EA5B609D79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54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39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499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499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C541AABF-CB72-4713-A23C-348FD55EDD27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55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49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6019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602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732E7AE-E9E5-4A6D-A4C2-CC1BE928D0C5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56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60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8704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8704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0BE3CBD-74F4-4C00-BD55-762FF50CCD1C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60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870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uej.org/objects-first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641" y="5715001"/>
            <a:ext cx="3771900" cy="84772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Improving Structure with Inheritance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6E3D8-40D8-40DD-AB3A-5A145588CC6B}"/>
              </a:ext>
            </a:extLst>
          </p:cNvPr>
          <p:cNvSpPr txBox="1"/>
          <p:nvPr/>
        </p:nvSpPr>
        <p:spPr>
          <a:xfrm>
            <a:off x="3581400" y="3886200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Mr. Colm Dunphy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Mr. Diarmuid O’Connor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Frank Walsh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Lectures and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This week’s lectures and labs are based on examples in: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Objects First with Java - A Practical Introduction using </a:t>
            </a:r>
            <a:r>
              <a:rPr lang="en-GB" dirty="0" err="1"/>
              <a:t>BlueJ</a:t>
            </a:r>
            <a:r>
              <a:rPr lang="en-GB" dirty="0"/>
              <a:t>, © David J. Barnes, Michael </a:t>
            </a:r>
            <a:r>
              <a:rPr lang="en-GB" dirty="0" err="1"/>
              <a:t>Kölling</a:t>
            </a:r>
            <a:r>
              <a:rPr lang="en-GB" dirty="0"/>
              <a:t> </a:t>
            </a:r>
            <a:r>
              <a:rPr lang="en-IE" dirty="0">
                <a:hlinkClick r:id="rId3"/>
              </a:rPr>
              <a:t>(https://www.bluej.org/objects-first/</a:t>
            </a:r>
            <a:r>
              <a:rPr lang="en-IE" dirty="0"/>
              <a:t>)</a:t>
            </a:r>
          </a:p>
          <a:p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9962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dirty="0"/>
              <a:t>Super and subclasses</a:t>
            </a:r>
          </a:p>
          <a:p>
            <a:pPr lvl="1">
              <a:defRPr/>
            </a:pPr>
            <a:r>
              <a:rPr lang="en-US" dirty="0"/>
              <a:t>Using constructors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/ Collections</a:t>
            </a:r>
          </a:p>
          <a:p>
            <a:pPr lvl="1">
              <a:defRPr/>
            </a:pPr>
            <a:r>
              <a:rPr lang="en-US" dirty="0"/>
              <a:t>Includes casting, wrapper classes, </a:t>
            </a:r>
            <a:r>
              <a:rPr lang="en-US" dirty="0" err="1"/>
              <a:t>autoboxing</a:t>
            </a:r>
            <a:r>
              <a:rPr lang="en-US" dirty="0"/>
              <a:t> /unboxing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05000" y="1514476"/>
            <a:ext cx="8610600" cy="466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66800" y="160020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 V1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7010400" cy="5257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GB" dirty="0">
                <a:ea typeface="+mn-ea"/>
                <a:cs typeface="+mn-cs"/>
              </a:rPr>
              <a:t>A small, prototype SOCIAL NETWORK.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sz="1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GB" dirty="0">
                <a:ea typeface="+mn-ea"/>
                <a:cs typeface="+mn-cs"/>
              </a:rPr>
              <a:t>Supports a </a:t>
            </a:r>
            <a:r>
              <a:rPr lang="en-GB" b="1" dirty="0">
                <a:solidFill>
                  <a:srgbClr val="0070C0"/>
                </a:solidFill>
                <a:ea typeface="+mn-ea"/>
                <a:cs typeface="+mn-cs"/>
              </a:rPr>
              <a:t>News Feed </a:t>
            </a:r>
            <a:r>
              <a:rPr lang="en-GB" dirty="0">
                <a:ea typeface="+mn-ea"/>
                <a:cs typeface="+mn-cs"/>
              </a:rPr>
              <a:t>with posts.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dirty="0"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GB" b="1" dirty="0">
                <a:ea typeface="+mn-ea"/>
                <a:cs typeface="+mn-cs"/>
              </a:rPr>
              <a:t>POSTS</a:t>
            </a:r>
            <a:r>
              <a:rPr lang="en-GB" dirty="0">
                <a:ea typeface="+mn-ea"/>
                <a:cs typeface="+mn-cs"/>
              </a:rPr>
              <a:t>:</a:t>
            </a:r>
            <a:endParaRPr lang="en-AU" dirty="0">
              <a:latin typeface="Arial" charset="0"/>
              <a:ea typeface="+mn-ea"/>
              <a:cs typeface="+mn-cs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b="1" dirty="0" err="1">
                <a:solidFill>
                  <a:srgbClr val="FF0000"/>
                </a:solidFill>
                <a:latin typeface="Arial" charset="0"/>
                <a:ea typeface="+mn-ea"/>
              </a:rPr>
              <a:t>MessagePost</a:t>
            </a:r>
            <a:r>
              <a:rPr lang="en-AU" dirty="0">
                <a:solidFill>
                  <a:srgbClr val="FF0000"/>
                </a:solidFill>
                <a:latin typeface="Arial" charset="0"/>
                <a:ea typeface="+mn-ea"/>
              </a:rPr>
              <a:t>:</a:t>
            </a:r>
            <a:r>
              <a:rPr lang="en-AU" dirty="0">
                <a:latin typeface="Arial" charset="0"/>
                <a:ea typeface="+mn-ea"/>
              </a:rPr>
              <a:t> </a:t>
            </a:r>
          </a:p>
          <a:p>
            <a:pPr lvl="2">
              <a:lnSpc>
                <a:spcPct val="90000"/>
              </a:lnSpc>
              <a:defRPr/>
            </a:pPr>
            <a:r>
              <a:rPr lang="en-AU" dirty="0">
                <a:latin typeface="Arial" charset="0"/>
                <a:ea typeface="+mn-ea"/>
              </a:rPr>
              <a:t>multi-line text message.</a:t>
            </a:r>
            <a:br>
              <a:rPr lang="en-AU" dirty="0">
                <a:latin typeface="Arial" charset="0"/>
                <a:ea typeface="+mn-ea"/>
              </a:rPr>
            </a:br>
            <a:endParaRPr lang="en-AU" dirty="0">
              <a:latin typeface="Arial" charset="0"/>
              <a:ea typeface="+mn-ea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b="1" dirty="0" err="1">
                <a:solidFill>
                  <a:srgbClr val="00B050"/>
                </a:solidFill>
                <a:latin typeface="Arial" charset="0"/>
                <a:ea typeface="+mn-ea"/>
              </a:rPr>
              <a:t>PhotoPost</a:t>
            </a:r>
            <a:r>
              <a:rPr lang="en-AU" dirty="0">
                <a:solidFill>
                  <a:srgbClr val="00B050"/>
                </a:solidFill>
                <a:latin typeface="Arial" charset="0"/>
                <a:ea typeface="+mn-ea"/>
              </a:rPr>
              <a:t>: </a:t>
            </a:r>
          </a:p>
          <a:p>
            <a:pPr lvl="2">
              <a:lnSpc>
                <a:spcPct val="90000"/>
              </a:lnSpc>
              <a:defRPr/>
            </a:pPr>
            <a:r>
              <a:rPr lang="en-GB" dirty="0">
                <a:latin typeface="Arial" charset="0"/>
                <a:ea typeface="+mn-ea"/>
              </a:rPr>
              <a:t>photo and caption.</a:t>
            </a:r>
            <a:br>
              <a:rPr lang="en-GB" dirty="0">
                <a:latin typeface="Arial" charset="0"/>
                <a:ea typeface="+mn-ea"/>
              </a:rPr>
            </a:br>
            <a:endParaRPr lang="en-GB" dirty="0">
              <a:latin typeface="Arial" charset="0"/>
              <a:ea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GB" b="1" dirty="0">
                <a:latin typeface="Arial" charset="0"/>
              </a:rPr>
              <a:t>Operations</a:t>
            </a:r>
          </a:p>
          <a:p>
            <a:pPr lvl="2">
              <a:lnSpc>
                <a:spcPct val="90000"/>
              </a:lnSpc>
              <a:defRPr/>
            </a:pPr>
            <a:r>
              <a:rPr lang="en-GB" dirty="0">
                <a:latin typeface="Arial" charset="0"/>
              </a:rPr>
              <a:t>e</a:t>
            </a:r>
            <a:r>
              <a:rPr lang="en-GB" dirty="0">
                <a:latin typeface="Arial" charset="0"/>
                <a:ea typeface="+mn-ea"/>
              </a:rPr>
              <a:t>.g., search, display and remove.</a:t>
            </a:r>
            <a:endParaRPr lang="en-GB" dirty="0">
              <a:ea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3124200"/>
            <a:ext cx="3546342" cy="27432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824216" y="129484"/>
            <a:ext cx="1412742" cy="1214401"/>
            <a:chOff x="7300216" y="129483"/>
            <a:chExt cx="1412742" cy="121440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00216" y="129483"/>
              <a:ext cx="1412742" cy="121440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7300216" y="129483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v1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3127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2741" y="609601"/>
            <a:ext cx="3208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/>
              <a:t>SOCIAL NETWORK</a:t>
            </a:r>
          </a:p>
        </p:txBody>
      </p:sp>
      <p:sp>
        <p:nvSpPr>
          <p:cNvPr id="5" name="Frame 4"/>
          <p:cNvSpPr/>
          <p:nvPr/>
        </p:nvSpPr>
        <p:spPr>
          <a:xfrm>
            <a:off x="2209800" y="1143000"/>
            <a:ext cx="8001000" cy="5105400"/>
          </a:xfrm>
          <a:prstGeom prst="frame">
            <a:avLst>
              <a:gd name="adj1" fmla="val 1807"/>
            </a:avLst>
          </a:prstGeom>
          <a:solidFill>
            <a:srgbClr val="527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094027" y="2098464"/>
            <a:ext cx="1695450" cy="4728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094028" y="2630872"/>
            <a:ext cx="765057" cy="9232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094027" y="3608961"/>
            <a:ext cx="1695450" cy="4728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105400" y="4216384"/>
            <a:ext cx="1695450" cy="4728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105401" y="4803649"/>
            <a:ext cx="765057" cy="923233"/>
          </a:xfrm>
          <a:prstGeom prst="rect">
            <a:avLst/>
          </a:prstGeom>
        </p:spPr>
      </p:pic>
      <p:sp>
        <p:nvSpPr>
          <p:cNvPr id="12" name="Frame 11"/>
          <p:cNvSpPr/>
          <p:nvPr/>
        </p:nvSpPr>
        <p:spPr>
          <a:xfrm>
            <a:off x="4678690" y="1872526"/>
            <a:ext cx="2560310" cy="4147274"/>
          </a:xfrm>
          <a:prstGeom prst="frame">
            <a:avLst>
              <a:gd name="adj1" fmla="val 36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8631" y="1431497"/>
            <a:ext cx="128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NEWS 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4047" y="3658668"/>
            <a:ext cx="1102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2180" y="3092487"/>
            <a:ext cx="3090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Multi Line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7146" y="4452824"/>
            <a:ext cx="1102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Photo</a:t>
            </a:r>
          </a:p>
        </p:txBody>
      </p:sp>
      <p:cxnSp>
        <p:nvCxnSpPr>
          <p:cNvPr id="17" name="Straight Arrow Connector 16"/>
          <p:cNvCxnSpPr>
            <a:cxnSpLocks/>
            <a:endCxn id="7" idx="1"/>
          </p:cNvCxnSpPr>
          <p:nvPr/>
        </p:nvCxnSpPr>
        <p:spPr>
          <a:xfrm flipV="1">
            <a:off x="3899665" y="2334905"/>
            <a:ext cx="1194363" cy="152809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  <a:endCxn id="8" idx="1"/>
          </p:cNvCxnSpPr>
          <p:nvPr/>
        </p:nvCxnSpPr>
        <p:spPr>
          <a:xfrm flipV="1">
            <a:off x="3911037" y="3092488"/>
            <a:ext cx="1182990" cy="750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endCxn id="9" idx="1"/>
          </p:cNvCxnSpPr>
          <p:nvPr/>
        </p:nvCxnSpPr>
        <p:spPr>
          <a:xfrm>
            <a:off x="3911037" y="3844109"/>
            <a:ext cx="1182990" cy="129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  <a:endCxn id="10" idx="1"/>
          </p:cNvCxnSpPr>
          <p:nvPr/>
        </p:nvCxnSpPr>
        <p:spPr>
          <a:xfrm>
            <a:off x="3911038" y="3836630"/>
            <a:ext cx="1194363" cy="6161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endCxn id="11" idx="1"/>
          </p:cNvCxnSpPr>
          <p:nvPr/>
        </p:nvCxnSpPr>
        <p:spPr>
          <a:xfrm>
            <a:off x="3911038" y="3816471"/>
            <a:ext cx="1194363" cy="1448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</p:cNvCxnSpPr>
          <p:nvPr/>
        </p:nvCxnSpPr>
        <p:spPr>
          <a:xfrm flipH="1" flipV="1">
            <a:off x="6888351" y="2334905"/>
            <a:ext cx="1586768" cy="100446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6944081" y="3324339"/>
            <a:ext cx="1563378" cy="46192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 flipH="1">
            <a:off x="6916217" y="3339367"/>
            <a:ext cx="1591242" cy="118187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  <a:stCxn id="16" idx="1"/>
          </p:cNvCxnSpPr>
          <p:nvPr/>
        </p:nvCxnSpPr>
        <p:spPr>
          <a:xfrm flipH="1">
            <a:off x="6096001" y="4637490"/>
            <a:ext cx="2491144" cy="62777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  <a:stCxn id="16" idx="1"/>
          </p:cNvCxnSpPr>
          <p:nvPr/>
        </p:nvCxnSpPr>
        <p:spPr>
          <a:xfrm flipH="1" flipV="1">
            <a:off x="5949185" y="3258508"/>
            <a:ext cx="2637960" cy="1378982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555" y="247611"/>
            <a:ext cx="1004312" cy="86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1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 V1 - </a:t>
            </a:r>
            <a:r>
              <a:rPr lang="en-US" b="1" dirty="0"/>
              <a:t>Objects</a:t>
            </a:r>
          </a:p>
        </p:txBody>
      </p:sp>
      <p:pic>
        <p:nvPicPr>
          <p:cNvPr id="6148" name="Picture 2" descr="fig8-1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10"/>
          <a:stretch/>
        </p:blipFill>
        <p:spPr bwMode="auto">
          <a:xfrm>
            <a:off x="2667000" y="1676400"/>
            <a:ext cx="31242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rrow: Up 2">
            <a:extLst>
              <a:ext uri="{FF2B5EF4-FFF2-40B4-BE49-F238E27FC236}">
                <a16:creationId xmlns:a16="http://schemas.microsoft.com/office/drawing/2014/main" id="{0314C8FE-043B-4AF2-944E-FA137B2F37FB}"/>
              </a:ext>
            </a:extLst>
          </p:cNvPr>
          <p:cNvSpPr/>
          <p:nvPr/>
        </p:nvSpPr>
        <p:spPr>
          <a:xfrm>
            <a:off x="3429000" y="4876800"/>
            <a:ext cx="533400" cy="838200"/>
          </a:xfrm>
          <a:prstGeom prst="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0437E3-1C8F-479B-89B9-7E406F4DF83E}"/>
              </a:ext>
            </a:extLst>
          </p:cNvPr>
          <p:cNvSpPr/>
          <p:nvPr/>
        </p:nvSpPr>
        <p:spPr>
          <a:xfrm>
            <a:off x="999370" y="5715000"/>
            <a:ext cx="463497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AU" sz="2000" b="1" dirty="0" err="1">
                <a:solidFill>
                  <a:srgbClr val="FF0000"/>
                </a:solidFill>
                <a:latin typeface="Arial" charset="0"/>
              </a:rPr>
              <a:t>Message</a:t>
            </a:r>
            <a:r>
              <a:rPr lang="en-AU" sz="2000" dirty="0" err="1">
                <a:solidFill>
                  <a:srgbClr val="FF0000"/>
                </a:solidFill>
                <a:latin typeface="Arial" charset="0"/>
              </a:rPr>
              <a:t>Post</a:t>
            </a:r>
            <a:r>
              <a:rPr lang="en-AU" sz="2000" dirty="0">
                <a:solidFill>
                  <a:srgbClr val="FF0000"/>
                </a:solidFill>
                <a:latin typeface="Arial" charset="0"/>
              </a:rPr>
              <a:t>:</a:t>
            </a:r>
            <a:r>
              <a:rPr lang="en-AU" sz="2000" dirty="0">
                <a:latin typeface="Arial" charset="0"/>
              </a:rPr>
              <a:t> multi-line text message.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4F84C-ED51-4BE8-9BF2-E033D35F0AA8}"/>
              </a:ext>
            </a:extLst>
          </p:cNvPr>
          <p:cNvSpPr/>
          <p:nvPr/>
        </p:nvSpPr>
        <p:spPr>
          <a:xfrm>
            <a:off x="6248400" y="5715000"/>
            <a:ext cx="413067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AU" sz="2000" b="1" dirty="0" err="1">
                <a:solidFill>
                  <a:srgbClr val="00B050"/>
                </a:solidFill>
                <a:latin typeface="Arial" charset="0"/>
              </a:rPr>
              <a:t>Photo</a:t>
            </a:r>
            <a:r>
              <a:rPr lang="en-AU" sz="2000" dirty="0" err="1">
                <a:solidFill>
                  <a:srgbClr val="00B050"/>
                </a:solidFill>
                <a:latin typeface="Arial" charset="0"/>
              </a:rPr>
              <a:t>Post</a:t>
            </a:r>
            <a:r>
              <a:rPr lang="en-AU" sz="2000" dirty="0">
                <a:solidFill>
                  <a:srgbClr val="00B050"/>
                </a:solidFill>
                <a:latin typeface="Arial" charset="0"/>
              </a:rPr>
              <a:t>: </a:t>
            </a:r>
            <a:r>
              <a:rPr lang="en-GB" sz="2000" dirty="0">
                <a:latin typeface="Arial" charset="0"/>
              </a:rPr>
              <a:t>photo and caption.</a:t>
            </a:r>
          </a:p>
        </p:txBody>
      </p:sp>
      <p:sp>
        <p:nvSpPr>
          <p:cNvPr id="4" name="Frame 3"/>
          <p:cNvSpPr/>
          <p:nvPr/>
        </p:nvSpPr>
        <p:spPr>
          <a:xfrm>
            <a:off x="3200400" y="2819400"/>
            <a:ext cx="1524000" cy="381000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Frame 8"/>
          <p:cNvSpPr/>
          <p:nvPr/>
        </p:nvSpPr>
        <p:spPr>
          <a:xfrm>
            <a:off x="6435794" y="2819400"/>
            <a:ext cx="1524000" cy="838200"/>
          </a:xfrm>
          <a:prstGeom prst="frame">
            <a:avLst>
              <a:gd name="adj1" fmla="val 600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372600" y="2806262"/>
            <a:ext cx="1479956" cy="17859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48499" y="2819400"/>
            <a:ext cx="1206026" cy="336374"/>
          </a:xfrm>
          <a:prstGeom prst="rect">
            <a:avLst/>
          </a:prstGeom>
        </p:spPr>
      </p:pic>
      <p:pic>
        <p:nvPicPr>
          <p:cNvPr id="14" name="Picture 2" descr="fig8-1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5" r="211"/>
          <a:stretch/>
        </p:blipFill>
        <p:spPr bwMode="auto">
          <a:xfrm>
            <a:off x="6150070" y="1676400"/>
            <a:ext cx="3077099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4DD8B14D-6614-453B-BC62-79D32EB24271}"/>
              </a:ext>
            </a:extLst>
          </p:cNvPr>
          <p:cNvSpPr/>
          <p:nvPr/>
        </p:nvSpPr>
        <p:spPr>
          <a:xfrm>
            <a:off x="7677755" y="5181600"/>
            <a:ext cx="533400" cy="533400"/>
          </a:xfrm>
          <a:prstGeom prst="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Frame 14"/>
          <p:cNvSpPr/>
          <p:nvPr/>
        </p:nvSpPr>
        <p:spPr>
          <a:xfrm>
            <a:off x="6435794" y="2789530"/>
            <a:ext cx="1524000" cy="868070"/>
          </a:xfrm>
          <a:prstGeom prst="frame">
            <a:avLst>
              <a:gd name="adj1" fmla="val 491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D91B7-253E-224A-840B-6F883BB61610}"/>
              </a:ext>
            </a:extLst>
          </p:cNvPr>
          <p:cNvSpPr txBox="1"/>
          <p:nvPr/>
        </p:nvSpPr>
        <p:spPr>
          <a:xfrm>
            <a:off x="74488" y="6537863"/>
            <a:ext cx="8136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dirty="0">
                <a:latin typeface="+mj-lt"/>
                <a:ea typeface="ＭＳ Ｐゴシック" charset="0"/>
              </a:rPr>
              <a:t>one object per post; each object stores details for one particular post.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694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6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 V1 - </a:t>
            </a:r>
            <a:r>
              <a:rPr lang="en-US" b="1" dirty="0">
                <a:ea typeface="+mj-ea"/>
                <a:cs typeface="+mj-cs"/>
              </a:rPr>
              <a:t>Classes</a:t>
            </a:r>
          </a:p>
        </p:txBody>
      </p:sp>
      <p:pic>
        <p:nvPicPr>
          <p:cNvPr id="7172" name="Picture 1" descr="fig8-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00200"/>
            <a:ext cx="799293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9144000" y="2895600"/>
            <a:ext cx="533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144000" y="5867400"/>
            <a:ext cx="1066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ame 8"/>
          <p:cNvSpPr/>
          <p:nvPr/>
        </p:nvSpPr>
        <p:spPr>
          <a:xfrm>
            <a:off x="2590800" y="1828800"/>
            <a:ext cx="2438400" cy="3846939"/>
          </a:xfrm>
          <a:prstGeom prst="frame">
            <a:avLst>
              <a:gd name="adj1" fmla="val 41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5363570" y="1828799"/>
            <a:ext cx="2492706" cy="4343401"/>
          </a:xfrm>
          <a:prstGeom prst="frame">
            <a:avLst>
              <a:gd name="adj1" fmla="val 4363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308295" y="5740686"/>
            <a:ext cx="715166" cy="86302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490699" y="5385420"/>
            <a:ext cx="1695450" cy="472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623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 V1 - </a:t>
            </a:r>
            <a:r>
              <a:rPr lang="en-US" b="1" dirty="0">
                <a:ea typeface="+mj-ea"/>
                <a:cs typeface="+mj-cs"/>
              </a:rPr>
              <a:t>Object model</a:t>
            </a:r>
          </a:p>
        </p:txBody>
      </p:sp>
      <p:pic>
        <p:nvPicPr>
          <p:cNvPr id="8196" name="Picture 2" descr="fig8-3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350" y="1628775"/>
            <a:ext cx="858785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4474030" y="1650545"/>
            <a:ext cx="5889171" cy="2133600"/>
          </a:xfrm>
          <a:prstGeom prst="frame">
            <a:avLst>
              <a:gd name="adj1" fmla="val 331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3429001" y="3951962"/>
            <a:ext cx="5889171" cy="2296438"/>
          </a:xfrm>
          <a:prstGeom prst="frame">
            <a:avLst>
              <a:gd name="adj1" fmla="val 331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2057401" y="1828800"/>
            <a:ext cx="2340429" cy="1371600"/>
          </a:xfrm>
          <a:prstGeom prst="frame">
            <a:avLst>
              <a:gd name="adj1" fmla="val 377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522174" y="1905000"/>
            <a:ext cx="1695450" cy="4728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382001" y="4152029"/>
            <a:ext cx="765057" cy="9232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2643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Social Network V1 - </a:t>
            </a:r>
            <a:r>
              <a:rPr lang="en-US" b="1" dirty="0">
                <a:ea typeface="+mj-ea"/>
                <a:cs typeface="+mj-cs"/>
              </a:rPr>
              <a:t>Class diagram</a:t>
            </a:r>
          </a:p>
        </p:txBody>
      </p:sp>
      <p:pic>
        <p:nvPicPr>
          <p:cNvPr id="9220" name="Picture 1" descr="fig8-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1905000"/>
            <a:ext cx="6296025" cy="4496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276600" y="2209800"/>
            <a:ext cx="2133600" cy="990600"/>
          </a:xfrm>
          <a:prstGeom prst="frame">
            <a:avLst>
              <a:gd name="adj1" fmla="val 377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6705600" y="3657600"/>
            <a:ext cx="2057400" cy="990600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6705600" y="4953000"/>
            <a:ext cx="2133600" cy="9906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975498" y="3657601"/>
            <a:ext cx="1466850" cy="4091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050456" y="4876801"/>
            <a:ext cx="765057" cy="9232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447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209800"/>
            <a:ext cx="2362200" cy="1219200"/>
          </a:xfrm>
          <a:solidFill>
            <a:srgbClr val="FF00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200" b="1" dirty="0" err="1">
                <a:ea typeface="+mj-ea"/>
                <a:cs typeface="+mj-cs"/>
              </a:rPr>
              <a:t>MessagePost</a:t>
            </a:r>
            <a:r>
              <a:rPr lang="en-US" sz="3200" dirty="0">
                <a:ea typeface="+mj-ea"/>
                <a:cs typeface="+mj-cs"/>
              </a:rPr>
              <a:t> source code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164670" y="160606"/>
            <a:ext cx="6232796" cy="62478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public class </a:t>
            </a:r>
            <a:r>
              <a:rPr lang="en-AU" sz="1600" dirty="0" err="1">
                <a:solidFill>
                  <a:srgbClr val="000000"/>
                </a:solidFill>
              </a:rPr>
              <a:t>MessagePost</a:t>
            </a:r>
            <a:endParaRPr lang="en-AU" sz="16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{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private String username;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private String message;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private long timestamp;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private </a:t>
            </a:r>
            <a:r>
              <a:rPr lang="en-AU" sz="1600" dirty="0" err="1">
                <a:solidFill>
                  <a:srgbClr val="000000"/>
                </a:solidFill>
              </a:rPr>
              <a:t>int</a:t>
            </a:r>
            <a:r>
              <a:rPr lang="en-AU" sz="1600" dirty="0">
                <a:solidFill>
                  <a:srgbClr val="000000"/>
                </a:solidFill>
              </a:rPr>
              <a:t> likes;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private </a:t>
            </a:r>
            <a:r>
              <a:rPr lang="en-AU" sz="1600" dirty="0" err="1">
                <a:solidFill>
                  <a:srgbClr val="000000"/>
                </a:solidFill>
              </a:rPr>
              <a:t>ArrayList</a:t>
            </a:r>
            <a:r>
              <a:rPr lang="en-AU" sz="1600" dirty="0">
                <a:solidFill>
                  <a:srgbClr val="000000"/>
                </a:solidFill>
              </a:rPr>
              <a:t>&lt;String&gt; comments;</a:t>
            </a:r>
          </a:p>
          <a:p>
            <a:pPr>
              <a:spcBef>
                <a:spcPct val="0"/>
              </a:spcBef>
              <a:defRPr/>
            </a:pPr>
            <a:endParaRPr lang="en-AU" sz="16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public </a:t>
            </a:r>
            <a:r>
              <a:rPr lang="en-AU" sz="1600" dirty="0" err="1">
                <a:solidFill>
                  <a:srgbClr val="FF0000"/>
                </a:solidFill>
              </a:rPr>
              <a:t>MessagePost</a:t>
            </a:r>
            <a:r>
              <a:rPr lang="en-AU" sz="1600" dirty="0">
                <a:solidFill>
                  <a:srgbClr val="000000"/>
                </a:solidFill>
              </a:rPr>
              <a:t>(String author, String text)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{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	username = author;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	message = text;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	timestamp = </a:t>
            </a:r>
            <a:r>
              <a:rPr lang="en-AU" sz="1600" dirty="0" err="1">
                <a:solidFill>
                  <a:srgbClr val="000000"/>
                </a:solidFill>
              </a:rPr>
              <a:t>System.currentTimeMillis</a:t>
            </a:r>
            <a:r>
              <a:rPr lang="en-AU" sz="1600" dirty="0">
                <a:solidFill>
                  <a:srgbClr val="000000"/>
                </a:solidFill>
              </a:rPr>
              <a:t>();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	likes = 0;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	comments = new </a:t>
            </a:r>
            <a:r>
              <a:rPr lang="en-AU" sz="1600" dirty="0" err="1">
                <a:solidFill>
                  <a:srgbClr val="000000"/>
                </a:solidFill>
              </a:rPr>
              <a:t>ArrayList</a:t>
            </a:r>
            <a:r>
              <a:rPr lang="en-AU" sz="1600" dirty="0">
                <a:solidFill>
                  <a:srgbClr val="000000"/>
                </a:solidFill>
              </a:rPr>
              <a:t>&lt;String&gt;();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}</a:t>
            </a:r>
          </a:p>
          <a:p>
            <a:pPr>
              <a:spcBef>
                <a:spcPct val="0"/>
              </a:spcBef>
              <a:defRPr/>
            </a:pPr>
            <a:endParaRPr lang="en-AU" sz="16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public void </a:t>
            </a:r>
            <a:r>
              <a:rPr lang="en-AU" sz="1600" dirty="0" err="1">
                <a:solidFill>
                  <a:srgbClr val="000000"/>
                </a:solidFill>
              </a:rPr>
              <a:t>addComment</a:t>
            </a:r>
            <a:r>
              <a:rPr lang="en-AU" sz="1600" dirty="0">
                <a:solidFill>
                  <a:srgbClr val="000000"/>
                </a:solidFill>
              </a:rPr>
              <a:t>(String text) ...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public void like() ...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public void display() ...</a:t>
            </a:r>
          </a:p>
          <a:p>
            <a:pPr>
              <a:spcBef>
                <a:spcPct val="0"/>
              </a:spcBef>
              <a:defRPr/>
            </a:pPr>
            <a:endParaRPr lang="en-AU" sz="16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...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749300" y="4792662"/>
            <a:ext cx="2527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en-GB" sz="2400" b="0" i="1" dirty="0">
                <a:latin typeface="Trebuchet MS" charset="0"/>
              </a:rPr>
              <a:t>Just an outline…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247775" y="3725862"/>
            <a:ext cx="1695450" cy="472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0818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974760" y="41494"/>
            <a:ext cx="6437312" cy="674030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public class </a:t>
            </a:r>
            <a:r>
              <a:rPr lang="en-AU" altLang="en-US" sz="1600" dirty="0" err="1">
                <a:solidFill>
                  <a:srgbClr val="000000"/>
                </a:solidFill>
              </a:rPr>
              <a:t>PhotoPost</a:t>
            </a:r>
            <a:endParaRPr lang="en-AU" altLang="en-US" sz="16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{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private String username;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private String filename;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private String caption;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private long timestamp;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private </a:t>
            </a:r>
            <a:r>
              <a:rPr lang="en-AU" altLang="en-US" sz="1600" dirty="0" err="1">
                <a:solidFill>
                  <a:srgbClr val="000000"/>
                </a:solidFill>
              </a:rPr>
              <a:t>int</a:t>
            </a:r>
            <a:r>
              <a:rPr lang="en-AU" altLang="en-US" sz="1600" dirty="0">
                <a:solidFill>
                  <a:srgbClr val="000000"/>
                </a:solidFill>
              </a:rPr>
              <a:t> likes;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private </a:t>
            </a:r>
            <a:r>
              <a:rPr lang="en-AU" altLang="en-US" sz="1600" dirty="0" err="1">
                <a:solidFill>
                  <a:srgbClr val="000000"/>
                </a:solidFill>
              </a:rPr>
              <a:t>ArrayList</a:t>
            </a:r>
            <a:r>
              <a:rPr lang="en-AU" altLang="en-US" sz="1600" dirty="0">
                <a:solidFill>
                  <a:srgbClr val="000000"/>
                </a:solidFill>
              </a:rPr>
              <a:t>&lt;String&gt; comments;</a:t>
            </a:r>
          </a:p>
          <a:p>
            <a:pPr>
              <a:spcBef>
                <a:spcPct val="0"/>
              </a:spcBef>
              <a:defRPr/>
            </a:pPr>
            <a:endParaRPr lang="en-AU" altLang="en-US" sz="16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public </a:t>
            </a:r>
            <a:r>
              <a:rPr lang="en-AU" altLang="en-US" sz="1600" dirty="0" err="1">
                <a:solidFill>
                  <a:srgbClr val="00B050"/>
                </a:solidFill>
              </a:rPr>
              <a:t>PhotoPost</a:t>
            </a:r>
            <a:r>
              <a:rPr lang="en-AU" altLang="en-US" sz="1600" dirty="0">
                <a:solidFill>
                  <a:srgbClr val="000000"/>
                </a:solidFill>
              </a:rPr>
              <a:t>(String author, String filename,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                 String caption)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{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	username = author;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	</a:t>
            </a:r>
            <a:r>
              <a:rPr lang="en-AU" altLang="en-US" sz="1600" dirty="0" err="1">
                <a:solidFill>
                  <a:srgbClr val="000000"/>
                </a:solidFill>
              </a:rPr>
              <a:t>this.filename</a:t>
            </a:r>
            <a:r>
              <a:rPr lang="en-AU" altLang="en-US" sz="1600" dirty="0">
                <a:solidFill>
                  <a:srgbClr val="000000"/>
                </a:solidFill>
              </a:rPr>
              <a:t> = filename;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	</a:t>
            </a:r>
            <a:r>
              <a:rPr lang="en-AU" altLang="en-US" sz="1600" dirty="0" err="1">
                <a:solidFill>
                  <a:srgbClr val="000000"/>
                </a:solidFill>
              </a:rPr>
              <a:t>this.caption</a:t>
            </a:r>
            <a:r>
              <a:rPr lang="en-AU" altLang="en-US" sz="1600" dirty="0">
                <a:solidFill>
                  <a:srgbClr val="000000"/>
                </a:solidFill>
              </a:rPr>
              <a:t> = caption;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	timestamp = </a:t>
            </a:r>
            <a:r>
              <a:rPr lang="en-AU" altLang="en-US" sz="1600" dirty="0" err="1">
                <a:solidFill>
                  <a:srgbClr val="000000"/>
                </a:solidFill>
              </a:rPr>
              <a:t>System.currentTimeMillis</a:t>
            </a:r>
            <a:r>
              <a:rPr lang="en-AU" altLang="en-US" sz="1600" dirty="0">
                <a:solidFill>
                  <a:srgbClr val="000000"/>
                </a:solidFill>
              </a:rPr>
              <a:t>();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	likes = 0;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	comments = new </a:t>
            </a:r>
            <a:r>
              <a:rPr lang="en-AU" altLang="en-US" sz="1600" dirty="0" err="1">
                <a:solidFill>
                  <a:srgbClr val="000000"/>
                </a:solidFill>
              </a:rPr>
              <a:t>ArrayList</a:t>
            </a:r>
            <a:r>
              <a:rPr lang="en-AU" altLang="en-US" sz="1600" dirty="0">
                <a:solidFill>
                  <a:srgbClr val="000000"/>
                </a:solidFill>
              </a:rPr>
              <a:t>&lt;String&gt;();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}</a:t>
            </a:r>
          </a:p>
          <a:p>
            <a:pPr>
              <a:spcBef>
                <a:spcPct val="0"/>
              </a:spcBef>
              <a:defRPr/>
            </a:pPr>
            <a:endParaRPr lang="en-AU" altLang="en-US" sz="16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public void </a:t>
            </a:r>
            <a:r>
              <a:rPr lang="en-AU" altLang="en-US" sz="1600" dirty="0" err="1">
                <a:solidFill>
                  <a:srgbClr val="000000"/>
                </a:solidFill>
              </a:rPr>
              <a:t>addComment</a:t>
            </a:r>
            <a:r>
              <a:rPr lang="en-AU" altLang="en-US" sz="1600" dirty="0">
                <a:solidFill>
                  <a:srgbClr val="000000"/>
                </a:solidFill>
              </a:rPr>
              <a:t>(String text) ...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public void like() …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public void display() …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   ...</a:t>
            </a:r>
          </a:p>
          <a:p>
            <a:pPr>
              <a:spcBef>
                <a:spcPct val="0"/>
              </a:spcBef>
              <a:defRPr/>
            </a:pPr>
            <a:r>
              <a:rPr lang="en-AU" altLang="en-US"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362200"/>
            <a:ext cx="2133600" cy="1066800"/>
          </a:xfrm>
          <a:solidFill>
            <a:srgbClr val="00B05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200" b="1" dirty="0" err="1">
                <a:ea typeface="+mj-ea"/>
                <a:cs typeface="+mj-cs"/>
              </a:rPr>
              <a:t>PhotoPost</a:t>
            </a:r>
            <a:r>
              <a:rPr lang="en-US" sz="3200" dirty="0">
                <a:ea typeface="+mj-ea"/>
                <a:cs typeface="+mj-cs"/>
              </a:rPr>
              <a:t> source code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009F1EE1-5962-4DB0-A38A-3DA0FA865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4419601"/>
            <a:ext cx="2482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en-GB" sz="2400" b="0" i="1" dirty="0">
                <a:latin typeface="Trebuchet MS" charset="0"/>
              </a:rPr>
              <a:t>Just an outline…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468497" y="3496368"/>
            <a:ext cx="765057" cy="9232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868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7662" y="398284"/>
            <a:ext cx="2590800" cy="1066800"/>
          </a:xfr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err="1">
                <a:ea typeface="+mj-ea"/>
                <a:cs typeface="+mj-cs"/>
              </a:rPr>
              <a:t>NewsFeed</a:t>
            </a:r>
            <a:r>
              <a:rPr lang="en-US" sz="3200" dirty="0">
                <a:ea typeface="+mj-ea"/>
                <a:cs typeface="+mj-cs"/>
              </a:rPr>
              <a:t> source code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609600" y="1841242"/>
            <a:ext cx="7829550" cy="452431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public class </a:t>
            </a:r>
            <a:r>
              <a:rPr lang="en-AU" sz="1600" dirty="0" err="1">
                <a:solidFill>
                  <a:srgbClr val="000000"/>
                </a:solidFill>
              </a:rPr>
              <a:t>NewsFeed</a:t>
            </a:r>
            <a:endParaRPr lang="en-AU" sz="16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{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</a:t>
            </a:r>
            <a:r>
              <a:rPr lang="en-US" sz="1600" dirty="0"/>
              <a:t>private </a:t>
            </a:r>
            <a:r>
              <a:rPr lang="en-US" sz="1600" dirty="0" err="1"/>
              <a:t>ArrayList</a:t>
            </a:r>
            <a:r>
              <a:rPr lang="en-US" sz="1600" dirty="0"/>
              <a:t>&lt;</a:t>
            </a:r>
            <a:r>
              <a:rPr lang="en-US" sz="1600" dirty="0" err="1"/>
              <a:t>MessagePost</a:t>
            </a:r>
            <a:r>
              <a:rPr lang="en-US" sz="1600" dirty="0"/>
              <a:t>&gt; messages</a:t>
            </a:r>
            <a:r>
              <a:rPr lang="en-AU" sz="1600" dirty="0">
                <a:solidFill>
                  <a:srgbClr val="000000"/>
                </a:solidFill>
              </a:rPr>
              <a:t>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</a:t>
            </a:r>
            <a:r>
              <a:rPr lang="en-US" sz="1600" dirty="0"/>
              <a:t>private </a:t>
            </a:r>
            <a:r>
              <a:rPr lang="en-US" sz="1600" dirty="0" err="1"/>
              <a:t>ArrayList</a:t>
            </a:r>
            <a:r>
              <a:rPr lang="en-US" sz="1600" dirty="0"/>
              <a:t>&lt;</a:t>
            </a:r>
            <a:r>
              <a:rPr lang="en-US" sz="1600" dirty="0" err="1"/>
              <a:t>PhotoPost</a:t>
            </a:r>
            <a:r>
              <a:rPr lang="en-US" sz="1600" dirty="0"/>
              <a:t>&gt; photos</a:t>
            </a:r>
            <a:r>
              <a:rPr lang="en-AU" sz="1600" dirty="0">
                <a:solidFill>
                  <a:srgbClr val="000000"/>
                </a:solidFill>
              </a:rPr>
              <a:t>;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...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public void </a:t>
            </a:r>
            <a:r>
              <a:rPr lang="en-AU" sz="1600" b="0" dirty="0">
                <a:solidFill>
                  <a:srgbClr val="000000"/>
                </a:solidFill>
              </a:rPr>
              <a:t>show</a:t>
            </a:r>
            <a:r>
              <a:rPr lang="en-AU" sz="1600" dirty="0">
                <a:solidFill>
                  <a:srgbClr val="000000"/>
                </a:solidFill>
              </a:rPr>
              <a:t>()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{ </a:t>
            </a:r>
          </a:p>
          <a:p>
            <a:pPr>
              <a:spcBef>
                <a:spcPct val="0"/>
              </a:spcBef>
              <a:defRPr/>
            </a:pPr>
            <a:r>
              <a:rPr sz="1600" noProof="1"/>
              <a:t>       for(</a:t>
            </a:r>
            <a:r>
              <a:rPr lang="en-GB" sz="1600" dirty="0" err="1"/>
              <a:t>MessagePost</a:t>
            </a:r>
            <a:r>
              <a:rPr lang="en-GB" sz="1600" dirty="0"/>
              <a:t> message : messages</a:t>
            </a:r>
            <a:r>
              <a:rPr sz="1600" noProof="1"/>
              <a:t>) {</a:t>
            </a:r>
          </a:p>
          <a:p>
            <a:pPr>
              <a:spcBef>
                <a:spcPct val="0"/>
              </a:spcBef>
              <a:defRPr/>
            </a:pPr>
            <a:r>
              <a:rPr lang="en-GB" sz="1600" dirty="0"/>
              <a:t>          </a:t>
            </a:r>
            <a:r>
              <a:rPr lang="en-GB" sz="1600" noProof="1"/>
              <a:t>message.display</a:t>
            </a:r>
            <a:r>
              <a:rPr sz="1600" noProof="1"/>
              <a:t>();</a:t>
            </a:r>
          </a:p>
          <a:p>
            <a:pPr>
              <a:spcBef>
                <a:spcPct val="0"/>
              </a:spcBef>
              <a:defRPr/>
            </a:pPr>
            <a:r>
              <a:rPr sz="1600" noProof="1"/>
              <a:t>          System.out.println();  // empty line between </a:t>
            </a:r>
            <a:r>
              <a:rPr lang="en-GB" sz="1600" noProof="1"/>
              <a:t>posts</a:t>
            </a:r>
            <a:endParaRPr sz="1600" noProof="1"/>
          </a:p>
          <a:p>
            <a:pPr>
              <a:spcBef>
                <a:spcPct val="0"/>
              </a:spcBef>
              <a:defRPr/>
            </a:pPr>
            <a:r>
              <a:rPr sz="1600" noProof="1"/>
              <a:t>       }</a:t>
            </a:r>
          </a:p>
          <a:p>
            <a:pPr>
              <a:spcBef>
                <a:spcPct val="0"/>
              </a:spcBef>
              <a:defRPr/>
            </a:pPr>
            <a:endParaRPr sz="1600" noProof="1"/>
          </a:p>
          <a:p>
            <a:pPr>
              <a:spcBef>
                <a:spcPct val="0"/>
              </a:spcBef>
              <a:defRPr/>
            </a:pPr>
            <a:r>
              <a:rPr sz="1600" noProof="1"/>
              <a:t>       for(</a:t>
            </a:r>
            <a:r>
              <a:rPr lang="en-GB" sz="1600" dirty="0" err="1"/>
              <a:t>PhotoPost</a:t>
            </a:r>
            <a:r>
              <a:rPr lang="en-GB" sz="1600" dirty="0"/>
              <a:t> photo : photos</a:t>
            </a:r>
            <a:r>
              <a:rPr sz="1600" noProof="1"/>
              <a:t>) {</a:t>
            </a:r>
          </a:p>
          <a:p>
            <a:pPr>
              <a:spcBef>
                <a:spcPct val="0"/>
              </a:spcBef>
              <a:defRPr/>
            </a:pPr>
            <a:r>
              <a:rPr lang="en-GB" sz="1600" dirty="0"/>
              <a:t>          </a:t>
            </a:r>
            <a:r>
              <a:rPr lang="en-GB" sz="1600" dirty="0" err="1"/>
              <a:t>photo.display</a:t>
            </a:r>
            <a:r>
              <a:rPr sz="1600" noProof="1"/>
              <a:t>();</a:t>
            </a:r>
          </a:p>
          <a:p>
            <a:pPr>
              <a:spcBef>
                <a:spcPct val="0"/>
              </a:spcBef>
              <a:defRPr/>
            </a:pPr>
            <a:r>
              <a:rPr sz="1600" noProof="1"/>
              <a:t>          System.out.println();  // empty line between </a:t>
            </a:r>
            <a:r>
              <a:rPr lang="en-GB" sz="1600" noProof="1"/>
              <a:t>posts</a:t>
            </a:r>
            <a:endParaRPr sz="1600" noProof="1"/>
          </a:p>
          <a:p>
            <a:pPr>
              <a:spcBef>
                <a:spcPct val="0"/>
              </a:spcBef>
              <a:defRPr/>
            </a:pPr>
            <a:r>
              <a:rPr sz="1600" noProof="1"/>
              <a:t>       }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   }</a:t>
            </a:r>
          </a:p>
          <a:p>
            <a:pPr>
              <a:spcBef>
                <a:spcPct val="0"/>
              </a:spcBef>
              <a:defRPr/>
            </a:pPr>
            <a:r>
              <a:rPr lang="en-AU" sz="1600" dirty="0">
                <a:solidFill>
                  <a:srgbClr val="000000"/>
                </a:solidFill>
              </a:rPr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666027" y="1999002"/>
            <a:ext cx="1695450" cy="472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677401" y="3736866"/>
            <a:ext cx="765057" cy="9232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666027" y="2568106"/>
            <a:ext cx="1695450" cy="472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666027" y="3151094"/>
            <a:ext cx="1695450" cy="4728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677401" y="4739891"/>
            <a:ext cx="765057" cy="923233"/>
          </a:xfrm>
          <a:prstGeom prst="rect">
            <a:avLst/>
          </a:prstGeom>
        </p:spPr>
      </p:pic>
      <p:sp>
        <p:nvSpPr>
          <p:cNvPr id="2" name="Frame 1"/>
          <p:cNvSpPr/>
          <p:nvPr/>
        </p:nvSpPr>
        <p:spPr>
          <a:xfrm>
            <a:off x="9525000" y="1841242"/>
            <a:ext cx="2000250" cy="3886200"/>
          </a:xfrm>
          <a:prstGeom prst="frame">
            <a:avLst>
              <a:gd name="adj1" fmla="val 363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926697" y="2338681"/>
            <a:ext cx="5169303" cy="587264"/>
          </a:xfrm>
          <a:prstGeom prst="frame">
            <a:avLst>
              <a:gd name="adj1" fmla="val 363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120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dirty="0"/>
              <a:t>Super and subclasses</a:t>
            </a:r>
          </a:p>
          <a:p>
            <a:pPr lvl="1">
              <a:defRPr/>
            </a:pPr>
            <a:r>
              <a:rPr lang="en-US" dirty="0"/>
              <a:t>Using constructors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/ Collections</a:t>
            </a:r>
          </a:p>
          <a:p>
            <a:pPr lvl="1">
              <a:defRPr/>
            </a:pPr>
            <a:r>
              <a:rPr lang="en-US" dirty="0"/>
              <a:t>Includes casting, wrapper classes, </a:t>
            </a:r>
            <a:r>
              <a:rPr lang="en-US" dirty="0" err="1"/>
              <a:t>autoboxing</a:t>
            </a:r>
            <a:r>
              <a:rPr lang="en-US" dirty="0"/>
              <a:t> /unboxing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1200" y="1930400"/>
            <a:ext cx="8610600" cy="466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66800" y="2016124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767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Inheritance hierarchies</a:t>
            </a:r>
          </a:p>
        </p:txBody>
      </p:sp>
      <p:pic>
        <p:nvPicPr>
          <p:cNvPr id="16388" name="Picture 5" descr="fig8-9-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32088"/>
            <a:ext cx="8881997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0A013F-FED2-A843-A36A-12A422B7D875}"/>
              </a:ext>
            </a:extLst>
          </p:cNvPr>
          <p:cNvSpPr txBox="1"/>
          <p:nvPr/>
        </p:nvSpPr>
        <p:spPr>
          <a:xfrm>
            <a:off x="467259" y="511884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Is-a</a:t>
            </a:r>
          </a:p>
        </p:txBody>
      </p:sp>
      <p:sp>
        <p:nvSpPr>
          <p:cNvPr id="3" name="Up Arrow 2">
            <a:extLst>
              <a:ext uri="{FF2B5EF4-FFF2-40B4-BE49-F238E27FC236}">
                <a16:creationId xmlns:a16="http://schemas.microsoft.com/office/drawing/2014/main" id="{3E39A49D-0983-B247-8979-F1A1D3ADF4AC}"/>
              </a:ext>
            </a:extLst>
          </p:cNvPr>
          <p:cNvSpPr/>
          <p:nvPr/>
        </p:nvSpPr>
        <p:spPr>
          <a:xfrm>
            <a:off x="609600" y="3429000"/>
            <a:ext cx="228600" cy="168984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50EC88-1958-F341-9988-130DE7D9F499}"/>
              </a:ext>
            </a:extLst>
          </p:cNvPr>
          <p:cNvSpPr txBox="1"/>
          <p:nvPr/>
        </p:nvSpPr>
        <p:spPr>
          <a:xfrm>
            <a:off x="10792178" y="11627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8600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Inheritance hierarchies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A013F-FED2-A843-A36A-12A422B7D875}"/>
              </a:ext>
            </a:extLst>
          </p:cNvPr>
          <p:cNvSpPr txBox="1"/>
          <p:nvPr/>
        </p:nvSpPr>
        <p:spPr>
          <a:xfrm>
            <a:off x="467259" y="511884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Is-a</a:t>
            </a:r>
          </a:p>
        </p:txBody>
      </p:sp>
      <p:sp>
        <p:nvSpPr>
          <p:cNvPr id="3" name="Up Arrow 2">
            <a:extLst>
              <a:ext uri="{FF2B5EF4-FFF2-40B4-BE49-F238E27FC236}">
                <a16:creationId xmlns:a16="http://schemas.microsoft.com/office/drawing/2014/main" id="{3E39A49D-0983-B247-8979-F1A1D3ADF4AC}"/>
              </a:ext>
            </a:extLst>
          </p:cNvPr>
          <p:cNvSpPr/>
          <p:nvPr/>
        </p:nvSpPr>
        <p:spPr>
          <a:xfrm>
            <a:off x="609600" y="3429000"/>
            <a:ext cx="228600" cy="168984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50EC88-1958-F341-9988-130DE7D9F499}"/>
              </a:ext>
            </a:extLst>
          </p:cNvPr>
          <p:cNvSpPr txBox="1"/>
          <p:nvPr/>
        </p:nvSpPr>
        <p:spPr>
          <a:xfrm>
            <a:off x="10792178" y="11627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84529-D339-E942-A874-9C87C1B55450}"/>
              </a:ext>
            </a:extLst>
          </p:cNvPr>
          <p:cNvSpPr txBox="1"/>
          <p:nvPr/>
        </p:nvSpPr>
        <p:spPr>
          <a:xfrm>
            <a:off x="5999622" y="2139775"/>
            <a:ext cx="1418530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MusicFormat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5DBC9-C445-B144-B78C-D9EE4497D05E}"/>
              </a:ext>
            </a:extLst>
          </p:cNvPr>
          <p:cNvSpPr txBox="1"/>
          <p:nvPr/>
        </p:nvSpPr>
        <p:spPr>
          <a:xfrm>
            <a:off x="3027822" y="3258750"/>
            <a:ext cx="1561197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AnalogFormat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D5A4D6-EB73-8844-A003-B87265A6E267}"/>
              </a:ext>
            </a:extLst>
          </p:cNvPr>
          <p:cNvSpPr txBox="1"/>
          <p:nvPr/>
        </p:nvSpPr>
        <p:spPr>
          <a:xfrm>
            <a:off x="7980822" y="3260127"/>
            <a:ext cx="1507079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DigitalFormat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8B5CA3-3C55-6440-9860-6E919189DB68}"/>
              </a:ext>
            </a:extLst>
          </p:cNvPr>
          <p:cNvSpPr txBox="1"/>
          <p:nvPr/>
        </p:nvSpPr>
        <p:spPr>
          <a:xfrm>
            <a:off x="2539835" y="4535614"/>
            <a:ext cx="97597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Cassette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3D639C-9A03-BB42-8E76-C90AC8B5F369}"/>
              </a:ext>
            </a:extLst>
          </p:cNvPr>
          <p:cNvSpPr txBox="1"/>
          <p:nvPr/>
        </p:nvSpPr>
        <p:spPr>
          <a:xfrm>
            <a:off x="4267200" y="4535614"/>
            <a:ext cx="643638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Vinyl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A812D4-8DC2-AE48-B0FD-1ECC809EF435}"/>
              </a:ext>
            </a:extLst>
          </p:cNvPr>
          <p:cNvSpPr txBox="1"/>
          <p:nvPr/>
        </p:nvSpPr>
        <p:spPr>
          <a:xfrm>
            <a:off x="3903959" y="5576328"/>
            <a:ext cx="726481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single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E6501-AEFA-864D-AB04-303A4D01A52A}"/>
              </a:ext>
            </a:extLst>
          </p:cNvPr>
          <p:cNvSpPr txBox="1"/>
          <p:nvPr/>
        </p:nvSpPr>
        <p:spPr>
          <a:xfrm>
            <a:off x="1935892" y="5581819"/>
            <a:ext cx="726481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single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F93540-FBF1-B140-8757-4EA954136C33}"/>
              </a:ext>
            </a:extLst>
          </p:cNvPr>
          <p:cNvSpPr txBox="1"/>
          <p:nvPr/>
        </p:nvSpPr>
        <p:spPr>
          <a:xfrm>
            <a:off x="2809103" y="5581819"/>
            <a:ext cx="776175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album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3F38A-F92F-7146-A3A3-67ECE0852653}"/>
              </a:ext>
            </a:extLst>
          </p:cNvPr>
          <p:cNvSpPr txBox="1"/>
          <p:nvPr/>
        </p:nvSpPr>
        <p:spPr>
          <a:xfrm>
            <a:off x="4786282" y="5576328"/>
            <a:ext cx="776175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album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4FA89-93A8-F74D-945D-DCCBDB11EEF9}"/>
              </a:ext>
            </a:extLst>
          </p:cNvPr>
          <p:cNvSpPr txBox="1"/>
          <p:nvPr/>
        </p:nvSpPr>
        <p:spPr>
          <a:xfrm>
            <a:off x="3706629" y="6383636"/>
            <a:ext cx="394660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7”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EF512-2E12-F448-82ED-384C607BA649}"/>
              </a:ext>
            </a:extLst>
          </p:cNvPr>
          <p:cNvSpPr txBox="1"/>
          <p:nvPr/>
        </p:nvSpPr>
        <p:spPr>
          <a:xfrm>
            <a:off x="4318272" y="6383636"/>
            <a:ext cx="514885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12”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610C3D-DCDB-B34B-B311-1845077B1A63}"/>
              </a:ext>
            </a:extLst>
          </p:cNvPr>
          <p:cNvSpPr txBox="1"/>
          <p:nvPr/>
        </p:nvSpPr>
        <p:spPr>
          <a:xfrm>
            <a:off x="7433111" y="4519138"/>
            <a:ext cx="551177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DAT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47A9E-EAA9-9C45-808B-BCFD8E1E9FBC}"/>
              </a:ext>
            </a:extLst>
          </p:cNvPr>
          <p:cNvSpPr txBox="1"/>
          <p:nvPr/>
        </p:nvSpPr>
        <p:spPr>
          <a:xfrm>
            <a:off x="8209858" y="4519138"/>
            <a:ext cx="52450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MD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BB30E6-9C32-664B-9BCB-63A1EB332FE9}"/>
              </a:ext>
            </a:extLst>
          </p:cNvPr>
          <p:cNvSpPr txBox="1"/>
          <p:nvPr/>
        </p:nvSpPr>
        <p:spPr>
          <a:xfrm>
            <a:off x="6584613" y="4510900"/>
            <a:ext cx="574196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DCC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6F03E3-3DC3-FD47-9600-08662B90ACB1}"/>
              </a:ext>
            </a:extLst>
          </p:cNvPr>
          <p:cNvSpPr txBox="1"/>
          <p:nvPr/>
        </p:nvSpPr>
        <p:spPr>
          <a:xfrm>
            <a:off x="8918312" y="4519138"/>
            <a:ext cx="45076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A384F3-805C-2640-8224-156962FFCE92}"/>
              </a:ext>
            </a:extLst>
          </p:cNvPr>
          <p:cNvSpPr txBox="1"/>
          <p:nvPr/>
        </p:nvSpPr>
        <p:spPr>
          <a:xfrm>
            <a:off x="9585577" y="4519138"/>
            <a:ext cx="1116011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Audio File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F74321-5225-B546-BC0C-26991D52D191}"/>
              </a:ext>
            </a:extLst>
          </p:cNvPr>
          <p:cNvSpPr txBox="1"/>
          <p:nvPr/>
        </p:nvSpPr>
        <p:spPr>
          <a:xfrm>
            <a:off x="9626766" y="5351159"/>
            <a:ext cx="675185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.MP3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A4C53A-B2AD-E848-82C8-E8EF8E648EA5}"/>
              </a:ext>
            </a:extLst>
          </p:cNvPr>
          <p:cNvSpPr txBox="1"/>
          <p:nvPr/>
        </p:nvSpPr>
        <p:spPr>
          <a:xfrm>
            <a:off x="10401123" y="5351159"/>
            <a:ext cx="6315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.AAC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BB9B1A-2B79-9940-B18F-D9CFB5F43753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299133" y="4904946"/>
            <a:ext cx="462412" cy="6768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C8B8B5-A4F3-1948-A02B-45F1CD6CA70F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H="1" flipV="1">
            <a:off x="4267200" y="5945660"/>
            <a:ext cx="308515" cy="4379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28377A-CD2E-0D4D-AA3C-8AA4D0C3327B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3903959" y="5956644"/>
            <a:ext cx="248402" cy="42699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49D2F8-60E7-9F4E-8216-3733536A660A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3027822" y="4904946"/>
            <a:ext cx="185712" cy="66863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253098-D8FD-D24B-ACBC-03D17D497D0C}"/>
              </a:ext>
            </a:extLst>
          </p:cNvPr>
          <p:cNvCxnSpPr>
            <a:cxnSpLocks/>
          </p:cNvCxnSpPr>
          <p:nvPr/>
        </p:nvCxnSpPr>
        <p:spPr>
          <a:xfrm flipV="1">
            <a:off x="4086744" y="4904946"/>
            <a:ext cx="462412" cy="6768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3B7EA1A-E9E1-4444-8F46-D9DC6C7041F6}"/>
              </a:ext>
            </a:extLst>
          </p:cNvPr>
          <p:cNvCxnSpPr>
            <a:cxnSpLocks/>
          </p:cNvCxnSpPr>
          <p:nvPr/>
        </p:nvCxnSpPr>
        <p:spPr>
          <a:xfrm flipH="1" flipV="1">
            <a:off x="4815433" y="4904946"/>
            <a:ext cx="185712" cy="66863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D6D77A6-2CA3-F84F-A2C9-AC72B0D5F865}"/>
              </a:ext>
            </a:extLst>
          </p:cNvPr>
          <p:cNvCxnSpPr>
            <a:cxnSpLocks/>
          </p:cNvCxnSpPr>
          <p:nvPr/>
        </p:nvCxnSpPr>
        <p:spPr>
          <a:xfrm flipV="1">
            <a:off x="3073490" y="3636317"/>
            <a:ext cx="442318" cy="8910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80C1737-4F95-6A4A-9025-EB890C0E8EB0}"/>
              </a:ext>
            </a:extLst>
          </p:cNvPr>
          <p:cNvCxnSpPr>
            <a:cxnSpLocks/>
          </p:cNvCxnSpPr>
          <p:nvPr/>
        </p:nvCxnSpPr>
        <p:spPr>
          <a:xfrm flipH="1" flipV="1">
            <a:off x="4086744" y="3636317"/>
            <a:ext cx="543696" cy="89105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5E80C73-E43A-C24B-92DC-34C44BF7BD29}"/>
              </a:ext>
            </a:extLst>
          </p:cNvPr>
          <p:cNvCxnSpPr>
            <a:cxnSpLocks/>
          </p:cNvCxnSpPr>
          <p:nvPr/>
        </p:nvCxnSpPr>
        <p:spPr>
          <a:xfrm flipV="1">
            <a:off x="3831371" y="2508460"/>
            <a:ext cx="2701651" cy="73381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E3EFFE8-671C-F649-95F7-054E260F8564}"/>
              </a:ext>
            </a:extLst>
          </p:cNvPr>
          <p:cNvCxnSpPr>
            <a:cxnSpLocks/>
          </p:cNvCxnSpPr>
          <p:nvPr/>
        </p:nvCxnSpPr>
        <p:spPr>
          <a:xfrm flipH="1" flipV="1">
            <a:off x="6990222" y="2508460"/>
            <a:ext cx="1759138" cy="742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A352580-CFEA-BE4C-92A2-08276D6B7F54}"/>
              </a:ext>
            </a:extLst>
          </p:cNvPr>
          <p:cNvCxnSpPr>
            <a:cxnSpLocks/>
          </p:cNvCxnSpPr>
          <p:nvPr/>
        </p:nvCxnSpPr>
        <p:spPr>
          <a:xfrm flipH="1" flipV="1">
            <a:off x="10363200" y="4874741"/>
            <a:ext cx="308515" cy="4379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BCAFDFA-87CF-894C-B96D-F010AFDFB5B0}"/>
              </a:ext>
            </a:extLst>
          </p:cNvPr>
          <p:cNvCxnSpPr>
            <a:cxnSpLocks/>
          </p:cNvCxnSpPr>
          <p:nvPr/>
        </p:nvCxnSpPr>
        <p:spPr>
          <a:xfrm flipV="1">
            <a:off x="9999959" y="4885725"/>
            <a:ext cx="248402" cy="42699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ECE6ED-852A-9842-90C2-8F143430CFB5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9341343" y="3672702"/>
            <a:ext cx="802240" cy="84643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657BD7D-A896-1343-8228-1AB0CA555B6C}"/>
              </a:ext>
            </a:extLst>
          </p:cNvPr>
          <p:cNvCxnSpPr>
            <a:cxnSpLocks/>
          </p:cNvCxnSpPr>
          <p:nvPr/>
        </p:nvCxnSpPr>
        <p:spPr>
          <a:xfrm flipH="1" flipV="1">
            <a:off x="9047622" y="3667210"/>
            <a:ext cx="136791" cy="8299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528BE6C-424F-2449-B8DA-1DCE6E4965D1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8472110" y="3702216"/>
            <a:ext cx="44973" cy="81692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763114A-5BED-0A4D-98C1-FD2FE2FFDFA7}"/>
              </a:ext>
            </a:extLst>
          </p:cNvPr>
          <p:cNvCxnSpPr>
            <a:cxnSpLocks/>
          </p:cNvCxnSpPr>
          <p:nvPr/>
        </p:nvCxnSpPr>
        <p:spPr>
          <a:xfrm flipV="1">
            <a:off x="7677414" y="3667210"/>
            <a:ext cx="480853" cy="851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EF605FB-105C-0549-9E9D-52CE774439A2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871711" y="3667210"/>
            <a:ext cx="1070055" cy="84369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BC4DA03-F37F-5141-9FE9-EDDB3ACE7834}"/>
              </a:ext>
            </a:extLst>
          </p:cNvPr>
          <p:cNvSpPr txBox="1"/>
          <p:nvPr/>
        </p:nvSpPr>
        <p:spPr>
          <a:xfrm>
            <a:off x="621734" y="1599189"/>
            <a:ext cx="6826805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Q: Create an inheritance hierarchy for something that you can relate 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24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dirty="0"/>
              <a:t>Super and subclasses</a:t>
            </a:r>
          </a:p>
          <a:p>
            <a:pPr lvl="1">
              <a:defRPr/>
            </a:pPr>
            <a:r>
              <a:rPr lang="en-US" dirty="0"/>
              <a:t>Using constructors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/ Collections</a:t>
            </a:r>
          </a:p>
          <a:p>
            <a:pPr lvl="1">
              <a:defRPr/>
            </a:pPr>
            <a:r>
              <a:rPr lang="en-US" dirty="0"/>
              <a:t>Includes casting, wrapper classes, </a:t>
            </a:r>
            <a:r>
              <a:rPr lang="en-US" dirty="0" err="1"/>
              <a:t>autoboxing</a:t>
            </a:r>
            <a:r>
              <a:rPr lang="en-US" dirty="0"/>
              <a:t> /unboxing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1200" y="2327794"/>
            <a:ext cx="8610600" cy="466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66800" y="2370655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944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u="sng" dirty="0"/>
              <a:t>Recap</a:t>
            </a:r>
            <a:r>
              <a:rPr lang="en-US" sz="3600" dirty="0"/>
              <a:t>: Social Network V1 - </a:t>
            </a:r>
            <a:r>
              <a:rPr lang="en-US" sz="3600" b="1" dirty="0"/>
              <a:t>Class diagram</a:t>
            </a:r>
          </a:p>
        </p:txBody>
      </p:sp>
      <p:pic>
        <p:nvPicPr>
          <p:cNvPr id="9220" name="Picture 1" descr="fig8-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1905000"/>
            <a:ext cx="6296025" cy="4496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276600" y="2209800"/>
            <a:ext cx="2133600" cy="990600"/>
          </a:xfrm>
          <a:prstGeom prst="frame">
            <a:avLst>
              <a:gd name="adj1" fmla="val 377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6705600" y="3657601"/>
            <a:ext cx="2057400" cy="914400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6705600" y="4953000"/>
            <a:ext cx="2057400" cy="9906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975498" y="3657601"/>
            <a:ext cx="1466850" cy="4091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050456" y="4876801"/>
            <a:ext cx="765057" cy="9232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6339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Critique of Social Network V1</a:t>
            </a:r>
          </a:p>
        </p:txBody>
      </p:sp>
      <p:sp>
        <p:nvSpPr>
          <p:cNvPr id="176132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15824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Code duplication:</a:t>
            </a:r>
          </a:p>
          <a:p>
            <a:pPr lvl="1" eaLnBrk="1" hangingPunct="1">
              <a:defRPr/>
            </a:pPr>
            <a:r>
              <a:rPr lang="en-GB" b="1" dirty="0" err="1">
                <a:solidFill>
                  <a:srgbClr val="FF0000"/>
                </a:solidFill>
                <a:ea typeface="+mn-ea"/>
              </a:rPr>
              <a:t>MessagePost</a:t>
            </a:r>
            <a:r>
              <a:rPr lang="en-GB" dirty="0">
                <a:ea typeface="+mn-ea"/>
              </a:rPr>
              <a:t> and </a:t>
            </a:r>
            <a:r>
              <a:rPr lang="en-GB" b="1" dirty="0" err="1">
                <a:solidFill>
                  <a:srgbClr val="00B050"/>
                </a:solidFill>
                <a:ea typeface="+mn-ea"/>
              </a:rPr>
              <a:t>PhotoPost</a:t>
            </a:r>
            <a:r>
              <a:rPr lang="en-GB" dirty="0">
                <a:ea typeface="+mn-ea"/>
              </a:rPr>
              <a:t> classes very similar (large parts are identical)</a:t>
            </a:r>
          </a:p>
          <a:p>
            <a:pPr lvl="1" eaLnBrk="1" hangingPunct="1">
              <a:defRPr/>
            </a:pPr>
            <a:r>
              <a:rPr lang="en-GB" dirty="0">
                <a:ea typeface="+mn-ea"/>
              </a:rPr>
              <a:t>makes maintenance difficult/more work</a:t>
            </a:r>
          </a:p>
          <a:p>
            <a:pPr lvl="1" eaLnBrk="1" hangingPunct="1">
              <a:defRPr/>
            </a:pPr>
            <a:r>
              <a:rPr lang="en-GB" dirty="0">
                <a:ea typeface="+mn-ea"/>
              </a:rPr>
              <a:t>introduces danger of bugs through incorrect maintenance</a:t>
            </a:r>
          </a:p>
          <a:p>
            <a:pPr marL="457200" lvl="1" indent="0">
              <a:buNone/>
              <a:defRPr/>
            </a:pPr>
            <a:endParaRPr lang="en-GB" dirty="0">
              <a:ea typeface="+mn-ea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Code duplication in </a:t>
            </a:r>
            <a:r>
              <a:rPr lang="en-GB" b="1" dirty="0" err="1">
                <a:solidFill>
                  <a:srgbClr val="0070C0"/>
                </a:solidFill>
                <a:ea typeface="+mn-ea"/>
                <a:cs typeface="+mn-cs"/>
              </a:rPr>
              <a:t>NewsFeed</a:t>
            </a:r>
            <a:r>
              <a:rPr lang="en-GB" dirty="0">
                <a:ea typeface="+mn-ea"/>
                <a:cs typeface="+mn-cs"/>
              </a:rPr>
              <a:t> class as well.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8825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/>
              <a:t>Social Network V2 - </a:t>
            </a:r>
            <a:r>
              <a:rPr lang="en-US" sz="4000" b="1" dirty="0"/>
              <a:t>Class</a:t>
            </a:r>
            <a:r>
              <a:rPr lang="en-US" sz="4000" dirty="0"/>
              <a:t> diagram</a:t>
            </a:r>
          </a:p>
        </p:txBody>
      </p:sp>
      <p:pic>
        <p:nvPicPr>
          <p:cNvPr id="33796" name="Picture 1" descr="fig8-unused-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1557339"/>
            <a:ext cx="5507038" cy="428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886200" y="1752600"/>
            <a:ext cx="1676400" cy="990600"/>
          </a:xfrm>
          <a:prstGeom prst="frame">
            <a:avLst>
              <a:gd name="adj1" fmla="val 377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5105400" y="4572000"/>
            <a:ext cx="1600200" cy="857704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7162800" y="4572000"/>
            <a:ext cx="1600200" cy="857704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6096000" y="2971800"/>
            <a:ext cx="1676400" cy="9144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203031" y="5800034"/>
            <a:ext cx="1466850" cy="4091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580372" y="5806169"/>
            <a:ext cx="765057" cy="923233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9082088" y="118610"/>
            <a:ext cx="1412742" cy="1214401"/>
            <a:chOff x="7300216" y="129483"/>
            <a:chExt cx="1412742" cy="1214401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00216" y="129483"/>
              <a:ext cx="1412742" cy="1214401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300216" y="129483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v2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7170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NetworkV2 - Using </a:t>
            </a:r>
            <a:r>
              <a:rPr lang="en-US" b="1" dirty="0">
                <a:ea typeface="+mj-ea"/>
                <a:cs typeface="+mj-cs"/>
              </a:rPr>
              <a:t>inheritance</a:t>
            </a:r>
          </a:p>
        </p:txBody>
      </p:sp>
      <p:pic>
        <p:nvPicPr>
          <p:cNvPr id="4" name="Picture 1" descr="fig8-5.png">
            <a:extLst>
              <a:ext uri="{FF2B5EF4-FFF2-40B4-BE49-F238E27FC236}">
                <a16:creationId xmlns:a16="http://schemas.microsoft.com/office/drawing/2014/main" id="{8D51D7C5-D82D-43ED-83F0-55D045B75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566" y="1728185"/>
            <a:ext cx="4575175" cy="469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ame 5"/>
          <p:cNvSpPr/>
          <p:nvPr/>
        </p:nvSpPr>
        <p:spPr>
          <a:xfrm>
            <a:off x="4038600" y="4860322"/>
            <a:ext cx="1524000" cy="930879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6553200" y="4844534"/>
            <a:ext cx="1600940" cy="1327666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5257800" y="1828800"/>
            <a:ext cx="1600200" cy="22098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0156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NetworkV2 - Using </a:t>
            </a:r>
            <a:r>
              <a:rPr lang="en-US" b="1" dirty="0">
                <a:ea typeface="+mj-ea"/>
                <a:cs typeface="+mj-cs"/>
              </a:rPr>
              <a:t>inheritance</a:t>
            </a:r>
          </a:p>
        </p:txBody>
      </p:sp>
      <p:pic>
        <p:nvPicPr>
          <p:cNvPr id="14340" name="Picture 1" descr="fig8-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966" y="1728185"/>
            <a:ext cx="4575175" cy="469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9600" y="1905000"/>
            <a:ext cx="12192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b="1" dirty="0"/>
              <a:t>Super</a:t>
            </a:r>
            <a:r>
              <a:rPr lang="en-IE" dirty="0"/>
              <a:t>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332561"/>
            <a:ext cx="12192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b="1" dirty="0"/>
              <a:t>Sub</a:t>
            </a:r>
            <a:r>
              <a:rPr lang="en-IE" dirty="0"/>
              <a:t>classes</a:t>
            </a:r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>
            <a:off x="1828800" y="2089666"/>
            <a:ext cx="16764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752600" y="5410201"/>
            <a:ext cx="457200" cy="92236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91200" y="2425869"/>
            <a:ext cx="2209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b="1" dirty="0"/>
              <a:t>Common attributes</a:t>
            </a:r>
          </a:p>
        </p:txBody>
      </p:sp>
      <p:sp>
        <p:nvSpPr>
          <p:cNvPr id="7" name="Right Brace 6"/>
          <p:cNvSpPr/>
          <p:nvPr/>
        </p:nvSpPr>
        <p:spPr>
          <a:xfrm>
            <a:off x="5105400" y="2249270"/>
            <a:ext cx="685800" cy="722531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TextBox 11"/>
          <p:cNvSpPr txBox="1"/>
          <p:nvPr/>
        </p:nvSpPr>
        <p:spPr>
          <a:xfrm>
            <a:off x="7091855" y="5068669"/>
            <a:ext cx="3733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Inherit </a:t>
            </a:r>
            <a:r>
              <a:rPr lang="en-IE" b="1" dirty="0"/>
              <a:t>superclass attributes </a:t>
            </a:r>
          </a:p>
          <a:p>
            <a:r>
              <a:rPr lang="en-IE" dirty="0"/>
              <a:t>and add their own </a:t>
            </a:r>
            <a:r>
              <a:rPr lang="en-IE" b="1" dirty="0"/>
              <a:t>specific attributes</a:t>
            </a:r>
            <a:r>
              <a:rPr lang="en-IE" dirty="0"/>
              <a:t>.</a:t>
            </a:r>
          </a:p>
        </p:txBody>
      </p:sp>
      <p:sp>
        <p:nvSpPr>
          <p:cNvPr id="13" name="Right Brace 12"/>
          <p:cNvSpPr/>
          <p:nvPr/>
        </p:nvSpPr>
        <p:spPr>
          <a:xfrm>
            <a:off x="6400800" y="5144870"/>
            <a:ext cx="685800" cy="493931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TextBox 13"/>
          <p:cNvSpPr txBox="1"/>
          <p:nvPr/>
        </p:nvSpPr>
        <p:spPr>
          <a:xfrm>
            <a:off x="3846024" y="4335716"/>
            <a:ext cx="95457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b="1" dirty="0"/>
              <a:t>extends</a:t>
            </a:r>
          </a:p>
        </p:txBody>
      </p:sp>
      <p:sp>
        <p:nvSpPr>
          <p:cNvPr id="15" name="Frame 14"/>
          <p:cNvSpPr/>
          <p:nvPr/>
        </p:nvSpPr>
        <p:spPr>
          <a:xfrm>
            <a:off x="2286000" y="4860322"/>
            <a:ext cx="1524000" cy="930879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Frame 15"/>
          <p:cNvSpPr/>
          <p:nvPr/>
        </p:nvSpPr>
        <p:spPr>
          <a:xfrm>
            <a:off x="4876800" y="4844534"/>
            <a:ext cx="1524000" cy="1280994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Frame 16"/>
          <p:cNvSpPr/>
          <p:nvPr/>
        </p:nvSpPr>
        <p:spPr>
          <a:xfrm>
            <a:off x="3505200" y="1905001"/>
            <a:ext cx="1600200" cy="2133823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752230" y="6125528"/>
            <a:ext cx="3048370" cy="53060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434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animBg="1"/>
      <p:bldP spid="7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/>
              <a:t>Social Network V2 </a:t>
            </a:r>
            <a:r>
              <a:rPr lang="en-US" sz="3600" dirty="0"/>
              <a:t>– Inheritance Summary</a:t>
            </a:r>
          </a:p>
        </p:txBody>
      </p:sp>
      <p:sp>
        <p:nvSpPr>
          <p:cNvPr id="179204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458200" cy="5257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define one </a:t>
            </a:r>
            <a:r>
              <a:rPr lang="en-GB" b="1" dirty="0">
                <a:solidFill>
                  <a:srgbClr val="CD2626"/>
                </a:solidFill>
                <a:ea typeface="+mn-ea"/>
                <a:cs typeface="+mn-cs"/>
              </a:rPr>
              <a:t>superclass</a:t>
            </a:r>
            <a:endParaRPr lang="en-GB" b="1" dirty="0"/>
          </a:p>
          <a:p>
            <a:pPr lvl="1">
              <a:defRPr/>
            </a:pPr>
            <a:r>
              <a:rPr lang="en-GB" b="1" dirty="0">
                <a:latin typeface="Courier New"/>
                <a:ea typeface="+mn-ea"/>
                <a:cs typeface="Courier New"/>
              </a:rPr>
              <a:t>Post</a:t>
            </a:r>
            <a:br>
              <a:rPr lang="en-GB" b="1" dirty="0">
                <a:latin typeface="Courier New"/>
                <a:ea typeface="+mn-ea"/>
                <a:cs typeface="Courier New"/>
              </a:rPr>
            </a:br>
            <a:endParaRPr lang="en-GB" b="1" dirty="0">
              <a:latin typeface="Courier New"/>
              <a:ea typeface="+mn-ea"/>
              <a:cs typeface="Courier New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define </a:t>
            </a:r>
            <a:r>
              <a:rPr lang="en-GB" b="1" dirty="0">
                <a:solidFill>
                  <a:srgbClr val="CD2626"/>
                </a:solidFill>
                <a:ea typeface="+mn-ea"/>
                <a:cs typeface="+mn-cs"/>
              </a:rPr>
              <a:t>subclasses</a:t>
            </a:r>
            <a:r>
              <a:rPr lang="en-GB" dirty="0">
                <a:ea typeface="+mn-ea"/>
                <a:cs typeface="+mn-cs"/>
              </a:rPr>
              <a:t> for </a:t>
            </a:r>
          </a:p>
          <a:p>
            <a:pPr lvl="1">
              <a:defRPr/>
            </a:pPr>
            <a:r>
              <a:rPr lang="en-GB" b="1" dirty="0" err="1">
                <a:solidFill>
                  <a:srgbClr val="FF0000"/>
                </a:solidFill>
                <a:latin typeface="Courier New"/>
                <a:ea typeface="+mn-ea"/>
                <a:cs typeface="Courier New"/>
              </a:rPr>
              <a:t>MessagePost</a:t>
            </a:r>
            <a:r>
              <a:rPr lang="en-GB" dirty="0">
                <a:ea typeface="+mn-ea"/>
                <a:cs typeface="+mn-cs"/>
              </a:rPr>
              <a:t> </a:t>
            </a:r>
          </a:p>
          <a:p>
            <a:pPr lvl="1">
              <a:defRPr/>
            </a:pPr>
            <a:r>
              <a:rPr lang="en-GB" b="1" dirty="0" err="1">
                <a:solidFill>
                  <a:srgbClr val="00B050"/>
                </a:solidFill>
                <a:latin typeface="Courier New"/>
                <a:ea typeface="+mn-ea"/>
                <a:cs typeface="Courier New"/>
              </a:rPr>
              <a:t>PhotoPost</a:t>
            </a:r>
            <a:br>
              <a:rPr lang="en-GB" b="1" dirty="0">
                <a:latin typeface="Courier New"/>
                <a:ea typeface="+mn-ea"/>
                <a:cs typeface="Courier New"/>
              </a:rPr>
            </a:br>
            <a:endParaRPr lang="en-GB" b="1" dirty="0">
              <a:latin typeface="Courier New"/>
              <a:ea typeface="+mn-ea"/>
              <a:cs typeface="Courier New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the </a:t>
            </a:r>
            <a:r>
              <a:rPr lang="en-GB" b="1" dirty="0">
                <a:ea typeface="+mn-ea"/>
                <a:cs typeface="+mn-cs"/>
              </a:rPr>
              <a:t>super</a:t>
            </a:r>
            <a:r>
              <a:rPr lang="en-GB" dirty="0">
                <a:ea typeface="+mn-ea"/>
                <a:cs typeface="+mn-cs"/>
              </a:rPr>
              <a:t>class </a:t>
            </a:r>
          </a:p>
          <a:p>
            <a:pPr lvl="1">
              <a:defRPr/>
            </a:pPr>
            <a:r>
              <a:rPr lang="en-GB" dirty="0">
                <a:ea typeface="+mn-ea"/>
                <a:cs typeface="+mn-cs"/>
              </a:rPr>
              <a:t>defines </a:t>
            </a:r>
            <a:r>
              <a:rPr lang="en-GB" u="sng" dirty="0">
                <a:ea typeface="+mn-ea"/>
                <a:cs typeface="+mn-cs"/>
              </a:rPr>
              <a:t>common</a:t>
            </a:r>
            <a:r>
              <a:rPr lang="en-GB" dirty="0">
                <a:ea typeface="+mn-ea"/>
                <a:cs typeface="+mn-cs"/>
              </a:rPr>
              <a:t> attributes (via fields)</a:t>
            </a:r>
            <a:br>
              <a:rPr lang="en-GB" dirty="0">
                <a:ea typeface="+mn-ea"/>
                <a:cs typeface="+mn-cs"/>
              </a:rPr>
            </a:b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the </a:t>
            </a:r>
            <a:r>
              <a:rPr lang="en-GB" b="1" dirty="0">
                <a:ea typeface="+mn-ea"/>
                <a:cs typeface="+mn-cs"/>
              </a:rPr>
              <a:t>sub</a:t>
            </a:r>
            <a:r>
              <a:rPr lang="en-GB" dirty="0">
                <a:ea typeface="+mn-ea"/>
                <a:cs typeface="+mn-cs"/>
              </a:rPr>
              <a:t>classes </a:t>
            </a:r>
          </a:p>
          <a:p>
            <a:pPr lvl="1">
              <a:defRPr/>
            </a:pPr>
            <a:r>
              <a:rPr lang="en-GB" b="1" dirty="0">
                <a:solidFill>
                  <a:srgbClr val="CD2626"/>
                </a:solidFill>
                <a:ea typeface="+mn-ea"/>
                <a:cs typeface="+mn-cs"/>
              </a:rPr>
              <a:t>inherit</a:t>
            </a:r>
            <a:r>
              <a:rPr lang="en-GB" dirty="0">
                <a:ea typeface="+mn-ea"/>
                <a:cs typeface="+mn-cs"/>
              </a:rPr>
              <a:t> the superclass attributes (fields)</a:t>
            </a:r>
          </a:p>
          <a:p>
            <a:pPr lvl="1">
              <a:defRPr/>
            </a:pPr>
            <a:r>
              <a:rPr lang="en-GB" dirty="0">
                <a:ea typeface="+mn-ea"/>
                <a:cs typeface="+mn-cs"/>
              </a:rPr>
              <a:t>add other specific attributes (fields)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455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b="1" dirty="0"/>
              <a:t>Super</a:t>
            </a:r>
            <a:r>
              <a:rPr lang="en-US" dirty="0"/>
              <a:t> and </a:t>
            </a:r>
            <a:r>
              <a:rPr lang="en-US" b="1" dirty="0"/>
              <a:t>subclasses</a:t>
            </a:r>
          </a:p>
          <a:p>
            <a:pPr lvl="1">
              <a:defRPr/>
            </a:pPr>
            <a:r>
              <a:rPr lang="en-US" dirty="0"/>
              <a:t>Using </a:t>
            </a:r>
            <a:r>
              <a:rPr lang="en-US" b="1" dirty="0"/>
              <a:t>constructors</a:t>
            </a:r>
            <a:r>
              <a:rPr lang="en-US" dirty="0"/>
              <a:t>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/ Collections</a:t>
            </a:r>
          </a:p>
          <a:p>
            <a:pPr lvl="1">
              <a:defRPr/>
            </a:pPr>
            <a:r>
              <a:rPr lang="en-US" dirty="0"/>
              <a:t>Includes casting, wrapper classes, </a:t>
            </a:r>
            <a:r>
              <a:rPr lang="en-US" dirty="0" err="1"/>
              <a:t>autoboxing</a:t>
            </a:r>
            <a:r>
              <a:rPr lang="en-US" dirty="0"/>
              <a:t> /unboxing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1200" y="2751656"/>
            <a:ext cx="8610600" cy="105834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01486" y="2751655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46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Inheritance in Java - </a:t>
            </a:r>
            <a:r>
              <a:rPr lang="en-US" b="1" dirty="0">
                <a:ea typeface="+mj-ea"/>
                <a:cs typeface="+mj-cs"/>
              </a:rPr>
              <a:t>extends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5283199" y="1919004"/>
            <a:ext cx="2540000" cy="1200150"/>
          </a:xfrm>
          <a:prstGeom prst="rect">
            <a:avLst/>
          </a:prstGeom>
          <a:solidFill>
            <a:srgbClr val="FED6A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sz="1800" noProof="1"/>
              <a:t>public class </a:t>
            </a:r>
            <a:r>
              <a:rPr lang="en-GB" sz="1800" noProof="1"/>
              <a:t>Post</a:t>
            </a: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...</a:t>
            </a:r>
            <a:endParaRPr sz="1800" i="1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}</a:t>
            </a:r>
            <a:endParaRPr lang="en-GB" sz="1800" dirty="0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24751" y="4737096"/>
            <a:ext cx="5310188" cy="1200150"/>
          </a:xfrm>
          <a:prstGeom prst="rect">
            <a:avLst/>
          </a:prstGeom>
          <a:solidFill>
            <a:srgbClr val="FED6A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sz="1800" b="0" noProof="1"/>
              <a:t>public class </a:t>
            </a:r>
            <a:r>
              <a:rPr lang="en-GB" sz="1800" noProof="1">
                <a:solidFill>
                  <a:srgbClr val="FF0000"/>
                </a:solidFill>
              </a:rPr>
              <a:t>MessagePost</a:t>
            </a:r>
            <a:r>
              <a:rPr lang="en-GB" sz="1800" b="0" noProof="1"/>
              <a:t> </a:t>
            </a:r>
            <a:r>
              <a:rPr sz="1800" noProof="1"/>
              <a:t>extends </a:t>
            </a:r>
            <a:r>
              <a:rPr lang="en-GB" sz="1800" noProof="1"/>
              <a:t>Post</a:t>
            </a: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...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}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858000" y="4669742"/>
            <a:ext cx="5067300" cy="1200150"/>
          </a:xfrm>
          <a:prstGeom prst="rect">
            <a:avLst/>
          </a:prstGeom>
          <a:solidFill>
            <a:srgbClr val="FED6A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sz="1800" b="0" noProof="1"/>
              <a:t>public class </a:t>
            </a:r>
            <a:r>
              <a:rPr lang="en-GB" sz="1800" dirty="0" err="1">
                <a:solidFill>
                  <a:srgbClr val="00B050"/>
                </a:solidFill>
              </a:rPr>
              <a:t>PhotoPost</a:t>
            </a:r>
            <a:r>
              <a:rPr lang="en-GB" sz="1800" b="0" dirty="0">
                <a:solidFill>
                  <a:srgbClr val="00B050"/>
                </a:solidFill>
              </a:rPr>
              <a:t> </a:t>
            </a:r>
            <a:r>
              <a:rPr sz="1800" noProof="1"/>
              <a:t>extends </a:t>
            </a:r>
            <a:r>
              <a:rPr lang="en-GB" sz="1800" noProof="1"/>
              <a:t>Post</a:t>
            </a: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..</a:t>
            </a:r>
            <a:r>
              <a:rPr sz="1800" i="1" noProof="1"/>
              <a:t>.</a:t>
            </a: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}</a:t>
            </a: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 flipV="1">
            <a:off x="2940050" y="3181350"/>
            <a:ext cx="2540000" cy="15557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 flipV="1">
            <a:off x="7696200" y="3181350"/>
            <a:ext cx="1367024" cy="14872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8248194" y="1842294"/>
            <a:ext cx="233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2400" b="0" dirty="0">
                <a:latin typeface="+mn-lt"/>
              </a:rPr>
              <a:t>no change here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653276" y="3620520"/>
            <a:ext cx="1966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GB" sz="2400" b="0" dirty="0">
                <a:latin typeface="+mn-lt"/>
              </a:rPr>
              <a:t>change here</a:t>
            </a:r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7823199" y="2073277"/>
            <a:ext cx="424993" cy="68035"/>
          </a:xfrm>
          <a:prstGeom prst="line">
            <a:avLst/>
          </a:prstGeom>
          <a:noFill/>
          <a:ln w="28575">
            <a:solidFill>
              <a:srgbClr val="CD262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Donut 12"/>
          <p:cNvSpPr/>
          <p:nvPr/>
        </p:nvSpPr>
        <p:spPr>
          <a:xfrm flipV="1">
            <a:off x="9977624" y="4558507"/>
            <a:ext cx="1947189" cy="57850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Donut 13"/>
          <p:cNvSpPr/>
          <p:nvPr/>
        </p:nvSpPr>
        <p:spPr>
          <a:xfrm flipV="1">
            <a:off x="3655338" y="4668608"/>
            <a:ext cx="1879601" cy="495467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" name="Straight Connector 2"/>
          <p:cNvCxnSpPr>
            <a:cxnSpLocks/>
            <a:stCxn id="17419" idx="2"/>
            <a:endCxn id="14" idx="4"/>
          </p:cNvCxnSpPr>
          <p:nvPr/>
        </p:nvCxnSpPr>
        <p:spPr>
          <a:xfrm flipH="1">
            <a:off x="4595139" y="4082185"/>
            <a:ext cx="2041532" cy="5864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/>
            <a:stCxn id="17419" idx="2"/>
            <a:endCxn id="13" idx="4"/>
          </p:cNvCxnSpPr>
          <p:nvPr/>
        </p:nvCxnSpPr>
        <p:spPr>
          <a:xfrm>
            <a:off x="6636671" y="4082185"/>
            <a:ext cx="4314548" cy="4763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6361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17414" grpId="0" animBg="1"/>
      <p:bldP spid="17415" grpId="0" animBg="1"/>
      <p:bldP spid="17416" grpId="0" animBg="1"/>
      <p:bldP spid="17418" grpId="0"/>
      <p:bldP spid="17419" grpId="0"/>
      <p:bldP spid="17420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Super</a:t>
            </a:r>
            <a:r>
              <a:rPr lang="en-US" dirty="0">
                <a:ea typeface="+mj-ea"/>
                <a:cs typeface="+mj-cs"/>
              </a:rPr>
              <a:t>class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3071813" y="2243138"/>
            <a:ext cx="6386512" cy="286226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noProof="1"/>
              <a:t>public class </a:t>
            </a:r>
            <a:r>
              <a:rPr lang="en-GB" noProof="1"/>
              <a:t>Post</a:t>
            </a: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private String </a:t>
            </a:r>
            <a:r>
              <a:rPr lang="en-GB" noProof="1"/>
              <a:t>username</a:t>
            </a:r>
            <a:r>
              <a:rPr noProof="1"/>
              <a:t>;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private </a:t>
            </a:r>
            <a:r>
              <a:rPr lang="en-GB" noProof="1"/>
              <a:t>long timestamp</a:t>
            </a:r>
            <a:r>
              <a:rPr noProof="1"/>
              <a:t>;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private </a:t>
            </a:r>
            <a:r>
              <a:rPr lang="en-GB" noProof="1"/>
              <a:t>int likes</a:t>
            </a:r>
            <a:r>
              <a:rPr noProof="1"/>
              <a:t>;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private </a:t>
            </a:r>
            <a:r>
              <a:rPr lang="en-GB" noProof="1"/>
              <a:t>ArrayList&lt;</a:t>
            </a:r>
            <a:r>
              <a:rPr noProof="1"/>
              <a:t>String</a:t>
            </a:r>
            <a:r>
              <a:rPr lang="en-GB" noProof="1"/>
              <a:t>&gt;</a:t>
            </a:r>
            <a:r>
              <a:rPr noProof="1"/>
              <a:t> comment</a:t>
            </a:r>
            <a:r>
              <a:rPr lang="en-GB" noProof="1"/>
              <a:t>s</a:t>
            </a:r>
            <a:r>
              <a:rPr noProof="1"/>
              <a:t>;</a:t>
            </a:r>
          </a:p>
          <a:p>
            <a:pPr>
              <a:spcBef>
                <a:spcPct val="0"/>
              </a:spcBef>
              <a:defRPr/>
            </a:pP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    </a:t>
            </a:r>
            <a:r>
              <a:rPr i="1" noProof="1">
                <a:solidFill>
                  <a:schemeClr val="bg1">
                    <a:lumMod val="50000"/>
                  </a:schemeClr>
                </a:solidFill>
              </a:rPr>
              <a:t>// constructor and methods omitted.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}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647E6-5A2B-5545-8498-282D2D736941}"/>
              </a:ext>
            </a:extLst>
          </p:cNvPr>
          <p:cNvSpPr txBox="1"/>
          <p:nvPr/>
        </p:nvSpPr>
        <p:spPr>
          <a:xfrm>
            <a:off x="152400" y="6400800"/>
            <a:ext cx="376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ea typeface="ＭＳ Ｐゴシック" charset="0"/>
              </a:rPr>
              <a:t>we define common fields in superclass</a:t>
            </a:r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884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Sub</a:t>
            </a:r>
            <a:r>
              <a:rPr lang="en-US" dirty="0">
                <a:ea typeface="+mj-ea"/>
                <a:cs typeface="+mj-cs"/>
              </a:rPr>
              <a:t>classes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3870325" y="1600200"/>
            <a:ext cx="6340475" cy="1938338"/>
          </a:xfrm>
          <a:prstGeom prst="rect">
            <a:avLst/>
          </a:prstGeom>
          <a:solidFill>
            <a:srgbClr val="FF0000"/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noProof="1"/>
              <a:t>public class </a:t>
            </a:r>
            <a:r>
              <a:rPr lang="en-GB" noProof="1">
                <a:highlight>
                  <a:srgbClr val="FFFF00"/>
                </a:highlight>
              </a:rPr>
              <a:t>MessagePost</a:t>
            </a:r>
            <a:r>
              <a:rPr noProof="1"/>
              <a:t> extends </a:t>
            </a:r>
            <a:r>
              <a:rPr lang="en-GB" noProof="1"/>
              <a:t>Post</a:t>
            </a: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private String </a:t>
            </a:r>
            <a:r>
              <a:rPr lang="en-GB" noProof="1"/>
              <a:t>message</a:t>
            </a:r>
            <a:r>
              <a:rPr noProof="1"/>
              <a:t>;</a:t>
            </a:r>
          </a:p>
          <a:p>
            <a:pPr>
              <a:spcBef>
                <a:spcPct val="0"/>
              </a:spcBef>
              <a:defRPr/>
            </a:pP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    </a:t>
            </a:r>
            <a:r>
              <a:rPr i="1" noProof="1">
                <a:solidFill>
                  <a:schemeClr val="bg1">
                    <a:lumMod val="85000"/>
                  </a:schemeClr>
                </a:solidFill>
              </a:rPr>
              <a:t>// constructor and methods omitted.</a:t>
            </a:r>
            <a:endParaRPr noProof="1">
              <a:solidFill>
                <a:schemeClr val="bg1">
                  <a:lumMod val="85000"/>
                </a:schemeClr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noProof="1"/>
              <a:t>}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3870325" y="4191001"/>
            <a:ext cx="6340475" cy="2246313"/>
          </a:xfrm>
          <a:prstGeom prst="rect">
            <a:avLst/>
          </a:prstGeom>
          <a:solidFill>
            <a:srgbClr val="00B050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noProof="1"/>
              <a:t>public class </a:t>
            </a:r>
            <a:r>
              <a:rPr lang="en-GB" dirty="0" err="1">
                <a:highlight>
                  <a:srgbClr val="FFFF00"/>
                </a:highlight>
              </a:rPr>
              <a:t>PhotoPost</a:t>
            </a:r>
            <a:r>
              <a:rPr lang="en-GB" dirty="0"/>
              <a:t> </a:t>
            </a:r>
            <a:r>
              <a:rPr noProof="1"/>
              <a:t>extends </a:t>
            </a:r>
            <a:r>
              <a:rPr lang="en-GB" noProof="1"/>
              <a:t>Post</a:t>
            </a: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private String </a:t>
            </a:r>
            <a:r>
              <a:rPr lang="en-GB" noProof="1"/>
              <a:t>filename</a:t>
            </a:r>
            <a:r>
              <a:rPr noProof="1"/>
              <a:t>;</a:t>
            </a:r>
            <a:endParaRPr lang="en-GB" noProof="1"/>
          </a:p>
          <a:p>
            <a:pPr>
              <a:spcBef>
                <a:spcPct val="0"/>
              </a:spcBef>
              <a:defRPr/>
            </a:pPr>
            <a:r>
              <a:rPr lang="en-GB" noProof="1"/>
              <a:t>    private String caption;</a:t>
            </a:r>
            <a:endParaRPr noProof="1"/>
          </a:p>
          <a:p>
            <a:pPr>
              <a:spcBef>
                <a:spcPct val="0"/>
              </a:spcBef>
              <a:defRPr/>
            </a:pP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    </a:t>
            </a:r>
            <a:r>
              <a:rPr i="1" noProof="1">
                <a:solidFill>
                  <a:schemeClr val="bg1">
                    <a:lumMod val="85000"/>
                  </a:schemeClr>
                </a:solidFill>
              </a:rPr>
              <a:t>// constructor and methods omitted.</a:t>
            </a:r>
            <a:endParaRPr noProof="1">
              <a:solidFill>
                <a:schemeClr val="bg1">
                  <a:lumMod val="85000"/>
                </a:schemeClr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noProof="1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4DCFA8-EB9D-B943-B85A-EA30753531B7}"/>
              </a:ext>
            </a:extLst>
          </p:cNvPr>
          <p:cNvSpPr txBox="1"/>
          <p:nvPr/>
        </p:nvSpPr>
        <p:spPr>
          <a:xfrm>
            <a:off x="168043" y="6060142"/>
            <a:ext cx="3626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400" dirty="0">
                <a:latin typeface="+mj-lt"/>
                <a:ea typeface="ＭＳ Ｐゴシック" charset="0"/>
              </a:rPr>
              <a:t>we add subclass fields; inherit superclass fields </a:t>
            </a:r>
          </a:p>
          <a:p>
            <a:pPr>
              <a:defRPr/>
            </a:pPr>
            <a:r>
              <a:rPr lang="en-GB" sz="1400" dirty="0">
                <a:latin typeface="+mj-lt"/>
                <a:ea typeface="ＭＳ Ｐゴシック" charset="0"/>
              </a:rPr>
              <a:t>subclass objects will have all fields</a:t>
            </a:r>
            <a:endParaRPr lang="en-GB" sz="1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5668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5410200" y="180428"/>
            <a:ext cx="6694488" cy="563245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sz="1800" noProof="1"/>
              <a:t>public class </a:t>
            </a:r>
            <a:r>
              <a:rPr lang="en-GB" sz="1800" noProof="1"/>
              <a:t>Post</a:t>
            </a: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lang="en-US" sz="1800" noProof="1"/>
              <a:t>    private String username;</a:t>
            </a:r>
          </a:p>
          <a:p>
            <a:pPr>
              <a:spcBef>
                <a:spcPct val="0"/>
              </a:spcBef>
              <a:defRPr/>
            </a:pPr>
            <a:r>
              <a:rPr lang="en-US" sz="1800" noProof="1"/>
              <a:t>    private long timestamp;</a:t>
            </a:r>
          </a:p>
          <a:p>
            <a:pPr>
              <a:spcBef>
                <a:spcPct val="0"/>
              </a:spcBef>
              <a:defRPr/>
            </a:pPr>
            <a:r>
              <a:rPr lang="en-US" sz="1800" noProof="1"/>
              <a:t>    private int likes;</a:t>
            </a:r>
          </a:p>
          <a:p>
            <a:pPr>
              <a:spcBef>
                <a:spcPct val="0"/>
              </a:spcBef>
              <a:defRPr/>
            </a:pPr>
            <a:r>
              <a:rPr lang="en-US" sz="1800" noProof="1"/>
              <a:t>    private ArrayList&lt;String&gt; comments;</a:t>
            </a:r>
          </a:p>
          <a:p>
            <a:pPr>
              <a:spcBef>
                <a:spcPct val="0"/>
              </a:spcBef>
              <a:defRPr/>
            </a:pP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 * Initialise the fields of the </a:t>
            </a:r>
            <a:r>
              <a:rPr lang="en-GB" sz="1800" noProof="1">
                <a:solidFill>
                  <a:schemeClr val="bg1">
                    <a:lumMod val="50000"/>
                  </a:schemeClr>
                </a:solidFill>
              </a:rPr>
              <a:t>post</a:t>
            </a: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public </a:t>
            </a:r>
            <a:r>
              <a:rPr lang="en-GB" sz="1800" noProof="1"/>
              <a:t>Post</a:t>
            </a:r>
            <a:r>
              <a:rPr sz="1800" noProof="1"/>
              <a:t>(String </a:t>
            </a:r>
            <a:r>
              <a:rPr lang="en-GB" sz="1800" noProof="1"/>
              <a:t>author</a:t>
            </a:r>
            <a:r>
              <a:rPr sz="1800" noProof="1"/>
              <a:t>)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    </a:t>
            </a:r>
            <a:r>
              <a:rPr lang="en-GB" sz="1800" noProof="1"/>
              <a:t>username = author</a:t>
            </a:r>
            <a:r>
              <a:rPr sz="1800" noProof="1"/>
              <a:t>;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    </a:t>
            </a:r>
            <a:r>
              <a:rPr lang="en-GB" sz="1800" noProof="1"/>
              <a:t>timestamp = System.currentTimeMillis()</a:t>
            </a:r>
            <a:r>
              <a:rPr sz="1800" noProof="1"/>
              <a:t>;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    </a:t>
            </a:r>
            <a:r>
              <a:rPr lang="en-GB" sz="1800" noProof="1"/>
              <a:t>likes = 0</a:t>
            </a:r>
            <a:r>
              <a:rPr sz="1800" noProof="1"/>
              <a:t>;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    comment</a:t>
            </a:r>
            <a:r>
              <a:rPr lang="en-GB" sz="1800" noProof="1"/>
              <a:t>s</a:t>
            </a:r>
            <a:r>
              <a:rPr sz="1800" noProof="1"/>
              <a:t> = </a:t>
            </a:r>
            <a:r>
              <a:rPr lang="en-GB" sz="1800" noProof="1"/>
              <a:t>new ArrayList&lt;String&gt;()</a:t>
            </a:r>
            <a:r>
              <a:rPr sz="1800" noProof="1"/>
              <a:t>;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}</a:t>
            </a:r>
          </a:p>
          <a:p>
            <a:pPr>
              <a:spcBef>
                <a:spcPct val="0"/>
              </a:spcBef>
              <a:defRPr/>
            </a:pP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sz="1800" i="1" noProof="1">
                <a:solidFill>
                  <a:schemeClr val="bg1">
                    <a:lumMod val="50000"/>
                  </a:schemeClr>
                </a:solidFill>
              </a:rPr>
              <a:t>// methods omitted</a:t>
            </a:r>
            <a:endParaRPr sz="1800" noProof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sz="1800" noProof="1"/>
              <a:t>}</a:t>
            </a: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28600" y="180428"/>
            <a:ext cx="5029200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Trebuchet MS" charset="0"/>
                <a:ea typeface="MS PGothic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Trebuchet MS" charset="0"/>
                <a:ea typeface="MS PGothic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Trebuchet MS" charset="0"/>
                <a:ea typeface="MS PGothic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Trebuchet MS" charset="0"/>
                <a:ea typeface="MS PGothic" pitchFamily="34" charset="-128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A57133"/>
                </a:solidFill>
                <a:latin typeface="Trebuchet MS" charset="0"/>
                <a:ea typeface="ＭＳ Ｐゴシック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A57133"/>
                </a:solidFill>
                <a:latin typeface="Trebuchet MS" charset="0"/>
                <a:ea typeface="ＭＳ Ｐゴシック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A57133"/>
                </a:solidFill>
                <a:latin typeface="Trebuchet MS" charset="0"/>
                <a:ea typeface="ＭＳ Ｐゴシック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A57133"/>
                </a:solidFill>
                <a:latin typeface="Trebuchet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3200" kern="0" dirty="0">
                <a:solidFill>
                  <a:schemeClr val="tx1"/>
                </a:solidFill>
                <a:ea typeface="+mj-ea"/>
                <a:cs typeface="+mj-cs"/>
              </a:rPr>
              <a:t>Inheritance and Constructors </a:t>
            </a:r>
          </a:p>
          <a:p>
            <a:pPr eaLnBrk="1" hangingPunct="1">
              <a:defRPr/>
            </a:pPr>
            <a:r>
              <a:rPr lang="en-GB" sz="3200" kern="0" dirty="0">
                <a:solidFill>
                  <a:schemeClr val="tx1"/>
                </a:solidFill>
                <a:ea typeface="+mj-ea"/>
                <a:cs typeface="+mj-cs"/>
              </a:rPr>
              <a:t>- </a:t>
            </a:r>
            <a:r>
              <a:rPr lang="en-GB" sz="3200" b="1" kern="0" dirty="0">
                <a:solidFill>
                  <a:schemeClr val="tx1"/>
                </a:solidFill>
                <a:highlight>
                  <a:srgbClr val="FFFF00"/>
                </a:highlight>
                <a:ea typeface="+mj-ea"/>
                <a:cs typeface="+mj-cs"/>
              </a:rPr>
              <a:t>super</a:t>
            </a:r>
            <a:r>
              <a:rPr lang="en-GB" sz="3200" kern="0" dirty="0">
                <a:solidFill>
                  <a:schemeClr val="tx1"/>
                </a:solidFill>
                <a:ea typeface="+mj-ea"/>
                <a:cs typeface="+mj-cs"/>
              </a:rPr>
              <a:t>class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0740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2351088" y="1484313"/>
            <a:ext cx="8012112" cy="471011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noProof="1"/>
              <a:t>public class </a:t>
            </a:r>
            <a:r>
              <a:rPr lang="en-GB" noProof="1"/>
              <a:t>MessagePost</a:t>
            </a:r>
            <a:r>
              <a:rPr noProof="1"/>
              <a:t> extends </a:t>
            </a:r>
            <a:r>
              <a:rPr lang="en-GB" noProof="1"/>
              <a:t>Post</a:t>
            </a: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private String </a:t>
            </a:r>
            <a:r>
              <a:rPr lang="en-GB" noProof="1"/>
              <a:t>message</a:t>
            </a:r>
            <a:r>
              <a:rPr noProof="1"/>
              <a:t>;</a:t>
            </a:r>
          </a:p>
          <a:p>
            <a:pPr>
              <a:spcBef>
                <a:spcPct val="0"/>
              </a:spcBef>
              <a:defRPr/>
            </a:pP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    </a:t>
            </a:r>
            <a:r>
              <a:rPr noProof="1">
                <a:solidFill>
                  <a:schemeClr val="bg1">
                    <a:lumMod val="50000"/>
                  </a:schemeClr>
                </a:solidFill>
              </a:rPr>
              <a:t>/**</a:t>
            </a:r>
          </a:p>
          <a:p>
            <a:pPr>
              <a:spcBef>
                <a:spcPct val="0"/>
              </a:spcBef>
              <a:defRPr/>
            </a:pPr>
            <a:r>
              <a:rPr noProof="1">
                <a:solidFill>
                  <a:schemeClr val="bg1">
                    <a:lumMod val="50000"/>
                  </a:schemeClr>
                </a:solidFill>
              </a:rPr>
              <a:t>     * Constructor for objects of class </a:t>
            </a:r>
            <a:r>
              <a:rPr lang="en-GB" noProof="1">
                <a:solidFill>
                  <a:schemeClr val="bg1">
                    <a:lumMod val="50000"/>
                  </a:schemeClr>
                </a:solidFill>
              </a:rPr>
              <a:t>MessagePost</a:t>
            </a:r>
            <a:endParaRPr noProof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noProof="1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public </a:t>
            </a:r>
            <a:r>
              <a:rPr lang="en-US" noProof="1"/>
              <a:t>MessagePost </a:t>
            </a:r>
            <a:r>
              <a:rPr noProof="1"/>
              <a:t>(String </a:t>
            </a:r>
            <a:r>
              <a:rPr lang="en-GB" noProof="1"/>
              <a:t>author, String text</a:t>
            </a:r>
            <a:r>
              <a:rPr noProof="1"/>
              <a:t>)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{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     </a:t>
            </a:r>
            <a:r>
              <a:rPr lang="en-GB" noProof="1"/>
              <a:t>super(author);</a:t>
            </a:r>
          </a:p>
          <a:p>
            <a:pPr>
              <a:spcBef>
                <a:spcPct val="0"/>
              </a:spcBef>
              <a:defRPr/>
            </a:pPr>
            <a:r>
              <a:rPr lang="en-GB" noProof="1"/>
              <a:t>        message = text;</a:t>
            </a: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    }</a:t>
            </a:r>
          </a:p>
          <a:p>
            <a:pPr>
              <a:spcBef>
                <a:spcPct val="0"/>
              </a:spcBef>
              <a:defRPr/>
            </a:pP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    </a:t>
            </a:r>
            <a:r>
              <a:rPr i="1" noProof="1">
                <a:solidFill>
                  <a:schemeClr val="bg1">
                    <a:lumMod val="50000"/>
                  </a:schemeClr>
                </a:solidFill>
              </a:rPr>
              <a:t>// methods omitted</a:t>
            </a:r>
            <a:endParaRPr noProof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noProof="1"/>
              <a:t>}</a:t>
            </a: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152400" y="152400"/>
            <a:ext cx="5486400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Trebuchet MS" charset="0"/>
                <a:ea typeface="MS PGothic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Trebuchet MS" charset="0"/>
                <a:ea typeface="MS PGothic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Trebuchet MS" charset="0"/>
                <a:ea typeface="MS PGothic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44AAC6"/>
                </a:solidFill>
                <a:latin typeface="Trebuchet MS" charset="0"/>
                <a:ea typeface="MS PGothic" pitchFamily="34" charset="-128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A57133"/>
                </a:solidFill>
                <a:latin typeface="Trebuchet MS" charset="0"/>
                <a:ea typeface="ＭＳ Ｐゴシック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A57133"/>
                </a:solidFill>
                <a:latin typeface="Trebuchet MS" charset="0"/>
                <a:ea typeface="ＭＳ Ｐゴシック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A57133"/>
                </a:solidFill>
                <a:latin typeface="Trebuchet MS" charset="0"/>
                <a:ea typeface="ＭＳ Ｐゴシック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A57133"/>
                </a:solidFill>
                <a:latin typeface="Trebuchet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3200" kern="0" dirty="0">
                <a:solidFill>
                  <a:schemeClr val="tx1"/>
                </a:solidFill>
                <a:ea typeface="+mj-ea"/>
                <a:cs typeface="+mj-cs"/>
              </a:rPr>
              <a:t>Inheritance and Constructors</a:t>
            </a:r>
          </a:p>
          <a:p>
            <a:pPr eaLnBrk="1" hangingPunct="1">
              <a:defRPr/>
            </a:pPr>
            <a:r>
              <a:rPr lang="en-GB" sz="3200" kern="0" dirty="0">
                <a:solidFill>
                  <a:schemeClr val="tx1"/>
                </a:solidFill>
                <a:ea typeface="+mj-ea"/>
                <a:cs typeface="+mj-cs"/>
              </a:rPr>
              <a:t>- </a:t>
            </a:r>
            <a:r>
              <a:rPr lang="en-GB" sz="3200" b="1" kern="0" dirty="0">
                <a:solidFill>
                  <a:schemeClr val="tx1"/>
                </a:solidFill>
                <a:highlight>
                  <a:srgbClr val="FFFF00"/>
                </a:highlight>
                <a:ea typeface="+mj-ea"/>
                <a:cs typeface="+mj-cs"/>
              </a:rPr>
              <a:t>sub</a:t>
            </a:r>
            <a:r>
              <a:rPr lang="en-GB" sz="3200" kern="0" dirty="0">
                <a:solidFill>
                  <a:schemeClr val="tx1"/>
                </a:solidFill>
                <a:ea typeface="+mj-ea"/>
                <a:cs typeface="+mj-cs"/>
              </a:rPr>
              <a:t>class</a:t>
            </a:r>
          </a:p>
        </p:txBody>
      </p:sp>
      <p:sp>
        <p:nvSpPr>
          <p:cNvPr id="4" name="Donut 3"/>
          <p:cNvSpPr/>
          <p:nvPr/>
        </p:nvSpPr>
        <p:spPr>
          <a:xfrm flipV="1">
            <a:off x="3352800" y="4267200"/>
            <a:ext cx="2667000" cy="38100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5-Point Star 1"/>
          <p:cNvSpPr/>
          <p:nvPr/>
        </p:nvSpPr>
        <p:spPr>
          <a:xfrm>
            <a:off x="6335712" y="3962400"/>
            <a:ext cx="1371600" cy="1371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onut 6"/>
          <p:cNvSpPr/>
          <p:nvPr/>
        </p:nvSpPr>
        <p:spPr>
          <a:xfrm flipV="1">
            <a:off x="6096000" y="1490409"/>
            <a:ext cx="2209800" cy="38100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2D2BFB-F4BF-7B45-B2CD-185943F461D9}"/>
              </a:ext>
            </a:extLst>
          </p:cNvPr>
          <p:cNvSpPr txBox="1"/>
          <p:nvPr/>
        </p:nvSpPr>
        <p:spPr>
          <a:xfrm>
            <a:off x="0" y="6336268"/>
            <a:ext cx="418255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1400" dirty="0">
                <a:latin typeface="+mj-lt"/>
                <a:ea typeface="ＭＳ Ｐゴシック" charset="0"/>
              </a:rPr>
              <a:t>subclass: must call superclass constructor!</a:t>
            </a:r>
          </a:p>
          <a:p>
            <a:pPr>
              <a:defRPr/>
            </a:pPr>
            <a:r>
              <a:rPr lang="en-GB" sz="1400" dirty="0">
                <a:latin typeface="+mj-lt"/>
                <a:ea typeface="ＭＳ Ｐゴシック" charset="0"/>
              </a:rPr>
              <a:t>Must take values for all fields that we want to initialise.</a:t>
            </a:r>
          </a:p>
          <a:p>
            <a:endParaRPr lang="en-GB" sz="1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026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Superclass constructor call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1"/>
          </p:nvPr>
        </p:nvSpPr>
        <p:spPr>
          <a:xfrm>
            <a:off x="620110" y="1537833"/>
            <a:ext cx="11495690" cy="5105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Subclass constructors </a:t>
            </a:r>
            <a:r>
              <a:rPr lang="en-GB" u="sng" dirty="0">
                <a:solidFill>
                  <a:srgbClr val="FF0000"/>
                </a:solidFill>
                <a:ea typeface="+mn-ea"/>
                <a:cs typeface="+mn-cs"/>
              </a:rPr>
              <a:t>must</a:t>
            </a:r>
            <a:r>
              <a:rPr lang="en-GB" dirty="0">
                <a:ea typeface="+mn-ea"/>
                <a:cs typeface="+mn-cs"/>
              </a:rPr>
              <a:t> always contain a </a:t>
            </a:r>
            <a:r>
              <a:rPr lang="en-GB" b="1" dirty="0">
                <a:ea typeface="+mn-ea"/>
                <a:cs typeface="+mn-cs"/>
              </a:rPr>
              <a:t>'super</a:t>
            </a:r>
            <a:r>
              <a:rPr lang="en-GB" dirty="0">
                <a:ea typeface="+mn-ea"/>
                <a:cs typeface="+mn-cs"/>
              </a:rPr>
              <a:t>' call.</a:t>
            </a:r>
            <a:br>
              <a:rPr lang="en-GB" dirty="0">
                <a:ea typeface="+mn-ea"/>
                <a:cs typeface="+mn-cs"/>
              </a:rPr>
            </a:b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If none is written, the compiler inserts one (without parameters)</a:t>
            </a:r>
          </a:p>
          <a:p>
            <a:pPr lvl="1" eaLnBrk="1" hangingPunct="1">
              <a:defRPr/>
            </a:pPr>
            <a:r>
              <a:rPr lang="en-GB" dirty="0">
                <a:ea typeface="+mn-ea"/>
              </a:rPr>
              <a:t>works only, if the superclass has a constructor without parameters</a:t>
            </a:r>
            <a:br>
              <a:rPr lang="en-GB" dirty="0">
                <a:ea typeface="+mn-ea"/>
              </a:rPr>
            </a:br>
            <a:endParaRPr lang="en-GB" dirty="0">
              <a:ea typeface="+mn-ea"/>
            </a:endParaRPr>
          </a:p>
          <a:p>
            <a:pPr eaLnBrk="1" hangingPunct="1">
              <a:defRPr/>
            </a:pPr>
            <a:r>
              <a:rPr lang="en-GB" dirty="0"/>
              <a:t>‘</a:t>
            </a:r>
            <a:r>
              <a:rPr lang="en-GB" b="1" dirty="0"/>
              <a:t>super</a:t>
            </a:r>
            <a:r>
              <a:rPr lang="en-GB" dirty="0">
                <a:ea typeface="+mn-ea"/>
                <a:cs typeface="+mn-cs"/>
              </a:rPr>
              <a:t>’ call must be the </a:t>
            </a:r>
            <a:r>
              <a:rPr lang="en-GB" u="sng" dirty="0">
                <a:ea typeface="+mn-ea"/>
                <a:cs typeface="+mn-cs"/>
              </a:rPr>
              <a:t>first statement </a:t>
            </a:r>
            <a:r>
              <a:rPr lang="en-GB" dirty="0">
                <a:ea typeface="+mn-ea"/>
                <a:cs typeface="+mn-cs"/>
              </a:rPr>
              <a:t>in the subclass constructor.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9144000" y="214767"/>
            <a:ext cx="1219200" cy="1219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709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dirty="0"/>
              <a:t>Super and subclasses</a:t>
            </a:r>
          </a:p>
          <a:p>
            <a:pPr lvl="1">
              <a:defRPr/>
            </a:pPr>
            <a:r>
              <a:rPr lang="en-US" dirty="0"/>
              <a:t>Using constructors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/ Collections</a:t>
            </a:r>
          </a:p>
          <a:p>
            <a:pPr lvl="1">
              <a:defRPr/>
            </a:pPr>
            <a:r>
              <a:rPr lang="en-US" dirty="0"/>
              <a:t>Includes casting, wrapper classes, </a:t>
            </a:r>
            <a:r>
              <a:rPr lang="en-US" dirty="0" err="1"/>
              <a:t>autoboxing</a:t>
            </a:r>
            <a:r>
              <a:rPr lang="en-US" dirty="0"/>
              <a:t> /unboxing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1200" y="3733801"/>
            <a:ext cx="8610600" cy="1143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524000" y="4114801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031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9244372" y="116796"/>
            <a:ext cx="1412742" cy="1214401"/>
            <a:chOff x="7300216" y="129483"/>
            <a:chExt cx="1412742" cy="121440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00216" y="129483"/>
              <a:ext cx="1412742" cy="121440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300216" y="129483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v3</a:t>
              </a:r>
            </a:p>
          </p:txBody>
        </p:sp>
      </p:grp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74638"/>
            <a:ext cx="8458200" cy="11430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/>
              <a:t>Social Network V3 </a:t>
            </a:r>
            <a:r>
              <a:rPr lang="en-US" sz="3200" dirty="0"/>
              <a:t>- Adding more item types</a:t>
            </a:r>
          </a:p>
        </p:txBody>
      </p:sp>
      <p:pic>
        <p:nvPicPr>
          <p:cNvPr id="23556" name="Picture 1" descr="fig8-7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608138"/>
            <a:ext cx="6796088" cy="419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200400" y="4114800"/>
            <a:ext cx="1814512" cy="1219200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5493544" y="4114800"/>
            <a:ext cx="1897856" cy="14478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5334000" y="1752600"/>
            <a:ext cx="2209800" cy="18288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7696200" y="4114800"/>
            <a:ext cx="1828800" cy="1219200"/>
          </a:xfrm>
          <a:prstGeom prst="frame">
            <a:avLst>
              <a:gd name="adj1" fmla="val 377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7543800" y="3962400"/>
            <a:ext cx="2111262" cy="1524000"/>
          </a:xfrm>
          <a:prstGeom prst="frame">
            <a:avLst>
              <a:gd name="adj1" fmla="val 377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9616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 V3 - Deeper hierarchies</a:t>
            </a:r>
          </a:p>
        </p:txBody>
      </p:sp>
      <p:pic>
        <p:nvPicPr>
          <p:cNvPr id="24580" name="Picture 1" descr="fig8-8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00200"/>
            <a:ext cx="565943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526632" y="5029200"/>
            <a:ext cx="1502568" cy="990600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5410200" y="5007430"/>
            <a:ext cx="1524000" cy="1164771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5486400" y="1752600"/>
            <a:ext cx="1752600" cy="11430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6781800" y="3393622"/>
            <a:ext cx="1447800" cy="949779"/>
          </a:xfrm>
          <a:prstGeom prst="frame">
            <a:avLst>
              <a:gd name="adj1" fmla="val 377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4495800" y="3352800"/>
            <a:ext cx="1503362" cy="1066800"/>
          </a:xfrm>
          <a:prstGeom prst="frame">
            <a:avLst>
              <a:gd name="adj1" fmla="val 377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4260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dirty="0"/>
              <a:t>Super and subclasses</a:t>
            </a:r>
          </a:p>
          <a:p>
            <a:pPr lvl="1">
              <a:defRPr/>
            </a:pPr>
            <a:r>
              <a:rPr lang="en-US" dirty="0"/>
              <a:t>Using constructors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/ Collections</a:t>
            </a:r>
          </a:p>
          <a:p>
            <a:pPr lvl="1">
              <a:defRPr/>
            </a:pPr>
            <a:r>
              <a:rPr lang="en-US" dirty="0"/>
              <a:t>Includes casting, wrapper classes, </a:t>
            </a:r>
            <a:r>
              <a:rPr lang="en-US" dirty="0" err="1"/>
              <a:t>autoboxing</a:t>
            </a:r>
            <a:r>
              <a:rPr lang="en-US" dirty="0"/>
              <a:t> /unboxing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1200" y="3733801"/>
            <a:ext cx="8610600" cy="1143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534886" y="4495801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129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Advantages</a:t>
            </a:r>
            <a:r>
              <a:rPr lang="en-US" dirty="0">
                <a:ea typeface="+mj-ea"/>
                <a:cs typeface="+mj-cs"/>
              </a:rPr>
              <a:t> of inheritance</a:t>
            </a:r>
          </a:p>
        </p:txBody>
      </p:sp>
      <p:sp>
        <p:nvSpPr>
          <p:cNvPr id="187396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pitchFamily="-32" charset="0"/>
              <a:buNone/>
              <a:defRPr/>
            </a:pPr>
            <a:r>
              <a:rPr lang="en-GB" dirty="0">
                <a:ea typeface="+mn-ea"/>
                <a:cs typeface="+mn-cs"/>
              </a:rPr>
              <a:t>Inheritance (so far) helps with:</a:t>
            </a:r>
          </a:p>
          <a:p>
            <a:pPr eaLnBrk="1" hangingPunct="1">
              <a:defRPr/>
            </a:pP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Avoiding code duplication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Code reuse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Easier maintenance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Extendibility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080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2"/>
          <p:cNvSpPr txBox="1">
            <a:spLocks noChangeArrowheads="1"/>
          </p:cNvSpPr>
          <p:nvPr/>
        </p:nvSpPr>
        <p:spPr bwMode="auto">
          <a:xfrm>
            <a:off x="1858834" y="445324"/>
            <a:ext cx="5423280" cy="59093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sz="1800" noProof="1"/>
              <a:t>public class </a:t>
            </a:r>
            <a:r>
              <a:rPr lang="en-GB" sz="1800" noProof="1"/>
              <a:t>NewsFeed</a:t>
            </a: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private ArrayList</a:t>
            </a:r>
            <a:r>
              <a:rPr lang="en-GB" sz="1800" dirty="0"/>
              <a:t>&lt;Post&gt;</a:t>
            </a:r>
            <a:r>
              <a:rPr sz="1800" noProof="1"/>
              <a:t> </a:t>
            </a:r>
            <a:r>
              <a:rPr lang="en-GB" sz="1800" noProof="1"/>
              <a:t>posts</a:t>
            </a:r>
            <a:r>
              <a:rPr sz="1800" noProof="1"/>
              <a:t>;</a:t>
            </a:r>
          </a:p>
          <a:p>
            <a:pPr>
              <a:spcBef>
                <a:spcPct val="0"/>
              </a:spcBef>
              <a:defRPr/>
            </a:pP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 * Construct an empty </a:t>
            </a:r>
            <a:r>
              <a:rPr lang="en-GB" sz="1800" noProof="1">
                <a:solidFill>
                  <a:schemeClr val="bg1">
                    <a:lumMod val="50000"/>
                  </a:schemeClr>
                </a:solidFill>
              </a:rPr>
              <a:t>news feed</a:t>
            </a: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public </a:t>
            </a:r>
            <a:r>
              <a:rPr lang="en-GB" sz="1800" noProof="1"/>
              <a:t>NewsFeed</a:t>
            </a:r>
            <a:r>
              <a:rPr sz="1800" noProof="1"/>
              <a:t>()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    </a:t>
            </a:r>
            <a:r>
              <a:rPr lang="en-GB" sz="1800" noProof="1"/>
              <a:t>posts </a:t>
            </a:r>
            <a:r>
              <a:rPr sz="1800" noProof="1"/>
              <a:t>= new ArrayList</a:t>
            </a:r>
            <a:r>
              <a:rPr lang="en-GB" sz="1800" dirty="0"/>
              <a:t>&lt;Post&gt;</a:t>
            </a:r>
            <a:r>
              <a:rPr sz="1800" noProof="1"/>
              <a:t>();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}</a:t>
            </a:r>
          </a:p>
          <a:p>
            <a:pPr>
              <a:spcBef>
                <a:spcPct val="0"/>
              </a:spcBef>
              <a:defRPr/>
            </a:pP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    </a:t>
            </a: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/**</a:t>
            </a:r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 * Add a</a:t>
            </a:r>
            <a:r>
              <a:rPr lang="en-GB" sz="1800" noProof="1">
                <a:solidFill>
                  <a:schemeClr val="bg1">
                    <a:lumMod val="50000"/>
                  </a:schemeClr>
                </a:solidFill>
              </a:rPr>
              <a:t> post </a:t>
            </a: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to the </a:t>
            </a:r>
            <a:r>
              <a:rPr lang="en-GB" sz="1800" noProof="1">
                <a:solidFill>
                  <a:schemeClr val="bg1">
                    <a:lumMod val="50000"/>
                  </a:schemeClr>
                </a:solidFill>
              </a:rPr>
              <a:t>news feed</a:t>
            </a: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>
              <a:spcBef>
                <a:spcPct val="0"/>
              </a:spcBef>
              <a:defRPr/>
            </a:pPr>
            <a:r>
              <a:rPr sz="1800" noProof="1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public void add</a:t>
            </a:r>
            <a:r>
              <a:rPr lang="en-GB" sz="1800" noProof="1"/>
              <a:t>Post</a:t>
            </a:r>
            <a:r>
              <a:rPr sz="1800" noProof="1"/>
              <a:t>(</a:t>
            </a:r>
            <a:r>
              <a:rPr lang="en-GB" sz="1800" noProof="1"/>
              <a:t>Post post</a:t>
            </a:r>
            <a:r>
              <a:rPr sz="1800" noProof="1"/>
              <a:t>)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    </a:t>
            </a:r>
            <a:r>
              <a:rPr lang="en-GB" sz="1800" noProof="1"/>
              <a:t>post</a:t>
            </a:r>
            <a:r>
              <a:rPr sz="1800" noProof="1"/>
              <a:t>s.add(</a:t>
            </a:r>
            <a:r>
              <a:rPr lang="en-GB" sz="1800" noProof="1"/>
              <a:t>post</a:t>
            </a:r>
            <a:r>
              <a:rPr sz="1800" noProof="1"/>
              <a:t>);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}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...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}</a:t>
            </a:r>
            <a:endParaRPr lang="en-AU" sz="1800" dirty="0">
              <a:solidFill>
                <a:srgbClr val="000000"/>
              </a:solidFill>
            </a:endParaRPr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7689057" y="3078162"/>
            <a:ext cx="427434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en-GB" sz="2400" b="0" i="1" dirty="0">
                <a:solidFill>
                  <a:srgbClr val="A57133"/>
                </a:solidFill>
                <a:latin typeface="+mn-lt"/>
              </a:rPr>
              <a:t>Code is simplified</a:t>
            </a:r>
          </a:p>
          <a:p>
            <a:pPr algn="ctr" eaLnBrk="1" hangingPunct="1">
              <a:spcBef>
                <a:spcPct val="0"/>
              </a:spcBef>
              <a:defRPr/>
            </a:pPr>
            <a:r>
              <a:rPr lang="en-GB" sz="2400" b="0" i="1" dirty="0">
                <a:solidFill>
                  <a:srgbClr val="A57133"/>
                </a:solidFill>
                <a:latin typeface="+mn-lt"/>
              </a:rPr>
              <a:t>&amp;</a:t>
            </a:r>
            <a:br>
              <a:rPr lang="en-GB" sz="2400" b="0" i="1" dirty="0">
                <a:solidFill>
                  <a:srgbClr val="A57133"/>
                </a:solidFill>
                <a:latin typeface="+mn-lt"/>
              </a:rPr>
            </a:br>
            <a:r>
              <a:rPr lang="en-GB" sz="2400" b="0" i="1" dirty="0">
                <a:solidFill>
                  <a:srgbClr val="A57133"/>
                </a:solidFill>
                <a:latin typeface="+mn-lt"/>
              </a:rPr>
              <a:t>code duplication </a:t>
            </a:r>
            <a:br>
              <a:rPr lang="en-GB" sz="2400" b="0" i="1" dirty="0">
                <a:solidFill>
                  <a:srgbClr val="A57133"/>
                </a:solidFill>
                <a:latin typeface="+mn-lt"/>
              </a:rPr>
            </a:br>
            <a:r>
              <a:rPr lang="en-GB" sz="2400" b="0" i="1" dirty="0">
                <a:solidFill>
                  <a:srgbClr val="A57133"/>
                </a:solidFill>
                <a:latin typeface="+mn-lt"/>
              </a:rPr>
              <a:t>in the client class is avoided!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689057" y="399156"/>
            <a:ext cx="4350543" cy="18161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b="1" dirty="0">
                <a:ea typeface="+mj-ea"/>
                <a:cs typeface="+mj-cs"/>
              </a:rPr>
              <a:t>REVISED </a:t>
            </a:r>
            <a:r>
              <a:rPr lang="en-US" sz="3200" b="1" dirty="0" err="1">
                <a:ea typeface="+mj-ea"/>
                <a:cs typeface="+mj-cs"/>
              </a:rPr>
              <a:t>NewsFeed</a:t>
            </a:r>
            <a:r>
              <a:rPr lang="en-US" sz="3200" dirty="0">
                <a:ea typeface="+mj-ea"/>
                <a:cs typeface="+mj-cs"/>
              </a:rPr>
              <a:t> source code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858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52400" y="399156"/>
            <a:ext cx="7373319" cy="407864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noProof="1">
                <a:solidFill>
                  <a:schemeClr val="bg1">
                    <a:lumMod val="50000"/>
                  </a:schemeClr>
                </a:solidFill>
              </a:rPr>
              <a:t>/**</a:t>
            </a:r>
          </a:p>
          <a:p>
            <a:pPr>
              <a:spcBef>
                <a:spcPct val="0"/>
              </a:spcBef>
              <a:defRPr/>
            </a:pPr>
            <a:r>
              <a:rPr noProof="1">
                <a:solidFill>
                  <a:schemeClr val="bg1">
                    <a:lumMod val="50000"/>
                  </a:schemeClr>
                </a:solidFill>
              </a:rPr>
              <a:t> * </a:t>
            </a:r>
            <a:r>
              <a:rPr lang="en-GB" noProof="1">
                <a:solidFill>
                  <a:schemeClr val="bg1">
                    <a:lumMod val="50000"/>
                  </a:schemeClr>
                </a:solidFill>
              </a:rPr>
              <a:t>Show the news feed. Currently: print the </a:t>
            </a:r>
          </a:p>
          <a:p>
            <a:pPr>
              <a:spcBef>
                <a:spcPct val="0"/>
              </a:spcBef>
              <a:defRPr/>
            </a:pPr>
            <a:r>
              <a:rPr lang="en-GB" noProof="1">
                <a:solidFill>
                  <a:schemeClr val="bg1">
                    <a:lumMod val="50000"/>
                  </a:schemeClr>
                </a:solidFill>
              </a:rPr>
              <a:t> * news feed details</a:t>
            </a:r>
            <a:r>
              <a:rPr noProof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noProof="1">
                <a:solidFill>
                  <a:schemeClr val="bg1">
                    <a:lumMod val="50000"/>
                  </a:schemeClr>
                </a:solidFill>
              </a:rPr>
              <a:t>to the terminal.</a:t>
            </a:r>
          </a:p>
          <a:p>
            <a:pPr>
              <a:spcBef>
                <a:spcPct val="0"/>
              </a:spcBef>
              <a:defRPr/>
            </a:pPr>
            <a:r>
              <a:rPr noProof="1">
                <a:solidFill>
                  <a:schemeClr val="bg1">
                    <a:lumMod val="50000"/>
                  </a:schemeClr>
                </a:solidFill>
              </a:rPr>
              <a:t> */</a:t>
            </a:r>
          </a:p>
          <a:p>
            <a:pPr>
              <a:spcBef>
                <a:spcPct val="0"/>
              </a:spcBef>
              <a:defRPr/>
            </a:pPr>
            <a:endParaRPr lang="en-IE" noProof="1"/>
          </a:p>
          <a:p>
            <a:pPr>
              <a:spcBef>
                <a:spcPct val="0"/>
              </a:spcBef>
              <a:defRPr/>
            </a:pPr>
            <a:r>
              <a:rPr noProof="1"/>
              <a:t>public void </a:t>
            </a:r>
            <a:r>
              <a:rPr lang="en-GB" noProof="1"/>
              <a:t>show</a:t>
            </a:r>
            <a:r>
              <a:rPr noProof="1"/>
              <a:t>()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   for(</a:t>
            </a:r>
            <a:r>
              <a:rPr lang="en-GB" dirty="0"/>
              <a:t>Post post : posts</a:t>
            </a:r>
            <a:r>
              <a:rPr noProof="1"/>
              <a:t>) {</a:t>
            </a:r>
          </a:p>
          <a:p>
            <a:pPr>
              <a:spcBef>
                <a:spcPct val="0"/>
              </a:spcBef>
              <a:defRPr/>
            </a:pPr>
            <a:r>
              <a:rPr lang="en-GB" dirty="0"/>
              <a:t>       </a:t>
            </a:r>
            <a:r>
              <a:rPr lang="en-GB" noProof="1"/>
              <a:t>post.display</a:t>
            </a:r>
            <a:r>
              <a:rPr noProof="1"/>
              <a:t>();</a:t>
            </a:r>
            <a:endParaRPr lang="en-GB" dirty="0"/>
          </a:p>
          <a:p>
            <a:pPr>
              <a:spcBef>
                <a:spcPct val="0"/>
              </a:spcBef>
              <a:defRPr/>
            </a:pPr>
            <a:r>
              <a:rPr lang="en-GB" noProof="1"/>
              <a:t>       </a:t>
            </a:r>
            <a:r>
              <a:rPr noProof="1"/>
              <a:t>System.out.println(); </a:t>
            </a:r>
            <a:r>
              <a:rPr lang="en-US" noProof="1">
                <a:solidFill>
                  <a:schemeClr val="bg1">
                    <a:lumMod val="50000"/>
                  </a:schemeClr>
                </a:solidFill>
              </a:rPr>
              <a:t>// Empty line </a:t>
            </a:r>
            <a:r>
              <a:rPr lang="en-GB" noProof="1">
                <a:solidFill>
                  <a:schemeClr val="bg1">
                    <a:lumMod val="50000"/>
                  </a:schemeClr>
                </a:solidFill>
              </a:rPr>
              <a:t>...</a:t>
            </a:r>
            <a:endParaRPr noProof="1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noProof="1"/>
              <a:t>   }</a:t>
            </a:r>
          </a:p>
          <a:p>
            <a:pPr>
              <a:spcBef>
                <a:spcPct val="0"/>
              </a:spcBef>
              <a:defRPr/>
            </a:pPr>
            <a:r>
              <a:rPr noProof="1"/>
              <a:t>}</a:t>
            </a:r>
            <a:endParaRPr lang="en-A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3F5290-680F-1D49-B425-854D4C6D14C5}"/>
              </a:ext>
            </a:extLst>
          </p:cNvPr>
          <p:cNvSpPr txBox="1">
            <a:spLocks noChangeArrowheads="1"/>
          </p:cNvSpPr>
          <p:nvPr/>
        </p:nvSpPr>
        <p:spPr>
          <a:xfrm>
            <a:off x="7689057" y="399156"/>
            <a:ext cx="4350543" cy="18161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b="1" dirty="0">
                <a:ea typeface="+mj-ea"/>
                <a:cs typeface="+mj-cs"/>
              </a:rPr>
              <a:t>REVISED </a:t>
            </a:r>
            <a:r>
              <a:rPr lang="en-US" sz="3200" b="1" dirty="0" err="1">
                <a:ea typeface="+mj-ea"/>
                <a:cs typeface="+mj-cs"/>
              </a:rPr>
              <a:t>NewsFeed</a:t>
            </a:r>
            <a:r>
              <a:rPr lang="en-US" sz="3200" dirty="0">
                <a:ea typeface="+mj-ea"/>
                <a:cs typeface="+mj-cs"/>
              </a:rPr>
              <a:t> source code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0767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665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dirty="0"/>
              <a:t>Super and subclasses</a:t>
            </a:r>
          </a:p>
          <a:p>
            <a:pPr lvl="1">
              <a:defRPr/>
            </a:pPr>
            <a:r>
              <a:rPr lang="en-US" dirty="0"/>
              <a:t>Using constructors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Polymorphic variables / Collections</a:t>
            </a:r>
          </a:p>
          <a:p>
            <a:pPr lvl="1">
              <a:defRPr/>
            </a:pPr>
            <a:r>
              <a:rPr lang="en-US" dirty="0"/>
              <a:t>Includes casting, wrapper classes, </a:t>
            </a:r>
            <a:r>
              <a:rPr lang="en-US" dirty="0" err="1"/>
              <a:t>autoboxing</a:t>
            </a:r>
            <a:r>
              <a:rPr lang="en-US" dirty="0"/>
              <a:t> /unboxing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1200" y="5440364"/>
            <a:ext cx="8610600" cy="38644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066800" y="5445806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590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Subtyping</a:t>
            </a:r>
          </a:p>
        </p:txBody>
      </p:sp>
      <p:sp>
        <p:nvSpPr>
          <p:cNvPr id="28676" name="Text Box 5"/>
          <p:cNvSpPr txBox="1">
            <a:spLocks noChangeArrowheads="1"/>
          </p:cNvSpPr>
          <p:nvPr/>
        </p:nvSpPr>
        <p:spPr bwMode="auto">
          <a:xfrm>
            <a:off x="683741" y="2971800"/>
            <a:ext cx="9677400" cy="3801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ts val="1200"/>
              </a:spcBef>
              <a:defRPr/>
            </a:pPr>
            <a:r>
              <a:rPr lang="en-US" sz="2800" b="0" dirty="0">
                <a:solidFill>
                  <a:srgbClr val="1A3170"/>
                </a:solidFill>
                <a:latin typeface="Trebuchet MS" charset="0"/>
              </a:rPr>
              <a:t>Now, we have:</a:t>
            </a:r>
            <a:endParaRPr lang="en-GB" sz="2400" b="0" noProof="1">
              <a:latin typeface="Courier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noProof="1"/>
              <a:t> </a:t>
            </a:r>
            <a:r>
              <a:rPr lang="en-GB" sz="2400" noProof="1">
                <a:solidFill>
                  <a:srgbClr val="FF0000"/>
                </a:solidFill>
              </a:rPr>
              <a:t> </a:t>
            </a:r>
            <a:r>
              <a:rPr sz="2400" noProof="1">
                <a:solidFill>
                  <a:srgbClr val="FF0000"/>
                </a:solidFill>
              </a:rPr>
              <a:t>public void </a:t>
            </a:r>
            <a:r>
              <a:rPr sz="2400" u="sng" noProof="1">
                <a:solidFill>
                  <a:srgbClr val="FF0000"/>
                </a:solidFill>
              </a:rPr>
              <a:t>add</a:t>
            </a:r>
            <a:r>
              <a:rPr lang="en-GB" sz="2400" u="sng" noProof="1">
                <a:solidFill>
                  <a:srgbClr val="FF0000"/>
                </a:solidFill>
              </a:rPr>
              <a:t>Post</a:t>
            </a:r>
            <a:r>
              <a:rPr sz="2400" noProof="1">
                <a:solidFill>
                  <a:srgbClr val="FF0000"/>
                </a:solidFill>
              </a:rPr>
              <a:t>(</a:t>
            </a:r>
            <a:r>
              <a:rPr lang="en-GB" sz="2400" noProof="1">
                <a:solidFill>
                  <a:srgbClr val="FF0000"/>
                </a:solidFill>
              </a:rPr>
              <a:t>Post post</a:t>
            </a:r>
            <a:r>
              <a:rPr sz="2400" noProof="1">
                <a:solidFill>
                  <a:srgbClr val="FF0000"/>
                </a:solidFill>
              </a:rPr>
              <a:t>)</a:t>
            </a:r>
          </a:p>
          <a:p>
            <a:pPr>
              <a:spcBef>
                <a:spcPct val="0"/>
              </a:spcBef>
              <a:defRPr/>
            </a:pPr>
            <a:endParaRPr lang="en-AU" sz="1800" dirty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2800" b="0" dirty="0">
                <a:solidFill>
                  <a:srgbClr val="1A3170"/>
                </a:solidFill>
                <a:latin typeface="Trebuchet MS" charset="0"/>
              </a:rPr>
              <a:t>We call this method with: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solidFill>
                  <a:srgbClr val="00B050"/>
                </a:solidFill>
              </a:rPr>
              <a:t>  </a:t>
            </a:r>
            <a:r>
              <a:rPr lang="en-GB" sz="2400" dirty="0" err="1">
                <a:solidFill>
                  <a:srgbClr val="00B050"/>
                </a:solidFill>
              </a:rPr>
              <a:t>PhotoPost</a:t>
            </a:r>
            <a:r>
              <a:rPr sz="2400" noProof="1">
                <a:solidFill>
                  <a:srgbClr val="00B050"/>
                </a:solidFill>
              </a:rPr>
              <a:t> my</a:t>
            </a:r>
            <a:r>
              <a:rPr lang="en-GB" sz="2400" noProof="1">
                <a:solidFill>
                  <a:srgbClr val="00B050"/>
                </a:solidFill>
              </a:rPr>
              <a:t>Photo</a:t>
            </a:r>
            <a:r>
              <a:rPr sz="2400" noProof="1">
                <a:solidFill>
                  <a:srgbClr val="00B050"/>
                </a:solidFill>
              </a:rPr>
              <a:t> = new </a:t>
            </a:r>
            <a:r>
              <a:rPr lang="en-GB" sz="2400" dirty="0" err="1">
                <a:solidFill>
                  <a:srgbClr val="00B050"/>
                </a:solidFill>
              </a:rPr>
              <a:t>PhotoPost</a:t>
            </a:r>
            <a:r>
              <a:rPr sz="2400" noProof="1">
                <a:solidFill>
                  <a:srgbClr val="00B050"/>
                </a:solidFill>
              </a:rPr>
              <a:t>(...);</a:t>
            </a:r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00B050"/>
                </a:solidFill>
              </a:rPr>
              <a:t> </a:t>
            </a:r>
            <a:r>
              <a:rPr lang="en-GB" sz="2400" noProof="1">
                <a:solidFill>
                  <a:srgbClr val="00B050"/>
                </a:solidFill>
              </a:rPr>
              <a:t> feed</a:t>
            </a:r>
            <a:r>
              <a:rPr sz="2400" u="sng" noProof="1">
                <a:solidFill>
                  <a:srgbClr val="00B050"/>
                </a:solidFill>
              </a:rPr>
              <a:t>.add</a:t>
            </a:r>
            <a:r>
              <a:rPr lang="en-GB" sz="2400" u="sng" noProof="1">
                <a:solidFill>
                  <a:srgbClr val="00B050"/>
                </a:solidFill>
              </a:rPr>
              <a:t>Post</a:t>
            </a:r>
            <a:r>
              <a:rPr sz="2400" noProof="1">
                <a:solidFill>
                  <a:srgbClr val="00B050"/>
                </a:solidFill>
              </a:rPr>
              <a:t>(my</a:t>
            </a:r>
            <a:r>
              <a:rPr lang="en-GB" sz="2400" noProof="1">
                <a:solidFill>
                  <a:srgbClr val="00B050"/>
                </a:solidFill>
              </a:rPr>
              <a:t>Photo</a:t>
            </a:r>
            <a:r>
              <a:rPr sz="2400" noProof="1">
                <a:solidFill>
                  <a:srgbClr val="00B050"/>
                </a:solidFill>
              </a:rPr>
              <a:t>);</a:t>
            </a:r>
            <a:endParaRPr lang="en-IE" sz="2400" noProof="1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defRPr/>
            </a:pPr>
            <a:r>
              <a:rPr lang="en-AU" sz="2800" b="0" dirty="0">
                <a:solidFill>
                  <a:srgbClr val="1A3170"/>
                </a:solidFill>
                <a:latin typeface="Trebuchet MS" charset="0"/>
              </a:rPr>
              <a:t>or:</a:t>
            </a:r>
          </a:p>
          <a:p>
            <a:pPr>
              <a:spcBef>
                <a:spcPct val="0"/>
              </a:spcBef>
              <a:defRPr/>
            </a:pPr>
            <a:r>
              <a:rPr lang="en-AU" sz="2400" dirty="0">
                <a:solidFill>
                  <a:srgbClr val="FF0000"/>
                </a:solidFill>
              </a:rPr>
              <a:t>  </a:t>
            </a:r>
            <a:r>
              <a:rPr lang="en-AU" sz="2400" dirty="0" err="1">
                <a:solidFill>
                  <a:srgbClr val="FF0000"/>
                </a:solidFill>
              </a:rPr>
              <a:t>MessagePost</a:t>
            </a:r>
            <a:r>
              <a:rPr lang="en-AU" sz="2400" dirty="0">
                <a:solidFill>
                  <a:srgbClr val="FF0000"/>
                </a:solidFill>
              </a:rPr>
              <a:t> </a:t>
            </a:r>
            <a:r>
              <a:rPr lang="en-AU" sz="2400" noProof="1">
                <a:solidFill>
                  <a:srgbClr val="FF0000"/>
                </a:solidFill>
              </a:rPr>
              <a:t>myMessage = new </a:t>
            </a:r>
            <a:r>
              <a:rPr lang="en-AU" sz="2400" dirty="0" err="1">
                <a:solidFill>
                  <a:srgbClr val="FF0000"/>
                </a:solidFill>
              </a:rPr>
              <a:t>MessagePost</a:t>
            </a:r>
            <a:r>
              <a:rPr lang="en-AU" sz="2400" noProof="1">
                <a:solidFill>
                  <a:srgbClr val="FF0000"/>
                </a:solidFill>
              </a:rPr>
              <a:t>(...);</a:t>
            </a:r>
          </a:p>
          <a:p>
            <a:pPr>
              <a:spcBef>
                <a:spcPct val="0"/>
              </a:spcBef>
              <a:defRPr/>
            </a:pPr>
            <a:r>
              <a:rPr lang="en-AU" sz="2400" noProof="1">
                <a:solidFill>
                  <a:srgbClr val="FF0000"/>
                </a:solidFill>
              </a:rPr>
              <a:t>  feed</a:t>
            </a:r>
            <a:r>
              <a:rPr lang="en-AU" sz="2400" u="sng" noProof="1">
                <a:solidFill>
                  <a:srgbClr val="FF0000"/>
                </a:solidFill>
              </a:rPr>
              <a:t>.addPost</a:t>
            </a:r>
            <a:r>
              <a:rPr lang="en-AU" sz="2400" noProof="1">
                <a:solidFill>
                  <a:srgbClr val="FF0000"/>
                </a:solidFill>
              </a:rPr>
              <a:t>(myMessage);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728A2EF-6E4F-4C5E-A6B3-10D6B9712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41" y="1523326"/>
            <a:ext cx="9982200" cy="15548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sz="2800" b="0" noProof="1">
                <a:solidFill>
                  <a:srgbClr val="1A3170"/>
                </a:solidFill>
                <a:latin typeface="Trebuchet MS" charset="0"/>
              </a:rPr>
              <a:t>First, we had:</a:t>
            </a:r>
            <a:endParaRPr lang="en-GB" sz="2400" noProof="1"/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FF0000"/>
                </a:solidFill>
              </a:rPr>
              <a:t>public void add</a:t>
            </a:r>
            <a:r>
              <a:rPr lang="en-GB" sz="2400" noProof="1">
                <a:solidFill>
                  <a:srgbClr val="FF0000"/>
                </a:solidFill>
              </a:rPr>
              <a:t>MessagePost</a:t>
            </a:r>
            <a:r>
              <a:rPr sz="2400" noProof="1">
                <a:solidFill>
                  <a:srgbClr val="FF0000"/>
                </a:solidFill>
              </a:rPr>
              <a:t>(</a:t>
            </a:r>
            <a:r>
              <a:rPr lang="en-GB" sz="2400" noProof="1">
                <a:solidFill>
                  <a:srgbClr val="FF0000"/>
                </a:solidFill>
              </a:rPr>
              <a:t>MessagePost message</a:t>
            </a:r>
            <a:r>
              <a:rPr sz="2400" noProof="1">
                <a:solidFill>
                  <a:srgbClr val="FF0000"/>
                </a:solidFill>
              </a:rPr>
              <a:t>)</a:t>
            </a:r>
          </a:p>
          <a:p>
            <a:pPr>
              <a:spcBef>
                <a:spcPct val="0"/>
              </a:spcBef>
              <a:defRPr/>
            </a:pPr>
            <a:r>
              <a:rPr sz="2400" noProof="1">
                <a:solidFill>
                  <a:srgbClr val="00B050"/>
                </a:solidFill>
              </a:rPr>
              <a:t>public void add</a:t>
            </a:r>
            <a:r>
              <a:rPr lang="en-GB" sz="2400" noProof="1">
                <a:solidFill>
                  <a:srgbClr val="00B050"/>
                </a:solidFill>
              </a:rPr>
              <a:t>PhotoPost</a:t>
            </a:r>
            <a:r>
              <a:rPr sz="2400" noProof="1">
                <a:solidFill>
                  <a:srgbClr val="00B050"/>
                </a:solidFill>
              </a:rPr>
              <a:t>(</a:t>
            </a:r>
            <a:r>
              <a:rPr lang="en-GB" sz="2400" noProof="1">
                <a:solidFill>
                  <a:srgbClr val="00B050"/>
                </a:solidFill>
              </a:rPr>
              <a:t>PhotoPost</a:t>
            </a:r>
            <a:r>
              <a:rPr sz="2400" noProof="1">
                <a:solidFill>
                  <a:srgbClr val="00B050"/>
                </a:solidFill>
              </a:rPr>
              <a:t> </a:t>
            </a:r>
            <a:r>
              <a:rPr lang="en-GB" sz="2400" noProof="1">
                <a:solidFill>
                  <a:srgbClr val="00B050"/>
                </a:solidFill>
              </a:rPr>
              <a:t>photo</a:t>
            </a:r>
            <a:r>
              <a:rPr sz="2400" noProof="1">
                <a:solidFill>
                  <a:srgbClr val="00B050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24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Subclasses and subtyping</a:t>
            </a:r>
          </a:p>
        </p:txBody>
      </p:sp>
      <p:sp>
        <p:nvSpPr>
          <p:cNvPr id="191492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Classes define </a:t>
            </a:r>
            <a:r>
              <a:rPr lang="en-GB" b="1" i="1" dirty="0">
                <a:ea typeface="+mn-ea"/>
                <a:cs typeface="+mn-cs"/>
              </a:rPr>
              <a:t>types</a:t>
            </a:r>
            <a:r>
              <a:rPr lang="en-GB" dirty="0">
                <a:ea typeface="+mn-ea"/>
                <a:cs typeface="+mn-cs"/>
              </a:rPr>
              <a:t>.</a:t>
            </a:r>
          </a:p>
          <a:p>
            <a:pPr eaLnBrk="1" hangingPunct="1">
              <a:defRPr/>
            </a:pP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Subclasses define </a:t>
            </a:r>
            <a:r>
              <a:rPr lang="en-GB" b="1" i="1" dirty="0">
                <a:ea typeface="+mn-ea"/>
                <a:cs typeface="+mn-cs"/>
              </a:rPr>
              <a:t>subtypes</a:t>
            </a:r>
            <a:r>
              <a:rPr lang="en-GB" dirty="0">
                <a:ea typeface="+mn-ea"/>
                <a:cs typeface="+mn-cs"/>
              </a:rPr>
              <a:t>.</a:t>
            </a:r>
          </a:p>
          <a:p>
            <a:pPr eaLnBrk="1" hangingPunct="1">
              <a:defRPr/>
            </a:pP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solidFill>
                  <a:srgbClr val="FF0000"/>
                </a:solidFill>
                <a:ea typeface="+mn-ea"/>
                <a:cs typeface="+mn-cs"/>
              </a:rPr>
              <a:t>Substitution</a:t>
            </a:r>
            <a:r>
              <a:rPr lang="en-GB" dirty="0">
                <a:ea typeface="+mn-ea"/>
                <a:cs typeface="+mn-cs"/>
              </a:rPr>
              <a:t>:  </a:t>
            </a:r>
            <a:endParaRPr lang="en-GB" dirty="0"/>
          </a:p>
          <a:p>
            <a:pPr lvl="1">
              <a:defRPr/>
            </a:pPr>
            <a:r>
              <a:rPr lang="en-GB" dirty="0">
                <a:ea typeface="+mn-ea"/>
                <a:cs typeface="+mn-cs"/>
              </a:rPr>
              <a:t>objects of </a:t>
            </a:r>
            <a:r>
              <a:rPr lang="en-GB" b="1" i="1" dirty="0">
                <a:ea typeface="+mn-ea"/>
                <a:cs typeface="+mn-cs"/>
              </a:rPr>
              <a:t>subclasses</a:t>
            </a:r>
            <a:r>
              <a:rPr lang="en-GB" dirty="0">
                <a:ea typeface="+mn-ea"/>
                <a:cs typeface="+mn-cs"/>
              </a:rPr>
              <a:t> can be used </a:t>
            </a:r>
            <a:br>
              <a:rPr lang="en-GB" dirty="0">
                <a:ea typeface="+mn-ea"/>
                <a:cs typeface="+mn-cs"/>
              </a:rPr>
            </a:br>
            <a:r>
              <a:rPr lang="en-GB" dirty="0">
                <a:ea typeface="+mn-ea"/>
                <a:cs typeface="+mn-cs"/>
              </a:rPr>
              <a:t>where objects of </a:t>
            </a:r>
            <a:r>
              <a:rPr lang="en-GB" b="1" i="1" dirty="0" err="1">
                <a:ea typeface="+mn-ea"/>
                <a:cs typeface="+mn-cs"/>
              </a:rPr>
              <a:t>supertypes</a:t>
            </a:r>
            <a:r>
              <a:rPr lang="en-GB" dirty="0">
                <a:ea typeface="+mn-ea"/>
                <a:cs typeface="+mn-cs"/>
              </a:rPr>
              <a:t> are required.</a:t>
            </a:r>
            <a:br>
              <a:rPr lang="en-GB" dirty="0">
                <a:ea typeface="+mn-ea"/>
                <a:cs typeface="+mn-cs"/>
              </a:rPr>
            </a:br>
            <a:endParaRPr lang="en-GB" dirty="0"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7534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Subtyping and assignment</a:t>
            </a:r>
          </a:p>
        </p:txBody>
      </p:sp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3682405" y="4666972"/>
            <a:ext cx="5252641" cy="161643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8000" tIns="190800" rIns="162000" bIns="19080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noProof="1"/>
              <a:t>Vehicle v1 = new Vehicle();</a:t>
            </a:r>
            <a:endParaRPr lang="en-IE" noProof="1"/>
          </a:p>
          <a:p>
            <a:pPr>
              <a:spcBef>
                <a:spcPct val="0"/>
              </a:spcBef>
              <a:defRPr/>
            </a:pPr>
            <a:endParaRPr noProof="1"/>
          </a:p>
          <a:p>
            <a:pPr>
              <a:spcBef>
                <a:spcPct val="0"/>
              </a:spcBef>
              <a:defRPr/>
            </a:pPr>
            <a:r>
              <a:rPr noProof="1"/>
              <a:t>Vehicle v2 = new Car();</a:t>
            </a:r>
          </a:p>
          <a:p>
            <a:pPr>
              <a:spcBef>
                <a:spcPct val="0"/>
              </a:spcBef>
              <a:defRPr/>
            </a:pPr>
            <a:r>
              <a:rPr lang="en-US" dirty="0"/>
              <a:t>Vehicle v3 = new Bicycle();</a:t>
            </a:r>
            <a:endParaRPr lang="en-AU" dirty="0"/>
          </a:p>
        </p:txBody>
      </p:sp>
      <p:sp>
        <p:nvSpPr>
          <p:cNvPr id="30725" name="Text Box 7"/>
          <p:cNvSpPr txBox="1">
            <a:spLocks noChangeArrowheads="1"/>
          </p:cNvSpPr>
          <p:nvPr/>
        </p:nvSpPr>
        <p:spPr bwMode="auto">
          <a:xfrm>
            <a:off x="7467600" y="2057401"/>
            <a:ext cx="2971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i="1" dirty="0">
                <a:latin typeface="Trebuchet MS" charset="0"/>
              </a:rPr>
              <a:t>sub</a:t>
            </a:r>
            <a:r>
              <a:rPr lang="en-GB" sz="2400" b="0" i="1" dirty="0">
                <a:latin typeface="Trebuchet MS" charset="0"/>
              </a:rPr>
              <a:t>class objects </a:t>
            </a:r>
            <a:r>
              <a:rPr lang="en-GB" sz="2400" i="1" dirty="0">
                <a:latin typeface="Trebuchet MS" charset="0"/>
              </a:rPr>
              <a:t>may be assigned to super</a:t>
            </a:r>
            <a:r>
              <a:rPr lang="en-GB" sz="2400" b="0" i="1" dirty="0">
                <a:latin typeface="Trebuchet MS" charset="0"/>
              </a:rPr>
              <a:t>class variables</a:t>
            </a:r>
          </a:p>
        </p:txBody>
      </p:sp>
      <p:pic>
        <p:nvPicPr>
          <p:cNvPr id="30726" name="Picture 8" descr="fig8-13-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1628776"/>
            <a:ext cx="4514850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onut 5"/>
          <p:cNvSpPr/>
          <p:nvPr/>
        </p:nvSpPr>
        <p:spPr>
          <a:xfrm flipV="1">
            <a:off x="6308725" y="5334000"/>
            <a:ext cx="1844675" cy="91440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051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Subtyping and parameter passing</a:t>
            </a: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620110" y="1601670"/>
            <a:ext cx="6858000" cy="397033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sz="1800" noProof="1"/>
              <a:t>public class </a:t>
            </a:r>
            <a:r>
              <a:rPr lang="en-GB" sz="1800" noProof="1"/>
              <a:t>NewsFeed</a:t>
            </a:r>
            <a:endParaRPr sz="1800" noProof="1"/>
          </a:p>
          <a:p>
            <a:pPr>
              <a:spcBef>
                <a:spcPct val="0"/>
              </a:spcBef>
              <a:defRPr/>
            </a:pPr>
            <a:r>
              <a:rPr sz="1800" noProof="1"/>
              <a:t>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public void add</a:t>
            </a:r>
            <a:r>
              <a:rPr lang="en-GB" sz="1800" noProof="1"/>
              <a:t>Post</a:t>
            </a:r>
            <a:r>
              <a:rPr sz="1800" noProof="1"/>
              <a:t>(</a:t>
            </a:r>
            <a:r>
              <a:rPr lang="en-GB" sz="1800" noProof="1"/>
              <a:t>Post</a:t>
            </a:r>
            <a:r>
              <a:rPr sz="1800" noProof="1"/>
              <a:t> </a:t>
            </a:r>
            <a:r>
              <a:rPr lang="en-GB" sz="1800" noProof="1"/>
              <a:t>post</a:t>
            </a:r>
            <a:r>
              <a:rPr sz="1800" noProof="1"/>
              <a:t>)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{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    ...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    }</a:t>
            </a:r>
          </a:p>
          <a:p>
            <a:pPr>
              <a:spcBef>
                <a:spcPct val="0"/>
              </a:spcBef>
              <a:defRPr/>
            </a:pPr>
            <a:r>
              <a:rPr sz="1800" noProof="1"/>
              <a:t>}</a:t>
            </a:r>
            <a:endParaRPr lang="en-GB" sz="1800" noProof="1"/>
          </a:p>
          <a:p>
            <a:pPr>
              <a:spcBef>
                <a:spcPct val="0"/>
              </a:spcBef>
              <a:defRPr/>
            </a:pPr>
            <a:endParaRPr sz="1800" noProof="1"/>
          </a:p>
          <a:p>
            <a:pPr>
              <a:spcBef>
                <a:spcPct val="0"/>
              </a:spcBef>
              <a:defRPr/>
            </a:pPr>
            <a:r>
              <a:rPr lang="en-GB" sz="1800" noProof="1"/>
              <a:t>PhotoPost</a:t>
            </a:r>
            <a:r>
              <a:rPr sz="1800" noProof="1"/>
              <a:t> </a:t>
            </a:r>
            <a:r>
              <a:rPr lang="en-GB" sz="1800" dirty="0"/>
              <a:t>photo </a:t>
            </a:r>
            <a:r>
              <a:rPr sz="1800" noProof="1"/>
              <a:t>= new </a:t>
            </a:r>
            <a:r>
              <a:rPr lang="en-US" sz="1800" noProof="1"/>
              <a:t>PhotoPost</a:t>
            </a:r>
            <a:r>
              <a:rPr sz="1800" noProof="1"/>
              <a:t>(...);</a:t>
            </a:r>
          </a:p>
          <a:p>
            <a:pPr>
              <a:spcBef>
                <a:spcPct val="0"/>
              </a:spcBef>
              <a:defRPr/>
            </a:pPr>
            <a:r>
              <a:rPr lang="en-GB" sz="1800" noProof="1"/>
              <a:t>MessagePost message </a:t>
            </a:r>
            <a:r>
              <a:rPr sz="1800" noProof="1"/>
              <a:t>= new </a:t>
            </a:r>
            <a:r>
              <a:rPr lang="en-GB" sz="1800" noProof="1"/>
              <a:t>MessagePost(</a:t>
            </a:r>
            <a:r>
              <a:rPr sz="1800" noProof="1"/>
              <a:t>...);</a:t>
            </a:r>
          </a:p>
          <a:p>
            <a:pPr>
              <a:spcBef>
                <a:spcPct val="0"/>
              </a:spcBef>
              <a:defRPr/>
            </a:pPr>
            <a:endParaRPr sz="1800" noProof="1"/>
          </a:p>
          <a:p>
            <a:pPr>
              <a:spcBef>
                <a:spcPct val="0"/>
              </a:spcBef>
              <a:defRPr/>
            </a:pPr>
            <a:r>
              <a:rPr lang="en-GB" sz="1800" noProof="1"/>
              <a:t>feed</a:t>
            </a:r>
            <a:r>
              <a:rPr sz="1800" noProof="1"/>
              <a:t>.add</a:t>
            </a:r>
            <a:r>
              <a:rPr lang="en-GB" sz="1800" noProof="1"/>
              <a:t>Post</a:t>
            </a:r>
            <a:r>
              <a:rPr sz="1800" noProof="1"/>
              <a:t>(</a:t>
            </a:r>
            <a:r>
              <a:rPr lang="en-GB" sz="1800" noProof="1"/>
              <a:t>photo</a:t>
            </a:r>
            <a:r>
              <a:rPr sz="1800" noProof="1"/>
              <a:t>);</a:t>
            </a:r>
          </a:p>
          <a:p>
            <a:pPr>
              <a:spcBef>
                <a:spcPct val="0"/>
              </a:spcBef>
              <a:defRPr/>
            </a:pPr>
            <a:r>
              <a:rPr lang="en-US" sz="1800" dirty="0" err="1"/>
              <a:t>feed.addPost</a:t>
            </a:r>
            <a:r>
              <a:rPr lang="en-US" sz="1800" dirty="0"/>
              <a:t>(message);</a:t>
            </a:r>
            <a:endParaRPr lang="en-GB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880625"/>
            <a:ext cx="1917700" cy="1451862"/>
          </a:xfrm>
          <a:prstGeom prst="rect">
            <a:avLst/>
          </a:prstGeom>
        </p:spPr>
      </p:pic>
      <p:sp>
        <p:nvSpPr>
          <p:cNvPr id="8" name="Frame 7"/>
          <p:cNvSpPr/>
          <p:nvPr/>
        </p:nvSpPr>
        <p:spPr>
          <a:xfrm>
            <a:off x="2347650" y="5244982"/>
            <a:ext cx="1320460" cy="242888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Frame 8"/>
          <p:cNvSpPr/>
          <p:nvPr/>
        </p:nvSpPr>
        <p:spPr>
          <a:xfrm>
            <a:off x="2347650" y="4954912"/>
            <a:ext cx="1320460" cy="280544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4582510" y="2416056"/>
            <a:ext cx="609600" cy="3810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3112995" y="4126448"/>
            <a:ext cx="2688715" cy="280544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Frame 11"/>
          <p:cNvSpPr/>
          <p:nvPr/>
        </p:nvSpPr>
        <p:spPr>
          <a:xfrm>
            <a:off x="3678996" y="4427857"/>
            <a:ext cx="2960914" cy="298013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1749" name="Text Box 8"/>
          <p:cNvSpPr txBox="1">
            <a:spLocks noChangeArrowheads="1"/>
          </p:cNvSpPr>
          <p:nvPr/>
        </p:nvSpPr>
        <p:spPr bwMode="auto">
          <a:xfrm>
            <a:off x="3810000" y="4954185"/>
            <a:ext cx="8077200" cy="8309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i="1" dirty="0">
                <a:solidFill>
                  <a:srgbClr val="F37A20"/>
                </a:solidFill>
                <a:latin typeface="Trebuchet MS" charset="0"/>
              </a:rPr>
              <a:t>sub</a:t>
            </a:r>
            <a:r>
              <a:rPr lang="en-GB" sz="2400" b="0" i="1" dirty="0">
                <a:solidFill>
                  <a:srgbClr val="F37A20"/>
                </a:solidFill>
                <a:latin typeface="Trebuchet MS" charset="0"/>
              </a:rPr>
              <a:t>class objects may be used as actual parameters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GB" sz="2400" b="0" i="1" dirty="0">
                <a:solidFill>
                  <a:srgbClr val="F37A20"/>
                </a:solidFill>
                <a:latin typeface="Trebuchet MS" charset="0"/>
              </a:rPr>
              <a:t>when a </a:t>
            </a:r>
            <a:r>
              <a:rPr lang="en-GB" sz="2400" i="1" dirty="0">
                <a:solidFill>
                  <a:srgbClr val="F37A20"/>
                </a:solidFill>
                <a:latin typeface="Trebuchet MS" charset="0"/>
              </a:rPr>
              <a:t>super</a:t>
            </a:r>
            <a:r>
              <a:rPr lang="en-GB" sz="2400" b="0" i="1" dirty="0">
                <a:solidFill>
                  <a:srgbClr val="F37A20"/>
                </a:solidFill>
                <a:latin typeface="Trebuchet MS" charset="0"/>
              </a:rPr>
              <a:t>class is required.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3019E1-6B65-224D-A3BF-729748F4617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077199" y="3402513"/>
            <a:ext cx="598665" cy="1669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1EE0F7-B95B-DD46-BBA2-C99258301A4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772697" y="3402514"/>
            <a:ext cx="599903" cy="7239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93356CA-21E9-3647-B524-4D4F716E14D8}"/>
              </a:ext>
            </a:extLst>
          </p:cNvPr>
          <p:cNvGrpSpPr/>
          <p:nvPr/>
        </p:nvGrpSpPr>
        <p:grpSpPr>
          <a:xfrm>
            <a:off x="9389165" y="1829876"/>
            <a:ext cx="990600" cy="830997"/>
            <a:chOff x="7300216" y="129483"/>
            <a:chExt cx="1412742" cy="121440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4F2AA9-2B7C-DB4E-A31B-5FD322F84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00216" y="129483"/>
              <a:ext cx="1412742" cy="121440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EE65FF-E356-9449-8B49-9C6F1CC0E7EF}"/>
                </a:ext>
              </a:extLst>
            </p:cNvPr>
            <p:cNvSpPr txBox="1"/>
            <p:nvPr/>
          </p:nvSpPr>
          <p:spPr>
            <a:xfrm>
              <a:off x="7300216" y="129483"/>
              <a:ext cx="41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v2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CAEF64-34B7-E546-B5DD-0CFDFDDFD7C8}"/>
              </a:ext>
            </a:extLst>
          </p:cNvPr>
          <p:cNvSpPr txBox="1"/>
          <p:nvPr/>
        </p:nvSpPr>
        <p:spPr>
          <a:xfrm>
            <a:off x="533400" y="6042815"/>
            <a:ext cx="10090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other words in this example the superclass post has a method </a:t>
            </a:r>
            <a:r>
              <a:rPr lang="en-GB" b="1" i="1" dirty="0" err="1">
                <a:highlight>
                  <a:srgbClr val="FFFF00"/>
                </a:highlight>
              </a:rPr>
              <a:t>addPost</a:t>
            </a:r>
            <a:r>
              <a:rPr lang="en-GB" dirty="0"/>
              <a:t> that expects a </a:t>
            </a:r>
            <a:r>
              <a:rPr lang="en-GB" b="1" i="1" dirty="0">
                <a:highlight>
                  <a:srgbClr val="FFFF00"/>
                </a:highlight>
              </a:rPr>
              <a:t>Post</a:t>
            </a:r>
            <a:r>
              <a:rPr lang="en-GB" b="1" dirty="0"/>
              <a:t> </a:t>
            </a:r>
            <a:r>
              <a:rPr lang="en-GB" dirty="0"/>
              <a:t>parameter. </a:t>
            </a:r>
            <a:br>
              <a:rPr lang="en-GB" dirty="0"/>
            </a:br>
            <a:r>
              <a:rPr lang="en-GB" dirty="0"/>
              <a:t>You can call </a:t>
            </a:r>
            <a:r>
              <a:rPr lang="en-GB" b="1" i="1" dirty="0" err="1"/>
              <a:t>addPost</a:t>
            </a:r>
            <a:r>
              <a:rPr lang="en-GB" dirty="0"/>
              <a:t> but pass in a parameter which is a subclass of </a:t>
            </a:r>
            <a:r>
              <a:rPr lang="en-GB" b="1" i="1" dirty="0"/>
              <a:t>Post</a:t>
            </a:r>
            <a:r>
              <a:rPr lang="en-GB" dirty="0"/>
              <a:t> e.g. a </a:t>
            </a:r>
            <a:r>
              <a:rPr lang="en-GB" b="1" i="1" dirty="0" err="1">
                <a:solidFill>
                  <a:srgbClr val="00B050"/>
                </a:solidFill>
              </a:rPr>
              <a:t>PhotoPost</a:t>
            </a:r>
            <a:r>
              <a:rPr lang="en-GB" dirty="0"/>
              <a:t> or  </a:t>
            </a:r>
            <a:r>
              <a:rPr lang="en-GB" b="1" i="1" dirty="0" err="1">
                <a:solidFill>
                  <a:srgbClr val="FF0000"/>
                </a:solidFill>
              </a:rPr>
              <a:t>MessagePost</a:t>
            </a:r>
            <a:endParaRPr lang="en-GB" b="1" i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2379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Social Network V2 - </a:t>
            </a:r>
            <a:r>
              <a:rPr lang="en-US" b="1" dirty="0">
                <a:ea typeface="+mj-ea"/>
                <a:cs typeface="+mj-cs"/>
              </a:rPr>
              <a:t>Object diagram</a:t>
            </a:r>
          </a:p>
        </p:txBody>
      </p:sp>
      <p:pic>
        <p:nvPicPr>
          <p:cNvPr id="32772" name="Picture 1" descr="fig8-unused-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770064"/>
            <a:ext cx="7339012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352800" y="4953000"/>
            <a:ext cx="1219200" cy="533400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4724400" y="4953001"/>
            <a:ext cx="1143000" cy="5334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5562600" y="3124200"/>
            <a:ext cx="2362200" cy="5334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8610600" y="4942114"/>
            <a:ext cx="1143000" cy="5334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5943600" y="4931228"/>
            <a:ext cx="1219200" cy="555172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7271657" y="4920342"/>
            <a:ext cx="1219200" cy="555172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2895600" y="1981200"/>
            <a:ext cx="2133600" cy="1066800"/>
          </a:xfrm>
          <a:prstGeom prst="frame">
            <a:avLst>
              <a:gd name="adj1" fmla="val 377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116811" y="5713312"/>
            <a:ext cx="765057" cy="9232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370513" y="5716971"/>
            <a:ext cx="1695450" cy="4728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943600" y="5716971"/>
            <a:ext cx="1695450" cy="47288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271657" y="5716971"/>
            <a:ext cx="1695450" cy="47288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967108" y="5696297"/>
            <a:ext cx="765057" cy="923233"/>
          </a:xfrm>
          <a:prstGeom prst="rect">
            <a:avLst/>
          </a:prstGeom>
        </p:spPr>
      </p:pic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6406923" y="1911098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en-GB" sz="2400" b="0" i="1" dirty="0" err="1">
                <a:solidFill>
                  <a:srgbClr val="00B0F0"/>
                </a:solidFill>
                <a:latin typeface="+mn-lt"/>
              </a:rPr>
              <a:t>NewsFeed</a:t>
            </a:r>
            <a:r>
              <a:rPr lang="en-GB" sz="2400" b="0" i="1" dirty="0">
                <a:solidFill>
                  <a:srgbClr val="00B0F0"/>
                </a:solidFill>
                <a:latin typeface="+mn-lt"/>
              </a:rPr>
              <a:t> object </a:t>
            </a:r>
            <a:br>
              <a:rPr lang="en-GB" sz="2400" b="0" i="1" dirty="0">
                <a:solidFill>
                  <a:srgbClr val="00B0F0"/>
                </a:solidFill>
                <a:latin typeface="+mn-lt"/>
              </a:rPr>
            </a:br>
            <a:r>
              <a:rPr lang="en-GB" sz="2400" b="0" i="1" dirty="0">
                <a:solidFill>
                  <a:srgbClr val="00B0F0"/>
                </a:solidFill>
                <a:latin typeface="+mn-lt"/>
              </a:rPr>
              <a:t>holds a </a:t>
            </a:r>
            <a:r>
              <a:rPr lang="en-GB" sz="2400" i="1" dirty="0">
                <a:solidFill>
                  <a:srgbClr val="00B0F0"/>
                </a:solidFill>
                <a:latin typeface="+mn-lt"/>
              </a:rPr>
              <a:t>single</a:t>
            </a:r>
            <a:r>
              <a:rPr lang="en-GB" sz="2400" b="0" i="1" dirty="0">
                <a:solidFill>
                  <a:srgbClr val="00B0F0"/>
                </a:solidFill>
                <a:latin typeface="+mn-lt"/>
              </a:rPr>
              <a:t> mixed collection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404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dirty="0"/>
              <a:t>Super and subclasses</a:t>
            </a:r>
          </a:p>
          <a:p>
            <a:pPr lvl="1">
              <a:defRPr/>
            </a:pPr>
            <a:r>
              <a:rPr lang="en-US" dirty="0"/>
              <a:t>Using constructors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b="1" dirty="0"/>
              <a:t>Polymorphic</a:t>
            </a:r>
            <a:r>
              <a:rPr lang="en-US" dirty="0"/>
              <a:t> </a:t>
            </a:r>
          </a:p>
          <a:p>
            <a:pPr marL="914400" lvl="1" indent="-514350">
              <a:buFont typeface="+mj-lt"/>
              <a:buAutoNum type="alphaLcParenR"/>
              <a:defRPr/>
            </a:pPr>
            <a:r>
              <a:rPr lang="en-US" dirty="0"/>
              <a:t>Variables </a:t>
            </a:r>
          </a:p>
          <a:p>
            <a:pPr marL="914400" lvl="1" indent="-514350">
              <a:buFont typeface="+mj-lt"/>
              <a:buAutoNum type="alphaLcParenR"/>
              <a:defRPr/>
            </a:pPr>
            <a:r>
              <a:rPr lang="en-US" dirty="0"/>
              <a:t>Collections</a:t>
            </a:r>
          </a:p>
          <a:p>
            <a:pPr marL="914400" lvl="1" indent="-514350">
              <a:defRPr/>
            </a:pPr>
            <a:r>
              <a:rPr lang="en-US" dirty="0"/>
              <a:t>casting, wrapper classes, autoboxing /unboxing</a:t>
            </a:r>
          </a:p>
          <a:p>
            <a:pPr marL="0" indent="0">
              <a:buNone/>
            </a:pPr>
            <a:endParaRPr lang="en-IE" dirty="0"/>
          </a:p>
          <a:p>
            <a:pPr marL="914400" lvl="1" indent="-514350">
              <a:buFont typeface="+mj-lt"/>
              <a:buAutoNum type="arabicPeriod"/>
              <a:defRPr/>
            </a:pPr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3922" y="5052955"/>
            <a:ext cx="8610600" cy="1524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0" y="5413176"/>
            <a:ext cx="2396217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839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7 a) Polymorphic</a:t>
            </a:r>
            <a:r>
              <a:rPr lang="en-US" dirty="0">
                <a:ea typeface="+mj-ea"/>
                <a:cs typeface="+mj-cs"/>
              </a:rPr>
              <a:t> </a:t>
            </a:r>
            <a:r>
              <a:rPr lang="en-US" b="1" dirty="0">
                <a:ea typeface="+mj-ea"/>
                <a:cs typeface="+mj-cs"/>
              </a:rPr>
              <a:t>variables</a:t>
            </a:r>
          </a:p>
        </p:txBody>
      </p:sp>
      <p:sp>
        <p:nvSpPr>
          <p:cNvPr id="194564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endParaRPr lang="en-GB" sz="3600" dirty="0"/>
          </a:p>
          <a:p>
            <a:pPr eaLnBrk="1" hangingPunct="1">
              <a:defRPr/>
            </a:pPr>
            <a:r>
              <a:rPr lang="en-GB" sz="3600" dirty="0"/>
              <a:t>Object variables in Java are </a:t>
            </a:r>
            <a:r>
              <a:rPr lang="en-GB" sz="3600" b="1" dirty="0">
                <a:solidFill>
                  <a:srgbClr val="A57133"/>
                </a:solidFill>
              </a:rPr>
              <a:t>polymorphic</a:t>
            </a:r>
            <a:br>
              <a:rPr lang="en-GB" sz="3600" b="1" dirty="0">
                <a:solidFill>
                  <a:srgbClr val="A57133"/>
                </a:solidFill>
              </a:rPr>
            </a:br>
            <a:r>
              <a:rPr lang="en-GB" sz="3600" b="1" dirty="0">
                <a:solidFill>
                  <a:srgbClr val="A57133"/>
                </a:solidFill>
              </a:rPr>
              <a:t>	</a:t>
            </a:r>
          </a:p>
          <a:p>
            <a:pPr lvl="1">
              <a:defRPr/>
            </a:pPr>
            <a:r>
              <a:rPr lang="en-GB" sz="3200" dirty="0"/>
              <a:t>T</a:t>
            </a:r>
            <a:r>
              <a:rPr lang="en-GB" dirty="0"/>
              <a:t>hey can hold objects of</a:t>
            </a:r>
            <a:br>
              <a:rPr lang="en-GB" dirty="0"/>
            </a:br>
            <a:endParaRPr lang="en-GB" dirty="0"/>
          </a:p>
          <a:p>
            <a:pPr marL="1485900" lvl="2" indent="-571500">
              <a:buFont typeface="+mj-lt"/>
              <a:buAutoNum type="romanLcPeriod"/>
              <a:defRPr/>
            </a:pPr>
            <a:r>
              <a:rPr lang="en-GB" sz="2800" dirty="0"/>
              <a:t>more than one </a:t>
            </a:r>
            <a:r>
              <a:rPr lang="en-GB" sz="2800" b="1" dirty="0"/>
              <a:t>type</a:t>
            </a:r>
          </a:p>
          <a:p>
            <a:pPr marL="1485900" lvl="2" indent="-571500">
              <a:buFont typeface="+mj-lt"/>
              <a:buAutoNum type="romanLcPeriod"/>
              <a:defRPr/>
            </a:pPr>
            <a:r>
              <a:rPr lang="en-GB" sz="2800" dirty="0"/>
              <a:t>the declared </a:t>
            </a:r>
            <a:r>
              <a:rPr lang="en-GB" sz="2800" b="1" dirty="0"/>
              <a:t>type</a:t>
            </a:r>
          </a:p>
          <a:p>
            <a:pPr marL="1485900" lvl="2" indent="-571500">
              <a:buFont typeface="+mj-lt"/>
              <a:buAutoNum type="romanLcPeriod"/>
              <a:defRPr/>
            </a:pPr>
            <a:r>
              <a:rPr lang="en-GB" sz="2800" dirty="0"/>
              <a:t>sub</a:t>
            </a:r>
            <a:r>
              <a:rPr lang="en-GB" sz="2800" b="1" dirty="0"/>
              <a:t>types</a:t>
            </a:r>
            <a:r>
              <a:rPr lang="en-GB" sz="2800" dirty="0"/>
              <a:t> </a:t>
            </a:r>
            <a:r>
              <a:rPr lang="en-GB" sz="2800" i="1" dirty="0"/>
              <a:t>(of the declared type).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7521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1" descr="fig8-unused-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770064"/>
            <a:ext cx="7339012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ame 3"/>
          <p:cNvSpPr/>
          <p:nvPr/>
        </p:nvSpPr>
        <p:spPr>
          <a:xfrm>
            <a:off x="3352800" y="4953000"/>
            <a:ext cx="1219200" cy="533400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4724400" y="4953001"/>
            <a:ext cx="1143000" cy="5334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5562600" y="3124200"/>
            <a:ext cx="2362200" cy="533400"/>
          </a:xfrm>
          <a:prstGeom prst="frame">
            <a:avLst>
              <a:gd name="adj1" fmla="val 377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8610600" y="4942114"/>
            <a:ext cx="1143000" cy="533400"/>
          </a:xfrm>
          <a:prstGeom prst="frame">
            <a:avLst>
              <a:gd name="adj1" fmla="val 377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5943600" y="4931228"/>
            <a:ext cx="1219200" cy="555172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7271657" y="4920342"/>
            <a:ext cx="1219200" cy="555172"/>
          </a:xfrm>
          <a:prstGeom prst="frame">
            <a:avLst>
              <a:gd name="adj1" fmla="val 377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2895600" y="1981200"/>
            <a:ext cx="2133600" cy="1066800"/>
          </a:xfrm>
          <a:prstGeom prst="frame">
            <a:avLst>
              <a:gd name="adj1" fmla="val 377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685800" y="474663"/>
            <a:ext cx="10896599" cy="9824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600" dirty="0">
                <a:ea typeface="+mj-ea"/>
                <a:cs typeface="+mj-cs"/>
              </a:rPr>
              <a:t>Social Network V2 – </a:t>
            </a:r>
            <a:r>
              <a:rPr lang="en-US" sz="3600" b="1" dirty="0">
                <a:ea typeface="+mj-ea"/>
                <a:cs typeface="+mj-cs"/>
              </a:rPr>
              <a:t>polymorphic</a:t>
            </a:r>
            <a:r>
              <a:rPr lang="en-US" sz="3600" dirty="0">
                <a:ea typeface="+mj-ea"/>
                <a:cs typeface="+mj-cs"/>
              </a:rPr>
              <a:t> </a:t>
            </a:r>
            <a:r>
              <a:rPr lang="en-US" sz="3600" dirty="0" err="1"/>
              <a:t>ArrayList</a:t>
            </a:r>
            <a:r>
              <a:rPr lang="en-US" sz="3600" dirty="0"/>
              <a:t> of Post</a:t>
            </a:r>
            <a:endParaRPr lang="en-US" sz="3600" dirty="0"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8923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Cast</a:t>
            </a:r>
            <a:r>
              <a:rPr lang="en-US" dirty="0">
                <a:ea typeface="+mj-ea"/>
                <a:cs typeface="+mj-cs"/>
              </a:rPr>
              <a:t>ing</a:t>
            </a:r>
          </a:p>
        </p:txBody>
      </p:sp>
      <p:pic>
        <p:nvPicPr>
          <p:cNvPr id="9" name="Picture 8" descr="fig8-13-colour">
            <a:extLst>
              <a:ext uri="{FF2B5EF4-FFF2-40B4-BE49-F238E27FC236}">
                <a16:creationId xmlns:a16="http://schemas.microsoft.com/office/drawing/2014/main" id="{F0D21309-4E8A-4C82-8108-452B4EB5E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246" y="411647"/>
            <a:ext cx="3981450" cy="243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C5182E-242D-4484-814A-E2C5E6778EA1}"/>
              </a:ext>
            </a:extLst>
          </p:cNvPr>
          <p:cNvSpPr/>
          <p:nvPr/>
        </p:nvSpPr>
        <p:spPr>
          <a:xfrm>
            <a:off x="3505200" y="3014671"/>
            <a:ext cx="8200733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altLang="en-US" sz="2000" dirty="0"/>
              <a:t>We can assign </a:t>
            </a:r>
            <a:r>
              <a:rPr lang="en-GB" altLang="en-US" sz="2000" b="1" dirty="0"/>
              <a:t>subtype</a:t>
            </a:r>
            <a:r>
              <a:rPr lang="en-GB" altLang="en-US" sz="2000" dirty="0"/>
              <a:t> to </a:t>
            </a:r>
            <a:r>
              <a:rPr lang="en-GB" altLang="en-US" sz="2000" b="1" dirty="0" err="1"/>
              <a:t>supertype</a:t>
            </a:r>
            <a:r>
              <a:rPr lang="en-GB" altLang="en-US" sz="2000" dirty="0"/>
              <a:t> (note arrow direction)!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A596A5-EB09-45C0-BFC6-95D7617E4903}"/>
              </a:ext>
            </a:extLst>
          </p:cNvPr>
          <p:cNvSpPr/>
          <p:nvPr/>
        </p:nvSpPr>
        <p:spPr>
          <a:xfrm>
            <a:off x="3505199" y="4490112"/>
            <a:ext cx="820073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en-US" sz="2000" b="1" dirty="0"/>
              <a:t>But </a:t>
            </a:r>
            <a:r>
              <a:rPr lang="en-GB" altLang="en-US" sz="2000" dirty="0"/>
              <a:t>we cannot assign a </a:t>
            </a:r>
            <a:r>
              <a:rPr lang="en-GB" altLang="en-US" sz="2000" b="1" dirty="0"/>
              <a:t>supertype</a:t>
            </a:r>
            <a:r>
              <a:rPr lang="en-GB" altLang="en-US" sz="2000" dirty="0"/>
              <a:t> to </a:t>
            </a:r>
            <a:r>
              <a:rPr lang="en-GB" altLang="en-US" sz="2000" b="1" dirty="0"/>
              <a:t>subtype</a:t>
            </a:r>
            <a:r>
              <a:rPr lang="en-GB" altLang="en-US" sz="2000" dirty="0"/>
              <a:t> (cannot go against the arrows)!</a:t>
            </a:r>
            <a:endParaRPr lang="en-IE" sz="2000" dirty="0"/>
          </a:p>
        </p:txBody>
      </p:sp>
      <p:sp>
        <p:nvSpPr>
          <p:cNvPr id="4" name="Rectangle 3"/>
          <p:cNvSpPr/>
          <p:nvPr/>
        </p:nvSpPr>
        <p:spPr>
          <a:xfrm>
            <a:off x="613718" y="6308485"/>
            <a:ext cx="11249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c = (Car) v;</a:t>
            </a:r>
            <a:r>
              <a:rPr lang="en-US" b="1" i="1" dirty="0">
                <a:latin typeface="Courier" charset="0"/>
                <a:ea typeface="Courier" charset="0"/>
                <a:cs typeface="Courier" charset="0"/>
              </a:rPr>
              <a:t>         </a:t>
            </a:r>
            <a:r>
              <a:rPr lang="en-US" sz="1600" b="1" i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//casting…correct (only if the vehicle really is a Car!)</a:t>
            </a:r>
            <a:endParaRPr lang="en-IE" sz="16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8411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b="1" dirty="0">
                <a:latin typeface="Courier" charset="0"/>
                <a:ea typeface="Courier" charset="0"/>
                <a:cs typeface="Courier" charset="0"/>
              </a:rPr>
              <a:t>Vehicle v;</a:t>
            </a:r>
            <a:br>
              <a:rPr lang="en-US" altLang="en-US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en-US" b="1" dirty="0">
                <a:latin typeface="Courier" charset="0"/>
                <a:ea typeface="Courier" charset="0"/>
                <a:cs typeface="Courier" charset="0"/>
              </a:rPr>
              <a:t>Car c = new Car();</a:t>
            </a:r>
            <a:endParaRPr lang="en-GB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659" y="3451028"/>
            <a:ext cx="7077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ourier" charset="0"/>
                <a:ea typeface="Courier" charset="0"/>
                <a:cs typeface="Courier" charset="0"/>
              </a:rPr>
              <a:t>v = c;               </a:t>
            </a:r>
            <a:r>
              <a:rPr lang="en-US" altLang="en-US" b="1" i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// correct (car is-a vehicle)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4926469"/>
            <a:ext cx="6112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ourier" charset="0"/>
                <a:ea typeface="Courier" charset="0"/>
                <a:cs typeface="Courier" charset="0"/>
              </a:rPr>
              <a:t>c = v;               </a:t>
            </a:r>
            <a:r>
              <a:rPr lang="en-US" altLang="en-US" b="1" i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// compile-time error!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A596A5-EB09-45C0-BFC6-95D7617E4903}"/>
              </a:ext>
            </a:extLst>
          </p:cNvPr>
          <p:cNvSpPr/>
          <p:nvPr/>
        </p:nvSpPr>
        <p:spPr>
          <a:xfrm>
            <a:off x="3505199" y="5853750"/>
            <a:ext cx="8200736" cy="400110"/>
          </a:xfrm>
          <a:prstGeom prst="rect">
            <a:avLst/>
          </a:prstGeom>
          <a:gradFill>
            <a:gsLst>
              <a:gs pos="0">
                <a:srgbClr val="00B0F0"/>
              </a:gs>
              <a:gs pos="35000">
                <a:srgbClr val="00B0F0"/>
              </a:gs>
              <a:gs pos="100000">
                <a:srgbClr val="00B0F0"/>
              </a:gs>
            </a:gsLst>
          </a:gradFill>
          <a:ln>
            <a:solidFill>
              <a:srgbClr val="00B0F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en-US" sz="2000" b="1" dirty="0"/>
              <a:t>Without (CASTING)</a:t>
            </a:r>
            <a:endParaRPr lang="en-IE" sz="2000" dirty="0"/>
          </a:p>
        </p:txBody>
      </p:sp>
      <p:sp>
        <p:nvSpPr>
          <p:cNvPr id="12" name="Donut 11"/>
          <p:cNvSpPr/>
          <p:nvPr/>
        </p:nvSpPr>
        <p:spPr>
          <a:xfrm flipV="1">
            <a:off x="1219200" y="6258937"/>
            <a:ext cx="1219200" cy="468427"/>
          </a:xfrm>
          <a:prstGeom prst="donut">
            <a:avLst>
              <a:gd name="adj" fmla="val 1025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237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7" grpId="0"/>
      <p:bldP spid="8" grpId="0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b="1" dirty="0">
                <a:ea typeface="+mj-ea"/>
                <a:cs typeface="+mj-cs"/>
              </a:rPr>
              <a:t>Cast</a:t>
            </a:r>
            <a:r>
              <a:rPr lang="en-GB" dirty="0">
                <a:ea typeface="+mj-ea"/>
                <a:cs typeface="+mj-cs"/>
              </a:rPr>
              <a:t>ing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1658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An object type in parentheses - </a:t>
            </a:r>
            <a:r>
              <a:rPr lang="en-GB" b="1" i="1" dirty="0">
                <a:ea typeface="+mn-ea"/>
                <a:cs typeface="+mn-cs"/>
              </a:rPr>
              <a:t>()</a:t>
            </a:r>
            <a:r>
              <a:rPr lang="en-GB" dirty="0">
                <a:ea typeface="+mn-ea"/>
                <a:cs typeface="+mn-cs"/>
              </a:rPr>
              <a:t>.</a:t>
            </a:r>
            <a:endParaRPr lang="en-GB" sz="2400" b="1" dirty="0">
              <a:latin typeface="Courier New" pitchFamily="-32" charset="0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Used to overcome 'type loss'.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The object is not changed in any way.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A runtime check is made to ensure the object really is of that type:</a:t>
            </a:r>
          </a:p>
          <a:p>
            <a:pPr lvl="1" eaLnBrk="1" hangingPunct="1">
              <a:defRPr/>
            </a:pPr>
            <a:r>
              <a:rPr lang="en-GB" b="1" dirty="0" err="1">
                <a:latin typeface="Courier New" pitchFamily="-32" charset="0"/>
                <a:ea typeface="+mn-ea"/>
              </a:rPr>
              <a:t>ClassCastException</a:t>
            </a:r>
            <a:r>
              <a:rPr lang="en-GB" dirty="0">
                <a:ea typeface="+mn-ea"/>
              </a:rPr>
              <a:t> if it isn't!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Use it sparingly.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6751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The Object class</a:t>
            </a:r>
          </a:p>
        </p:txBody>
      </p:sp>
      <p:pic>
        <p:nvPicPr>
          <p:cNvPr id="37892" name="Picture 6" descr="fig8-14-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1981200"/>
            <a:ext cx="67564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7239000" y="1981201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b="0" i="1" u="sng" dirty="0">
                <a:latin typeface="Times New Roman" charset="0"/>
              </a:rPr>
              <a:t>All</a:t>
            </a:r>
            <a:r>
              <a:rPr lang="en-GB" sz="2400" b="0" i="1" dirty="0">
                <a:latin typeface="Times New Roman" charset="0"/>
              </a:rPr>
              <a:t> classes inherit from </a:t>
            </a:r>
            <a:r>
              <a:rPr lang="en-GB" sz="2400" dirty="0">
                <a:latin typeface="Trebuchet MS" charset="0"/>
              </a:rPr>
              <a:t>Object</a:t>
            </a:r>
            <a:r>
              <a:rPr lang="en-GB" sz="2400" b="0" i="1" dirty="0">
                <a:latin typeface="Times New Roman" charset="0"/>
              </a:rPr>
              <a:t>.</a:t>
            </a:r>
          </a:p>
        </p:txBody>
      </p:sp>
      <p:sp>
        <p:nvSpPr>
          <p:cNvPr id="5" name="Donut 4"/>
          <p:cNvSpPr/>
          <p:nvPr/>
        </p:nvSpPr>
        <p:spPr>
          <a:xfrm flipV="1">
            <a:off x="4876800" y="1928271"/>
            <a:ext cx="2362200" cy="1272129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115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V1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Inheritance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V2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Coding inheritance hierarchies</a:t>
            </a:r>
          </a:p>
          <a:p>
            <a:pPr lvl="1">
              <a:defRPr/>
            </a:pPr>
            <a:r>
              <a:rPr lang="en-US" dirty="0"/>
              <a:t>Super and subclasses</a:t>
            </a:r>
          </a:p>
          <a:p>
            <a:pPr lvl="1">
              <a:defRPr/>
            </a:pPr>
            <a:r>
              <a:rPr lang="en-US" dirty="0"/>
              <a:t>Using constructors in these hierarchies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Social Network V3</a:t>
            </a:r>
          </a:p>
          <a:p>
            <a:pPr lvl="1">
              <a:defRPr/>
            </a:pPr>
            <a:r>
              <a:rPr lang="en-US" dirty="0"/>
              <a:t>Deeper hierarchies</a:t>
            </a:r>
          </a:p>
          <a:p>
            <a:pPr lvl="1">
              <a:defRPr/>
            </a:pPr>
            <a:r>
              <a:rPr lang="en-US" dirty="0"/>
              <a:t>Advantages of using inheritance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Subtyping and Substitution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b="1" dirty="0"/>
              <a:t>Polymorphic</a:t>
            </a:r>
            <a:r>
              <a:rPr lang="en-US" dirty="0"/>
              <a:t> </a:t>
            </a:r>
          </a:p>
          <a:p>
            <a:pPr marL="914400" lvl="1" indent="-514350">
              <a:buFont typeface="+mj-lt"/>
              <a:buAutoNum type="alphaLcParenR"/>
              <a:defRPr/>
            </a:pPr>
            <a:r>
              <a:rPr lang="en-US" dirty="0"/>
              <a:t>Variables </a:t>
            </a:r>
          </a:p>
          <a:p>
            <a:pPr marL="914400" lvl="1" indent="-514350">
              <a:buFont typeface="+mj-lt"/>
              <a:buAutoNum type="alphaLcParenR"/>
              <a:defRPr/>
            </a:pPr>
            <a:r>
              <a:rPr lang="en-US" dirty="0"/>
              <a:t>Collections</a:t>
            </a:r>
          </a:p>
          <a:p>
            <a:pPr marL="1314450" lvl="2" indent="-514350">
              <a:defRPr/>
            </a:pPr>
            <a:r>
              <a:rPr lang="en-US" dirty="0"/>
              <a:t>Casting</a:t>
            </a:r>
          </a:p>
          <a:p>
            <a:pPr marL="1314450" lvl="2" indent="-514350">
              <a:defRPr/>
            </a:pPr>
            <a:r>
              <a:rPr lang="en-US" dirty="0"/>
              <a:t>wrapper classes, </a:t>
            </a:r>
          </a:p>
          <a:p>
            <a:pPr marL="1314450" lvl="2" indent="-514350">
              <a:defRPr/>
            </a:pPr>
            <a:r>
              <a:rPr lang="en-US" dirty="0"/>
              <a:t>autoboxing /unboxing</a:t>
            </a:r>
          </a:p>
          <a:p>
            <a:pPr marL="0" indent="0">
              <a:buNone/>
            </a:pPr>
            <a:endParaRPr lang="en-IE" dirty="0"/>
          </a:p>
          <a:p>
            <a:pPr marL="914400" lvl="1" indent="-514350">
              <a:buFont typeface="+mj-lt"/>
              <a:buAutoNum type="arabicPeriod"/>
              <a:defRPr/>
            </a:pPr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83922" y="5052954"/>
            <a:ext cx="8610600" cy="180504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0" y="5638800"/>
            <a:ext cx="2437039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26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7 b) Polymorphic collections</a:t>
            </a:r>
          </a:p>
        </p:txBody>
      </p:sp>
      <p:sp>
        <p:nvSpPr>
          <p:cNvPr id="197636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GB" b="1" u="sng" dirty="0">
                <a:ea typeface="+mn-ea"/>
                <a:cs typeface="+mn-cs"/>
              </a:rPr>
              <a:t>All</a:t>
            </a:r>
            <a:r>
              <a:rPr lang="en-GB" dirty="0">
                <a:ea typeface="+mn-ea"/>
                <a:cs typeface="+mn-cs"/>
              </a:rPr>
              <a:t> collections are polymorphic.</a:t>
            </a:r>
            <a:br>
              <a:rPr lang="en-GB" dirty="0">
                <a:ea typeface="+mn-ea"/>
                <a:cs typeface="+mn-cs"/>
              </a:rPr>
            </a:br>
            <a:endParaRPr lang="en-GB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The elements could simply be of type </a:t>
            </a:r>
            <a:r>
              <a:rPr lang="en-GB" b="1" dirty="0">
                <a:latin typeface="Courier New"/>
                <a:ea typeface="+mn-ea"/>
                <a:cs typeface="Courier New"/>
              </a:rPr>
              <a:t>Object</a:t>
            </a:r>
            <a:r>
              <a:rPr lang="en-GB" dirty="0">
                <a:ea typeface="+mn-ea"/>
                <a:cs typeface="+mn-cs"/>
              </a:rPr>
              <a:t>.</a:t>
            </a:r>
            <a:br>
              <a:rPr lang="en-GB" dirty="0">
                <a:ea typeface="+mn-ea"/>
                <a:cs typeface="+mn-cs"/>
              </a:rPr>
            </a:br>
            <a:br>
              <a:rPr lang="en-GB" dirty="0">
                <a:solidFill>
                  <a:schemeClr val="accent1">
                    <a:lumMod val="75000"/>
                  </a:schemeClr>
                </a:solidFill>
                <a:ea typeface="+mn-ea"/>
                <a:cs typeface="+mn-cs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public void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Courier New" pitchFamily="-32" charset="0"/>
              </a:rPr>
              <a:t>add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 (Object element)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</a:b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public Object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Courier New" pitchFamily="-32" charset="0"/>
              </a:rPr>
              <a:t>get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(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int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urier New" pitchFamily="-32" charset="0"/>
              </a:rPr>
              <a:t> index)</a:t>
            </a:r>
          </a:p>
          <a:p>
            <a:pPr marL="0" indent="0">
              <a:buNone/>
              <a:defRPr/>
            </a:pPr>
            <a:endParaRPr lang="en-US" sz="2800" b="1" dirty="0">
              <a:latin typeface="Courier New" pitchFamily="-32" charset="0"/>
            </a:endParaRP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Usually avoided…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we typically use a type parameter with the collection.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12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ea typeface="+mj-ea"/>
              </a:rPr>
              <a:t>7 b) Polymorphic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9829800" cy="510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800" u="sng" dirty="0"/>
              <a:t>With</a:t>
            </a:r>
            <a:r>
              <a:rPr lang="en-US" altLang="en-US" sz="2800" dirty="0"/>
              <a:t> a type parameter the degree of polymorphism:</a:t>
            </a:r>
            <a:br>
              <a:rPr lang="en-US" altLang="en-US" sz="2800" dirty="0"/>
            </a:br>
            <a:br>
              <a:rPr lang="en-US" altLang="en-US" sz="2800" dirty="0"/>
            </a:br>
            <a:r>
              <a:rPr lang="en-US" altLang="en-US" sz="2800" dirty="0"/>
              <a:t> 	</a:t>
            </a:r>
            <a:r>
              <a:rPr lang="en-US" altLang="en-US" sz="2800" b="1" dirty="0" err="1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altLang="en-US" sz="28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&lt;Post&gt; </a:t>
            </a:r>
            <a:r>
              <a:rPr lang="en-US" altLang="en-US" sz="2800" dirty="0"/>
              <a:t>is </a:t>
            </a:r>
            <a:r>
              <a:rPr lang="en-US" altLang="en-US" sz="2800" b="1" dirty="0">
                <a:solidFill>
                  <a:srgbClr val="0070C0"/>
                </a:solidFill>
              </a:rPr>
              <a:t>limited</a:t>
            </a:r>
            <a:r>
              <a:rPr lang="en-US" altLang="en-US" sz="2800" dirty="0"/>
              <a:t>.</a:t>
            </a:r>
            <a:endParaRPr lang="en-US" altLang="en-US" sz="2800" b="1" dirty="0">
              <a:latin typeface="Courier New" pitchFamily="49" charset="0"/>
              <a:cs typeface="Courier New" pitchFamily="49" charset="0"/>
            </a:endParaRPr>
          </a:p>
          <a:p>
            <a:pPr lvl="2">
              <a:defRPr/>
            </a:pPr>
            <a:r>
              <a:rPr lang="en-US" altLang="en-US" sz="2000" dirty="0">
                <a:cs typeface="Courier New" pitchFamily="49" charset="0"/>
              </a:rPr>
              <a:t>Collection methods are then typed.</a:t>
            </a:r>
            <a:br>
              <a:rPr lang="en-US" altLang="en-US" sz="2000" dirty="0">
                <a:cs typeface="Courier New" pitchFamily="49" charset="0"/>
              </a:rPr>
            </a:br>
            <a:br>
              <a:rPr lang="en-US" altLang="en-US" sz="2000" dirty="0">
                <a:cs typeface="Courier New" pitchFamily="49" charset="0"/>
              </a:rPr>
            </a:br>
            <a:endParaRPr lang="en-US" altLang="en-US" sz="2000" dirty="0">
              <a:cs typeface="Courier New" pitchFamily="49" charset="0"/>
            </a:endParaRPr>
          </a:p>
          <a:p>
            <a:pPr>
              <a:defRPr/>
            </a:pPr>
            <a:r>
              <a:rPr lang="en-US" altLang="en-US" sz="2800" u="sng" dirty="0"/>
              <a:t>Without</a:t>
            </a:r>
            <a:r>
              <a:rPr lang="en-US" altLang="en-US" sz="2800" dirty="0"/>
              <a:t> a type parameter, </a:t>
            </a:r>
            <a:br>
              <a:rPr lang="en-US" altLang="en-US" sz="2800" dirty="0"/>
            </a:br>
            <a:br>
              <a:rPr lang="en-US" altLang="en-US" sz="2800" dirty="0"/>
            </a:br>
            <a:r>
              <a:rPr lang="en-US" altLang="en-US" sz="2800" dirty="0"/>
              <a:t>	</a:t>
            </a:r>
            <a:r>
              <a:rPr lang="en-US" altLang="en-US" sz="2800" b="1" dirty="0" err="1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altLang="en-US" sz="28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&lt;Object&gt; </a:t>
            </a:r>
            <a:r>
              <a:rPr lang="en-US" altLang="en-US" sz="2800" dirty="0"/>
              <a:t>is </a:t>
            </a:r>
            <a:r>
              <a:rPr lang="en-US" altLang="en-US" sz="2800" b="1" dirty="0">
                <a:solidFill>
                  <a:srgbClr val="0070C0"/>
                </a:solidFill>
              </a:rPr>
              <a:t>implied</a:t>
            </a:r>
            <a:r>
              <a:rPr lang="en-US" altLang="en-US" sz="2800" dirty="0"/>
              <a:t>.</a:t>
            </a:r>
          </a:p>
          <a:p>
            <a:pPr lvl="2">
              <a:defRPr/>
            </a:pPr>
            <a:r>
              <a:rPr lang="en-GB" altLang="en-US" sz="2000" dirty="0"/>
              <a:t>Likely to get an </a:t>
            </a:r>
            <a:r>
              <a:rPr lang="en-GB" altLang="en-US" sz="2000" i="1" dirty="0"/>
              <a:t>“</a:t>
            </a:r>
            <a:r>
              <a:rPr lang="en-GB" altLang="ja-JP" sz="2000" i="1" dirty="0"/>
              <a:t>unchecked or unsafe operations</a:t>
            </a:r>
            <a:r>
              <a:rPr lang="en-GB" altLang="en-US" sz="2000" i="1" dirty="0"/>
              <a:t>”</a:t>
            </a:r>
            <a:r>
              <a:rPr lang="en-GB" altLang="ja-JP" sz="2000" i="1" dirty="0"/>
              <a:t> </a:t>
            </a:r>
            <a:r>
              <a:rPr lang="en-GB" altLang="ja-JP" sz="2000" dirty="0"/>
              <a:t>warning.</a:t>
            </a:r>
          </a:p>
          <a:p>
            <a:pPr lvl="2">
              <a:defRPr/>
            </a:pPr>
            <a:r>
              <a:rPr lang="en-GB" altLang="en-US" sz="2000" dirty="0"/>
              <a:t>More likely to have to use </a:t>
            </a:r>
            <a:r>
              <a:rPr lang="en-GB" altLang="en-US" sz="2000" u="sng" dirty="0"/>
              <a:t>casts</a:t>
            </a:r>
            <a:r>
              <a:rPr lang="en-GB" altLang="en-US" sz="2000" dirty="0"/>
              <a:t>.</a:t>
            </a:r>
          </a:p>
          <a:p>
            <a:pPr>
              <a:defRPr/>
            </a:pPr>
            <a:endParaRPr lang="en-US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662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Collections and </a:t>
            </a:r>
            <a:r>
              <a:rPr lang="en-US" b="1" dirty="0">
                <a:ea typeface="+mj-ea"/>
                <a:cs typeface="+mj-cs"/>
              </a:rPr>
              <a:t>primitive types</a:t>
            </a:r>
          </a:p>
        </p:txBody>
      </p:sp>
      <p:sp>
        <p:nvSpPr>
          <p:cNvPr id="199684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1049000" cy="45259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sz="2800" dirty="0"/>
              <a:t>Potentially, </a:t>
            </a:r>
            <a:r>
              <a:rPr lang="en-GB" sz="2800" b="1" dirty="0"/>
              <a:t>all</a:t>
            </a:r>
            <a:r>
              <a:rPr lang="en-GB" sz="2800" dirty="0"/>
              <a:t> objects can be entered into collections</a:t>
            </a:r>
          </a:p>
          <a:p>
            <a:pPr lvl="1">
              <a:defRPr/>
            </a:pPr>
            <a:r>
              <a:rPr lang="en-GB" sz="2400" dirty="0"/>
              <a:t>because collections can accept elements of type </a:t>
            </a:r>
            <a:r>
              <a:rPr lang="en-GB" sz="2400" b="1" dirty="0">
                <a:latin typeface="Courier New"/>
                <a:cs typeface="Courier New"/>
              </a:rPr>
              <a:t>Object</a:t>
            </a:r>
            <a:r>
              <a:rPr lang="en-GB" sz="2400" dirty="0"/>
              <a:t> </a:t>
            </a:r>
          </a:p>
          <a:p>
            <a:pPr lvl="1">
              <a:defRPr/>
            </a:pPr>
            <a:r>
              <a:rPr lang="en-GB" sz="2400" dirty="0"/>
              <a:t>and all classes are subtypes of </a:t>
            </a:r>
            <a:r>
              <a:rPr lang="en-GB" sz="2400" b="1" dirty="0">
                <a:latin typeface="Courier New"/>
                <a:cs typeface="Courier New"/>
              </a:rPr>
              <a:t>Object</a:t>
            </a:r>
            <a:r>
              <a:rPr lang="en-GB" sz="2400" dirty="0"/>
              <a:t>.</a:t>
            </a:r>
          </a:p>
          <a:p>
            <a:pPr eaLnBrk="1" hangingPunct="1">
              <a:defRPr/>
            </a:pPr>
            <a:endParaRPr lang="en-GB" sz="2800" dirty="0"/>
          </a:p>
          <a:p>
            <a:pPr eaLnBrk="1" hangingPunct="1">
              <a:defRPr/>
            </a:pPr>
            <a:r>
              <a:rPr lang="en-GB" sz="2800" dirty="0"/>
              <a:t>Great! But what about </a:t>
            </a:r>
            <a:r>
              <a:rPr lang="en-GB" sz="2800" i="1" dirty="0"/>
              <a:t>the primitive types</a:t>
            </a:r>
            <a:r>
              <a:rPr lang="en-GB" sz="2800" dirty="0"/>
              <a:t>: </a:t>
            </a:r>
            <a:br>
              <a:rPr lang="en-GB" sz="2800" dirty="0"/>
            </a:br>
            <a:r>
              <a:rPr lang="en-GB" sz="2800" dirty="0"/>
              <a:t>	</a:t>
            </a:r>
            <a:r>
              <a:rPr lang="en-GB" sz="2800" b="1" dirty="0" err="1">
                <a:latin typeface="Courier New"/>
                <a:cs typeface="Courier New"/>
              </a:rPr>
              <a:t>int</a:t>
            </a:r>
            <a:r>
              <a:rPr lang="en-GB" sz="2800" dirty="0"/>
              <a:t>, </a:t>
            </a:r>
            <a:r>
              <a:rPr lang="en-GB" sz="2800" b="1" dirty="0" err="1">
                <a:latin typeface="Courier New"/>
                <a:cs typeface="Courier New"/>
              </a:rPr>
              <a:t>boolean</a:t>
            </a:r>
            <a:r>
              <a:rPr lang="en-GB" sz="2800" dirty="0"/>
              <a:t>, etc.?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48040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Wrapper</a:t>
            </a:r>
            <a:r>
              <a:rPr lang="en-US" dirty="0">
                <a:ea typeface="+mj-ea"/>
                <a:cs typeface="+mj-cs"/>
              </a:rPr>
              <a:t> classes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114301" y="1589738"/>
            <a:ext cx="11810997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GB" sz="2800" dirty="0"/>
              <a:t>Primitive types are not object types. </a:t>
            </a:r>
            <a:br>
              <a:rPr lang="en-GB" sz="2800" dirty="0"/>
            </a:br>
            <a:r>
              <a:rPr lang="en-GB" sz="2800" dirty="0">
                <a:solidFill>
                  <a:srgbClr val="FF0000"/>
                </a:solidFill>
              </a:rPr>
              <a:t>Primitive-type values must be </a:t>
            </a:r>
            <a:r>
              <a:rPr lang="en-GB" sz="2800" i="1" u="sng" dirty="0">
                <a:solidFill>
                  <a:srgbClr val="FF0000"/>
                </a:solidFill>
              </a:rPr>
              <a:t>wrapped</a:t>
            </a:r>
            <a:r>
              <a:rPr lang="en-GB" sz="2800" dirty="0">
                <a:solidFill>
                  <a:srgbClr val="FF0000"/>
                </a:solidFill>
              </a:rPr>
              <a:t> in objects, to be stored in a collection!</a:t>
            </a:r>
            <a:br>
              <a:rPr lang="en-GB" sz="2800" dirty="0"/>
            </a:br>
            <a:endParaRPr lang="en-GB" sz="2800" dirty="0"/>
          </a:p>
          <a:p>
            <a:pPr eaLnBrk="1" hangingPunct="1">
              <a:defRPr/>
            </a:pPr>
            <a:r>
              <a:rPr lang="en-GB" sz="2800" b="1" dirty="0"/>
              <a:t>Wrapper</a:t>
            </a:r>
            <a:r>
              <a:rPr lang="en-GB" sz="2800" dirty="0"/>
              <a:t> </a:t>
            </a:r>
            <a:r>
              <a:rPr lang="en-GB" sz="2800" b="1" dirty="0"/>
              <a:t>classes</a:t>
            </a:r>
            <a:r>
              <a:rPr lang="en-GB" sz="2800" dirty="0"/>
              <a:t> exist for all primitive types:</a:t>
            </a:r>
          </a:p>
        </p:txBody>
      </p:sp>
      <p:sp>
        <p:nvSpPr>
          <p:cNvPr id="7" name="Donut 6"/>
          <p:cNvSpPr/>
          <p:nvPr/>
        </p:nvSpPr>
        <p:spPr>
          <a:xfrm flipV="1">
            <a:off x="9143999" y="3048000"/>
            <a:ext cx="2902742" cy="3468840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72200" y="6516840"/>
            <a:ext cx="60817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>
                <a:latin typeface="Times New Roman" charset="0"/>
                <a:ea typeface="ＭＳ Ｐゴシック" charset="0"/>
              </a:rPr>
              <a:t>Note that there is no simple mapping rule from primitive name to wrapper name!</a:t>
            </a:r>
            <a:endParaRPr lang="en-US" sz="1400" dirty="0">
              <a:latin typeface="Times New Roman" charset="0"/>
              <a:ea typeface="ＭＳ Ｐゴシック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05600" y="3711397"/>
            <a:ext cx="27327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GB" sz="2400" i="1" dirty="0">
                <a:latin typeface="Trebuchet MS" charset="0"/>
              </a:rPr>
              <a:t>primitive type</a:t>
            </a:r>
            <a:br>
              <a:rPr lang="en-GB" sz="2400" i="1" dirty="0">
                <a:latin typeface="Trebuchet MS" charset="0"/>
              </a:rPr>
            </a:br>
            <a:endParaRPr lang="en-GB" sz="2400" i="1" dirty="0">
              <a:latin typeface="Trebuchet MS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dirty="0" err="1">
                <a:latin typeface="Trebuchet MS" charset="0"/>
              </a:rPr>
              <a:t>int</a:t>
            </a:r>
            <a:endParaRPr lang="en-GB" sz="2400" dirty="0">
              <a:latin typeface="Trebuchet MS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float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char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...	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9571634" y="3711397"/>
            <a:ext cx="457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GB" sz="2400" b="1" i="1" dirty="0">
                <a:solidFill>
                  <a:srgbClr val="FF0000"/>
                </a:solidFill>
                <a:latin typeface="Trebuchet MS" charset="0"/>
              </a:rPr>
              <a:t>wrapper class</a:t>
            </a:r>
            <a:br>
              <a:rPr lang="en-GB" sz="2400" i="1" dirty="0">
                <a:latin typeface="Trebuchet MS" charset="0"/>
              </a:rPr>
            </a:br>
            <a:endParaRPr lang="en-GB" sz="2400" dirty="0">
              <a:latin typeface="Trebuchet MS" charset="0"/>
            </a:endParaRP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Integer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Float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Character</a:t>
            </a:r>
          </a:p>
          <a:p>
            <a:pPr>
              <a:spcBef>
                <a:spcPct val="0"/>
              </a:spcBef>
              <a:defRPr/>
            </a:pPr>
            <a:r>
              <a:rPr lang="en-GB" sz="2400" dirty="0">
                <a:latin typeface="Trebuchet MS" charset="0"/>
              </a:rPr>
              <a:t>...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705599" y="4331725"/>
            <a:ext cx="5341142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8991599" y="3569724"/>
            <a:ext cx="0" cy="2305436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5-Point Star 4">
            <a:extLst>
              <a:ext uri="{FF2B5EF4-FFF2-40B4-BE49-F238E27FC236}">
                <a16:creationId xmlns:a16="http://schemas.microsoft.com/office/drawing/2014/main" id="{D6AA61F0-D4E9-534D-A986-B9940D8212AE}"/>
              </a:ext>
            </a:extLst>
          </p:cNvPr>
          <p:cNvSpPr/>
          <p:nvPr/>
        </p:nvSpPr>
        <p:spPr>
          <a:xfrm>
            <a:off x="11696698" y="1905000"/>
            <a:ext cx="457200" cy="533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913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Text Box 9"/>
          <p:cNvSpPr txBox="1">
            <a:spLocks noChangeArrowheads="1"/>
          </p:cNvSpPr>
          <p:nvPr/>
        </p:nvSpPr>
        <p:spPr bwMode="auto">
          <a:xfrm>
            <a:off x="8001000" y="3463500"/>
            <a:ext cx="1770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dirty="0">
                <a:solidFill>
                  <a:srgbClr val="A57133"/>
                </a:solidFill>
                <a:latin typeface="Trebuchet MS" charset="0"/>
              </a:rPr>
              <a:t>unwrap</a:t>
            </a:r>
            <a:r>
              <a:rPr lang="en-GB" sz="2400" b="0" dirty="0">
                <a:solidFill>
                  <a:srgbClr val="A57133"/>
                </a:solidFill>
                <a:latin typeface="Trebuchet MS" charset="0"/>
              </a:rPr>
              <a:t> it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91206" y="3150629"/>
            <a:ext cx="6781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algn="just">
              <a:spcBef>
                <a:spcPct val="0"/>
              </a:spcBef>
              <a:defRPr/>
            </a:pPr>
            <a:r>
              <a:rPr lang="en-GB" altLang="en-US" sz="2400" dirty="0"/>
              <a:t>…</a:t>
            </a:r>
            <a:endParaRPr lang="en-GB" altLang="en-US" sz="2400" noProof="1"/>
          </a:p>
          <a:p>
            <a:pPr algn="just">
              <a:spcBef>
                <a:spcPct val="0"/>
              </a:spcBef>
              <a:defRPr/>
            </a:pPr>
            <a:r>
              <a:rPr lang="en-US" altLang="en-US" sz="2400" dirty="0" err="1"/>
              <a:t>int</a:t>
            </a:r>
            <a:r>
              <a:rPr lang="en-US" altLang="en-US" sz="2400" dirty="0"/>
              <a:t> value = </a:t>
            </a:r>
            <a:r>
              <a:rPr lang="en-US" altLang="en-US" sz="2400" dirty="0" err="1"/>
              <a:t>iwrap.</a:t>
            </a:r>
            <a:r>
              <a:rPr lang="en-US" altLang="en-US" sz="2400" dirty="0" err="1">
                <a:solidFill>
                  <a:srgbClr val="0070C0"/>
                </a:solidFill>
              </a:rPr>
              <a:t>intValue</a:t>
            </a:r>
            <a:r>
              <a:rPr lang="en-US" altLang="en-US" sz="2400" dirty="0"/>
              <a:t>();</a:t>
            </a:r>
            <a:endParaRPr lang="en-GB" altLang="en-US" sz="2400" dirty="0"/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  <a:cs typeface="+mj-cs"/>
              </a:rPr>
              <a:t>Wrapper</a:t>
            </a:r>
            <a:r>
              <a:rPr lang="en-US" dirty="0">
                <a:ea typeface="+mj-ea"/>
                <a:cs typeface="+mj-cs"/>
              </a:rPr>
              <a:t> classes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613619" y="1638547"/>
            <a:ext cx="6781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 algn="just">
              <a:spcBef>
                <a:spcPct val="0"/>
              </a:spcBef>
              <a:defRPr/>
            </a:pPr>
            <a:r>
              <a:rPr lang="en-IE" altLang="en-US" sz="2400" noProof="1"/>
              <a:t>int i = 18;</a:t>
            </a:r>
          </a:p>
          <a:p>
            <a:pPr algn="just">
              <a:spcBef>
                <a:spcPct val="0"/>
              </a:spcBef>
              <a:defRPr/>
            </a:pPr>
            <a:r>
              <a:rPr lang="en-IE" altLang="en-US" sz="2400" noProof="1"/>
              <a:t> </a:t>
            </a:r>
          </a:p>
          <a:p>
            <a:pPr algn="just">
              <a:spcBef>
                <a:spcPct val="0"/>
              </a:spcBef>
              <a:defRPr/>
            </a:pPr>
            <a:r>
              <a:rPr lang="en-IE" altLang="en-US" sz="2400" noProof="1"/>
              <a:t>Integer iwrap = new </a:t>
            </a:r>
            <a:r>
              <a:rPr lang="en-IE" altLang="en-US" sz="2400" noProof="1">
                <a:solidFill>
                  <a:srgbClr val="0070C0"/>
                </a:solidFill>
              </a:rPr>
              <a:t>Integer</a:t>
            </a:r>
            <a:r>
              <a:rPr lang="en-IE" altLang="en-US" sz="2400" noProof="1"/>
              <a:t>(i);</a:t>
            </a:r>
          </a:p>
        </p:txBody>
      </p:sp>
      <p:sp>
        <p:nvSpPr>
          <p:cNvPr id="41989" name="Text Box 6"/>
          <p:cNvSpPr txBox="1">
            <a:spLocks noChangeArrowheads="1"/>
          </p:cNvSpPr>
          <p:nvPr/>
        </p:nvSpPr>
        <p:spPr bwMode="auto">
          <a:xfrm>
            <a:off x="8001000" y="2354264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sz="2400" dirty="0">
                <a:solidFill>
                  <a:srgbClr val="A57133"/>
                </a:solidFill>
                <a:latin typeface="Trebuchet MS" charset="0"/>
              </a:rPr>
              <a:t>wrap</a:t>
            </a:r>
            <a:r>
              <a:rPr lang="en-GB" sz="2400" b="0" dirty="0">
                <a:solidFill>
                  <a:srgbClr val="A57133"/>
                </a:solidFill>
                <a:latin typeface="Trebuchet MS" charset="0"/>
              </a:rPr>
              <a:t> the value</a:t>
            </a:r>
          </a:p>
        </p:txBody>
      </p:sp>
      <p:sp>
        <p:nvSpPr>
          <p:cNvPr id="41991" name="Line 14"/>
          <p:cNvSpPr>
            <a:spLocks noChangeShapeType="1"/>
          </p:cNvSpPr>
          <p:nvPr/>
        </p:nvSpPr>
        <p:spPr bwMode="auto">
          <a:xfrm flipH="1" flipV="1">
            <a:off x="6400797" y="3733772"/>
            <a:ext cx="1600201" cy="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992" name="Line 15"/>
          <p:cNvSpPr>
            <a:spLocks noChangeShapeType="1"/>
          </p:cNvSpPr>
          <p:nvPr/>
        </p:nvSpPr>
        <p:spPr bwMode="auto">
          <a:xfrm flipH="1">
            <a:off x="6400800" y="2602337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1993" name="AutoShape 16"/>
          <p:cNvSpPr>
            <a:spLocks noChangeArrowheads="1"/>
          </p:cNvSpPr>
          <p:nvPr/>
        </p:nvSpPr>
        <p:spPr bwMode="auto">
          <a:xfrm>
            <a:off x="181303" y="5052134"/>
            <a:ext cx="11829394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In practice, </a:t>
            </a:r>
            <a:r>
              <a:rPr lang="en-GB" sz="2400" i="1" dirty="0">
                <a:solidFill>
                  <a:schemeClr val="accent1">
                    <a:lumMod val="75000"/>
                  </a:schemeClr>
                </a:solidFill>
                <a:latin typeface="Trebuchet MS" charset="0"/>
                <a:ea typeface="ＭＳ Ｐゴシック" charset="0"/>
                <a:cs typeface="ＭＳ Ｐゴシック" charset="0"/>
              </a:rPr>
              <a:t>autoboxing</a:t>
            </a: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 and </a:t>
            </a:r>
            <a:r>
              <a:rPr lang="en-GB" sz="2400" i="1" dirty="0">
                <a:solidFill>
                  <a:schemeClr val="accent1">
                    <a:lumMod val="75000"/>
                  </a:schemeClr>
                </a:solidFill>
                <a:latin typeface="Trebuchet MS" charset="0"/>
                <a:ea typeface="ＭＳ Ｐゴシック" charset="0"/>
                <a:cs typeface="ＭＳ Ｐゴシック" charset="0"/>
              </a:rPr>
              <a:t>unboxing</a:t>
            </a: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 mean we don't often have to do this explicitly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523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  <p:bldP spid="9" grpId="0"/>
      <p:bldP spid="41991" grpId="0" animBg="1"/>
      <p:bldP spid="4199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b="1" dirty="0" err="1">
                <a:ea typeface="+mj-ea"/>
                <a:cs typeface="+mj-cs"/>
              </a:rPr>
              <a:t>Autoboxing</a:t>
            </a:r>
            <a:r>
              <a:rPr lang="en-GB" dirty="0">
                <a:ea typeface="+mj-ea"/>
                <a:cs typeface="+mj-cs"/>
              </a:rPr>
              <a:t> and </a:t>
            </a:r>
            <a:r>
              <a:rPr lang="en-GB" b="1" dirty="0">
                <a:ea typeface="+mj-ea"/>
                <a:cs typeface="+mj-cs"/>
              </a:rPr>
              <a:t>unboxing</a:t>
            </a:r>
          </a:p>
        </p:txBody>
      </p:sp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2743200" y="1600201"/>
            <a:ext cx="7315200" cy="3170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dirty="0"/>
              <a:t>private </a:t>
            </a:r>
            <a:r>
              <a:rPr lang="en-GB" altLang="en-US" dirty="0" err="1"/>
              <a:t>ArrayList</a:t>
            </a:r>
            <a:r>
              <a:rPr lang="en-GB" altLang="en-US" dirty="0"/>
              <a:t>&lt;Integer&gt; </a:t>
            </a:r>
            <a:r>
              <a:rPr lang="en-GB" altLang="en-US" dirty="0" err="1"/>
              <a:t>markList</a:t>
            </a:r>
            <a:r>
              <a:rPr lang="en-GB" altLang="en-US" dirty="0"/>
              <a:t>;</a:t>
            </a:r>
          </a:p>
          <a:p>
            <a:pPr>
              <a:defRPr/>
            </a:pPr>
            <a:r>
              <a:rPr lang="en-GB" altLang="en-US" dirty="0"/>
              <a:t>…</a:t>
            </a:r>
          </a:p>
          <a:p>
            <a:pPr>
              <a:defRPr/>
            </a:pPr>
            <a:r>
              <a:rPr lang="en-GB" altLang="en-US" dirty="0"/>
              <a:t>public void </a:t>
            </a:r>
            <a:r>
              <a:rPr lang="en-GB" altLang="en-US" dirty="0" err="1"/>
              <a:t>storeMark</a:t>
            </a:r>
            <a:r>
              <a:rPr lang="en-GB" altLang="en-US" dirty="0"/>
              <a:t>(</a:t>
            </a:r>
            <a:r>
              <a:rPr lang="en-GB" altLang="en-US" dirty="0" err="1"/>
              <a:t>int</a:t>
            </a:r>
            <a:r>
              <a:rPr lang="en-GB" altLang="en-US" dirty="0"/>
              <a:t> mark)</a:t>
            </a:r>
          </a:p>
          <a:p>
            <a:pPr>
              <a:defRPr/>
            </a:pPr>
            <a:r>
              <a:rPr lang="en-GB" altLang="en-US" dirty="0"/>
              <a:t>{</a:t>
            </a:r>
          </a:p>
          <a:p>
            <a:pPr>
              <a:defRPr/>
            </a:pPr>
            <a:r>
              <a:rPr lang="en-GB" altLang="en-US" dirty="0"/>
              <a:t>    </a:t>
            </a:r>
            <a:r>
              <a:rPr lang="en-GB" altLang="en-US" dirty="0" err="1"/>
              <a:t>markList.add</a:t>
            </a:r>
            <a:r>
              <a:rPr lang="en-GB" altLang="en-US" dirty="0"/>
              <a:t>(mark);</a:t>
            </a:r>
          </a:p>
          <a:p>
            <a:pPr>
              <a:defRPr/>
            </a:pPr>
            <a:r>
              <a:rPr lang="en-GB" altLang="en-US" dirty="0"/>
              <a:t>}</a:t>
            </a:r>
          </a:p>
          <a:p>
            <a:pPr>
              <a:defRPr/>
            </a:pPr>
            <a:endParaRPr lang="en-GB" altLang="en-US" dirty="0"/>
          </a:p>
          <a:p>
            <a:pPr>
              <a:defRPr/>
            </a:pPr>
            <a:endParaRPr lang="en-GB" altLang="en-US" dirty="0"/>
          </a:p>
          <a:p>
            <a:pPr>
              <a:defRPr/>
            </a:pPr>
            <a:endParaRPr lang="en-GB" altLang="en-US" dirty="0"/>
          </a:p>
          <a:p>
            <a:pPr>
              <a:defRPr/>
            </a:pPr>
            <a:endParaRPr lang="en-GB" altLang="en-US" dirty="0"/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2754923" y="5347812"/>
            <a:ext cx="7315200" cy="1327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firstMark</a:t>
            </a:r>
            <a:r>
              <a:rPr lang="en-GB" dirty="0"/>
              <a:t> = </a:t>
            </a:r>
            <a:r>
              <a:rPr lang="en-GB" dirty="0" err="1"/>
              <a:t>markList.get</a:t>
            </a:r>
            <a:r>
              <a:rPr lang="en-GB" dirty="0"/>
              <a:t>(0);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43014" name="AutoShape 6"/>
          <p:cNvSpPr>
            <a:spLocks noChangeArrowheads="1"/>
          </p:cNvSpPr>
          <p:nvPr/>
        </p:nvSpPr>
        <p:spPr bwMode="auto">
          <a:xfrm>
            <a:off x="551115" y="4125386"/>
            <a:ext cx="1752112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en-GB" sz="2400" dirty="0" err="1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autoboxing</a:t>
            </a:r>
            <a:endParaRPr lang="en-GB" dirty="0">
              <a:solidFill>
                <a:srgbClr val="A57133"/>
              </a:solidFill>
              <a:latin typeface="Trebuchet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3015" name="AutoShape 7"/>
          <p:cNvSpPr>
            <a:spLocks noChangeArrowheads="1"/>
          </p:cNvSpPr>
          <p:nvPr/>
        </p:nvSpPr>
        <p:spPr bwMode="auto">
          <a:xfrm>
            <a:off x="545354" y="6072584"/>
            <a:ext cx="1752112" cy="51077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GB" sz="2400" dirty="0">
                <a:solidFill>
                  <a:srgbClr val="A57133"/>
                </a:solidFill>
                <a:latin typeface="Trebuchet MS" charset="0"/>
                <a:ea typeface="ＭＳ Ｐゴシック" charset="0"/>
                <a:cs typeface="ＭＳ Ｐゴシック" charset="0"/>
              </a:rPr>
              <a:t>unboxing </a:t>
            </a:r>
            <a:endParaRPr lang="en-GB" dirty="0">
              <a:solidFill>
                <a:srgbClr val="A57133"/>
              </a:solidFill>
              <a:latin typeface="Trebuchet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83826" y="6206147"/>
            <a:ext cx="682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A47139"/>
                </a:solidFill>
              </a:rPr>
              <a:t>Or explicitly unwrapping the first mark in the list </a:t>
            </a:r>
            <a:r>
              <a:rPr lang="en-GB" b="1" dirty="0" err="1">
                <a:solidFill>
                  <a:srgbClr val="A47139"/>
                </a:solidFill>
                <a:latin typeface="Courier" charset="0"/>
                <a:ea typeface="Courier" charset="0"/>
                <a:cs typeface="Courier" charset="0"/>
              </a:rPr>
              <a:t>markList.get</a:t>
            </a:r>
            <a:r>
              <a:rPr lang="en-GB" b="1" dirty="0">
                <a:solidFill>
                  <a:srgbClr val="A47139"/>
                </a:solidFill>
                <a:latin typeface="Courier" charset="0"/>
                <a:ea typeface="Courier" charset="0"/>
                <a:cs typeface="Courier" charset="0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54923" y="4196109"/>
            <a:ext cx="6400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A47139"/>
                </a:solidFill>
              </a:rPr>
              <a:t>i.e. we don’t have to worry about explicitly wrapping </a:t>
            </a:r>
            <a:r>
              <a:rPr lang="en-GB" b="1" dirty="0">
                <a:solidFill>
                  <a:srgbClr val="A47139"/>
                </a:solidFill>
                <a:latin typeface="Courier" charset="0"/>
                <a:ea typeface="Courier" charset="0"/>
                <a:cs typeface="Courier" charset="0"/>
              </a:rPr>
              <a:t>mark</a:t>
            </a:r>
            <a:r>
              <a:rPr lang="en-GB" dirty="0">
                <a:solidFill>
                  <a:srgbClr val="A47139"/>
                </a:solidFill>
              </a:rPr>
              <a:t> above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673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animBg="1"/>
      <p:bldP spid="43015" grpId="0" animBg="1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F25F70-1AA2-E348-82F6-9ABEB26E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7B4EA2-3673-BD43-9BF9-C8C34F00C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30000" cy="5105399"/>
          </a:xfrm>
        </p:spPr>
        <p:txBody>
          <a:bodyPr>
            <a:normAutofit fontScale="70000" lnSpcReduction="20000"/>
          </a:bodyPr>
          <a:lstStyle/>
          <a:p>
            <a:r>
              <a:rPr lang="en-IE" dirty="0"/>
              <a:t>if you use </a:t>
            </a:r>
            <a:r>
              <a:rPr lang="en-IE" b="1" dirty="0"/>
              <a:t>collections</a:t>
            </a:r>
            <a:r>
              <a:rPr lang="en-IE" dirty="0"/>
              <a:t> (e.g. </a:t>
            </a:r>
            <a:r>
              <a:rPr lang="en-IE" dirty="0" err="1"/>
              <a:t>ArrayList</a:t>
            </a:r>
            <a:r>
              <a:rPr lang="en-IE" dirty="0"/>
              <a:t>, Map, Set, etc.) </a:t>
            </a:r>
            <a:br>
              <a:rPr lang="en-IE" dirty="0"/>
            </a:br>
            <a:r>
              <a:rPr lang="en-IE" b="1" dirty="0"/>
              <a:t>of a primitive type </a:t>
            </a:r>
            <a:r>
              <a:rPr lang="en-IE" dirty="0"/>
              <a:t>(</a:t>
            </a:r>
            <a:r>
              <a:rPr lang="en-IE" dirty="0" err="1"/>
              <a:t>int</a:t>
            </a:r>
            <a:r>
              <a:rPr lang="en-IE" dirty="0"/>
              <a:t>, long, </a:t>
            </a:r>
            <a:r>
              <a:rPr lang="en-IE" dirty="0" err="1"/>
              <a:t>boolean</a:t>
            </a:r>
            <a:r>
              <a:rPr lang="en-IE" dirty="0"/>
              <a:t>, char, float, double),</a:t>
            </a:r>
            <a:br>
              <a:rPr lang="en-IE" dirty="0"/>
            </a:br>
            <a:r>
              <a:rPr lang="en-IE" dirty="0"/>
              <a:t>you will need to use </a:t>
            </a:r>
            <a:r>
              <a:rPr lang="en-IE" b="1" dirty="0"/>
              <a:t>wrapper</a:t>
            </a:r>
            <a:r>
              <a:rPr lang="en-IE" dirty="0"/>
              <a:t> </a:t>
            </a:r>
            <a:r>
              <a:rPr lang="en-IE" b="1" dirty="0"/>
              <a:t>classes</a:t>
            </a:r>
            <a:r>
              <a:rPr lang="en-IE" dirty="0"/>
              <a:t> (Integer, Boolean, Character, Float, Double) </a:t>
            </a:r>
            <a:br>
              <a:rPr lang="en-IE" dirty="0"/>
            </a:br>
            <a:r>
              <a:rPr lang="en-IE" dirty="0"/>
              <a:t>in the declaration of the collection</a:t>
            </a:r>
            <a:br>
              <a:rPr lang="en-IE" dirty="0"/>
            </a:br>
            <a:r>
              <a:rPr lang="en-IE" dirty="0"/>
              <a:t>	e.g.   </a:t>
            </a:r>
            <a:r>
              <a:rPr lang="en-IE" dirty="0">
                <a:solidFill>
                  <a:srgbClr val="0070C0"/>
                </a:solidFill>
              </a:rPr>
              <a:t>private </a:t>
            </a:r>
            <a:r>
              <a:rPr lang="en-IE" dirty="0" err="1">
                <a:solidFill>
                  <a:srgbClr val="0070C0"/>
                </a:solidFill>
              </a:rPr>
              <a:t>ArrayList</a:t>
            </a:r>
            <a:r>
              <a:rPr lang="en-IE" dirty="0">
                <a:solidFill>
                  <a:srgbClr val="0070C0"/>
                </a:solidFill>
              </a:rPr>
              <a:t>&lt;Integer&gt; </a:t>
            </a:r>
            <a:r>
              <a:rPr lang="en-IE" dirty="0" err="1">
                <a:solidFill>
                  <a:srgbClr val="0070C0"/>
                </a:solidFill>
              </a:rPr>
              <a:t>markList</a:t>
            </a:r>
            <a:r>
              <a:rPr lang="en-IE" dirty="0">
                <a:solidFill>
                  <a:srgbClr val="0070C0"/>
                </a:solidFill>
              </a:rPr>
              <a:t>;</a:t>
            </a:r>
            <a:br>
              <a:rPr lang="en-IE" dirty="0"/>
            </a:br>
            <a:endParaRPr lang="en-IE" dirty="0"/>
          </a:p>
          <a:p>
            <a:r>
              <a:rPr lang="en-IE" dirty="0"/>
              <a:t>To add an </a:t>
            </a:r>
            <a:r>
              <a:rPr lang="en-IE" dirty="0" err="1"/>
              <a:t>int</a:t>
            </a:r>
            <a:r>
              <a:rPr lang="en-IE" dirty="0"/>
              <a:t> to this </a:t>
            </a:r>
            <a:r>
              <a:rPr lang="en-IE" dirty="0" err="1"/>
              <a:t>ArrayList</a:t>
            </a:r>
            <a:r>
              <a:rPr lang="en-IE" dirty="0"/>
              <a:t> of integers, we would </a:t>
            </a:r>
            <a:r>
              <a:rPr lang="en-IE" b="1" dirty="0"/>
              <a:t>wrap</a:t>
            </a:r>
            <a:r>
              <a:rPr lang="en-IE" dirty="0"/>
              <a:t> the </a:t>
            </a:r>
            <a:r>
              <a:rPr lang="en-IE" b="1" dirty="0" err="1"/>
              <a:t>int</a:t>
            </a:r>
            <a:r>
              <a:rPr lang="en-IE" dirty="0"/>
              <a:t> by using the </a:t>
            </a:r>
            <a:r>
              <a:rPr lang="en-IE" b="1" dirty="0"/>
              <a:t>Integer() </a:t>
            </a:r>
            <a:r>
              <a:rPr lang="en-IE" dirty="0"/>
              <a:t>constructor method.</a:t>
            </a:r>
          </a:p>
          <a:p>
            <a:endParaRPr lang="en-IE" dirty="0"/>
          </a:p>
          <a:p>
            <a:r>
              <a:rPr lang="en-IE" dirty="0"/>
              <a:t>To remove an </a:t>
            </a:r>
            <a:r>
              <a:rPr lang="en-IE" dirty="0" err="1"/>
              <a:t>int</a:t>
            </a:r>
            <a:r>
              <a:rPr lang="en-IE" dirty="0"/>
              <a:t> from this </a:t>
            </a:r>
            <a:r>
              <a:rPr lang="en-IE" dirty="0" err="1"/>
              <a:t>ArrayList</a:t>
            </a:r>
            <a:r>
              <a:rPr lang="en-IE" dirty="0"/>
              <a:t> of integers, we would </a:t>
            </a:r>
            <a:r>
              <a:rPr lang="en-IE" b="1" dirty="0"/>
              <a:t>unwrap</a:t>
            </a:r>
            <a:r>
              <a:rPr lang="en-IE" dirty="0"/>
              <a:t> the </a:t>
            </a:r>
            <a:r>
              <a:rPr lang="en-IE" b="1" dirty="0" err="1"/>
              <a:t>int</a:t>
            </a:r>
            <a:r>
              <a:rPr lang="en-IE" dirty="0"/>
              <a:t> by using the </a:t>
            </a:r>
            <a:r>
              <a:rPr lang="en-IE" b="1" dirty="0" err="1"/>
              <a:t>intValue</a:t>
            </a:r>
            <a:r>
              <a:rPr lang="en-IE" b="1" dirty="0"/>
              <a:t>() </a:t>
            </a:r>
            <a:r>
              <a:rPr lang="en-IE" dirty="0"/>
              <a:t>method of the Integer wrapper class.</a:t>
            </a:r>
          </a:p>
          <a:p>
            <a:endParaRPr lang="en-IE" dirty="0"/>
          </a:p>
          <a:p>
            <a:r>
              <a:rPr lang="en-IE" b="1" dirty="0"/>
              <a:t>Autoboxing</a:t>
            </a:r>
            <a:r>
              <a:rPr lang="en-IE" dirty="0"/>
              <a:t> and </a:t>
            </a:r>
            <a:r>
              <a:rPr lang="en-IE" b="1" dirty="0"/>
              <a:t>unboxing</a:t>
            </a:r>
            <a:r>
              <a:rPr lang="en-IE" dirty="0"/>
              <a:t> removes the need to use the wrap and unwrap methods in the wrapper class as it’s handled automatically. </a:t>
            </a:r>
          </a:p>
          <a:p>
            <a:pPr lvl="1"/>
            <a:r>
              <a:rPr lang="en-IE" dirty="0"/>
              <a:t>However it is </a:t>
            </a:r>
            <a:r>
              <a:rPr lang="en-IE" b="1" dirty="0"/>
              <a:t>less efficient </a:t>
            </a:r>
            <a:r>
              <a:rPr lang="en-IE" dirty="0"/>
              <a:t>than doing it explicitly. If performance becomes an issue, you would revert to explicitly using the wrapping and unwrapping methods rather than relying on autoboxing and unboxing.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37923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F307-E692-2F47-B6FE-E3BB9028F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36EB2-A49E-8342-B63B-737558536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514350">
              <a:buFont typeface="+mj-lt"/>
              <a:buAutoNum type="alphaLcParenR"/>
              <a:defRPr/>
            </a:pPr>
            <a:r>
              <a:rPr lang="en-US" dirty="0"/>
              <a:t>Polymorphic Variables </a:t>
            </a:r>
          </a:p>
          <a:p>
            <a:pPr marL="914400" lvl="1" indent="-514350">
              <a:buFont typeface="+mj-lt"/>
              <a:buAutoNum type="alphaLcParenR"/>
              <a:defRPr/>
            </a:pPr>
            <a:r>
              <a:rPr lang="en-US" dirty="0"/>
              <a:t>Polymorphic Collections</a:t>
            </a:r>
          </a:p>
          <a:p>
            <a:pPr marL="1314450" lvl="2" indent="-514350">
              <a:defRPr/>
            </a:pPr>
            <a:r>
              <a:rPr lang="en-US" dirty="0"/>
              <a:t>casting, </a:t>
            </a:r>
          </a:p>
          <a:p>
            <a:pPr marL="1314450" lvl="2" indent="-514350">
              <a:defRPr/>
            </a:pPr>
            <a:r>
              <a:rPr lang="en-US" dirty="0"/>
              <a:t>wrapper classes, </a:t>
            </a:r>
          </a:p>
          <a:p>
            <a:pPr marL="1314450" lvl="2" indent="-514350">
              <a:defRPr/>
            </a:pPr>
            <a:r>
              <a:rPr lang="en-US" dirty="0"/>
              <a:t>autoboxing /unboxing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95449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08598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Review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13538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sz="2800" dirty="0"/>
              <a:t>Inheritance allows the definition of classes as extensions of other classes.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/>
              <a:t>Inheritance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/>
              <a:t>avoids code duplication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/>
              <a:t>allows code reuse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/>
              <a:t>simplifies the code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/>
              <a:t>simplifies maintenance and extending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/>
              <a:t>Variables can hold subtype objects.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/>
              <a:t>Subtypes can be used wherever </a:t>
            </a:r>
            <a:r>
              <a:rPr lang="en-GB" sz="2800" dirty="0" err="1"/>
              <a:t>supertype</a:t>
            </a:r>
            <a:r>
              <a:rPr lang="en-GB" sz="2800" dirty="0"/>
              <a:t> objects are expected (substitution).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46767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6746</TotalTime>
  <Words>3584</Words>
  <Application>Microsoft Macintosh PowerPoint</Application>
  <PresentationFormat>Widescreen</PresentationFormat>
  <Paragraphs>750</Paragraphs>
  <Slides>60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Arial</vt:lpstr>
      <vt:lpstr>Calibri</vt:lpstr>
      <vt:lpstr>Courier</vt:lpstr>
      <vt:lpstr>Courier New</vt:lpstr>
      <vt:lpstr>Times</vt:lpstr>
      <vt:lpstr>Times New Roman</vt:lpstr>
      <vt:lpstr>Trebuchet MS</vt:lpstr>
      <vt:lpstr>Office Theme</vt:lpstr>
      <vt:lpstr>Inheritance</vt:lpstr>
      <vt:lpstr>Lectures and Labs</vt:lpstr>
      <vt:lpstr>Topic List</vt:lpstr>
      <vt:lpstr>Social Network V1</vt:lpstr>
      <vt:lpstr>PowerPoint Presentation</vt:lpstr>
      <vt:lpstr>Social Network V1 - Objects</vt:lpstr>
      <vt:lpstr>Social Network V1 - Classes</vt:lpstr>
      <vt:lpstr>Social Network V1 - Object model</vt:lpstr>
      <vt:lpstr>Social Network V1 - Class diagram</vt:lpstr>
      <vt:lpstr>MessagePost source code</vt:lpstr>
      <vt:lpstr>PhotoPost source code</vt:lpstr>
      <vt:lpstr>NewsFeed source code</vt:lpstr>
      <vt:lpstr>Topic List</vt:lpstr>
      <vt:lpstr>Inheritance hierarchies</vt:lpstr>
      <vt:lpstr>Inheritance hierarchies</vt:lpstr>
      <vt:lpstr>Topic List</vt:lpstr>
      <vt:lpstr>Recap: Social Network V1 - Class diagram</vt:lpstr>
      <vt:lpstr>Critique of Social Network V1</vt:lpstr>
      <vt:lpstr>Social Network V2 - Class diagram</vt:lpstr>
      <vt:lpstr>Social NetworkV2 - Using inheritance</vt:lpstr>
      <vt:lpstr>Social NetworkV2 - Using inheritance</vt:lpstr>
      <vt:lpstr>Social Network V2 – Inheritance Summary</vt:lpstr>
      <vt:lpstr>Topic List</vt:lpstr>
      <vt:lpstr>Inheritance in Java - extends</vt:lpstr>
      <vt:lpstr>Superclass</vt:lpstr>
      <vt:lpstr>Subclasses</vt:lpstr>
      <vt:lpstr>PowerPoint Presentation</vt:lpstr>
      <vt:lpstr>PowerPoint Presentation</vt:lpstr>
      <vt:lpstr>Superclass constructor call</vt:lpstr>
      <vt:lpstr>Topic List</vt:lpstr>
      <vt:lpstr>Social Network V3 - Adding more item types</vt:lpstr>
      <vt:lpstr>Social Network V3 - Deeper hierarchies</vt:lpstr>
      <vt:lpstr>Topic List</vt:lpstr>
      <vt:lpstr>Advantages of inheritance</vt:lpstr>
      <vt:lpstr>PowerPoint Presentation</vt:lpstr>
      <vt:lpstr>PowerPoint Presentation</vt:lpstr>
      <vt:lpstr>PowerPoint Presentation</vt:lpstr>
      <vt:lpstr>Topic List</vt:lpstr>
      <vt:lpstr>Subtyping</vt:lpstr>
      <vt:lpstr>Subclasses and subtyping</vt:lpstr>
      <vt:lpstr>Subtyping and assignment</vt:lpstr>
      <vt:lpstr>Subtyping and parameter passing</vt:lpstr>
      <vt:lpstr>Social Network V2 - Object diagram</vt:lpstr>
      <vt:lpstr>Topic List</vt:lpstr>
      <vt:lpstr>7 a) Polymorphic variables</vt:lpstr>
      <vt:lpstr>PowerPoint Presentation</vt:lpstr>
      <vt:lpstr>Casting</vt:lpstr>
      <vt:lpstr>Casting</vt:lpstr>
      <vt:lpstr>The Object class</vt:lpstr>
      <vt:lpstr>Topic List</vt:lpstr>
      <vt:lpstr>7 b) Polymorphic collections</vt:lpstr>
      <vt:lpstr>7 b) Polymorphic collections</vt:lpstr>
      <vt:lpstr>Collections and primitive types</vt:lpstr>
      <vt:lpstr>Wrapper classes</vt:lpstr>
      <vt:lpstr>Wrapper classes</vt:lpstr>
      <vt:lpstr>Autoboxing and unboxing</vt:lpstr>
      <vt:lpstr>Summary</vt:lpstr>
      <vt:lpstr>Summary</vt:lpstr>
      <vt:lpstr>PowerPoint Presentation</vt:lpstr>
      <vt:lpstr>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Siobhan Drohan</dc:creator>
  <cp:lastModifiedBy>Colm Dunphy</cp:lastModifiedBy>
  <cp:revision>281</cp:revision>
  <dcterms:created xsi:type="dcterms:W3CDTF">2006-08-16T00:00:00Z</dcterms:created>
  <dcterms:modified xsi:type="dcterms:W3CDTF">2020-05-06T05:13:13Z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0680D055-48F7-457D-8FA8-0B98535B426D</vt:lpwstr>
  </property>
  <property fmtid="{D5CDD505-2E9C-101B-9397-08002B2CF9AE}" pid="3" name="ArticulatePath">
    <vt:lpwstr>a-prog-fund-2-inheritance</vt:lpwstr>
  </property>
</Properties>
</file>