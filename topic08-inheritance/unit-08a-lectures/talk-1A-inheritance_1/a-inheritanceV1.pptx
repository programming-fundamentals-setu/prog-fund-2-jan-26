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CA3A"/>
    <a:srgbClr val="435765"/>
    <a:srgbClr val="0062AF"/>
    <a:srgbClr val="E74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119291-A0E2-3347-9167-2FBB02A7C961}" v="303" dt="2023-04-18T08:45:45.2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99"/>
    <p:restoredTop sz="76901"/>
  </p:normalViewPr>
  <p:slideViewPr>
    <p:cSldViewPr snapToGrid="0">
      <p:cViewPr varScale="1">
        <p:scale>
          <a:sx n="89" d="100"/>
          <a:sy n="89" d="100"/>
        </p:scale>
        <p:origin x="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earne" userId="d211ecec-1162-4091-8ee9-61d4a9e2add7" providerId="ADAL" clId="{A5119291-A0E2-3347-9167-2FBB02A7C961}"/>
    <pc:docChg chg="undo custSel modSld">
      <pc:chgData name="David Hearne" userId="d211ecec-1162-4091-8ee9-61d4a9e2add7" providerId="ADAL" clId="{A5119291-A0E2-3347-9167-2FBB02A7C961}" dt="2023-04-18T08:45:45.031" v="18" actId="20577"/>
      <pc:docMkLst>
        <pc:docMk/>
      </pc:docMkLst>
      <pc:sldChg chg="addSp delSp modSp mod">
        <pc:chgData name="David Hearne" userId="d211ecec-1162-4091-8ee9-61d4a9e2add7" providerId="ADAL" clId="{A5119291-A0E2-3347-9167-2FBB02A7C961}" dt="2023-04-18T08:45:45.031" v="18" actId="20577"/>
        <pc:sldMkLst>
          <pc:docMk/>
          <pc:sldMk cId="591161101" sldId="445"/>
        </pc:sldMkLst>
        <pc:spChg chg="mod">
          <ac:chgData name="David Hearne" userId="d211ecec-1162-4091-8ee9-61d4a9e2add7" providerId="ADAL" clId="{A5119291-A0E2-3347-9167-2FBB02A7C961}" dt="2023-04-18T08:45:44.479" v="15" actId="20577"/>
          <ac:spMkLst>
            <pc:docMk/>
            <pc:sldMk cId="591161101" sldId="445"/>
            <ac:spMk id="13" creationId="{D319B851-A90B-F470-4E9A-0A3BF61F948B}"/>
          </ac:spMkLst>
        </pc:spChg>
        <pc:spChg chg="add del mod">
          <ac:chgData name="David Hearne" userId="d211ecec-1162-4091-8ee9-61d4a9e2add7" providerId="ADAL" clId="{A5119291-A0E2-3347-9167-2FBB02A7C961}" dt="2023-04-18T08:45:45.031" v="18" actId="20577"/>
          <ac:spMkLst>
            <pc:docMk/>
            <pc:sldMk cId="591161101" sldId="445"/>
            <ac:spMk id="14" creationId="{BC7E5258-0CD3-FE09-CE39-C31E080E6B67}"/>
          </ac:spMkLst>
        </pc:spChg>
        <pc:spChg chg="add del">
          <ac:chgData name="David Hearne" userId="d211ecec-1162-4091-8ee9-61d4a9e2add7" providerId="ADAL" clId="{A5119291-A0E2-3347-9167-2FBB02A7C961}" dt="2023-04-18T08:45:44.649" v="16" actId="478"/>
          <ac:spMkLst>
            <pc:docMk/>
            <pc:sldMk cId="591161101" sldId="445"/>
            <ac:spMk id="19" creationId="{1068A325-8A34-152D-8B92-4546F501CB15}"/>
          </ac:spMkLst>
        </pc:spChg>
        <pc:spChg chg="mod">
          <ac:chgData name="David Hearne" userId="d211ecec-1162-4091-8ee9-61d4a9e2add7" providerId="ADAL" clId="{A5119291-A0E2-3347-9167-2FBB02A7C961}" dt="2023-04-18T08:45:24.752" v="6" actId="20577"/>
          <ac:spMkLst>
            <pc:docMk/>
            <pc:sldMk cId="591161101" sldId="445"/>
            <ac:spMk id="24" creationId="{D4BA01C4-169D-895E-472B-A71245691AFC}"/>
          </ac:spMkLst>
        </pc:spChg>
        <pc:cxnChg chg="mod">
          <ac:chgData name="David Hearne" userId="d211ecec-1162-4091-8ee9-61d4a9e2add7" providerId="ADAL" clId="{A5119291-A0E2-3347-9167-2FBB02A7C961}" dt="2023-04-18T08:45:44.649" v="16" actId="478"/>
          <ac:cxnSpMkLst>
            <pc:docMk/>
            <pc:sldMk cId="591161101" sldId="445"/>
            <ac:cxnSpMk id="47" creationId="{8435FD7C-5E6E-4CAB-C5B6-AD669E5184C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B268A-CA3A-0048-9013-6E7C8FF5127F}" type="datetimeFigureOut">
              <a:rPr lang="en-US" smtClean="0"/>
              <a:t>4/12/2024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B84A0-CA4D-2741-806C-17A9264492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22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836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156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857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751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122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8B84A0-CA4D-2741-806C-17A9264492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15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0BDA7-D71E-A617-27B7-787DE42F7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3FDDF3-9F54-4D1C-4DAE-AEDCD366F1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FFB5B4B7-D13B-783E-5F1E-412BDC5D91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60711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3661B-17E5-AEB4-5039-12B9E644B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5D0D1-C408-E0A1-E29C-6EC061803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46475"/>
          </a:xfrm>
        </p:spPr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547124-F0EB-380D-6A94-29423FE38752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EAC70C1C-2BF7-2D24-0C1A-5761BAA46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FB1B1F-BD41-EF6A-29B6-DFF0CE207B39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D162732-2B8A-90F2-EB70-67F0CC6C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7706159-FD7A-7A51-FEE5-D8D445CD1D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09011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7BE43-B9A7-BC93-E56F-486BC93A9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574"/>
            <a:ext cx="10515600" cy="860425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DDD06-17FD-1299-4C21-B4BD9A733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48336"/>
            <a:ext cx="10515600" cy="425348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2D0BB6-0690-69C2-7913-4E641FA5263B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4942315C-0F65-972F-774D-73078C31C3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5D37C6-695B-A413-C7D8-CC729BE4A5E7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AF08D71D-633D-03D6-837B-2EC45E80E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67F271E0-EC9F-70B2-AF3B-ED4F3927D4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4245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3A76-6FDB-3575-CC11-5859A712D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8481B-3779-5250-135C-D2B0AFD851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3995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50A12-6140-2CE2-EA49-754591148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3995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F03AFF-B4F8-FCBD-2728-065160B5E346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D13D03AA-0896-FE80-2DAE-DE4C27A47C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A233C6-37BC-F82E-A892-76CA5AB4B7C5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F030FD0F-2DD6-2272-51EE-2BF33059E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88EF9FD-1D1E-7A85-9B87-8B09737419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29845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F1BAE-F1D1-9BFF-E81C-9EB6F7E29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FDD2EF-5122-99B1-1482-73F47DCFB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2AD250-B4A0-9994-DEFD-1003746CE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2867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033373-B31C-8067-F4C0-5D8722EE0D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E033B8-3B84-5BAF-41E3-F01F70FD2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2867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DBF12C-7C0A-66CC-800F-81E7C7511108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2A6757DB-F33F-B6B9-4AB7-673BFD0C04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88376F0-4941-20F3-0634-CC3CA047EBEE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98434014-9B29-BB02-AFCC-26F5DD9D1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EA3A214-C271-27A6-1BA5-A7E92A0C4F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829577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2FC2BC5-A41F-AF1E-87C1-6C3884228EE1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B80B376-718E-5A67-D7A2-E9C5D84886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40C9288-DA64-5E12-B226-91527D193BD7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1B9D84-933C-5819-53CE-724AA8A87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661670FA-CFD1-A883-55F9-FC87F3B1B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934E70C-E8D9-B2C2-6196-CB37462C2AA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03245" y="6153874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777632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845881D-2D8D-1975-AB67-071538DA5B41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2F7B6B3-CC24-4207-D53D-6E6E9BFD5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32805-1A5C-6896-174B-545E3B3CB158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802365A-5338-0BFB-EE6B-1D00D5A9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B45F8394-F9E9-67F3-F785-4190DC911D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9000"/>
          </a:blip>
          <a:stretch>
            <a:fillRect/>
          </a:stretch>
        </p:blipFill>
        <p:spPr>
          <a:xfrm>
            <a:off x="-2721883" y="422310"/>
            <a:ext cx="5443765" cy="5486295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9350A5-0F76-7CA1-01EE-0506A29F03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25939" y="2422507"/>
            <a:ext cx="8618538" cy="1485900"/>
          </a:xfrm>
        </p:spPr>
        <p:txBody>
          <a:bodyPr>
            <a:normAutofit/>
          </a:bodyPr>
          <a:lstStyle>
            <a:lvl3pPr marL="914400" indent="0" algn="ctr">
              <a:buNone/>
              <a:defRPr sz="6000">
                <a:latin typeface="DM Sans" pitchFamily="2" charset="77"/>
              </a:defRPr>
            </a:lvl3pPr>
          </a:lstStyle>
          <a:p>
            <a:pPr lvl="2"/>
            <a:r>
              <a:rPr lang="en-US" dirty="0"/>
              <a:t>Title Section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B1747D0-142F-29F0-C111-4CA4BB0024E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31182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A2F7B6B3-CC24-4207-D53D-6E6E9BFD5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B32805-1A5C-6896-174B-545E3B3CB158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802365A-5338-0BFB-EE6B-1D00D5A95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B45F8394-F9E9-67F3-F785-4190DC911D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11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632673" y="433462"/>
            <a:ext cx="5443765" cy="54862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6D9E16-657A-4218-0444-F0A4D4BC3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57" y="2324554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BFD17A-A184-4C60-C2D7-B6CD6ACBCF9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9203245" y="6153874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40779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6F86B-6715-92BC-715F-DFA9AD39F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8AFA0-81E3-E9B4-F6E0-8B926D239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28670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034E6-8F9A-4869-D336-F1BAA76F0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21672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FDDB94-FA60-0120-3E53-AB03CF84BA1E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45679F87-5E74-8BA8-0629-1E5B4F4880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BE86B7-2BF4-10EF-5455-B9887AAB8B50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6B715A8C-2802-94EC-ED2B-7E87EB769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4062A10-94AD-59F5-B695-6399839DA5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1155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0F6A3-1FA6-365B-EAE9-C97A97FA2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0FE55-436B-BE4B-A625-5596F318B1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5806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895F3-5234-BC3A-AA83-2EC6C8BFB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51064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4B8120-3457-7741-DD19-9CE4C0C22B4A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Text&#10;&#10;Description automatically generated">
            <a:extLst>
              <a:ext uri="{FF2B5EF4-FFF2-40B4-BE49-F238E27FC236}">
                <a16:creationId xmlns:a16="http://schemas.microsoft.com/office/drawing/2014/main" id="{70E58948-512F-FE8B-DC74-07D466B3C5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61E89E-CE00-6AFD-C38F-ED89F0C488AB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115F357-D0A9-D2BE-D6C4-1DE4D5FB1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539925D-2713-A52D-751E-374F477B25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85067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6E7A3-2933-9A9D-1B68-1C4E7E0E0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D318C-66EC-4B7A-FD04-653E50045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B3A924-D1C2-80FA-9A28-1F83C8252CD7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A8580AF9-B3B8-8FCD-D5F6-72F55C10E5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68DA9D1-70B7-518A-1D12-6840DCAE9DB6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820A38DC-2F95-7186-592B-18167E2BC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69CF7F-4015-09B0-0671-F93589D2D9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03245" y="6176176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234116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05D519-5C13-B1DA-C03B-E55280B896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38253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5BE02F-1224-E3C9-A8BB-96F822DB8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38253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4E5451-8045-E9BC-4D1D-8CF1DD1B3874}"/>
              </a:ext>
            </a:extLst>
          </p:cNvPr>
          <p:cNvSpPr/>
          <p:nvPr userDrawn="1"/>
        </p:nvSpPr>
        <p:spPr>
          <a:xfrm>
            <a:off x="-440871" y="6104965"/>
            <a:ext cx="13062857" cy="885799"/>
          </a:xfrm>
          <a:prstGeom prst="rect">
            <a:avLst/>
          </a:prstGeom>
          <a:solidFill>
            <a:srgbClr val="4357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3581C137-70E6-F86A-90ED-817935AD6A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E7DE500-850E-C45D-5905-16C7BED700DC}"/>
              </a:ext>
            </a:extLst>
          </p:cNvPr>
          <p:cNvSpPr txBox="1"/>
          <p:nvPr userDrawn="1"/>
        </p:nvSpPr>
        <p:spPr>
          <a:xfrm>
            <a:off x="259216" y="6209629"/>
            <a:ext cx="21323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 Hearne</a:t>
            </a:r>
          </a:p>
          <a:p>
            <a:r>
              <a:rPr lang="en-US" sz="1600" dirty="0" err="1">
                <a:solidFill>
                  <a:srgbClr val="FCCA3A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dave.hearne@wit.ie</a:t>
            </a:r>
            <a:endParaRPr lang="en-US" sz="1600" dirty="0">
              <a:solidFill>
                <a:srgbClr val="FCCA3A"/>
              </a:solidFill>
              <a:latin typeface="Inter Medium" panose="02000503000000020004" pitchFamily="2" charset="0"/>
              <a:ea typeface="Inter Medium" panose="02000503000000020004" pitchFamily="2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638537D-9021-8EF8-E16B-C1CF5CF9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18957" y="6365301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40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E01E724-D140-6BA0-9EC5-95685A2B78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9203245" y="6187327"/>
            <a:ext cx="1120090" cy="60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98839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94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27A6AA-9A3D-B214-D69B-E407A667B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5717F-6026-BB96-5E0E-E0C78D960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26810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8" name="Picture 7" descr="Text&#10;&#10;Description automatically generated">
            <a:extLst>
              <a:ext uri="{FF2B5EF4-FFF2-40B4-BE49-F238E27FC236}">
                <a16:creationId xmlns:a16="http://schemas.microsoft.com/office/drawing/2014/main" id="{6C6F1F5D-051A-FB61-9D09-9FDA371C1473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467415" y="6013271"/>
            <a:ext cx="1743635" cy="97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402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ransition spd="slow">
    <p:push dir="u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35765"/>
          </a:solidFill>
          <a:latin typeface="DM Sans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435765"/>
        </a:buClr>
        <a:buFont typeface="Arial" panose="020B0604020202020204" pitchFamily="34" charset="0"/>
        <a:buChar char="•"/>
        <a:defRPr sz="2800" kern="1200">
          <a:solidFill>
            <a:srgbClr val="435765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435765"/>
        </a:buClr>
        <a:buFont typeface="Arial" panose="020B0604020202020204" pitchFamily="34" charset="0"/>
        <a:buChar char="•"/>
        <a:defRPr sz="2400" kern="1200">
          <a:solidFill>
            <a:srgbClr val="435765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435765"/>
        </a:buClr>
        <a:buFont typeface="Arial" panose="020B0604020202020204" pitchFamily="34" charset="0"/>
        <a:buChar char="•"/>
        <a:defRPr sz="2000" kern="1200">
          <a:solidFill>
            <a:srgbClr val="435765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435765"/>
        </a:buClr>
        <a:buFont typeface="Arial" panose="020B0604020202020204" pitchFamily="34" charset="0"/>
        <a:buChar char="•"/>
        <a:defRPr sz="1800" kern="1200">
          <a:solidFill>
            <a:srgbClr val="435765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435765"/>
        </a:buClr>
        <a:buFont typeface="Arial" panose="020B0604020202020204" pitchFamily="34" charset="0"/>
        <a:buChar char="•"/>
        <a:defRPr sz="1800" kern="1200">
          <a:solidFill>
            <a:srgbClr val="435765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icon&#10;&#10;Description automatically generated">
            <a:extLst>
              <a:ext uri="{FF2B5EF4-FFF2-40B4-BE49-F238E27FC236}">
                <a16:creationId xmlns:a16="http://schemas.microsoft.com/office/drawing/2014/main" id="{99CD819F-5324-A9DE-1B40-CA887A54AEA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-2554628" y="693967"/>
            <a:ext cx="5427662" cy="54700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1A3E84-9222-E321-F48B-5FDB6F80A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en-US" b="1" dirty="0">
                <a:solidFill>
                  <a:srgbClr val="435765"/>
                </a:solidFill>
                <a:latin typeface="DM Sans" pitchFamily="2" charset="77"/>
              </a:rPr>
              <a:t>Programming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4409F-DCAA-6F36-5AC8-EB4F83A8AB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sz="2400" dirty="0"/>
              <a:t>Inheritance: </a:t>
            </a:r>
            <a:r>
              <a:rPr lang="en-IE" sz="2400" dirty="0" smtClean="0"/>
              <a:t>Introduction</a:t>
            </a:r>
            <a:endParaRPr lang="en-IE" sz="2400" dirty="0"/>
          </a:p>
        </p:txBody>
      </p:sp>
      <p:pic>
        <p:nvPicPr>
          <p:cNvPr id="5" name="Picture 4" descr="Text, logo&#10;&#10;Description automatically generated">
            <a:extLst>
              <a:ext uri="{FF2B5EF4-FFF2-40B4-BE49-F238E27FC236}">
                <a16:creationId xmlns:a16="http://schemas.microsoft.com/office/drawing/2014/main" id="{14BFAFCE-71D5-F584-63E1-3FA32C910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0724" y="5703037"/>
            <a:ext cx="2062162" cy="11560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2C7499-CC2E-E18D-EDDF-B6BB380CF21C}"/>
              </a:ext>
            </a:extLst>
          </p:cNvPr>
          <p:cNvSpPr txBox="1"/>
          <p:nvPr/>
        </p:nvSpPr>
        <p:spPr>
          <a:xfrm>
            <a:off x="689124" y="6256108"/>
            <a:ext cx="48030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400" b="1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Produced By: </a:t>
            </a:r>
          </a:p>
          <a:p>
            <a:r>
              <a:rPr lang="en-IE" sz="1400" dirty="0" err="1" smtClean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Dr</a:t>
            </a:r>
            <a:r>
              <a:rPr lang="en-IE" sz="1400" dirty="0" err="1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.</a:t>
            </a:r>
            <a:r>
              <a:rPr lang="en-IE" sz="14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IE" sz="1400" dirty="0" err="1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Siobhán</a:t>
            </a:r>
            <a:r>
              <a:rPr lang="en-IE" sz="1400" dirty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 </a:t>
            </a:r>
            <a:r>
              <a:rPr lang="en-IE" sz="1400" dirty="0" smtClean="0">
                <a:solidFill>
                  <a:srgbClr val="435765"/>
                </a:solidFill>
                <a:latin typeface="Inter" panose="02000503000000020004" pitchFamily="2" charset="0"/>
                <a:ea typeface="Inter" panose="02000503000000020004" pitchFamily="2" charset="0"/>
              </a:rPr>
              <a:t>Drohan, Ms Mairead Meagher, Ms Siobhan Roche</a:t>
            </a:r>
            <a:endParaRPr lang="en-US" sz="1400" dirty="0">
              <a:solidFill>
                <a:srgbClr val="435765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6689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to Inheritance in Java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Inheritance is a fundamental feature of object-oriented programming (OOP) that allows a class to inherit properties and </a:t>
            </a:r>
            <a:r>
              <a:rPr lang="en-GB" dirty="0" smtClean="0"/>
              <a:t>behaviours </a:t>
            </a:r>
            <a:r>
              <a:rPr lang="en-GB" dirty="0"/>
              <a:t>from another class</a:t>
            </a:r>
            <a:r>
              <a:rPr lang="en-GB" dirty="0" smtClean="0"/>
              <a:t>.</a:t>
            </a:r>
          </a:p>
          <a:p>
            <a:r>
              <a:rPr lang="en-GB" dirty="0"/>
              <a:t>It promotes code reusability, extensibility, and </a:t>
            </a:r>
            <a:r>
              <a:rPr lang="en-GB" dirty="0" smtClean="0"/>
              <a:t>organisation </a:t>
            </a:r>
            <a:r>
              <a:rPr lang="en-GB" dirty="0"/>
              <a:t>by allowing new classes to be built upon existing classes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8320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Concept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b="1" dirty="0"/>
              <a:t>Parent Class (Superclass/Base Class):</a:t>
            </a:r>
            <a:endParaRPr lang="en-GB" dirty="0"/>
          </a:p>
          <a:p>
            <a:pPr lvl="1"/>
            <a:r>
              <a:rPr lang="en-GB" dirty="0"/>
              <a:t>Defines common properties and </a:t>
            </a:r>
            <a:r>
              <a:rPr lang="en-GB" dirty="0" smtClean="0"/>
              <a:t>behaviours </a:t>
            </a:r>
            <a:r>
              <a:rPr lang="en-GB" dirty="0"/>
              <a:t>shared by multiple classes.</a:t>
            </a:r>
          </a:p>
          <a:p>
            <a:pPr lvl="1"/>
            <a:r>
              <a:rPr lang="en-GB" dirty="0"/>
              <a:t>Also referred to as superclass or base class.</a:t>
            </a:r>
          </a:p>
          <a:p>
            <a:r>
              <a:rPr lang="en-GB" b="1" dirty="0"/>
              <a:t>Child Class (Subclass/Derived Class):</a:t>
            </a:r>
            <a:endParaRPr lang="en-GB" dirty="0"/>
          </a:p>
          <a:p>
            <a:pPr lvl="1"/>
            <a:r>
              <a:rPr lang="en-GB" dirty="0"/>
              <a:t>Inherits properties and </a:t>
            </a:r>
            <a:r>
              <a:rPr lang="en-GB" dirty="0" smtClean="0"/>
              <a:t>behaviours </a:t>
            </a:r>
            <a:r>
              <a:rPr lang="en-GB" dirty="0"/>
              <a:t>from the parent class.</a:t>
            </a:r>
          </a:p>
          <a:p>
            <a:pPr lvl="1"/>
            <a:r>
              <a:rPr lang="en-GB" dirty="0"/>
              <a:t>Can have its own additional properties and </a:t>
            </a:r>
            <a:r>
              <a:rPr lang="en-GB" dirty="0" smtClean="0"/>
              <a:t>behaviours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Also referred to as subclass or derived class.</a:t>
            </a:r>
          </a:p>
          <a:p>
            <a:endParaRPr lang="en-GB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616" y="694660"/>
            <a:ext cx="5869523" cy="5869523"/>
          </a:xfrm>
        </p:spPr>
      </p:pic>
      <p:cxnSp>
        <p:nvCxnSpPr>
          <p:cNvPr id="11" name="Straight Arrow Connector 10"/>
          <p:cNvCxnSpPr/>
          <p:nvPr/>
        </p:nvCxnSpPr>
        <p:spPr>
          <a:xfrm flipV="1">
            <a:off x="5635256" y="1825625"/>
            <a:ext cx="2544725" cy="591510"/>
          </a:xfrm>
          <a:prstGeom prst="straightConnector1">
            <a:avLst/>
          </a:prstGeom>
          <a:ln w="762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5798288" y="3361797"/>
            <a:ext cx="4968597" cy="624889"/>
            <a:chOff x="5798288" y="3361797"/>
            <a:chExt cx="4968597" cy="624889"/>
          </a:xfrm>
        </p:grpSpPr>
        <p:cxnSp>
          <p:nvCxnSpPr>
            <p:cNvPr id="19" name="Straight Arrow Connector 18"/>
            <p:cNvCxnSpPr/>
            <p:nvPr/>
          </p:nvCxnSpPr>
          <p:spPr>
            <a:xfrm>
              <a:off x="10766885" y="3361797"/>
              <a:ext cx="0" cy="550984"/>
            </a:xfrm>
            <a:prstGeom prst="straightConnector1">
              <a:avLst/>
            </a:prstGeom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V="1">
              <a:off x="5798288" y="3381153"/>
              <a:ext cx="4968597" cy="54549"/>
            </a:xfrm>
            <a:prstGeom prst="line">
              <a:avLst/>
            </a:prstGeom>
            <a:ln w="762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8977071" y="3387560"/>
              <a:ext cx="0" cy="550984"/>
            </a:xfrm>
            <a:prstGeom prst="straightConnector1">
              <a:avLst/>
            </a:prstGeom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6673350" y="3435702"/>
              <a:ext cx="0" cy="550984"/>
            </a:xfrm>
            <a:prstGeom prst="straightConnector1">
              <a:avLst/>
            </a:prstGeom>
            <a:ln w="38100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039239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Syntax for Inheritance in Java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extends</a:t>
            </a:r>
            <a:r>
              <a:rPr lang="en-GB" dirty="0"/>
              <a:t> 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Indicates </a:t>
            </a:r>
            <a:r>
              <a:rPr lang="en-GB" dirty="0"/>
              <a:t>that a class is inheriting from another </a:t>
            </a:r>
            <a:r>
              <a:rPr lang="en-GB" dirty="0" smtClean="0"/>
              <a:t>class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4" y="1876424"/>
            <a:ext cx="3261633" cy="212302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12" y="4062631"/>
            <a:ext cx="4190366" cy="145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454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358" y="703943"/>
            <a:ext cx="5886330" cy="58863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</a:t>
            </a:r>
            <a:r>
              <a:rPr lang="en-GB" dirty="0" smtClean="0"/>
              <a:t>- Person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23" y="1410092"/>
            <a:ext cx="4773719" cy="5460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709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358" y="703943"/>
            <a:ext cx="5886330" cy="58863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</a:t>
            </a:r>
            <a:r>
              <a:rPr lang="en-GB" dirty="0" smtClean="0"/>
              <a:t>- Programmer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05" y="1609724"/>
            <a:ext cx="5997009" cy="464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4608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358" y="703943"/>
            <a:ext cx="5886330" cy="58863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</a:t>
            </a:r>
            <a:r>
              <a:rPr lang="en-GB" dirty="0" smtClean="0"/>
              <a:t>- Dancer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12" y="1626394"/>
            <a:ext cx="5210175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5453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358" y="703943"/>
            <a:ext cx="5886330" cy="58863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</a:t>
            </a:r>
            <a:r>
              <a:rPr lang="en-GB" dirty="0" smtClean="0"/>
              <a:t>- Singer</a:t>
            </a:r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895" y="1428750"/>
            <a:ext cx="4981575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7811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799" y="246743"/>
            <a:ext cx="2014182" cy="20141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</a:t>
            </a:r>
            <a:r>
              <a:rPr lang="en-GB" dirty="0" smtClean="0"/>
              <a:t>- Driver</a:t>
            </a:r>
            <a:endParaRPr lang="en-GB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173830" y="2000238"/>
            <a:ext cx="8698707" cy="421483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6204" y="4107657"/>
            <a:ext cx="5969059" cy="2145505"/>
          </a:xfrm>
          <a:prstGeom prst="rect">
            <a:avLst/>
          </a:prstGeom>
          <a:ln w="19050"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41615509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Siobhan\AppData\Local\Microsoft\Windows\Temporary Internet Files\Content.IE5\D6SFLNVW\questions-2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8603" y="1219200"/>
            <a:ext cx="43942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2590801" y="2589074"/>
            <a:ext cx="348580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Any Questions?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7218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35765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A7B4F4F87092419B4836663A979F72" ma:contentTypeVersion="12" ma:contentTypeDescription="Create a new document." ma:contentTypeScope="" ma:versionID="1705185788f4f7b8606867508f74a2eb">
  <xsd:schema xmlns:xsd="http://www.w3.org/2001/XMLSchema" xmlns:xs="http://www.w3.org/2001/XMLSchema" xmlns:p="http://schemas.microsoft.com/office/2006/metadata/properties" xmlns:ns3="2e073d95-02bc-4c31-9707-1f7b5f2564cb" xmlns:ns4="ecd595b7-854d-4129-8908-394d58e21de0" targetNamespace="http://schemas.microsoft.com/office/2006/metadata/properties" ma:root="true" ma:fieldsID="784458e58d0eaf4d4fb689770e9f109b" ns3:_="" ns4:_="">
    <xsd:import namespace="2e073d95-02bc-4c31-9707-1f7b5f2564cb"/>
    <xsd:import namespace="ecd595b7-854d-4129-8908-394d58e21d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073d95-02bc-4c31-9707-1f7b5f2564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d595b7-854d-4129-8908-394d58e21de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e073d95-02bc-4c31-9707-1f7b5f2564c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A847694-5366-4F35-BB14-1B44805440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073d95-02bc-4c31-9707-1f7b5f2564cb"/>
    <ds:schemaRef ds:uri="ecd595b7-854d-4129-8908-394d58e21d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7BD72B-E314-4A2C-A344-AF1319C38FF7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2e073d95-02bc-4c31-9707-1f7b5f2564cb"/>
    <ds:schemaRef ds:uri="http://purl.org/dc/elements/1.1/"/>
    <ds:schemaRef ds:uri="http://schemas.microsoft.com/office/2006/metadata/properties"/>
    <ds:schemaRef ds:uri="http://purl.org/dc/terms/"/>
    <ds:schemaRef ds:uri="ecd595b7-854d-4129-8908-394d58e21de0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F0734DE-2FC5-4E40-8FD1-4F58D8D2451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5939</TotalTime>
  <Words>167</Words>
  <Application>Microsoft Office PowerPoint</Application>
  <PresentationFormat>Widescreen</PresentationFormat>
  <Paragraphs>30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DM Sans</vt:lpstr>
      <vt:lpstr>Inter</vt:lpstr>
      <vt:lpstr>Inter Medium</vt:lpstr>
      <vt:lpstr>Office Theme 2013 - 2022</vt:lpstr>
      <vt:lpstr>Programming Fundamentals</vt:lpstr>
      <vt:lpstr>Introduction to Inheritance in Java</vt:lpstr>
      <vt:lpstr>Basic Concept</vt:lpstr>
      <vt:lpstr>Syntax for Inheritance in Java</vt:lpstr>
      <vt:lpstr>Example - Person</vt:lpstr>
      <vt:lpstr>Example - Programmer</vt:lpstr>
      <vt:lpstr>Example - Dancer</vt:lpstr>
      <vt:lpstr>Example - Singer</vt:lpstr>
      <vt:lpstr>Example - Driver</vt:lpstr>
      <vt:lpstr>PowerPoint Presentation</vt:lpstr>
    </vt:vector>
  </TitlesOfParts>
  <Manager/>
  <Company>SETU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</dc:title>
  <dc:subject>Software Engineering Teams</dc:subject>
  <dc:creator>David Hearne</dc:creator>
  <cp:keywords/>
  <dc:description/>
  <cp:lastModifiedBy>Siobhan Roche</cp:lastModifiedBy>
  <cp:revision>87</cp:revision>
  <dcterms:created xsi:type="dcterms:W3CDTF">2022-12-30T08:26:58Z</dcterms:created>
  <dcterms:modified xsi:type="dcterms:W3CDTF">2024-04-12T12:02:10Z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0x01010074A7B4F4F87092419B4836663A979F72</vt:lpwstr>
  </property>
</Properties>
</file>