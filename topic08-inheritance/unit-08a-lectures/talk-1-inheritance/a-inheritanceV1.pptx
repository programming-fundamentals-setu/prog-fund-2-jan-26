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</p:sldMasterIdLst>
  <p:notesMasterIdLst>
    <p:notesMasterId r:id="rId16"/>
  </p:notesMasterIdLst>
  <p:sldIdLst>
    <p:sldId id="256" r:id="rId5"/>
    <p:sldId id="271" r:id="rId6"/>
    <p:sldId id="448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A3A"/>
    <a:srgbClr val="435765"/>
    <a:srgbClr val="0062AF"/>
    <a:srgbClr val="E74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19291-A0E2-3347-9167-2FBB02A7C961}" v="303" dt="2023-04-18T08:45:45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76828"/>
  </p:normalViewPr>
  <p:slideViewPr>
    <p:cSldViewPr snapToGrid="0">
      <p:cViewPr varScale="1">
        <p:scale>
          <a:sx n="91" d="100"/>
          <a:sy n="91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earne" userId="d211ecec-1162-4091-8ee9-61d4a9e2add7" providerId="ADAL" clId="{A5119291-A0E2-3347-9167-2FBB02A7C961}"/>
    <pc:docChg chg="undo custSel modSld">
      <pc:chgData name="David Hearne" userId="d211ecec-1162-4091-8ee9-61d4a9e2add7" providerId="ADAL" clId="{A5119291-A0E2-3347-9167-2FBB02A7C961}" dt="2023-04-18T08:45:45.031" v="18" actId="20577"/>
      <pc:docMkLst>
        <pc:docMk/>
      </pc:docMkLst>
      <pc:sldChg chg="addSp delSp modSp mod">
        <pc:chgData name="David Hearne" userId="d211ecec-1162-4091-8ee9-61d4a9e2add7" providerId="ADAL" clId="{A5119291-A0E2-3347-9167-2FBB02A7C961}" dt="2023-04-18T08:45:45.031" v="18" actId="20577"/>
        <pc:sldMkLst>
          <pc:docMk/>
          <pc:sldMk cId="591161101" sldId="445"/>
        </pc:sldMkLst>
        <pc:spChg chg="mod">
          <ac:chgData name="David Hearne" userId="d211ecec-1162-4091-8ee9-61d4a9e2add7" providerId="ADAL" clId="{A5119291-A0E2-3347-9167-2FBB02A7C961}" dt="2023-04-18T08:45:44.479" v="15" actId="20577"/>
          <ac:spMkLst>
            <pc:docMk/>
            <pc:sldMk cId="591161101" sldId="445"/>
            <ac:spMk id="13" creationId="{D319B851-A90B-F470-4E9A-0A3BF61F948B}"/>
          </ac:spMkLst>
        </pc:spChg>
        <pc:spChg chg="add del mod">
          <ac:chgData name="David Hearne" userId="d211ecec-1162-4091-8ee9-61d4a9e2add7" providerId="ADAL" clId="{A5119291-A0E2-3347-9167-2FBB02A7C961}" dt="2023-04-18T08:45:45.031" v="18" actId="20577"/>
          <ac:spMkLst>
            <pc:docMk/>
            <pc:sldMk cId="591161101" sldId="445"/>
            <ac:spMk id="14" creationId="{BC7E5258-0CD3-FE09-CE39-C31E080E6B67}"/>
          </ac:spMkLst>
        </pc:spChg>
        <pc:spChg chg="add del">
          <ac:chgData name="David Hearne" userId="d211ecec-1162-4091-8ee9-61d4a9e2add7" providerId="ADAL" clId="{A5119291-A0E2-3347-9167-2FBB02A7C961}" dt="2023-04-18T08:45:44.649" v="16" actId="478"/>
          <ac:spMkLst>
            <pc:docMk/>
            <pc:sldMk cId="591161101" sldId="445"/>
            <ac:spMk id="19" creationId="{1068A325-8A34-152D-8B92-4546F501CB15}"/>
          </ac:spMkLst>
        </pc:spChg>
        <pc:spChg chg="mod">
          <ac:chgData name="David Hearne" userId="d211ecec-1162-4091-8ee9-61d4a9e2add7" providerId="ADAL" clId="{A5119291-A0E2-3347-9167-2FBB02A7C961}" dt="2023-04-18T08:45:24.752" v="6" actId="20577"/>
          <ac:spMkLst>
            <pc:docMk/>
            <pc:sldMk cId="591161101" sldId="445"/>
            <ac:spMk id="24" creationId="{D4BA01C4-169D-895E-472B-A71245691AFC}"/>
          </ac:spMkLst>
        </pc:spChg>
        <pc:cxnChg chg="mod">
          <ac:chgData name="David Hearne" userId="d211ecec-1162-4091-8ee9-61d4a9e2add7" providerId="ADAL" clId="{A5119291-A0E2-3347-9167-2FBB02A7C961}" dt="2023-04-18T08:45:44.649" v="16" actId="478"/>
          <ac:cxnSpMkLst>
            <pc:docMk/>
            <pc:sldMk cId="591161101" sldId="445"/>
            <ac:cxnSpMk id="47" creationId="{8435FD7C-5E6E-4CAB-C5B6-AD669E5184C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B268A-CA3A-0048-9013-6E7C8FF512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B84A0-CA4D-2741-806C-17A926449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6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56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57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5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1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1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53C12399-6D4B-DDF7-B395-A3B465C8CF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8264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DA4B9B6-0196-051D-A8F9-D4F6ED38123C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D4AE646-FBB3-2945-DD50-2AEFF8C29A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F05C60-A3A6-951D-0B33-82E2EEF090D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8C991B6-F635-F749-51DD-C12A6496AD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8851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D723D7-BC4D-BB1D-B603-AE05200C9799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9FC4B746-0283-7692-A043-3E968E69E1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5846FB-6AA6-1DB5-2F03-904A34A71233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DFA159-D195-6A84-09A8-887F38979C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4703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687A9BE-A3F5-6AEE-54D9-5B39430830F3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D3CB55C-4BC7-260E-F314-AF33B1D14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792905-C14A-6DDB-5B1B-A9670DE39600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B69A979-6D98-29AE-8837-16E0133B02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7023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8A10F0A-C819-41DF-B76E-59FAB4C03EFD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ECC79B26-1D6B-5C07-C44F-FB21759EC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0D4045-B786-CA52-FD8B-AB4E4F4A211B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B09662D-1B44-9DE2-7D0B-A0C4D37E2B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3103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C298C47-D737-2E85-384F-BF20A3077E37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0EB7CCE-FBE6-EC05-A5A4-109556BD80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168715-E706-2A73-40FC-54E3A1688762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96547E3-EE77-6E63-85AA-CDFD10F359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63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6275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7D865B-92C8-347E-DCAA-35A444A86222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00AB2523-DAE5-8742-CE7D-53D15B03A6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2F288E-32DA-DCDF-0E04-259E6E270DDD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77FFD10-D542-A56B-6135-D89E1AB79A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8385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BED10-1907-97B2-7999-CEF75297982C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EB6ED0BD-7845-17B4-C652-A16802C03E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9C5780-B67D-3A4B-A761-E5FA032E1CD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0ECA208-F642-7EF9-732E-F155E44E5B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90135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EC835F-212A-01B3-ABE8-8681AD4578F9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555F285-0BC1-7441-3DA2-489A3C862E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E95198-BD4F-4B4B-04E7-C3559F8D4801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27EADC4-69FB-3D69-BE5E-8102413E77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6555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C23EBC-8637-00F1-C60B-866421EDD9C9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9FA524A-85B9-3CFF-29D6-A06D91815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073B62-AD47-DECF-3233-4C74FB1C983F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2BC3678-7343-FD20-F2D9-FAF370D586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87327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086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3822974"/>
      </p:ext>
    </p:extLst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118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DBA0C69-F6C1-C96A-2F7E-3C8ACCFC3A90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5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55" r:id="rId13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99CD819F-5324-A9DE-1B40-CA887A54AE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554628" y="693967"/>
            <a:ext cx="5427662" cy="5470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1A3E84-9222-E321-F48B-5FDB6F80A2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Inheritance</a:t>
            </a:r>
            <a:endParaRPr lang="en-US" b="1" dirty="0">
              <a:solidFill>
                <a:srgbClr val="435765"/>
              </a:solidFill>
              <a:latin typeface="DM Sans" pitchFamily="2" charset="77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7A117DA-8984-1404-CDEE-0DFFA6134F37}"/>
              </a:ext>
            </a:extLst>
          </p:cNvPr>
          <p:cNvSpPr txBox="1">
            <a:spLocks/>
          </p:cNvSpPr>
          <p:nvPr/>
        </p:nvSpPr>
        <p:spPr>
          <a:xfrm>
            <a:off x="2372721" y="4522828"/>
            <a:ext cx="18669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356C5-8AD9-A462-5F0D-1A3DE5CEA520}"/>
              </a:ext>
            </a:extLst>
          </p:cNvPr>
          <p:cNvSpPr txBox="1"/>
          <p:nvPr/>
        </p:nvSpPr>
        <p:spPr>
          <a:xfrm>
            <a:off x="4419600" y="4522828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A561337-CAE2-179D-86C8-309BB5FFCCB6}"/>
              </a:ext>
            </a:extLst>
          </p:cNvPr>
          <p:cNvSpPr txBox="1">
            <a:spLocks/>
          </p:cNvSpPr>
          <p:nvPr/>
        </p:nvSpPr>
        <p:spPr>
          <a:xfrm>
            <a:off x="2731917" y="307282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Improving Structure with Inheritance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2160C1-821C-DE27-171F-7077AF626F1B}"/>
              </a:ext>
            </a:extLst>
          </p:cNvPr>
          <p:cNvSpPr txBox="1"/>
          <p:nvPr/>
        </p:nvSpPr>
        <p:spPr>
          <a:xfrm>
            <a:off x="8289757" y="6036604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F0B80F-6DDC-C8BA-1DE1-9D88EE03BE71}"/>
              </a:ext>
            </a:extLst>
          </p:cNvPr>
          <p:cNvCxnSpPr>
            <a:cxnSpLocks/>
          </p:cNvCxnSpPr>
          <p:nvPr/>
        </p:nvCxnSpPr>
        <p:spPr>
          <a:xfrm>
            <a:off x="571500" y="3967503"/>
            <a:ext cx="11049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66894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Inheritance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Inheritance is a fundamental feature of object-oriented programming (OOP) that allows a class to inherit properties and behaviours from another class.</a:t>
            </a:r>
          </a:p>
          <a:p>
            <a:r>
              <a:rPr lang="en-GB" dirty="0"/>
              <a:t>It promotes code reusability, extensibility, and organisation by allowing new classes to be built upon existing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80DF9B2-72C5-939F-2640-6AA9F6266580}"/>
              </a:ext>
            </a:extLst>
          </p:cNvPr>
          <p:cNvSpPr txBox="1">
            <a:spLocks/>
          </p:cNvSpPr>
          <p:nvPr/>
        </p:nvSpPr>
        <p:spPr>
          <a:xfrm>
            <a:off x="8890000" y="65087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320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53D549-3F72-AB74-0163-5F59A60F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400643-0797-4B3E-3322-1A4AEBA6E134}"/>
              </a:ext>
            </a:extLst>
          </p:cNvPr>
          <p:cNvSpPr txBox="1">
            <a:spLocks noChangeArrowheads="1"/>
          </p:cNvSpPr>
          <p:nvPr/>
        </p:nvSpPr>
        <p:spPr>
          <a:xfrm>
            <a:off x="1480579" y="3933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Inheritance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hierarchies</a:t>
            </a:r>
          </a:p>
        </p:txBody>
      </p:sp>
      <p:pic>
        <p:nvPicPr>
          <p:cNvPr id="7" name="Picture 5" descr="fig8-9-colour">
            <a:extLst>
              <a:ext uri="{FF2B5EF4-FFF2-40B4-BE49-F238E27FC236}">
                <a16:creationId xmlns:a16="http://schemas.microsoft.com/office/drawing/2014/main" id="{34F1C2FF-273C-44CC-F768-D6B305108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838" y="1720851"/>
            <a:ext cx="8064500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931505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Concept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Parent Class (Superclass/Base Class):</a:t>
            </a:r>
            <a:endParaRPr lang="en-GB" dirty="0"/>
          </a:p>
          <a:p>
            <a:pPr lvl="1"/>
            <a:r>
              <a:rPr lang="en-GB" dirty="0"/>
              <a:t>Defines common properties and behaviours shared by multiple classes.</a:t>
            </a:r>
          </a:p>
          <a:p>
            <a:pPr lvl="1"/>
            <a:r>
              <a:rPr lang="en-GB" dirty="0"/>
              <a:t>Also referred to as superclass or base class.</a:t>
            </a:r>
          </a:p>
          <a:p>
            <a:r>
              <a:rPr lang="en-GB" b="1" dirty="0"/>
              <a:t>Child Class (Subclass/Derived Class):</a:t>
            </a:r>
            <a:endParaRPr lang="en-GB" dirty="0"/>
          </a:p>
          <a:p>
            <a:pPr lvl="1"/>
            <a:r>
              <a:rPr lang="en-GB" dirty="0"/>
              <a:t>Inherits properties and behaviours from the parent class.</a:t>
            </a:r>
          </a:p>
          <a:p>
            <a:pPr lvl="1"/>
            <a:r>
              <a:rPr lang="en-GB" dirty="0"/>
              <a:t>Can have its own additional properties and behaviours.</a:t>
            </a:r>
          </a:p>
          <a:p>
            <a:pPr lvl="1"/>
            <a:r>
              <a:rPr lang="en-GB" dirty="0"/>
              <a:t>Also referred to as subclass or derived class.</a:t>
            </a:r>
          </a:p>
          <a:p>
            <a:endParaRPr lang="en-GB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018" y="1600200"/>
            <a:ext cx="4525963" cy="4525963"/>
          </a:xfrm>
        </p:spPr>
      </p:pic>
      <p:cxnSp>
        <p:nvCxnSpPr>
          <p:cNvPr id="11" name="Straight Arrow Connector 10"/>
          <p:cNvCxnSpPr/>
          <p:nvPr/>
        </p:nvCxnSpPr>
        <p:spPr>
          <a:xfrm flipV="1">
            <a:off x="5635256" y="1825625"/>
            <a:ext cx="2544725" cy="591510"/>
          </a:xfrm>
          <a:prstGeom prst="straightConnector1">
            <a:avLst/>
          </a:prstGeom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5798288" y="3361797"/>
            <a:ext cx="4968597" cy="624889"/>
            <a:chOff x="5798288" y="3361797"/>
            <a:chExt cx="4968597" cy="624889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10766885" y="3361797"/>
              <a:ext cx="0" cy="550984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5798288" y="3381153"/>
              <a:ext cx="4968597" cy="54549"/>
            </a:xfrm>
            <a:prstGeom prst="line">
              <a:avLst/>
            </a:prstGeom>
            <a:ln w="762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8977071" y="3387560"/>
              <a:ext cx="0" cy="550984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6673350" y="3435702"/>
              <a:ext cx="0" cy="550984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D13D7E9-06B9-AE66-79EB-21200659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23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for Inheritance in Java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extends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Indicates that a class is inheriting from another class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875" y="1763967"/>
            <a:ext cx="3261633" cy="21230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4062631"/>
            <a:ext cx="4190366" cy="145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54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8" y="703943"/>
            <a:ext cx="5886330" cy="5886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- Person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23" y="1410092"/>
            <a:ext cx="4773719" cy="546077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BACEAF-DDBC-19BB-AAFC-785593FB7253}"/>
              </a:ext>
            </a:extLst>
          </p:cNvPr>
          <p:cNvCxnSpPr>
            <a:cxnSpLocks/>
          </p:cNvCxnSpPr>
          <p:nvPr/>
        </p:nvCxnSpPr>
        <p:spPr>
          <a:xfrm>
            <a:off x="1979117" y="1552162"/>
            <a:ext cx="6547045" cy="0"/>
          </a:xfrm>
          <a:prstGeom prst="straightConnector1">
            <a:avLst/>
          </a:prstGeom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6D67A-CF89-52E7-4073-7A364DB9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70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8" y="703943"/>
            <a:ext cx="5886330" cy="5886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- Programmer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5" y="1609724"/>
            <a:ext cx="5997009" cy="464820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F364D29-F76C-3064-396E-C1363C67656D}"/>
              </a:ext>
            </a:extLst>
          </p:cNvPr>
          <p:cNvCxnSpPr>
            <a:cxnSpLocks/>
          </p:cNvCxnSpPr>
          <p:nvPr/>
        </p:nvCxnSpPr>
        <p:spPr>
          <a:xfrm>
            <a:off x="1904976" y="1885795"/>
            <a:ext cx="4594678" cy="2463783"/>
          </a:xfrm>
          <a:prstGeom prst="straightConnector1">
            <a:avLst/>
          </a:prstGeom>
          <a:ln w="762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569AD1-C4A9-1E81-6F2A-E3C42C7CFE4E}"/>
              </a:ext>
            </a:extLst>
          </p:cNvPr>
          <p:cNvCxnSpPr>
            <a:cxnSpLocks/>
          </p:cNvCxnSpPr>
          <p:nvPr/>
        </p:nvCxnSpPr>
        <p:spPr>
          <a:xfrm flipV="1">
            <a:off x="3428976" y="1553447"/>
            <a:ext cx="5171327" cy="54630"/>
          </a:xfrm>
          <a:prstGeom prst="straightConnector1">
            <a:avLst/>
          </a:prstGeom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75CC093-5875-B09A-8D30-4086C237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608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8" y="703943"/>
            <a:ext cx="5886330" cy="5886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- Dancer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12" y="1626394"/>
            <a:ext cx="5210175" cy="424815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2DE18E-B370-E0C4-C34F-ADA5061D4545}"/>
              </a:ext>
            </a:extLst>
          </p:cNvPr>
          <p:cNvCxnSpPr>
            <a:cxnSpLocks/>
          </p:cNvCxnSpPr>
          <p:nvPr/>
        </p:nvCxnSpPr>
        <p:spPr>
          <a:xfrm>
            <a:off x="1791730" y="1846943"/>
            <a:ext cx="6660292" cy="2243143"/>
          </a:xfrm>
          <a:prstGeom prst="straightConnector1">
            <a:avLst/>
          </a:prstGeom>
          <a:ln w="762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1022F8D-74F6-39E9-0CAB-3EA5C8E66998}"/>
              </a:ext>
            </a:extLst>
          </p:cNvPr>
          <p:cNvCxnSpPr>
            <a:cxnSpLocks/>
          </p:cNvCxnSpPr>
          <p:nvPr/>
        </p:nvCxnSpPr>
        <p:spPr>
          <a:xfrm flipV="1">
            <a:off x="3354836" y="1689371"/>
            <a:ext cx="5171327" cy="54630"/>
          </a:xfrm>
          <a:prstGeom prst="straightConnector1">
            <a:avLst/>
          </a:prstGeom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18DEDB3-92F8-B698-AC78-D1D7ACF7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53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8" y="703943"/>
            <a:ext cx="5886330" cy="5886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- Singer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95" y="1428750"/>
            <a:ext cx="4981575" cy="542925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D40FF76-935D-64A0-3A9B-BE725B714694}"/>
              </a:ext>
            </a:extLst>
          </p:cNvPr>
          <p:cNvCxnSpPr>
            <a:cxnSpLocks/>
          </p:cNvCxnSpPr>
          <p:nvPr/>
        </p:nvCxnSpPr>
        <p:spPr>
          <a:xfrm>
            <a:off x="1717589" y="1631092"/>
            <a:ext cx="8625016" cy="2409567"/>
          </a:xfrm>
          <a:prstGeom prst="straightConnector1">
            <a:avLst/>
          </a:prstGeom>
          <a:ln w="762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708B03-5931-C316-8F4C-BEE3B577AF79}"/>
              </a:ext>
            </a:extLst>
          </p:cNvPr>
          <p:cNvCxnSpPr>
            <a:cxnSpLocks/>
          </p:cNvCxnSpPr>
          <p:nvPr/>
        </p:nvCxnSpPr>
        <p:spPr>
          <a:xfrm flipV="1">
            <a:off x="3307694" y="1528734"/>
            <a:ext cx="5171327" cy="54630"/>
          </a:xfrm>
          <a:prstGeom prst="straightConnector1">
            <a:avLst/>
          </a:prstGeom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C6EDC56-659F-C994-0832-FBCC0EF8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81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469" y="274638"/>
            <a:ext cx="2014182" cy="20141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61241"/>
            <a:ext cx="10972800" cy="1143000"/>
          </a:xfrm>
        </p:spPr>
        <p:txBody>
          <a:bodyPr/>
          <a:lstStyle/>
          <a:p>
            <a:r>
              <a:rPr lang="en-GB" dirty="0"/>
              <a:t>Example - Driver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09600" y="2560208"/>
            <a:ext cx="5384800" cy="26059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204" y="4107657"/>
            <a:ext cx="5969059" cy="2145505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A825D5C-7882-D25C-1FFB-0A39B823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509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603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90801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72182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-prog-fund-2-junit-terminolog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7B4F4F87092419B4836663A979F72" ma:contentTypeVersion="12" ma:contentTypeDescription="Create a new document." ma:contentTypeScope="" ma:versionID="1705185788f4f7b8606867508f74a2eb">
  <xsd:schema xmlns:xsd="http://www.w3.org/2001/XMLSchema" xmlns:xs="http://www.w3.org/2001/XMLSchema" xmlns:p="http://schemas.microsoft.com/office/2006/metadata/properties" xmlns:ns3="2e073d95-02bc-4c31-9707-1f7b5f2564cb" xmlns:ns4="ecd595b7-854d-4129-8908-394d58e21de0" targetNamespace="http://schemas.microsoft.com/office/2006/metadata/properties" ma:root="true" ma:fieldsID="784458e58d0eaf4d4fb689770e9f109b" ns3:_="" ns4:_="">
    <xsd:import namespace="2e073d95-02bc-4c31-9707-1f7b5f2564cb"/>
    <xsd:import namespace="ecd595b7-854d-4129-8908-394d58e21d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73d95-02bc-4c31-9707-1f7b5f2564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595b7-854d-4129-8908-394d58e21de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073d95-02bc-4c31-9707-1f7b5f2564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847694-5366-4F35-BB14-1B44805440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73d95-02bc-4c31-9707-1f7b5f2564cb"/>
    <ds:schemaRef ds:uri="ecd595b7-854d-4129-8908-394d58e21d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7BD72B-E314-4A2C-A344-AF1319C38FF7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2e073d95-02bc-4c31-9707-1f7b5f2564cb"/>
    <ds:schemaRef ds:uri="http://purl.org/dc/elements/1.1/"/>
    <ds:schemaRef ds:uri="http://schemas.microsoft.com/office/2006/metadata/properties"/>
    <ds:schemaRef ds:uri="http://purl.org/dc/terms/"/>
    <ds:schemaRef ds:uri="ecd595b7-854d-4129-8908-394d58e21de0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F0734DE-2FC5-4E40-8FD1-4F58D8D24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c-prog-fund-2-junit-terminology</Template>
  <TotalTime>6284</TotalTime>
  <Words>190</Words>
  <Application>Microsoft Macintosh PowerPoint</Application>
  <PresentationFormat>Widescreen</PresentationFormat>
  <Paragraphs>44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DM Sans</vt:lpstr>
      <vt:lpstr>Gill Sans</vt:lpstr>
      <vt:lpstr>Inter</vt:lpstr>
      <vt:lpstr>Inter Medium</vt:lpstr>
      <vt:lpstr>c-prog-fund-2-junit-terminology</vt:lpstr>
      <vt:lpstr>Inheritance</vt:lpstr>
      <vt:lpstr>Introduction to Inheritance in Java</vt:lpstr>
      <vt:lpstr>PowerPoint Presentation</vt:lpstr>
      <vt:lpstr>Basic Concept</vt:lpstr>
      <vt:lpstr>Syntax for Inheritance in Java</vt:lpstr>
      <vt:lpstr>Example - Person</vt:lpstr>
      <vt:lpstr>Example - Programmer</vt:lpstr>
      <vt:lpstr>Example - Dancer</vt:lpstr>
      <vt:lpstr>Example - Singer</vt:lpstr>
      <vt:lpstr>Example - Driver</vt:lpstr>
      <vt:lpstr>PowerPoint Presentation</vt:lpstr>
    </vt:vector>
  </TitlesOfParts>
  <Manager/>
  <Company>SETU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>Software Engineering Teams</dc:subject>
  <dc:creator>David Hearne</dc:creator>
  <cp:keywords/>
  <dc:description/>
  <cp:lastModifiedBy>Mairead Meagher</cp:lastModifiedBy>
  <cp:revision>89</cp:revision>
  <dcterms:created xsi:type="dcterms:W3CDTF">2022-12-30T08:26:58Z</dcterms:created>
  <dcterms:modified xsi:type="dcterms:W3CDTF">2026-03-12T17:53:15Z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0x01010074A7B4F4F87092419B4836663A979F72</vt:lpwstr>
  </property>
</Properties>
</file>