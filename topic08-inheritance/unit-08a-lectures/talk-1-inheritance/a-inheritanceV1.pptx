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.xml" ContentType="application/vnd.openxmlformats-officedocument.presentationml.tags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4"/>
  </p:sldMasterIdLst>
  <p:notesMasterIdLst>
    <p:notesMasterId r:id="rId16"/>
  </p:notesMasterIdLst>
  <p:sldIdLst>
    <p:sldId id="256" r:id="rId5"/>
    <p:sldId id="271" r:id="rId6"/>
    <p:sldId id="448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CA3A"/>
    <a:srgbClr val="435765"/>
    <a:srgbClr val="0062AF"/>
    <a:srgbClr val="E747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119291-A0E2-3347-9167-2FBB02A7C961}" v="303" dt="2023-04-18T08:45:45.2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51"/>
    <p:restoredTop sz="76824"/>
  </p:normalViewPr>
  <p:slideViewPr>
    <p:cSldViewPr snapToGrid="0">
      <p:cViewPr>
        <p:scale>
          <a:sx n="104" d="100"/>
          <a:sy n="104" d="100"/>
        </p:scale>
        <p:origin x="144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Hearne" userId="d211ecec-1162-4091-8ee9-61d4a9e2add7" providerId="ADAL" clId="{A5119291-A0E2-3347-9167-2FBB02A7C961}"/>
    <pc:docChg chg="undo custSel modSld">
      <pc:chgData name="David Hearne" userId="d211ecec-1162-4091-8ee9-61d4a9e2add7" providerId="ADAL" clId="{A5119291-A0E2-3347-9167-2FBB02A7C961}" dt="2023-04-18T08:45:45.031" v="18" actId="20577"/>
      <pc:docMkLst>
        <pc:docMk/>
      </pc:docMkLst>
      <pc:sldChg chg="addSp delSp modSp mod">
        <pc:chgData name="David Hearne" userId="d211ecec-1162-4091-8ee9-61d4a9e2add7" providerId="ADAL" clId="{A5119291-A0E2-3347-9167-2FBB02A7C961}" dt="2023-04-18T08:45:45.031" v="18" actId="20577"/>
        <pc:sldMkLst>
          <pc:docMk/>
          <pc:sldMk cId="591161101" sldId="445"/>
        </pc:sldMkLst>
        <pc:spChg chg="mod">
          <ac:chgData name="David Hearne" userId="d211ecec-1162-4091-8ee9-61d4a9e2add7" providerId="ADAL" clId="{A5119291-A0E2-3347-9167-2FBB02A7C961}" dt="2023-04-18T08:45:44.479" v="15" actId="20577"/>
          <ac:spMkLst>
            <pc:docMk/>
            <pc:sldMk cId="591161101" sldId="445"/>
            <ac:spMk id="13" creationId="{D319B851-A90B-F470-4E9A-0A3BF61F948B}"/>
          </ac:spMkLst>
        </pc:spChg>
        <pc:spChg chg="add del mod">
          <ac:chgData name="David Hearne" userId="d211ecec-1162-4091-8ee9-61d4a9e2add7" providerId="ADAL" clId="{A5119291-A0E2-3347-9167-2FBB02A7C961}" dt="2023-04-18T08:45:45.031" v="18" actId="20577"/>
          <ac:spMkLst>
            <pc:docMk/>
            <pc:sldMk cId="591161101" sldId="445"/>
            <ac:spMk id="14" creationId="{BC7E5258-0CD3-FE09-CE39-C31E080E6B67}"/>
          </ac:spMkLst>
        </pc:spChg>
        <pc:spChg chg="add del">
          <ac:chgData name="David Hearne" userId="d211ecec-1162-4091-8ee9-61d4a9e2add7" providerId="ADAL" clId="{A5119291-A0E2-3347-9167-2FBB02A7C961}" dt="2023-04-18T08:45:44.649" v="16" actId="478"/>
          <ac:spMkLst>
            <pc:docMk/>
            <pc:sldMk cId="591161101" sldId="445"/>
            <ac:spMk id="19" creationId="{1068A325-8A34-152D-8B92-4546F501CB15}"/>
          </ac:spMkLst>
        </pc:spChg>
        <pc:spChg chg="mod">
          <ac:chgData name="David Hearne" userId="d211ecec-1162-4091-8ee9-61d4a9e2add7" providerId="ADAL" clId="{A5119291-A0E2-3347-9167-2FBB02A7C961}" dt="2023-04-18T08:45:24.752" v="6" actId="20577"/>
          <ac:spMkLst>
            <pc:docMk/>
            <pc:sldMk cId="591161101" sldId="445"/>
            <ac:spMk id="24" creationId="{D4BA01C4-169D-895E-472B-A71245691AFC}"/>
          </ac:spMkLst>
        </pc:spChg>
        <pc:cxnChg chg="mod">
          <ac:chgData name="David Hearne" userId="d211ecec-1162-4091-8ee9-61d4a9e2add7" providerId="ADAL" clId="{A5119291-A0E2-3347-9167-2FBB02A7C961}" dt="2023-04-18T08:45:44.649" v="16" actId="478"/>
          <ac:cxnSpMkLst>
            <pc:docMk/>
            <pc:sldMk cId="591161101" sldId="445"/>
            <ac:cxnSpMk id="47" creationId="{8435FD7C-5E6E-4CAB-C5B6-AD669E5184C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FB268A-CA3A-0048-9013-6E7C8FF5127F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8B84A0-CA4D-2741-806C-17A9264492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422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836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156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8579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751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122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715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wit.ie" TargetMode="Externa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53C12399-6D4B-DDF7-B395-A3B465C8CF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082643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DA4B9B6-0196-051D-A8F9-D4F6ED38123C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FD4AE646-FBB3-2945-DD50-2AEFF8C29A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6F05C60-A3A6-951D-0B33-82E2EEF090D8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48C991B6-F635-F749-51DD-C12A6496AD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388519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D723D7-BC4D-BB1D-B603-AE05200C9799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9FC4B746-0283-7692-A043-3E968E69E12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75846FB-6AA6-1DB5-2F03-904A34A71233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5DFA159-D195-6A84-09A8-887F38979C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647032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687A9BE-A3F5-6AEE-54D9-5B39430830F3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FD3CB55C-4BC7-260E-F314-AF33B1D14A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792905-C14A-6DDB-5B1B-A9670DE39600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B69A979-6D98-29AE-8837-16E0133B02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070236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8A10F0A-C819-41DF-B76E-59FAB4C03EFD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ECC79B26-1D6B-5C07-C44F-FB21759EC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0D4045-B786-CA52-FD8B-AB4E4F4A211B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B09662D-1B44-9DE2-7D0B-A0C4D37E2B8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131035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8C298C47-D737-2E85-384F-BF20A3077E37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70EB7CCE-FBE6-EC05-A5A4-109556BD803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168715-E706-2A73-40FC-54E3A1688762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96547E3-EE77-6E63-85AA-CDFD10F3598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53874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2633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36275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7D865B-92C8-347E-DCAA-35A444A86222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00AB2523-DAE5-8742-CE7D-53D15B03A6B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2F288E-32DA-DCDF-0E04-259E6E270DDD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77FFD10-D542-A56B-6135-D89E1AB79A4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83857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CBED10-1907-97B2-7999-CEF75297982C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EB6ED0BD-7845-17B4-C652-A16802C03E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9C5780-B67D-3A4B-A761-E5FA032E1CD7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0ECA208-F642-7EF9-732E-F155E44E5BC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901357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EC835F-212A-01B3-ABE8-8681AD4578F9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7555F285-0BC1-7441-3DA2-489A3C862E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E95198-BD4F-4B4B-04E7-C3559F8D4801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27EADC4-69FB-3D69-BE5E-8102413E778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665552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C23EBC-8637-00F1-C60B-866421EDD9C9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79FA524A-85B9-3CFF-29D6-A06D91815FB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073B62-AD47-DECF-3233-4C74FB1C983F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12BC3678-7343-FD20-F2D9-FAF370D586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87327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40867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Lab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/>
          <p:nvPr/>
        </p:nvSpPr>
        <p:spPr>
          <a:xfrm flipV="1">
            <a:off x="851522" y="3070411"/>
            <a:ext cx="10519439" cy="47"/>
          </a:xfrm>
          <a:prstGeom prst="line">
            <a:avLst/>
          </a:prstGeom>
          <a:ln w="12700">
            <a:solidFill>
              <a:srgbClr val="919191"/>
            </a:solidFill>
            <a:miter lim="400000"/>
          </a:ln>
        </p:spPr>
        <p:txBody>
          <a:bodyPr lIns="35717" tIns="35717" rIns="35717" bIns="35717" anchor="ctr"/>
          <a:lstStyle/>
          <a:p>
            <a:endParaRPr sz="1800"/>
          </a:p>
        </p:txBody>
      </p:sp>
      <p:pic>
        <p:nvPicPr>
          <p:cNvPr id="207" name="W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57" y="6134697"/>
            <a:ext cx="3033804" cy="4732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es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2625" y="6206134"/>
            <a:ext cx="1812472" cy="321469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Shape 209"/>
          <p:cNvSpPr/>
          <p:nvPr/>
        </p:nvSpPr>
        <p:spPr>
          <a:xfrm>
            <a:off x="497421" y="3128069"/>
            <a:ext cx="2646554" cy="115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/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Produced </a:t>
            </a:r>
          </a:p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by</a:t>
            </a:r>
          </a:p>
        </p:txBody>
      </p:sp>
      <p:grpSp>
        <p:nvGrpSpPr>
          <p:cNvPr id="213" name="Group 213"/>
          <p:cNvGrpSpPr/>
          <p:nvPr/>
        </p:nvGrpSpPr>
        <p:grpSpPr>
          <a:xfrm>
            <a:off x="3476624" y="4561048"/>
            <a:ext cx="3751796" cy="1110389"/>
            <a:chOff x="0" y="-174328"/>
            <a:chExt cx="4001913" cy="1579217"/>
          </a:xfrm>
        </p:grpSpPr>
        <p:sp>
          <p:nvSpPr>
            <p:cNvPr id="210" name="Shape 210"/>
            <p:cNvSpPr/>
            <p:nvPr/>
          </p:nvSpPr>
          <p:spPr>
            <a:xfrm>
              <a:off x="0" y="-174328"/>
              <a:ext cx="4001913" cy="9582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Department of Computing, Maths &amp; Physics</a:t>
              </a:r>
            </a:p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Waterford Institute of Technology</a:t>
              </a:r>
            </a:p>
          </p:txBody>
        </p:sp>
        <p:sp>
          <p:nvSpPr>
            <p:cNvPr id="211" name="Shape 211"/>
            <p:cNvSpPr/>
            <p:nvPr/>
          </p:nvSpPr>
          <p:spPr>
            <a:xfrm>
              <a:off x="0" y="560227"/>
              <a:ext cx="1909513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http://www.wit.ie</a:t>
              </a:r>
            </a:p>
          </p:txBody>
        </p:sp>
        <p:sp>
          <p:nvSpPr>
            <p:cNvPr id="212" name="Shape 212"/>
            <p:cNvSpPr/>
            <p:nvPr/>
          </p:nvSpPr>
          <p:spPr>
            <a:xfrm>
              <a:off x="0" y="865027"/>
              <a:ext cx="2329252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http://elearning.wit.ie</a:t>
              </a:r>
            </a:p>
          </p:txBody>
        </p:sp>
      </p:grpSp>
      <p:sp>
        <p:nvSpPr>
          <p:cNvPr id="214" name="Shape 214"/>
          <p:cNvSpPr>
            <a:spLocks noGrp="1"/>
          </p:cNvSpPr>
          <p:nvPr>
            <p:ph type="body" sz="quarter" idx="13"/>
          </p:nvPr>
        </p:nvSpPr>
        <p:spPr>
          <a:xfrm>
            <a:off x="839391" y="2428449"/>
            <a:ext cx="10537031" cy="400110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>
              <a:spcBef>
                <a:spcPts val="0"/>
              </a:spcBef>
              <a:buSzTx/>
              <a:buNone/>
              <a:defRPr sz="2000">
                <a:solidFill>
                  <a:srgbClr val="606060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15" name="Shape 215"/>
          <p:cNvSpPr>
            <a:spLocks noGrp="1"/>
          </p:cNvSpPr>
          <p:nvPr>
            <p:ph type="title"/>
          </p:nvPr>
        </p:nvSpPr>
        <p:spPr>
          <a:xfrm>
            <a:off x="833438" y="1665388"/>
            <a:ext cx="10537031" cy="723305"/>
          </a:xfrm>
          <a:prstGeom prst="rect">
            <a:avLst/>
          </a:prstGeom>
        </p:spPr>
        <p:txBody>
          <a:bodyPr anchor="ctr"/>
          <a:lstStyle>
            <a:lvl1pPr>
              <a:defRPr sz="31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16" name="Shape 216"/>
          <p:cNvSpPr>
            <a:spLocks noGrp="1"/>
          </p:cNvSpPr>
          <p:nvPr>
            <p:ph type="body" sz="quarter" idx="1"/>
          </p:nvPr>
        </p:nvSpPr>
        <p:spPr>
          <a:xfrm>
            <a:off x="3494484" y="3330774"/>
            <a:ext cx="5417344" cy="13930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1pPr>
            <a:lvl2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2pPr>
            <a:lvl3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3pPr>
            <a:lvl4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4pPr>
            <a:lvl5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17" name="Shape 217"/>
          <p:cNvSpPr>
            <a:spLocks noGrp="1"/>
          </p:cNvSpPr>
          <p:nvPr>
            <p:ph type="sldNum" sz="quarter" idx="2"/>
          </p:nvPr>
        </p:nvSpPr>
        <p:spPr>
          <a:xfrm>
            <a:off x="5935265" y="6527601"/>
            <a:ext cx="297656" cy="241102"/>
          </a:xfrm>
          <a:prstGeom prst="rect">
            <a:avLst/>
          </a:prstGeom>
        </p:spPr>
        <p:txBody>
          <a:bodyPr/>
          <a:lstStyle>
            <a:lvl1pPr algn="ctr">
              <a:defRPr sz="1100">
                <a:latin typeface="Gill Sans"/>
                <a:ea typeface="Gill Sans"/>
                <a:cs typeface="Gill Sans"/>
                <a:sym typeface="Gill Sans"/>
              </a:defRPr>
            </a:lvl1pPr>
          </a:lstStyle>
          <a:p>
            <a:fld id="{86CB4B4D-7CA3-9044-876B-883B54F8677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33822974"/>
      </p:ext>
    </p:extLst>
  </p:cSld>
  <p:clrMapOvr>
    <a:masterClrMapping/>
  </p:clrMapOvr>
  <p:transition spd="med"/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845881D-2D8D-1975-AB67-071538DA5B41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A2F7B6B3-CC24-4207-D53D-6E6E9BFD53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B32805-1A5C-6896-174B-545E3B3CB158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802365A-5338-0BFB-EE6B-1D00D5A95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9" name="Picture 8" descr="A picture containing icon&#10;&#10;Description automatically generated">
            <a:extLst>
              <a:ext uri="{FF2B5EF4-FFF2-40B4-BE49-F238E27FC236}">
                <a16:creationId xmlns:a16="http://schemas.microsoft.com/office/drawing/2014/main" id="{B45F8394-F9E9-67F3-F785-4190DC911D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19000"/>
          </a:blip>
          <a:stretch>
            <a:fillRect/>
          </a:stretch>
        </p:blipFill>
        <p:spPr>
          <a:xfrm>
            <a:off x="-2721883" y="422310"/>
            <a:ext cx="5443765" cy="5486295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69350A5-0F76-7CA1-01EE-0506A29F03B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25939" y="2422507"/>
            <a:ext cx="8618538" cy="1485900"/>
          </a:xfrm>
        </p:spPr>
        <p:txBody>
          <a:bodyPr>
            <a:normAutofit/>
          </a:bodyPr>
          <a:lstStyle>
            <a:lvl3pPr marL="914400" indent="0" algn="ctr">
              <a:buNone/>
              <a:defRPr sz="6000">
                <a:latin typeface="DM Sans" pitchFamily="2" charset="77"/>
              </a:defRPr>
            </a:lvl3pPr>
          </a:lstStyle>
          <a:p>
            <a:pPr lvl="2"/>
            <a:r>
              <a:rPr lang="en-US" dirty="0"/>
              <a:t>Title Section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B1747D0-142F-29F0-C111-4CA4BB0024E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31182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4DBA0C69-F6C1-C96A-2F7E-3C8ACCFC3A90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957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55" r:id="rId13"/>
  </p:sldLayoutIdLst>
  <p:transition spd="slow">
    <p:push dir="u"/>
  </p:transition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openxmlformats.org/officeDocument/2006/relationships/image" Target="../media/image1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icon&#10;&#10;Description automatically generated">
            <a:extLst>
              <a:ext uri="{FF2B5EF4-FFF2-40B4-BE49-F238E27FC236}">
                <a16:creationId xmlns:a16="http://schemas.microsoft.com/office/drawing/2014/main" id="{99CD819F-5324-A9DE-1B40-CA887A54AEA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2554628" y="693967"/>
            <a:ext cx="5427662" cy="54700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1A3E84-9222-E321-F48B-5FDB6F80A2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Inheritance</a:t>
            </a:r>
            <a:endParaRPr lang="en-US" b="1" dirty="0">
              <a:solidFill>
                <a:srgbClr val="435765"/>
              </a:solidFill>
              <a:latin typeface="DM Sans" pitchFamily="2" charset="77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E7A117DA-8984-1404-CDEE-0DFFA6134F37}"/>
              </a:ext>
            </a:extLst>
          </p:cNvPr>
          <p:cNvSpPr txBox="1">
            <a:spLocks/>
          </p:cNvSpPr>
          <p:nvPr/>
        </p:nvSpPr>
        <p:spPr>
          <a:xfrm>
            <a:off x="2372721" y="4522828"/>
            <a:ext cx="18669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9356C5-8AD9-A462-5F0D-1A3DE5CEA520}"/>
              </a:ext>
            </a:extLst>
          </p:cNvPr>
          <p:cNvSpPr txBox="1"/>
          <p:nvPr/>
        </p:nvSpPr>
        <p:spPr>
          <a:xfrm>
            <a:off x="4419600" y="4522828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Siobhán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Mairead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Siobhan Roche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A561337-CAE2-179D-86C8-309BB5FFCCB6}"/>
              </a:ext>
            </a:extLst>
          </p:cNvPr>
          <p:cNvSpPr txBox="1">
            <a:spLocks/>
          </p:cNvSpPr>
          <p:nvPr/>
        </p:nvSpPr>
        <p:spPr>
          <a:xfrm>
            <a:off x="2731917" y="3072820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Improving Structure with Inheritance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2160C1-821C-DE27-171F-7077AF626F1B}"/>
              </a:ext>
            </a:extLst>
          </p:cNvPr>
          <p:cNvSpPr txBox="1"/>
          <p:nvPr/>
        </p:nvSpPr>
        <p:spPr>
          <a:xfrm>
            <a:off x="8289757" y="6036604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Department of Computing and Mathematics</a:t>
            </a:r>
          </a:p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http://www.wit.ie/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BF0B80F-6DDC-C8BA-1DE1-9D88EE03BE71}"/>
              </a:ext>
            </a:extLst>
          </p:cNvPr>
          <p:cNvCxnSpPr>
            <a:cxnSpLocks/>
          </p:cNvCxnSpPr>
          <p:nvPr/>
        </p:nvCxnSpPr>
        <p:spPr>
          <a:xfrm>
            <a:off x="571500" y="3967503"/>
            <a:ext cx="11049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668944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 to Inheritance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Inheritance is a fundamental feature of object-oriented programming (OOP) that allows a class to inherit properties and behaviours from another class.</a:t>
            </a:r>
          </a:p>
          <a:p>
            <a:r>
              <a:rPr lang="en-GB" dirty="0"/>
              <a:t>It promotes code reusability, extensibility, and organisation by allowing new classes to be built upon existing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83206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DD53D549-3F72-AB74-0163-5F59A60FC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B6F15528-21DE-4FAA-801E-634DDDAF4B2B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E400643-0797-4B3E-3322-1A4AEBA6E134}"/>
              </a:ext>
            </a:extLst>
          </p:cNvPr>
          <p:cNvSpPr txBox="1">
            <a:spLocks noChangeArrowheads="1"/>
          </p:cNvSpPr>
          <p:nvPr/>
        </p:nvSpPr>
        <p:spPr>
          <a:xfrm>
            <a:off x="1480579" y="393356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Inheritance</a:t>
            </a:r>
            <a:r>
              <a:rPr lang="en-US" dirty="0"/>
              <a:t>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hierarchies</a:t>
            </a:r>
          </a:p>
        </p:txBody>
      </p:sp>
      <p:pic>
        <p:nvPicPr>
          <p:cNvPr id="7" name="Picture 5" descr="fig8-9-colour">
            <a:extLst>
              <a:ext uri="{FF2B5EF4-FFF2-40B4-BE49-F238E27FC236}">
                <a16:creationId xmlns:a16="http://schemas.microsoft.com/office/drawing/2014/main" id="{34F1C2FF-273C-44CC-F768-D6B3051082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8838" y="1720851"/>
            <a:ext cx="8064500" cy="463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19315055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Concept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Parent Class (Superclass/Base Class):</a:t>
            </a:r>
            <a:endParaRPr lang="en-GB" dirty="0"/>
          </a:p>
          <a:p>
            <a:pPr lvl="1"/>
            <a:r>
              <a:rPr lang="en-GB" dirty="0"/>
              <a:t>Defines common properties and behaviours shared by multiple classes.</a:t>
            </a:r>
          </a:p>
          <a:p>
            <a:pPr lvl="1"/>
            <a:r>
              <a:rPr lang="en-GB" dirty="0"/>
              <a:t>Also referred to as superclass or base class.</a:t>
            </a:r>
          </a:p>
          <a:p>
            <a:r>
              <a:rPr lang="en-GB" b="1" dirty="0"/>
              <a:t>Child Class (Subclass/Derived Class):</a:t>
            </a:r>
            <a:endParaRPr lang="en-GB" dirty="0"/>
          </a:p>
          <a:p>
            <a:pPr lvl="1"/>
            <a:r>
              <a:rPr lang="en-GB" dirty="0"/>
              <a:t>Inherits properties and behaviours from the parent class.</a:t>
            </a:r>
          </a:p>
          <a:p>
            <a:pPr lvl="1"/>
            <a:r>
              <a:rPr lang="en-GB" dirty="0"/>
              <a:t>Can have its own additional properties and behaviours.</a:t>
            </a:r>
          </a:p>
          <a:p>
            <a:pPr lvl="1"/>
            <a:r>
              <a:rPr lang="en-GB" dirty="0"/>
              <a:t>Also referred to as subclass or derived class.</a:t>
            </a:r>
          </a:p>
          <a:p>
            <a:endParaRPr lang="en-GB" dirty="0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7018" y="1600200"/>
            <a:ext cx="4525963" cy="4525963"/>
          </a:xfrm>
        </p:spPr>
      </p:pic>
      <p:cxnSp>
        <p:nvCxnSpPr>
          <p:cNvPr id="11" name="Straight Arrow Connector 10"/>
          <p:cNvCxnSpPr/>
          <p:nvPr/>
        </p:nvCxnSpPr>
        <p:spPr>
          <a:xfrm flipV="1">
            <a:off x="5635256" y="1825625"/>
            <a:ext cx="2544725" cy="591510"/>
          </a:xfrm>
          <a:prstGeom prst="straightConnector1">
            <a:avLst/>
          </a:prstGeom>
          <a:ln w="7620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36" name="Group 35"/>
          <p:cNvGrpSpPr/>
          <p:nvPr/>
        </p:nvGrpSpPr>
        <p:grpSpPr>
          <a:xfrm>
            <a:off x="5798288" y="3361797"/>
            <a:ext cx="4968597" cy="624889"/>
            <a:chOff x="5798288" y="3361797"/>
            <a:chExt cx="4968597" cy="624889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10766885" y="3361797"/>
              <a:ext cx="0" cy="550984"/>
            </a:xfrm>
            <a:prstGeom prst="straightConnector1">
              <a:avLst/>
            </a:prstGeom>
            <a:ln w="3810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V="1">
              <a:off x="5798288" y="3381153"/>
              <a:ext cx="4968597" cy="54549"/>
            </a:xfrm>
            <a:prstGeom prst="line">
              <a:avLst/>
            </a:prstGeom>
            <a:ln w="762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4" name="Straight Arrow Connector 33"/>
            <p:cNvCxnSpPr/>
            <p:nvPr/>
          </p:nvCxnSpPr>
          <p:spPr>
            <a:xfrm>
              <a:off x="8977071" y="3387560"/>
              <a:ext cx="0" cy="550984"/>
            </a:xfrm>
            <a:prstGeom prst="straightConnector1">
              <a:avLst/>
            </a:prstGeom>
            <a:ln w="3810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>
              <a:off x="6673350" y="3435702"/>
              <a:ext cx="0" cy="550984"/>
            </a:xfrm>
            <a:prstGeom prst="straightConnector1">
              <a:avLst/>
            </a:prstGeom>
            <a:ln w="3810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0392391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for Inheritance in Java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extends</a:t>
            </a:r>
            <a:r>
              <a:rPr lang="en-GB" dirty="0"/>
              <a:t> </a:t>
            </a:r>
          </a:p>
          <a:p>
            <a:pPr marL="0" indent="0">
              <a:buNone/>
            </a:pPr>
            <a:r>
              <a:rPr lang="en-GB" dirty="0"/>
              <a:t>Indicates that a class is inheriting from another class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875" y="1763967"/>
            <a:ext cx="3261633" cy="212302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312" y="4062631"/>
            <a:ext cx="4190366" cy="1459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4545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3358" y="703943"/>
            <a:ext cx="5886330" cy="588633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- Person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23" y="1410092"/>
            <a:ext cx="4773719" cy="5460778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5BACEAF-DDBC-19BB-AAFC-785593FB7253}"/>
              </a:ext>
            </a:extLst>
          </p:cNvPr>
          <p:cNvCxnSpPr>
            <a:cxnSpLocks/>
          </p:cNvCxnSpPr>
          <p:nvPr/>
        </p:nvCxnSpPr>
        <p:spPr>
          <a:xfrm>
            <a:off x="1979117" y="1552162"/>
            <a:ext cx="6547045" cy="0"/>
          </a:xfrm>
          <a:prstGeom prst="straightConnector1">
            <a:avLst/>
          </a:prstGeom>
          <a:ln w="7620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07096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3358" y="703943"/>
            <a:ext cx="5886330" cy="588633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- Programmer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605" y="1609724"/>
            <a:ext cx="5997009" cy="464820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F364D29-F76C-3064-396E-C1363C67656D}"/>
              </a:ext>
            </a:extLst>
          </p:cNvPr>
          <p:cNvCxnSpPr>
            <a:cxnSpLocks/>
          </p:cNvCxnSpPr>
          <p:nvPr/>
        </p:nvCxnSpPr>
        <p:spPr>
          <a:xfrm>
            <a:off x="1904976" y="1885795"/>
            <a:ext cx="4594678" cy="2463783"/>
          </a:xfrm>
          <a:prstGeom prst="straightConnector1">
            <a:avLst/>
          </a:prstGeom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569AD1-C4A9-1E81-6F2A-E3C42C7CFE4E}"/>
              </a:ext>
            </a:extLst>
          </p:cNvPr>
          <p:cNvCxnSpPr>
            <a:cxnSpLocks/>
          </p:cNvCxnSpPr>
          <p:nvPr/>
        </p:nvCxnSpPr>
        <p:spPr>
          <a:xfrm flipV="1">
            <a:off x="3428976" y="1553447"/>
            <a:ext cx="5171327" cy="54630"/>
          </a:xfrm>
          <a:prstGeom prst="straightConnector1">
            <a:avLst/>
          </a:prstGeom>
          <a:ln w="7620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746088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3358" y="703943"/>
            <a:ext cx="5886330" cy="588633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- Dancer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312" y="1626394"/>
            <a:ext cx="5210175" cy="4248150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02DE18E-B370-E0C4-C34F-ADA5061D4545}"/>
              </a:ext>
            </a:extLst>
          </p:cNvPr>
          <p:cNvCxnSpPr>
            <a:cxnSpLocks/>
          </p:cNvCxnSpPr>
          <p:nvPr/>
        </p:nvCxnSpPr>
        <p:spPr>
          <a:xfrm>
            <a:off x="1791730" y="1846943"/>
            <a:ext cx="6660292" cy="2243143"/>
          </a:xfrm>
          <a:prstGeom prst="straightConnector1">
            <a:avLst/>
          </a:prstGeom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1022F8D-74F6-39E9-0CAB-3EA5C8E66998}"/>
              </a:ext>
            </a:extLst>
          </p:cNvPr>
          <p:cNvCxnSpPr>
            <a:cxnSpLocks/>
          </p:cNvCxnSpPr>
          <p:nvPr/>
        </p:nvCxnSpPr>
        <p:spPr>
          <a:xfrm flipV="1">
            <a:off x="3354836" y="1689371"/>
            <a:ext cx="5171327" cy="54630"/>
          </a:xfrm>
          <a:prstGeom prst="straightConnector1">
            <a:avLst/>
          </a:prstGeom>
          <a:ln w="7620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954533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3358" y="703943"/>
            <a:ext cx="5886330" cy="588633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- Singer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895" y="1428750"/>
            <a:ext cx="4981575" cy="542925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D40FF76-935D-64A0-3A9B-BE725B714694}"/>
              </a:ext>
            </a:extLst>
          </p:cNvPr>
          <p:cNvCxnSpPr>
            <a:cxnSpLocks/>
          </p:cNvCxnSpPr>
          <p:nvPr/>
        </p:nvCxnSpPr>
        <p:spPr>
          <a:xfrm>
            <a:off x="1717589" y="1631092"/>
            <a:ext cx="8625016" cy="2409567"/>
          </a:xfrm>
          <a:prstGeom prst="straightConnector1">
            <a:avLst/>
          </a:prstGeom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2708B03-5931-C316-8F4C-BEE3B577AF79}"/>
              </a:ext>
            </a:extLst>
          </p:cNvPr>
          <p:cNvCxnSpPr>
            <a:cxnSpLocks/>
          </p:cNvCxnSpPr>
          <p:nvPr/>
        </p:nvCxnSpPr>
        <p:spPr>
          <a:xfrm flipV="1">
            <a:off x="3307694" y="1528734"/>
            <a:ext cx="5171327" cy="54630"/>
          </a:xfrm>
          <a:prstGeom prst="straightConnector1">
            <a:avLst/>
          </a:prstGeom>
          <a:ln w="7620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278117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2469" y="274638"/>
            <a:ext cx="2014182" cy="201418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- Driver</a:t>
            </a:r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609600" y="2560208"/>
            <a:ext cx="5384800" cy="260594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6204" y="4107657"/>
            <a:ext cx="5969059" cy="2145505"/>
          </a:xfrm>
          <a:prstGeom prst="rect">
            <a:avLst/>
          </a:prstGeom>
          <a:ln w="19050">
            <a:solidFill>
              <a:srgbClr val="FFC000"/>
            </a:solidFill>
          </a:ln>
        </p:spPr>
      </p:pic>
    </p:spTree>
    <p:extLst>
      <p:ext uri="{BB962C8B-B14F-4D97-AF65-F5344CB8AC3E}">
        <p14:creationId xmlns:p14="http://schemas.microsoft.com/office/powerpoint/2010/main" val="416155090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C:\Users\Siobhan\AppData\Local\Microsoft\Windows\Temporary Internet Files\Content.IE5\D6SFLNVW\questions-2[1]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603" y="1219200"/>
            <a:ext cx="4394200" cy="439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2590801" y="2589074"/>
            <a:ext cx="3485803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en-US" sz="5400" b="1" dirty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Any Questions?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4721824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-prog-fund-2-junit-terminology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 2013 - 202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e073d95-02bc-4c31-9707-1f7b5f2564c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4A7B4F4F87092419B4836663A979F72" ma:contentTypeVersion="12" ma:contentTypeDescription="Create a new document." ma:contentTypeScope="" ma:versionID="1705185788f4f7b8606867508f74a2eb">
  <xsd:schema xmlns:xsd="http://www.w3.org/2001/XMLSchema" xmlns:xs="http://www.w3.org/2001/XMLSchema" xmlns:p="http://schemas.microsoft.com/office/2006/metadata/properties" xmlns:ns3="2e073d95-02bc-4c31-9707-1f7b5f2564cb" xmlns:ns4="ecd595b7-854d-4129-8908-394d58e21de0" targetNamespace="http://schemas.microsoft.com/office/2006/metadata/properties" ma:root="true" ma:fieldsID="784458e58d0eaf4d4fb689770e9f109b" ns3:_="" ns4:_="">
    <xsd:import namespace="2e073d95-02bc-4c31-9707-1f7b5f2564cb"/>
    <xsd:import namespace="ecd595b7-854d-4129-8908-394d58e21d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073d95-02bc-4c31-9707-1f7b5f2564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d595b7-854d-4129-8908-394d58e21de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F0734DE-2FC5-4E40-8FD1-4F58D8D2451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7BD72B-E314-4A2C-A344-AF1319C38FF7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2e073d95-02bc-4c31-9707-1f7b5f2564cb"/>
    <ds:schemaRef ds:uri="http://purl.org/dc/elements/1.1/"/>
    <ds:schemaRef ds:uri="http://schemas.microsoft.com/office/2006/metadata/properties"/>
    <ds:schemaRef ds:uri="http://purl.org/dc/terms/"/>
    <ds:schemaRef ds:uri="ecd595b7-854d-4129-8908-394d58e21de0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A847694-5366-4F35-BB14-1B44805440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e073d95-02bc-4c31-9707-1f7b5f2564cb"/>
    <ds:schemaRef ds:uri="ecd595b7-854d-4129-8908-394d58e21d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c-prog-fund-2-junit-terminology</Template>
  <TotalTime>6283</TotalTime>
  <Words>183</Words>
  <Application>Microsoft Macintosh PowerPoint</Application>
  <PresentationFormat>Widescreen</PresentationFormat>
  <Paragraphs>37</Paragraphs>
  <Slides>11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DM Sans</vt:lpstr>
      <vt:lpstr>Gill Sans</vt:lpstr>
      <vt:lpstr>Inter</vt:lpstr>
      <vt:lpstr>Inter Medium</vt:lpstr>
      <vt:lpstr>c-prog-fund-2-junit-terminology</vt:lpstr>
      <vt:lpstr>Inheritance</vt:lpstr>
      <vt:lpstr>Introduction to Inheritance in Java</vt:lpstr>
      <vt:lpstr>PowerPoint Presentation</vt:lpstr>
      <vt:lpstr>Basic Concept</vt:lpstr>
      <vt:lpstr>Syntax for Inheritance in Java</vt:lpstr>
      <vt:lpstr>Example - Person</vt:lpstr>
      <vt:lpstr>Example - Programmer</vt:lpstr>
      <vt:lpstr>Example - Dancer</vt:lpstr>
      <vt:lpstr>Example - Singer</vt:lpstr>
      <vt:lpstr>Example - Driver</vt:lpstr>
      <vt:lpstr>PowerPoint Presentation</vt:lpstr>
    </vt:vector>
  </TitlesOfParts>
  <Manager/>
  <Company>SETU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Management</dc:title>
  <dc:subject>Software Engineering Teams</dc:subject>
  <dc:creator>David Hearne</dc:creator>
  <cp:keywords/>
  <dc:description/>
  <cp:lastModifiedBy>Mairead Meagher</cp:lastModifiedBy>
  <cp:revision>88</cp:revision>
  <dcterms:created xsi:type="dcterms:W3CDTF">2022-12-30T08:26:58Z</dcterms:created>
  <dcterms:modified xsi:type="dcterms:W3CDTF">2026-03-12T17:27:49Z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0x01010074A7B4F4F87092419B4836663A979F72</vt:lpwstr>
  </property>
</Properties>
</file>