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notesMasterIdLst>
    <p:notesMasterId r:id="rId29"/>
  </p:notesMasterIdLst>
  <p:sldIdLst>
    <p:sldId id="256" r:id="rId5"/>
    <p:sldId id="443" r:id="rId6"/>
    <p:sldId id="455" r:id="rId7"/>
    <p:sldId id="456" r:id="rId8"/>
    <p:sldId id="457" r:id="rId9"/>
    <p:sldId id="458" r:id="rId10"/>
    <p:sldId id="459" r:id="rId11"/>
    <p:sldId id="460" r:id="rId12"/>
    <p:sldId id="399" r:id="rId13"/>
    <p:sldId id="461" r:id="rId14"/>
    <p:sldId id="462" r:id="rId15"/>
    <p:sldId id="463" r:id="rId16"/>
    <p:sldId id="464" r:id="rId17"/>
    <p:sldId id="465" r:id="rId18"/>
    <p:sldId id="466" r:id="rId19"/>
    <p:sldId id="474" r:id="rId20"/>
    <p:sldId id="468" r:id="rId21"/>
    <p:sldId id="469" r:id="rId22"/>
    <p:sldId id="470" r:id="rId23"/>
    <p:sldId id="471" r:id="rId24"/>
    <p:sldId id="472" r:id="rId25"/>
    <p:sldId id="473" r:id="rId26"/>
    <p:sldId id="476" r:id="rId27"/>
    <p:sldId id="4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A3A"/>
    <a:srgbClr val="435765"/>
    <a:srgbClr val="0062AF"/>
    <a:srgbClr val="E74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19291-A0E2-3347-9167-2FBB02A7C961}" v="303" dt="2023-04-18T08:45:45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1"/>
    <p:restoredTop sz="76897"/>
  </p:normalViewPr>
  <p:slideViewPr>
    <p:cSldViewPr snapToGrid="0">
      <p:cViewPr>
        <p:scale>
          <a:sx n="133" d="100"/>
          <a:sy n="133" d="100"/>
        </p:scale>
        <p:origin x="144" y="-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earne" userId="d211ecec-1162-4091-8ee9-61d4a9e2add7" providerId="ADAL" clId="{A5119291-A0E2-3347-9167-2FBB02A7C961}"/>
    <pc:docChg chg="undo custSel modSld">
      <pc:chgData name="David Hearne" userId="d211ecec-1162-4091-8ee9-61d4a9e2add7" providerId="ADAL" clId="{A5119291-A0E2-3347-9167-2FBB02A7C961}" dt="2023-04-18T08:45:45.031" v="18" actId="20577"/>
      <pc:docMkLst>
        <pc:docMk/>
      </pc:docMkLst>
      <pc:sldChg chg="addSp delSp modSp mod">
        <pc:chgData name="David Hearne" userId="d211ecec-1162-4091-8ee9-61d4a9e2add7" providerId="ADAL" clId="{A5119291-A0E2-3347-9167-2FBB02A7C961}" dt="2023-04-18T08:45:45.031" v="18" actId="20577"/>
        <pc:sldMkLst>
          <pc:docMk/>
          <pc:sldMk cId="591161101" sldId="445"/>
        </pc:sldMkLst>
        <pc:spChg chg="mod">
          <ac:chgData name="David Hearne" userId="d211ecec-1162-4091-8ee9-61d4a9e2add7" providerId="ADAL" clId="{A5119291-A0E2-3347-9167-2FBB02A7C961}" dt="2023-04-18T08:45:44.479" v="15" actId="20577"/>
          <ac:spMkLst>
            <pc:docMk/>
            <pc:sldMk cId="591161101" sldId="445"/>
            <ac:spMk id="13" creationId="{D319B851-A90B-F470-4E9A-0A3BF61F948B}"/>
          </ac:spMkLst>
        </pc:spChg>
        <pc:spChg chg="add del mod">
          <ac:chgData name="David Hearne" userId="d211ecec-1162-4091-8ee9-61d4a9e2add7" providerId="ADAL" clId="{A5119291-A0E2-3347-9167-2FBB02A7C961}" dt="2023-04-18T08:45:45.031" v="18" actId="20577"/>
          <ac:spMkLst>
            <pc:docMk/>
            <pc:sldMk cId="591161101" sldId="445"/>
            <ac:spMk id="14" creationId="{BC7E5258-0CD3-FE09-CE39-C31E080E6B67}"/>
          </ac:spMkLst>
        </pc:spChg>
        <pc:spChg chg="add del">
          <ac:chgData name="David Hearne" userId="d211ecec-1162-4091-8ee9-61d4a9e2add7" providerId="ADAL" clId="{A5119291-A0E2-3347-9167-2FBB02A7C961}" dt="2023-04-18T08:45:44.649" v="16" actId="478"/>
          <ac:spMkLst>
            <pc:docMk/>
            <pc:sldMk cId="591161101" sldId="445"/>
            <ac:spMk id="19" creationId="{1068A325-8A34-152D-8B92-4546F501CB15}"/>
          </ac:spMkLst>
        </pc:spChg>
        <pc:spChg chg="mod">
          <ac:chgData name="David Hearne" userId="d211ecec-1162-4091-8ee9-61d4a9e2add7" providerId="ADAL" clId="{A5119291-A0E2-3347-9167-2FBB02A7C961}" dt="2023-04-18T08:45:24.752" v="6" actId="20577"/>
          <ac:spMkLst>
            <pc:docMk/>
            <pc:sldMk cId="591161101" sldId="445"/>
            <ac:spMk id="24" creationId="{D4BA01C4-169D-895E-472B-A71245691AFC}"/>
          </ac:spMkLst>
        </pc:spChg>
        <pc:cxnChg chg="mod">
          <ac:chgData name="David Hearne" userId="d211ecec-1162-4091-8ee9-61d4a9e2add7" providerId="ADAL" clId="{A5119291-A0E2-3347-9167-2FBB02A7C961}" dt="2023-04-18T08:45:44.649" v="16" actId="478"/>
          <ac:cxnSpMkLst>
            <pc:docMk/>
            <pc:sldMk cId="591161101" sldId="445"/>
            <ac:cxnSpMk id="47" creationId="{8435FD7C-5E6E-4CAB-C5B6-AD669E5184C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B268A-CA3A-0048-9013-6E7C8FF5127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B84A0-CA4D-2741-806C-17A926449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jack/status/20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jack/status/20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6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73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48131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E8C4BBAE-7F93-47A3-A70B-0D7C9D38F57B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4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820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/>
              <a:t>First tweet , Jack Dorsey : </a:t>
            </a:r>
            <a:r>
              <a:rPr lang="en-IE" b="0" i="0" u="sng" dirty="0">
                <a:solidFill>
                  <a:srgbClr val="71767B"/>
                </a:solidFill>
                <a:effectLst/>
                <a:latin typeface="TwitterChirp"/>
                <a:hlinkClick r:id="rId3"/>
              </a:rPr>
              <a:t>Mar 21, 2006</a:t>
            </a:r>
            <a:endParaRPr lang="en-IE" b="0" i="0" u="sng" dirty="0">
              <a:solidFill>
                <a:srgbClr val="71767B"/>
              </a:solidFill>
              <a:effectLst/>
              <a:latin typeface="TwitterChirp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b="0" i="0" u="sng" dirty="0">
              <a:solidFill>
                <a:srgbClr val="71767B"/>
              </a:solidFill>
              <a:effectLst/>
              <a:latin typeface="TwitterChirp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dirty="0">
                <a:solidFill>
                  <a:srgbClr val="71767B"/>
                </a:solidFill>
                <a:effectLst/>
                <a:latin typeface="TwitterChirp"/>
              </a:rPr>
              <a:t>First Insta, July 16</a:t>
            </a:r>
            <a:r>
              <a:rPr lang="en-IE" sz="1200" b="0" i="0" u="none" baseline="30000" dirty="0">
                <a:solidFill>
                  <a:srgbClr val="71767B"/>
                </a:solidFill>
                <a:effectLst/>
                <a:latin typeface="TwitterChirp"/>
              </a:rPr>
              <a:t>th</a:t>
            </a:r>
            <a:r>
              <a:rPr lang="en-IE" sz="1200" b="0" i="0" u="none" dirty="0">
                <a:solidFill>
                  <a:srgbClr val="71767B"/>
                </a:solidFill>
                <a:effectLst/>
                <a:latin typeface="TwitterChirp"/>
              </a:rPr>
              <a:t> 2010, Mike Krieger, Co-Founder</a:t>
            </a:r>
            <a:endParaRPr lang="en-GB" sz="1200" u="none" dirty="0"/>
          </a:p>
          <a:p>
            <a:endParaRPr lang="en-IE" b="0" i="0" u="none" strike="noStrike" dirty="0">
              <a:solidFill>
                <a:srgbClr val="EEEEEE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96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/>
              <a:t>API</a:t>
            </a:r>
            <a:r>
              <a:rPr lang="en-GB" sz="1200" dirty="0"/>
              <a:t>: </a:t>
            </a:r>
            <a:r>
              <a:rPr lang="en-GB" sz="1200" i="1" dirty="0"/>
              <a:t>Application Programmers’ Interface</a:t>
            </a:r>
            <a:br>
              <a:rPr lang="en-GB" sz="1200" i="1" dirty="0"/>
            </a:br>
            <a:endParaRPr lang="en-GB" sz="1200" dirty="0"/>
          </a:p>
          <a:p>
            <a:endParaRPr lang="en-IE" b="0" i="0" u="none" strike="noStrike" dirty="0">
              <a:solidFill>
                <a:srgbClr val="EEEEEE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77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/>
              <a:t>First tweet , Jack Dorsey : </a:t>
            </a:r>
            <a:r>
              <a:rPr lang="en-IE" b="0" i="0" u="sng" dirty="0">
                <a:solidFill>
                  <a:srgbClr val="71767B"/>
                </a:solidFill>
                <a:effectLst/>
                <a:latin typeface="TwitterChirp"/>
                <a:hlinkClick r:id="rId3"/>
              </a:rPr>
              <a:t>Mar 21, 2006</a:t>
            </a:r>
            <a:endParaRPr lang="en-IE" b="0" i="0" u="sng" dirty="0">
              <a:solidFill>
                <a:srgbClr val="71767B"/>
              </a:solidFill>
              <a:effectLst/>
              <a:latin typeface="TwitterChirp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b="0" i="0" u="sng" dirty="0">
              <a:solidFill>
                <a:srgbClr val="71767B"/>
              </a:solidFill>
              <a:effectLst/>
              <a:latin typeface="TwitterChirp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dirty="0">
                <a:solidFill>
                  <a:srgbClr val="71767B"/>
                </a:solidFill>
                <a:effectLst/>
                <a:latin typeface="TwitterChirp"/>
              </a:rPr>
              <a:t>First Insta, July 16</a:t>
            </a:r>
            <a:r>
              <a:rPr lang="en-IE" sz="1200" b="0" i="0" u="none" baseline="30000" dirty="0">
                <a:solidFill>
                  <a:srgbClr val="71767B"/>
                </a:solidFill>
                <a:effectLst/>
                <a:latin typeface="TwitterChirp"/>
              </a:rPr>
              <a:t>th</a:t>
            </a:r>
            <a:r>
              <a:rPr lang="en-IE" sz="1200" b="0" i="0" u="none" dirty="0">
                <a:solidFill>
                  <a:srgbClr val="71767B"/>
                </a:solidFill>
                <a:effectLst/>
                <a:latin typeface="TwitterChirp"/>
              </a:rPr>
              <a:t> 2010, Mike Krieger, Co-Founder</a:t>
            </a:r>
            <a:endParaRPr lang="en-GB" sz="1200" u="none" dirty="0"/>
          </a:p>
          <a:p>
            <a:endParaRPr lang="en-IE" b="0" i="0" u="none" strike="noStrike" dirty="0">
              <a:solidFill>
                <a:srgbClr val="EEEEEE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31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11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class diagram is simple (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ArrayList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not shown in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BlueJ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5835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9233A621-111B-497A-9F85-618622AABFFA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12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>
                <a:latin typeface="Times New Roman" charset="0"/>
                <a:ea typeface="ＭＳ Ｐゴシック" charset="0"/>
                <a:cs typeface="+mn-cs"/>
              </a:rPr>
              <a:t>one object per post; each object stores details for one particular post.</a:t>
            </a:r>
          </a:p>
        </p:txBody>
      </p:sp>
    </p:spTree>
    <p:extLst>
      <p:ext uri="{BB962C8B-B14F-4D97-AF65-F5344CB8AC3E}">
        <p14:creationId xmlns:p14="http://schemas.microsoft.com/office/powerpoint/2010/main" val="115986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Newsfeed object will hold two collections: one for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MessagePosts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, one for </a:t>
            </a: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PhotoPosts</a:t>
            </a:r>
            <a:endParaRPr lang="en-GB" dirty="0">
              <a:latin typeface="Times New Roman" charset="0"/>
              <a:ea typeface="ＭＳ Ｐゴシック" charset="0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22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52685C26-67F0-492E-A3BA-6462479EE618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23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63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GB">
                <a:latin typeface="Times New Roman" charset="0"/>
                <a:ea typeface="ＭＳ Ｐゴシック" charset="0"/>
                <a:cs typeface="+mn-cs"/>
              </a:rPr>
              <a:t>we note a lot of code duplication.</a:t>
            </a:r>
          </a:p>
          <a:p>
            <a:pPr>
              <a:defRPr/>
            </a:pPr>
            <a:r>
              <a:rPr lang="en-GB">
                <a:latin typeface="Times New Roman" charset="0"/>
                <a:ea typeface="ＭＳ Ｐゴシック" charset="0"/>
                <a:cs typeface="+mn-cs"/>
              </a:rPr>
              <a:t>this is one problem with this solution (there are others)</a:t>
            </a:r>
          </a:p>
        </p:txBody>
      </p:sp>
    </p:spTree>
    <p:extLst>
      <p:ext uri="{BB962C8B-B14F-4D97-AF65-F5344CB8AC3E}">
        <p14:creationId xmlns:p14="http://schemas.microsoft.com/office/powerpoint/2010/main" val="280137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83960A5-1800-CCD1-18D9-96C2C3AE1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22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5B90E7F-8316-1B52-2E2C-81F3D7F83F69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997B3506-34A4-C04B-DDB2-EA7F73E364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67B9BF-B31A-18AA-45F3-41C8972B3501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A8F898C-C0E3-480E-25C7-77D1FA5ADF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6127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1E431-00B6-EE54-C821-A404D6B608AD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041A00BE-8E3E-096D-3796-1CAB399C6C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110D9F-BD3E-4CBB-3724-08D0FAC94444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7C50EE8-2F77-1742-7405-7EA144F13A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1111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67E5627-0EF7-18DE-16C3-F31A5B7908BB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C8D9B1F3-35F6-12EF-5C28-E8A0EFFFF3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486929-80C9-21EF-24A9-623C9BEA4E4D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82FD2D1-302C-F2B6-6930-0BDF28BA4A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4573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CE9CA0D-C99E-6F52-A000-3CF31AB92E6E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37C2A4E0-C329-DE85-4BEB-46312FB908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A13D82-9BA2-546C-0EA3-1544D905C036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194DFDC-5F2C-D3BC-B45F-82556F0E3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7342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2B67E4D-088A-44ED-977B-85EFFB31FE83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A50B2B93-DB50-CA1C-49AA-531B70FAFF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DC79E3-F895-FC6C-B65D-F8D0CB232DD5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905DE66-C703-C172-68C5-64C9B8AE82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3778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8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03E582-0FAD-F29C-E82A-E33817FB1224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5C6BF17-CDFD-8E4D-126C-E89CE94214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83607A-80E1-F720-EBF6-49135EA11DBD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F0CECAA-3297-C82A-3667-A24949AD7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9906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E5528-DD2A-F645-2BDC-722E86C75CA9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7DC3E30-BC0D-887C-75BF-167E0C8443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584527-7F6C-5E69-907E-267B01B901CE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7660EFC-9285-FE2E-133C-4C95F8B3E8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3705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2249C-CDAD-92F8-6452-58C4C111C858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94380F71-8912-F401-E063-12338E622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8CB74F-BC07-1374-4B08-077531BA864A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BF4C5FE-6FC7-2EB5-C946-28666A3B7C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7937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C268C-7F21-76CE-043B-8BA65102E9F5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22A91C6D-4E2E-CB53-6278-FA2A8E7EC0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17733A-7810-3C7A-DF42-8080C142CBA4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8DDAA24-6E81-98DE-4FF2-40081955E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3245" y="6187327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7090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06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32673" y="433462"/>
            <a:ext cx="5443765" cy="5486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D9E16-657A-4218-0444-F0A4D4BC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324554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BFD17A-A184-4C60-C2D7-B6CD6ACBCF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098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118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058DA34-23F6-495F-530B-6D0E9FD24FAB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75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5" r:id="rId14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0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99CD819F-5324-A9DE-1B40-CA887A54AE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554628" y="693967"/>
            <a:ext cx="5427662" cy="5470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1A3E84-9222-E321-F48B-5FDB6F80A2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4409F-DCAA-6F36-5AC8-EB4F83A8AB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sz="2400" dirty="0"/>
              <a:t>Inheritance: Improving Structure</a:t>
            </a:r>
          </a:p>
        </p:txBody>
      </p:sp>
      <p:pic>
        <p:nvPicPr>
          <p:cNvPr id="5" name="Picture 4" descr="Text, logo&#10;&#10;Description automatically generated">
            <a:extLst>
              <a:ext uri="{FF2B5EF4-FFF2-40B4-BE49-F238E27FC236}">
                <a16:creationId xmlns:a16="http://schemas.microsoft.com/office/drawing/2014/main" id="{14BFAFCE-71D5-F584-63E1-3FA32C910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724" y="5703037"/>
            <a:ext cx="2062162" cy="1156061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2571569" y="4702355"/>
            <a:ext cx="18669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None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6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None/>
              <a:defRPr sz="16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/>
              <a:t>by: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6E3D8-40D8-40DD-AB3A-5A145588CC6B}"/>
              </a:ext>
            </a:extLst>
          </p:cNvPr>
          <p:cNvSpPr txBox="1"/>
          <p:nvPr/>
        </p:nvSpPr>
        <p:spPr>
          <a:xfrm>
            <a:off x="4514669" y="4778556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F9596-BC92-8E3D-D8B8-0FB0CE88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6894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71DF-83EE-F584-76A4-18797A0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16" y="28454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Agenda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FA28BCE-B19E-F23A-7956-1A1DD1679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pic>
        <p:nvPicPr>
          <p:cNvPr id="11" name="Picture 10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AEA1CE5-DA18-8291-EBC8-4ED7D8153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08" y="562131"/>
            <a:ext cx="4882243" cy="488224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81001-8F47-6FE3-CC30-C70CB6E96C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81584"/>
            <a:ext cx="1120090" cy="60376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984378-B129-C308-D176-66F7C4DA42CC}"/>
              </a:ext>
            </a:extLst>
          </p:cNvPr>
          <p:cNvSpPr txBox="1">
            <a:spLocks/>
          </p:cNvSpPr>
          <p:nvPr/>
        </p:nvSpPr>
        <p:spPr>
          <a:xfrm>
            <a:off x="259216" y="1882398"/>
            <a:ext cx="5836784" cy="24401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Social Network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07659-64A8-254E-454D-BE7D3F3E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7150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9C71DF-83EE-F584-76A4-18797A0DBD4F}"/>
              </a:ext>
            </a:extLst>
          </p:cNvPr>
          <p:cNvSpPr txBox="1">
            <a:spLocks/>
          </p:cNvSpPr>
          <p:nvPr/>
        </p:nvSpPr>
        <p:spPr>
          <a:xfrm>
            <a:off x="0" y="698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35765"/>
                </a:solidFill>
              </a:rPr>
              <a:t>Lectures &amp; Labs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D984378-B129-C308-D176-66F7C4DA42CC}"/>
              </a:ext>
            </a:extLst>
          </p:cNvPr>
          <p:cNvSpPr txBox="1">
            <a:spLocks/>
          </p:cNvSpPr>
          <p:nvPr/>
        </p:nvSpPr>
        <p:spPr>
          <a:xfrm>
            <a:off x="415160" y="1815848"/>
            <a:ext cx="7028275" cy="37564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weeks lectures and labs are based on examples in:</a:t>
            </a:r>
          </a:p>
          <a:p>
            <a:r>
              <a:rPr lang="en-US" sz="2200" b="1" dirty="0"/>
              <a:t>Objects First with Java </a:t>
            </a:r>
            <a:br>
              <a:rPr lang="en-US" sz="2200" dirty="0"/>
            </a:br>
            <a:r>
              <a:rPr lang="en-US" sz="2200" dirty="0"/>
              <a:t>- A Practical Introduction using </a:t>
            </a:r>
            <a:r>
              <a:rPr lang="en-US" sz="2200" dirty="0" err="1"/>
              <a:t>BlueJ</a:t>
            </a:r>
            <a:r>
              <a:rPr lang="en-US" sz="2200" dirty="0"/>
              <a:t>, © </a:t>
            </a:r>
            <a:r>
              <a:rPr lang="en-US" sz="2200" i="1" dirty="0"/>
              <a:t>David J. Barnes, Michael </a:t>
            </a:r>
            <a:r>
              <a:rPr lang="en-US" sz="2200" i="1" dirty="0" err="1"/>
              <a:t>Kölling</a:t>
            </a:r>
            <a:endParaRPr lang="en-US" sz="2200" i="1" dirty="0"/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bird on a branch&#10;&#10;Description automatically generated with medium confidence">
            <a:extLst>
              <a:ext uri="{FF2B5EF4-FFF2-40B4-BE49-F238E27FC236}">
                <a16:creationId xmlns:a16="http://schemas.microsoft.com/office/drawing/2014/main" id="{D627CCD9-58A2-57DF-BE6F-145A89859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435" y="1395443"/>
            <a:ext cx="4061769" cy="5026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8570DF-FB4C-10DC-17A9-94D2C29B7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06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Social Network V3.0 - Recap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83820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GB" dirty="0">
                <a:ea typeface="+mn-ea"/>
                <a:cs typeface="+mn-cs"/>
              </a:rPr>
              <a:t>A small, prototype SOCIAL NETWORK.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sz="1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GB" dirty="0">
                <a:ea typeface="+mn-ea"/>
                <a:cs typeface="+mn-cs"/>
              </a:rPr>
              <a:t>Supports a </a:t>
            </a:r>
            <a:r>
              <a:rPr lang="en-GB" dirty="0">
                <a:solidFill>
                  <a:srgbClr val="0070C0"/>
                </a:solidFill>
                <a:ea typeface="+mn-ea"/>
                <a:cs typeface="+mn-cs"/>
              </a:rPr>
              <a:t>News Feed </a:t>
            </a:r>
            <a:r>
              <a:rPr lang="en-GB" dirty="0">
                <a:ea typeface="+mn-ea"/>
                <a:cs typeface="+mn-cs"/>
              </a:rPr>
              <a:t>with posts.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dirty="0"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GB" dirty="0">
                <a:ea typeface="+mn-ea"/>
                <a:cs typeface="+mn-cs"/>
              </a:rPr>
              <a:t>POSTS:</a:t>
            </a:r>
            <a:endParaRPr lang="en-AU" dirty="0">
              <a:latin typeface="Arial" charset="0"/>
              <a:ea typeface="+mn-ea"/>
              <a:cs typeface="+mn-cs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dirty="0" err="1">
                <a:solidFill>
                  <a:srgbClr val="FF0000"/>
                </a:solidFill>
                <a:latin typeface="Arial" charset="0"/>
                <a:ea typeface="+mn-ea"/>
              </a:rPr>
              <a:t>MessagePost</a:t>
            </a:r>
            <a:r>
              <a:rPr lang="en-AU" dirty="0">
                <a:solidFill>
                  <a:srgbClr val="FF0000"/>
                </a:solidFill>
                <a:latin typeface="Arial" charset="0"/>
                <a:ea typeface="+mn-ea"/>
              </a:rPr>
              <a:t>:</a:t>
            </a:r>
            <a:r>
              <a:rPr lang="en-AU" dirty="0">
                <a:latin typeface="Arial" charset="0"/>
                <a:ea typeface="+mn-ea"/>
              </a:rPr>
              <a:t> </a:t>
            </a:r>
          </a:p>
          <a:p>
            <a:pPr lvl="2">
              <a:lnSpc>
                <a:spcPct val="90000"/>
              </a:lnSpc>
              <a:defRPr/>
            </a:pPr>
            <a:r>
              <a:rPr lang="en-AU" dirty="0">
                <a:latin typeface="Arial" charset="0"/>
                <a:ea typeface="+mn-ea"/>
              </a:rPr>
              <a:t>multi-line text message.</a:t>
            </a:r>
            <a:endParaRPr lang="en-GB" dirty="0">
              <a:latin typeface="Arial" charset="0"/>
              <a:ea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GB" dirty="0">
                <a:latin typeface="Arial" charset="0"/>
              </a:rPr>
              <a:t>Operations</a:t>
            </a:r>
            <a:endParaRPr lang="en-GB" dirty="0">
              <a:latin typeface="Arial" charset="0"/>
              <a:ea typeface="+mn-ea"/>
            </a:endParaRPr>
          </a:p>
          <a:p>
            <a:pPr lvl="2">
              <a:lnSpc>
                <a:spcPct val="90000"/>
              </a:lnSpc>
              <a:defRPr/>
            </a:pPr>
            <a:r>
              <a:rPr lang="en-GB" dirty="0">
                <a:latin typeface="Arial" charset="0"/>
              </a:rPr>
              <a:t>e</a:t>
            </a:r>
            <a:r>
              <a:rPr lang="en-GB" dirty="0">
                <a:latin typeface="Arial" charset="0"/>
                <a:ea typeface="+mn-ea"/>
              </a:rPr>
              <a:t>.g., add, display and remove.</a:t>
            </a:r>
            <a:endParaRPr lang="en-GB" dirty="0">
              <a:ea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2532185"/>
            <a:ext cx="3546342" cy="2743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3C944-3301-CC0F-6C1B-9ACAEB2E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1339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V3.0 - Recap</a:t>
            </a:r>
            <a:endParaRPr lang="en-VI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7AD51-84CF-4754-82E5-9C1C98463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828800"/>
            <a:ext cx="3795870" cy="4196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235BEA-C8F8-4609-B45E-32BBF4A9E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209800"/>
            <a:ext cx="3333762" cy="3434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DCFAC9-5A93-47D0-B491-22C3DE9B1351}"/>
              </a:ext>
            </a:extLst>
          </p:cNvPr>
          <p:cNvSpPr/>
          <p:nvPr/>
        </p:nvSpPr>
        <p:spPr>
          <a:xfrm>
            <a:off x="8296281" y="3545939"/>
            <a:ext cx="1676400" cy="381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897A5-0255-6ED4-8622-4B9B8EFD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57045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Network V3.0 - Recap</a:t>
            </a:r>
            <a:endParaRPr lang="en-V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36266-8544-4D27-9201-ECAC3F9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2209800"/>
            <a:ext cx="3333762" cy="3434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D9308B-8697-4A86-9FB0-220DF5008AA1}"/>
              </a:ext>
            </a:extLst>
          </p:cNvPr>
          <p:cNvSpPr/>
          <p:nvPr/>
        </p:nvSpPr>
        <p:spPr>
          <a:xfrm>
            <a:off x="8534400" y="4191000"/>
            <a:ext cx="1676400" cy="381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32AD1-8B8B-4C03-85C2-4A9368201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67298"/>
            <a:ext cx="3614880" cy="4119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1B91DE-81FF-479A-9064-6AA40865A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132041"/>
            <a:ext cx="1749813" cy="1934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46879-A912-7ADB-DABE-1C2996E0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92753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V3.0 - Recap</a:t>
            </a:r>
            <a:endParaRPr lang="en-V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36266-8544-4D27-9201-ECAC3F9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2209800"/>
            <a:ext cx="3333762" cy="3434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C7A87B-56CE-48B2-8F02-999AC2EAA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76050"/>
            <a:ext cx="5629486" cy="43017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D9308B-8697-4A86-9FB0-220DF5008AA1}"/>
              </a:ext>
            </a:extLst>
          </p:cNvPr>
          <p:cNvSpPr/>
          <p:nvPr/>
        </p:nvSpPr>
        <p:spPr>
          <a:xfrm>
            <a:off x="8382000" y="2895600"/>
            <a:ext cx="1676400" cy="381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B780D9-3E15-4056-AE88-96597364A432}"/>
              </a:ext>
            </a:extLst>
          </p:cNvPr>
          <p:cNvSpPr/>
          <p:nvPr/>
        </p:nvSpPr>
        <p:spPr>
          <a:xfrm>
            <a:off x="1066800" y="5696827"/>
            <a:ext cx="3962400" cy="381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61C2F7-6601-4F86-8F5D-A4C54C649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132041"/>
            <a:ext cx="1749813" cy="1934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DD4A2-2F72-EFB5-DEF0-7172CBD8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96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340816"/>
            <a:ext cx="10363200" cy="1362075"/>
          </a:xfrm>
        </p:spPr>
        <p:txBody>
          <a:bodyPr/>
          <a:lstStyle/>
          <a:p>
            <a:r>
              <a:rPr lang="en-US" dirty="0"/>
              <a:t>Social Network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7F6FD1-7F24-20D3-7833-9F5776123B1B}"/>
              </a:ext>
            </a:extLst>
          </p:cNvPr>
          <p:cNvSpPr/>
          <p:nvPr/>
        </p:nvSpPr>
        <p:spPr>
          <a:xfrm>
            <a:off x="2264229" y="954146"/>
            <a:ext cx="7590972" cy="5069284"/>
          </a:xfrm>
          <a:prstGeom prst="roundRect">
            <a:avLst/>
          </a:prstGeom>
          <a:noFill/>
          <a:ln w="63500"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C351B3-78CD-5CCB-FCC7-04C132A6C1D1}"/>
              </a:ext>
            </a:extLst>
          </p:cNvPr>
          <p:cNvGrpSpPr/>
          <p:nvPr/>
        </p:nvGrpSpPr>
        <p:grpSpPr>
          <a:xfrm>
            <a:off x="4847771" y="1021854"/>
            <a:ext cx="2917372" cy="4958032"/>
            <a:chOff x="3367315" y="1021854"/>
            <a:chExt cx="2917372" cy="49580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2C2E5D-C003-61BE-9B42-A6C6AE787B14}"/>
                </a:ext>
              </a:extLst>
            </p:cNvPr>
            <p:cNvSpPr/>
            <p:nvPr/>
          </p:nvSpPr>
          <p:spPr>
            <a:xfrm>
              <a:off x="3367315" y="1021854"/>
              <a:ext cx="2917372" cy="4958032"/>
            </a:xfrm>
            <a:prstGeom prst="rect">
              <a:avLst/>
            </a:prstGeom>
            <a:noFill/>
            <a:ln w="6032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ular Callout 13">
              <a:extLst>
                <a:ext uri="{FF2B5EF4-FFF2-40B4-BE49-F238E27FC236}">
                  <a16:creationId xmlns:a16="http://schemas.microsoft.com/office/drawing/2014/main" id="{3806553C-096E-7BD9-AC97-2930F64A88DD}"/>
                </a:ext>
              </a:extLst>
            </p:cNvPr>
            <p:cNvSpPr/>
            <p:nvPr/>
          </p:nvSpPr>
          <p:spPr>
            <a:xfrm>
              <a:off x="3657603" y="1250871"/>
              <a:ext cx="1712683" cy="740378"/>
            </a:xfrm>
            <a:prstGeom prst="wedgeRoundRectCallout">
              <a:avLst/>
            </a:prstGeom>
            <a:solidFill>
              <a:srgbClr val="435765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b="0" i="0" dirty="0">
                  <a:solidFill>
                    <a:srgbClr val="E7E9EA"/>
                  </a:solidFill>
                  <a:effectLst/>
                  <a:latin typeface="Inter" panose="02000503000000020004" pitchFamily="2" charset="0"/>
                  <a:ea typeface="Inter" panose="02000503000000020004" pitchFamily="2" charset="0"/>
                </a:rPr>
                <a:t>This is my first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sp>
          <p:nvSpPr>
            <p:cNvPr id="16" name="Rounded Rectangular Callout 15">
              <a:extLst>
                <a:ext uri="{FF2B5EF4-FFF2-40B4-BE49-F238E27FC236}">
                  <a16:creationId xmlns:a16="http://schemas.microsoft.com/office/drawing/2014/main" id="{C9D22792-8723-6439-7987-F4B99F6CED11}"/>
                </a:ext>
              </a:extLst>
            </p:cNvPr>
            <p:cNvSpPr/>
            <p:nvPr/>
          </p:nvSpPr>
          <p:spPr>
            <a:xfrm>
              <a:off x="3657603" y="4056968"/>
              <a:ext cx="1712683" cy="740378"/>
            </a:xfrm>
            <a:prstGeom prst="wedgeRoundRectCallout">
              <a:avLst/>
            </a:prstGeom>
            <a:solidFill>
              <a:srgbClr val="435765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dirty="0">
                  <a:solidFill>
                    <a:srgbClr val="E7E9EA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This is my third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sp>
          <p:nvSpPr>
            <p:cNvPr id="17" name="Rounded Rectangular Callout 16">
              <a:extLst>
                <a:ext uri="{FF2B5EF4-FFF2-40B4-BE49-F238E27FC236}">
                  <a16:creationId xmlns:a16="http://schemas.microsoft.com/office/drawing/2014/main" id="{0BEAF8AD-4042-41FF-D0AD-9FC9E888C6F1}"/>
                </a:ext>
              </a:extLst>
            </p:cNvPr>
            <p:cNvSpPr/>
            <p:nvPr/>
          </p:nvSpPr>
          <p:spPr>
            <a:xfrm>
              <a:off x="3657603" y="4999870"/>
              <a:ext cx="1712683" cy="740378"/>
            </a:xfrm>
            <a:prstGeom prst="wedgeRoundRectCallout">
              <a:avLst/>
            </a:prstGeom>
            <a:solidFill>
              <a:srgbClr val="435765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dirty="0">
                  <a:solidFill>
                    <a:srgbClr val="E7E9EA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This is my fourth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AF66736-BF30-0683-6D9C-23ABB122B3FE}"/>
              </a:ext>
            </a:extLst>
          </p:cNvPr>
          <p:cNvSpPr txBox="1"/>
          <p:nvPr/>
        </p:nvSpPr>
        <p:spPr>
          <a:xfrm>
            <a:off x="406400" y="3091543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Posts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47B7DC-D7DB-7F7D-6BA3-530C4858CF0A}"/>
              </a:ext>
            </a:extLst>
          </p:cNvPr>
          <p:cNvCxnSpPr>
            <a:cxnSpLocks/>
            <a:stCxn id="21" idx="0"/>
            <a:endCxn id="14" idx="1"/>
          </p:cNvCxnSpPr>
          <p:nvPr/>
        </p:nvCxnSpPr>
        <p:spPr>
          <a:xfrm flipV="1">
            <a:off x="802503" y="1621060"/>
            <a:ext cx="4335556" cy="1470483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8A1771-8AD1-F642-4B5B-22C59D7A78C0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 flipV="1">
            <a:off x="1198605" y="2960628"/>
            <a:ext cx="3939454" cy="315581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D53384C-223B-7A76-ACCA-2182167D8B82}"/>
              </a:ext>
            </a:extLst>
          </p:cNvPr>
          <p:cNvCxnSpPr>
            <a:cxnSpLocks/>
            <a:stCxn id="21" idx="2"/>
            <a:endCxn id="16" idx="1"/>
          </p:cNvCxnSpPr>
          <p:nvPr/>
        </p:nvCxnSpPr>
        <p:spPr>
          <a:xfrm>
            <a:off x="802503" y="3460875"/>
            <a:ext cx="4335556" cy="966282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DE47AE8-B422-82EF-267C-DBC31A63FC51}"/>
              </a:ext>
            </a:extLst>
          </p:cNvPr>
          <p:cNvCxnSpPr>
            <a:cxnSpLocks/>
            <a:stCxn id="21" idx="2"/>
            <a:endCxn id="17" idx="1"/>
          </p:cNvCxnSpPr>
          <p:nvPr/>
        </p:nvCxnSpPr>
        <p:spPr>
          <a:xfrm>
            <a:off x="802503" y="3460875"/>
            <a:ext cx="4335556" cy="1909184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CB0A7FD-1A53-032C-F238-595B20DFB268}"/>
              </a:ext>
            </a:extLst>
          </p:cNvPr>
          <p:cNvSpPr txBox="1"/>
          <p:nvPr/>
        </p:nvSpPr>
        <p:spPr>
          <a:xfrm>
            <a:off x="10776857" y="2775961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Text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84A219B-9FDC-FD05-A3E2-16A376BE4B30}"/>
              </a:ext>
            </a:extLst>
          </p:cNvPr>
          <p:cNvCxnSpPr>
            <a:cxnSpLocks/>
            <a:stCxn id="34" idx="0"/>
            <a:endCxn id="14" idx="3"/>
          </p:cNvCxnSpPr>
          <p:nvPr/>
        </p:nvCxnSpPr>
        <p:spPr>
          <a:xfrm flipH="1" flipV="1">
            <a:off x="6850742" y="1621060"/>
            <a:ext cx="4263708" cy="1154901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075B3C-1152-9C2F-5B4F-FF8D6341C960}"/>
              </a:ext>
            </a:extLst>
          </p:cNvPr>
          <p:cNvCxnSpPr>
            <a:cxnSpLocks/>
            <a:stCxn id="34" idx="1"/>
            <a:endCxn id="16" idx="3"/>
          </p:cNvCxnSpPr>
          <p:nvPr/>
        </p:nvCxnSpPr>
        <p:spPr>
          <a:xfrm flipH="1">
            <a:off x="6850742" y="2960627"/>
            <a:ext cx="3926115" cy="1466530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62F406-7EFC-861A-3283-D2F69829010D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6850741" y="3145293"/>
            <a:ext cx="4263709" cy="2224766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C9D22792-8723-6439-7987-F4B99F6CED11}"/>
              </a:ext>
            </a:extLst>
          </p:cNvPr>
          <p:cNvSpPr/>
          <p:nvPr/>
        </p:nvSpPr>
        <p:spPr>
          <a:xfrm>
            <a:off x="5138059" y="2649675"/>
            <a:ext cx="1712683" cy="740378"/>
          </a:xfrm>
          <a:prstGeom prst="wedgeRoundRectCallout">
            <a:avLst/>
          </a:prstGeom>
          <a:solidFill>
            <a:srgbClr val="435765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rPr>
              <a:t>	</a:t>
            </a:r>
          </a:p>
          <a:p>
            <a:r>
              <a: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This is my second post</a:t>
            </a: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075B3C-1152-9C2F-5B4F-FF8D6341C960}"/>
              </a:ext>
            </a:extLst>
          </p:cNvPr>
          <p:cNvCxnSpPr>
            <a:cxnSpLocks/>
          </p:cNvCxnSpPr>
          <p:nvPr/>
        </p:nvCxnSpPr>
        <p:spPr>
          <a:xfrm flipH="1">
            <a:off x="6847116" y="2905655"/>
            <a:ext cx="3813796" cy="123773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C25EA-36F6-CB32-CEF0-E0BD6670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3652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4" grpId="0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69" y="447695"/>
            <a:ext cx="8676577" cy="86042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Social Network v4.0 let’s move it on!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45EE1-33EE-EDBD-0B42-8EEAC6D72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236" y="1195754"/>
            <a:ext cx="5794204" cy="552572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</a:rPr>
              <a:t>A small, prototype SOCIAL NETWORK.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</a:rPr>
              <a:t>Supports </a:t>
            </a:r>
            <a:r>
              <a:rPr lang="en-GB" dirty="0">
                <a:solidFill>
                  <a:srgbClr val="435765"/>
                </a:solidFill>
                <a:highlight>
                  <a:srgbClr val="FCCA3A"/>
                </a:highlight>
              </a:rPr>
              <a:t>a News Feed </a:t>
            </a:r>
            <a:r>
              <a:rPr lang="en-GB" dirty="0">
                <a:solidFill>
                  <a:srgbClr val="435765"/>
                </a:solidFill>
              </a:rPr>
              <a:t>with posts.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435765"/>
                </a:solidFill>
              </a:rPr>
              <a:t>POSTS</a:t>
            </a:r>
            <a:r>
              <a:rPr lang="en-GB" dirty="0">
                <a:solidFill>
                  <a:srgbClr val="435765"/>
                </a:solidFill>
              </a:rPr>
              <a:t>: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b="1" dirty="0" err="1">
                <a:solidFill>
                  <a:srgbClr val="435765"/>
                </a:solidFill>
              </a:rPr>
              <a:t>MessagePost</a:t>
            </a:r>
            <a:r>
              <a:rPr lang="en-GB" dirty="0">
                <a:solidFill>
                  <a:srgbClr val="435765"/>
                </a:solidFill>
              </a:rPr>
              <a:t>: 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</a:rPr>
              <a:t>multi-line text messages.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b="1" dirty="0" err="1">
                <a:solidFill>
                  <a:srgbClr val="435765"/>
                </a:solidFill>
              </a:rPr>
              <a:t>PhotoPost</a:t>
            </a:r>
            <a:r>
              <a:rPr lang="en-GB" dirty="0">
                <a:solidFill>
                  <a:srgbClr val="435765"/>
                </a:solidFill>
              </a:rPr>
              <a:t>: 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</a:rPr>
              <a:t>photo and caption.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435765"/>
                </a:solidFill>
              </a:rPr>
              <a:t>Operations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</a:rPr>
              <a:t>e.g., search, display and remove.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43576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746" y="340240"/>
            <a:ext cx="2795465" cy="623285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27985-0E20-329B-0E45-1C84E022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8623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63065"/>
            <a:ext cx="10363200" cy="1362075"/>
          </a:xfrm>
        </p:spPr>
        <p:txBody>
          <a:bodyPr/>
          <a:lstStyle/>
          <a:p>
            <a:r>
              <a:rPr lang="en-US" dirty="0"/>
              <a:t>Social Network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7F6FD1-7F24-20D3-7833-9F5776123B1B}"/>
              </a:ext>
            </a:extLst>
          </p:cNvPr>
          <p:cNvSpPr/>
          <p:nvPr/>
        </p:nvSpPr>
        <p:spPr>
          <a:xfrm>
            <a:off x="2264229" y="954146"/>
            <a:ext cx="7590972" cy="5069284"/>
          </a:xfrm>
          <a:prstGeom prst="roundRect">
            <a:avLst/>
          </a:prstGeom>
          <a:noFill/>
          <a:ln w="63500"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C351B3-78CD-5CCB-FCC7-04C132A6C1D1}"/>
              </a:ext>
            </a:extLst>
          </p:cNvPr>
          <p:cNvGrpSpPr/>
          <p:nvPr/>
        </p:nvGrpSpPr>
        <p:grpSpPr>
          <a:xfrm>
            <a:off x="4847771" y="1021854"/>
            <a:ext cx="2917372" cy="4958032"/>
            <a:chOff x="3367315" y="1021854"/>
            <a:chExt cx="2917372" cy="49580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2C2E5D-C003-61BE-9B42-A6C6AE787B14}"/>
                </a:ext>
              </a:extLst>
            </p:cNvPr>
            <p:cNvSpPr/>
            <p:nvPr/>
          </p:nvSpPr>
          <p:spPr>
            <a:xfrm>
              <a:off x="3367315" y="1021854"/>
              <a:ext cx="2917372" cy="4958032"/>
            </a:xfrm>
            <a:prstGeom prst="rect">
              <a:avLst/>
            </a:prstGeom>
            <a:noFill/>
            <a:ln w="60325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ular Callout 13">
              <a:extLst>
                <a:ext uri="{FF2B5EF4-FFF2-40B4-BE49-F238E27FC236}">
                  <a16:creationId xmlns:a16="http://schemas.microsoft.com/office/drawing/2014/main" id="{3806553C-096E-7BD9-AC97-2930F64A88DD}"/>
                </a:ext>
              </a:extLst>
            </p:cNvPr>
            <p:cNvSpPr/>
            <p:nvPr/>
          </p:nvSpPr>
          <p:spPr>
            <a:xfrm>
              <a:off x="3657603" y="1250871"/>
              <a:ext cx="1712683" cy="740378"/>
            </a:xfrm>
            <a:prstGeom prst="wedgeRoundRectCallout">
              <a:avLst/>
            </a:prstGeom>
            <a:solidFill>
              <a:srgbClr val="435765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b="0" i="0" dirty="0">
                  <a:solidFill>
                    <a:srgbClr val="E7E9EA"/>
                  </a:solidFill>
                  <a:effectLst/>
                  <a:latin typeface="Inter" panose="02000503000000020004" pitchFamily="2" charset="0"/>
                  <a:ea typeface="Inter" panose="02000503000000020004" pitchFamily="2" charset="0"/>
                </a:rPr>
                <a:t>This is my first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sp>
          <p:nvSpPr>
            <p:cNvPr id="16" name="Rounded Rectangular Callout 15">
              <a:extLst>
                <a:ext uri="{FF2B5EF4-FFF2-40B4-BE49-F238E27FC236}">
                  <a16:creationId xmlns:a16="http://schemas.microsoft.com/office/drawing/2014/main" id="{C9D22792-8723-6439-7987-F4B99F6CED11}"/>
                </a:ext>
              </a:extLst>
            </p:cNvPr>
            <p:cNvSpPr/>
            <p:nvPr/>
          </p:nvSpPr>
          <p:spPr>
            <a:xfrm>
              <a:off x="3657603" y="4056968"/>
              <a:ext cx="1712683" cy="740378"/>
            </a:xfrm>
            <a:prstGeom prst="wedgeRoundRectCallout">
              <a:avLst/>
            </a:prstGeom>
            <a:solidFill>
              <a:srgbClr val="435765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dirty="0">
                  <a:solidFill>
                    <a:srgbClr val="E7E9EA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This is my third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sp>
          <p:nvSpPr>
            <p:cNvPr id="17" name="Rounded Rectangular Callout 16">
              <a:extLst>
                <a:ext uri="{FF2B5EF4-FFF2-40B4-BE49-F238E27FC236}">
                  <a16:creationId xmlns:a16="http://schemas.microsoft.com/office/drawing/2014/main" id="{0BEAF8AD-4042-41FF-D0AD-9FC9E888C6F1}"/>
                </a:ext>
              </a:extLst>
            </p:cNvPr>
            <p:cNvSpPr/>
            <p:nvPr/>
          </p:nvSpPr>
          <p:spPr>
            <a:xfrm>
              <a:off x="3657603" y="4999870"/>
              <a:ext cx="1712683" cy="740378"/>
            </a:xfrm>
            <a:prstGeom prst="wedgeRoundRectCallout">
              <a:avLst/>
            </a:prstGeom>
            <a:solidFill>
              <a:srgbClr val="435765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dirty="0">
                  <a:solidFill>
                    <a:srgbClr val="E7E9EA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This is my fourth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AF66736-BF30-0683-6D9C-23ABB122B3FE}"/>
              </a:ext>
            </a:extLst>
          </p:cNvPr>
          <p:cNvSpPr txBox="1"/>
          <p:nvPr/>
        </p:nvSpPr>
        <p:spPr>
          <a:xfrm>
            <a:off x="406400" y="3091543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Posts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47B7DC-D7DB-7F7D-6BA3-530C4858CF0A}"/>
              </a:ext>
            </a:extLst>
          </p:cNvPr>
          <p:cNvCxnSpPr>
            <a:cxnSpLocks/>
            <a:stCxn id="21" idx="0"/>
            <a:endCxn id="14" idx="1"/>
          </p:cNvCxnSpPr>
          <p:nvPr/>
        </p:nvCxnSpPr>
        <p:spPr>
          <a:xfrm flipV="1">
            <a:off x="802503" y="1621060"/>
            <a:ext cx="4335556" cy="1470483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8A1771-8AD1-F642-4B5B-22C59D7A78C0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 flipV="1">
            <a:off x="1198605" y="2960628"/>
            <a:ext cx="3939454" cy="315581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D53384C-223B-7A76-ACCA-2182167D8B82}"/>
              </a:ext>
            </a:extLst>
          </p:cNvPr>
          <p:cNvCxnSpPr>
            <a:cxnSpLocks/>
            <a:stCxn id="21" idx="2"/>
            <a:endCxn id="16" idx="1"/>
          </p:cNvCxnSpPr>
          <p:nvPr/>
        </p:nvCxnSpPr>
        <p:spPr>
          <a:xfrm>
            <a:off x="802503" y="3460875"/>
            <a:ext cx="4335556" cy="966282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DE47AE8-B422-82EF-267C-DBC31A63FC51}"/>
              </a:ext>
            </a:extLst>
          </p:cNvPr>
          <p:cNvCxnSpPr>
            <a:cxnSpLocks/>
            <a:stCxn id="21" idx="2"/>
            <a:endCxn id="17" idx="1"/>
          </p:cNvCxnSpPr>
          <p:nvPr/>
        </p:nvCxnSpPr>
        <p:spPr>
          <a:xfrm>
            <a:off x="802503" y="3460875"/>
            <a:ext cx="4335556" cy="1909184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CB0A7FD-1A53-032C-F238-595B20DFB268}"/>
              </a:ext>
            </a:extLst>
          </p:cNvPr>
          <p:cNvSpPr txBox="1"/>
          <p:nvPr/>
        </p:nvSpPr>
        <p:spPr>
          <a:xfrm>
            <a:off x="10776857" y="2775961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Text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84A219B-9FDC-FD05-A3E2-16A376BE4B30}"/>
              </a:ext>
            </a:extLst>
          </p:cNvPr>
          <p:cNvCxnSpPr>
            <a:cxnSpLocks/>
            <a:stCxn id="34" idx="0"/>
            <a:endCxn id="14" idx="3"/>
          </p:cNvCxnSpPr>
          <p:nvPr/>
        </p:nvCxnSpPr>
        <p:spPr>
          <a:xfrm flipH="1" flipV="1">
            <a:off x="6850742" y="1621060"/>
            <a:ext cx="4263708" cy="1154901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075B3C-1152-9C2F-5B4F-FF8D6341C960}"/>
              </a:ext>
            </a:extLst>
          </p:cNvPr>
          <p:cNvCxnSpPr>
            <a:cxnSpLocks/>
            <a:stCxn id="34" idx="1"/>
            <a:endCxn id="16" idx="3"/>
          </p:cNvCxnSpPr>
          <p:nvPr/>
        </p:nvCxnSpPr>
        <p:spPr>
          <a:xfrm flipH="1">
            <a:off x="6850742" y="2960627"/>
            <a:ext cx="3926115" cy="1466530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62F406-7EFC-861A-3283-D2F69829010D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6850741" y="3145293"/>
            <a:ext cx="4263709" cy="2224766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ular Callout 21">
            <a:extLst>
              <a:ext uri="{FF2B5EF4-FFF2-40B4-BE49-F238E27FC236}">
                <a16:creationId xmlns:a16="http://schemas.microsoft.com/office/drawing/2014/main" id="{F380142E-3910-4571-28A0-07121BCE035C}"/>
              </a:ext>
            </a:extLst>
          </p:cNvPr>
          <p:cNvSpPr/>
          <p:nvPr/>
        </p:nvSpPr>
        <p:spPr>
          <a:xfrm>
            <a:off x="5138059" y="2103999"/>
            <a:ext cx="1712683" cy="1713257"/>
          </a:xfrm>
          <a:prstGeom prst="wedgeRoundRectCallout">
            <a:avLst/>
          </a:prstGeom>
          <a:solidFill>
            <a:srgbClr val="FCCA3A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435765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  First post</a:t>
            </a: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pic>
        <p:nvPicPr>
          <p:cNvPr id="27" name="Picture 26" descr="A picture containing dark&#10;&#10;Description automatically generated">
            <a:extLst>
              <a:ext uri="{FF2B5EF4-FFF2-40B4-BE49-F238E27FC236}">
                <a16:creationId xmlns:a16="http://schemas.microsoft.com/office/drawing/2014/main" id="{8B44A7F1-92F1-6818-121A-B108B65DE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130" y="2133028"/>
            <a:ext cx="1172540" cy="11843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D59CD2E-83CF-46E6-B2F8-48B01556C2B3}"/>
              </a:ext>
            </a:extLst>
          </p:cNvPr>
          <p:cNvSpPr txBox="1"/>
          <p:nvPr/>
        </p:nvSpPr>
        <p:spPr>
          <a:xfrm>
            <a:off x="10776857" y="178289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rPr>
              <a:t>Photo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A8D11AE-3111-08BD-8E6A-4DC37BCE26A8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6850742" y="1967562"/>
            <a:ext cx="3926115" cy="99306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91A8A-7609-C10D-441C-2F91C20D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599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4" grpId="0"/>
      <p:bldP spid="22" grpId="0" animBg="1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Social Network V4.0 – Class Diagram</a:t>
            </a:r>
            <a:endParaRPr lang="en-US" b="1"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BF1E8-0948-4665-85C9-EE94EDF56D26}"/>
              </a:ext>
            </a:extLst>
          </p:cNvPr>
          <p:cNvSpPr/>
          <p:nvPr/>
        </p:nvSpPr>
        <p:spPr>
          <a:xfrm>
            <a:off x="750277" y="1905000"/>
            <a:ext cx="2221523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  <a:tailEnd w="lg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/>
              <a:t>Driver</a:t>
            </a:r>
            <a:endParaRPr lang="en-GB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D6D3-5862-465E-AFE4-7C551D64BD45}"/>
              </a:ext>
            </a:extLst>
          </p:cNvPr>
          <p:cNvSpPr/>
          <p:nvPr/>
        </p:nvSpPr>
        <p:spPr>
          <a:xfrm>
            <a:off x="4038600" y="1916237"/>
            <a:ext cx="22098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  <a:tailEnd w="lg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err="1"/>
              <a:t>NewsFeed</a:t>
            </a:r>
            <a:r>
              <a:rPr lang="en-GB" sz="3200" b="1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DB5AF-C62C-47F4-A592-2781AA48789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971800" y="2382837"/>
            <a:ext cx="1066800" cy="11237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D0F98-6909-44F0-85B2-B7A8CFEB5EF7}"/>
              </a:ext>
            </a:extLst>
          </p:cNvPr>
          <p:cNvSpPr/>
          <p:nvPr/>
        </p:nvSpPr>
        <p:spPr>
          <a:xfrm>
            <a:off x="6858000" y="3553848"/>
            <a:ext cx="24384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err="1"/>
              <a:t>MessagePost</a:t>
            </a:r>
            <a:r>
              <a:rPr lang="en-GB" sz="3200" b="1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F50A5-9B25-4BF8-AC34-2F091245F9E1}"/>
              </a:ext>
            </a:extLst>
          </p:cNvPr>
          <p:cNvSpPr/>
          <p:nvPr/>
        </p:nvSpPr>
        <p:spPr>
          <a:xfrm>
            <a:off x="6858000" y="4876801"/>
            <a:ext cx="2438400" cy="955673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err="1"/>
              <a:t>PhotoPost</a:t>
            </a:r>
            <a:endParaRPr lang="en-GB" sz="3200" b="1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93A82A7-AB4F-4F30-890B-D2F248570F81}"/>
              </a:ext>
            </a:extLst>
          </p:cNvPr>
          <p:cNvCxnSpPr>
            <a:stCxn id="12" idx="2"/>
            <a:endCxn id="18" idx="1"/>
          </p:cNvCxnSpPr>
          <p:nvPr/>
        </p:nvCxnSpPr>
        <p:spPr>
          <a:xfrm rot="16200000" flipH="1">
            <a:off x="5420863" y="2594547"/>
            <a:ext cx="1159775" cy="171450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E6B8717-9E67-4DEA-AAF7-EC824BABE8AA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4699214" y="3195852"/>
            <a:ext cx="2469724" cy="184784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69AED686-0B1E-004C-17F2-CFD727C735DD}"/>
              </a:ext>
            </a:extLst>
          </p:cNvPr>
          <p:cNvSpPr/>
          <p:nvPr/>
        </p:nvSpPr>
        <p:spPr>
          <a:xfrm>
            <a:off x="9571016" y="3553848"/>
            <a:ext cx="1712683" cy="740378"/>
          </a:xfrm>
          <a:prstGeom prst="wedgeRoundRectCallout">
            <a:avLst/>
          </a:prstGeom>
          <a:solidFill>
            <a:srgbClr val="435765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This is my first post</a:t>
            </a: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DF307B-972F-20F9-75A5-F74450BD331E}"/>
              </a:ext>
            </a:extLst>
          </p:cNvPr>
          <p:cNvGrpSpPr/>
          <p:nvPr/>
        </p:nvGrpSpPr>
        <p:grpSpPr>
          <a:xfrm>
            <a:off x="9641117" y="4975845"/>
            <a:ext cx="1712683" cy="1713257"/>
            <a:chOff x="5138059" y="2103999"/>
            <a:chExt cx="1712683" cy="1713257"/>
          </a:xfrm>
        </p:grpSpPr>
        <p:sp>
          <p:nvSpPr>
            <p:cNvPr id="16" name="Rounded Rectangular Callout 15">
              <a:extLst>
                <a:ext uri="{FF2B5EF4-FFF2-40B4-BE49-F238E27FC236}">
                  <a16:creationId xmlns:a16="http://schemas.microsoft.com/office/drawing/2014/main" id="{B2C03995-C8D6-3827-4DED-0975CBF1C54B}"/>
                </a:ext>
              </a:extLst>
            </p:cNvPr>
            <p:cNvSpPr/>
            <p:nvPr/>
          </p:nvSpPr>
          <p:spPr>
            <a:xfrm>
              <a:off x="5138059" y="2103999"/>
              <a:ext cx="1712683" cy="1713257"/>
            </a:xfrm>
            <a:prstGeom prst="wedgeRoundRectCallout">
              <a:avLst/>
            </a:prstGeom>
            <a:solidFill>
              <a:srgbClr val="FCCA3A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b="0" i="0" dirty="0">
                  <a:solidFill>
                    <a:srgbClr val="435765"/>
                  </a:solidFill>
                  <a:effectLst/>
                  <a:latin typeface="Inter" panose="02000503000000020004" pitchFamily="2" charset="0"/>
                  <a:ea typeface="Inter" panose="02000503000000020004" pitchFamily="2" charset="0"/>
                </a:rPr>
                <a:t>   First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pic>
          <p:nvPicPr>
            <p:cNvPr id="17" name="Picture 16" descr="A picture containing dark&#10;&#10;Description automatically generated">
              <a:extLst>
                <a:ext uri="{FF2B5EF4-FFF2-40B4-BE49-F238E27FC236}">
                  <a16:creationId xmlns:a16="http://schemas.microsoft.com/office/drawing/2014/main" id="{C62C8933-2F18-9056-C019-09A766D73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08130" y="2133028"/>
              <a:ext cx="1172540" cy="1184384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F9B6A4-67E6-45A0-9D03-668C7E65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59538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E010EE-47BE-4857-B21E-C4575AF8538B}"/>
              </a:ext>
            </a:extLst>
          </p:cNvPr>
          <p:cNvSpPr/>
          <p:nvPr/>
        </p:nvSpPr>
        <p:spPr>
          <a:xfrm>
            <a:off x="895324" y="2057400"/>
            <a:ext cx="3676676" cy="2438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Social Network V4.0 – Two Object Types</a:t>
            </a:r>
            <a:endParaRPr lang="en-US" b="1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0314C8FE-043B-4AF2-944E-FA137B2F37FB}"/>
              </a:ext>
            </a:extLst>
          </p:cNvPr>
          <p:cNvSpPr/>
          <p:nvPr/>
        </p:nvSpPr>
        <p:spPr>
          <a:xfrm>
            <a:off x="3429000" y="4876800"/>
            <a:ext cx="533400" cy="838200"/>
          </a:xfrm>
          <a:prstGeom prst="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0437E3-1C8F-479B-89B9-7E406F4DF83E}"/>
              </a:ext>
            </a:extLst>
          </p:cNvPr>
          <p:cNvSpPr/>
          <p:nvPr/>
        </p:nvSpPr>
        <p:spPr>
          <a:xfrm>
            <a:off x="2133601" y="5701553"/>
            <a:ext cx="2272777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AU" sz="2000" b="1" err="1">
                <a:solidFill>
                  <a:srgbClr val="FF0000"/>
                </a:solidFill>
                <a:latin typeface="Arial" charset="0"/>
              </a:rPr>
              <a:t>Message</a:t>
            </a:r>
            <a:r>
              <a:rPr lang="en-AU" sz="2000" err="1">
                <a:solidFill>
                  <a:srgbClr val="FF0000"/>
                </a:solidFill>
                <a:latin typeface="Arial" charset="0"/>
              </a:rPr>
              <a:t>Post</a:t>
            </a:r>
            <a:r>
              <a:rPr lang="en-AU" sz="2000">
                <a:solidFill>
                  <a:srgbClr val="FF0000"/>
                </a:solidFill>
                <a:latin typeface="Arial" charset="0"/>
              </a:rPr>
              <a:t>:</a:t>
            </a:r>
            <a:r>
              <a:rPr lang="en-AU" sz="2000">
                <a:latin typeface="Arial" charset="0"/>
              </a:rPr>
              <a:t> multi-line text message.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4F84C-ED51-4BE8-9BF2-E033D35F0AA8}"/>
              </a:ext>
            </a:extLst>
          </p:cNvPr>
          <p:cNvSpPr/>
          <p:nvPr/>
        </p:nvSpPr>
        <p:spPr>
          <a:xfrm>
            <a:off x="6414024" y="5853954"/>
            <a:ext cx="2272777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AU" sz="2000" b="1" err="1">
                <a:solidFill>
                  <a:srgbClr val="00B050"/>
                </a:solidFill>
                <a:latin typeface="Arial" charset="0"/>
              </a:rPr>
              <a:t>Photo</a:t>
            </a:r>
            <a:r>
              <a:rPr lang="en-AU" sz="2000" err="1">
                <a:solidFill>
                  <a:srgbClr val="00B050"/>
                </a:solidFill>
                <a:latin typeface="Arial" charset="0"/>
              </a:rPr>
              <a:t>Post</a:t>
            </a:r>
            <a:r>
              <a:rPr lang="en-AU" sz="2000">
                <a:solidFill>
                  <a:srgbClr val="00B050"/>
                </a:solidFill>
                <a:latin typeface="Arial" charset="0"/>
              </a:rPr>
              <a:t>: </a:t>
            </a:r>
            <a:br>
              <a:rPr lang="en-AU" sz="2000">
                <a:solidFill>
                  <a:srgbClr val="00B050"/>
                </a:solidFill>
                <a:latin typeface="Arial" charset="0"/>
              </a:rPr>
            </a:br>
            <a:r>
              <a:rPr lang="en-GB" sz="2000">
                <a:latin typeface="Arial" charset="0"/>
              </a:rPr>
              <a:t>photo and caption.</a:t>
            </a: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4DD8B14D-6614-453B-BC62-79D32EB24271}"/>
              </a:ext>
            </a:extLst>
          </p:cNvPr>
          <p:cNvSpPr/>
          <p:nvPr/>
        </p:nvSpPr>
        <p:spPr>
          <a:xfrm>
            <a:off x="7665463" y="5295900"/>
            <a:ext cx="533400" cy="533400"/>
          </a:xfrm>
          <a:prstGeom prst="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450DF-26B6-4161-B1E5-DA4DAFA0C54F}"/>
              </a:ext>
            </a:extLst>
          </p:cNvPr>
          <p:cNvSpPr/>
          <p:nvPr/>
        </p:nvSpPr>
        <p:spPr>
          <a:xfrm>
            <a:off x="1066800" y="3352800"/>
            <a:ext cx="1524000" cy="3363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message</a:t>
            </a:r>
            <a:endParaRPr lang="en-VI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BAE2FB-9119-4CE8-9761-885B86E541DA}"/>
              </a:ext>
            </a:extLst>
          </p:cNvPr>
          <p:cNvSpPr/>
          <p:nvPr/>
        </p:nvSpPr>
        <p:spPr>
          <a:xfrm>
            <a:off x="1066800" y="3850093"/>
            <a:ext cx="1524000" cy="3363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likes</a:t>
            </a:r>
            <a:endParaRPr lang="en-VI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DA846F-92B2-4DFE-A819-C6F44A7900A4}"/>
              </a:ext>
            </a:extLst>
          </p:cNvPr>
          <p:cNvSpPr/>
          <p:nvPr/>
        </p:nvSpPr>
        <p:spPr>
          <a:xfrm>
            <a:off x="2799543" y="3854626"/>
            <a:ext cx="1524000" cy="336374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0</a:t>
            </a:r>
            <a:endParaRPr lang="en-VI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DFDC90-97CC-42A3-9BC6-53E79B1F2D82}"/>
              </a:ext>
            </a:extLst>
          </p:cNvPr>
          <p:cNvSpPr/>
          <p:nvPr/>
        </p:nvSpPr>
        <p:spPr>
          <a:xfrm>
            <a:off x="1066800" y="2819400"/>
            <a:ext cx="1524000" cy="3363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author</a:t>
            </a:r>
            <a:endParaRPr lang="en-VI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042FCB-D02F-4BAC-9642-9BA3B537597F}"/>
              </a:ext>
            </a:extLst>
          </p:cNvPr>
          <p:cNvSpPr/>
          <p:nvPr/>
        </p:nvSpPr>
        <p:spPr>
          <a:xfrm>
            <a:off x="2819400" y="3352800"/>
            <a:ext cx="1524000" cy="336374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I" b="0" i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 "" </a:t>
            </a:r>
            <a:endParaRPr lang="en-VI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6783AE-B3C2-4374-ADDC-32B96646A005}"/>
              </a:ext>
            </a:extLst>
          </p:cNvPr>
          <p:cNvSpPr/>
          <p:nvPr/>
        </p:nvSpPr>
        <p:spPr>
          <a:xfrm>
            <a:off x="2819400" y="2819400"/>
            <a:ext cx="1524000" cy="336374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I" b="0" i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 "" </a:t>
            </a:r>
            <a:endParaRPr lang="en-VI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F8DB0B-7F2E-4A10-8E9E-0150B896E31B}"/>
              </a:ext>
            </a:extLst>
          </p:cNvPr>
          <p:cNvSpPr/>
          <p:nvPr/>
        </p:nvSpPr>
        <p:spPr>
          <a:xfrm>
            <a:off x="1066801" y="2286000"/>
            <a:ext cx="3256742" cy="3363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err="1">
                <a:solidFill>
                  <a:schemeClr val="tx1"/>
                </a:solidFill>
              </a:rPr>
              <a:t>MessagePost</a:t>
            </a:r>
            <a:endParaRPr lang="en-VI" sz="2000" b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1568BB6-F97B-47A2-B154-240C665D3C45}"/>
              </a:ext>
            </a:extLst>
          </p:cNvPr>
          <p:cNvSpPr/>
          <p:nvPr/>
        </p:nvSpPr>
        <p:spPr>
          <a:xfrm>
            <a:off x="5562600" y="2209800"/>
            <a:ext cx="3676676" cy="2971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F3F33A-62C9-40DF-B336-A279C5A2A216}"/>
              </a:ext>
            </a:extLst>
          </p:cNvPr>
          <p:cNvSpPr/>
          <p:nvPr/>
        </p:nvSpPr>
        <p:spPr>
          <a:xfrm>
            <a:off x="5734076" y="3505200"/>
            <a:ext cx="1524000" cy="3363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caption</a:t>
            </a:r>
            <a:endParaRPr lang="en-VI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5D452-205E-48C1-9007-AFED5660198B}"/>
              </a:ext>
            </a:extLst>
          </p:cNvPr>
          <p:cNvSpPr/>
          <p:nvPr/>
        </p:nvSpPr>
        <p:spPr>
          <a:xfrm>
            <a:off x="5734076" y="4002493"/>
            <a:ext cx="1524000" cy="3363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filename</a:t>
            </a:r>
            <a:endParaRPr lang="en-VI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84B9BC-5140-4133-9558-22EC67CA6EFB}"/>
              </a:ext>
            </a:extLst>
          </p:cNvPr>
          <p:cNvSpPr/>
          <p:nvPr/>
        </p:nvSpPr>
        <p:spPr>
          <a:xfrm>
            <a:off x="7466819" y="4007026"/>
            <a:ext cx="1524000" cy="336374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I" b="0" i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""</a:t>
            </a:r>
            <a:endParaRPr lang="en-VI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121CF8-3DFE-43B4-A02E-7827800BC385}"/>
              </a:ext>
            </a:extLst>
          </p:cNvPr>
          <p:cNvSpPr/>
          <p:nvPr/>
        </p:nvSpPr>
        <p:spPr>
          <a:xfrm>
            <a:off x="5734076" y="2971800"/>
            <a:ext cx="1524000" cy="3363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author</a:t>
            </a:r>
            <a:endParaRPr lang="en-VI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BDB626-A55B-4381-BE7D-2DEA44AA19B7}"/>
              </a:ext>
            </a:extLst>
          </p:cNvPr>
          <p:cNvSpPr/>
          <p:nvPr/>
        </p:nvSpPr>
        <p:spPr>
          <a:xfrm>
            <a:off x="7486676" y="3505200"/>
            <a:ext cx="1524000" cy="336374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I" b="0" i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 "" </a:t>
            </a:r>
            <a:endParaRPr lang="en-VI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35FC70-23A0-47D5-9FE2-DB7F6B199F1D}"/>
              </a:ext>
            </a:extLst>
          </p:cNvPr>
          <p:cNvSpPr/>
          <p:nvPr/>
        </p:nvSpPr>
        <p:spPr>
          <a:xfrm>
            <a:off x="7486676" y="2971800"/>
            <a:ext cx="1524000" cy="336374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I" b="0" i="0">
                <a:solidFill>
                  <a:srgbClr val="4D5156"/>
                </a:solidFill>
                <a:effectLst/>
                <a:latin typeface="Roboto" panose="02000000000000000000" pitchFamily="2" charset="0"/>
              </a:rPr>
              <a:t> "" </a:t>
            </a:r>
            <a:endParaRPr lang="en-VI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2E079D-4BFB-4BAE-9CC8-DA1DDB807346}"/>
              </a:ext>
            </a:extLst>
          </p:cNvPr>
          <p:cNvSpPr/>
          <p:nvPr/>
        </p:nvSpPr>
        <p:spPr>
          <a:xfrm>
            <a:off x="5734077" y="2438400"/>
            <a:ext cx="3256742" cy="3363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err="1">
                <a:solidFill>
                  <a:schemeClr val="tx1"/>
                </a:solidFill>
              </a:rPr>
              <a:t>PhotoPost</a:t>
            </a:r>
            <a:endParaRPr lang="en-VI" sz="2000" b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C181AD-7416-44DA-AC54-616D024DE107}"/>
              </a:ext>
            </a:extLst>
          </p:cNvPr>
          <p:cNvSpPr/>
          <p:nvPr/>
        </p:nvSpPr>
        <p:spPr>
          <a:xfrm>
            <a:off x="5753933" y="4535893"/>
            <a:ext cx="1524000" cy="3363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likes</a:t>
            </a:r>
            <a:endParaRPr lang="en-VI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72DFE0-682A-4A18-BADB-E8DC0A7B17CF}"/>
              </a:ext>
            </a:extLst>
          </p:cNvPr>
          <p:cNvSpPr/>
          <p:nvPr/>
        </p:nvSpPr>
        <p:spPr>
          <a:xfrm>
            <a:off x="7486676" y="4540426"/>
            <a:ext cx="1524000" cy="336374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0</a:t>
            </a:r>
            <a:endParaRPr lang="en-VI">
              <a:solidFill>
                <a:schemeClr val="tx1"/>
              </a:solidFill>
            </a:endParaRPr>
          </a:p>
        </p:txBody>
      </p:sp>
      <p:sp>
        <p:nvSpPr>
          <p:cNvPr id="32" name="Rounded Rectangular Callout 31">
            <a:extLst>
              <a:ext uri="{FF2B5EF4-FFF2-40B4-BE49-F238E27FC236}">
                <a16:creationId xmlns:a16="http://schemas.microsoft.com/office/drawing/2014/main" id="{69AED686-0B1E-004C-17F2-CFD727C735DD}"/>
              </a:ext>
            </a:extLst>
          </p:cNvPr>
          <p:cNvSpPr/>
          <p:nvPr/>
        </p:nvSpPr>
        <p:spPr>
          <a:xfrm>
            <a:off x="86774" y="4703459"/>
            <a:ext cx="1712683" cy="740378"/>
          </a:xfrm>
          <a:prstGeom prst="wedgeRoundRectCallout">
            <a:avLst/>
          </a:prstGeom>
          <a:solidFill>
            <a:srgbClr val="435765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This is my first post</a:t>
            </a: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DF307B-972F-20F9-75A5-F74450BD331E}"/>
              </a:ext>
            </a:extLst>
          </p:cNvPr>
          <p:cNvGrpSpPr/>
          <p:nvPr/>
        </p:nvGrpSpPr>
        <p:grpSpPr>
          <a:xfrm>
            <a:off x="9800520" y="4077962"/>
            <a:ext cx="1712683" cy="1713257"/>
            <a:chOff x="5138059" y="2103999"/>
            <a:chExt cx="1712683" cy="1713257"/>
          </a:xfrm>
        </p:grpSpPr>
        <p:sp>
          <p:nvSpPr>
            <p:cNvPr id="34" name="Rounded Rectangular Callout 33">
              <a:extLst>
                <a:ext uri="{FF2B5EF4-FFF2-40B4-BE49-F238E27FC236}">
                  <a16:creationId xmlns:a16="http://schemas.microsoft.com/office/drawing/2014/main" id="{B2C03995-C8D6-3827-4DED-0975CBF1C54B}"/>
                </a:ext>
              </a:extLst>
            </p:cNvPr>
            <p:cNvSpPr/>
            <p:nvPr/>
          </p:nvSpPr>
          <p:spPr>
            <a:xfrm>
              <a:off x="5138059" y="2103999"/>
              <a:ext cx="1712683" cy="1713257"/>
            </a:xfrm>
            <a:prstGeom prst="wedgeRoundRectCallout">
              <a:avLst/>
            </a:prstGeom>
            <a:solidFill>
              <a:srgbClr val="FCCA3A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b="0" i="0" dirty="0">
                  <a:solidFill>
                    <a:srgbClr val="435765"/>
                  </a:solidFill>
                  <a:effectLst/>
                  <a:latin typeface="Inter" panose="02000503000000020004" pitchFamily="2" charset="0"/>
                  <a:ea typeface="Inter" panose="02000503000000020004" pitchFamily="2" charset="0"/>
                </a:rPr>
                <a:t>   First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pic>
          <p:nvPicPr>
            <p:cNvPr id="37" name="Picture 36" descr="A picture containing dark&#10;&#10;Description automatically generated">
              <a:extLst>
                <a:ext uri="{FF2B5EF4-FFF2-40B4-BE49-F238E27FC236}">
                  <a16:creationId xmlns:a16="http://schemas.microsoft.com/office/drawing/2014/main" id="{C62C8933-2F18-9056-C019-09A766D73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08130" y="2133028"/>
              <a:ext cx="1172540" cy="1184384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6224F-9C28-C31D-D9B6-CE4EF05A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57326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FDF1-05CF-4636-B98F-EE2D0750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V4.0 – Class Structure</a:t>
            </a:r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5253A-3C41-4B2B-A7EE-308018FB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600200"/>
            <a:ext cx="3614880" cy="4119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EB36AE-8B5C-446D-AA07-BDECBE981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00200"/>
            <a:ext cx="3676271" cy="4664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D86BAB-4FC9-4802-AF32-7CE24172B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824" y="5257800"/>
            <a:ext cx="2195311" cy="1514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801893-7BDC-41B9-B14A-D13F5D660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966604"/>
            <a:ext cx="2242207" cy="1828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A96A9-C79A-2946-72B8-9E8E0BA7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7019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FDF1-05CF-4636-B98F-EE2D0750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V4.0 – Class Structure</a:t>
            </a:r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5253A-3C41-4B2B-A7EE-308018FB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600200"/>
            <a:ext cx="3614880" cy="4119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EB36AE-8B5C-446D-AA07-BDECBE981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00200"/>
            <a:ext cx="3676271" cy="4664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D86BAB-4FC9-4802-AF32-7CE24172B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824" y="5257800"/>
            <a:ext cx="2195311" cy="1514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801893-7BDC-41B9-B14A-D13F5D660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966604"/>
            <a:ext cx="2242207" cy="1828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F988A8-72B8-4A2D-8054-F504603505CD}"/>
              </a:ext>
            </a:extLst>
          </p:cNvPr>
          <p:cNvSpPr/>
          <p:nvPr/>
        </p:nvSpPr>
        <p:spPr>
          <a:xfrm>
            <a:off x="740638" y="2286000"/>
            <a:ext cx="2993161" cy="6858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A03FCE-B6CD-4924-BC84-D5FE0CD8D1F5}"/>
              </a:ext>
            </a:extLst>
          </p:cNvPr>
          <p:cNvSpPr/>
          <p:nvPr/>
        </p:nvSpPr>
        <p:spPr>
          <a:xfrm>
            <a:off x="6553201" y="2163421"/>
            <a:ext cx="2743200" cy="6858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63B6F6-CE73-4D49-B377-E9C61D2D7427}"/>
              </a:ext>
            </a:extLst>
          </p:cNvPr>
          <p:cNvSpPr/>
          <p:nvPr/>
        </p:nvSpPr>
        <p:spPr>
          <a:xfrm>
            <a:off x="752759" y="4623704"/>
            <a:ext cx="2523841" cy="3429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35622CF-0E80-440E-AF37-6B1474008595}"/>
              </a:ext>
            </a:extLst>
          </p:cNvPr>
          <p:cNvSpPr/>
          <p:nvPr/>
        </p:nvSpPr>
        <p:spPr>
          <a:xfrm>
            <a:off x="6553201" y="4945856"/>
            <a:ext cx="2523841" cy="3429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F51F93-A3C3-4405-AA3A-0138729A5930}"/>
              </a:ext>
            </a:extLst>
          </p:cNvPr>
          <p:cNvSpPr/>
          <p:nvPr/>
        </p:nvSpPr>
        <p:spPr>
          <a:xfrm>
            <a:off x="9436941" y="2971800"/>
            <a:ext cx="2272777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AU" sz="2000" b="1" dirty="0">
                <a:solidFill>
                  <a:srgbClr val="C00000"/>
                </a:solidFill>
                <a:latin typeface="Arial" charset="0"/>
              </a:rPr>
              <a:t>author</a:t>
            </a:r>
            <a:r>
              <a:rPr lang="en-AU" sz="2000" dirty="0">
                <a:solidFill>
                  <a:srgbClr val="00B050"/>
                </a:solidFill>
                <a:latin typeface="Arial" charset="0"/>
              </a:rPr>
              <a:t>: </a:t>
            </a:r>
            <a:br>
              <a:rPr lang="en-AU" sz="2000" dirty="0">
                <a:solidFill>
                  <a:srgbClr val="00B050"/>
                </a:solidFill>
                <a:latin typeface="Arial" charset="0"/>
              </a:rPr>
            </a:br>
            <a:r>
              <a:rPr lang="en-GB" sz="2000" dirty="0">
                <a:latin typeface="Arial" charset="0"/>
              </a:rPr>
              <a:t>code duplication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E03CA-C9FE-3A43-94F7-FD0AF4B2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324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FDF1-05CF-4636-B98F-EE2D0750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V4.0 – Class Structure</a:t>
            </a:r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5253A-3C41-4B2B-A7EE-308018FB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600200"/>
            <a:ext cx="3614880" cy="4119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EB36AE-8B5C-446D-AA07-BDECBE981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00200"/>
            <a:ext cx="3676271" cy="4664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D86BAB-4FC9-4802-AF32-7CE24172B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824" y="5257800"/>
            <a:ext cx="2195311" cy="1514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801893-7BDC-41B9-B14A-D13F5D660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966604"/>
            <a:ext cx="2242207" cy="1828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F988A8-72B8-4A2D-8054-F504603505CD}"/>
              </a:ext>
            </a:extLst>
          </p:cNvPr>
          <p:cNvSpPr/>
          <p:nvPr/>
        </p:nvSpPr>
        <p:spPr>
          <a:xfrm>
            <a:off x="784798" y="3596414"/>
            <a:ext cx="2993161" cy="6858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A03FCE-B6CD-4924-BC84-D5FE0CD8D1F5}"/>
              </a:ext>
            </a:extLst>
          </p:cNvPr>
          <p:cNvSpPr/>
          <p:nvPr/>
        </p:nvSpPr>
        <p:spPr>
          <a:xfrm>
            <a:off x="6443521" y="3998872"/>
            <a:ext cx="2743200" cy="6858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63B6F6-CE73-4D49-B377-E9C61D2D7427}"/>
              </a:ext>
            </a:extLst>
          </p:cNvPr>
          <p:cNvSpPr/>
          <p:nvPr/>
        </p:nvSpPr>
        <p:spPr>
          <a:xfrm>
            <a:off x="769441" y="5288756"/>
            <a:ext cx="2195311" cy="3429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35622CF-0E80-440E-AF37-6B1474008595}"/>
              </a:ext>
            </a:extLst>
          </p:cNvPr>
          <p:cNvSpPr/>
          <p:nvPr/>
        </p:nvSpPr>
        <p:spPr>
          <a:xfrm>
            <a:off x="6553201" y="5843353"/>
            <a:ext cx="1905000" cy="34290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F51F93-A3C3-4405-AA3A-0138729A5930}"/>
              </a:ext>
            </a:extLst>
          </p:cNvPr>
          <p:cNvSpPr/>
          <p:nvPr/>
        </p:nvSpPr>
        <p:spPr>
          <a:xfrm>
            <a:off x="9540947" y="2602597"/>
            <a:ext cx="2272777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AU" sz="2000" b="1">
                <a:solidFill>
                  <a:schemeClr val="tx2"/>
                </a:solidFill>
                <a:latin typeface="Arial" charset="0"/>
              </a:rPr>
              <a:t>likes</a:t>
            </a:r>
            <a:r>
              <a:rPr lang="en-AU" sz="2000">
                <a:solidFill>
                  <a:srgbClr val="00B050"/>
                </a:solidFill>
                <a:latin typeface="Arial" charset="0"/>
              </a:rPr>
              <a:t>: </a:t>
            </a:r>
            <a:br>
              <a:rPr lang="en-AU" sz="2000">
                <a:solidFill>
                  <a:srgbClr val="00B050"/>
                </a:solidFill>
                <a:latin typeface="Arial" charset="0"/>
              </a:rPr>
            </a:br>
            <a:r>
              <a:rPr lang="en-GB" sz="2000">
                <a:latin typeface="Arial" charset="0"/>
              </a:rPr>
              <a:t>code duplication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0AF7F-E06A-D781-8829-589BD137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433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67" y="598198"/>
            <a:ext cx="10515600" cy="860425"/>
          </a:xfrm>
        </p:spPr>
        <p:txBody>
          <a:bodyPr>
            <a:normAutofit fontScale="90000"/>
          </a:bodyPr>
          <a:lstStyle/>
          <a:p>
            <a:r>
              <a:rPr lang="en-US" dirty="0"/>
              <a:t>Social Network V4.0 – CRUD on TWO </a:t>
            </a:r>
            <a:r>
              <a:rPr lang="en-US" dirty="0" err="1"/>
              <a:t>ArrayLists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3D26AC-91C2-5086-90C4-4F9A6638EB13}"/>
              </a:ext>
            </a:extLst>
          </p:cNvPr>
          <p:cNvGrpSpPr/>
          <p:nvPr/>
        </p:nvGrpSpPr>
        <p:grpSpPr>
          <a:xfrm>
            <a:off x="838200" y="2046515"/>
            <a:ext cx="2481943" cy="2264228"/>
            <a:chOff x="2627086" y="1320801"/>
            <a:chExt cx="2481943" cy="226422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B6CC8AB-BA3C-355A-4CC8-DFAD3A64F895}"/>
                </a:ext>
              </a:extLst>
            </p:cNvPr>
            <p:cNvSpPr/>
            <p:nvPr/>
          </p:nvSpPr>
          <p:spPr>
            <a:xfrm>
              <a:off x="2627086" y="1320801"/>
              <a:ext cx="2481943" cy="2264228"/>
            </a:xfrm>
            <a:prstGeom prst="roundRect">
              <a:avLst/>
            </a:prstGeom>
            <a:solidFill>
              <a:srgbClr val="4357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19B851-A90B-F470-4E9A-0A3BF61F948B}"/>
                </a:ext>
              </a:extLst>
            </p:cNvPr>
            <p:cNvSpPr/>
            <p:nvPr/>
          </p:nvSpPr>
          <p:spPr>
            <a:xfrm>
              <a:off x="2815771" y="2050331"/>
              <a:ext cx="1204686" cy="496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messages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C7E5258-0CD3-FE09-CE39-C31E080E6B67}"/>
                </a:ext>
              </a:extLst>
            </p:cNvPr>
            <p:cNvSpPr/>
            <p:nvPr/>
          </p:nvSpPr>
          <p:spPr>
            <a:xfrm>
              <a:off x="2815771" y="2604530"/>
              <a:ext cx="1204686" cy="496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photos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C7984C-7AAB-1C13-2A84-F0F72DE2F5C6}"/>
                </a:ext>
              </a:extLst>
            </p:cNvPr>
            <p:cNvSpPr/>
            <p:nvPr/>
          </p:nvSpPr>
          <p:spPr>
            <a:xfrm>
              <a:off x="4209142" y="2048868"/>
              <a:ext cx="509815" cy="496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68A325-8A34-152D-8B92-4546F501CB15}"/>
                </a:ext>
              </a:extLst>
            </p:cNvPr>
            <p:cNvSpPr/>
            <p:nvPr/>
          </p:nvSpPr>
          <p:spPr>
            <a:xfrm>
              <a:off x="4209142" y="2609542"/>
              <a:ext cx="509815" cy="496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814F97E-914D-F508-8347-FF492344CD49}"/>
                </a:ext>
              </a:extLst>
            </p:cNvPr>
            <p:cNvSpPr txBox="1"/>
            <p:nvPr/>
          </p:nvSpPr>
          <p:spPr>
            <a:xfrm>
              <a:off x="2799267" y="1499437"/>
              <a:ext cx="1346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CCA3A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NewsFeed</a:t>
              </a:r>
              <a:endParaRPr lang="en-US" dirty="0">
                <a:solidFill>
                  <a:srgbClr val="FCCA3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4BA01C4-169D-895E-472B-A71245691AFC}"/>
              </a:ext>
            </a:extLst>
          </p:cNvPr>
          <p:cNvSpPr/>
          <p:nvPr/>
        </p:nvSpPr>
        <p:spPr>
          <a:xfrm>
            <a:off x="5515429" y="1625600"/>
            <a:ext cx="3396342" cy="784217"/>
          </a:xfrm>
          <a:prstGeom prst="roundRect">
            <a:avLst/>
          </a:prstGeom>
          <a:solidFill>
            <a:srgbClr val="4357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</a:rPr>
              <a:t>ArrayList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&lt;</a:t>
            </a: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</a:rPr>
              <a:t>MessagePost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&gt;</a:t>
            </a:r>
          </a:p>
        </p:txBody>
      </p: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3E0750F2-FD18-0F50-AECF-A4FF875AE51A}"/>
              </a:ext>
            </a:extLst>
          </p:cNvPr>
          <p:cNvCxnSpPr>
            <a:stCxn id="18" idx="3"/>
            <a:endCxn id="24" idx="1"/>
          </p:cNvCxnSpPr>
          <p:nvPr/>
        </p:nvCxnSpPr>
        <p:spPr>
          <a:xfrm flipV="1">
            <a:off x="2930071" y="2017709"/>
            <a:ext cx="2585358" cy="1005287"/>
          </a:xfrm>
          <a:prstGeom prst="curvedConnector3">
            <a:avLst>
              <a:gd name="adj1" fmla="val 33158"/>
            </a:avLst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32ADCBD-52A9-33C2-5555-DFCE5E7B5C89}"/>
              </a:ext>
            </a:extLst>
          </p:cNvPr>
          <p:cNvSpPr/>
          <p:nvPr/>
        </p:nvSpPr>
        <p:spPr>
          <a:xfrm>
            <a:off x="4771571" y="2789531"/>
            <a:ext cx="1487715" cy="528318"/>
          </a:xfrm>
          <a:prstGeom prst="roundRect">
            <a:avLst/>
          </a:prstGeom>
          <a:solidFill>
            <a:srgbClr val="4357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1400" dirty="0" err="1">
                <a:latin typeface="Inter" panose="02000503000000020004" pitchFamily="2" charset="0"/>
                <a:ea typeface="Inter" panose="02000503000000020004" pitchFamily="2" charset="0"/>
              </a:rPr>
              <a:t>MessagePost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7A051B2-6D9A-7837-AD04-551C790E2DF5}"/>
              </a:ext>
            </a:extLst>
          </p:cNvPr>
          <p:cNvSpPr/>
          <p:nvPr/>
        </p:nvSpPr>
        <p:spPr>
          <a:xfrm>
            <a:off x="6469742" y="2783259"/>
            <a:ext cx="1487715" cy="528318"/>
          </a:xfrm>
          <a:prstGeom prst="roundRect">
            <a:avLst/>
          </a:prstGeom>
          <a:solidFill>
            <a:srgbClr val="4357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1400" dirty="0" err="1">
                <a:latin typeface="Inter" panose="02000503000000020004" pitchFamily="2" charset="0"/>
                <a:ea typeface="Inter" panose="02000503000000020004" pitchFamily="2" charset="0"/>
              </a:rPr>
              <a:t>MessagePost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B4A17C0-9360-075A-EBD7-3B38D1DC2928}"/>
              </a:ext>
            </a:extLst>
          </p:cNvPr>
          <p:cNvSpPr/>
          <p:nvPr/>
        </p:nvSpPr>
        <p:spPr>
          <a:xfrm>
            <a:off x="8171541" y="2774582"/>
            <a:ext cx="1487715" cy="528318"/>
          </a:xfrm>
          <a:prstGeom prst="roundRect">
            <a:avLst/>
          </a:prstGeom>
          <a:solidFill>
            <a:srgbClr val="4357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1400" dirty="0" err="1">
                <a:latin typeface="Inter" panose="02000503000000020004" pitchFamily="2" charset="0"/>
                <a:ea typeface="Inter" panose="02000503000000020004" pitchFamily="2" charset="0"/>
              </a:rPr>
              <a:t>MessagePost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F78F7E3-3585-1829-B5BC-CB194AF19AEE}"/>
              </a:ext>
            </a:extLst>
          </p:cNvPr>
          <p:cNvSpPr/>
          <p:nvPr/>
        </p:nvSpPr>
        <p:spPr>
          <a:xfrm>
            <a:off x="9771744" y="2783259"/>
            <a:ext cx="1487715" cy="528318"/>
          </a:xfrm>
          <a:prstGeom prst="roundRect">
            <a:avLst/>
          </a:prstGeom>
          <a:solidFill>
            <a:srgbClr val="4357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1400" dirty="0" err="1">
                <a:latin typeface="Inter" panose="02000503000000020004" pitchFamily="2" charset="0"/>
                <a:ea typeface="Inter" panose="02000503000000020004" pitchFamily="2" charset="0"/>
              </a:rPr>
              <a:t>MessagePost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1A3BFCA9-CD2A-2932-7E49-11F1145535F2}"/>
              </a:ext>
            </a:extLst>
          </p:cNvPr>
          <p:cNvCxnSpPr>
            <a:stCxn id="24" idx="2"/>
            <a:endCxn id="31" idx="0"/>
          </p:cNvCxnSpPr>
          <p:nvPr/>
        </p:nvCxnSpPr>
        <p:spPr>
          <a:xfrm rot="5400000">
            <a:off x="6174658" y="1750589"/>
            <a:ext cx="379714" cy="1698171"/>
          </a:xfrm>
          <a:prstGeom prst="curvedConnector3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8C631519-F857-D54B-1971-A48BA8E9770B}"/>
              </a:ext>
            </a:extLst>
          </p:cNvPr>
          <p:cNvCxnSpPr>
            <a:cxnSpLocks/>
            <a:stCxn id="24" idx="2"/>
            <a:endCxn id="32" idx="0"/>
          </p:cNvCxnSpPr>
          <p:nvPr/>
        </p:nvCxnSpPr>
        <p:spPr>
          <a:xfrm rot="5400000">
            <a:off x="7026879" y="2596538"/>
            <a:ext cx="373442" cy="12700"/>
          </a:xfrm>
          <a:prstGeom prst="curvedConnector3">
            <a:avLst>
              <a:gd name="adj1" fmla="val 50000"/>
            </a:avLst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9C4802B2-536F-E7B5-AF18-1B9F375CF3BA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 rot="16200000" flipH="1">
            <a:off x="7882117" y="1741299"/>
            <a:ext cx="364765" cy="1701799"/>
          </a:xfrm>
          <a:prstGeom prst="curvedConnector3">
            <a:avLst>
              <a:gd name="adj1" fmla="val 50000"/>
            </a:avLst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A09C8F47-6A4E-865F-FC4D-1819B1F03BA1}"/>
              </a:ext>
            </a:extLst>
          </p:cNvPr>
          <p:cNvCxnSpPr>
            <a:cxnSpLocks/>
            <a:stCxn id="24" idx="2"/>
            <a:endCxn id="34" idx="0"/>
          </p:cNvCxnSpPr>
          <p:nvPr/>
        </p:nvCxnSpPr>
        <p:spPr>
          <a:xfrm rot="16200000" flipH="1">
            <a:off x="8677880" y="945537"/>
            <a:ext cx="373442" cy="3302002"/>
          </a:xfrm>
          <a:prstGeom prst="curvedConnector3">
            <a:avLst>
              <a:gd name="adj1" fmla="val 50000"/>
            </a:avLst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48342EF-0E37-2933-EE03-8419839DEF23}"/>
              </a:ext>
            </a:extLst>
          </p:cNvPr>
          <p:cNvSpPr/>
          <p:nvPr/>
        </p:nvSpPr>
        <p:spPr>
          <a:xfrm>
            <a:off x="5515429" y="3938195"/>
            <a:ext cx="3396342" cy="784217"/>
          </a:xfrm>
          <a:prstGeom prst="roundRect">
            <a:avLst/>
          </a:prstGeom>
          <a:solidFill>
            <a:srgbClr val="FCCA3A"/>
          </a:solidFill>
          <a:ln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ArrayList</a:t>
            </a: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&lt;</a:t>
            </a:r>
            <a:r>
              <a:rPr lang="en-US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PhotoPost</a:t>
            </a: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&gt;</a:t>
            </a:r>
          </a:p>
        </p:txBody>
      </p: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8435FD7C-5E6E-4CAB-C5B6-AD669E5184C8}"/>
              </a:ext>
            </a:extLst>
          </p:cNvPr>
          <p:cNvCxnSpPr>
            <a:cxnSpLocks/>
            <a:stCxn id="19" idx="3"/>
            <a:endCxn id="46" idx="1"/>
          </p:cNvCxnSpPr>
          <p:nvPr/>
        </p:nvCxnSpPr>
        <p:spPr>
          <a:xfrm>
            <a:off x="2930071" y="3583670"/>
            <a:ext cx="2585358" cy="746634"/>
          </a:xfrm>
          <a:prstGeom prst="curvedConnector3">
            <a:avLst>
              <a:gd name="adj1" fmla="val 50000"/>
            </a:avLst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BB5F0AE-B47C-944A-766F-136E1DDB6181}"/>
              </a:ext>
            </a:extLst>
          </p:cNvPr>
          <p:cNvSpPr/>
          <p:nvPr/>
        </p:nvSpPr>
        <p:spPr>
          <a:xfrm>
            <a:off x="4222750" y="5088687"/>
            <a:ext cx="1487715" cy="528318"/>
          </a:xfrm>
          <a:prstGeom prst="roundRect">
            <a:avLst/>
          </a:prstGeom>
          <a:solidFill>
            <a:srgbClr val="FCC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PhotoPost</a:t>
            </a:r>
            <a:endParaRPr lang="en-US" sz="14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EFA928B-067C-C110-8F21-14B9CADC6279}"/>
              </a:ext>
            </a:extLst>
          </p:cNvPr>
          <p:cNvSpPr/>
          <p:nvPr/>
        </p:nvSpPr>
        <p:spPr>
          <a:xfrm>
            <a:off x="6017984" y="5073434"/>
            <a:ext cx="1487715" cy="528318"/>
          </a:xfrm>
          <a:prstGeom prst="roundRect">
            <a:avLst/>
          </a:prstGeom>
          <a:solidFill>
            <a:srgbClr val="FCC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PhotoPost</a:t>
            </a:r>
            <a:endParaRPr lang="en-US" sz="14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46D2E14-78BC-2F9A-9892-7B94BFAC818D}"/>
              </a:ext>
            </a:extLst>
          </p:cNvPr>
          <p:cNvSpPr/>
          <p:nvPr/>
        </p:nvSpPr>
        <p:spPr>
          <a:xfrm>
            <a:off x="7813218" y="5093548"/>
            <a:ext cx="1487715" cy="528318"/>
          </a:xfrm>
          <a:prstGeom prst="roundRect">
            <a:avLst/>
          </a:prstGeom>
          <a:solidFill>
            <a:srgbClr val="FCC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PhotoPost</a:t>
            </a:r>
            <a:endParaRPr lang="en-US" sz="14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0494AA7-B01F-7DD6-573A-5F2567AB08D7}"/>
              </a:ext>
            </a:extLst>
          </p:cNvPr>
          <p:cNvSpPr/>
          <p:nvPr/>
        </p:nvSpPr>
        <p:spPr>
          <a:xfrm>
            <a:off x="9608452" y="5114051"/>
            <a:ext cx="1487715" cy="528318"/>
          </a:xfrm>
          <a:prstGeom prst="roundRect">
            <a:avLst/>
          </a:prstGeom>
          <a:solidFill>
            <a:srgbClr val="FCC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PhotoPost</a:t>
            </a:r>
            <a:endParaRPr lang="en-US" sz="14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B354BC3C-AC1F-49EC-B6A6-A4415A5F41D8}"/>
              </a:ext>
            </a:extLst>
          </p:cNvPr>
          <p:cNvCxnSpPr>
            <a:stCxn id="46" idx="2"/>
            <a:endCxn id="51" idx="0"/>
          </p:cNvCxnSpPr>
          <p:nvPr/>
        </p:nvCxnSpPr>
        <p:spPr>
          <a:xfrm rot="5400000">
            <a:off x="5906967" y="3782053"/>
            <a:ext cx="366275" cy="2246992"/>
          </a:xfrm>
          <a:prstGeom prst="curvedConnector3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07A0E139-E923-8B58-21EB-C4C46177BABA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 rot="5400000">
            <a:off x="6812210" y="4672044"/>
            <a:ext cx="351022" cy="451758"/>
          </a:xfrm>
          <a:prstGeom prst="curvedConnector3">
            <a:avLst>
              <a:gd name="adj1" fmla="val 50000"/>
            </a:avLst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urved Connector 59">
            <a:extLst>
              <a:ext uri="{FF2B5EF4-FFF2-40B4-BE49-F238E27FC236}">
                <a16:creationId xmlns:a16="http://schemas.microsoft.com/office/drawing/2014/main" id="{A9A5E8E8-83A5-B42A-2B15-527C1EDE415A}"/>
              </a:ext>
            </a:extLst>
          </p:cNvPr>
          <p:cNvCxnSpPr>
            <a:cxnSpLocks/>
            <a:stCxn id="46" idx="2"/>
            <a:endCxn id="53" idx="0"/>
          </p:cNvCxnSpPr>
          <p:nvPr/>
        </p:nvCxnSpPr>
        <p:spPr>
          <a:xfrm rot="16200000" flipH="1">
            <a:off x="7699770" y="4236242"/>
            <a:ext cx="371136" cy="1343476"/>
          </a:xfrm>
          <a:prstGeom prst="curvedConnector3">
            <a:avLst>
              <a:gd name="adj1" fmla="val 50000"/>
            </a:avLst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2BE2EA6D-8848-A5B1-DB26-96834A0CF88C}"/>
              </a:ext>
            </a:extLst>
          </p:cNvPr>
          <p:cNvCxnSpPr>
            <a:cxnSpLocks/>
            <a:stCxn id="46" idx="2"/>
            <a:endCxn id="54" idx="0"/>
          </p:cNvCxnSpPr>
          <p:nvPr/>
        </p:nvCxnSpPr>
        <p:spPr>
          <a:xfrm rot="16200000" flipH="1">
            <a:off x="8587136" y="3348876"/>
            <a:ext cx="391639" cy="3138710"/>
          </a:xfrm>
          <a:prstGeom prst="curvedConnector3">
            <a:avLst>
              <a:gd name="adj1" fmla="val 50000"/>
            </a:avLst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9AA7CF-23E6-D77D-9400-969F4830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899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  <p:bldP spid="32" grpId="0" animBg="1"/>
      <p:bldP spid="33" grpId="0" animBg="1"/>
      <p:bldP spid="34" grpId="0" animBg="1"/>
      <p:bldP spid="46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V3.0 versus V4.0 (</a:t>
            </a:r>
            <a:r>
              <a:rPr lang="en-GB" err="1"/>
              <a:t>NewsFeed</a:t>
            </a:r>
            <a:r>
              <a:rPr lang="en-GB"/>
              <a:t>)</a:t>
            </a:r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7A87B-56CE-48B2-8F02-999AC2EAA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15" y="2286000"/>
            <a:ext cx="4762707" cy="3639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562F810-BFB8-4CCC-BA44-B5FC8F23912E}"/>
              </a:ext>
            </a:extLst>
          </p:cNvPr>
          <p:cNvSpPr/>
          <p:nvPr/>
        </p:nvSpPr>
        <p:spPr>
          <a:xfrm>
            <a:off x="3886200" y="2101334"/>
            <a:ext cx="12059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sz="2000" b="1">
                <a:solidFill>
                  <a:schemeClr val="tx2"/>
                </a:solidFill>
                <a:latin typeface="Arial" charset="0"/>
              </a:rPr>
              <a:t>V3.0</a:t>
            </a:r>
            <a:endParaRPr lang="en-GB" sz="2000">
              <a:latin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AD935-1604-4B2C-831F-F3AB8BED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83989"/>
            <a:ext cx="4762706" cy="5597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BE20261-065C-44EB-8B88-D7C836BE3CAC}"/>
              </a:ext>
            </a:extLst>
          </p:cNvPr>
          <p:cNvSpPr/>
          <p:nvPr/>
        </p:nvSpPr>
        <p:spPr>
          <a:xfrm>
            <a:off x="10511984" y="1056373"/>
            <a:ext cx="12059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sz="2000" b="1">
                <a:solidFill>
                  <a:schemeClr val="tx2"/>
                </a:solidFill>
                <a:latin typeface="Arial" charset="0"/>
              </a:rPr>
              <a:t>V4.0</a:t>
            </a:r>
            <a:endParaRPr lang="en-GB" sz="2000">
              <a:latin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EA371-22A0-E457-BB74-C660D463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29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E06F23D-30D0-4129-9DCD-0AB33489C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83989"/>
            <a:ext cx="4762706" cy="5597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V3.0 versus V4.0 (</a:t>
            </a:r>
            <a:r>
              <a:rPr lang="en-GB" err="1"/>
              <a:t>NewsFeed</a:t>
            </a:r>
            <a:r>
              <a:rPr lang="en-GB"/>
              <a:t>)</a:t>
            </a:r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7A87B-56CE-48B2-8F02-999AC2EAA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15" y="2286000"/>
            <a:ext cx="4762707" cy="3639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562F810-BFB8-4CCC-BA44-B5FC8F23912E}"/>
              </a:ext>
            </a:extLst>
          </p:cNvPr>
          <p:cNvSpPr/>
          <p:nvPr/>
        </p:nvSpPr>
        <p:spPr>
          <a:xfrm>
            <a:off x="3886200" y="2101334"/>
            <a:ext cx="12059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sz="2000" b="1">
                <a:solidFill>
                  <a:schemeClr val="tx2"/>
                </a:solidFill>
                <a:latin typeface="Arial" charset="0"/>
              </a:rPr>
              <a:t>V3.0</a:t>
            </a:r>
            <a:endParaRPr lang="en-GB" sz="2000"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E20261-065C-44EB-8B88-D7C836BE3CAC}"/>
              </a:ext>
            </a:extLst>
          </p:cNvPr>
          <p:cNvSpPr/>
          <p:nvPr/>
        </p:nvSpPr>
        <p:spPr>
          <a:xfrm>
            <a:off x="10511984" y="1056373"/>
            <a:ext cx="12059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sz="2000" b="1">
                <a:solidFill>
                  <a:schemeClr val="tx2"/>
                </a:solidFill>
                <a:latin typeface="Arial" charset="0"/>
              </a:rPr>
              <a:t>V4.0</a:t>
            </a:r>
            <a:endParaRPr lang="en-GB" sz="2000">
              <a:latin typeface="Arial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43E6AA-3163-4BC4-A925-EB55B0F821AC}"/>
              </a:ext>
            </a:extLst>
          </p:cNvPr>
          <p:cNvSpPr/>
          <p:nvPr/>
        </p:nvSpPr>
        <p:spPr>
          <a:xfrm>
            <a:off x="733210" y="3505200"/>
            <a:ext cx="3838790" cy="3048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4A3DFB-2CDE-4513-9F84-7956D55021B6}"/>
              </a:ext>
            </a:extLst>
          </p:cNvPr>
          <p:cNvSpPr/>
          <p:nvPr/>
        </p:nvSpPr>
        <p:spPr>
          <a:xfrm>
            <a:off x="7286410" y="2971800"/>
            <a:ext cx="3207989" cy="609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4B735F-F197-4BE1-9A49-22321650E582}"/>
              </a:ext>
            </a:extLst>
          </p:cNvPr>
          <p:cNvSpPr/>
          <p:nvPr/>
        </p:nvSpPr>
        <p:spPr>
          <a:xfrm>
            <a:off x="733210" y="5562600"/>
            <a:ext cx="3838790" cy="3048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340B6B-D5E6-4CB5-BFBB-6C15719D0AA0}"/>
              </a:ext>
            </a:extLst>
          </p:cNvPr>
          <p:cNvSpPr/>
          <p:nvPr/>
        </p:nvSpPr>
        <p:spPr>
          <a:xfrm>
            <a:off x="7286410" y="6172200"/>
            <a:ext cx="3838790" cy="609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2065A4-17D9-4DB0-A0DD-597C9DC2E762}"/>
              </a:ext>
            </a:extLst>
          </p:cNvPr>
          <p:cNvSpPr/>
          <p:nvPr/>
        </p:nvSpPr>
        <p:spPr>
          <a:xfrm>
            <a:off x="152400" y="6110093"/>
            <a:ext cx="6409388" cy="5909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>
                <a:solidFill>
                  <a:schemeClr val="tx2"/>
                </a:solidFill>
                <a:latin typeface="Arial" charset="0"/>
              </a:rPr>
              <a:t>To handle the two </a:t>
            </a:r>
            <a:r>
              <a:rPr lang="en-GB" err="1">
                <a:solidFill>
                  <a:schemeClr val="tx2"/>
                </a:solidFill>
                <a:latin typeface="Arial" charset="0"/>
              </a:rPr>
              <a:t>ArrayLists</a:t>
            </a:r>
            <a:r>
              <a:rPr lang="en-GB">
                <a:solidFill>
                  <a:schemeClr val="tx2"/>
                </a:solidFill>
                <a:latin typeface="Arial" charset="0"/>
              </a:rPr>
              <a:t>, our </a:t>
            </a:r>
            <a:r>
              <a:rPr lang="en-GB" err="1">
                <a:solidFill>
                  <a:schemeClr val="tx2"/>
                </a:solidFill>
                <a:latin typeface="Arial" charset="0"/>
              </a:rPr>
              <a:t>NewsFeed</a:t>
            </a:r>
            <a:r>
              <a:rPr lang="en-GB">
                <a:solidFill>
                  <a:schemeClr val="tx2"/>
                </a:solidFill>
                <a:latin typeface="Arial" charset="0"/>
              </a:rPr>
              <a:t> methods have grown significantly e.g. delete now has two methods!</a:t>
            </a:r>
            <a:endParaRPr lang="en-GB">
              <a:latin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7B678-9B89-1CBE-53C8-10C5BE2F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193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V3.0 versus V4.0 (Driver)</a:t>
            </a:r>
            <a:endParaRPr lang="en-V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11666-DE3E-4107-B412-5AEA159CB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244334"/>
            <a:ext cx="3767644" cy="3248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562F810-BFB8-4CCC-BA44-B5FC8F23912E}"/>
              </a:ext>
            </a:extLst>
          </p:cNvPr>
          <p:cNvSpPr/>
          <p:nvPr/>
        </p:nvSpPr>
        <p:spPr>
          <a:xfrm>
            <a:off x="1463747" y="2765236"/>
            <a:ext cx="12059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sz="2000" b="1">
                <a:solidFill>
                  <a:schemeClr val="tx2"/>
                </a:solidFill>
                <a:latin typeface="Arial" charset="0"/>
              </a:rPr>
              <a:t>V3.0</a:t>
            </a:r>
            <a:endParaRPr lang="en-GB" sz="2000">
              <a:latin typeface="Arial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28EA09-02AD-4A6D-A444-728E5C1F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226" y="1572877"/>
            <a:ext cx="2258335" cy="249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3532A5-2B3C-469D-9999-3169BBA8F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87" y="1667625"/>
            <a:ext cx="3992213" cy="4885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8A94AA-8544-44EE-BF8A-3D691A9F3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523" y="1267121"/>
            <a:ext cx="2343477" cy="3696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BE20261-065C-44EB-8B88-D7C836BE3CAC}"/>
              </a:ext>
            </a:extLst>
          </p:cNvPr>
          <p:cNvSpPr/>
          <p:nvPr/>
        </p:nvSpPr>
        <p:spPr>
          <a:xfrm>
            <a:off x="8172123" y="1519854"/>
            <a:ext cx="12059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sz="2000" b="1" dirty="0">
                <a:solidFill>
                  <a:schemeClr val="tx2"/>
                </a:solidFill>
                <a:latin typeface="Arial" charset="0"/>
              </a:rPr>
              <a:t>V4.0</a:t>
            </a:r>
            <a:endParaRPr lang="en-GB" sz="2000" dirty="0">
              <a:latin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09085-D611-0880-324E-77EC94F5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1899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45AC921-0988-4F40-8D76-11F53F0CD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87" y="1667625"/>
            <a:ext cx="3992213" cy="4885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A24182F-5F94-4DE4-B9D8-0E449F35C207}"/>
              </a:ext>
            </a:extLst>
          </p:cNvPr>
          <p:cNvSpPr/>
          <p:nvPr/>
        </p:nvSpPr>
        <p:spPr>
          <a:xfrm>
            <a:off x="8172123" y="1519854"/>
            <a:ext cx="12059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sz="2000" b="1">
                <a:solidFill>
                  <a:schemeClr val="tx2"/>
                </a:solidFill>
                <a:latin typeface="Arial" charset="0"/>
              </a:rPr>
              <a:t>V4.0</a:t>
            </a:r>
            <a:endParaRPr lang="en-GB" sz="2000"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777B7-1D3C-4AA2-91B0-A5455C39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Social Network V3.0 versus V4.0 (Driver)</a:t>
            </a:r>
            <a:endParaRPr lang="en-V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11666-DE3E-4107-B412-5AEA159CB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44334"/>
            <a:ext cx="3767644" cy="3248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562F810-BFB8-4CCC-BA44-B5FC8F23912E}"/>
              </a:ext>
            </a:extLst>
          </p:cNvPr>
          <p:cNvSpPr/>
          <p:nvPr/>
        </p:nvSpPr>
        <p:spPr>
          <a:xfrm>
            <a:off x="1463747" y="2765236"/>
            <a:ext cx="120597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sz="2000" b="1">
                <a:solidFill>
                  <a:schemeClr val="tx2"/>
                </a:solidFill>
                <a:latin typeface="Arial" charset="0"/>
              </a:rPr>
              <a:t>V3.0</a:t>
            </a:r>
            <a:endParaRPr lang="en-GB" sz="2000">
              <a:latin typeface="Arial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28EA09-02AD-4A6D-A444-728E5C1F9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226" y="1572877"/>
            <a:ext cx="2258335" cy="2496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8A94AA-8544-44EE-BF8A-3D691A9F3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523" y="1267121"/>
            <a:ext cx="2343477" cy="3696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76FFA1-9FAE-46C6-894F-B5D326B47E69}"/>
              </a:ext>
            </a:extLst>
          </p:cNvPr>
          <p:cNvSpPr/>
          <p:nvPr/>
        </p:nvSpPr>
        <p:spPr>
          <a:xfrm>
            <a:off x="6671926" y="3113507"/>
            <a:ext cx="2706174" cy="838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A9F7FA-1F68-4988-A686-BC1F986F9C31}"/>
              </a:ext>
            </a:extLst>
          </p:cNvPr>
          <p:cNvSpPr/>
          <p:nvPr/>
        </p:nvSpPr>
        <p:spPr>
          <a:xfrm>
            <a:off x="6694110" y="3934122"/>
            <a:ext cx="2706174" cy="838200"/>
          </a:xfrm>
          <a:prstGeom prst="round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0C9E4D-B697-4367-BDBE-F5847D37D4AD}"/>
              </a:ext>
            </a:extLst>
          </p:cNvPr>
          <p:cNvSpPr/>
          <p:nvPr/>
        </p:nvSpPr>
        <p:spPr>
          <a:xfrm>
            <a:off x="713648" y="4572000"/>
            <a:ext cx="2706174" cy="28655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60CAE-4F3D-49ED-B0C1-83E70F9D4C61}"/>
              </a:ext>
            </a:extLst>
          </p:cNvPr>
          <p:cNvSpPr/>
          <p:nvPr/>
        </p:nvSpPr>
        <p:spPr>
          <a:xfrm>
            <a:off x="3893050" y="4376490"/>
            <a:ext cx="2527929" cy="13388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>
                <a:solidFill>
                  <a:schemeClr val="tx2"/>
                </a:solidFill>
                <a:latin typeface="Arial" charset="0"/>
              </a:rPr>
              <a:t>To handle the two </a:t>
            </a:r>
            <a:r>
              <a:rPr lang="en-GB" err="1">
                <a:solidFill>
                  <a:schemeClr val="tx2"/>
                </a:solidFill>
                <a:latin typeface="Arial" charset="0"/>
              </a:rPr>
              <a:t>ArrayLists</a:t>
            </a:r>
            <a:r>
              <a:rPr lang="en-GB">
                <a:solidFill>
                  <a:schemeClr val="tx2"/>
                </a:solidFill>
                <a:latin typeface="Arial" charset="0"/>
              </a:rPr>
              <a:t>, we have added new Driver methods and new options on the menu</a:t>
            </a:r>
            <a:endParaRPr lang="en-GB">
              <a:latin typeface="Arial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D60BCA-2CDE-44AE-A49E-8A22BF261220}"/>
              </a:ext>
            </a:extLst>
          </p:cNvPr>
          <p:cNvSpPr/>
          <p:nvPr/>
        </p:nvSpPr>
        <p:spPr>
          <a:xfrm>
            <a:off x="713648" y="5127590"/>
            <a:ext cx="2706174" cy="51121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10A23-2A0D-AD63-3C68-6B0C865B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4060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A832-8DF0-4882-A662-DD7C687A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Shop Network V4.0 – </a:t>
            </a:r>
            <a:r>
              <a:rPr lang="en-GB" err="1"/>
              <a:t>NewsFeed</a:t>
            </a:r>
            <a:r>
              <a:rPr lang="en-GB"/>
              <a:t> – show() method</a:t>
            </a:r>
            <a:endParaRPr lang="en-VI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0CCDC-3E45-46AA-BA7D-F7910CCBE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52985"/>
            <a:ext cx="9399181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show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 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MessagePost messagePost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messagePosts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str +=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messagePosts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.indexOf(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": "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.display() 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PhotoPost photoPost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photoPosts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str +=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photoPosts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.indexOf(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photoPost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": "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photoPost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.display() 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(str.isEmpty()){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"No Posts"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C9276E4-43EB-4B47-BFC3-DA7BCC9C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632" y="4876800"/>
            <a:ext cx="5450456" cy="147732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NewsFeed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ArrayList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messagePosts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ArrayList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PhotoPost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photoPosts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endParaRPr kumimoji="0" lang="en-VI" altLang="en-V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DF44E-C513-6159-7B30-C95F92C7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2910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A832-8DF0-4882-A662-DD7C687A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Shop Network V4.0 – </a:t>
            </a:r>
            <a:r>
              <a:rPr lang="en-GB" err="1"/>
              <a:t>NewsFeed</a:t>
            </a:r>
            <a:r>
              <a:rPr lang="en-GB"/>
              <a:t> – show() method</a:t>
            </a:r>
            <a:endParaRPr lang="en-VI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0CCDC-3E45-46AA-BA7D-F7910CCBE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52985"/>
            <a:ext cx="8118761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show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 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MessagePost messagePost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messagePosts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str +=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messagePosts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.indexOf(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": "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.display() 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PhotoPost photoPost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photoPosts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str +=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photoPosts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.indexOf(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photoPost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": "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photoPost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.display() +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(str.isEmpty()){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"No Posts"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C9276E4-43EB-4B47-BFC3-DA7BCC9C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632" y="4876800"/>
            <a:ext cx="4790735" cy="147732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NewsFeed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ArrayList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messagePosts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ArrayList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PhotoPost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photoPosts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endParaRPr kumimoji="0" lang="en-VI" altLang="en-V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E36559EF-882C-4607-9689-49D1D0F06215}"/>
              </a:ext>
            </a:extLst>
          </p:cNvPr>
          <p:cNvSpPr/>
          <p:nvPr/>
        </p:nvSpPr>
        <p:spPr>
          <a:xfrm>
            <a:off x="9582149" y="2697162"/>
            <a:ext cx="2000250" cy="3886200"/>
          </a:xfrm>
          <a:prstGeom prst="frame">
            <a:avLst>
              <a:gd name="adj1" fmla="val 363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21BC4-9DE3-44B9-9921-9625ECF05735}"/>
              </a:ext>
            </a:extLst>
          </p:cNvPr>
          <p:cNvSpPr/>
          <p:nvPr/>
        </p:nvSpPr>
        <p:spPr>
          <a:xfrm>
            <a:off x="8839200" y="1279454"/>
            <a:ext cx="3276600" cy="13388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GB" b="1">
                <a:solidFill>
                  <a:schemeClr val="tx2"/>
                </a:solidFill>
                <a:latin typeface="Arial" charset="0"/>
              </a:rPr>
              <a:t>Problem: </a:t>
            </a:r>
            <a:r>
              <a:rPr lang="en-GB">
                <a:solidFill>
                  <a:schemeClr val="tx2"/>
                </a:solidFill>
                <a:latin typeface="Arial" charset="0"/>
              </a:rPr>
              <a:t>The posts are not displayed in the order they were added, all the messages are displayed first, followed by the photos. </a:t>
            </a:r>
            <a:endParaRPr lang="en-GB">
              <a:latin typeface="Arial" charset="0"/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69AED686-0B1E-004C-17F2-CFD727C735DD}"/>
              </a:ext>
            </a:extLst>
          </p:cNvPr>
          <p:cNvSpPr/>
          <p:nvPr/>
        </p:nvSpPr>
        <p:spPr>
          <a:xfrm>
            <a:off x="9725933" y="2929156"/>
            <a:ext cx="1331928" cy="499844"/>
          </a:xfrm>
          <a:prstGeom prst="wedgeRoundRectCallout">
            <a:avLst/>
          </a:prstGeom>
          <a:solidFill>
            <a:srgbClr val="435765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This is my first post</a:t>
            </a: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DF307B-972F-20F9-75A5-F74450BD331E}"/>
              </a:ext>
            </a:extLst>
          </p:cNvPr>
          <p:cNvGrpSpPr/>
          <p:nvPr/>
        </p:nvGrpSpPr>
        <p:grpSpPr>
          <a:xfrm>
            <a:off x="9802213" y="5588876"/>
            <a:ext cx="1179368" cy="587978"/>
            <a:chOff x="5138059" y="2103999"/>
            <a:chExt cx="1712683" cy="1713257"/>
          </a:xfrm>
        </p:grpSpPr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B2C03995-C8D6-3827-4DED-0975CBF1C54B}"/>
                </a:ext>
              </a:extLst>
            </p:cNvPr>
            <p:cNvSpPr/>
            <p:nvPr/>
          </p:nvSpPr>
          <p:spPr>
            <a:xfrm>
              <a:off x="5138059" y="2103999"/>
              <a:ext cx="1712683" cy="1713257"/>
            </a:xfrm>
            <a:prstGeom prst="wedgeRoundRectCallout">
              <a:avLst/>
            </a:prstGeom>
            <a:solidFill>
              <a:srgbClr val="FCCA3A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b="0" i="0" dirty="0">
                  <a:solidFill>
                    <a:srgbClr val="435765"/>
                  </a:solidFill>
                  <a:effectLst/>
                  <a:latin typeface="Inter" panose="02000503000000020004" pitchFamily="2" charset="0"/>
                  <a:ea typeface="Inter" panose="02000503000000020004" pitchFamily="2" charset="0"/>
                </a:rPr>
                <a:t>Second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pic>
          <p:nvPicPr>
            <p:cNvPr id="16" name="Picture 15" descr="A picture containing dark&#10;&#10;Description automatically generated">
              <a:extLst>
                <a:ext uri="{FF2B5EF4-FFF2-40B4-BE49-F238E27FC236}">
                  <a16:creationId xmlns:a16="http://schemas.microsoft.com/office/drawing/2014/main" id="{C62C8933-2F18-9056-C019-09A766D73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8130" y="2133028"/>
              <a:ext cx="1172540" cy="1184384"/>
            </a:xfrm>
            <a:prstGeom prst="rect">
              <a:avLst/>
            </a:prstGeom>
          </p:spPr>
        </p:pic>
      </p:grp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B2C03995-C8D6-3827-4DED-0975CBF1C54B}"/>
              </a:ext>
            </a:extLst>
          </p:cNvPr>
          <p:cNvSpPr/>
          <p:nvPr/>
        </p:nvSpPr>
        <p:spPr>
          <a:xfrm>
            <a:off x="9725933" y="4582811"/>
            <a:ext cx="1179368" cy="587978"/>
          </a:xfrm>
          <a:prstGeom prst="wedgeRoundRectCallout">
            <a:avLst/>
          </a:prstGeom>
          <a:solidFill>
            <a:srgbClr val="FCCA3A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435765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First Post</a:t>
            </a: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pic>
        <p:nvPicPr>
          <p:cNvPr id="24" name="Picture 23" descr="A picture containing dark&#10;&#10;Description automatically generated">
            <a:extLst>
              <a:ext uri="{FF2B5EF4-FFF2-40B4-BE49-F238E27FC236}">
                <a16:creationId xmlns:a16="http://schemas.microsoft.com/office/drawing/2014/main" id="{C62C8933-2F18-9056-C019-09A766D73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06" y="4632005"/>
            <a:ext cx="807421" cy="406472"/>
          </a:xfrm>
          <a:prstGeom prst="rect">
            <a:avLst/>
          </a:prstGeom>
        </p:spPr>
      </p:pic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69AED686-0B1E-004C-17F2-CFD727C735DD}"/>
              </a:ext>
            </a:extLst>
          </p:cNvPr>
          <p:cNvSpPr/>
          <p:nvPr/>
        </p:nvSpPr>
        <p:spPr>
          <a:xfrm>
            <a:off x="9725932" y="3478194"/>
            <a:ext cx="1331928" cy="499844"/>
          </a:xfrm>
          <a:prstGeom prst="wedgeRoundRectCallout">
            <a:avLst/>
          </a:prstGeom>
          <a:solidFill>
            <a:srgbClr val="435765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This is my 2nd post</a:t>
            </a: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69AED686-0B1E-004C-17F2-CFD727C735DD}"/>
              </a:ext>
            </a:extLst>
          </p:cNvPr>
          <p:cNvSpPr/>
          <p:nvPr/>
        </p:nvSpPr>
        <p:spPr>
          <a:xfrm>
            <a:off x="9725932" y="4027232"/>
            <a:ext cx="1331928" cy="499844"/>
          </a:xfrm>
          <a:prstGeom prst="wedgeRoundRectCallout">
            <a:avLst/>
          </a:prstGeom>
          <a:solidFill>
            <a:srgbClr val="435765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This is my 3rd post</a:t>
            </a: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7421-4637-396D-4378-57B32CDE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599" y="6723127"/>
            <a:ext cx="284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4089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1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Critique of Social Network V4.0</a:t>
            </a:r>
          </a:p>
        </p:txBody>
      </p:sp>
      <p:sp>
        <p:nvSpPr>
          <p:cNvPr id="176132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Code duplication:</a:t>
            </a:r>
          </a:p>
          <a:p>
            <a:pPr lvl="1" eaLnBrk="1" hangingPunct="1">
              <a:defRPr/>
            </a:pPr>
            <a:r>
              <a:rPr lang="en-GB" dirty="0" err="1">
                <a:solidFill>
                  <a:srgbClr val="FF0000"/>
                </a:solidFill>
                <a:ea typeface="+mn-ea"/>
              </a:rPr>
              <a:t>MessagePost</a:t>
            </a:r>
            <a:r>
              <a:rPr lang="en-GB" dirty="0">
                <a:ea typeface="+mn-ea"/>
              </a:rPr>
              <a:t> and </a:t>
            </a:r>
            <a:r>
              <a:rPr lang="en-GB" dirty="0" err="1">
                <a:solidFill>
                  <a:srgbClr val="00B050"/>
                </a:solidFill>
                <a:ea typeface="+mn-ea"/>
              </a:rPr>
              <a:t>PhotoPost</a:t>
            </a:r>
            <a:r>
              <a:rPr lang="en-GB" dirty="0">
                <a:ea typeface="+mn-ea"/>
              </a:rPr>
              <a:t> classes very similar (large parts are identical)</a:t>
            </a:r>
          </a:p>
          <a:p>
            <a:pPr lvl="1" eaLnBrk="1" hangingPunct="1">
              <a:defRPr/>
            </a:pPr>
            <a:r>
              <a:rPr lang="en-GB" dirty="0">
                <a:ea typeface="+mn-ea"/>
              </a:rPr>
              <a:t>makes maintenance difficult/more work</a:t>
            </a:r>
          </a:p>
          <a:p>
            <a:pPr lvl="1" eaLnBrk="1" hangingPunct="1">
              <a:defRPr/>
            </a:pPr>
            <a:r>
              <a:rPr lang="en-GB" dirty="0">
                <a:ea typeface="+mn-ea"/>
              </a:rPr>
              <a:t>introduces danger of bugs through incorrect maintenance</a:t>
            </a:r>
          </a:p>
          <a:p>
            <a:pPr marL="457200" lvl="1" indent="0">
              <a:buNone/>
              <a:defRPr/>
            </a:pPr>
            <a:endParaRPr lang="en-GB" dirty="0">
              <a:ea typeface="+mn-ea"/>
            </a:endParaRP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Code duplication in </a:t>
            </a:r>
            <a:r>
              <a:rPr lang="en-GB" dirty="0" err="1">
                <a:solidFill>
                  <a:srgbClr val="0070C0"/>
                </a:solidFill>
                <a:ea typeface="+mn-ea"/>
                <a:cs typeface="+mn-cs"/>
              </a:rPr>
              <a:t>NewsFeed</a:t>
            </a:r>
            <a:r>
              <a:rPr lang="en-GB" dirty="0">
                <a:solidFill>
                  <a:srgbClr val="0070C0"/>
                </a:solidFill>
                <a:ea typeface="+mn-ea"/>
                <a:cs typeface="+mn-cs"/>
              </a:rPr>
              <a:t> </a:t>
            </a:r>
            <a:r>
              <a:rPr lang="en-GB" dirty="0">
                <a:ea typeface="+mn-ea"/>
                <a:cs typeface="+mn-cs"/>
              </a:rPr>
              <a:t>and</a:t>
            </a:r>
            <a:r>
              <a:rPr lang="en-GB" dirty="0">
                <a:solidFill>
                  <a:srgbClr val="0070C0"/>
                </a:solidFill>
                <a:ea typeface="+mn-ea"/>
                <a:cs typeface="+mn-cs"/>
              </a:rPr>
              <a:t> Driver</a:t>
            </a:r>
            <a:r>
              <a:rPr lang="en-GB" dirty="0">
                <a:ea typeface="+mn-ea"/>
                <a:cs typeface="+mn-cs"/>
              </a:rPr>
              <a:t> classes as well.</a:t>
            </a:r>
          </a:p>
          <a:p>
            <a:pPr eaLnBrk="1" hangingPunct="1">
              <a:defRPr/>
            </a:pPr>
            <a:r>
              <a:rPr lang="en-GB" dirty="0"/>
              <a:t>We need a better solution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b="1" dirty="0">
                <a:sym typeface="Wingdings" panose="05000000000000000000" pitchFamily="2" charset="2"/>
              </a:rPr>
              <a:t>Inheritance!</a:t>
            </a:r>
            <a:endParaRPr lang="en-GB" b="1" dirty="0"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1A89D2-69F1-C6E6-BEC0-474967BF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9055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335" y="2151395"/>
            <a:ext cx="10515600" cy="1325563"/>
          </a:xfrm>
        </p:spPr>
        <p:txBody>
          <a:bodyPr/>
          <a:lstStyle/>
          <a:p>
            <a:r>
              <a:rPr lang="en-GB"/>
              <a:t>Now Let’s </a:t>
            </a:r>
            <a:r>
              <a:rPr lang="en-GB" dirty="0"/>
              <a:t>Introduce Inheritance!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3974C-1EF2-B281-0406-1BD6D62A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171670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-prog-fund-2-junit-terminolog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7B4F4F87092419B4836663A979F72" ma:contentTypeVersion="12" ma:contentTypeDescription="Create a new document." ma:contentTypeScope="" ma:versionID="1705185788f4f7b8606867508f74a2eb">
  <xsd:schema xmlns:xsd="http://www.w3.org/2001/XMLSchema" xmlns:xs="http://www.w3.org/2001/XMLSchema" xmlns:p="http://schemas.microsoft.com/office/2006/metadata/properties" xmlns:ns3="2e073d95-02bc-4c31-9707-1f7b5f2564cb" xmlns:ns4="ecd595b7-854d-4129-8908-394d58e21de0" targetNamespace="http://schemas.microsoft.com/office/2006/metadata/properties" ma:root="true" ma:fieldsID="784458e58d0eaf4d4fb689770e9f109b" ns3:_="" ns4:_="">
    <xsd:import namespace="2e073d95-02bc-4c31-9707-1f7b5f2564cb"/>
    <xsd:import namespace="ecd595b7-854d-4129-8908-394d58e21d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73d95-02bc-4c31-9707-1f7b5f2564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595b7-854d-4129-8908-394d58e21de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073d95-02bc-4c31-9707-1f7b5f2564cb" xsi:nil="true"/>
  </documentManagement>
</p:properties>
</file>

<file path=customXml/itemProps1.xml><?xml version="1.0" encoding="utf-8"?>
<ds:datastoreItem xmlns:ds="http://schemas.openxmlformats.org/officeDocument/2006/customXml" ds:itemID="{9F0734DE-2FC5-4E40-8FD1-4F58D8D245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847694-5366-4F35-BB14-1B44805440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73d95-02bc-4c31-9707-1f7b5f2564cb"/>
    <ds:schemaRef ds:uri="ecd595b7-854d-4129-8908-394d58e21d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7BD72B-E314-4A2C-A344-AF1319C38FF7}">
  <ds:schemaRefs>
    <ds:schemaRef ds:uri="http://purl.org/dc/elements/1.1/"/>
    <ds:schemaRef ds:uri="http://schemas.microsoft.com/office/2006/metadata/properties"/>
    <ds:schemaRef ds:uri="ecd595b7-854d-4129-8908-394d58e21de0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2e073d95-02bc-4c31-9707-1f7b5f2564c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c-prog-fund-2-junit-terminology</Template>
  <TotalTime>5882</TotalTime>
  <Words>1000</Words>
  <Application>Microsoft Macintosh PowerPoint</Application>
  <PresentationFormat>Widescreen</PresentationFormat>
  <Paragraphs>259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Arial</vt:lpstr>
      <vt:lpstr>Calibri</vt:lpstr>
      <vt:lpstr>DM Sans</vt:lpstr>
      <vt:lpstr>Gill Sans</vt:lpstr>
      <vt:lpstr>Inter</vt:lpstr>
      <vt:lpstr>Inter Medium</vt:lpstr>
      <vt:lpstr>JetBrains Mono</vt:lpstr>
      <vt:lpstr>Roboto</vt:lpstr>
      <vt:lpstr>Times New Roman</vt:lpstr>
      <vt:lpstr>TwitterChirp</vt:lpstr>
      <vt:lpstr>Verdana</vt:lpstr>
      <vt:lpstr>Wingdings</vt:lpstr>
      <vt:lpstr>c-prog-fund-2-junit-terminology</vt:lpstr>
      <vt:lpstr>Programming Fundamentals</vt:lpstr>
      <vt:lpstr>Agenda</vt:lpstr>
      <vt:lpstr>PowerPoint Presentation</vt:lpstr>
      <vt:lpstr>Social Network V3.0 - Recap</vt:lpstr>
      <vt:lpstr>Social Network V3.0 - Recap</vt:lpstr>
      <vt:lpstr>Social Network V3.0 - Recap</vt:lpstr>
      <vt:lpstr>Social Network V3.0 - Recap</vt:lpstr>
      <vt:lpstr>Social Network</vt:lpstr>
      <vt:lpstr>Social Network v4.0 let’s move it on!</vt:lpstr>
      <vt:lpstr>Social Network</vt:lpstr>
      <vt:lpstr>Social Network V4.0 – Class Diagram</vt:lpstr>
      <vt:lpstr>Social Network V4.0 – Two Object Types</vt:lpstr>
      <vt:lpstr>Social Network V4.0 – Class Structure</vt:lpstr>
      <vt:lpstr>Social Network V4.0 – Class Structure</vt:lpstr>
      <vt:lpstr>Social Network V4.0 – Class Structure</vt:lpstr>
      <vt:lpstr>Social Network V4.0 – CRUD on TWO ArrayLists</vt:lpstr>
      <vt:lpstr>Social Network V3.0 versus V4.0 (NewsFeed)</vt:lpstr>
      <vt:lpstr>Social Network V3.0 versus V4.0 (NewsFeed)</vt:lpstr>
      <vt:lpstr>Social Network V3.0 versus V4.0 (Driver)</vt:lpstr>
      <vt:lpstr>Social Network V3.0 versus V4.0 (Driver)</vt:lpstr>
      <vt:lpstr>Shop Network V4.0 – NewsFeed – show() method</vt:lpstr>
      <vt:lpstr>Shop Network V4.0 – NewsFeed – show() method</vt:lpstr>
      <vt:lpstr>Critique of Social Network V4.0</vt:lpstr>
      <vt:lpstr>Now Let’s Introduce Inheritance!</vt:lpstr>
    </vt:vector>
  </TitlesOfParts>
  <Manager/>
  <Company>SETU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>Software Engineering Teams</dc:subject>
  <dc:creator>David Hearne</dc:creator>
  <cp:keywords/>
  <dc:description/>
  <cp:lastModifiedBy>Mairead Meagher</cp:lastModifiedBy>
  <cp:revision>90</cp:revision>
  <dcterms:created xsi:type="dcterms:W3CDTF">2022-12-30T08:26:58Z</dcterms:created>
  <dcterms:modified xsi:type="dcterms:W3CDTF">2026-03-12T18:23:16Z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0x01010074A7B4F4F87092419B4836663A979F72</vt:lpwstr>
  </property>
</Properties>
</file>