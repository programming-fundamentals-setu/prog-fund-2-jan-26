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2.xml" ContentType="application/vnd.openxmlformats-officedocument.presentationml.tags+xml"/>
  <Override PartName="/ppt/notesSlides/notesSlide7.xml" ContentType="application/vnd.openxmlformats-officedocument.presentationml.notesSlide+xml"/>
  <Override PartName="/ppt/tags/tag3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4.xml" ContentType="application/vnd.openxmlformats-officedocument.presentationml.tags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9"/>
  </p:notesMasterIdLst>
  <p:sldIdLst>
    <p:sldId id="256" r:id="rId5"/>
    <p:sldId id="443" r:id="rId6"/>
    <p:sldId id="455" r:id="rId7"/>
    <p:sldId id="456" r:id="rId8"/>
    <p:sldId id="457" r:id="rId9"/>
    <p:sldId id="458" r:id="rId10"/>
    <p:sldId id="459" r:id="rId11"/>
    <p:sldId id="460" r:id="rId12"/>
    <p:sldId id="399" r:id="rId13"/>
    <p:sldId id="461" r:id="rId14"/>
    <p:sldId id="462" r:id="rId15"/>
    <p:sldId id="463" r:id="rId16"/>
    <p:sldId id="464" r:id="rId17"/>
    <p:sldId id="465" r:id="rId18"/>
    <p:sldId id="466" r:id="rId19"/>
    <p:sldId id="474" r:id="rId20"/>
    <p:sldId id="468" r:id="rId21"/>
    <p:sldId id="469" r:id="rId22"/>
    <p:sldId id="470" r:id="rId23"/>
    <p:sldId id="471" r:id="rId24"/>
    <p:sldId id="472" r:id="rId25"/>
    <p:sldId id="473" r:id="rId26"/>
    <p:sldId id="476" r:id="rId27"/>
    <p:sldId id="475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CCA3A"/>
    <a:srgbClr val="435765"/>
    <a:srgbClr val="0062AF"/>
    <a:srgbClr val="E747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119291-A0E2-3347-9167-2FBB02A7C961}" v="303" dt="2023-04-18T08:45:45.20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888"/>
    <p:restoredTop sz="76886"/>
  </p:normalViewPr>
  <p:slideViewPr>
    <p:cSldViewPr snapToGrid="0">
      <p:cViewPr varScale="1">
        <p:scale>
          <a:sx n="91" d="100"/>
          <a:sy n="91" d="100"/>
        </p:scale>
        <p:origin x="14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Hearne" userId="d211ecec-1162-4091-8ee9-61d4a9e2add7" providerId="ADAL" clId="{A5119291-A0E2-3347-9167-2FBB02A7C961}"/>
    <pc:docChg chg="undo custSel modSld">
      <pc:chgData name="David Hearne" userId="d211ecec-1162-4091-8ee9-61d4a9e2add7" providerId="ADAL" clId="{A5119291-A0E2-3347-9167-2FBB02A7C961}" dt="2023-04-18T08:45:45.031" v="18" actId="20577"/>
      <pc:docMkLst>
        <pc:docMk/>
      </pc:docMkLst>
      <pc:sldChg chg="addSp delSp modSp mod">
        <pc:chgData name="David Hearne" userId="d211ecec-1162-4091-8ee9-61d4a9e2add7" providerId="ADAL" clId="{A5119291-A0E2-3347-9167-2FBB02A7C961}" dt="2023-04-18T08:45:45.031" v="18" actId="20577"/>
        <pc:sldMkLst>
          <pc:docMk/>
          <pc:sldMk cId="591161101" sldId="445"/>
        </pc:sldMkLst>
        <pc:spChg chg="mod">
          <ac:chgData name="David Hearne" userId="d211ecec-1162-4091-8ee9-61d4a9e2add7" providerId="ADAL" clId="{A5119291-A0E2-3347-9167-2FBB02A7C961}" dt="2023-04-18T08:45:44.479" v="15" actId="20577"/>
          <ac:spMkLst>
            <pc:docMk/>
            <pc:sldMk cId="591161101" sldId="445"/>
            <ac:spMk id="13" creationId="{D319B851-A90B-F470-4E9A-0A3BF61F948B}"/>
          </ac:spMkLst>
        </pc:spChg>
        <pc:spChg chg="add del mod">
          <ac:chgData name="David Hearne" userId="d211ecec-1162-4091-8ee9-61d4a9e2add7" providerId="ADAL" clId="{A5119291-A0E2-3347-9167-2FBB02A7C961}" dt="2023-04-18T08:45:45.031" v="18" actId="20577"/>
          <ac:spMkLst>
            <pc:docMk/>
            <pc:sldMk cId="591161101" sldId="445"/>
            <ac:spMk id="14" creationId="{BC7E5258-0CD3-FE09-CE39-C31E080E6B67}"/>
          </ac:spMkLst>
        </pc:spChg>
        <pc:spChg chg="add del">
          <ac:chgData name="David Hearne" userId="d211ecec-1162-4091-8ee9-61d4a9e2add7" providerId="ADAL" clId="{A5119291-A0E2-3347-9167-2FBB02A7C961}" dt="2023-04-18T08:45:44.649" v="16" actId="478"/>
          <ac:spMkLst>
            <pc:docMk/>
            <pc:sldMk cId="591161101" sldId="445"/>
            <ac:spMk id="19" creationId="{1068A325-8A34-152D-8B92-4546F501CB15}"/>
          </ac:spMkLst>
        </pc:spChg>
        <pc:spChg chg="mod">
          <ac:chgData name="David Hearne" userId="d211ecec-1162-4091-8ee9-61d4a9e2add7" providerId="ADAL" clId="{A5119291-A0E2-3347-9167-2FBB02A7C961}" dt="2023-04-18T08:45:24.752" v="6" actId="20577"/>
          <ac:spMkLst>
            <pc:docMk/>
            <pc:sldMk cId="591161101" sldId="445"/>
            <ac:spMk id="24" creationId="{D4BA01C4-169D-895E-472B-A71245691AFC}"/>
          </ac:spMkLst>
        </pc:spChg>
        <pc:cxnChg chg="mod">
          <ac:chgData name="David Hearne" userId="d211ecec-1162-4091-8ee9-61d4a9e2add7" providerId="ADAL" clId="{A5119291-A0E2-3347-9167-2FBB02A7C961}" dt="2023-04-18T08:45:44.649" v="16" actId="478"/>
          <ac:cxnSpMkLst>
            <pc:docMk/>
            <pc:sldMk cId="591161101" sldId="445"/>
            <ac:cxnSpMk id="47" creationId="{8435FD7C-5E6E-4CAB-C5B6-AD669E5184C8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FB268A-CA3A-0048-9013-6E7C8FF5127F}" type="datetimeFigureOut">
              <a:rPr lang="en-US" smtClean="0"/>
              <a:t>3/14/25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8B84A0-CA4D-2741-806C-17A9264492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4229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jack/status/20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jack/status/20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836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2739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48131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48132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E8C4BBAE-7F93-47A3-A70B-0D7C9D38F57B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4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4813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8134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ea typeface="ＭＳ Ｐゴシック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828203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dirty="0"/>
              <a:t>First tweet , Jack Dorsey : </a:t>
            </a:r>
            <a:r>
              <a:rPr lang="en-IE" b="0" i="0" u="sng" dirty="0">
                <a:solidFill>
                  <a:srgbClr val="71767B"/>
                </a:solidFill>
                <a:effectLst/>
                <a:latin typeface="TwitterChirp"/>
                <a:hlinkClick r:id="rId3"/>
              </a:rPr>
              <a:t>Mar 21, 2006</a:t>
            </a:r>
            <a:endParaRPr lang="en-IE" b="0" i="0" u="sng" dirty="0">
              <a:solidFill>
                <a:srgbClr val="71767B"/>
              </a:solidFill>
              <a:effectLst/>
              <a:latin typeface="TwitterChirp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IE" sz="1200" b="0" i="0" u="sng" dirty="0">
              <a:solidFill>
                <a:srgbClr val="71767B"/>
              </a:solidFill>
              <a:effectLst/>
              <a:latin typeface="TwitterChirp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E" sz="1200" b="0" i="0" u="none" dirty="0">
                <a:solidFill>
                  <a:srgbClr val="71767B"/>
                </a:solidFill>
                <a:effectLst/>
                <a:latin typeface="TwitterChirp"/>
              </a:rPr>
              <a:t>First Insta, July 16</a:t>
            </a:r>
            <a:r>
              <a:rPr lang="en-IE" sz="1200" b="0" i="0" u="none" baseline="30000" dirty="0">
                <a:solidFill>
                  <a:srgbClr val="71767B"/>
                </a:solidFill>
                <a:effectLst/>
                <a:latin typeface="TwitterChirp"/>
              </a:rPr>
              <a:t>th</a:t>
            </a:r>
            <a:r>
              <a:rPr lang="en-IE" sz="1200" b="0" i="0" u="none" dirty="0">
                <a:solidFill>
                  <a:srgbClr val="71767B"/>
                </a:solidFill>
                <a:effectLst/>
                <a:latin typeface="TwitterChirp"/>
              </a:rPr>
              <a:t> 2010, Mike Krieger, Co-Founder</a:t>
            </a:r>
            <a:endParaRPr lang="en-GB" sz="1200" u="none" dirty="0"/>
          </a:p>
          <a:p>
            <a:endParaRPr lang="en-IE" b="0" i="0" u="none" strike="noStrike" dirty="0">
              <a:solidFill>
                <a:srgbClr val="EEEEEE"/>
              </a:solidFill>
              <a:effectLst/>
              <a:latin typeface="Verdana" panose="020B060403050404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6965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dirty="0"/>
              <a:t>API</a:t>
            </a:r>
            <a:r>
              <a:rPr lang="en-GB" sz="1200" dirty="0"/>
              <a:t>: </a:t>
            </a:r>
            <a:r>
              <a:rPr lang="en-GB" sz="1200" i="1" dirty="0"/>
              <a:t>Application Programmers’ Interface</a:t>
            </a:r>
            <a:br>
              <a:rPr lang="en-GB" sz="1200" i="1" dirty="0"/>
            </a:br>
            <a:endParaRPr lang="en-GB" sz="1200" dirty="0"/>
          </a:p>
          <a:p>
            <a:endParaRPr lang="en-IE" b="0" i="0" u="none" strike="noStrike" dirty="0">
              <a:solidFill>
                <a:srgbClr val="EEEEEE"/>
              </a:solidFill>
              <a:effectLst/>
              <a:latin typeface="Verdana" panose="020B060403050404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977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dirty="0"/>
              <a:t>First tweet , Jack Dorsey : </a:t>
            </a:r>
            <a:r>
              <a:rPr lang="en-IE" b="0" i="0" u="sng" dirty="0">
                <a:solidFill>
                  <a:srgbClr val="71767B"/>
                </a:solidFill>
                <a:effectLst/>
                <a:latin typeface="TwitterChirp"/>
                <a:hlinkClick r:id="rId3"/>
              </a:rPr>
              <a:t>Mar 21, 2006</a:t>
            </a:r>
            <a:endParaRPr lang="en-IE" b="0" i="0" u="sng" dirty="0">
              <a:solidFill>
                <a:srgbClr val="71767B"/>
              </a:solidFill>
              <a:effectLst/>
              <a:latin typeface="TwitterChirp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IE" sz="1200" b="0" i="0" u="sng" dirty="0">
              <a:solidFill>
                <a:srgbClr val="71767B"/>
              </a:solidFill>
              <a:effectLst/>
              <a:latin typeface="TwitterChirp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E" sz="1200" b="0" i="0" u="none" dirty="0">
                <a:solidFill>
                  <a:srgbClr val="71767B"/>
                </a:solidFill>
                <a:effectLst/>
                <a:latin typeface="TwitterChirp"/>
              </a:rPr>
              <a:t>First Insta, July 16</a:t>
            </a:r>
            <a:r>
              <a:rPr lang="en-IE" sz="1200" b="0" i="0" u="none" baseline="30000" dirty="0">
                <a:solidFill>
                  <a:srgbClr val="71767B"/>
                </a:solidFill>
                <a:effectLst/>
                <a:latin typeface="TwitterChirp"/>
              </a:rPr>
              <a:t>th</a:t>
            </a:r>
            <a:r>
              <a:rPr lang="en-IE" sz="1200" b="0" i="0" u="none" dirty="0">
                <a:solidFill>
                  <a:srgbClr val="71767B"/>
                </a:solidFill>
                <a:effectLst/>
                <a:latin typeface="TwitterChirp"/>
              </a:rPr>
              <a:t> 2010, Mike Krieger, Co-Founder</a:t>
            </a:r>
            <a:endParaRPr lang="en-GB" sz="1200" u="none" dirty="0"/>
          </a:p>
          <a:p>
            <a:endParaRPr lang="en-IE" b="0" i="0" u="none" strike="noStrike" dirty="0">
              <a:solidFill>
                <a:srgbClr val="EEEEEE"/>
              </a:solidFill>
              <a:effectLst/>
              <a:latin typeface="Verdana" panose="020B060403050404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2310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52227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52228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AA88746B-1452-4FDB-A335-F32686CD2CA2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11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5222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2230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class diagram is simple (</a:t>
            </a:r>
            <a:r>
              <a:rPr lang="en-GB" dirty="0" err="1">
                <a:latin typeface="Times New Roman" charset="0"/>
                <a:ea typeface="ＭＳ Ｐゴシック" charset="0"/>
                <a:cs typeface="+mn-cs"/>
              </a:rPr>
              <a:t>ArrayList</a:t>
            </a: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 not shown in </a:t>
            </a:r>
            <a:r>
              <a:rPr lang="en-GB" dirty="0" err="1">
                <a:latin typeface="Times New Roman" charset="0"/>
                <a:ea typeface="ＭＳ Ｐゴシック" charset="0"/>
                <a:cs typeface="+mn-cs"/>
              </a:rPr>
              <a:t>BlueJ</a:t>
            </a: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558350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49155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49156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9233A621-111B-497A-9F85-618622AABFFA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12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4915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9158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r>
              <a:rPr lang="en-GB">
                <a:latin typeface="Times New Roman" charset="0"/>
                <a:ea typeface="ＭＳ Ｐゴシック" charset="0"/>
                <a:cs typeface="+mn-cs"/>
              </a:rPr>
              <a:t>one object per post; each object stores details for one particular post.</a:t>
            </a:r>
          </a:p>
        </p:txBody>
      </p:sp>
    </p:spTree>
    <p:extLst>
      <p:ext uri="{BB962C8B-B14F-4D97-AF65-F5344CB8AC3E}">
        <p14:creationId xmlns:p14="http://schemas.microsoft.com/office/powerpoint/2010/main" val="1159867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Newsfeed object will hold two collections: one for </a:t>
            </a:r>
            <a:r>
              <a:rPr lang="en-GB" dirty="0" err="1">
                <a:latin typeface="Times New Roman" charset="0"/>
                <a:ea typeface="ＭＳ Ｐゴシック" charset="0"/>
                <a:cs typeface="+mn-cs"/>
              </a:rPr>
              <a:t>MessagePosts</a:t>
            </a: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, one for </a:t>
            </a:r>
            <a:r>
              <a:rPr lang="en-GB" dirty="0" err="1">
                <a:latin typeface="Times New Roman" charset="0"/>
                <a:ea typeface="ＭＳ Ｐゴシック" charset="0"/>
                <a:cs typeface="+mn-cs"/>
              </a:rPr>
              <a:t>PhotoPosts</a:t>
            </a:r>
            <a:endParaRPr lang="en-GB" dirty="0">
              <a:latin typeface="Times New Roman" charset="0"/>
              <a:ea typeface="ＭＳ Ｐゴシック" charset="0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885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1226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/>
          <p:cNvSpPr>
            <a:spLocks noGrp="1" noChangeArrowheads="1"/>
          </p:cNvSpPr>
          <p:nvPr>
            <p:ph type="hdr" sz="quarter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GB" sz="1200" b="0">
                <a:latin typeface="Times New Roman" charset="0"/>
              </a:rPr>
              <a:t>Objects First with Java</a:t>
            </a:r>
          </a:p>
        </p:txBody>
      </p:sp>
      <p:sp>
        <p:nvSpPr>
          <p:cNvPr id="56323" name="Rectangle 6"/>
          <p:cNvSpPr>
            <a:spLocks noGrp="1" noChangeArrowheads="1"/>
          </p:cNvSpPr>
          <p:nvPr>
            <p:ph type="ftr" sz="quarter" idx="4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en-GB" altLang="en-US" sz="1200" b="0">
                <a:latin typeface="Times New Roman" pitchFamily="18" charset="0"/>
              </a:rPr>
              <a:t>© David J. Barnes and Michael Kölling</a:t>
            </a:r>
          </a:p>
        </p:txBody>
      </p:sp>
      <p:sp>
        <p:nvSpPr>
          <p:cNvPr id="56324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1pPr>
            <a:lvl2pPr marL="742950" indent="-28575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2pPr>
            <a:lvl3pPr marL="11430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3pPr>
            <a:lvl4pPr marL="16002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4pPr>
            <a:lvl5pPr marL="2057400" indent="-228600"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pitchFamily="49" charset="0"/>
                <a:ea typeface="MS PGothic" pitchFamily="34" charset="-128"/>
              </a:defRPr>
            </a:lvl9pPr>
          </a:lstStyle>
          <a:p>
            <a:pPr>
              <a:defRPr/>
            </a:pPr>
            <a:fld id="{52685C26-67F0-492E-A3BA-6462479EE618}" type="slidenum">
              <a:rPr lang="en-GB" altLang="en-US" sz="1200" b="0" smtClean="0">
                <a:latin typeface="Times New Roman" pitchFamily="18" charset="0"/>
              </a:rPr>
              <a:pPr>
                <a:defRPr/>
              </a:pPr>
              <a:t>23</a:t>
            </a:fld>
            <a:endParaRPr lang="en-GB" altLang="en-US" sz="1200" b="0">
              <a:latin typeface="Times New Roman" pitchFamily="18" charset="0"/>
            </a:endParaRPr>
          </a:p>
        </p:txBody>
      </p:sp>
      <p:sp>
        <p:nvSpPr>
          <p:cNvPr id="5632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6326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7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r>
              <a:rPr lang="en-GB">
                <a:latin typeface="Times New Roman" charset="0"/>
                <a:ea typeface="ＭＳ Ｐゴシック" charset="0"/>
                <a:cs typeface="+mn-cs"/>
              </a:rPr>
              <a:t>we note a lot of code duplication.</a:t>
            </a:r>
          </a:p>
          <a:p>
            <a:pPr>
              <a:defRPr/>
            </a:pPr>
            <a:r>
              <a:rPr lang="en-GB">
                <a:latin typeface="Times New Roman" charset="0"/>
                <a:ea typeface="ＭＳ Ｐゴシック" charset="0"/>
                <a:cs typeface="+mn-cs"/>
              </a:rPr>
              <a:t>this is one problem with this solution (there are others)</a:t>
            </a:r>
          </a:p>
        </p:txBody>
      </p:sp>
    </p:spTree>
    <p:extLst>
      <p:ext uri="{BB962C8B-B14F-4D97-AF65-F5344CB8AC3E}">
        <p14:creationId xmlns:p14="http://schemas.microsoft.com/office/powerpoint/2010/main" val="28013763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0BDA7-D71E-A617-27B7-787DE42F72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3FDDF3-9F54-4D1C-4DAE-AEDCD366F1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FFB5B4B7-D13B-783E-5F1E-412BDC5D91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1607115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3661B-17E5-AEB4-5039-12B9E644B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5D0D1-C408-E0A1-E29C-6EC0618037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546475"/>
          </a:xfrm>
        </p:spPr>
        <p:txBody>
          <a:bodyPr/>
          <a:lstStyle>
            <a:lvl1pPr>
              <a:lnSpc>
                <a:spcPct val="150000"/>
              </a:lnSpc>
              <a:defRPr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547124-F0EB-380D-6A94-29423FE38752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EAC70C1C-2BF7-2D24-0C1A-5761BAA4636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CFB1B1F-BD41-EF6A-29B6-DFF0CE207B39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4D162732-2B8A-90F2-EB70-67F0CC6CE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18957" y="6365301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7706159-FD7A-7A51-FEE5-D8D445CD1DE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0090110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7BE43-B9A7-BC93-E56F-486BC93A97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574"/>
            <a:ext cx="10515600" cy="860425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CDDD06-17FD-1299-4C21-B4BD9A733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48336"/>
            <a:ext cx="10515600" cy="4253486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2D0BB6-0690-69C2-7913-4E641FA5263B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4942315C-0F65-972F-774D-73078C31C3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45D37C6-695B-A413-C7D8-CC729BE4A5E7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AF08D71D-633D-03D6-837B-2EC45E80E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18957" y="6365301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7F271E0-EC9F-70B2-AF3B-ED4F3927D4A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842452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83A76-6FDB-3575-CC11-5859A712D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08481B-3779-5250-135C-D2B0AFD851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339951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150A12-6140-2CE2-EA49-7545911488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339951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F03AFF-B4F8-FCBD-2728-065160B5E346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D13D03AA-0896-FE80-2DAE-DE4C27A47CD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CA233C6-37BC-F82E-A892-76CA5AB4B7C5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030FD0F-2DD6-2272-51EE-2BF33059E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18957" y="6365301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88EF9FD-1D1E-7A85-9B87-8B09737419A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7829845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F1BAE-F1D1-9BFF-E81C-9EB6F7E29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FDD2EF-5122-99B1-1482-73F47DCFB6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2AD250-B4A0-9994-DEFD-1003746CE2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286702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033373-B31C-8067-F4C0-5D8722EE0D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E033B8-3B84-5BAF-41E3-F01F70FD2E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286702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4DBF12C-7C0A-66CC-800F-81E7C7511108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 descr="Text&#10;&#10;Description automatically generated">
            <a:extLst>
              <a:ext uri="{FF2B5EF4-FFF2-40B4-BE49-F238E27FC236}">
                <a16:creationId xmlns:a16="http://schemas.microsoft.com/office/drawing/2014/main" id="{2A6757DB-F33F-B6B9-4AB7-673BFD0C04C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88376F0-4941-20F3-0634-CC3CA047EBEE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98434014-9B29-BB02-AFCC-26F5DD9D1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18957" y="6365301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EA3A214-C271-27A6-1BA5-A7E92A0C4F8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829577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2FC2BC5-A41F-AF1E-87C1-6C3884228EE1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BB80B376-718E-5A67-D7A2-E9C5D848867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40C9288-DA64-5E12-B226-91527D193BD7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1B9D84-933C-5819-53CE-724AA8A87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661670FA-CFD1-A883-55F9-FC87F3B1B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18957" y="6365301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8934E70C-E8D9-B2C2-6196-CB37462C2AA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3245" y="6153874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777632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845881D-2D8D-1975-AB67-071538DA5B41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A2F7B6B3-CC24-4207-D53D-6E6E9BFD53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B32805-1A5C-6896-174B-545E3B3CB158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E802365A-5338-0BFB-EE6B-1D00D5A95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18957" y="6365301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pic>
        <p:nvPicPr>
          <p:cNvPr id="9" name="Picture 8" descr="A picture containing icon&#10;&#10;Description automatically generated">
            <a:extLst>
              <a:ext uri="{FF2B5EF4-FFF2-40B4-BE49-F238E27FC236}">
                <a16:creationId xmlns:a16="http://schemas.microsoft.com/office/drawing/2014/main" id="{B45F8394-F9E9-67F3-F785-4190DC911D7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19000"/>
          </a:blip>
          <a:stretch>
            <a:fillRect/>
          </a:stretch>
        </p:blipFill>
        <p:spPr>
          <a:xfrm>
            <a:off x="-2721883" y="422310"/>
            <a:ext cx="5443765" cy="5486295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69350A5-0F76-7CA1-01EE-0506A29F03B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25939" y="2422507"/>
            <a:ext cx="8618538" cy="1485900"/>
          </a:xfrm>
        </p:spPr>
        <p:txBody>
          <a:bodyPr>
            <a:normAutofit/>
          </a:bodyPr>
          <a:lstStyle>
            <a:lvl3pPr marL="914400" indent="0" algn="ctr">
              <a:buNone/>
              <a:defRPr sz="6000">
                <a:latin typeface="DM Sans" pitchFamily="2" charset="77"/>
              </a:defRPr>
            </a:lvl3pPr>
          </a:lstStyle>
          <a:p>
            <a:pPr lvl="2"/>
            <a:r>
              <a:rPr lang="en-US" dirty="0"/>
              <a:t>Title Section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B1747D0-142F-29F0-C111-4CA4BB0024E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31182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A2F7B6B3-CC24-4207-D53D-6E6E9BFD53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B32805-1A5C-6896-174B-545E3B3CB158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E802365A-5338-0BFB-EE6B-1D00D5A95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18957" y="6365301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pic>
        <p:nvPicPr>
          <p:cNvPr id="9" name="Picture 8" descr="A picture containing icon&#10;&#10;Description automatically generated">
            <a:extLst>
              <a:ext uri="{FF2B5EF4-FFF2-40B4-BE49-F238E27FC236}">
                <a16:creationId xmlns:a16="http://schemas.microsoft.com/office/drawing/2014/main" id="{B45F8394-F9E9-67F3-F785-4190DC911D7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11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2632673" y="433462"/>
            <a:ext cx="5443765" cy="54862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66D9E16-657A-4218-0444-F0A4D4BC3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757" y="2324554"/>
            <a:ext cx="10515600" cy="1325563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ABFD17A-A184-4C60-C2D7-B6CD6ACBCF9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03245" y="6153874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40779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6F86B-6715-92BC-715F-DFA9AD39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8AFA0-81E3-E9B4-F6E0-8B926D239E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28670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4034E6-8F9A-4869-D336-F1BAA76F02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216729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FDDB94-FA60-0120-3E53-AB03CF84BA1E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45679F87-5E74-8BA8-0629-1E5B4F4880A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9BE86B7-2BF4-10EF-5455-B9887AAB8B50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B715A8C-2802-94EC-ED2B-7E87EB769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18957" y="6365301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4062A10-94AD-59F5-B695-6399839DA51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41155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0F6A3-1FA6-365B-EAE9-C97A97FA2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F0FE55-436B-BE4B-A625-5596F318B1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58061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E895F3-5234-BC3A-AA83-2EC6C8BFBE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51064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54B8120-3457-7741-DD19-9CE4C0C22B4A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70E58948-512F-FE8B-DC74-07D466B3C5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261E89E-CE00-6AFD-C38F-ED89F0C488AB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115F357-D0A9-D2BE-D6C4-1DE4D5FB1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18957" y="6365301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539925D-2713-A52D-751E-374F477B25E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85067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6E7A3-2933-9A9D-1B68-1C4E7E0E0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0D318C-66EC-4B7A-FD04-653E50045D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B3A924-D1C2-80FA-9A28-1F83C8252CD7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A8580AF9-B3B8-8FCD-D5F6-72F55C10E5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68DA9D1-70B7-518A-1D12-6840DCAE9DB6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820A38DC-2F95-7186-592B-18167E2BC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18957" y="6365301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369CF7F-4015-09B0-0671-F93589D2D93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234116"/>
      </p:ext>
    </p:extLst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05D519-5C13-B1DA-C03B-E55280B896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382532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5BE02F-1224-E3C9-A8BB-96F822DB89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382532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C4E5451-8045-E9BC-4D1D-8CF1DD1B3874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3581C137-70E6-F86A-90ED-817935AD6A8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E7DE500-850E-C45D-5905-16C7BED700DC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C638537D-9021-8EF8-E16B-C1CF5CF98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18957" y="6365301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E01E724-D140-6BA0-9EC5-95685A2B781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3245" y="6187327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3898839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27A6AA-9A3D-B214-D69B-E407A667B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45717F-6026-BB96-5E0E-E0C78D9608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26810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6C6F1F5D-051A-FB61-9D09-9FDA371C1473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402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p:transition spd="slow">
    <p:push dir="u"/>
  </p:transition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435765"/>
          </a:solidFill>
          <a:latin typeface="DM Sans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50000"/>
        </a:lnSpc>
        <a:spcBef>
          <a:spcPts val="1000"/>
        </a:spcBef>
        <a:buClr>
          <a:srgbClr val="435765"/>
        </a:buClr>
        <a:buFont typeface="Arial" panose="020B0604020202020204" pitchFamily="34" charset="0"/>
        <a:buChar char="•"/>
        <a:defRPr sz="2800" kern="1200">
          <a:solidFill>
            <a:srgbClr val="435765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1pPr>
      <a:lvl2pPr marL="685800" indent="-228600" algn="l" defTabSz="914400" rtl="0" eaLnBrk="1" latinLnBrk="0" hangingPunct="1">
        <a:lnSpc>
          <a:spcPct val="150000"/>
        </a:lnSpc>
        <a:spcBef>
          <a:spcPts val="500"/>
        </a:spcBef>
        <a:buClr>
          <a:srgbClr val="435765"/>
        </a:buClr>
        <a:buFont typeface="Arial" panose="020B0604020202020204" pitchFamily="34" charset="0"/>
        <a:buChar char="•"/>
        <a:defRPr sz="2400" kern="1200">
          <a:solidFill>
            <a:srgbClr val="435765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2pPr>
      <a:lvl3pPr marL="1143000" indent="-228600" algn="l" defTabSz="914400" rtl="0" eaLnBrk="1" latinLnBrk="0" hangingPunct="1">
        <a:lnSpc>
          <a:spcPct val="150000"/>
        </a:lnSpc>
        <a:spcBef>
          <a:spcPts val="500"/>
        </a:spcBef>
        <a:buClr>
          <a:srgbClr val="435765"/>
        </a:buClr>
        <a:buFont typeface="Arial" panose="020B0604020202020204" pitchFamily="34" charset="0"/>
        <a:buChar char="•"/>
        <a:defRPr sz="2000" kern="1200">
          <a:solidFill>
            <a:srgbClr val="435765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3pPr>
      <a:lvl4pPr marL="1600200" indent="-228600" algn="l" defTabSz="914400" rtl="0" eaLnBrk="1" latinLnBrk="0" hangingPunct="1">
        <a:lnSpc>
          <a:spcPct val="150000"/>
        </a:lnSpc>
        <a:spcBef>
          <a:spcPts val="500"/>
        </a:spcBef>
        <a:buClr>
          <a:srgbClr val="435765"/>
        </a:buClr>
        <a:buFont typeface="Arial" panose="020B0604020202020204" pitchFamily="34" charset="0"/>
        <a:buChar char="•"/>
        <a:defRPr sz="1800" kern="1200">
          <a:solidFill>
            <a:srgbClr val="435765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4pPr>
      <a:lvl5pPr marL="2057400" indent="-228600" algn="l" defTabSz="914400" rtl="0" eaLnBrk="1" latinLnBrk="0" hangingPunct="1">
        <a:lnSpc>
          <a:spcPct val="150000"/>
        </a:lnSpc>
        <a:spcBef>
          <a:spcPts val="500"/>
        </a:spcBef>
        <a:buClr>
          <a:srgbClr val="435765"/>
        </a:buClr>
        <a:buFont typeface="Arial" panose="020B0604020202020204" pitchFamily="34" charset="0"/>
        <a:buChar char="•"/>
        <a:defRPr sz="1800" kern="1200">
          <a:solidFill>
            <a:srgbClr val="435765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9.tif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icon&#10;&#10;Description automatically generated">
            <a:extLst>
              <a:ext uri="{FF2B5EF4-FFF2-40B4-BE49-F238E27FC236}">
                <a16:creationId xmlns:a16="http://schemas.microsoft.com/office/drawing/2014/main" id="{99CD819F-5324-A9DE-1B40-CA887A54AEA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2554628" y="693967"/>
            <a:ext cx="5427662" cy="54700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41A3E84-9222-E321-F48B-5FDB6F80A2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r>
              <a:rPr lang="en-US" b="1" dirty="0">
                <a:solidFill>
                  <a:srgbClr val="435765"/>
                </a:solidFill>
                <a:latin typeface="DM Sans" pitchFamily="2" charset="77"/>
              </a:rPr>
              <a:t>Programming Fundamentals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34409F-DCAA-6F36-5AC8-EB4F83A8ABD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sz="2400" dirty="0"/>
              <a:t>Inheritance: Improving Structure</a:t>
            </a:r>
          </a:p>
        </p:txBody>
      </p:sp>
      <p:pic>
        <p:nvPicPr>
          <p:cNvPr id="5" name="Picture 4" descr="Text, logo&#10;&#10;Description automatically generated">
            <a:extLst>
              <a:ext uri="{FF2B5EF4-FFF2-40B4-BE49-F238E27FC236}">
                <a16:creationId xmlns:a16="http://schemas.microsoft.com/office/drawing/2014/main" id="{14BFAFCE-71D5-F584-63E1-3FA32C9106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0724" y="5703037"/>
            <a:ext cx="2062162" cy="1156061"/>
          </a:xfrm>
          <a:prstGeom prst="rect">
            <a:avLst/>
          </a:prstGeom>
        </p:spPr>
      </p:pic>
      <p:sp>
        <p:nvSpPr>
          <p:cNvPr id="7" name="Subtitle 2"/>
          <p:cNvSpPr txBox="1">
            <a:spLocks/>
          </p:cNvSpPr>
          <p:nvPr/>
        </p:nvSpPr>
        <p:spPr>
          <a:xfrm>
            <a:off x="2571569" y="4702355"/>
            <a:ext cx="18669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150000"/>
              </a:lnSpc>
              <a:spcBef>
                <a:spcPts val="1000"/>
              </a:spcBef>
              <a:buClr>
                <a:srgbClr val="435765"/>
              </a:buClr>
              <a:buFont typeface="Arial" panose="020B0604020202020204" pitchFamily="34" charset="0"/>
              <a:buNone/>
              <a:defRPr sz="24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None/>
              <a:defRPr sz="20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None/>
              <a:defRPr sz="18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None/>
              <a:defRPr sz="16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None/>
              <a:defRPr sz="16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/>
              <a:t>by:</a:t>
            </a:r>
            <a:endParaRPr lang="en-I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B6E3D8-40D8-40DD-AB3A-5A145588CC6B}"/>
              </a:ext>
            </a:extLst>
          </p:cNvPr>
          <p:cNvSpPr txBox="1"/>
          <p:nvPr/>
        </p:nvSpPr>
        <p:spPr>
          <a:xfrm>
            <a:off x="4514669" y="4778556"/>
            <a:ext cx="3581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Dr.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Drohan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Mairéad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Meagher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 Siobhan Roche</a:t>
            </a:r>
          </a:p>
        </p:txBody>
      </p:sp>
    </p:spTree>
    <p:extLst>
      <p:ext uri="{BB962C8B-B14F-4D97-AF65-F5344CB8AC3E}">
        <p14:creationId xmlns:p14="http://schemas.microsoft.com/office/powerpoint/2010/main" val="2816668944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C71DF-83EE-F584-76A4-18797A0DB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16" y="284546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rgbClr val="435765"/>
                </a:solidFill>
                <a:latin typeface="DM Sans" pitchFamily="2" charset="77"/>
              </a:rPr>
              <a:t>Agenda</a:t>
            </a:r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DFA28BCE-B19E-F23A-7956-1A1DD1679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pic>
        <p:nvPicPr>
          <p:cNvPr id="11" name="Picture 10" descr="A picture containing LEGO, toy&#10;&#10;Description automatically generated">
            <a:extLst>
              <a:ext uri="{FF2B5EF4-FFF2-40B4-BE49-F238E27FC236}">
                <a16:creationId xmlns:a16="http://schemas.microsoft.com/office/drawing/2014/main" id="{CAEA1CE5-DA18-8291-EBC8-4ED7D8153F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1808" y="562131"/>
            <a:ext cx="4882243" cy="4882243"/>
          </a:xfrm>
          <a:prstGeom prst="rect">
            <a:avLst/>
          </a:prstGeom>
        </p:spPr>
      </p:pic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AB93318-04C8-B12E-00A4-0C84DC4B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18957" y="6390891"/>
            <a:ext cx="2743200" cy="365125"/>
          </a:xfrm>
          <a:prstGeom prst="rect">
            <a:avLst/>
          </a:prstGeom>
        </p:spPr>
        <p:txBody>
          <a:bodyPr/>
          <a:lstStyle/>
          <a:p>
            <a:pPr algn="ctr"/>
            <a:endParaRPr lang="en-US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0E81001-8F47-6FE3-CC30-C70CB6E96C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03245" y="6181584"/>
            <a:ext cx="1120090" cy="603766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D984378-B129-C308-D176-66F7C4DA42CC}"/>
              </a:ext>
            </a:extLst>
          </p:cNvPr>
          <p:cNvSpPr txBox="1">
            <a:spLocks/>
          </p:cNvSpPr>
          <p:nvPr/>
        </p:nvSpPr>
        <p:spPr>
          <a:xfrm>
            <a:off x="259216" y="1882398"/>
            <a:ext cx="5836784" cy="244010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28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24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20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18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18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Social Network v1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9971504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9C71DF-83EE-F584-76A4-18797A0DBD4F}"/>
              </a:ext>
            </a:extLst>
          </p:cNvPr>
          <p:cNvSpPr txBox="1">
            <a:spLocks/>
          </p:cNvSpPr>
          <p:nvPr/>
        </p:nvSpPr>
        <p:spPr>
          <a:xfrm>
            <a:off x="0" y="6988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bg1"/>
                </a:solidFill>
                <a:latin typeface="DM Sans" pitchFamily="2" charset="77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435765"/>
                </a:solidFill>
              </a:rPr>
              <a:t>Lectures &amp; Labs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D984378-B129-C308-D176-66F7C4DA42CC}"/>
              </a:ext>
            </a:extLst>
          </p:cNvPr>
          <p:cNvSpPr txBox="1">
            <a:spLocks/>
          </p:cNvSpPr>
          <p:nvPr/>
        </p:nvSpPr>
        <p:spPr>
          <a:xfrm>
            <a:off x="415160" y="1815848"/>
            <a:ext cx="7028275" cy="3756402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28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24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20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18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18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This weeks lectures and labs are based on examples in:</a:t>
            </a:r>
          </a:p>
          <a:p>
            <a:r>
              <a:rPr lang="en-US" sz="2200" b="1" dirty="0"/>
              <a:t>Objects First with Java </a:t>
            </a:r>
            <a:br>
              <a:rPr lang="en-US" sz="2200" dirty="0"/>
            </a:br>
            <a:r>
              <a:rPr lang="en-US" sz="2200" dirty="0"/>
              <a:t>- A Practical Introduction using </a:t>
            </a:r>
            <a:r>
              <a:rPr lang="en-US" sz="2200" dirty="0" err="1"/>
              <a:t>BlueJ</a:t>
            </a:r>
            <a:r>
              <a:rPr lang="en-US" sz="2200" dirty="0"/>
              <a:t>, © </a:t>
            </a:r>
            <a:r>
              <a:rPr lang="en-US" sz="2200" i="1" dirty="0"/>
              <a:t>David J. Barnes, Michael </a:t>
            </a:r>
            <a:r>
              <a:rPr lang="en-US" sz="2200" i="1" dirty="0" err="1"/>
              <a:t>Kölling</a:t>
            </a:r>
            <a:endParaRPr lang="en-US" sz="2200" i="1" dirty="0"/>
          </a:p>
          <a:p>
            <a:endParaRPr lang="en-US" i="1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7" name="Picture 6" descr="A bird on a branch&#10;&#10;Description automatically generated with medium confidence">
            <a:extLst>
              <a:ext uri="{FF2B5EF4-FFF2-40B4-BE49-F238E27FC236}">
                <a16:creationId xmlns:a16="http://schemas.microsoft.com/office/drawing/2014/main" id="{D627CCD9-58A2-57DF-BE6F-145A898594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3435" y="1395443"/>
            <a:ext cx="4061769" cy="50269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8960616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Social Network V3.0 - Recap</a:t>
            </a:r>
          </a:p>
        </p:txBody>
      </p:sp>
      <p:sp>
        <p:nvSpPr>
          <p:cNvPr id="164867" name="Rectangle 3"/>
          <p:cNvSpPr>
            <a:spLocks noGrp="1" noChangeArrowheads="1"/>
          </p:cNvSpPr>
          <p:nvPr>
            <p:ph idx="1"/>
          </p:nvPr>
        </p:nvSpPr>
        <p:spPr>
          <a:xfrm>
            <a:off x="609600" y="1600200"/>
            <a:ext cx="8382000" cy="525780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GB">
                <a:ea typeface="+mn-ea"/>
                <a:cs typeface="+mn-cs"/>
              </a:rPr>
              <a:t>A small, prototype SOCIAL NETWORK.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GB" sz="1600"/>
          </a:p>
          <a:p>
            <a:pPr eaLnBrk="1" hangingPunct="1">
              <a:lnSpc>
                <a:spcPct val="90000"/>
              </a:lnSpc>
              <a:defRPr/>
            </a:pPr>
            <a:r>
              <a:rPr lang="en-GB">
                <a:ea typeface="+mn-ea"/>
                <a:cs typeface="+mn-cs"/>
              </a:rPr>
              <a:t>Supports a </a:t>
            </a:r>
            <a:r>
              <a:rPr lang="en-GB">
                <a:solidFill>
                  <a:srgbClr val="0070C0"/>
                </a:solidFill>
                <a:ea typeface="+mn-ea"/>
                <a:cs typeface="+mn-cs"/>
              </a:rPr>
              <a:t>News Feed </a:t>
            </a:r>
            <a:r>
              <a:rPr lang="en-GB">
                <a:ea typeface="+mn-ea"/>
                <a:cs typeface="+mn-cs"/>
              </a:rPr>
              <a:t>with posts.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GB">
              <a:ea typeface="+mn-ea"/>
              <a:cs typeface="+mn-cs"/>
            </a:endParaRPr>
          </a:p>
          <a:p>
            <a:pPr eaLnBrk="1" hangingPunct="1">
              <a:lnSpc>
                <a:spcPct val="90000"/>
              </a:lnSpc>
              <a:defRPr/>
            </a:pPr>
            <a:r>
              <a:rPr lang="en-GB">
                <a:ea typeface="+mn-ea"/>
                <a:cs typeface="+mn-cs"/>
              </a:rPr>
              <a:t>POSTS:</a:t>
            </a:r>
            <a:endParaRPr lang="en-AU">
              <a:latin typeface="Arial" charset="0"/>
              <a:ea typeface="+mn-ea"/>
              <a:cs typeface="+mn-cs"/>
            </a:endParaRPr>
          </a:p>
          <a:p>
            <a:pPr lvl="1" eaLnBrk="1" hangingPunct="1">
              <a:lnSpc>
                <a:spcPct val="90000"/>
              </a:lnSpc>
              <a:defRPr/>
            </a:pPr>
            <a:r>
              <a:rPr lang="en-AU" err="1">
                <a:solidFill>
                  <a:srgbClr val="FF0000"/>
                </a:solidFill>
                <a:latin typeface="Arial" charset="0"/>
                <a:ea typeface="+mn-ea"/>
              </a:rPr>
              <a:t>MessagePost</a:t>
            </a:r>
            <a:r>
              <a:rPr lang="en-AU">
                <a:solidFill>
                  <a:srgbClr val="FF0000"/>
                </a:solidFill>
                <a:latin typeface="Arial" charset="0"/>
                <a:ea typeface="+mn-ea"/>
              </a:rPr>
              <a:t>:</a:t>
            </a:r>
            <a:r>
              <a:rPr lang="en-AU">
                <a:latin typeface="Arial" charset="0"/>
                <a:ea typeface="+mn-ea"/>
              </a:rPr>
              <a:t> </a:t>
            </a:r>
          </a:p>
          <a:p>
            <a:pPr lvl="2">
              <a:lnSpc>
                <a:spcPct val="90000"/>
              </a:lnSpc>
              <a:defRPr/>
            </a:pPr>
            <a:r>
              <a:rPr lang="en-AU">
                <a:latin typeface="Arial" charset="0"/>
                <a:ea typeface="+mn-ea"/>
              </a:rPr>
              <a:t>multi-line text message.</a:t>
            </a:r>
            <a:endParaRPr lang="en-GB">
              <a:latin typeface="Arial" charset="0"/>
              <a:ea typeface="+mn-ea"/>
            </a:endParaRPr>
          </a:p>
          <a:p>
            <a:pPr lvl="1">
              <a:lnSpc>
                <a:spcPct val="90000"/>
              </a:lnSpc>
              <a:defRPr/>
            </a:pPr>
            <a:r>
              <a:rPr lang="en-GB">
                <a:latin typeface="Arial" charset="0"/>
              </a:rPr>
              <a:t>Operations</a:t>
            </a:r>
            <a:endParaRPr lang="en-GB">
              <a:latin typeface="Arial" charset="0"/>
              <a:ea typeface="+mn-ea"/>
            </a:endParaRPr>
          </a:p>
          <a:p>
            <a:pPr lvl="2">
              <a:lnSpc>
                <a:spcPct val="90000"/>
              </a:lnSpc>
              <a:defRPr/>
            </a:pPr>
            <a:r>
              <a:rPr lang="en-GB">
                <a:latin typeface="Arial" charset="0"/>
              </a:rPr>
              <a:t>e</a:t>
            </a:r>
            <a:r>
              <a:rPr lang="en-GB">
                <a:latin typeface="Arial" charset="0"/>
                <a:ea typeface="+mn-ea"/>
              </a:rPr>
              <a:t>.g., add, display and remove.</a:t>
            </a:r>
            <a:endParaRPr lang="en-GB">
              <a:ea typeface="+mn-ea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6200" y="2532185"/>
            <a:ext cx="3546342" cy="27432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54133992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777B7-1D3C-4AA2-91B0-A5455C39E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Social Network V3.0 - Recap</a:t>
            </a:r>
            <a:endParaRPr lang="en-VI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47AD51-84CF-4754-82E5-9C1C984633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1828800"/>
            <a:ext cx="3795870" cy="419627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235BEA-C8F8-4609-B45E-32BBF4A9E4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7600" y="2209800"/>
            <a:ext cx="3333762" cy="343427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CDCFAC9-5A93-47D0-B491-22C3DE9B1351}"/>
              </a:ext>
            </a:extLst>
          </p:cNvPr>
          <p:cNvSpPr/>
          <p:nvPr/>
        </p:nvSpPr>
        <p:spPr>
          <a:xfrm>
            <a:off x="8296281" y="3545939"/>
            <a:ext cx="1676400" cy="38100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2942570459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777B7-1D3C-4AA2-91B0-A5455C39E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Social Network V3.0 - Recap</a:t>
            </a:r>
            <a:endParaRPr lang="en-VI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B36266-8544-4D27-9201-ECAC3F990A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600" y="2209800"/>
            <a:ext cx="3333762" cy="343427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D9308B-8697-4A86-9FB0-220DF5008AA1}"/>
              </a:ext>
            </a:extLst>
          </p:cNvPr>
          <p:cNvSpPr/>
          <p:nvPr/>
        </p:nvSpPr>
        <p:spPr>
          <a:xfrm>
            <a:off x="8534400" y="4191000"/>
            <a:ext cx="1676400" cy="38100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432AD1-8B8B-4C03-85C2-4A93682011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1867298"/>
            <a:ext cx="3614880" cy="41192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F1B91DE-81FF-479A-9064-6AA40865A2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0800" y="132041"/>
            <a:ext cx="1749813" cy="19343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45927534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777B7-1D3C-4AA2-91B0-A5455C39E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Social Network V3.0 - Recap</a:t>
            </a:r>
            <a:endParaRPr lang="en-VI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B36266-8544-4D27-9201-ECAC3F990A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600" y="2209800"/>
            <a:ext cx="3333762" cy="343427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EC7A87B-56CE-48B2-8F02-999AC2EAA1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1776050"/>
            <a:ext cx="5629486" cy="430177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D9308B-8697-4A86-9FB0-220DF5008AA1}"/>
              </a:ext>
            </a:extLst>
          </p:cNvPr>
          <p:cNvSpPr/>
          <p:nvPr/>
        </p:nvSpPr>
        <p:spPr>
          <a:xfrm>
            <a:off x="8382000" y="2895600"/>
            <a:ext cx="1676400" cy="38100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6B780D9-3E15-4056-AE88-96597364A432}"/>
              </a:ext>
            </a:extLst>
          </p:cNvPr>
          <p:cNvSpPr/>
          <p:nvPr/>
        </p:nvSpPr>
        <p:spPr>
          <a:xfrm>
            <a:off x="1066800" y="5696827"/>
            <a:ext cx="3962400" cy="38100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461C2F7-6601-4F86-8F5D-A4C54C649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0800" y="132041"/>
            <a:ext cx="1749813" cy="19343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76630967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ED6E4-7FA9-0947-FD0A-BB2F720B5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Social Network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B7F6FD1-7F24-20D3-7833-9F5776123B1B}"/>
              </a:ext>
            </a:extLst>
          </p:cNvPr>
          <p:cNvSpPr/>
          <p:nvPr/>
        </p:nvSpPr>
        <p:spPr>
          <a:xfrm>
            <a:off x="2264229" y="954146"/>
            <a:ext cx="7590972" cy="5069284"/>
          </a:xfrm>
          <a:prstGeom prst="roundRect">
            <a:avLst/>
          </a:prstGeom>
          <a:noFill/>
          <a:ln w="63500">
            <a:solidFill>
              <a:srgbClr val="43576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2C351B3-78CD-5CCB-FCC7-04C132A6C1D1}"/>
              </a:ext>
            </a:extLst>
          </p:cNvPr>
          <p:cNvGrpSpPr/>
          <p:nvPr/>
        </p:nvGrpSpPr>
        <p:grpSpPr>
          <a:xfrm>
            <a:off x="4847771" y="1021854"/>
            <a:ext cx="2917372" cy="4958032"/>
            <a:chOff x="3367315" y="1021854"/>
            <a:chExt cx="2917372" cy="4958032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F2C2E5D-C003-61BE-9B42-A6C6AE787B14}"/>
                </a:ext>
              </a:extLst>
            </p:cNvPr>
            <p:cNvSpPr/>
            <p:nvPr/>
          </p:nvSpPr>
          <p:spPr>
            <a:xfrm>
              <a:off x="3367315" y="1021854"/>
              <a:ext cx="2917372" cy="4958032"/>
            </a:xfrm>
            <a:prstGeom prst="rect">
              <a:avLst/>
            </a:prstGeom>
            <a:noFill/>
            <a:ln w="60325">
              <a:solidFill>
                <a:srgbClr val="FCCA3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ounded Rectangular Callout 13">
              <a:extLst>
                <a:ext uri="{FF2B5EF4-FFF2-40B4-BE49-F238E27FC236}">
                  <a16:creationId xmlns:a16="http://schemas.microsoft.com/office/drawing/2014/main" id="{3806553C-096E-7BD9-AC97-2930F64A88DD}"/>
                </a:ext>
              </a:extLst>
            </p:cNvPr>
            <p:cNvSpPr/>
            <p:nvPr/>
          </p:nvSpPr>
          <p:spPr>
            <a:xfrm>
              <a:off x="3657603" y="1250871"/>
              <a:ext cx="1712683" cy="740378"/>
            </a:xfrm>
            <a:prstGeom prst="wedgeRoundRectCallout">
              <a:avLst/>
            </a:prstGeom>
            <a:solidFill>
              <a:srgbClr val="435765"/>
            </a:solidFill>
            <a:ln>
              <a:solidFill>
                <a:srgbClr val="43576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r>
                <a:rPr lang="en-IE" sz="1200" b="0" i="0" dirty="0">
                  <a:solidFill>
                    <a:srgbClr val="E7E9EA"/>
                  </a:solidFill>
                  <a:effectLst/>
                  <a:latin typeface="Inter" panose="02000503000000020004" pitchFamily="2" charset="0"/>
                  <a:ea typeface="Inter" panose="02000503000000020004" pitchFamily="2" charset="0"/>
                </a:rPr>
                <a:t>This is my first post</a:t>
              </a:r>
            </a:p>
            <a:p>
              <a:br>
                <a:rPr lang="en-IE" sz="1200" dirty="0">
                  <a:effectLst/>
                </a:rPr>
              </a:br>
              <a:endParaRPr lang="en-IE" sz="1200" dirty="0">
                <a:effectLst/>
              </a:endParaRPr>
            </a:p>
            <a:p>
              <a:pPr algn="ctr"/>
              <a:endParaRPr lang="en-US" sz="1200" dirty="0"/>
            </a:p>
          </p:txBody>
        </p:sp>
        <p:sp>
          <p:nvSpPr>
            <p:cNvPr id="16" name="Rounded Rectangular Callout 15">
              <a:extLst>
                <a:ext uri="{FF2B5EF4-FFF2-40B4-BE49-F238E27FC236}">
                  <a16:creationId xmlns:a16="http://schemas.microsoft.com/office/drawing/2014/main" id="{C9D22792-8723-6439-7987-F4B99F6CED11}"/>
                </a:ext>
              </a:extLst>
            </p:cNvPr>
            <p:cNvSpPr/>
            <p:nvPr/>
          </p:nvSpPr>
          <p:spPr>
            <a:xfrm>
              <a:off x="3657603" y="4056968"/>
              <a:ext cx="1712683" cy="740378"/>
            </a:xfrm>
            <a:prstGeom prst="wedgeRoundRectCallout">
              <a:avLst/>
            </a:prstGeom>
            <a:solidFill>
              <a:srgbClr val="435765"/>
            </a:solidFill>
            <a:ln>
              <a:solidFill>
                <a:srgbClr val="43576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r>
                <a:rPr lang="en-IE" sz="1200" dirty="0">
                  <a:solidFill>
                    <a:srgbClr val="E7E9EA"/>
                  </a:solidFill>
                  <a:latin typeface="Inter" panose="02000503000000020004" pitchFamily="2" charset="0"/>
                  <a:ea typeface="Inter" panose="02000503000000020004" pitchFamily="2" charset="0"/>
                </a:rPr>
                <a:t>This is my third post</a:t>
              </a:r>
            </a:p>
            <a:p>
              <a:br>
                <a:rPr lang="en-IE" sz="1200" dirty="0">
                  <a:effectLst/>
                </a:rPr>
              </a:br>
              <a:endParaRPr lang="en-IE" sz="1200" dirty="0">
                <a:effectLst/>
              </a:endParaRPr>
            </a:p>
            <a:p>
              <a:pPr algn="ctr"/>
              <a:endParaRPr lang="en-US" sz="1200" dirty="0"/>
            </a:p>
          </p:txBody>
        </p:sp>
        <p:sp>
          <p:nvSpPr>
            <p:cNvPr id="17" name="Rounded Rectangular Callout 16">
              <a:extLst>
                <a:ext uri="{FF2B5EF4-FFF2-40B4-BE49-F238E27FC236}">
                  <a16:creationId xmlns:a16="http://schemas.microsoft.com/office/drawing/2014/main" id="{0BEAF8AD-4042-41FF-D0AD-9FC9E888C6F1}"/>
                </a:ext>
              </a:extLst>
            </p:cNvPr>
            <p:cNvSpPr/>
            <p:nvPr/>
          </p:nvSpPr>
          <p:spPr>
            <a:xfrm>
              <a:off x="3657603" y="4999870"/>
              <a:ext cx="1712683" cy="740378"/>
            </a:xfrm>
            <a:prstGeom prst="wedgeRoundRectCallout">
              <a:avLst/>
            </a:prstGeom>
            <a:solidFill>
              <a:srgbClr val="435765"/>
            </a:solidFill>
            <a:ln>
              <a:solidFill>
                <a:srgbClr val="43576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r>
                <a:rPr lang="en-IE" sz="1200" dirty="0">
                  <a:solidFill>
                    <a:srgbClr val="E7E9EA"/>
                  </a:solidFill>
                  <a:latin typeface="Inter" panose="02000503000000020004" pitchFamily="2" charset="0"/>
                  <a:ea typeface="Inter" panose="02000503000000020004" pitchFamily="2" charset="0"/>
                </a:rPr>
                <a:t>This is my fourth post</a:t>
              </a:r>
            </a:p>
            <a:p>
              <a:br>
                <a:rPr lang="en-IE" sz="1200" dirty="0">
                  <a:effectLst/>
                </a:rPr>
              </a:br>
              <a:endParaRPr lang="en-IE" sz="1200" dirty="0">
                <a:effectLst/>
              </a:endParaRPr>
            </a:p>
            <a:p>
              <a:pPr algn="ctr"/>
              <a:endParaRPr lang="en-US" sz="1200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AF66736-BF30-0683-6D9C-23ABB122B3FE}"/>
              </a:ext>
            </a:extLst>
          </p:cNvPr>
          <p:cNvSpPr txBox="1"/>
          <p:nvPr/>
        </p:nvSpPr>
        <p:spPr>
          <a:xfrm>
            <a:off x="406400" y="3091543"/>
            <a:ext cx="79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Posts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847B7DC-D7DB-7F7D-6BA3-530C4858CF0A}"/>
              </a:ext>
            </a:extLst>
          </p:cNvPr>
          <p:cNvCxnSpPr>
            <a:cxnSpLocks/>
            <a:stCxn id="21" idx="0"/>
            <a:endCxn id="14" idx="1"/>
          </p:cNvCxnSpPr>
          <p:nvPr/>
        </p:nvCxnSpPr>
        <p:spPr>
          <a:xfrm flipV="1">
            <a:off x="802503" y="1621060"/>
            <a:ext cx="4335556" cy="1470483"/>
          </a:xfrm>
          <a:prstGeom prst="straightConnector1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78A1771-8AD1-F642-4B5B-22C59D7A78C0}"/>
              </a:ext>
            </a:extLst>
          </p:cNvPr>
          <p:cNvCxnSpPr>
            <a:cxnSpLocks/>
            <a:stCxn id="21" idx="3"/>
            <a:endCxn id="15" idx="1"/>
          </p:cNvCxnSpPr>
          <p:nvPr/>
        </p:nvCxnSpPr>
        <p:spPr>
          <a:xfrm flipV="1">
            <a:off x="1198605" y="2960628"/>
            <a:ext cx="3939454" cy="315581"/>
          </a:xfrm>
          <a:prstGeom prst="straightConnector1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D53384C-223B-7A76-ACCA-2182167D8B82}"/>
              </a:ext>
            </a:extLst>
          </p:cNvPr>
          <p:cNvCxnSpPr>
            <a:cxnSpLocks/>
            <a:stCxn id="21" idx="2"/>
            <a:endCxn id="16" idx="1"/>
          </p:cNvCxnSpPr>
          <p:nvPr/>
        </p:nvCxnSpPr>
        <p:spPr>
          <a:xfrm>
            <a:off x="802503" y="3460875"/>
            <a:ext cx="4335556" cy="966282"/>
          </a:xfrm>
          <a:prstGeom prst="straightConnector1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DE47AE8-B422-82EF-267C-DBC31A63FC51}"/>
              </a:ext>
            </a:extLst>
          </p:cNvPr>
          <p:cNvCxnSpPr>
            <a:cxnSpLocks/>
            <a:stCxn id="21" idx="2"/>
            <a:endCxn id="17" idx="1"/>
          </p:cNvCxnSpPr>
          <p:nvPr/>
        </p:nvCxnSpPr>
        <p:spPr>
          <a:xfrm>
            <a:off x="802503" y="3460875"/>
            <a:ext cx="4335556" cy="1909184"/>
          </a:xfrm>
          <a:prstGeom prst="straightConnector1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CB0A7FD-1A53-032C-F238-595B20DFB268}"/>
              </a:ext>
            </a:extLst>
          </p:cNvPr>
          <p:cNvSpPr txBox="1"/>
          <p:nvPr/>
        </p:nvSpPr>
        <p:spPr>
          <a:xfrm>
            <a:off x="10776857" y="2775961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Text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84A219B-9FDC-FD05-A3E2-16A376BE4B30}"/>
              </a:ext>
            </a:extLst>
          </p:cNvPr>
          <p:cNvCxnSpPr>
            <a:cxnSpLocks/>
            <a:stCxn id="34" idx="0"/>
            <a:endCxn id="14" idx="3"/>
          </p:cNvCxnSpPr>
          <p:nvPr/>
        </p:nvCxnSpPr>
        <p:spPr>
          <a:xfrm flipH="1" flipV="1">
            <a:off x="6850742" y="1621060"/>
            <a:ext cx="4263708" cy="1154901"/>
          </a:xfrm>
          <a:prstGeom prst="straightConnector1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4075B3C-1152-9C2F-5B4F-FF8D6341C960}"/>
              </a:ext>
            </a:extLst>
          </p:cNvPr>
          <p:cNvCxnSpPr>
            <a:cxnSpLocks/>
            <a:stCxn id="34" idx="1"/>
            <a:endCxn id="16" idx="3"/>
          </p:cNvCxnSpPr>
          <p:nvPr/>
        </p:nvCxnSpPr>
        <p:spPr>
          <a:xfrm flipH="1">
            <a:off x="6850742" y="2960627"/>
            <a:ext cx="3926115" cy="1466530"/>
          </a:xfrm>
          <a:prstGeom prst="straightConnector1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C62F406-7EFC-861A-3283-D2F69829010D}"/>
              </a:ext>
            </a:extLst>
          </p:cNvPr>
          <p:cNvCxnSpPr>
            <a:cxnSpLocks/>
            <a:stCxn id="34" idx="2"/>
          </p:cNvCxnSpPr>
          <p:nvPr/>
        </p:nvCxnSpPr>
        <p:spPr>
          <a:xfrm flipH="1">
            <a:off x="6850741" y="3145293"/>
            <a:ext cx="4263709" cy="2224766"/>
          </a:xfrm>
          <a:prstGeom prst="straightConnector1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ular Callout 24">
            <a:extLst>
              <a:ext uri="{FF2B5EF4-FFF2-40B4-BE49-F238E27FC236}">
                <a16:creationId xmlns:a16="http://schemas.microsoft.com/office/drawing/2014/main" id="{C9D22792-8723-6439-7987-F4B99F6CED11}"/>
              </a:ext>
            </a:extLst>
          </p:cNvPr>
          <p:cNvSpPr/>
          <p:nvPr/>
        </p:nvSpPr>
        <p:spPr>
          <a:xfrm>
            <a:off x="5138059" y="2649675"/>
            <a:ext cx="1712683" cy="740378"/>
          </a:xfrm>
          <a:prstGeom prst="wedgeRoundRectCallout">
            <a:avLst/>
          </a:prstGeom>
          <a:solidFill>
            <a:srgbClr val="435765"/>
          </a:solidFill>
          <a:ln>
            <a:solidFill>
              <a:srgbClr val="43576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E" sz="1200" b="0" i="0" dirty="0">
              <a:solidFill>
                <a:srgbClr val="E7E9EA"/>
              </a:solidFill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endParaRPr lang="en-IE" sz="1200" dirty="0">
              <a:solidFill>
                <a:srgbClr val="E7E9EA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r>
              <a: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rPr>
              <a:t>This is my second post</a:t>
            </a:r>
          </a:p>
          <a:p>
            <a:br>
              <a:rPr lang="en-IE" sz="1200" dirty="0">
                <a:effectLst/>
              </a:rPr>
            </a:br>
            <a:endParaRPr lang="en-IE" sz="1200" dirty="0">
              <a:effectLst/>
            </a:endParaRPr>
          </a:p>
          <a:p>
            <a:pPr algn="ctr"/>
            <a:endParaRPr lang="en-US" sz="1200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4075B3C-1152-9C2F-5B4F-FF8D6341C960}"/>
              </a:ext>
            </a:extLst>
          </p:cNvPr>
          <p:cNvCxnSpPr>
            <a:cxnSpLocks/>
          </p:cNvCxnSpPr>
          <p:nvPr/>
        </p:nvCxnSpPr>
        <p:spPr>
          <a:xfrm flipH="1">
            <a:off x="6847116" y="2905655"/>
            <a:ext cx="3813796" cy="123773"/>
          </a:xfrm>
          <a:prstGeom prst="straightConnector1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336528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ED6E4-7FA9-0947-FD0A-BB2F720B5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069" y="447695"/>
            <a:ext cx="5612219" cy="860425"/>
          </a:xfrm>
        </p:spPr>
        <p:txBody>
          <a:bodyPr>
            <a:normAutofit fontScale="90000"/>
          </a:bodyPr>
          <a:lstStyle/>
          <a:p>
            <a:r>
              <a:rPr lang="en-US" dirty="0"/>
              <a:t>Social Network v4.0 – lets move it on!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F45EE1-33EE-EDBD-0B42-8EEAC6D72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9649" y="1308120"/>
            <a:ext cx="5680908" cy="452255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435765"/>
                </a:solidFill>
              </a:rPr>
              <a:t>A small, prototype SOCIAL NETWORK.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435765"/>
                </a:solidFill>
              </a:rPr>
              <a:t>Supports </a:t>
            </a:r>
            <a:r>
              <a:rPr lang="en-GB" dirty="0">
                <a:solidFill>
                  <a:srgbClr val="435765"/>
                </a:solidFill>
                <a:highlight>
                  <a:srgbClr val="FCCA3A"/>
                </a:highlight>
              </a:rPr>
              <a:t>a News Feed </a:t>
            </a:r>
            <a:r>
              <a:rPr lang="en-GB" dirty="0">
                <a:solidFill>
                  <a:srgbClr val="435765"/>
                </a:solidFill>
              </a:rPr>
              <a:t>with posts.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rgbClr val="435765"/>
                </a:solidFill>
              </a:rPr>
              <a:t>POSTS</a:t>
            </a:r>
            <a:r>
              <a:rPr lang="en-GB" dirty="0">
                <a:solidFill>
                  <a:srgbClr val="435765"/>
                </a:solidFill>
              </a:rPr>
              <a:t>: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GB" b="1" dirty="0" err="1">
                <a:solidFill>
                  <a:srgbClr val="435765"/>
                </a:solidFill>
              </a:rPr>
              <a:t>MessagePost</a:t>
            </a:r>
            <a:r>
              <a:rPr lang="en-GB" dirty="0">
                <a:solidFill>
                  <a:srgbClr val="435765"/>
                </a:solidFill>
              </a:rPr>
              <a:t>: </a:t>
            </a:r>
          </a:p>
          <a:p>
            <a:pPr marL="1257300" lvl="2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435765"/>
                </a:solidFill>
              </a:rPr>
              <a:t>multi-line text messages.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GB" b="1" dirty="0" err="1">
                <a:solidFill>
                  <a:srgbClr val="435765"/>
                </a:solidFill>
              </a:rPr>
              <a:t>PhotoPost</a:t>
            </a:r>
            <a:r>
              <a:rPr lang="en-GB" dirty="0">
                <a:solidFill>
                  <a:srgbClr val="435765"/>
                </a:solidFill>
              </a:rPr>
              <a:t>: </a:t>
            </a:r>
          </a:p>
          <a:p>
            <a:pPr marL="1257300" lvl="2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435765"/>
                </a:solidFill>
              </a:rPr>
              <a:t>photo and caption.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rgbClr val="435765"/>
                </a:solidFill>
              </a:rPr>
              <a:t>Operations</a:t>
            </a:r>
          </a:p>
          <a:p>
            <a:pPr marL="800100" lvl="1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435765"/>
                </a:solidFill>
              </a:rPr>
              <a:t>e.g., search, display and remove.</a:t>
            </a: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GB" dirty="0">
              <a:solidFill>
                <a:srgbClr val="43576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rgbClr val="43576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87008A-B8E2-0928-2B36-6E55D7766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2746" y="340240"/>
            <a:ext cx="2795465" cy="6232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86234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ED6E4-7FA9-0947-FD0A-BB2F720B5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Social Network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B7F6FD1-7F24-20D3-7833-9F5776123B1B}"/>
              </a:ext>
            </a:extLst>
          </p:cNvPr>
          <p:cNvSpPr/>
          <p:nvPr/>
        </p:nvSpPr>
        <p:spPr>
          <a:xfrm>
            <a:off x="2264229" y="954146"/>
            <a:ext cx="7590972" cy="5069284"/>
          </a:xfrm>
          <a:prstGeom prst="roundRect">
            <a:avLst/>
          </a:prstGeom>
          <a:noFill/>
          <a:ln w="63500">
            <a:solidFill>
              <a:srgbClr val="43576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2C351B3-78CD-5CCB-FCC7-04C132A6C1D1}"/>
              </a:ext>
            </a:extLst>
          </p:cNvPr>
          <p:cNvGrpSpPr/>
          <p:nvPr/>
        </p:nvGrpSpPr>
        <p:grpSpPr>
          <a:xfrm>
            <a:off x="4847771" y="1021854"/>
            <a:ext cx="2917372" cy="4958032"/>
            <a:chOff x="3367315" y="1021854"/>
            <a:chExt cx="2917372" cy="4958032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F2C2E5D-C003-61BE-9B42-A6C6AE787B14}"/>
                </a:ext>
              </a:extLst>
            </p:cNvPr>
            <p:cNvSpPr/>
            <p:nvPr/>
          </p:nvSpPr>
          <p:spPr>
            <a:xfrm>
              <a:off x="3367315" y="1021854"/>
              <a:ext cx="2917372" cy="4958032"/>
            </a:xfrm>
            <a:prstGeom prst="rect">
              <a:avLst/>
            </a:prstGeom>
            <a:noFill/>
            <a:ln w="60325">
              <a:solidFill>
                <a:srgbClr val="FCCA3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ounded Rectangular Callout 13">
              <a:extLst>
                <a:ext uri="{FF2B5EF4-FFF2-40B4-BE49-F238E27FC236}">
                  <a16:creationId xmlns:a16="http://schemas.microsoft.com/office/drawing/2014/main" id="{3806553C-096E-7BD9-AC97-2930F64A88DD}"/>
                </a:ext>
              </a:extLst>
            </p:cNvPr>
            <p:cNvSpPr/>
            <p:nvPr/>
          </p:nvSpPr>
          <p:spPr>
            <a:xfrm>
              <a:off x="3657603" y="1250871"/>
              <a:ext cx="1712683" cy="740378"/>
            </a:xfrm>
            <a:prstGeom prst="wedgeRoundRectCallout">
              <a:avLst/>
            </a:prstGeom>
            <a:solidFill>
              <a:srgbClr val="435765"/>
            </a:solidFill>
            <a:ln>
              <a:solidFill>
                <a:srgbClr val="43576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r>
                <a:rPr lang="en-IE" sz="1200" b="0" i="0" dirty="0">
                  <a:solidFill>
                    <a:srgbClr val="E7E9EA"/>
                  </a:solidFill>
                  <a:effectLst/>
                  <a:latin typeface="Inter" panose="02000503000000020004" pitchFamily="2" charset="0"/>
                  <a:ea typeface="Inter" panose="02000503000000020004" pitchFamily="2" charset="0"/>
                </a:rPr>
                <a:t>This is my first post</a:t>
              </a:r>
            </a:p>
            <a:p>
              <a:br>
                <a:rPr lang="en-IE" sz="1200" dirty="0">
                  <a:effectLst/>
                </a:rPr>
              </a:br>
              <a:endParaRPr lang="en-IE" sz="1200" dirty="0">
                <a:effectLst/>
              </a:endParaRPr>
            </a:p>
            <a:p>
              <a:pPr algn="ctr"/>
              <a:endParaRPr lang="en-US" sz="1200" dirty="0"/>
            </a:p>
          </p:txBody>
        </p:sp>
        <p:sp>
          <p:nvSpPr>
            <p:cNvPr id="16" name="Rounded Rectangular Callout 15">
              <a:extLst>
                <a:ext uri="{FF2B5EF4-FFF2-40B4-BE49-F238E27FC236}">
                  <a16:creationId xmlns:a16="http://schemas.microsoft.com/office/drawing/2014/main" id="{C9D22792-8723-6439-7987-F4B99F6CED11}"/>
                </a:ext>
              </a:extLst>
            </p:cNvPr>
            <p:cNvSpPr/>
            <p:nvPr/>
          </p:nvSpPr>
          <p:spPr>
            <a:xfrm>
              <a:off x="3657603" y="4056968"/>
              <a:ext cx="1712683" cy="740378"/>
            </a:xfrm>
            <a:prstGeom prst="wedgeRoundRectCallout">
              <a:avLst/>
            </a:prstGeom>
            <a:solidFill>
              <a:srgbClr val="435765"/>
            </a:solidFill>
            <a:ln>
              <a:solidFill>
                <a:srgbClr val="43576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r>
                <a:rPr lang="en-IE" sz="1200" dirty="0">
                  <a:solidFill>
                    <a:srgbClr val="E7E9EA"/>
                  </a:solidFill>
                  <a:latin typeface="Inter" panose="02000503000000020004" pitchFamily="2" charset="0"/>
                  <a:ea typeface="Inter" panose="02000503000000020004" pitchFamily="2" charset="0"/>
                </a:rPr>
                <a:t>This is my third post</a:t>
              </a:r>
            </a:p>
            <a:p>
              <a:br>
                <a:rPr lang="en-IE" sz="1200" dirty="0">
                  <a:effectLst/>
                </a:rPr>
              </a:br>
              <a:endParaRPr lang="en-IE" sz="1200" dirty="0">
                <a:effectLst/>
              </a:endParaRPr>
            </a:p>
            <a:p>
              <a:pPr algn="ctr"/>
              <a:endParaRPr lang="en-US" sz="1200" dirty="0"/>
            </a:p>
          </p:txBody>
        </p:sp>
        <p:sp>
          <p:nvSpPr>
            <p:cNvPr id="17" name="Rounded Rectangular Callout 16">
              <a:extLst>
                <a:ext uri="{FF2B5EF4-FFF2-40B4-BE49-F238E27FC236}">
                  <a16:creationId xmlns:a16="http://schemas.microsoft.com/office/drawing/2014/main" id="{0BEAF8AD-4042-41FF-D0AD-9FC9E888C6F1}"/>
                </a:ext>
              </a:extLst>
            </p:cNvPr>
            <p:cNvSpPr/>
            <p:nvPr/>
          </p:nvSpPr>
          <p:spPr>
            <a:xfrm>
              <a:off x="3657603" y="4999870"/>
              <a:ext cx="1712683" cy="740378"/>
            </a:xfrm>
            <a:prstGeom prst="wedgeRoundRectCallout">
              <a:avLst/>
            </a:prstGeom>
            <a:solidFill>
              <a:srgbClr val="435765"/>
            </a:solidFill>
            <a:ln>
              <a:solidFill>
                <a:srgbClr val="43576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r>
                <a:rPr lang="en-IE" sz="1200" dirty="0">
                  <a:solidFill>
                    <a:srgbClr val="E7E9EA"/>
                  </a:solidFill>
                  <a:latin typeface="Inter" panose="02000503000000020004" pitchFamily="2" charset="0"/>
                  <a:ea typeface="Inter" panose="02000503000000020004" pitchFamily="2" charset="0"/>
                </a:rPr>
                <a:t>This is my fourth post</a:t>
              </a:r>
            </a:p>
            <a:p>
              <a:br>
                <a:rPr lang="en-IE" sz="1200" dirty="0">
                  <a:effectLst/>
                </a:rPr>
              </a:br>
              <a:endParaRPr lang="en-IE" sz="1200" dirty="0">
                <a:effectLst/>
              </a:endParaRPr>
            </a:p>
            <a:p>
              <a:pPr algn="ctr"/>
              <a:endParaRPr lang="en-US" sz="1200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AF66736-BF30-0683-6D9C-23ABB122B3FE}"/>
              </a:ext>
            </a:extLst>
          </p:cNvPr>
          <p:cNvSpPr txBox="1"/>
          <p:nvPr/>
        </p:nvSpPr>
        <p:spPr>
          <a:xfrm>
            <a:off x="406400" y="3091543"/>
            <a:ext cx="79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Posts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847B7DC-D7DB-7F7D-6BA3-530C4858CF0A}"/>
              </a:ext>
            </a:extLst>
          </p:cNvPr>
          <p:cNvCxnSpPr>
            <a:cxnSpLocks/>
            <a:stCxn id="21" idx="0"/>
            <a:endCxn id="14" idx="1"/>
          </p:cNvCxnSpPr>
          <p:nvPr/>
        </p:nvCxnSpPr>
        <p:spPr>
          <a:xfrm flipV="1">
            <a:off x="802503" y="1621060"/>
            <a:ext cx="4335556" cy="1470483"/>
          </a:xfrm>
          <a:prstGeom prst="straightConnector1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78A1771-8AD1-F642-4B5B-22C59D7A78C0}"/>
              </a:ext>
            </a:extLst>
          </p:cNvPr>
          <p:cNvCxnSpPr>
            <a:cxnSpLocks/>
            <a:stCxn id="21" idx="3"/>
            <a:endCxn id="15" idx="1"/>
          </p:cNvCxnSpPr>
          <p:nvPr/>
        </p:nvCxnSpPr>
        <p:spPr>
          <a:xfrm flipV="1">
            <a:off x="1198605" y="2960628"/>
            <a:ext cx="3939454" cy="315581"/>
          </a:xfrm>
          <a:prstGeom prst="straightConnector1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D53384C-223B-7A76-ACCA-2182167D8B82}"/>
              </a:ext>
            </a:extLst>
          </p:cNvPr>
          <p:cNvCxnSpPr>
            <a:cxnSpLocks/>
            <a:stCxn id="21" idx="2"/>
            <a:endCxn id="16" idx="1"/>
          </p:cNvCxnSpPr>
          <p:nvPr/>
        </p:nvCxnSpPr>
        <p:spPr>
          <a:xfrm>
            <a:off x="802503" y="3460875"/>
            <a:ext cx="4335556" cy="966282"/>
          </a:xfrm>
          <a:prstGeom prst="straightConnector1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DE47AE8-B422-82EF-267C-DBC31A63FC51}"/>
              </a:ext>
            </a:extLst>
          </p:cNvPr>
          <p:cNvCxnSpPr>
            <a:cxnSpLocks/>
            <a:stCxn id="21" idx="2"/>
            <a:endCxn id="17" idx="1"/>
          </p:cNvCxnSpPr>
          <p:nvPr/>
        </p:nvCxnSpPr>
        <p:spPr>
          <a:xfrm>
            <a:off x="802503" y="3460875"/>
            <a:ext cx="4335556" cy="1909184"/>
          </a:xfrm>
          <a:prstGeom prst="straightConnector1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CB0A7FD-1A53-032C-F238-595B20DFB268}"/>
              </a:ext>
            </a:extLst>
          </p:cNvPr>
          <p:cNvSpPr txBox="1"/>
          <p:nvPr/>
        </p:nvSpPr>
        <p:spPr>
          <a:xfrm>
            <a:off x="10776857" y="2775961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Text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84A219B-9FDC-FD05-A3E2-16A376BE4B30}"/>
              </a:ext>
            </a:extLst>
          </p:cNvPr>
          <p:cNvCxnSpPr>
            <a:cxnSpLocks/>
            <a:stCxn id="34" idx="0"/>
            <a:endCxn id="14" idx="3"/>
          </p:cNvCxnSpPr>
          <p:nvPr/>
        </p:nvCxnSpPr>
        <p:spPr>
          <a:xfrm flipH="1" flipV="1">
            <a:off x="6850742" y="1621060"/>
            <a:ext cx="4263708" cy="1154901"/>
          </a:xfrm>
          <a:prstGeom prst="straightConnector1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4075B3C-1152-9C2F-5B4F-FF8D6341C960}"/>
              </a:ext>
            </a:extLst>
          </p:cNvPr>
          <p:cNvCxnSpPr>
            <a:cxnSpLocks/>
            <a:stCxn id="34" idx="1"/>
            <a:endCxn id="16" idx="3"/>
          </p:cNvCxnSpPr>
          <p:nvPr/>
        </p:nvCxnSpPr>
        <p:spPr>
          <a:xfrm flipH="1">
            <a:off x="6850742" y="2960627"/>
            <a:ext cx="3926115" cy="1466530"/>
          </a:xfrm>
          <a:prstGeom prst="straightConnector1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C62F406-7EFC-861A-3283-D2F69829010D}"/>
              </a:ext>
            </a:extLst>
          </p:cNvPr>
          <p:cNvCxnSpPr>
            <a:cxnSpLocks/>
            <a:stCxn id="34" idx="2"/>
          </p:cNvCxnSpPr>
          <p:nvPr/>
        </p:nvCxnSpPr>
        <p:spPr>
          <a:xfrm flipH="1">
            <a:off x="6850741" y="3145293"/>
            <a:ext cx="4263709" cy="2224766"/>
          </a:xfrm>
          <a:prstGeom prst="straightConnector1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ounded Rectangular Callout 21">
            <a:extLst>
              <a:ext uri="{FF2B5EF4-FFF2-40B4-BE49-F238E27FC236}">
                <a16:creationId xmlns:a16="http://schemas.microsoft.com/office/drawing/2014/main" id="{F380142E-3910-4571-28A0-07121BCE035C}"/>
              </a:ext>
            </a:extLst>
          </p:cNvPr>
          <p:cNvSpPr/>
          <p:nvPr/>
        </p:nvSpPr>
        <p:spPr>
          <a:xfrm>
            <a:off x="5138059" y="2103999"/>
            <a:ext cx="1712683" cy="1713257"/>
          </a:xfrm>
          <a:prstGeom prst="wedgeRoundRectCallout">
            <a:avLst/>
          </a:prstGeom>
          <a:solidFill>
            <a:srgbClr val="FCCA3A"/>
          </a:solidFill>
          <a:ln>
            <a:solidFill>
              <a:srgbClr val="43576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E" sz="1200" b="0" i="0" dirty="0">
              <a:solidFill>
                <a:srgbClr val="E7E9EA"/>
              </a:solidFill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endParaRPr lang="en-IE" sz="1200" dirty="0">
              <a:solidFill>
                <a:srgbClr val="E7E9EA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endParaRPr lang="en-IE" sz="1200" b="0" i="0" dirty="0">
              <a:solidFill>
                <a:srgbClr val="E7E9EA"/>
              </a:solidFill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endParaRPr lang="en-IE" sz="1200" dirty="0">
              <a:solidFill>
                <a:srgbClr val="E7E9EA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endParaRPr lang="en-IE" sz="1200" b="0" i="0" dirty="0">
              <a:solidFill>
                <a:srgbClr val="E7E9EA"/>
              </a:solidFill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endParaRPr lang="en-IE" sz="1200" dirty="0">
              <a:solidFill>
                <a:srgbClr val="E7E9EA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endParaRPr lang="en-IE" sz="1200" b="0" i="0" dirty="0">
              <a:solidFill>
                <a:srgbClr val="E7E9EA"/>
              </a:solidFill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endParaRPr lang="en-IE" sz="1200" dirty="0">
              <a:solidFill>
                <a:srgbClr val="E7E9EA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endParaRPr lang="en-IE" sz="1200" dirty="0">
              <a:solidFill>
                <a:srgbClr val="E7E9EA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r>
              <a:rPr lang="en-IE" sz="1200" b="0" i="0" dirty="0">
                <a:solidFill>
                  <a:srgbClr val="435765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   First post</a:t>
            </a:r>
          </a:p>
          <a:p>
            <a:br>
              <a:rPr lang="en-IE" sz="1200" dirty="0">
                <a:effectLst/>
              </a:rPr>
            </a:br>
            <a:endParaRPr lang="en-IE" sz="1200" dirty="0">
              <a:effectLst/>
            </a:endParaRPr>
          </a:p>
          <a:p>
            <a:pPr algn="ctr"/>
            <a:endParaRPr lang="en-US" sz="1200" dirty="0"/>
          </a:p>
        </p:txBody>
      </p:sp>
      <p:pic>
        <p:nvPicPr>
          <p:cNvPr id="27" name="Picture 26" descr="A picture containing dark&#10;&#10;Description automatically generated">
            <a:extLst>
              <a:ext uri="{FF2B5EF4-FFF2-40B4-BE49-F238E27FC236}">
                <a16:creationId xmlns:a16="http://schemas.microsoft.com/office/drawing/2014/main" id="{8B44A7F1-92F1-6818-121A-B108B65DE4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8130" y="2133028"/>
            <a:ext cx="1172540" cy="1184384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6D59CD2E-83CF-46E6-B2F8-48B01556C2B3}"/>
              </a:ext>
            </a:extLst>
          </p:cNvPr>
          <p:cNvSpPr txBox="1"/>
          <p:nvPr/>
        </p:nvSpPr>
        <p:spPr>
          <a:xfrm>
            <a:off x="10776857" y="1782896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CCA3A"/>
                </a:solidFill>
                <a:latin typeface="Inter" panose="02000503000000020004" pitchFamily="2" charset="0"/>
                <a:ea typeface="Inter" panose="02000503000000020004" pitchFamily="2" charset="0"/>
              </a:rPr>
              <a:t>Photo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A8D11AE-3111-08BD-8E6A-4DC37BCE26A8}"/>
              </a:ext>
            </a:extLst>
          </p:cNvPr>
          <p:cNvCxnSpPr>
            <a:cxnSpLocks/>
            <a:stCxn id="29" idx="1"/>
          </p:cNvCxnSpPr>
          <p:nvPr/>
        </p:nvCxnSpPr>
        <p:spPr>
          <a:xfrm flipH="1">
            <a:off x="6850742" y="1967562"/>
            <a:ext cx="3926115" cy="993066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055999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34" grpId="0"/>
      <p:bldP spid="2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/>
              <a:t>Social Network V4.0 – Class Diagram</a:t>
            </a:r>
            <a:endParaRPr lang="en-US" b="1">
              <a:ea typeface="+mj-ea"/>
              <a:cs typeface="+mj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1BF1E8-0948-4665-85C9-EE94EDF56D26}"/>
              </a:ext>
            </a:extLst>
          </p:cNvPr>
          <p:cNvSpPr/>
          <p:nvPr/>
        </p:nvSpPr>
        <p:spPr>
          <a:xfrm>
            <a:off x="750277" y="1905000"/>
            <a:ext cx="2221523" cy="955673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  <a:tailEnd w="lg" len="lg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3200" b="1"/>
              <a:t>Driver</a:t>
            </a:r>
            <a:endParaRPr lang="en-GB" b="1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C1DD6D3-5862-465E-AFE4-7C551D64BD45}"/>
              </a:ext>
            </a:extLst>
          </p:cNvPr>
          <p:cNvSpPr/>
          <p:nvPr/>
        </p:nvSpPr>
        <p:spPr>
          <a:xfrm>
            <a:off x="4038600" y="1916237"/>
            <a:ext cx="2209800" cy="955673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  <a:tailEnd w="lg" len="lg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3200" b="1" err="1"/>
              <a:t>NewsFeed</a:t>
            </a:r>
            <a:r>
              <a:rPr lang="en-GB" sz="3200" b="1"/>
              <a:t>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B4DB5AF-C62C-47F4-A592-2781AA48789E}"/>
              </a:ext>
            </a:extLst>
          </p:cNvPr>
          <p:cNvCxnSpPr>
            <a:cxnSpLocks/>
            <a:stCxn id="5" idx="3"/>
            <a:endCxn id="12" idx="1"/>
          </p:cNvCxnSpPr>
          <p:nvPr/>
        </p:nvCxnSpPr>
        <p:spPr>
          <a:xfrm>
            <a:off x="2971800" y="2382837"/>
            <a:ext cx="1066800" cy="11237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741D0F98-6909-44F0-85B2-B7A8CFEB5EF7}"/>
              </a:ext>
            </a:extLst>
          </p:cNvPr>
          <p:cNvSpPr/>
          <p:nvPr/>
        </p:nvSpPr>
        <p:spPr>
          <a:xfrm>
            <a:off x="6858000" y="3553848"/>
            <a:ext cx="2438400" cy="955673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3200" b="1" err="1"/>
              <a:t>MessagePost</a:t>
            </a:r>
            <a:r>
              <a:rPr lang="en-GB" sz="3200" b="1"/>
              <a:t>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1F50A5-9B25-4BF8-AC34-2F091245F9E1}"/>
              </a:ext>
            </a:extLst>
          </p:cNvPr>
          <p:cNvSpPr/>
          <p:nvPr/>
        </p:nvSpPr>
        <p:spPr>
          <a:xfrm>
            <a:off x="6858000" y="4876801"/>
            <a:ext cx="2438400" cy="955673"/>
          </a:xfrm>
          <a:prstGeom prst="rect">
            <a:avLst/>
          </a:prstGeom>
          <a:solidFill>
            <a:srgbClr val="FED6AA"/>
          </a:solidFill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3200" b="1" err="1"/>
              <a:t>PhotoPost</a:t>
            </a:r>
            <a:endParaRPr lang="en-GB" sz="3200" b="1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693A82A7-AB4F-4F30-890B-D2F248570F81}"/>
              </a:ext>
            </a:extLst>
          </p:cNvPr>
          <p:cNvCxnSpPr>
            <a:stCxn id="12" idx="2"/>
            <a:endCxn id="18" idx="1"/>
          </p:cNvCxnSpPr>
          <p:nvPr/>
        </p:nvCxnSpPr>
        <p:spPr>
          <a:xfrm rot="16200000" flipH="1">
            <a:off x="5420863" y="2594547"/>
            <a:ext cx="1159775" cy="1714500"/>
          </a:xfrm>
          <a:prstGeom prst="bentConnector2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9E6B8717-9E67-4DEA-AAF7-EC824BABE8AA}"/>
              </a:ext>
            </a:extLst>
          </p:cNvPr>
          <p:cNvCxnSpPr>
            <a:cxnSpLocks/>
            <a:endCxn id="19" idx="1"/>
          </p:cNvCxnSpPr>
          <p:nvPr/>
        </p:nvCxnSpPr>
        <p:spPr>
          <a:xfrm rot="16200000" flipH="1">
            <a:off x="4699214" y="3195852"/>
            <a:ext cx="2469724" cy="1847847"/>
          </a:xfrm>
          <a:prstGeom prst="bentConnector2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Rounded Rectangular Callout 12">
            <a:extLst>
              <a:ext uri="{FF2B5EF4-FFF2-40B4-BE49-F238E27FC236}">
                <a16:creationId xmlns:a16="http://schemas.microsoft.com/office/drawing/2014/main" id="{69AED686-0B1E-004C-17F2-CFD727C735DD}"/>
              </a:ext>
            </a:extLst>
          </p:cNvPr>
          <p:cNvSpPr/>
          <p:nvPr/>
        </p:nvSpPr>
        <p:spPr>
          <a:xfrm>
            <a:off x="9571016" y="3553848"/>
            <a:ext cx="1712683" cy="740378"/>
          </a:xfrm>
          <a:prstGeom prst="wedgeRoundRectCallout">
            <a:avLst/>
          </a:prstGeom>
          <a:solidFill>
            <a:srgbClr val="435765"/>
          </a:solidFill>
          <a:ln>
            <a:solidFill>
              <a:srgbClr val="43576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E" sz="1200" b="0" i="0" dirty="0">
              <a:solidFill>
                <a:srgbClr val="E7E9EA"/>
              </a:solidFill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endParaRPr lang="en-IE" sz="1200" dirty="0">
              <a:solidFill>
                <a:srgbClr val="E7E9EA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r>
              <a: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This is my first post</a:t>
            </a:r>
          </a:p>
          <a:p>
            <a:br>
              <a:rPr lang="en-IE" sz="1200" dirty="0">
                <a:effectLst/>
              </a:rPr>
            </a:br>
            <a:endParaRPr lang="en-IE" sz="1200" dirty="0">
              <a:effectLst/>
            </a:endParaRPr>
          </a:p>
          <a:p>
            <a:pPr algn="ctr"/>
            <a:endParaRPr lang="en-US" sz="12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0DF307B-972F-20F9-75A5-F74450BD331E}"/>
              </a:ext>
            </a:extLst>
          </p:cNvPr>
          <p:cNvGrpSpPr/>
          <p:nvPr/>
        </p:nvGrpSpPr>
        <p:grpSpPr>
          <a:xfrm>
            <a:off x="9641117" y="4975845"/>
            <a:ext cx="1712683" cy="1713257"/>
            <a:chOff x="5138059" y="2103999"/>
            <a:chExt cx="1712683" cy="1713257"/>
          </a:xfrm>
        </p:grpSpPr>
        <p:sp>
          <p:nvSpPr>
            <p:cNvPr id="16" name="Rounded Rectangular Callout 15">
              <a:extLst>
                <a:ext uri="{FF2B5EF4-FFF2-40B4-BE49-F238E27FC236}">
                  <a16:creationId xmlns:a16="http://schemas.microsoft.com/office/drawing/2014/main" id="{B2C03995-C8D6-3827-4DED-0975CBF1C54B}"/>
                </a:ext>
              </a:extLst>
            </p:cNvPr>
            <p:cNvSpPr/>
            <p:nvPr/>
          </p:nvSpPr>
          <p:spPr>
            <a:xfrm>
              <a:off x="5138059" y="2103999"/>
              <a:ext cx="1712683" cy="1713257"/>
            </a:xfrm>
            <a:prstGeom prst="wedgeRoundRectCallout">
              <a:avLst/>
            </a:prstGeom>
            <a:solidFill>
              <a:srgbClr val="FCCA3A"/>
            </a:solidFill>
            <a:ln>
              <a:solidFill>
                <a:srgbClr val="43576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r>
                <a:rPr lang="en-IE" sz="1200" b="0" i="0" dirty="0">
                  <a:solidFill>
                    <a:srgbClr val="435765"/>
                  </a:solidFill>
                  <a:effectLst/>
                  <a:latin typeface="Inter" panose="02000503000000020004" pitchFamily="2" charset="0"/>
                  <a:ea typeface="Inter" panose="02000503000000020004" pitchFamily="2" charset="0"/>
                </a:rPr>
                <a:t>   First post</a:t>
              </a:r>
            </a:p>
            <a:p>
              <a:br>
                <a:rPr lang="en-IE" sz="1200" dirty="0">
                  <a:effectLst/>
                </a:rPr>
              </a:br>
              <a:endParaRPr lang="en-IE" sz="1200" dirty="0">
                <a:effectLst/>
              </a:endParaRPr>
            </a:p>
            <a:p>
              <a:pPr algn="ctr"/>
              <a:endParaRPr lang="en-US" sz="1200" dirty="0"/>
            </a:p>
          </p:txBody>
        </p:sp>
        <p:pic>
          <p:nvPicPr>
            <p:cNvPr id="17" name="Picture 16" descr="A picture containing dark&#10;&#10;Description automatically generated">
              <a:extLst>
                <a:ext uri="{FF2B5EF4-FFF2-40B4-BE49-F238E27FC236}">
                  <a16:creationId xmlns:a16="http://schemas.microsoft.com/office/drawing/2014/main" id="{C62C8933-2F18-9056-C019-09A766D732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08130" y="2133028"/>
              <a:ext cx="1172540" cy="1184384"/>
            </a:xfrm>
            <a:prstGeom prst="rect">
              <a:avLst/>
            </a:prstGeom>
          </p:spPr>
        </p:pic>
      </p:grpSp>
    </p:spTree>
    <p:custDataLst>
      <p:tags r:id="rId1"/>
    </p:custDataLst>
    <p:extLst>
      <p:ext uri="{BB962C8B-B14F-4D97-AF65-F5344CB8AC3E}">
        <p14:creationId xmlns:p14="http://schemas.microsoft.com/office/powerpoint/2010/main" val="162595383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CE010EE-47BE-4857-B21E-C4575AF8538B}"/>
              </a:ext>
            </a:extLst>
          </p:cNvPr>
          <p:cNvSpPr/>
          <p:nvPr/>
        </p:nvSpPr>
        <p:spPr>
          <a:xfrm>
            <a:off x="895324" y="2057400"/>
            <a:ext cx="3676676" cy="24384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1658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Social Network V4.0 – Two Object Types</a:t>
            </a:r>
            <a:endParaRPr lang="en-US" b="1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0314C8FE-043B-4AF2-944E-FA137B2F37FB}"/>
              </a:ext>
            </a:extLst>
          </p:cNvPr>
          <p:cNvSpPr/>
          <p:nvPr/>
        </p:nvSpPr>
        <p:spPr>
          <a:xfrm>
            <a:off x="3429000" y="4876800"/>
            <a:ext cx="533400" cy="838200"/>
          </a:xfrm>
          <a:prstGeom prst="up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40437E3-1C8F-479B-89B9-7E406F4DF83E}"/>
              </a:ext>
            </a:extLst>
          </p:cNvPr>
          <p:cNvSpPr/>
          <p:nvPr/>
        </p:nvSpPr>
        <p:spPr>
          <a:xfrm>
            <a:off x="2133601" y="5701553"/>
            <a:ext cx="2272777" cy="92333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en-AU" sz="2000" b="1" err="1">
                <a:solidFill>
                  <a:srgbClr val="FF0000"/>
                </a:solidFill>
                <a:latin typeface="Arial" charset="0"/>
              </a:rPr>
              <a:t>Message</a:t>
            </a:r>
            <a:r>
              <a:rPr lang="en-AU" sz="2000" err="1">
                <a:solidFill>
                  <a:srgbClr val="FF0000"/>
                </a:solidFill>
                <a:latin typeface="Arial" charset="0"/>
              </a:rPr>
              <a:t>Post</a:t>
            </a:r>
            <a:r>
              <a:rPr lang="en-AU" sz="2000">
                <a:solidFill>
                  <a:srgbClr val="FF0000"/>
                </a:solidFill>
                <a:latin typeface="Arial" charset="0"/>
              </a:rPr>
              <a:t>:</a:t>
            </a:r>
            <a:r>
              <a:rPr lang="en-AU" sz="2000">
                <a:latin typeface="Arial" charset="0"/>
              </a:rPr>
              <a:t> multi-line text message.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E4F84C-ED51-4BE8-9BF2-E033D35F0AA8}"/>
              </a:ext>
            </a:extLst>
          </p:cNvPr>
          <p:cNvSpPr/>
          <p:nvPr/>
        </p:nvSpPr>
        <p:spPr>
          <a:xfrm>
            <a:off x="6414024" y="5853954"/>
            <a:ext cx="2272777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en-AU" sz="2000" b="1" err="1">
                <a:solidFill>
                  <a:srgbClr val="00B050"/>
                </a:solidFill>
                <a:latin typeface="Arial" charset="0"/>
              </a:rPr>
              <a:t>Photo</a:t>
            </a:r>
            <a:r>
              <a:rPr lang="en-AU" sz="2000" err="1">
                <a:solidFill>
                  <a:srgbClr val="00B050"/>
                </a:solidFill>
                <a:latin typeface="Arial" charset="0"/>
              </a:rPr>
              <a:t>Post</a:t>
            </a:r>
            <a:r>
              <a:rPr lang="en-AU" sz="2000">
                <a:solidFill>
                  <a:srgbClr val="00B050"/>
                </a:solidFill>
                <a:latin typeface="Arial" charset="0"/>
              </a:rPr>
              <a:t>: </a:t>
            </a:r>
            <a:br>
              <a:rPr lang="en-AU" sz="2000">
                <a:solidFill>
                  <a:srgbClr val="00B050"/>
                </a:solidFill>
                <a:latin typeface="Arial" charset="0"/>
              </a:rPr>
            </a:br>
            <a:r>
              <a:rPr lang="en-GB" sz="2000">
                <a:latin typeface="Arial" charset="0"/>
              </a:rPr>
              <a:t>photo and caption.</a:t>
            </a:r>
          </a:p>
        </p:txBody>
      </p:sp>
      <p:sp>
        <p:nvSpPr>
          <p:cNvPr id="6" name="Arrow: Up 5">
            <a:extLst>
              <a:ext uri="{FF2B5EF4-FFF2-40B4-BE49-F238E27FC236}">
                <a16:creationId xmlns:a16="http://schemas.microsoft.com/office/drawing/2014/main" id="{4DD8B14D-6614-453B-BC62-79D32EB24271}"/>
              </a:ext>
            </a:extLst>
          </p:cNvPr>
          <p:cNvSpPr/>
          <p:nvPr/>
        </p:nvSpPr>
        <p:spPr>
          <a:xfrm>
            <a:off x="7665463" y="5295900"/>
            <a:ext cx="533400" cy="533400"/>
          </a:xfrm>
          <a:prstGeom prst="up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E450DF-26B6-4161-B1E5-DA4DAFA0C54F}"/>
              </a:ext>
            </a:extLst>
          </p:cNvPr>
          <p:cNvSpPr/>
          <p:nvPr/>
        </p:nvSpPr>
        <p:spPr>
          <a:xfrm>
            <a:off x="1066800" y="3352800"/>
            <a:ext cx="1524000" cy="33637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/>
              <a:t>message</a:t>
            </a:r>
            <a:endParaRPr lang="en-VI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BAE2FB-9119-4CE8-9761-885B86E541DA}"/>
              </a:ext>
            </a:extLst>
          </p:cNvPr>
          <p:cNvSpPr/>
          <p:nvPr/>
        </p:nvSpPr>
        <p:spPr>
          <a:xfrm>
            <a:off x="1066800" y="3850093"/>
            <a:ext cx="1524000" cy="33637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/>
              <a:t>likes</a:t>
            </a:r>
            <a:endParaRPr lang="en-VI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DA846F-92B2-4DFE-A819-C6F44A7900A4}"/>
              </a:ext>
            </a:extLst>
          </p:cNvPr>
          <p:cNvSpPr/>
          <p:nvPr/>
        </p:nvSpPr>
        <p:spPr>
          <a:xfrm>
            <a:off x="2799543" y="3854626"/>
            <a:ext cx="1524000" cy="336374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0</a:t>
            </a:r>
            <a:endParaRPr lang="en-VI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DFDC90-97CC-42A3-9BC6-53E79B1F2D82}"/>
              </a:ext>
            </a:extLst>
          </p:cNvPr>
          <p:cNvSpPr/>
          <p:nvPr/>
        </p:nvSpPr>
        <p:spPr>
          <a:xfrm>
            <a:off x="1066800" y="2819400"/>
            <a:ext cx="1524000" cy="33637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/>
              <a:t>author</a:t>
            </a:r>
            <a:endParaRPr lang="en-VI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5042FCB-D02F-4BAC-9642-9BA3B537597F}"/>
              </a:ext>
            </a:extLst>
          </p:cNvPr>
          <p:cNvSpPr/>
          <p:nvPr/>
        </p:nvSpPr>
        <p:spPr>
          <a:xfrm>
            <a:off x="2819400" y="3352800"/>
            <a:ext cx="1524000" cy="336374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VI" b="0" i="0">
                <a:solidFill>
                  <a:srgbClr val="4D5156"/>
                </a:solidFill>
                <a:effectLst/>
                <a:latin typeface="Roboto" panose="02000000000000000000" pitchFamily="2" charset="0"/>
              </a:rPr>
              <a:t> "" </a:t>
            </a:r>
            <a:endParaRPr lang="en-VI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6783AE-B3C2-4374-ADDC-32B96646A005}"/>
              </a:ext>
            </a:extLst>
          </p:cNvPr>
          <p:cNvSpPr/>
          <p:nvPr/>
        </p:nvSpPr>
        <p:spPr>
          <a:xfrm>
            <a:off x="2819400" y="2819400"/>
            <a:ext cx="1524000" cy="336374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VI" b="0" i="0">
                <a:solidFill>
                  <a:srgbClr val="4D5156"/>
                </a:solidFill>
                <a:effectLst/>
                <a:latin typeface="Roboto" panose="02000000000000000000" pitchFamily="2" charset="0"/>
              </a:rPr>
              <a:t> "" </a:t>
            </a:r>
            <a:endParaRPr lang="en-VI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DF8DB0B-7F2E-4A10-8E9E-0150B896E31B}"/>
              </a:ext>
            </a:extLst>
          </p:cNvPr>
          <p:cNvSpPr/>
          <p:nvPr/>
        </p:nvSpPr>
        <p:spPr>
          <a:xfrm>
            <a:off x="1066801" y="2286000"/>
            <a:ext cx="3256742" cy="33637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err="1">
                <a:solidFill>
                  <a:schemeClr val="tx1"/>
                </a:solidFill>
              </a:rPr>
              <a:t>MessagePost</a:t>
            </a:r>
            <a:endParaRPr lang="en-VI" sz="2000" b="1">
              <a:solidFill>
                <a:schemeClr val="tx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1568BB6-F97B-47A2-B154-240C665D3C45}"/>
              </a:ext>
            </a:extLst>
          </p:cNvPr>
          <p:cNvSpPr/>
          <p:nvPr/>
        </p:nvSpPr>
        <p:spPr>
          <a:xfrm>
            <a:off x="5562600" y="2209800"/>
            <a:ext cx="3676676" cy="29718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CF3F33A-62C9-40DF-B336-A279C5A2A216}"/>
              </a:ext>
            </a:extLst>
          </p:cNvPr>
          <p:cNvSpPr/>
          <p:nvPr/>
        </p:nvSpPr>
        <p:spPr>
          <a:xfrm>
            <a:off x="5734076" y="3505200"/>
            <a:ext cx="1524000" cy="33637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/>
              <a:t>caption</a:t>
            </a:r>
            <a:endParaRPr lang="en-VI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505D452-205E-48C1-9007-AFED5660198B}"/>
              </a:ext>
            </a:extLst>
          </p:cNvPr>
          <p:cNvSpPr/>
          <p:nvPr/>
        </p:nvSpPr>
        <p:spPr>
          <a:xfrm>
            <a:off x="5734076" y="4002493"/>
            <a:ext cx="1524000" cy="33637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/>
              <a:t>filename</a:t>
            </a:r>
            <a:endParaRPr lang="en-VI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F84B9BC-5140-4133-9558-22EC67CA6EFB}"/>
              </a:ext>
            </a:extLst>
          </p:cNvPr>
          <p:cNvSpPr/>
          <p:nvPr/>
        </p:nvSpPr>
        <p:spPr>
          <a:xfrm>
            <a:off x="7466819" y="4007026"/>
            <a:ext cx="1524000" cy="336374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VI" b="0" i="0">
                <a:solidFill>
                  <a:srgbClr val="4D5156"/>
                </a:solidFill>
                <a:effectLst/>
                <a:latin typeface="Roboto" panose="02000000000000000000" pitchFamily="2" charset="0"/>
              </a:rPr>
              <a:t>""</a:t>
            </a:r>
            <a:endParaRPr lang="en-VI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2121CF8-3DFE-43B4-A02E-7827800BC385}"/>
              </a:ext>
            </a:extLst>
          </p:cNvPr>
          <p:cNvSpPr/>
          <p:nvPr/>
        </p:nvSpPr>
        <p:spPr>
          <a:xfrm>
            <a:off x="5734076" y="2971800"/>
            <a:ext cx="1524000" cy="33637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/>
              <a:t>author</a:t>
            </a:r>
            <a:endParaRPr lang="en-VI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7BDB626-A55B-4381-BE7D-2DEA44AA19B7}"/>
              </a:ext>
            </a:extLst>
          </p:cNvPr>
          <p:cNvSpPr/>
          <p:nvPr/>
        </p:nvSpPr>
        <p:spPr>
          <a:xfrm>
            <a:off x="7486676" y="3505200"/>
            <a:ext cx="1524000" cy="336374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VI" b="0" i="0">
                <a:solidFill>
                  <a:srgbClr val="4D5156"/>
                </a:solidFill>
                <a:effectLst/>
                <a:latin typeface="Roboto" panose="02000000000000000000" pitchFamily="2" charset="0"/>
              </a:rPr>
              <a:t> "" </a:t>
            </a:r>
            <a:endParaRPr lang="en-VI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A35FC70-23A0-47D5-9FE2-DB7F6B199F1D}"/>
              </a:ext>
            </a:extLst>
          </p:cNvPr>
          <p:cNvSpPr/>
          <p:nvPr/>
        </p:nvSpPr>
        <p:spPr>
          <a:xfrm>
            <a:off x="7486676" y="2971800"/>
            <a:ext cx="1524000" cy="336374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VI" b="0" i="0">
                <a:solidFill>
                  <a:srgbClr val="4D5156"/>
                </a:solidFill>
                <a:effectLst/>
                <a:latin typeface="Roboto" panose="02000000000000000000" pitchFamily="2" charset="0"/>
              </a:rPr>
              <a:t> "" </a:t>
            </a:r>
            <a:endParaRPr lang="en-VI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92E079D-4BFB-4BAE-9CC8-DA1DDB807346}"/>
              </a:ext>
            </a:extLst>
          </p:cNvPr>
          <p:cNvSpPr/>
          <p:nvPr/>
        </p:nvSpPr>
        <p:spPr>
          <a:xfrm>
            <a:off x="5734077" y="2438400"/>
            <a:ext cx="3256742" cy="33637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b="1" err="1">
                <a:solidFill>
                  <a:schemeClr val="tx1"/>
                </a:solidFill>
              </a:rPr>
              <a:t>PhotoPost</a:t>
            </a:r>
            <a:endParaRPr lang="en-VI" sz="2000" b="1">
              <a:solidFill>
                <a:schemeClr val="tx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5C181AD-7416-44DA-AC54-616D024DE107}"/>
              </a:ext>
            </a:extLst>
          </p:cNvPr>
          <p:cNvSpPr/>
          <p:nvPr/>
        </p:nvSpPr>
        <p:spPr>
          <a:xfrm>
            <a:off x="5753933" y="4535893"/>
            <a:ext cx="1524000" cy="33637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/>
              <a:t>likes</a:t>
            </a:r>
            <a:endParaRPr lang="en-VI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A72DFE0-682A-4A18-BADB-E8DC0A7B17CF}"/>
              </a:ext>
            </a:extLst>
          </p:cNvPr>
          <p:cNvSpPr/>
          <p:nvPr/>
        </p:nvSpPr>
        <p:spPr>
          <a:xfrm>
            <a:off x="7486676" y="4540426"/>
            <a:ext cx="1524000" cy="336374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0</a:t>
            </a:r>
            <a:endParaRPr lang="en-VI">
              <a:solidFill>
                <a:schemeClr val="tx1"/>
              </a:solidFill>
            </a:endParaRPr>
          </a:p>
        </p:txBody>
      </p:sp>
      <p:sp>
        <p:nvSpPr>
          <p:cNvPr id="32" name="Rounded Rectangular Callout 31">
            <a:extLst>
              <a:ext uri="{FF2B5EF4-FFF2-40B4-BE49-F238E27FC236}">
                <a16:creationId xmlns:a16="http://schemas.microsoft.com/office/drawing/2014/main" id="{69AED686-0B1E-004C-17F2-CFD727C735DD}"/>
              </a:ext>
            </a:extLst>
          </p:cNvPr>
          <p:cNvSpPr/>
          <p:nvPr/>
        </p:nvSpPr>
        <p:spPr>
          <a:xfrm>
            <a:off x="86774" y="4703459"/>
            <a:ext cx="1712683" cy="740378"/>
          </a:xfrm>
          <a:prstGeom prst="wedgeRoundRectCallout">
            <a:avLst/>
          </a:prstGeom>
          <a:solidFill>
            <a:srgbClr val="435765"/>
          </a:solidFill>
          <a:ln>
            <a:solidFill>
              <a:srgbClr val="43576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E" sz="1200" b="0" i="0" dirty="0">
              <a:solidFill>
                <a:srgbClr val="E7E9EA"/>
              </a:solidFill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endParaRPr lang="en-IE" sz="1200" dirty="0">
              <a:solidFill>
                <a:srgbClr val="E7E9EA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r>
              <a: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This is my first post</a:t>
            </a:r>
          </a:p>
          <a:p>
            <a:br>
              <a:rPr lang="en-IE" sz="1200" dirty="0">
                <a:effectLst/>
              </a:rPr>
            </a:br>
            <a:endParaRPr lang="en-IE" sz="1200" dirty="0">
              <a:effectLst/>
            </a:endParaRPr>
          </a:p>
          <a:p>
            <a:pPr algn="ctr"/>
            <a:endParaRPr lang="en-US" sz="1200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0DF307B-972F-20F9-75A5-F74450BD331E}"/>
              </a:ext>
            </a:extLst>
          </p:cNvPr>
          <p:cNvGrpSpPr/>
          <p:nvPr/>
        </p:nvGrpSpPr>
        <p:grpSpPr>
          <a:xfrm>
            <a:off x="9800520" y="4077962"/>
            <a:ext cx="1712683" cy="1713257"/>
            <a:chOff x="5138059" y="2103999"/>
            <a:chExt cx="1712683" cy="1713257"/>
          </a:xfrm>
        </p:grpSpPr>
        <p:sp>
          <p:nvSpPr>
            <p:cNvPr id="34" name="Rounded Rectangular Callout 33">
              <a:extLst>
                <a:ext uri="{FF2B5EF4-FFF2-40B4-BE49-F238E27FC236}">
                  <a16:creationId xmlns:a16="http://schemas.microsoft.com/office/drawing/2014/main" id="{B2C03995-C8D6-3827-4DED-0975CBF1C54B}"/>
                </a:ext>
              </a:extLst>
            </p:cNvPr>
            <p:cNvSpPr/>
            <p:nvPr/>
          </p:nvSpPr>
          <p:spPr>
            <a:xfrm>
              <a:off x="5138059" y="2103999"/>
              <a:ext cx="1712683" cy="1713257"/>
            </a:xfrm>
            <a:prstGeom prst="wedgeRoundRectCallout">
              <a:avLst/>
            </a:prstGeom>
            <a:solidFill>
              <a:srgbClr val="FCCA3A"/>
            </a:solidFill>
            <a:ln>
              <a:solidFill>
                <a:srgbClr val="43576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r>
                <a:rPr lang="en-IE" sz="1200" b="0" i="0" dirty="0">
                  <a:solidFill>
                    <a:srgbClr val="435765"/>
                  </a:solidFill>
                  <a:effectLst/>
                  <a:latin typeface="Inter" panose="02000503000000020004" pitchFamily="2" charset="0"/>
                  <a:ea typeface="Inter" panose="02000503000000020004" pitchFamily="2" charset="0"/>
                </a:rPr>
                <a:t>   First post</a:t>
              </a:r>
            </a:p>
            <a:p>
              <a:br>
                <a:rPr lang="en-IE" sz="1200" dirty="0">
                  <a:effectLst/>
                </a:rPr>
              </a:br>
              <a:endParaRPr lang="en-IE" sz="1200" dirty="0">
                <a:effectLst/>
              </a:endParaRPr>
            </a:p>
            <a:p>
              <a:pPr algn="ctr"/>
              <a:endParaRPr lang="en-US" sz="1200" dirty="0"/>
            </a:p>
          </p:txBody>
        </p:sp>
        <p:pic>
          <p:nvPicPr>
            <p:cNvPr id="37" name="Picture 36" descr="A picture containing dark&#10;&#10;Description automatically generated">
              <a:extLst>
                <a:ext uri="{FF2B5EF4-FFF2-40B4-BE49-F238E27FC236}">
                  <a16:creationId xmlns:a16="http://schemas.microsoft.com/office/drawing/2014/main" id="{C62C8933-2F18-9056-C019-09A766D732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08130" y="2133028"/>
              <a:ext cx="1172540" cy="1184384"/>
            </a:xfrm>
            <a:prstGeom prst="rect">
              <a:avLst/>
            </a:prstGeom>
          </p:spPr>
        </p:pic>
      </p:grpSp>
    </p:spTree>
    <p:custDataLst>
      <p:tags r:id="rId1"/>
    </p:custDataLst>
    <p:extLst>
      <p:ext uri="{BB962C8B-B14F-4D97-AF65-F5344CB8AC3E}">
        <p14:creationId xmlns:p14="http://schemas.microsoft.com/office/powerpoint/2010/main" val="411573260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CFDF1-05CF-4636-B98F-EE2D07505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Social Network V4.0 – Class Structure</a:t>
            </a:r>
            <a:endParaRPr lang="en-VI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05253A-3C41-4B2B-A7EE-308018FB55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600200"/>
            <a:ext cx="3614880" cy="41192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EEB36AE-8B5C-446D-AA07-BDECBE981A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600200"/>
            <a:ext cx="3676271" cy="46648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0D86BAB-4FC9-4802-AF32-7CE24172B9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6824" y="5257800"/>
            <a:ext cx="2195311" cy="15140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A801893-7BDC-41B9-B14A-D13F5D6603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4966604"/>
            <a:ext cx="2242207" cy="182893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16701917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CFDF1-05CF-4636-B98F-EE2D07505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Social Network V4.0 – Class Structure</a:t>
            </a:r>
            <a:endParaRPr lang="en-VI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05253A-3C41-4B2B-A7EE-308018FB55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600200"/>
            <a:ext cx="3614880" cy="41192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EEB36AE-8B5C-446D-AA07-BDECBE981A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600200"/>
            <a:ext cx="3676271" cy="46648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0D86BAB-4FC9-4802-AF32-7CE24172B9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6824" y="5257800"/>
            <a:ext cx="2195311" cy="15140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A801893-7BDC-41B9-B14A-D13F5D6603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4966604"/>
            <a:ext cx="2242207" cy="182893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AF988A8-72B8-4A2D-8054-F504603505CD}"/>
              </a:ext>
            </a:extLst>
          </p:cNvPr>
          <p:cNvSpPr/>
          <p:nvPr/>
        </p:nvSpPr>
        <p:spPr>
          <a:xfrm>
            <a:off x="740638" y="2286000"/>
            <a:ext cx="2993161" cy="68580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CA03FCE-B6CD-4924-BC84-D5FE0CD8D1F5}"/>
              </a:ext>
            </a:extLst>
          </p:cNvPr>
          <p:cNvSpPr/>
          <p:nvPr/>
        </p:nvSpPr>
        <p:spPr>
          <a:xfrm>
            <a:off x="6553201" y="2163421"/>
            <a:ext cx="2743200" cy="68580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963B6F6-CE73-4D49-B377-E9C61D2D7427}"/>
              </a:ext>
            </a:extLst>
          </p:cNvPr>
          <p:cNvSpPr/>
          <p:nvPr/>
        </p:nvSpPr>
        <p:spPr>
          <a:xfrm>
            <a:off x="752759" y="4623704"/>
            <a:ext cx="2523841" cy="34290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35622CF-0E80-440E-AF37-6B1474008595}"/>
              </a:ext>
            </a:extLst>
          </p:cNvPr>
          <p:cNvSpPr/>
          <p:nvPr/>
        </p:nvSpPr>
        <p:spPr>
          <a:xfrm>
            <a:off x="6553201" y="4945856"/>
            <a:ext cx="2523841" cy="34290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4F51F93-A3C3-4405-AA3A-0138729A5930}"/>
              </a:ext>
            </a:extLst>
          </p:cNvPr>
          <p:cNvSpPr/>
          <p:nvPr/>
        </p:nvSpPr>
        <p:spPr>
          <a:xfrm>
            <a:off x="9436941" y="2971800"/>
            <a:ext cx="2272777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en-AU" sz="2000" b="1">
                <a:solidFill>
                  <a:srgbClr val="C00000"/>
                </a:solidFill>
                <a:latin typeface="Arial" charset="0"/>
              </a:rPr>
              <a:t>author</a:t>
            </a:r>
            <a:r>
              <a:rPr lang="en-AU" sz="2000">
                <a:solidFill>
                  <a:srgbClr val="00B050"/>
                </a:solidFill>
                <a:latin typeface="Arial" charset="0"/>
              </a:rPr>
              <a:t>: </a:t>
            </a:r>
            <a:br>
              <a:rPr lang="en-AU" sz="2000">
                <a:solidFill>
                  <a:srgbClr val="00B050"/>
                </a:solidFill>
                <a:latin typeface="Arial" charset="0"/>
              </a:rPr>
            </a:br>
            <a:r>
              <a:rPr lang="en-GB" sz="2000">
                <a:latin typeface="Arial" charset="0"/>
              </a:rPr>
              <a:t>code duplication</a:t>
            </a:r>
          </a:p>
        </p:txBody>
      </p:sp>
    </p:spTree>
    <p:extLst>
      <p:ext uri="{BB962C8B-B14F-4D97-AF65-F5344CB8AC3E}">
        <p14:creationId xmlns:p14="http://schemas.microsoft.com/office/powerpoint/2010/main" val="248132409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CFDF1-05CF-4636-B98F-EE2D07505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Social Network V4.0 – Class Structure</a:t>
            </a:r>
            <a:endParaRPr lang="en-VI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05253A-3C41-4B2B-A7EE-308018FB55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600200"/>
            <a:ext cx="3614880" cy="41192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EEB36AE-8B5C-446D-AA07-BDECBE981A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600200"/>
            <a:ext cx="3676271" cy="46648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0D86BAB-4FC9-4802-AF32-7CE24172B9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6824" y="5257800"/>
            <a:ext cx="2195311" cy="15140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A801893-7BDC-41B9-B14A-D13F5D6603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4966604"/>
            <a:ext cx="2242207" cy="182893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AF988A8-72B8-4A2D-8054-F504603505CD}"/>
              </a:ext>
            </a:extLst>
          </p:cNvPr>
          <p:cNvSpPr/>
          <p:nvPr/>
        </p:nvSpPr>
        <p:spPr>
          <a:xfrm>
            <a:off x="784798" y="3596414"/>
            <a:ext cx="2993161" cy="685800"/>
          </a:xfrm>
          <a:prstGeom prst="round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CA03FCE-B6CD-4924-BC84-D5FE0CD8D1F5}"/>
              </a:ext>
            </a:extLst>
          </p:cNvPr>
          <p:cNvSpPr/>
          <p:nvPr/>
        </p:nvSpPr>
        <p:spPr>
          <a:xfrm>
            <a:off x="6443521" y="3998872"/>
            <a:ext cx="2743200" cy="685800"/>
          </a:xfrm>
          <a:prstGeom prst="round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963B6F6-CE73-4D49-B377-E9C61D2D7427}"/>
              </a:ext>
            </a:extLst>
          </p:cNvPr>
          <p:cNvSpPr/>
          <p:nvPr/>
        </p:nvSpPr>
        <p:spPr>
          <a:xfrm>
            <a:off x="769441" y="5288756"/>
            <a:ext cx="2195311" cy="342900"/>
          </a:xfrm>
          <a:prstGeom prst="round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35622CF-0E80-440E-AF37-6B1474008595}"/>
              </a:ext>
            </a:extLst>
          </p:cNvPr>
          <p:cNvSpPr/>
          <p:nvPr/>
        </p:nvSpPr>
        <p:spPr>
          <a:xfrm>
            <a:off x="6553201" y="5843353"/>
            <a:ext cx="1905000" cy="342900"/>
          </a:xfrm>
          <a:prstGeom prst="round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4F51F93-A3C3-4405-AA3A-0138729A5930}"/>
              </a:ext>
            </a:extLst>
          </p:cNvPr>
          <p:cNvSpPr/>
          <p:nvPr/>
        </p:nvSpPr>
        <p:spPr>
          <a:xfrm>
            <a:off x="9540947" y="2602597"/>
            <a:ext cx="2272777" cy="6463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en-AU" sz="2000" b="1">
                <a:solidFill>
                  <a:schemeClr val="tx2"/>
                </a:solidFill>
                <a:latin typeface="Arial" charset="0"/>
              </a:rPr>
              <a:t>likes</a:t>
            </a:r>
            <a:r>
              <a:rPr lang="en-AU" sz="2000">
                <a:solidFill>
                  <a:srgbClr val="00B050"/>
                </a:solidFill>
                <a:latin typeface="Arial" charset="0"/>
              </a:rPr>
              <a:t>: </a:t>
            </a:r>
            <a:br>
              <a:rPr lang="en-AU" sz="2000">
                <a:solidFill>
                  <a:srgbClr val="00B050"/>
                </a:solidFill>
                <a:latin typeface="Arial" charset="0"/>
              </a:rPr>
            </a:br>
            <a:r>
              <a:rPr lang="en-GB" sz="2000">
                <a:latin typeface="Arial" charset="0"/>
              </a:rPr>
              <a:t>code duplication</a:t>
            </a:r>
          </a:p>
        </p:txBody>
      </p:sp>
    </p:spTree>
    <p:extLst>
      <p:ext uri="{BB962C8B-B14F-4D97-AF65-F5344CB8AC3E}">
        <p14:creationId xmlns:p14="http://schemas.microsoft.com/office/powerpoint/2010/main" val="1543433902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ED6E4-7FA9-0947-FD0A-BB2F720B5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567" y="598198"/>
            <a:ext cx="10515600" cy="860425"/>
          </a:xfrm>
        </p:spPr>
        <p:txBody>
          <a:bodyPr>
            <a:normAutofit fontScale="90000"/>
          </a:bodyPr>
          <a:lstStyle/>
          <a:p>
            <a:r>
              <a:rPr lang="en-US" dirty="0"/>
              <a:t>Social Network V4.0 – CRUD on TWO </a:t>
            </a:r>
            <a:r>
              <a:rPr lang="en-US" dirty="0" err="1"/>
              <a:t>ArrayLists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87008A-B8E2-0928-2B36-6E55D7766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3D26AC-91C2-5086-90C4-4F9A6638EB13}"/>
              </a:ext>
            </a:extLst>
          </p:cNvPr>
          <p:cNvGrpSpPr/>
          <p:nvPr/>
        </p:nvGrpSpPr>
        <p:grpSpPr>
          <a:xfrm>
            <a:off x="838200" y="2046515"/>
            <a:ext cx="2481943" cy="2264228"/>
            <a:chOff x="2627086" y="1320801"/>
            <a:chExt cx="2481943" cy="2264228"/>
          </a:xfrm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4B6CC8AB-BA3C-355A-4CC8-DFAD3A64F895}"/>
                </a:ext>
              </a:extLst>
            </p:cNvPr>
            <p:cNvSpPr/>
            <p:nvPr/>
          </p:nvSpPr>
          <p:spPr>
            <a:xfrm>
              <a:off x="2627086" y="1320801"/>
              <a:ext cx="2481943" cy="2264228"/>
            </a:xfrm>
            <a:prstGeom prst="roundRect">
              <a:avLst/>
            </a:prstGeom>
            <a:solidFill>
              <a:srgbClr val="43576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319B851-A90B-F470-4E9A-0A3BF61F948B}"/>
                </a:ext>
              </a:extLst>
            </p:cNvPr>
            <p:cNvSpPr/>
            <p:nvPr/>
          </p:nvSpPr>
          <p:spPr>
            <a:xfrm>
              <a:off x="2815771" y="2050331"/>
              <a:ext cx="1204686" cy="4968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rgbClr val="435765"/>
                  </a:solidFill>
                  <a:latin typeface="Inter" panose="02000503000000020004" pitchFamily="2" charset="0"/>
                  <a:ea typeface="Inter" panose="02000503000000020004" pitchFamily="2" charset="0"/>
                </a:rPr>
                <a:t>messages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C7E5258-0CD3-FE09-CE39-C31E080E6B67}"/>
                </a:ext>
              </a:extLst>
            </p:cNvPr>
            <p:cNvSpPr/>
            <p:nvPr/>
          </p:nvSpPr>
          <p:spPr>
            <a:xfrm>
              <a:off x="2815771" y="2604530"/>
              <a:ext cx="1204686" cy="4968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rgbClr val="435765"/>
                  </a:solidFill>
                  <a:latin typeface="Inter" panose="02000503000000020004" pitchFamily="2" charset="0"/>
                  <a:ea typeface="Inter" panose="02000503000000020004" pitchFamily="2" charset="0"/>
                </a:rPr>
                <a:t>photos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9C7984C-7AAB-1C13-2A84-F0F72DE2F5C6}"/>
                </a:ext>
              </a:extLst>
            </p:cNvPr>
            <p:cNvSpPr/>
            <p:nvPr/>
          </p:nvSpPr>
          <p:spPr>
            <a:xfrm>
              <a:off x="4209142" y="2048868"/>
              <a:ext cx="509815" cy="4968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068A325-8A34-152D-8B92-4546F501CB15}"/>
                </a:ext>
              </a:extLst>
            </p:cNvPr>
            <p:cNvSpPr/>
            <p:nvPr/>
          </p:nvSpPr>
          <p:spPr>
            <a:xfrm>
              <a:off x="4209142" y="2609542"/>
              <a:ext cx="509815" cy="4968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814F97E-914D-F508-8347-FF492344CD49}"/>
                </a:ext>
              </a:extLst>
            </p:cNvPr>
            <p:cNvSpPr txBox="1"/>
            <p:nvPr/>
          </p:nvSpPr>
          <p:spPr>
            <a:xfrm>
              <a:off x="2799267" y="1499437"/>
              <a:ext cx="1346844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FCCA3A"/>
                  </a:solidFill>
                  <a:latin typeface="Inter" panose="02000503000000020004" pitchFamily="2" charset="0"/>
                  <a:ea typeface="Inter" panose="02000503000000020004" pitchFamily="2" charset="0"/>
                </a:rPr>
                <a:t>NewsFeed</a:t>
              </a:r>
              <a:endParaRPr lang="en-US" dirty="0">
                <a:solidFill>
                  <a:srgbClr val="FCCA3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</p:grp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D4BA01C4-169D-895E-472B-A71245691AFC}"/>
              </a:ext>
            </a:extLst>
          </p:cNvPr>
          <p:cNvSpPr/>
          <p:nvPr/>
        </p:nvSpPr>
        <p:spPr>
          <a:xfrm>
            <a:off x="5515429" y="1625600"/>
            <a:ext cx="3396342" cy="784217"/>
          </a:xfrm>
          <a:prstGeom prst="roundRect">
            <a:avLst/>
          </a:prstGeom>
          <a:solidFill>
            <a:srgbClr val="43576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Inter" panose="02000503000000020004" pitchFamily="2" charset="0"/>
                <a:ea typeface="Inter" panose="02000503000000020004" pitchFamily="2" charset="0"/>
              </a:rPr>
              <a:t>ArrayList</a:t>
            </a:r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&lt;</a:t>
            </a:r>
            <a:r>
              <a:rPr lang="en-US" dirty="0" err="1">
                <a:latin typeface="Inter" panose="02000503000000020004" pitchFamily="2" charset="0"/>
                <a:ea typeface="Inter" panose="02000503000000020004" pitchFamily="2" charset="0"/>
              </a:rPr>
              <a:t>MessagePost</a:t>
            </a:r>
            <a:r>
              <a:rPr lang="en-US" dirty="0">
                <a:latin typeface="Inter" panose="02000503000000020004" pitchFamily="2" charset="0"/>
                <a:ea typeface="Inter" panose="02000503000000020004" pitchFamily="2" charset="0"/>
              </a:rPr>
              <a:t>&gt;</a:t>
            </a:r>
          </a:p>
        </p:txBody>
      </p:sp>
      <p:cxnSp>
        <p:nvCxnSpPr>
          <p:cNvPr id="26" name="Curved Connector 25">
            <a:extLst>
              <a:ext uri="{FF2B5EF4-FFF2-40B4-BE49-F238E27FC236}">
                <a16:creationId xmlns:a16="http://schemas.microsoft.com/office/drawing/2014/main" id="{3E0750F2-FD18-0F50-AECF-A4FF875AE51A}"/>
              </a:ext>
            </a:extLst>
          </p:cNvPr>
          <p:cNvCxnSpPr>
            <a:stCxn id="18" idx="3"/>
            <a:endCxn id="24" idx="1"/>
          </p:cNvCxnSpPr>
          <p:nvPr/>
        </p:nvCxnSpPr>
        <p:spPr>
          <a:xfrm flipV="1">
            <a:off x="2930071" y="2017709"/>
            <a:ext cx="2585358" cy="1005287"/>
          </a:xfrm>
          <a:prstGeom prst="curvedConnector3">
            <a:avLst>
              <a:gd name="adj1" fmla="val 33158"/>
            </a:avLst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032ADCBD-52A9-33C2-5555-DFCE5E7B5C89}"/>
              </a:ext>
            </a:extLst>
          </p:cNvPr>
          <p:cNvSpPr/>
          <p:nvPr/>
        </p:nvSpPr>
        <p:spPr>
          <a:xfrm>
            <a:off x="4771571" y="2789531"/>
            <a:ext cx="1487715" cy="528318"/>
          </a:xfrm>
          <a:prstGeom prst="roundRect">
            <a:avLst/>
          </a:prstGeom>
          <a:solidFill>
            <a:srgbClr val="43576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Inter" panose="02000503000000020004" pitchFamily="2" charset="0"/>
                <a:ea typeface="Inter" panose="02000503000000020004" pitchFamily="2" charset="0"/>
              </a:rPr>
              <a:t>:</a:t>
            </a:r>
            <a:r>
              <a:rPr lang="en-US" sz="1400" dirty="0" err="1">
                <a:latin typeface="Inter" panose="02000503000000020004" pitchFamily="2" charset="0"/>
                <a:ea typeface="Inter" panose="02000503000000020004" pitchFamily="2" charset="0"/>
              </a:rPr>
              <a:t>MessagePost</a:t>
            </a:r>
            <a:endParaRPr lang="en-US" sz="1400" dirty="0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77A051B2-6D9A-7837-AD04-551C790E2DF5}"/>
              </a:ext>
            </a:extLst>
          </p:cNvPr>
          <p:cNvSpPr/>
          <p:nvPr/>
        </p:nvSpPr>
        <p:spPr>
          <a:xfrm>
            <a:off x="6469742" y="2783259"/>
            <a:ext cx="1487715" cy="528318"/>
          </a:xfrm>
          <a:prstGeom prst="roundRect">
            <a:avLst/>
          </a:prstGeom>
          <a:solidFill>
            <a:srgbClr val="43576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Inter" panose="02000503000000020004" pitchFamily="2" charset="0"/>
                <a:ea typeface="Inter" panose="02000503000000020004" pitchFamily="2" charset="0"/>
              </a:rPr>
              <a:t>:</a:t>
            </a:r>
            <a:r>
              <a:rPr lang="en-US" sz="1400" dirty="0" err="1">
                <a:latin typeface="Inter" panose="02000503000000020004" pitchFamily="2" charset="0"/>
                <a:ea typeface="Inter" panose="02000503000000020004" pitchFamily="2" charset="0"/>
              </a:rPr>
              <a:t>MessagePost</a:t>
            </a:r>
            <a:endParaRPr lang="en-US" sz="1400" dirty="0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DB4A17C0-9360-075A-EBD7-3B38D1DC2928}"/>
              </a:ext>
            </a:extLst>
          </p:cNvPr>
          <p:cNvSpPr/>
          <p:nvPr/>
        </p:nvSpPr>
        <p:spPr>
          <a:xfrm>
            <a:off x="8171541" y="2774582"/>
            <a:ext cx="1487715" cy="528318"/>
          </a:xfrm>
          <a:prstGeom prst="roundRect">
            <a:avLst/>
          </a:prstGeom>
          <a:solidFill>
            <a:srgbClr val="43576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Inter" panose="02000503000000020004" pitchFamily="2" charset="0"/>
                <a:ea typeface="Inter" panose="02000503000000020004" pitchFamily="2" charset="0"/>
              </a:rPr>
              <a:t>:</a:t>
            </a:r>
            <a:r>
              <a:rPr lang="en-US" sz="1400" dirty="0" err="1">
                <a:latin typeface="Inter" panose="02000503000000020004" pitchFamily="2" charset="0"/>
                <a:ea typeface="Inter" panose="02000503000000020004" pitchFamily="2" charset="0"/>
              </a:rPr>
              <a:t>MessagePost</a:t>
            </a:r>
            <a:endParaRPr lang="en-US" sz="1400" dirty="0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EF78F7E3-3585-1829-B5BC-CB194AF19AEE}"/>
              </a:ext>
            </a:extLst>
          </p:cNvPr>
          <p:cNvSpPr/>
          <p:nvPr/>
        </p:nvSpPr>
        <p:spPr>
          <a:xfrm>
            <a:off x="9771744" y="2783259"/>
            <a:ext cx="1487715" cy="528318"/>
          </a:xfrm>
          <a:prstGeom prst="roundRect">
            <a:avLst/>
          </a:prstGeom>
          <a:solidFill>
            <a:srgbClr val="43576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Inter" panose="02000503000000020004" pitchFamily="2" charset="0"/>
                <a:ea typeface="Inter" panose="02000503000000020004" pitchFamily="2" charset="0"/>
              </a:rPr>
              <a:t>:</a:t>
            </a:r>
            <a:r>
              <a:rPr lang="en-US" sz="1400" dirty="0" err="1">
                <a:latin typeface="Inter" panose="02000503000000020004" pitchFamily="2" charset="0"/>
                <a:ea typeface="Inter" panose="02000503000000020004" pitchFamily="2" charset="0"/>
              </a:rPr>
              <a:t>MessagePost</a:t>
            </a:r>
            <a:endParaRPr lang="en-US" sz="1400" dirty="0"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cxnSp>
        <p:nvCxnSpPr>
          <p:cNvPr id="36" name="Curved Connector 35">
            <a:extLst>
              <a:ext uri="{FF2B5EF4-FFF2-40B4-BE49-F238E27FC236}">
                <a16:creationId xmlns:a16="http://schemas.microsoft.com/office/drawing/2014/main" id="{1A3BFCA9-CD2A-2932-7E49-11F1145535F2}"/>
              </a:ext>
            </a:extLst>
          </p:cNvPr>
          <p:cNvCxnSpPr>
            <a:stCxn id="24" idx="2"/>
            <a:endCxn id="31" idx="0"/>
          </p:cNvCxnSpPr>
          <p:nvPr/>
        </p:nvCxnSpPr>
        <p:spPr>
          <a:xfrm rot="5400000">
            <a:off x="6174658" y="1750589"/>
            <a:ext cx="379714" cy="1698171"/>
          </a:xfrm>
          <a:prstGeom prst="curvedConnector3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urved Connector 36">
            <a:extLst>
              <a:ext uri="{FF2B5EF4-FFF2-40B4-BE49-F238E27FC236}">
                <a16:creationId xmlns:a16="http://schemas.microsoft.com/office/drawing/2014/main" id="{8C631519-F857-D54B-1971-A48BA8E9770B}"/>
              </a:ext>
            </a:extLst>
          </p:cNvPr>
          <p:cNvCxnSpPr>
            <a:cxnSpLocks/>
            <a:stCxn id="24" idx="2"/>
            <a:endCxn id="32" idx="0"/>
          </p:cNvCxnSpPr>
          <p:nvPr/>
        </p:nvCxnSpPr>
        <p:spPr>
          <a:xfrm rot="5400000">
            <a:off x="7026879" y="2596538"/>
            <a:ext cx="373442" cy="12700"/>
          </a:xfrm>
          <a:prstGeom prst="curvedConnector3">
            <a:avLst>
              <a:gd name="adj1" fmla="val 50000"/>
            </a:avLst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urved Connector 39">
            <a:extLst>
              <a:ext uri="{FF2B5EF4-FFF2-40B4-BE49-F238E27FC236}">
                <a16:creationId xmlns:a16="http://schemas.microsoft.com/office/drawing/2014/main" id="{9C4802B2-536F-E7B5-AF18-1B9F375CF3BA}"/>
              </a:ext>
            </a:extLst>
          </p:cNvPr>
          <p:cNvCxnSpPr>
            <a:cxnSpLocks/>
            <a:stCxn id="24" idx="2"/>
            <a:endCxn id="33" idx="0"/>
          </p:cNvCxnSpPr>
          <p:nvPr/>
        </p:nvCxnSpPr>
        <p:spPr>
          <a:xfrm rot="16200000" flipH="1">
            <a:off x="7882117" y="1741299"/>
            <a:ext cx="364765" cy="1701799"/>
          </a:xfrm>
          <a:prstGeom prst="curvedConnector3">
            <a:avLst>
              <a:gd name="adj1" fmla="val 50000"/>
            </a:avLst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urved Connector 42">
            <a:extLst>
              <a:ext uri="{FF2B5EF4-FFF2-40B4-BE49-F238E27FC236}">
                <a16:creationId xmlns:a16="http://schemas.microsoft.com/office/drawing/2014/main" id="{A09C8F47-6A4E-865F-FC4D-1819B1F03BA1}"/>
              </a:ext>
            </a:extLst>
          </p:cNvPr>
          <p:cNvCxnSpPr>
            <a:cxnSpLocks/>
            <a:stCxn id="24" idx="2"/>
            <a:endCxn id="34" idx="0"/>
          </p:cNvCxnSpPr>
          <p:nvPr/>
        </p:nvCxnSpPr>
        <p:spPr>
          <a:xfrm rot="16200000" flipH="1">
            <a:off x="8677880" y="945537"/>
            <a:ext cx="373442" cy="3302002"/>
          </a:xfrm>
          <a:prstGeom prst="curvedConnector3">
            <a:avLst>
              <a:gd name="adj1" fmla="val 50000"/>
            </a:avLst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348342EF-0E37-2933-EE03-8419839DEF23}"/>
              </a:ext>
            </a:extLst>
          </p:cNvPr>
          <p:cNvSpPr/>
          <p:nvPr/>
        </p:nvSpPr>
        <p:spPr>
          <a:xfrm>
            <a:off x="5515429" y="3938195"/>
            <a:ext cx="3396342" cy="784217"/>
          </a:xfrm>
          <a:prstGeom prst="roundRect">
            <a:avLst/>
          </a:prstGeom>
          <a:solidFill>
            <a:srgbClr val="FCCA3A"/>
          </a:solidFill>
          <a:ln>
            <a:solidFill>
              <a:srgbClr val="FCCA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ArrayList</a:t>
            </a:r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&lt;</a:t>
            </a:r>
            <a:r>
              <a:rPr lang="en-US" dirty="0" err="1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PhotoPost</a:t>
            </a:r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&gt;</a:t>
            </a:r>
          </a:p>
        </p:txBody>
      </p:sp>
      <p:cxnSp>
        <p:nvCxnSpPr>
          <p:cNvPr id="47" name="Curved Connector 46">
            <a:extLst>
              <a:ext uri="{FF2B5EF4-FFF2-40B4-BE49-F238E27FC236}">
                <a16:creationId xmlns:a16="http://schemas.microsoft.com/office/drawing/2014/main" id="{8435FD7C-5E6E-4CAB-C5B6-AD669E5184C8}"/>
              </a:ext>
            </a:extLst>
          </p:cNvPr>
          <p:cNvCxnSpPr>
            <a:cxnSpLocks/>
            <a:stCxn id="19" idx="3"/>
            <a:endCxn id="46" idx="1"/>
          </p:cNvCxnSpPr>
          <p:nvPr/>
        </p:nvCxnSpPr>
        <p:spPr>
          <a:xfrm>
            <a:off x="2930071" y="3583670"/>
            <a:ext cx="2585358" cy="746634"/>
          </a:xfrm>
          <a:prstGeom prst="curvedConnector3">
            <a:avLst>
              <a:gd name="adj1" fmla="val 50000"/>
            </a:avLst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5BB5F0AE-B47C-944A-766F-136E1DDB6181}"/>
              </a:ext>
            </a:extLst>
          </p:cNvPr>
          <p:cNvSpPr/>
          <p:nvPr/>
        </p:nvSpPr>
        <p:spPr>
          <a:xfrm>
            <a:off x="4222750" y="5088687"/>
            <a:ext cx="1487715" cy="528318"/>
          </a:xfrm>
          <a:prstGeom prst="roundRect">
            <a:avLst/>
          </a:prstGeom>
          <a:solidFill>
            <a:srgbClr val="FCCA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:</a:t>
            </a:r>
            <a:r>
              <a:rPr lang="en-US" sz="1400" dirty="0" err="1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PhotoPost</a:t>
            </a:r>
            <a:endParaRPr lang="en-US" sz="1400" dirty="0">
              <a:solidFill>
                <a:srgbClr val="435765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3EFA928B-067C-C110-8F21-14B9CADC6279}"/>
              </a:ext>
            </a:extLst>
          </p:cNvPr>
          <p:cNvSpPr/>
          <p:nvPr/>
        </p:nvSpPr>
        <p:spPr>
          <a:xfrm>
            <a:off x="6017984" y="5073434"/>
            <a:ext cx="1487715" cy="528318"/>
          </a:xfrm>
          <a:prstGeom prst="roundRect">
            <a:avLst/>
          </a:prstGeom>
          <a:solidFill>
            <a:srgbClr val="FCCA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:</a:t>
            </a:r>
            <a:r>
              <a:rPr lang="en-US" sz="1400" dirty="0" err="1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PhotoPost</a:t>
            </a:r>
            <a:endParaRPr lang="en-US" sz="1400" dirty="0">
              <a:solidFill>
                <a:srgbClr val="435765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C46D2E14-78BC-2F9A-9892-7B94BFAC818D}"/>
              </a:ext>
            </a:extLst>
          </p:cNvPr>
          <p:cNvSpPr/>
          <p:nvPr/>
        </p:nvSpPr>
        <p:spPr>
          <a:xfrm>
            <a:off x="7813218" y="5093548"/>
            <a:ext cx="1487715" cy="528318"/>
          </a:xfrm>
          <a:prstGeom prst="roundRect">
            <a:avLst/>
          </a:prstGeom>
          <a:solidFill>
            <a:srgbClr val="FCCA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:</a:t>
            </a:r>
            <a:r>
              <a:rPr lang="en-US" sz="1400" dirty="0" err="1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PhotoPost</a:t>
            </a:r>
            <a:endParaRPr lang="en-US" sz="1400" dirty="0">
              <a:solidFill>
                <a:srgbClr val="435765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40494AA7-B01F-7DD6-573A-5F2567AB08D7}"/>
              </a:ext>
            </a:extLst>
          </p:cNvPr>
          <p:cNvSpPr/>
          <p:nvPr/>
        </p:nvSpPr>
        <p:spPr>
          <a:xfrm>
            <a:off x="9608452" y="5114051"/>
            <a:ext cx="1487715" cy="528318"/>
          </a:xfrm>
          <a:prstGeom prst="roundRect">
            <a:avLst/>
          </a:prstGeom>
          <a:solidFill>
            <a:srgbClr val="FCCA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:</a:t>
            </a:r>
            <a:r>
              <a:rPr lang="en-US" sz="1400" dirty="0" err="1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PhotoPost</a:t>
            </a:r>
            <a:endParaRPr lang="en-US" sz="1400" dirty="0">
              <a:solidFill>
                <a:srgbClr val="435765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cxnSp>
        <p:nvCxnSpPr>
          <p:cNvPr id="56" name="Curved Connector 55">
            <a:extLst>
              <a:ext uri="{FF2B5EF4-FFF2-40B4-BE49-F238E27FC236}">
                <a16:creationId xmlns:a16="http://schemas.microsoft.com/office/drawing/2014/main" id="{B354BC3C-AC1F-49EC-B6A6-A4415A5F41D8}"/>
              </a:ext>
            </a:extLst>
          </p:cNvPr>
          <p:cNvCxnSpPr>
            <a:stCxn id="46" idx="2"/>
            <a:endCxn id="51" idx="0"/>
          </p:cNvCxnSpPr>
          <p:nvPr/>
        </p:nvCxnSpPr>
        <p:spPr>
          <a:xfrm rot="5400000">
            <a:off x="5906967" y="3782053"/>
            <a:ext cx="366275" cy="2246992"/>
          </a:xfrm>
          <a:prstGeom prst="curvedConnector3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urved Connector 56">
            <a:extLst>
              <a:ext uri="{FF2B5EF4-FFF2-40B4-BE49-F238E27FC236}">
                <a16:creationId xmlns:a16="http://schemas.microsoft.com/office/drawing/2014/main" id="{07A0E139-E923-8B58-21EB-C4C46177BABA}"/>
              </a:ext>
            </a:extLst>
          </p:cNvPr>
          <p:cNvCxnSpPr>
            <a:cxnSpLocks/>
            <a:stCxn id="46" idx="2"/>
            <a:endCxn id="52" idx="0"/>
          </p:cNvCxnSpPr>
          <p:nvPr/>
        </p:nvCxnSpPr>
        <p:spPr>
          <a:xfrm rot="5400000">
            <a:off x="6812210" y="4672044"/>
            <a:ext cx="351022" cy="451758"/>
          </a:xfrm>
          <a:prstGeom prst="curvedConnector3">
            <a:avLst>
              <a:gd name="adj1" fmla="val 50000"/>
            </a:avLst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urved Connector 59">
            <a:extLst>
              <a:ext uri="{FF2B5EF4-FFF2-40B4-BE49-F238E27FC236}">
                <a16:creationId xmlns:a16="http://schemas.microsoft.com/office/drawing/2014/main" id="{A9A5E8E8-83A5-B42A-2B15-527C1EDE415A}"/>
              </a:ext>
            </a:extLst>
          </p:cNvPr>
          <p:cNvCxnSpPr>
            <a:cxnSpLocks/>
            <a:stCxn id="46" idx="2"/>
            <a:endCxn id="53" idx="0"/>
          </p:cNvCxnSpPr>
          <p:nvPr/>
        </p:nvCxnSpPr>
        <p:spPr>
          <a:xfrm rot="16200000" flipH="1">
            <a:off x="7699770" y="4236242"/>
            <a:ext cx="371136" cy="1343476"/>
          </a:xfrm>
          <a:prstGeom prst="curvedConnector3">
            <a:avLst>
              <a:gd name="adj1" fmla="val 50000"/>
            </a:avLst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urved Connector 62">
            <a:extLst>
              <a:ext uri="{FF2B5EF4-FFF2-40B4-BE49-F238E27FC236}">
                <a16:creationId xmlns:a16="http://schemas.microsoft.com/office/drawing/2014/main" id="{2BE2EA6D-8848-A5B1-DB26-96834A0CF88C}"/>
              </a:ext>
            </a:extLst>
          </p:cNvPr>
          <p:cNvCxnSpPr>
            <a:cxnSpLocks/>
            <a:stCxn id="46" idx="2"/>
            <a:endCxn id="54" idx="0"/>
          </p:cNvCxnSpPr>
          <p:nvPr/>
        </p:nvCxnSpPr>
        <p:spPr>
          <a:xfrm rot="16200000" flipH="1">
            <a:off x="8587136" y="3348876"/>
            <a:ext cx="391639" cy="3138710"/>
          </a:xfrm>
          <a:prstGeom prst="curvedConnector3">
            <a:avLst>
              <a:gd name="adj1" fmla="val 50000"/>
            </a:avLst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398997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31" grpId="0" animBg="1"/>
      <p:bldP spid="32" grpId="0" animBg="1"/>
      <p:bldP spid="33" grpId="0" animBg="1"/>
      <p:bldP spid="34" grpId="0" animBg="1"/>
      <p:bldP spid="46" grpId="0" animBg="1"/>
      <p:bldP spid="51" grpId="0" animBg="1"/>
      <p:bldP spid="52" grpId="0" animBg="1"/>
      <p:bldP spid="53" grpId="0" animBg="1"/>
      <p:bldP spid="5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777B7-1D3C-4AA2-91B0-A5455C39E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Social Network V3.0 versus V4.0 (</a:t>
            </a:r>
            <a:r>
              <a:rPr lang="en-GB" err="1"/>
              <a:t>NewsFeed</a:t>
            </a:r>
            <a:r>
              <a:rPr lang="en-GB"/>
              <a:t>)</a:t>
            </a:r>
            <a:endParaRPr lang="en-VI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C7A87B-56CE-48B2-8F02-999AC2EAA1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15" y="2286000"/>
            <a:ext cx="4762707" cy="36394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562F810-BFB8-4CCC-BA44-B5FC8F23912E}"/>
              </a:ext>
            </a:extLst>
          </p:cNvPr>
          <p:cNvSpPr/>
          <p:nvPr/>
        </p:nvSpPr>
        <p:spPr>
          <a:xfrm>
            <a:off x="3886200" y="2101334"/>
            <a:ext cx="1205977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en-GB" sz="2000" b="1">
                <a:solidFill>
                  <a:schemeClr val="tx2"/>
                </a:solidFill>
                <a:latin typeface="Arial" charset="0"/>
              </a:rPr>
              <a:t>V3.0</a:t>
            </a:r>
            <a:endParaRPr lang="en-GB" sz="2000">
              <a:latin typeface="Arial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6AD935-1604-4B2C-831F-F3AB8BED26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183989"/>
            <a:ext cx="4762706" cy="55978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BE20261-065C-44EB-8B88-D7C836BE3CAC}"/>
              </a:ext>
            </a:extLst>
          </p:cNvPr>
          <p:cNvSpPr/>
          <p:nvPr/>
        </p:nvSpPr>
        <p:spPr>
          <a:xfrm>
            <a:off x="10511984" y="1056373"/>
            <a:ext cx="1205977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en-GB" sz="2000" b="1">
                <a:solidFill>
                  <a:schemeClr val="tx2"/>
                </a:solidFill>
                <a:latin typeface="Arial" charset="0"/>
              </a:rPr>
              <a:t>V4.0</a:t>
            </a:r>
            <a:endParaRPr lang="en-GB" sz="2000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5529898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9E06F23D-30D0-4129-9DCD-0AB33489C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183989"/>
            <a:ext cx="4762706" cy="55978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55777B7-1D3C-4AA2-91B0-A5455C39E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Social Network V3.0 versus V4.0 (</a:t>
            </a:r>
            <a:r>
              <a:rPr lang="en-GB" err="1"/>
              <a:t>NewsFeed</a:t>
            </a:r>
            <a:r>
              <a:rPr lang="en-GB"/>
              <a:t>)</a:t>
            </a:r>
            <a:endParaRPr lang="en-VI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C7A87B-56CE-48B2-8F02-999AC2EAA1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15" y="2286000"/>
            <a:ext cx="4762707" cy="36394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562F810-BFB8-4CCC-BA44-B5FC8F23912E}"/>
              </a:ext>
            </a:extLst>
          </p:cNvPr>
          <p:cNvSpPr/>
          <p:nvPr/>
        </p:nvSpPr>
        <p:spPr>
          <a:xfrm>
            <a:off x="3886200" y="2101334"/>
            <a:ext cx="1205977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en-GB" sz="2000" b="1">
                <a:solidFill>
                  <a:schemeClr val="tx2"/>
                </a:solidFill>
                <a:latin typeface="Arial" charset="0"/>
              </a:rPr>
              <a:t>V3.0</a:t>
            </a:r>
            <a:endParaRPr lang="en-GB" sz="2000">
              <a:latin typeface="Arial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BE20261-065C-44EB-8B88-D7C836BE3CAC}"/>
              </a:ext>
            </a:extLst>
          </p:cNvPr>
          <p:cNvSpPr/>
          <p:nvPr/>
        </p:nvSpPr>
        <p:spPr>
          <a:xfrm>
            <a:off x="10511984" y="1056373"/>
            <a:ext cx="1205977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en-GB" sz="2000" b="1">
                <a:solidFill>
                  <a:schemeClr val="tx2"/>
                </a:solidFill>
                <a:latin typeface="Arial" charset="0"/>
              </a:rPr>
              <a:t>V4.0</a:t>
            </a:r>
            <a:endParaRPr lang="en-GB" sz="2000">
              <a:latin typeface="Arial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A43E6AA-3163-4BC4-A925-EB55B0F821AC}"/>
              </a:ext>
            </a:extLst>
          </p:cNvPr>
          <p:cNvSpPr/>
          <p:nvPr/>
        </p:nvSpPr>
        <p:spPr>
          <a:xfrm>
            <a:off x="733210" y="3505200"/>
            <a:ext cx="3838790" cy="30480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24A3DFB-2CDE-4513-9F84-7956D55021B6}"/>
              </a:ext>
            </a:extLst>
          </p:cNvPr>
          <p:cNvSpPr/>
          <p:nvPr/>
        </p:nvSpPr>
        <p:spPr>
          <a:xfrm>
            <a:off x="7286410" y="2971800"/>
            <a:ext cx="3207989" cy="60960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04B735F-F197-4BE1-9A49-22321650E582}"/>
              </a:ext>
            </a:extLst>
          </p:cNvPr>
          <p:cNvSpPr/>
          <p:nvPr/>
        </p:nvSpPr>
        <p:spPr>
          <a:xfrm>
            <a:off x="733210" y="5562600"/>
            <a:ext cx="3838790" cy="30480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A340B6B-D5E6-4CB5-BFBB-6C15719D0AA0}"/>
              </a:ext>
            </a:extLst>
          </p:cNvPr>
          <p:cNvSpPr/>
          <p:nvPr/>
        </p:nvSpPr>
        <p:spPr>
          <a:xfrm>
            <a:off x="7286410" y="6172200"/>
            <a:ext cx="3838790" cy="60960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D2065A4-17D9-4DB0-A0DD-597C9DC2E762}"/>
              </a:ext>
            </a:extLst>
          </p:cNvPr>
          <p:cNvSpPr/>
          <p:nvPr/>
        </p:nvSpPr>
        <p:spPr>
          <a:xfrm>
            <a:off x="152400" y="6110093"/>
            <a:ext cx="6409388" cy="59093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en-GB">
                <a:solidFill>
                  <a:schemeClr val="tx2"/>
                </a:solidFill>
                <a:latin typeface="Arial" charset="0"/>
              </a:rPr>
              <a:t>To handle the two </a:t>
            </a:r>
            <a:r>
              <a:rPr lang="en-GB" err="1">
                <a:solidFill>
                  <a:schemeClr val="tx2"/>
                </a:solidFill>
                <a:latin typeface="Arial" charset="0"/>
              </a:rPr>
              <a:t>ArrayLists</a:t>
            </a:r>
            <a:r>
              <a:rPr lang="en-GB">
                <a:solidFill>
                  <a:schemeClr val="tx2"/>
                </a:solidFill>
                <a:latin typeface="Arial" charset="0"/>
              </a:rPr>
              <a:t>, our </a:t>
            </a:r>
            <a:r>
              <a:rPr lang="en-GB" err="1">
                <a:solidFill>
                  <a:schemeClr val="tx2"/>
                </a:solidFill>
                <a:latin typeface="Arial" charset="0"/>
              </a:rPr>
              <a:t>NewsFeed</a:t>
            </a:r>
            <a:r>
              <a:rPr lang="en-GB">
                <a:solidFill>
                  <a:schemeClr val="tx2"/>
                </a:solidFill>
                <a:latin typeface="Arial" charset="0"/>
              </a:rPr>
              <a:t> methods have grown significantly e.g. delete now has two methods!</a:t>
            </a:r>
            <a:endParaRPr lang="en-GB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7193362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777B7-1D3C-4AA2-91B0-A5455C39E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Social Network V3.0 versus V4.0 (Driver)</a:t>
            </a:r>
            <a:endParaRPr lang="en-VI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711666-DE3E-4107-B412-5AEA159CB5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3244334"/>
            <a:ext cx="3767644" cy="32484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562F810-BFB8-4CCC-BA44-B5FC8F23912E}"/>
              </a:ext>
            </a:extLst>
          </p:cNvPr>
          <p:cNvSpPr/>
          <p:nvPr/>
        </p:nvSpPr>
        <p:spPr>
          <a:xfrm>
            <a:off x="1463747" y="2765236"/>
            <a:ext cx="1205977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en-GB" sz="2000" b="1">
                <a:solidFill>
                  <a:schemeClr val="tx2"/>
                </a:solidFill>
                <a:latin typeface="Arial" charset="0"/>
              </a:rPr>
              <a:t>V3.0</a:t>
            </a:r>
            <a:endParaRPr lang="en-GB" sz="2000">
              <a:latin typeface="Arial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128EA09-02AD-4A6D-A444-728E5C1F9B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0226" y="1572877"/>
            <a:ext cx="2258335" cy="24965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93532A5-2B3C-469D-9999-3169BBA8F7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3387" y="1667625"/>
            <a:ext cx="3992213" cy="48855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88A94AA-8544-44EE-BF8A-3D691A9F3A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7523" y="1267121"/>
            <a:ext cx="2343477" cy="36962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BE20261-065C-44EB-8B88-D7C836BE3CAC}"/>
              </a:ext>
            </a:extLst>
          </p:cNvPr>
          <p:cNvSpPr/>
          <p:nvPr/>
        </p:nvSpPr>
        <p:spPr>
          <a:xfrm>
            <a:off x="8172123" y="1519854"/>
            <a:ext cx="1205977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en-GB" sz="2000" b="1">
                <a:solidFill>
                  <a:schemeClr val="tx2"/>
                </a:solidFill>
                <a:latin typeface="Arial" charset="0"/>
              </a:rPr>
              <a:t>V4.0</a:t>
            </a:r>
            <a:endParaRPr lang="en-GB" sz="2000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8189911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C45AC921-0988-4F40-8D76-11F53F0CDF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3387" y="1667625"/>
            <a:ext cx="3992213" cy="48855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1A24182F-5F94-4DE4-B9D8-0E449F35C207}"/>
              </a:ext>
            </a:extLst>
          </p:cNvPr>
          <p:cNvSpPr/>
          <p:nvPr/>
        </p:nvSpPr>
        <p:spPr>
          <a:xfrm>
            <a:off x="8172123" y="1519854"/>
            <a:ext cx="1205977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en-GB" sz="2000" b="1">
                <a:solidFill>
                  <a:schemeClr val="tx2"/>
                </a:solidFill>
                <a:latin typeface="Arial" charset="0"/>
              </a:rPr>
              <a:t>V4.0</a:t>
            </a:r>
            <a:endParaRPr lang="en-GB" sz="2000">
              <a:latin typeface="Arial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5777B7-1D3C-4AA2-91B0-A5455C39E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Social Network V3.0 versus V4.0 (Driver)</a:t>
            </a:r>
            <a:endParaRPr lang="en-VI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711666-DE3E-4107-B412-5AEA159CB5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3244334"/>
            <a:ext cx="3767644" cy="32484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562F810-BFB8-4CCC-BA44-B5FC8F23912E}"/>
              </a:ext>
            </a:extLst>
          </p:cNvPr>
          <p:cNvSpPr/>
          <p:nvPr/>
        </p:nvSpPr>
        <p:spPr>
          <a:xfrm>
            <a:off x="1463747" y="2765236"/>
            <a:ext cx="1205977" cy="36933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en-GB" sz="2000" b="1">
                <a:solidFill>
                  <a:schemeClr val="tx2"/>
                </a:solidFill>
                <a:latin typeface="Arial" charset="0"/>
              </a:rPr>
              <a:t>V3.0</a:t>
            </a:r>
            <a:endParaRPr lang="en-GB" sz="2000">
              <a:latin typeface="Arial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128EA09-02AD-4A6D-A444-728E5C1F9B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0226" y="1572877"/>
            <a:ext cx="2258335" cy="24965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88A94AA-8544-44EE-BF8A-3D691A9F3A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7523" y="1267121"/>
            <a:ext cx="2343477" cy="36962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176FFA1-9FAE-46C6-894F-B5D326B47E69}"/>
              </a:ext>
            </a:extLst>
          </p:cNvPr>
          <p:cNvSpPr/>
          <p:nvPr/>
        </p:nvSpPr>
        <p:spPr>
          <a:xfrm>
            <a:off x="6671926" y="3113507"/>
            <a:ext cx="2706174" cy="83820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7A9F7FA-1F68-4988-A686-BC1F986F9C31}"/>
              </a:ext>
            </a:extLst>
          </p:cNvPr>
          <p:cNvSpPr/>
          <p:nvPr/>
        </p:nvSpPr>
        <p:spPr>
          <a:xfrm>
            <a:off x="6694110" y="3934122"/>
            <a:ext cx="2706174" cy="838200"/>
          </a:xfrm>
          <a:prstGeom prst="roundRect">
            <a:avLst/>
          </a:prstGeom>
          <a:noFill/>
          <a:ln w="381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0C9E4D-B697-4367-BDBE-F5847D37D4AD}"/>
              </a:ext>
            </a:extLst>
          </p:cNvPr>
          <p:cNvSpPr/>
          <p:nvPr/>
        </p:nvSpPr>
        <p:spPr>
          <a:xfrm>
            <a:off x="713648" y="4572000"/>
            <a:ext cx="2706174" cy="286554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EC60CAE-4F3D-49ED-B0C1-83E70F9D4C61}"/>
              </a:ext>
            </a:extLst>
          </p:cNvPr>
          <p:cNvSpPr/>
          <p:nvPr/>
        </p:nvSpPr>
        <p:spPr>
          <a:xfrm>
            <a:off x="3893050" y="4376490"/>
            <a:ext cx="2527929" cy="133882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en-GB">
                <a:solidFill>
                  <a:schemeClr val="tx2"/>
                </a:solidFill>
                <a:latin typeface="Arial" charset="0"/>
              </a:rPr>
              <a:t>To handle the two </a:t>
            </a:r>
            <a:r>
              <a:rPr lang="en-GB" err="1">
                <a:solidFill>
                  <a:schemeClr val="tx2"/>
                </a:solidFill>
                <a:latin typeface="Arial" charset="0"/>
              </a:rPr>
              <a:t>ArrayLists</a:t>
            </a:r>
            <a:r>
              <a:rPr lang="en-GB">
                <a:solidFill>
                  <a:schemeClr val="tx2"/>
                </a:solidFill>
                <a:latin typeface="Arial" charset="0"/>
              </a:rPr>
              <a:t>, we have added new Driver methods and new options on the menu</a:t>
            </a:r>
            <a:endParaRPr lang="en-GB">
              <a:latin typeface="Arial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0D60BCA-2CDE-44AE-A49E-8A22BF261220}"/>
              </a:ext>
            </a:extLst>
          </p:cNvPr>
          <p:cNvSpPr/>
          <p:nvPr/>
        </p:nvSpPr>
        <p:spPr>
          <a:xfrm>
            <a:off x="713648" y="5127590"/>
            <a:ext cx="2706174" cy="51121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</p:spTree>
    <p:extLst>
      <p:ext uri="{BB962C8B-B14F-4D97-AF65-F5344CB8AC3E}">
        <p14:creationId xmlns:p14="http://schemas.microsoft.com/office/powerpoint/2010/main" val="1107406081"/>
      </p:ext>
    </p:extLst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FA832-8DF0-4882-A662-DD7C687A1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Shop Network V4.0 – </a:t>
            </a:r>
            <a:r>
              <a:rPr lang="en-GB" err="1"/>
              <a:t>NewsFeed</a:t>
            </a:r>
            <a:r>
              <a:rPr lang="en-GB"/>
              <a:t> – show() method</a:t>
            </a:r>
            <a:endParaRPr lang="en-VI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420CCDC-3E45-46AA-BA7D-F7910CCBE7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1652985"/>
            <a:ext cx="9399181" cy="5078313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show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str =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""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for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MessagePost messagePost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: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messagePosts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str +=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messagePosts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.indexOf(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messagePost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+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": "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messagePost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.display() +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7A6"/>
                </a:solidFill>
                <a:effectLst/>
                <a:latin typeface="JetBrains Mono"/>
              </a:rPr>
              <a:t>\n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for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PhotoPost photoPost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: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photoPosts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str +=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photoPosts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.indexOf(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photoPost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+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": "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photoPost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.display() +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7A6"/>
                </a:solidFill>
                <a:effectLst/>
                <a:latin typeface="JetBrains Mono"/>
              </a:rPr>
              <a:t>\n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if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(str.isEmpty()){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"No Posts"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else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str;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6C9276E4-43EB-4B47-BFC3-DA7BCC9CB9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00632" y="4876800"/>
            <a:ext cx="5450456" cy="1477328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class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NewsFeed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ArrayList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&lt;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MessagePost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&gt;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messagePosts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ArrayList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&lt;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PhotoPost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&gt;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photoPosts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GB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</a:t>
            </a:r>
            <a:endParaRPr kumimoji="0" lang="en-VI" altLang="en-VI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7929107"/>
      </p:ext>
    </p:extLst>
  </p:cSld>
  <p:clrMapOvr>
    <a:masterClrMapping/>
  </p:clrMapOvr>
  <p:transition spd="slow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FA832-8DF0-4882-A662-DD7C687A1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Shop Network V4.0 – </a:t>
            </a:r>
            <a:r>
              <a:rPr lang="en-GB" err="1"/>
              <a:t>NewsFeed</a:t>
            </a:r>
            <a:r>
              <a:rPr lang="en-GB"/>
              <a:t> – show() method</a:t>
            </a:r>
            <a:endParaRPr lang="en-VI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420CCDC-3E45-46AA-BA7D-F7910CCBE7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1652985"/>
            <a:ext cx="8118761" cy="5078313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JetBrains Mono"/>
              </a:rPr>
              <a:t>show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() {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str =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""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for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MessagePost messagePost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: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messagePosts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str +=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messagePosts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.indexOf(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messagePost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+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": "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messagePost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.display() +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7A6"/>
                </a:solidFill>
                <a:effectLst/>
                <a:latin typeface="JetBrains Mono"/>
              </a:rPr>
              <a:t>\n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for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PhotoPost photoPost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: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photoPosts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str +=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photoPosts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.indexOf(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photoPost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) +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": "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photoPost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.display() +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7A6"/>
                </a:solidFill>
                <a:effectLst/>
                <a:latin typeface="JetBrains Mono"/>
              </a:rPr>
              <a:t>\n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if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(str.isEmpty()){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JetBrains Mono"/>
              </a:rPr>
              <a:t>"No Posts"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else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return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str;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}</a:t>
            </a:r>
            <a:endParaRPr kumimoji="0" lang="en-VI" altLang="en-VI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6C9276E4-43EB-4B47-BFC3-DA7BCC9CB9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00632" y="4876800"/>
            <a:ext cx="4790735" cy="1477328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public class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NewsFeed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ArrayList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&lt;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MessagePost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&gt;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messagePosts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JetBrains Mono"/>
              </a:rPr>
              <a:t>private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ArrayList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&lt;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JetBrains Mono"/>
              </a:rPr>
              <a:t>PhotoPost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&gt; 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JetBrains Mono"/>
              </a:rPr>
              <a:t>photoPosts</a:t>
            </a:r>
            <a: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kumimoji="0" lang="en-VI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</a:br>
            <a:r>
              <a:rPr kumimoji="0" lang="en-GB" altLang="en-VI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JetBrains Mono"/>
              </a:rPr>
              <a:t>   </a:t>
            </a:r>
            <a:endParaRPr kumimoji="0" lang="en-VI" altLang="en-VI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Frame 9">
            <a:extLst>
              <a:ext uri="{FF2B5EF4-FFF2-40B4-BE49-F238E27FC236}">
                <a16:creationId xmlns:a16="http://schemas.microsoft.com/office/drawing/2014/main" id="{E36559EF-882C-4607-9689-49D1D0F06215}"/>
              </a:ext>
            </a:extLst>
          </p:cNvPr>
          <p:cNvSpPr/>
          <p:nvPr/>
        </p:nvSpPr>
        <p:spPr>
          <a:xfrm>
            <a:off x="9582149" y="2697162"/>
            <a:ext cx="2000250" cy="3886200"/>
          </a:xfrm>
          <a:prstGeom prst="frame">
            <a:avLst>
              <a:gd name="adj1" fmla="val 3630"/>
            </a:avLst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00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621BC4-9DE3-44B9-9921-9625ECF05735}"/>
              </a:ext>
            </a:extLst>
          </p:cNvPr>
          <p:cNvSpPr/>
          <p:nvPr/>
        </p:nvSpPr>
        <p:spPr>
          <a:xfrm>
            <a:off x="8839200" y="1279454"/>
            <a:ext cx="3276600" cy="133882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en-GB" b="1">
                <a:solidFill>
                  <a:schemeClr val="tx2"/>
                </a:solidFill>
                <a:latin typeface="Arial" charset="0"/>
              </a:rPr>
              <a:t>Problem: </a:t>
            </a:r>
            <a:r>
              <a:rPr lang="en-GB">
                <a:solidFill>
                  <a:schemeClr val="tx2"/>
                </a:solidFill>
                <a:latin typeface="Arial" charset="0"/>
              </a:rPr>
              <a:t>The posts are not displayed in the order they were added, all the messages are displayed first, followed by the photos. </a:t>
            </a:r>
            <a:endParaRPr lang="en-GB">
              <a:latin typeface="Arial" charset="0"/>
            </a:endParaRPr>
          </a:p>
        </p:txBody>
      </p:sp>
      <p:sp>
        <p:nvSpPr>
          <p:cNvPr id="13" name="Rounded Rectangular Callout 12">
            <a:extLst>
              <a:ext uri="{FF2B5EF4-FFF2-40B4-BE49-F238E27FC236}">
                <a16:creationId xmlns:a16="http://schemas.microsoft.com/office/drawing/2014/main" id="{69AED686-0B1E-004C-17F2-CFD727C735DD}"/>
              </a:ext>
            </a:extLst>
          </p:cNvPr>
          <p:cNvSpPr/>
          <p:nvPr/>
        </p:nvSpPr>
        <p:spPr>
          <a:xfrm>
            <a:off x="9725933" y="2929156"/>
            <a:ext cx="1331928" cy="499844"/>
          </a:xfrm>
          <a:prstGeom prst="wedgeRoundRectCallout">
            <a:avLst/>
          </a:prstGeom>
          <a:solidFill>
            <a:srgbClr val="435765"/>
          </a:solidFill>
          <a:ln>
            <a:solidFill>
              <a:srgbClr val="43576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E" sz="1200" b="0" i="0" dirty="0">
              <a:solidFill>
                <a:srgbClr val="E7E9EA"/>
              </a:solidFill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endParaRPr lang="en-IE" sz="1200" dirty="0">
              <a:solidFill>
                <a:srgbClr val="E7E9EA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r>
              <a: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This is my first post</a:t>
            </a:r>
          </a:p>
          <a:p>
            <a:br>
              <a:rPr lang="en-IE" sz="1200" dirty="0">
                <a:effectLst/>
              </a:rPr>
            </a:br>
            <a:endParaRPr lang="en-IE" sz="1200" dirty="0">
              <a:effectLst/>
            </a:endParaRPr>
          </a:p>
          <a:p>
            <a:pPr algn="ctr"/>
            <a:endParaRPr lang="en-US" sz="12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0DF307B-972F-20F9-75A5-F74450BD331E}"/>
              </a:ext>
            </a:extLst>
          </p:cNvPr>
          <p:cNvGrpSpPr/>
          <p:nvPr/>
        </p:nvGrpSpPr>
        <p:grpSpPr>
          <a:xfrm>
            <a:off x="9802213" y="5588876"/>
            <a:ext cx="1179368" cy="587978"/>
            <a:chOff x="5138059" y="2103999"/>
            <a:chExt cx="1712683" cy="1713257"/>
          </a:xfrm>
        </p:grpSpPr>
        <p:sp>
          <p:nvSpPr>
            <p:cNvPr id="15" name="Rounded Rectangular Callout 14">
              <a:extLst>
                <a:ext uri="{FF2B5EF4-FFF2-40B4-BE49-F238E27FC236}">
                  <a16:creationId xmlns:a16="http://schemas.microsoft.com/office/drawing/2014/main" id="{B2C03995-C8D6-3827-4DED-0975CBF1C54B}"/>
                </a:ext>
              </a:extLst>
            </p:cNvPr>
            <p:cNvSpPr/>
            <p:nvPr/>
          </p:nvSpPr>
          <p:spPr>
            <a:xfrm>
              <a:off x="5138059" y="2103999"/>
              <a:ext cx="1712683" cy="1713257"/>
            </a:xfrm>
            <a:prstGeom prst="wedgeRoundRectCallout">
              <a:avLst/>
            </a:prstGeom>
            <a:solidFill>
              <a:srgbClr val="FCCA3A"/>
            </a:solidFill>
            <a:ln>
              <a:solidFill>
                <a:srgbClr val="43576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r>
                <a:rPr lang="en-IE" sz="1200" b="0" i="0" dirty="0">
                  <a:solidFill>
                    <a:srgbClr val="435765"/>
                  </a:solidFill>
                  <a:effectLst/>
                  <a:latin typeface="Inter" panose="02000503000000020004" pitchFamily="2" charset="0"/>
                  <a:ea typeface="Inter" panose="02000503000000020004" pitchFamily="2" charset="0"/>
                </a:rPr>
                <a:t>Second </a:t>
              </a:r>
              <a:r>
                <a:rPr lang="en-IE" sz="1200" b="0" i="0" dirty="0" err="1">
                  <a:solidFill>
                    <a:srgbClr val="435765"/>
                  </a:solidFill>
                  <a:effectLst/>
                  <a:latin typeface="Inter" panose="02000503000000020004" pitchFamily="2" charset="0"/>
                  <a:ea typeface="Inter" panose="02000503000000020004" pitchFamily="2" charset="0"/>
                </a:rPr>
                <a:t>POst</a:t>
              </a:r>
              <a:endParaRPr lang="en-IE" sz="1200" b="0" i="0" dirty="0">
                <a:solidFill>
                  <a:srgbClr val="435765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br>
                <a:rPr lang="en-IE" sz="1200" dirty="0">
                  <a:effectLst/>
                </a:rPr>
              </a:br>
              <a:endParaRPr lang="en-IE" sz="1200" dirty="0">
                <a:effectLst/>
              </a:endParaRPr>
            </a:p>
            <a:p>
              <a:pPr algn="ctr"/>
              <a:endParaRPr lang="en-US" sz="1200" dirty="0"/>
            </a:p>
          </p:txBody>
        </p:sp>
        <p:pic>
          <p:nvPicPr>
            <p:cNvPr id="16" name="Picture 15" descr="A picture containing dark&#10;&#10;Description automatically generated">
              <a:extLst>
                <a:ext uri="{FF2B5EF4-FFF2-40B4-BE49-F238E27FC236}">
                  <a16:creationId xmlns:a16="http://schemas.microsoft.com/office/drawing/2014/main" id="{C62C8933-2F18-9056-C019-09A766D7323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08130" y="2133028"/>
              <a:ext cx="1172540" cy="1184384"/>
            </a:xfrm>
            <a:prstGeom prst="rect">
              <a:avLst/>
            </a:prstGeom>
          </p:spPr>
        </p:pic>
      </p:grpSp>
      <p:sp>
        <p:nvSpPr>
          <p:cNvPr id="23" name="Rounded Rectangular Callout 22">
            <a:extLst>
              <a:ext uri="{FF2B5EF4-FFF2-40B4-BE49-F238E27FC236}">
                <a16:creationId xmlns:a16="http://schemas.microsoft.com/office/drawing/2014/main" id="{B2C03995-C8D6-3827-4DED-0975CBF1C54B}"/>
              </a:ext>
            </a:extLst>
          </p:cNvPr>
          <p:cNvSpPr/>
          <p:nvPr/>
        </p:nvSpPr>
        <p:spPr>
          <a:xfrm>
            <a:off x="9725933" y="4582811"/>
            <a:ext cx="1179368" cy="587978"/>
          </a:xfrm>
          <a:prstGeom prst="wedgeRoundRectCallout">
            <a:avLst/>
          </a:prstGeom>
          <a:solidFill>
            <a:srgbClr val="FCCA3A"/>
          </a:solidFill>
          <a:ln>
            <a:solidFill>
              <a:srgbClr val="43576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E" sz="1200" b="0" i="0" dirty="0">
              <a:solidFill>
                <a:srgbClr val="E7E9EA"/>
              </a:solidFill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endParaRPr lang="en-IE" sz="1200" dirty="0">
              <a:solidFill>
                <a:srgbClr val="E7E9EA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endParaRPr lang="en-IE" sz="1200" b="0" i="0" dirty="0">
              <a:solidFill>
                <a:srgbClr val="E7E9EA"/>
              </a:solidFill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endParaRPr lang="en-IE" sz="1200" dirty="0">
              <a:solidFill>
                <a:srgbClr val="E7E9EA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endParaRPr lang="en-IE" sz="1200" b="0" i="0" dirty="0">
              <a:solidFill>
                <a:srgbClr val="E7E9EA"/>
              </a:solidFill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endParaRPr lang="en-IE" sz="1200" dirty="0">
              <a:solidFill>
                <a:srgbClr val="E7E9EA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endParaRPr lang="en-IE" sz="1200" b="0" i="0" dirty="0">
              <a:solidFill>
                <a:srgbClr val="E7E9EA"/>
              </a:solidFill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endParaRPr lang="en-IE" sz="1200" dirty="0">
              <a:solidFill>
                <a:srgbClr val="E7E9EA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endParaRPr lang="en-IE" sz="1200" dirty="0">
              <a:solidFill>
                <a:srgbClr val="E7E9EA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r>
              <a:rPr lang="en-IE" sz="1200" b="0" i="0" dirty="0">
                <a:solidFill>
                  <a:srgbClr val="435765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First Post</a:t>
            </a:r>
          </a:p>
          <a:p>
            <a:br>
              <a:rPr lang="en-IE" sz="1200" dirty="0">
                <a:effectLst/>
              </a:rPr>
            </a:br>
            <a:endParaRPr lang="en-IE" sz="1200" dirty="0">
              <a:effectLst/>
            </a:endParaRPr>
          </a:p>
          <a:p>
            <a:pPr algn="ctr"/>
            <a:endParaRPr lang="en-US" sz="1200" dirty="0"/>
          </a:p>
        </p:txBody>
      </p:sp>
      <p:pic>
        <p:nvPicPr>
          <p:cNvPr id="24" name="Picture 23" descr="A picture containing dark&#10;&#10;Description automatically generated">
            <a:extLst>
              <a:ext uri="{FF2B5EF4-FFF2-40B4-BE49-F238E27FC236}">
                <a16:creationId xmlns:a16="http://schemas.microsoft.com/office/drawing/2014/main" id="{C62C8933-2F18-9056-C019-09A766D732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1906" y="4632005"/>
            <a:ext cx="807421" cy="406472"/>
          </a:xfrm>
          <a:prstGeom prst="rect">
            <a:avLst/>
          </a:prstGeom>
        </p:spPr>
      </p:pic>
      <p:sp>
        <p:nvSpPr>
          <p:cNvPr id="25" name="Rounded Rectangular Callout 24">
            <a:extLst>
              <a:ext uri="{FF2B5EF4-FFF2-40B4-BE49-F238E27FC236}">
                <a16:creationId xmlns:a16="http://schemas.microsoft.com/office/drawing/2014/main" id="{69AED686-0B1E-004C-17F2-CFD727C735DD}"/>
              </a:ext>
            </a:extLst>
          </p:cNvPr>
          <p:cNvSpPr/>
          <p:nvPr/>
        </p:nvSpPr>
        <p:spPr>
          <a:xfrm>
            <a:off x="9725932" y="3478194"/>
            <a:ext cx="1331928" cy="499844"/>
          </a:xfrm>
          <a:prstGeom prst="wedgeRoundRectCallout">
            <a:avLst/>
          </a:prstGeom>
          <a:solidFill>
            <a:srgbClr val="435765"/>
          </a:solidFill>
          <a:ln>
            <a:solidFill>
              <a:srgbClr val="43576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E" sz="1200" b="0" i="0" dirty="0">
              <a:solidFill>
                <a:srgbClr val="E7E9EA"/>
              </a:solidFill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endParaRPr lang="en-IE" sz="1200" dirty="0">
              <a:solidFill>
                <a:srgbClr val="E7E9EA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r>
              <a: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This is my 2nd post</a:t>
            </a:r>
          </a:p>
          <a:p>
            <a:br>
              <a:rPr lang="en-IE" sz="1200" dirty="0">
                <a:effectLst/>
              </a:rPr>
            </a:br>
            <a:endParaRPr lang="en-IE" sz="1200" dirty="0">
              <a:effectLst/>
            </a:endParaRPr>
          </a:p>
          <a:p>
            <a:pPr algn="ctr"/>
            <a:endParaRPr lang="en-US" sz="1200" dirty="0"/>
          </a:p>
        </p:txBody>
      </p:sp>
      <p:sp>
        <p:nvSpPr>
          <p:cNvPr id="26" name="Rounded Rectangular Callout 25">
            <a:extLst>
              <a:ext uri="{FF2B5EF4-FFF2-40B4-BE49-F238E27FC236}">
                <a16:creationId xmlns:a16="http://schemas.microsoft.com/office/drawing/2014/main" id="{69AED686-0B1E-004C-17F2-CFD727C735DD}"/>
              </a:ext>
            </a:extLst>
          </p:cNvPr>
          <p:cNvSpPr/>
          <p:nvPr/>
        </p:nvSpPr>
        <p:spPr>
          <a:xfrm>
            <a:off x="9725932" y="4027232"/>
            <a:ext cx="1331928" cy="499844"/>
          </a:xfrm>
          <a:prstGeom prst="wedgeRoundRectCallout">
            <a:avLst/>
          </a:prstGeom>
          <a:solidFill>
            <a:srgbClr val="435765"/>
          </a:solidFill>
          <a:ln>
            <a:solidFill>
              <a:srgbClr val="43576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E" sz="1200" b="0" i="0" dirty="0">
              <a:solidFill>
                <a:srgbClr val="E7E9EA"/>
              </a:solidFill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endParaRPr lang="en-IE" sz="1200" dirty="0">
              <a:solidFill>
                <a:srgbClr val="E7E9EA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r>
              <a: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This is my 3rd post</a:t>
            </a:r>
          </a:p>
          <a:p>
            <a:br>
              <a:rPr lang="en-IE" sz="1200" dirty="0">
                <a:effectLst/>
              </a:rPr>
            </a:br>
            <a:endParaRPr lang="en-IE" sz="1200" dirty="0">
              <a:effectLst/>
            </a:endParaRPr>
          </a:p>
          <a:p>
            <a:pPr algn="ctr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4540890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25" grpId="0" animBg="1"/>
      <p:bldP spid="2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Critique of Social Network V4.0</a:t>
            </a:r>
          </a:p>
        </p:txBody>
      </p:sp>
      <p:sp>
        <p:nvSpPr>
          <p:cNvPr id="176132" name="Rectangle 4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eaLnBrk="1" hangingPunct="1">
              <a:defRPr/>
            </a:pPr>
            <a:r>
              <a:rPr lang="en-GB">
                <a:ea typeface="+mn-ea"/>
                <a:cs typeface="+mn-cs"/>
              </a:rPr>
              <a:t>Code duplication:</a:t>
            </a:r>
          </a:p>
          <a:p>
            <a:pPr lvl="1" eaLnBrk="1" hangingPunct="1">
              <a:defRPr/>
            </a:pPr>
            <a:r>
              <a:rPr lang="en-GB" err="1">
                <a:solidFill>
                  <a:srgbClr val="FF0000"/>
                </a:solidFill>
                <a:ea typeface="+mn-ea"/>
              </a:rPr>
              <a:t>MessagePost</a:t>
            </a:r>
            <a:r>
              <a:rPr lang="en-GB">
                <a:ea typeface="+mn-ea"/>
              </a:rPr>
              <a:t> and </a:t>
            </a:r>
            <a:r>
              <a:rPr lang="en-GB" err="1">
                <a:solidFill>
                  <a:srgbClr val="00B050"/>
                </a:solidFill>
                <a:ea typeface="+mn-ea"/>
              </a:rPr>
              <a:t>PhotoPost</a:t>
            </a:r>
            <a:r>
              <a:rPr lang="en-GB">
                <a:ea typeface="+mn-ea"/>
              </a:rPr>
              <a:t> classes very similar (large parts are identical)</a:t>
            </a:r>
          </a:p>
          <a:p>
            <a:pPr lvl="1" eaLnBrk="1" hangingPunct="1">
              <a:defRPr/>
            </a:pPr>
            <a:r>
              <a:rPr lang="en-GB">
                <a:ea typeface="+mn-ea"/>
              </a:rPr>
              <a:t>makes maintenance difficult/more work</a:t>
            </a:r>
          </a:p>
          <a:p>
            <a:pPr lvl="1" eaLnBrk="1" hangingPunct="1">
              <a:defRPr/>
            </a:pPr>
            <a:r>
              <a:rPr lang="en-GB">
                <a:ea typeface="+mn-ea"/>
              </a:rPr>
              <a:t>introduces danger of bugs through incorrect maintenance</a:t>
            </a:r>
          </a:p>
          <a:p>
            <a:pPr marL="457200" lvl="1" indent="0">
              <a:buNone/>
              <a:defRPr/>
            </a:pPr>
            <a:endParaRPr lang="en-GB">
              <a:ea typeface="+mn-ea"/>
            </a:endParaRPr>
          </a:p>
          <a:p>
            <a:pPr eaLnBrk="1" hangingPunct="1">
              <a:defRPr/>
            </a:pPr>
            <a:r>
              <a:rPr lang="en-GB">
                <a:ea typeface="+mn-ea"/>
                <a:cs typeface="+mn-cs"/>
              </a:rPr>
              <a:t>Code duplication in </a:t>
            </a:r>
            <a:r>
              <a:rPr lang="en-GB" err="1">
                <a:solidFill>
                  <a:srgbClr val="0070C0"/>
                </a:solidFill>
                <a:ea typeface="+mn-ea"/>
                <a:cs typeface="+mn-cs"/>
              </a:rPr>
              <a:t>NewsFeed</a:t>
            </a:r>
            <a:r>
              <a:rPr lang="en-GB">
                <a:solidFill>
                  <a:srgbClr val="0070C0"/>
                </a:solidFill>
                <a:ea typeface="+mn-ea"/>
                <a:cs typeface="+mn-cs"/>
              </a:rPr>
              <a:t> </a:t>
            </a:r>
            <a:r>
              <a:rPr lang="en-GB">
                <a:ea typeface="+mn-ea"/>
                <a:cs typeface="+mn-cs"/>
              </a:rPr>
              <a:t>and</a:t>
            </a:r>
            <a:r>
              <a:rPr lang="en-GB">
                <a:solidFill>
                  <a:srgbClr val="0070C0"/>
                </a:solidFill>
                <a:ea typeface="+mn-ea"/>
                <a:cs typeface="+mn-cs"/>
              </a:rPr>
              <a:t> Driver</a:t>
            </a:r>
            <a:r>
              <a:rPr lang="en-GB">
                <a:ea typeface="+mn-ea"/>
                <a:cs typeface="+mn-cs"/>
              </a:rPr>
              <a:t> classes as well.</a:t>
            </a:r>
          </a:p>
          <a:p>
            <a:pPr eaLnBrk="1" hangingPunct="1">
              <a:defRPr/>
            </a:pPr>
            <a:r>
              <a:rPr lang="en-GB"/>
              <a:t>We need a better solution </a:t>
            </a:r>
            <a:r>
              <a:rPr lang="en-GB">
                <a:sym typeface="Wingdings" panose="05000000000000000000" pitchFamily="2" charset="2"/>
              </a:rPr>
              <a:t> </a:t>
            </a:r>
            <a:r>
              <a:rPr lang="en-GB" b="1">
                <a:sym typeface="Wingdings" panose="05000000000000000000" pitchFamily="2" charset="2"/>
              </a:rPr>
              <a:t>Inheritance!</a:t>
            </a:r>
            <a:endParaRPr lang="en-GB" b="1"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3905510"/>
      </p:ext>
    </p:extLst>
  </p:cSld>
  <p:clrMapOvr>
    <a:masterClrMapping/>
  </p:clrMapOvr>
  <p:transition spd="slow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1335" y="2151395"/>
            <a:ext cx="10515600" cy="1325563"/>
          </a:xfrm>
        </p:spPr>
        <p:txBody>
          <a:bodyPr/>
          <a:lstStyle/>
          <a:p>
            <a:r>
              <a:rPr lang="en-GB"/>
              <a:t>Now Let’s </a:t>
            </a:r>
            <a:r>
              <a:rPr lang="en-GB" dirty="0"/>
              <a:t>Introduce Inheritance!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9171670"/>
      </p:ext>
    </p:extLst>
  </p:cSld>
  <p:clrMapOvr>
    <a:masterClrMapping/>
  </p:clrMapOvr>
  <p:transition spd="slow">
    <p:push dir="u"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 2013 - 2022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435765"/>
        </a:solidFill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 2013 - 2022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4A7B4F4F87092419B4836663A979F72" ma:contentTypeVersion="12" ma:contentTypeDescription="Create a new document." ma:contentTypeScope="" ma:versionID="1705185788f4f7b8606867508f74a2eb">
  <xsd:schema xmlns:xsd="http://www.w3.org/2001/XMLSchema" xmlns:xs="http://www.w3.org/2001/XMLSchema" xmlns:p="http://schemas.microsoft.com/office/2006/metadata/properties" xmlns:ns3="2e073d95-02bc-4c31-9707-1f7b5f2564cb" xmlns:ns4="ecd595b7-854d-4129-8908-394d58e21de0" targetNamespace="http://schemas.microsoft.com/office/2006/metadata/properties" ma:root="true" ma:fieldsID="784458e58d0eaf4d4fb689770e9f109b" ns3:_="" ns4:_="">
    <xsd:import namespace="2e073d95-02bc-4c31-9707-1f7b5f2564cb"/>
    <xsd:import namespace="ecd595b7-854d-4129-8908-394d58e21de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LengthInSeconds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e073d95-02bc-4c31-9707-1f7b5f2564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d595b7-854d-4129-8908-394d58e21de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e073d95-02bc-4c31-9707-1f7b5f2564cb" xsi:nil="true"/>
  </documentManagement>
</p:properties>
</file>

<file path=customXml/itemProps1.xml><?xml version="1.0" encoding="utf-8"?>
<ds:datastoreItem xmlns:ds="http://schemas.openxmlformats.org/officeDocument/2006/customXml" ds:itemID="{9F0734DE-2FC5-4E40-8FD1-4F58D8D2451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A847694-5366-4F35-BB14-1B44805440D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e073d95-02bc-4c31-9707-1f7b5f2564cb"/>
    <ds:schemaRef ds:uri="ecd595b7-854d-4129-8908-394d58e21d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B7BD72B-E314-4A2C-A344-AF1319C38FF7}">
  <ds:schemaRefs>
    <ds:schemaRef ds:uri="http://purl.org/dc/elements/1.1/"/>
    <ds:schemaRef ds:uri="http://schemas.microsoft.com/office/2006/metadata/properties"/>
    <ds:schemaRef ds:uri="ecd595b7-854d-4129-8908-394d58e21de0"/>
    <ds:schemaRef ds:uri="http://schemas.microsoft.com/office/infopath/2007/PartnerControls"/>
    <ds:schemaRef ds:uri="http://purl.org/dc/terms/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2e073d95-02bc-4c31-9707-1f7b5f2564cb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5843</TotalTime>
  <Words>1000</Words>
  <Application>Microsoft Macintosh PowerPoint</Application>
  <PresentationFormat>Widescreen</PresentationFormat>
  <Paragraphs>258</Paragraphs>
  <Slides>24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6" baseType="lpstr">
      <vt:lpstr>Arial</vt:lpstr>
      <vt:lpstr>Calibri</vt:lpstr>
      <vt:lpstr>DM Sans</vt:lpstr>
      <vt:lpstr>Inter</vt:lpstr>
      <vt:lpstr>Inter Medium</vt:lpstr>
      <vt:lpstr>JetBrains Mono</vt:lpstr>
      <vt:lpstr>Roboto</vt:lpstr>
      <vt:lpstr>Times New Roman</vt:lpstr>
      <vt:lpstr>TwitterChirp</vt:lpstr>
      <vt:lpstr>Verdana</vt:lpstr>
      <vt:lpstr>Wingdings</vt:lpstr>
      <vt:lpstr>Office Theme 2013 - 2022</vt:lpstr>
      <vt:lpstr>Programming Fundamentals</vt:lpstr>
      <vt:lpstr>Agenda</vt:lpstr>
      <vt:lpstr>PowerPoint Presentation</vt:lpstr>
      <vt:lpstr>Social Network V3.0 - Recap</vt:lpstr>
      <vt:lpstr>Social Network V3.0 - Recap</vt:lpstr>
      <vt:lpstr>Social Network V3.0 - Recap</vt:lpstr>
      <vt:lpstr>Social Network V3.0 - Recap</vt:lpstr>
      <vt:lpstr>Social Network</vt:lpstr>
      <vt:lpstr>Social Network v4.0 – lets move it on!</vt:lpstr>
      <vt:lpstr>Social Network</vt:lpstr>
      <vt:lpstr>Social Network V4.0 – Class Diagram</vt:lpstr>
      <vt:lpstr>Social Network V4.0 – Two Object Types</vt:lpstr>
      <vt:lpstr>Social Network V4.0 – Class Structure</vt:lpstr>
      <vt:lpstr>Social Network V4.0 – Class Structure</vt:lpstr>
      <vt:lpstr>Social Network V4.0 – Class Structure</vt:lpstr>
      <vt:lpstr>Social Network V4.0 – CRUD on TWO ArrayLists</vt:lpstr>
      <vt:lpstr>Social Network V3.0 versus V4.0 (NewsFeed)</vt:lpstr>
      <vt:lpstr>Social Network V3.0 versus V4.0 (NewsFeed)</vt:lpstr>
      <vt:lpstr>Social Network V3.0 versus V4.0 (Driver)</vt:lpstr>
      <vt:lpstr>Social Network V3.0 versus V4.0 (Driver)</vt:lpstr>
      <vt:lpstr>Shop Network V4.0 – NewsFeed – show() method</vt:lpstr>
      <vt:lpstr>Shop Network V4.0 – NewsFeed – show() method</vt:lpstr>
      <vt:lpstr>Critique of Social Network V4.0</vt:lpstr>
      <vt:lpstr>Now Let’s Introduce Inheritance!</vt:lpstr>
    </vt:vector>
  </TitlesOfParts>
  <Manager/>
  <Company>SETU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Management</dc:title>
  <dc:subject>Software Engineering Teams</dc:subject>
  <dc:creator>David Hearne</dc:creator>
  <cp:keywords/>
  <dc:description/>
  <cp:lastModifiedBy>Mairead Meagher</cp:lastModifiedBy>
  <cp:revision>87</cp:revision>
  <dcterms:created xsi:type="dcterms:W3CDTF">2022-12-30T08:26:58Z</dcterms:created>
  <dcterms:modified xsi:type="dcterms:W3CDTF">2025-03-14T17:14:50Z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0x01010074A7B4F4F87092419B4836663A979F72</vt:lpwstr>
  </property>
</Properties>
</file>