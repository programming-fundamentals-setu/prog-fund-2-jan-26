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433" r:id="rId3"/>
    <p:sldId id="428" r:id="rId4"/>
    <p:sldId id="419" r:id="rId5"/>
    <p:sldId id="400" r:id="rId6"/>
    <p:sldId id="420" r:id="rId7"/>
    <p:sldId id="423" r:id="rId8"/>
    <p:sldId id="422" r:id="rId9"/>
    <p:sldId id="421" r:id="rId10"/>
    <p:sldId id="416" r:id="rId11"/>
    <p:sldId id="424" r:id="rId12"/>
    <p:sldId id="425" r:id="rId13"/>
    <p:sldId id="434" r:id="rId14"/>
    <p:sldId id="435" r:id="rId15"/>
    <p:sldId id="431" r:id="rId16"/>
    <p:sldId id="436" r:id="rId17"/>
    <p:sldId id="426" r:id="rId18"/>
    <p:sldId id="437" r:id="rId19"/>
    <p:sldId id="438" r:id="rId20"/>
    <p:sldId id="405" r:id="rId21"/>
    <p:sldId id="440" r:id="rId22"/>
    <p:sldId id="441" r:id="rId23"/>
    <p:sldId id="442" r:id="rId24"/>
    <p:sldId id="444" r:id="rId25"/>
    <p:sldId id="407" r:id="rId26"/>
    <p:sldId id="432" r:id="rId27"/>
    <p:sldId id="62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3EF9"/>
    <a:srgbClr val="F79646"/>
    <a:srgbClr val="F1B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86463" autoAdjust="0"/>
  </p:normalViewPr>
  <p:slideViewPr>
    <p:cSldViewPr>
      <p:cViewPr varScale="1">
        <p:scale>
          <a:sx n="82" d="100"/>
          <a:sy n="82" d="100"/>
        </p:scale>
        <p:origin x="691" y="72"/>
      </p:cViewPr>
      <p:guideLst>
        <p:guide orient="horz" pos="2160"/>
        <p:guide pos="3840"/>
      </p:guideLst>
    </p:cSldViewPr>
  </p:slideViewPr>
  <p:outlineViewPr>
    <p:cViewPr>
      <p:scale>
        <a:sx n="33" d="100"/>
        <a:sy n="33" d="100"/>
      </p:scale>
      <p:origin x="0" y="-4239"/>
    </p:cViewPr>
  </p:outlineViewPr>
  <p:notesTextViewPr>
    <p:cViewPr>
      <p:scale>
        <a:sx n="100" d="100"/>
        <a:sy n="100" d="100"/>
      </p:scale>
      <p:origin x="0" y="0"/>
    </p:cViewPr>
  </p:notesTextViewPr>
  <p:sorterViewPr>
    <p:cViewPr>
      <p:scale>
        <a:sx n="100" d="100"/>
        <a:sy n="100" d="100"/>
      </p:scale>
      <p:origin x="0" y="-96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BC3C30-7F3D-4B20-9974-47C57B22CA6E}" type="datetimeFigureOut">
              <a:rPr lang="en-IE" smtClean="0"/>
              <a:t>10/02/2026</a:t>
            </a:fld>
            <a:endParaRPr lang="en-IE"/>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609BE90-ABBD-4931-8E0C-089E0ACACA6B}" type="slidenum">
              <a:rPr lang="en-IE" smtClean="0"/>
              <a:t>‹#›</a:t>
            </a:fld>
            <a:endParaRPr lang="en-IE"/>
          </a:p>
        </p:txBody>
      </p:sp>
    </p:spTree>
    <p:extLst>
      <p:ext uri="{BB962C8B-B14F-4D97-AF65-F5344CB8AC3E}">
        <p14:creationId xmlns:p14="http://schemas.microsoft.com/office/powerpoint/2010/main" val="389818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609BE90-ABBD-4931-8E0C-089E0ACACA6B}" type="slidenum">
              <a:rPr lang="en-IE" smtClean="0"/>
              <a:t>6</a:t>
            </a:fld>
            <a:endParaRPr lang="en-IE"/>
          </a:p>
        </p:txBody>
      </p:sp>
    </p:spTree>
    <p:extLst>
      <p:ext uri="{BB962C8B-B14F-4D97-AF65-F5344CB8AC3E}">
        <p14:creationId xmlns:p14="http://schemas.microsoft.com/office/powerpoint/2010/main" val="2036000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I" dirty="0"/>
          </a:p>
        </p:txBody>
      </p:sp>
      <p:sp>
        <p:nvSpPr>
          <p:cNvPr id="4" name="Slide Number Placeholder 3"/>
          <p:cNvSpPr>
            <a:spLocks noGrp="1"/>
          </p:cNvSpPr>
          <p:nvPr>
            <p:ph type="sldNum" sz="quarter" idx="5"/>
          </p:nvPr>
        </p:nvSpPr>
        <p:spPr/>
        <p:txBody>
          <a:bodyPr/>
          <a:lstStyle/>
          <a:p>
            <a:fld id="{F609BE90-ABBD-4931-8E0C-089E0ACACA6B}" type="slidenum">
              <a:rPr lang="en-IE" smtClean="0"/>
              <a:t>15</a:t>
            </a:fld>
            <a:endParaRPr lang="en-IE"/>
          </a:p>
        </p:txBody>
      </p:sp>
    </p:spTree>
    <p:extLst>
      <p:ext uri="{BB962C8B-B14F-4D97-AF65-F5344CB8AC3E}">
        <p14:creationId xmlns:p14="http://schemas.microsoft.com/office/powerpoint/2010/main" val="775524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I" dirty="0"/>
          </a:p>
        </p:txBody>
      </p:sp>
      <p:sp>
        <p:nvSpPr>
          <p:cNvPr id="4" name="Slide Number Placeholder 3"/>
          <p:cNvSpPr>
            <a:spLocks noGrp="1"/>
          </p:cNvSpPr>
          <p:nvPr>
            <p:ph type="sldNum" sz="quarter" idx="5"/>
          </p:nvPr>
        </p:nvSpPr>
        <p:spPr/>
        <p:txBody>
          <a:bodyPr/>
          <a:lstStyle/>
          <a:p>
            <a:fld id="{F609BE90-ABBD-4931-8E0C-089E0ACACA6B}" type="slidenum">
              <a:rPr lang="en-IE" smtClean="0"/>
              <a:t>16</a:t>
            </a:fld>
            <a:endParaRPr lang="en-IE"/>
          </a:p>
        </p:txBody>
      </p:sp>
    </p:spTree>
    <p:extLst>
      <p:ext uri="{BB962C8B-B14F-4D97-AF65-F5344CB8AC3E}">
        <p14:creationId xmlns:p14="http://schemas.microsoft.com/office/powerpoint/2010/main" val="3588010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609BE90-ABBD-4931-8E0C-089E0ACACA6B}" type="slidenum">
              <a:rPr lang="en-IE" smtClean="0"/>
              <a:t>20</a:t>
            </a:fld>
            <a:endParaRPr lang="en-IE"/>
          </a:p>
        </p:txBody>
      </p:sp>
    </p:spTree>
    <p:extLst>
      <p:ext uri="{BB962C8B-B14F-4D97-AF65-F5344CB8AC3E}">
        <p14:creationId xmlns:p14="http://schemas.microsoft.com/office/powerpoint/2010/main" val="2438659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609BE90-ABBD-4931-8E0C-089E0ACACA6B}" type="slidenum">
              <a:rPr lang="en-IE" smtClean="0"/>
              <a:t>21</a:t>
            </a:fld>
            <a:endParaRPr lang="en-IE"/>
          </a:p>
        </p:txBody>
      </p:sp>
    </p:spTree>
    <p:extLst>
      <p:ext uri="{BB962C8B-B14F-4D97-AF65-F5344CB8AC3E}">
        <p14:creationId xmlns:p14="http://schemas.microsoft.com/office/powerpoint/2010/main" val="3498442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609BE90-ABBD-4931-8E0C-089E0ACACA6B}" type="slidenum">
              <a:rPr lang="en-IE" smtClean="0"/>
              <a:t>22</a:t>
            </a:fld>
            <a:endParaRPr lang="en-IE"/>
          </a:p>
        </p:txBody>
      </p:sp>
    </p:spTree>
    <p:extLst>
      <p:ext uri="{BB962C8B-B14F-4D97-AF65-F5344CB8AC3E}">
        <p14:creationId xmlns:p14="http://schemas.microsoft.com/office/powerpoint/2010/main" val="3876995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609BE90-ABBD-4931-8E0C-089E0ACACA6B}" type="slidenum">
              <a:rPr lang="en-IE" smtClean="0"/>
              <a:t>23</a:t>
            </a:fld>
            <a:endParaRPr lang="en-IE"/>
          </a:p>
        </p:txBody>
      </p:sp>
    </p:spTree>
    <p:extLst>
      <p:ext uri="{BB962C8B-B14F-4D97-AF65-F5344CB8AC3E}">
        <p14:creationId xmlns:p14="http://schemas.microsoft.com/office/powerpoint/2010/main" val="4002362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609BE90-ABBD-4931-8E0C-089E0ACACA6B}" type="slidenum">
              <a:rPr lang="en-IE" smtClean="0"/>
              <a:t>24</a:t>
            </a:fld>
            <a:endParaRPr lang="en-IE"/>
          </a:p>
        </p:txBody>
      </p:sp>
    </p:spTree>
    <p:extLst>
      <p:ext uri="{BB962C8B-B14F-4D97-AF65-F5344CB8AC3E}">
        <p14:creationId xmlns:p14="http://schemas.microsoft.com/office/powerpoint/2010/main" val="1832034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userDrawn="1"/>
        </p:nvCxnSpPr>
        <p:spPr>
          <a:xfrm>
            <a:off x="609600" y="1447800"/>
            <a:ext cx="110744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10" name="Straight Connector 9"/>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6" name="Straight Connector 5"/>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2/10/2026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tiff"/><Relationship Id="rId4" Type="http://schemas.openxmlformats.org/officeDocument/2006/relationships/image" Target="../media/image4.tiff"/></Relationships>
</file>

<file path=ppt/slides/_rels/slide4.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hyperlink" Target="http://x-stream.github.io/index.html" TargetMode="External"/><Relationship Id="rId1" Type="http://schemas.openxmlformats.org/officeDocument/2006/relationships/slideLayout" Target="../slideLayouts/slideLayout2.xml"/><Relationship Id="rId5" Type="http://schemas.openxmlformats.org/officeDocument/2006/relationships/image" Target="../media/image7.tiff"/><Relationship Id="rId4" Type="http://schemas.openxmlformats.org/officeDocument/2006/relationships/image" Target="../media/image5.tiff"/></Relationships>
</file>

<file path=ppt/slides/_rels/slide5.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tif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75641" y="914401"/>
            <a:ext cx="7772400" cy="1470025"/>
          </a:xfrm>
        </p:spPr>
        <p:txBody>
          <a:bodyPr>
            <a:normAutofit/>
          </a:bodyPr>
          <a:lstStyle/>
          <a:p>
            <a:pPr algn="l"/>
            <a:r>
              <a:rPr lang="en-IE" sz="4000" dirty="0"/>
              <a:t>Persistence</a:t>
            </a:r>
          </a:p>
        </p:txBody>
      </p:sp>
      <p:sp>
        <p:nvSpPr>
          <p:cNvPr id="3" name="Subtitle 2"/>
          <p:cNvSpPr>
            <a:spLocks noGrp="1"/>
          </p:cNvSpPr>
          <p:nvPr>
            <p:ph type="subTitle" idx="1"/>
          </p:nvPr>
        </p:nvSpPr>
        <p:spPr>
          <a:xfrm>
            <a:off x="1638300" y="3810000"/>
            <a:ext cx="1866900" cy="1066800"/>
          </a:xfrm>
        </p:spPr>
        <p:txBody>
          <a:bodyPr>
            <a:normAutofit/>
          </a:bodyPr>
          <a:lstStyle/>
          <a:p>
            <a:pPr algn="r">
              <a:lnSpc>
                <a:spcPct val="110000"/>
              </a:lnSpc>
              <a:spcBef>
                <a:spcPts val="0"/>
              </a:spcBef>
            </a:pPr>
            <a:r>
              <a:rPr lang="en-IE" sz="2400" dirty="0"/>
              <a:t>Produced </a:t>
            </a:r>
          </a:p>
          <a:p>
            <a:pPr algn="r">
              <a:lnSpc>
                <a:spcPct val="110000"/>
              </a:lnSpc>
              <a:spcBef>
                <a:spcPts val="0"/>
              </a:spcBef>
            </a:pPr>
            <a:r>
              <a:rPr lang="en-IE" sz="2400" dirty="0"/>
              <a:t>by:</a:t>
            </a:r>
          </a:p>
        </p:txBody>
      </p:sp>
      <p:cxnSp>
        <p:nvCxnSpPr>
          <p:cNvPr id="6" name="Straight Connector 5"/>
          <p:cNvCxnSpPr/>
          <p:nvPr/>
        </p:nvCxnSpPr>
        <p:spPr>
          <a:xfrm>
            <a:off x="2251841" y="3124200"/>
            <a:ext cx="76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itle 1"/>
          <p:cNvSpPr txBox="1">
            <a:spLocks/>
          </p:cNvSpPr>
          <p:nvPr/>
        </p:nvSpPr>
        <p:spPr>
          <a:xfrm>
            <a:off x="2175641" y="2133601"/>
            <a:ext cx="7772400" cy="936625"/>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E" sz="3200" dirty="0">
                <a:solidFill>
                  <a:schemeClr val="tx1">
                    <a:lumMod val="50000"/>
                    <a:lumOff val="50000"/>
                  </a:schemeClr>
                </a:solidFill>
              </a:rPr>
              <a:t>Saving and retrieving objects to/from XML files</a:t>
            </a:r>
          </a:p>
        </p:txBody>
      </p:sp>
      <p:sp>
        <p:nvSpPr>
          <p:cNvPr id="11" name="TextBox 10">
            <a:extLst>
              <a:ext uri="{FF2B5EF4-FFF2-40B4-BE49-F238E27FC236}">
                <a16:creationId xmlns:a16="http://schemas.microsoft.com/office/drawing/2014/main" id="{7968A713-3A92-43D7-9854-D52C90EF7929}"/>
              </a:ext>
            </a:extLst>
          </p:cNvPr>
          <p:cNvSpPr txBox="1"/>
          <p:nvPr/>
        </p:nvSpPr>
        <p:spPr>
          <a:xfrm>
            <a:off x="3733800" y="3810001"/>
            <a:ext cx="3581400" cy="120032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E" sz="2400" dirty="0">
                <a:solidFill>
                  <a:schemeClr val="tx1">
                    <a:lumMod val="75000"/>
                    <a:lumOff val="25000"/>
                  </a:schemeClr>
                </a:solidFill>
              </a:rPr>
              <a:t>Ms. Mairéad Meagher</a:t>
            </a:r>
          </a:p>
          <a:p>
            <a:r>
              <a:rPr lang="en-IE" sz="2400" dirty="0">
                <a:solidFill>
                  <a:schemeClr val="tx1">
                    <a:lumMod val="75000"/>
                    <a:lumOff val="25000"/>
                  </a:schemeClr>
                </a:solidFill>
              </a:rPr>
              <a:t>Dr. </a:t>
            </a:r>
            <a:r>
              <a:rPr lang="en-IE" sz="2400" dirty="0" err="1">
                <a:solidFill>
                  <a:schemeClr val="tx1">
                    <a:lumMod val="75000"/>
                    <a:lumOff val="25000"/>
                  </a:schemeClr>
                </a:solidFill>
              </a:rPr>
              <a:t>Siobhán</a:t>
            </a:r>
            <a:r>
              <a:rPr lang="en-IE" sz="2400" dirty="0">
                <a:solidFill>
                  <a:schemeClr val="tx1">
                    <a:lumMod val="75000"/>
                    <a:lumOff val="25000"/>
                  </a:schemeClr>
                </a:solidFill>
              </a:rPr>
              <a:t> Drohan</a:t>
            </a:r>
          </a:p>
          <a:p>
            <a:r>
              <a:rPr lang="en-IE" sz="2400" dirty="0">
                <a:solidFill>
                  <a:schemeClr val="tx1">
                    <a:lumMod val="75000"/>
                    <a:lumOff val="25000"/>
                  </a:schemeClr>
                </a:solidFill>
              </a:rPr>
              <a:t>Ms Siobhan Roche</a:t>
            </a:r>
          </a:p>
        </p:txBody>
      </p:sp>
      <p:sp>
        <p:nvSpPr>
          <p:cNvPr id="5" name="TextBox 4">
            <a:extLst>
              <a:ext uri="{FF2B5EF4-FFF2-40B4-BE49-F238E27FC236}">
                <a16:creationId xmlns:a16="http://schemas.microsoft.com/office/drawing/2014/main" id="{D31852F9-5F72-EB27-03CE-F3488859D3B7}"/>
              </a:ext>
            </a:extLst>
          </p:cNvPr>
          <p:cNvSpPr txBox="1"/>
          <p:nvPr/>
        </p:nvSpPr>
        <p:spPr>
          <a:xfrm>
            <a:off x="7336971" y="5849826"/>
            <a:ext cx="4072758" cy="584775"/>
          </a:xfrm>
          <a:prstGeom prst="rect">
            <a:avLst/>
          </a:prstGeom>
          <a:noFill/>
        </p:spPr>
        <p:txBody>
          <a:bodyPr wrap="square" rtlCol="0">
            <a:spAutoFit/>
          </a:bodyPr>
          <a:lstStyle/>
          <a:p>
            <a:r>
              <a:rPr lang="en-IE" sz="1600" dirty="0"/>
              <a:t>Department of Computing and Mathematics</a:t>
            </a:r>
          </a:p>
          <a:p>
            <a:r>
              <a:rPr lang="en-IE" sz="1600" dirty="0"/>
              <a:t>http://www.setu.ie/</a:t>
            </a:r>
          </a:p>
        </p:txBody>
      </p:sp>
      <p:pic>
        <p:nvPicPr>
          <p:cNvPr id="7" name="Picture 6" descr="Text&#10;&#10;Description automatically generated">
            <a:extLst>
              <a:ext uri="{FF2B5EF4-FFF2-40B4-BE49-F238E27FC236}">
                <a16:creationId xmlns:a16="http://schemas.microsoft.com/office/drawing/2014/main" id="{41E3501A-5D43-27AE-E722-21F6D8DC8A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1641" y="5501441"/>
            <a:ext cx="2286000" cy="1281546"/>
          </a:xfrm>
          <a:prstGeom prst="rect">
            <a:avLst/>
          </a:prstGeom>
        </p:spPr>
      </p:pic>
    </p:spTree>
    <p:extLst>
      <p:ext uri="{BB962C8B-B14F-4D97-AF65-F5344CB8AC3E}">
        <p14:creationId xmlns:p14="http://schemas.microsoft.com/office/powerpoint/2010/main" val="3042371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C7F55EAC-550A-4BDD-9099-3F20B8FA0E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a16="http://schemas.microsoft.com/office/drawing/2014/main" id="{DC4F5A5F-493F-49AE-89B6-D5AF5EBC8B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6724001 w 12192000"/>
              <a:gd name="connsiteY0" fmla="*/ 434021 h 6858000"/>
              <a:gd name="connsiteX1" fmla="*/ 6471155 w 12192000"/>
              <a:gd name="connsiteY1" fmla="*/ 434599 h 6858000"/>
              <a:gd name="connsiteX2" fmla="*/ 5384913 w 12192000"/>
              <a:gd name="connsiteY2" fmla="*/ 497971 h 6858000"/>
              <a:gd name="connsiteX3" fmla="*/ 4818280 w 12192000"/>
              <a:gd name="connsiteY3" fmla="*/ 541802 h 6858000"/>
              <a:gd name="connsiteX4" fmla="*/ 3965428 w 12192000"/>
              <a:gd name="connsiteY4" fmla="*/ 675942 h 6858000"/>
              <a:gd name="connsiteX5" fmla="*/ 3699528 w 12192000"/>
              <a:gd name="connsiteY5" fmla="*/ 770472 h 6858000"/>
              <a:gd name="connsiteX6" fmla="*/ 3438854 w 12192000"/>
              <a:gd name="connsiteY6" fmla="*/ 834899 h 6858000"/>
              <a:gd name="connsiteX7" fmla="*/ 3367443 w 12192000"/>
              <a:gd name="connsiteY7" fmla="*/ 893518 h 6858000"/>
              <a:gd name="connsiteX8" fmla="*/ 3467301 w 12192000"/>
              <a:gd name="connsiteY8" fmla="*/ 953722 h 6858000"/>
              <a:gd name="connsiteX9" fmla="*/ 3889955 w 12192000"/>
              <a:gd name="connsiteY9" fmla="*/ 977486 h 6858000"/>
              <a:gd name="connsiteX10" fmla="*/ 3502135 w 12192000"/>
              <a:gd name="connsiteY10" fmla="*/ 1054062 h 6858000"/>
              <a:gd name="connsiteX11" fmla="*/ 4072832 w 12192000"/>
              <a:gd name="connsiteY11" fmla="*/ 1017622 h 6858000"/>
              <a:gd name="connsiteX12" fmla="*/ 4244099 w 12192000"/>
              <a:gd name="connsiteY12" fmla="*/ 1030825 h 6858000"/>
              <a:gd name="connsiteX13" fmla="*/ 4095475 w 12192000"/>
              <a:gd name="connsiteY13" fmla="*/ 1092084 h 6858000"/>
              <a:gd name="connsiteX14" fmla="*/ 3327386 w 12192000"/>
              <a:gd name="connsiteY14" fmla="*/ 1215660 h 6858000"/>
              <a:gd name="connsiteX15" fmla="*/ 3254813 w 12192000"/>
              <a:gd name="connsiteY15" fmla="*/ 1226749 h 6858000"/>
              <a:gd name="connsiteX16" fmla="*/ 2776427 w 12192000"/>
              <a:gd name="connsiteY16" fmla="*/ 1401552 h 6858000"/>
              <a:gd name="connsiteX17" fmla="*/ 3063226 w 12192000"/>
              <a:gd name="connsiteY17" fmla="*/ 1384124 h 6858000"/>
              <a:gd name="connsiteX18" fmla="*/ 2754945 w 12192000"/>
              <a:gd name="connsiteY18" fmla="*/ 1495025 h 6858000"/>
              <a:gd name="connsiteX19" fmla="*/ 2381061 w 12192000"/>
              <a:gd name="connsiteY19" fmla="*/ 1619658 h 6858000"/>
              <a:gd name="connsiteX20" fmla="*/ 2008336 w 12192000"/>
              <a:gd name="connsiteY20" fmla="*/ 1814527 h 6858000"/>
              <a:gd name="connsiteX21" fmla="*/ 1740695 w 12192000"/>
              <a:gd name="connsiteY21" fmla="*/ 1914337 h 6858000"/>
              <a:gd name="connsiteX22" fmla="*/ 1787720 w 12192000"/>
              <a:gd name="connsiteY22" fmla="*/ 1991970 h 6858000"/>
              <a:gd name="connsiteX23" fmla="*/ 1754048 w 12192000"/>
              <a:gd name="connsiteY23" fmla="*/ 2078049 h 6858000"/>
              <a:gd name="connsiteX24" fmla="*/ 2228951 w 12192000"/>
              <a:gd name="connsiteY24" fmla="*/ 1996721 h 6858000"/>
              <a:gd name="connsiteX25" fmla="*/ 2054781 w 12192000"/>
              <a:gd name="connsiteY25" fmla="*/ 2053228 h 6858000"/>
              <a:gd name="connsiteX26" fmla="*/ 1985693 w 12192000"/>
              <a:gd name="connsiteY26" fmla="*/ 2109207 h 6858000"/>
              <a:gd name="connsiteX27" fmla="*/ 2061168 w 12192000"/>
              <a:gd name="connsiteY27" fmla="*/ 2130859 h 6858000"/>
              <a:gd name="connsiteX28" fmla="*/ 2388026 w 12192000"/>
              <a:gd name="connsiteY28" fmla="*/ 2184726 h 6858000"/>
              <a:gd name="connsiteX29" fmla="*/ 1560719 w 12192000"/>
              <a:gd name="connsiteY29" fmla="*/ 2384876 h 6858000"/>
              <a:gd name="connsiteX30" fmla="*/ 1679734 w 12192000"/>
              <a:gd name="connsiteY30" fmla="*/ 2400191 h 6858000"/>
              <a:gd name="connsiteX31" fmla="*/ 2882089 w 12192000"/>
              <a:gd name="connsiteY31" fmla="*/ 2383292 h 6858000"/>
              <a:gd name="connsiteX32" fmla="*/ 3116638 w 12192000"/>
              <a:gd name="connsiteY32" fmla="*/ 2359528 h 6858000"/>
              <a:gd name="connsiteX33" fmla="*/ 2897765 w 12192000"/>
              <a:gd name="connsiteY33" fmla="*/ 2758243 h 6858000"/>
              <a:gd name="connsiteX34" fmla="*/ 2981367 w 12192000"/>
              <a:gd name="connsiteY34" fmla="*/ 2829008 h 6858000"/>
              <a:gd name="connsiteX35" fmla="*/ 2682955 w 12192000"/>
              <a:gd name="connsiteY35" fmla="*/ 2846436 h 6858000"/>
              <a:gd name="connsiteX36" fmla="*/ 2099485 w 12192000"/>
              <a:gd name="connsiteY36" fmla="*/ 3066653 h 6858000"/>
              <a:gd name="connsiteX37" fmla="*/ 1807460 w 12192000"/>
              <a:gd name="connsiteY37" fmla="*/ 3454808 h 6858000"/>
              <a:gd name="connsiteX38" fmla="*/ 1921251 w 12192000"/>
              <a:gd name="connsiteY38" fmla="*/ 3540889 h 6858000"/>
              <a:gd name="connsiteX39" fmla="*/ 1453313 w 12192000"/>
              <a:gd name="connsiteY39" fmla="*/ 3637002 h 6858000"/>
              <a:gd name="connsiteX40" fmla="*/ 1686122 w 12192000"/>
              <a:gd name="connsiteY40" fmla="*/ 3667634 h 6858000"/>
              <a:gd name="connsiteX41" fmla="*/ 1513692 w 12192000"/>
              <a:gd name="connsiteY41" fmla="*/ 3725196 h 6858000"/>
              <a:gd name="connsiteX42" fmla="*/ 1369711 w 12192000"/>
              <a:gd name="connsiteY42" fmla="*/ 3826063 h 6858000"/>
              <a:gd name="connsiteX43" fmla="*/ 2051298 w 12192000"/>
              <a:gd name="connsiteY43" fmla="*/ 3754242 h 6858000"/>
              <a:gd name="connsiteX44" fmla="*/ 2245207 w 12192000"/>
              <a:gd name="connsiteY44" fmla="*/ 3797018 h 6858000"/>
              <a:gd name="connsiteX45" fmla="*/ 2353192 w 12192000"/>
              <a:gd name="connsiteY45" fmla="*/ 3796489 h 6858000"/>
              <a:gd name="connsiteX46" fmla="*/ 2490207 w 12192000"/>
              <a:gd name="connsiteY46" fmla="*/ 3801242 h 6858000"/>
              <a:gd name="connsiteX47" fmla="*/ 2375835 w 12192000"/>
              <a:gd name="connsiteY47" fmla="*/ 3839794 h 6858000"/>
              <a:gd name="connsiteX48" fmla="*/ 2522138 w 12192000"/>
              <a:gd name="connsiteY48" fmla="*/ 4009841 h 6858000"/>
              <a:gd name="connsiteX49" fmla="*/ 1998466 w 12192000"/>
              <a:gd name="connsiteY49" fmla="*/ 4130778 h 6858000"/>
              <a:gd name="connsiteX50" fmla="*/ 2114580 w 12192000"/>
              <a:gd name="connsiteY50" fmla="*/ 4154543 h 6858000"/>
              <a:gd name="connsiteX51" fmla="*/ 2177862 w 12192000"/>
              <a:gd name="connsiteY51" fmla="*/ 4189925 h 6858000"/>
              <a:gd name="connsiteX52" fmla="*/ 1868419 w 12192000"/>
              <a:gd name="connsiteY52" fmla="*/ 4382153 h 6858000"/>
              <a:gd name="connsiteX53" fmla="*/ 2279460 w 12192000"/>
              <a:gd name="connsiteY53" fmla="*/ 4356805 h 6858000"/>
              <a:gd name="connsiteX54" fmla="*/ 2029817 w 12192000"/>
              <a:gd name="connsiteY54" fmla="*/ 4468235 h 6858000"/>
              <a:gd name="connsiteX55" fmla="*/ 1560137 w 12192000"/>
              <a:gd name="connsiteY55" fmla="*/ 4730172 h 6858000"/>
              <a:gd name="connsiteX56" fmla="*/ 1956664 w 12192000"/>
              <a:gd name="connsiteY56" fmla="*/ 4820477 h 6858000"/>
              <a:gd name="connsiteX57" fmla="*/ 3268168 w 12192000"/>
              <a:gd name="connsiteY57" fmla="*/ 4852692 h 6858000"/>
              <a:gd name="connsiteX58" fmla="*/ 2807197 w 12192000"/>
              <a:gd name="connsiteY58" fmla="*/ 4939300 h 6858000"/>
              <a:gd name="connsiteX59" fmla="*/ 2721272 w 12192000"/>
              <a:gd name="connsiteY59" fmla="*/ 4970458 h 6858000"/>
              <a:gd name="connsiteX60" fmla="*/ 2802552 w 12192000"/>
              <a:gd name="connsiteY60" fmla="*/ 5014291 h 6858000"/>
              <a:gd name="connsiteX61" fmla="*/ 2537812 w 12192000"/>
              <a:gd name="connsiteY61" fmla="*/ 5053898 h 6858000"/>
              <a:gd name="connsiteX62" fmla="*/ 2569744 w 12192000"/>
              <a:gd name="connsiteY62" fmla="*/ 5153182 h 6858000"/>
              <a:gd name="connsiteX63" fmla="*/ 1987436 w 12192000"/>
              <a:gd name="connsiteY63" fmla="*/ 5334320 h 6858000"/>
              <a:gd name="connsiteX64" fmla="*/ 1972921 w 12192000"/>
              <a:gd name="connsiteY64" fmla="*/ 5382376 h 6858000"/>
              <a:gd name="connsiteX65" fmla="*/ 2341001 w 12192000"/>
              <a:gd name="connsiteY65" fmla="*/ 5360725 h 6858000"/>
              <a:gd name="connsiteX66" fmla="*/ 2710822 w 12192000"/>
              <a:gd name="connsiteY66" fmla="*/ 5418816 h 6858000"/>
              <a:gd name="connsiteX67" fmla="*/ 2833903 w 12192000"/>
              <a:gd name="connsiteY67" fmla="*/ 5413007 h 6858000"/>
              <a:gd name="connsiteX68" fmla="*/ 3011556 w 12192000"/>
              <a:gd name="connsiteY68" fmla="*/ 5399276 h 6858000"/>
              <a:gd name="connsiteX69" fmla="*/ 3254233 w 12192000"/>
              <a:gd name="connsiteY69" fmla="*/ 5439412 h 6858000"/>
              <a:gd name="connsiteX70" fmla="*/ 2792101 w 12192000"/>
              <a:gd name="connsiteY70" fmla="*/ 5471625 h 6858000"/>
              <a:gd name="connsiteX71" fmla="*/ 2977303 w 12192000"/>
              <a:gd name="connsiteY71" fmla="*/ 5539751 h 6858000"/>
              <a:gd name="connsiteX72" fmla="*/ 3656566 w 12192000"/>
              <a:gd name="connsiteY72" fmla="*/ 5678642 h 6858000"/>
              <a:gd name="connsiteX73" fmla="*/ 4858340 w 12192000"/>
              <a:gd name="connsiteY73" fmla="*/ 5969625 h 6858000"/>
              <a:gd name="connsiteX74" fmla="*/ 5296668 w 12192000"/>
              <a:gd name="connsiteY74" fmla="*/ 6043559 h 6858000"/>
              <a:gd name="connsiteX75" fmla="*/ 5456323 w 12192000"/>
              <a:gd name="connsiteY75" fmla="*/ 6042502 h 6858000"/>
              <a:gd name="connsiteX76" fmla="*/ 5267058 w 12192000"/>
              <a:gd name="connsiteY76" fmla="*/ 6100066 h 6858000"/>
              <a:gd name="connsiteX77" fmla="*/ 7095266 w 12192000"/>
              <a:gd name="connsiteY77" fmla="*/ 6287541 h 6858000"/>
              <a:gd name="connsiteX78" fmla="*/ 9707235 w 12192000"/>
              <a:gd name="connsiteY78" fmla="*/ 5994446 h 6858000"/>
              <a:gd name="connsiteX79" fmla="*/ 10083442 w 12192000"/>
              <a:gd name="connsiteY79" fmla="*/ 5678642 h 6858000"/>
              <a:gd name="connsiteX80" fmla="*/ 10338892 w 12192000"/>
              <a:gd name="connsiteY80" fmla="*/ 4650957 h 6858000"/>
              <a:gd name="connsiteX81" fmla="*/ 10628013 w 12192000"/>
              <a:gd name="connsiteY81" fmla="*/ 4411198 h 6858000"/>
              <a:gd name="connsiteX82" fmla="*/ 10802766 w 12192000"/>
              <a:gd name="connsiteY82" fmla="*/ 4258050 h 6858000"/>
              <a:gd name="connsiteX83" fmla="*/ 10614662 w 12192000"/>
              <a:gd name="connsiteY83" fmla="*/ 4150318 h 6858000"/>
              <a:gd name="connsiteX84" fmla="*/ 10681427 w 12192000"/>
              <a:gd name="connsiteY84" fmla="*/ 4054203 h 6858000"/>
              <a:gd name="connsiteX85" fmla="*/ 10520029 w 12192000"/>
              <a:gd name="connsiteY85" fmla="*/ 3804411 h 6858000"/>
              <a:gd name="connsiteX86" fmla="*/ 10568798 w 12192000"/>
              <a:gd name="connsiteY86" fmla="*/ 3466426 h 6858000"/>
              <a:gd name="connsiteX87" fmla="*/ 10499709 w 12192000"/>
              <a:gd name="connsiteY87" fmla="*/ 3166465 h 6858000"/>
              <a:gd name="connsiteX88" fmla="*/ 10489840 w 12192000"/>
              <a:gd name="connsiteY88" fmla="*/ 2546475 h 6858000"/>
              <a:gd name="connsiteX89" fmla="*/ 10584471 w 12192000"/>
              <a:gd name="connsiteY89" fmla="*/ 2512148 h 6858000"/>
              <a:gd name="connsiteX90" fmla="*/ 10695942 w 12192000"/>
              <a:gd name="connsiteY90" fmla="*/ 2358471 h 6858000"/>
              <a:gd name="connsiteX91" fmla="*/ 10732516 w 12192000"/>
              <a:gd name="connsiteY91" fmla="*/ 2287706 h 6858000"/>
              <a:gd name="connsiteX92" fmla="*/ 10731357 w 12192000"/>
              <a:gd name="connsiteY92" fmla="*/ 2137725 h 6858000"/>
              <a:gd name="connsiteX93" fmla="*/ 10678525 w 12192000"/>
              <a:gd name="connsiteY93" fmla="*/ 2070656 h 6858000"/>
              <a:gd name="connsiteX94" fmla="*/ 10735999 w 12192000"/>
              <a:gd name="connsiteY94" fmla="*/ 1956587 h 6858000"/>
              <a:gd name="connsiteX95" fmla="*/ 10824246 w 12192000"/>
              <a:gd name="connsiteY95" fmla="*/ 1862584 h 6858000"/>
              <a:gd name="connsiteX96" fmla="*/ 10773156 w 12192000"/>
              <a:gd name="connsiteY96" fmla="*/ 1768054 h 6858000"/>
              <a:gd name="connsiteX97" fmla="*/ 10716261 w 12192000"/>
              <a:gd name="connsiteY97" fmla="*/ 1678278 h 6858000"/>
              <a:gd name="connsiteX98" fmla="*/ 10554864 w 12192000"/>
              <a:gd name="connsiteY98" fmla="*/ 1477599 h 6858000"/>
              <a:gd name="connsiteX99" fmla="*/ 10267483 w 12192000"/>
              <a:gd name="connsiteY99" fmla="*/ 1324977 h 6858000"/>
              <a:gd name="connsiteX100" fmla="*/ 9913337 w 12192000"/>
              <a:gd name="connsiteY100" fmla="*/ 1202458 h 6858000"/>
              <a:gd name="connsiteX101" fmla="*/ 10024805 w 12192000"/>
              <a:gd name="connsiteY101" fmla="*/ 1124827 h 6858000"/>
              <a:gd name="connsiteX102" fmla="*/ 9411726 w 12192000"/>
              <a:gd name="connsiteY102" fmla="*/ 980655 h 6858000"/>
              <a:gd name="connsiteX103" fmla="*/ 9930753 w 12192000"/>
              <a:gd name="connsiteY103" fmla="*/ 901968 h 6858000"/>
              <a:gd name="connsiteX104" fmla="*/ 9894178 w 12192000"/>
              <a:gd name="connsiteY104" fmla="*/ 871339 h 6858000"/>
              <a:gd name="connsiteX105" fmla="*/ 9858182 w 12192000"/>
              <a:gd name="connsiteY105" fmla="*/ 839125 h 6858000"/>
              <a:gd name="connsiteX106" fmla="*/ 10131050 w 12192000"/>
              <a:gd name="connsiteY106" fmla="*/ 792652 h 6858000"/>
              <a:gd name="connsiteX107" fmla="*/ 10006808 w 12192000"/>
              <a:gd name="connsiteY107" fmla="*/ 731920 h 6858000"/>
              <a:gd name="connsiteX108" fmla="*/ 10233809 w 12192000"/>
              <a:gd name="connsiteY108" fmla="*/ 710268 h 6858000"/>
              <a:gd name="connsiteX109" fmla="*/ 10267483 w 12192000"/>
              <a:gd name="connsiteY109" fmla="*/ 628940 h 6858000"/>
              <a:gd name="connsiteX110" fmla="*/ 10136275 w 12192000"/>
              <a:gd name="connsiteY110" fmla="*/ 589333 h 6858000"/>
              <a:gd name="connsiteX111" fmla="*/ 9131312 w 12192000"/>
              <a:gd name="connsiteY111" fmla="*/ 480544 h 6858000"/>
              <a:gd name="connsiteX112" fmla="*/ 7479600 w 12192000"/>
              <a:gd name="connsiteY112" fmla="*/ 454667 h 6858000"/>
              <a:gd name="connsiteX113" fmla="*/ 6724001 w 12192000"/>
              <a:gd name="connsiteY113" fmla="*/ 434021 h 6858000"/>
              <a:gd name="connsiteX114" fmla="*/ 0 w 12192000"/>
              <a:gd name="connsiteY114" fmla="*/ 0 h 6858000"/>
              <a:gd name="connsiteX115" fmla="*/ 12192000 w 12192000"/>
              <a:gd name="connsiteY115" fmla="*/ 0 h 6858000"/>
              <a:gd name="connsiteX116" fmla="*/ 12192000 w 12192000"/>
              <a:gd name="connsiteY116" fmla="*/ 6858000 h 6858000"/>
              <a:gd name="connsiteX117" fmla="*/ 0 w 12192000"/>
              <a:gd name="connsiteY11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2192000" h="6858000">
                <a:moveTo>
                  <a:pt x="6724001" y="434021"/>
                </a:moveTo>
                <a:cubicBezTo>
                  <a:pt x="6639882" y="433113"/>
                  <a:pt x="6555627" y="433147"/>
                  <a:pt x="6471155" y="434599"/>
                </a:cubicBezTo>
                <a:cubicBezTo>
                  <a:pt x="6109461" y="440937"/>
                  <a:pt x="5748349" y="439351"/>
                  <a:pt x="5384913" y="497971"/>
                </a:cubicBezTo>
                <a:cubicBezTo>
                  <a:pt x="5199132" y="528072"/>
                  <a:pt x="5005803" y="518038"/>
                  <a:pt x="4818280" y="541802"/>
                </a:cubicBezTo>
                <a:cubicBezTo>
                  <a:pt x="4532641" y="578242"/>
                  <a:pt x="4247003" y="621019"/>
                  <a:pt x="3965428" y="675942"/>
                </a:cubicBezTo>
                <a:cubicBezTo>
                  <a:pt x="3877181" y="693369"/>
                  <a:pt x="3768034" y="703930"/>
                  <a:pt x="3699528" y="770472"/>
                </a:cubicBezTo>
                <a:cubicBezTo>
                  <a:pt x="3590961" y="728224"/>
                  <a:pt x="3523617" y="807966"/>
                  <a:pt x="3438854" y="834899"/>
                </a:cubicBezTo>
                <a:cubicBezTo>
                  <a:pt x="3405761" y="845462"/>
                  <a:pt x="3362218" y="860248"/>
                  <a:pt x="3367443" y="893518"/>
                </a:cubicBezTo>
                <a:cubicBezTo>
                  <a:pt x="3372089" y="935238"/>
                  <a:pt x="3420855" y="962172"/>
                  <a:pt x="3467301" y="953722"/>
                </a:cubicBezTo>
                <a:cubicBezTo>
                  <a:pt x="3611863" y="927317"/>
                  <a:pt x="3741328" y="986464"/>
                  <a:pt x="3889955" y="977486"/>
                </a:cubicBezTo>
                <a:cubicBezTo>
                  <a:pt x="3760488" y="1002836"/>
                  <a:pt x="3631601" y="1028713"/>
                  <a:pt x="3502135" y="1054062"/>
                </a:cubicBezTo>
                <a:cubicBezTo>
                  <a:pt x="3694303" y="1074129"/>
                  <a:pt x="3883568" y="1038218"/>
                  <a:pt x="4072832" y="1017622"/>
                </a:cubicBezTo>
                <a:cubicBezTo>
                  <a:pt x="4133792" y="1011285"/>
                  <a:pt x="4228424" y="962699"/>
                  <a:pt x="4244099" y="1030825"/>
                </a:cubicBezTo>
                <a:cubicBezTo>
                  <a:pt x="4254550" y="1076242"/>
                  <a:pt x="4152951" y="1079410"/>
                  <a:pt x="4095475" y="1092084"/>
                </a:cubicBezTo>
                <a:cubicBezTo>
                  <a:pt x="3841766" y="1146479"/>
                  <a:pt x="3583994" y="1178165"/>
                  <a:pt x="3327386" y="1215660"/>
                </a:cubicBezTo>
                <a:cubicBezTo>
                  <a:pt x="3303001" y="1219357"/>
                  <a:pt x="3271070" y="1216188"/>
                  <a:pt x="3254813" y="1226749"/>
                </a:cubicBezTo>
                <a:cubicBezTo>
                  <a:pt x="3123605" y="1311774"/>
                  <a:pt x="2957563" y="1339765"/>
                  <a:pt x="2776427" y="1401552"/>
                </a:cubicBezTo>
                <a:cubicBezTo>
                  <a:pt x="2890798" y="1430598"/>
                  <a:pt x="2968012" y="1370921"/>
                  <a:pt x="3063226" y="1384124"/>
                </a:cubicBezTo>
                <a:cubicBezTo>
                  <a:pt x="2966272" y="1448024"/>
                  <a:pt x="2853641" y="1460171"/>
                  <a:pt x="2754945" y="1495025"/>
                </a:cubicBezTo>
                <a:cubicBezTo>
                  <a:pt x="2684117" y="1519846"/>
                  <a:pt x="2421119" y="1597477"/>
                  <a:pt x="2381061" y="1619658"/>
                </a:cubicBezTo>
                <a:cubicBezTo>
                  <a:pt x="2260302" y="1688311"/>
                  <a:pt x="2107033" y="1720525"/>
                  <a:pt x="2008336" y="1814527"/>
                </a:cubicBezTo>
                <a:cubicBezTo>
                  <a:pt x="1938668" y="1880540"/>
                  <a:pt x="1822554" y="1868393"/>
                  <a:pt x="1740695" y="1914337"/>
                </a:cubicBezTo>
                <a:cubicBezTo>
                  <a:pt x="1711667" y="1957642"/>
                  <a:pt x="1767982" y="1968733"/>
                  <a:pt x="1787720" y="1991970"/>
                </a:cubicBezTo>
                <a:cubicBezTo>
                  <a:pt x="1813846" y="2023126"/>
                  <a:pt x="1767401" y="2040555"/>
                  <a:pt x="1754048" y="2078049"/>
                </a:cubicBezTo>
                <a:cubicBezTo>
                  <a:pt x="1907898" y="2035802"/>
                  <a:pt x="2054781" y="2010981"/>
                  <a:pt x="2228951" y="1996721"/>
                </a:cubicBezTo>
                <a:cubicBezTo>
                  <a:pt x="2171475" y="2057452"/>
                  <a:pt x="2101807" y="2031048"/>
                  <a:pt x="2054781" y="2053228"/>
                </a:cubicBezTo>
                <a:cubicBezTo>
                  <a:pt x="2024011" y="2067487"/>
                  <a:pt x="1976984" y="2073824"/>
                  <a:pt x="1985693" y="2109207"/>
                </a:cubicBezTo>
                <a:cubicBezTo>
                  <a:pt x="1992660" y="2137196"/>
                  <a:pt x="2032140" y="2133500"/>
                  <a:pt x="2061168" y="2130859"/>
                </a:cubicBezTo>
                <a:cubicBezTo>
                  <a:pt x="2172636" y="2120825"/>
                  <a:pt x="2281202" y="2117656"/>
                  <a:pt x="2388026" y="2184726"/>
                </a:cubicBezTo>
                <a:cubicBezTo>
                  <a:pt x="2116321" y="2282425"/>
                  <a:pt x="1803977" y="2241233"/>
                  <a:pt x="1560719" y="2384876"/>
                </a:cubicBezTo>
                <a:cubicBezTo>
                  <a:pt x="1594973" y="2429237"/>
                  <a:pt x="1643739" y="2405472"/>
                  <a:pt x="1679734" y="2400191"/>
                </a:cubicBezTo>
                <a:cubicBezTo>
                  <a:pt x="1916026" y="2364279"/>
                  <a:pt x="2760170" y="2428180"/>
                  <a:pt x="2882089" y="2383292"/>
                </a:cubicBezTo>
                <a:cubicBezTo>
                  <a:pt x="2956983" y="2355830"/>
                  <a:pt x="3035941" y="2342628"/>
                  <a:pt x="3116638" y="2359528"/>
                </a:cubicBezTo>
                <a:cubicBezTo>
                  <a:pt x="3194434" y="2375898"/>
                  <a:pt x="3174696" y="2605622"/>
                  <a:pt x="2897765" y="2758243"/>
                </a:cubicBezTo>
                <a:cubicBezTo>
                  <a:pt x="2858286" y="2779895"/>
                  <a:pt x="3034779" y="2811053"/>
                  <a:pt x="2981367" y="2829008"/>
                </a:cubicBezTo>
                <a:cubicBezTo>
                  <a:pt x="2939566" y="2843267"/>
                  <a:pt x="2734626" y="2835346"/>
                  <a:pt x="2682955" y="2846436"/>
                </a:cubicBezTo>
                <a:cubicBezTo>
                  <a:pt x="2662635" y="2851188"/>
                  <a:pt x="2040267" y="3029159"/>
                  <a:pt x="2099485" y="3066653"/>
                </a:cubicBezTo>
                <a:cubicBezTo>
                  <a:pt x="2276558" y="3179139"/>
                  <a:pt x="2869897" y="3385098"/>
                  <a:pt x="1807460" y="3454808"/>
                </a:cubicBezTo>
                <a:cubicBezTo>
                  <a:pt x="1841132" y="3495472"/>
                  <a:pt x="1934024" y="3469596"/>
                  <a:pt x="1921251" y="3540889"/>
                </a:cubicBezTo>
                <a:cubicBezTo>
                  <a:pt x="1780173" y="3579440"/>
                  <a:pt x="1617035" y="3577328"/>
                  <a:pt x="1453313" y="3637002"/>
                </a:cubicBezTo>
                <a:cubicBezTo>
                  <a:pt x="1527047" y="3680307"/>
                  <a:pt x="1611808" y="3653902"/>
                  <a:pt x="1686122" y="3667634"/>
                </a:cubicBezTo>
                <a:cubicBezTo>
                  <a:pt x="1644320" y="3722027"/>
                  <a:pt x="1572330" y="3713578"/>
                  <a:pt x="1513692" y="3725196"/>
                </a:cubicBezTo>
                <a:cubicBezTo>
                  <a:pt x="1459700" y="3736286"/>
                  <a:pt x="1345329" y="3830816"/>
                  <a:pt x="1369711" y="3826063"/>
                </a:cubicBezTo>
                <a:cubicBezTo>
                  <a:pt x="1595553" y="3783815"/>
                  <a:pt x="1824877" y="3795434"/>
                  <a:pt x="2051298" y="3754242"/>
                </a:cubicBezTo>
                <a:cubicBezTo>
                  <a:pt x="2126192" y="3740511"/>
                  <a:pt x="2210955" y="3714106"/>
                  <a:pt x="2245207" y="3797018"/>
                </a:cubicBezTo>
                <a:cubicBezTo>
                  <a:pt x="2255659" y="3821310"/>
                  <a:pt x="2248109" y="3829232"/>
                  <a:pt x="2353192" y="3796489"/>
                </a:cubicBezTo>
                <a:cubicBezTo>
                  <a:pt x="2394414" y="3783815"/>
                  <a:pt x="2448988" y="3770085"/>
                  <a:pt x="2490207" y="3801242"/>
                </a:cubicBezTo>
                <a:cubicBezTo>
                  <a:pt x="2464082" y="3840321"/>
                  <a:pt x="2413572" y="3828703"/>
                  <a:pt x="2375835" y="3839794"/>
                </a:cubicBezTo>
                <a:cubicBezTo>
                  <a:pt x="2275978" y="3868311"/>
                  <a:pt x="2619094" y="3977100"/>
                  <a:pt x="2522138" y="4009841"/>
                </a:cubicBezTo>
                <a:cubicBezTo>
                  <a:pt x="2323584" y="4076912"/>
                  <a:pt x="2199343" y="4057372"/>
                  <a:pt x="1998466" y="4130778"/>
                </a:cubicBezTo>
                <a:cubicBezTo>
                  <a:pt x="2066973" y="4129192"/>
                  <a:pt x="2046072" y="4154543"/>
                  <a:pt x="2114580" y="4154543"/>
                </a:cubicBezTo>
                <a:cubicBezTo>
                  <a:pt x="2145350" y="4154543"/>
                  <a:pt x="2177862" y="4160878"/>
                  <a:pt x="2177862" y="4189925"/>
                </a:cubicBezTo>
                <a:cubicBezTo>
                  <a:pt x="2177862" y="4217385"/>
                  <a:pt x="1817330" y="4367895"/>
                  <a:pt x="1868419" y="4382153"/>
                </a:cubicBezTo>
                <a:cubicBezTo>
                  <a:pt x="2007755" y="4420704"/>
                  <a:pt x="2365385" y="4302410"/>
                  <a:pt x="2279460" y="4356805"/>
                </a:cubicBezTo>
                <a:cubicBezTo>
                  <a:pt x="2148834" y="4439716"/>
                  <a:pt x="2129094" y="4456088"/>
                  <a:pt x="2029817" y="4468235"/>
                </a:cubicBezTo>
                <a:cubicBezTo>
                  <a:pt x="1944474" y="4478796"/>
                  <a:pt x="1644320" y="4710633"/>
                  <a:pt x="1560137" y="4730172"/>
                </a:cubicBezTo>
                <a:cubicBezTo>
                  <a:pt x="1485825" y="4747072"/>
                  <a:pt x="1774947" y="4800410"/>
                  <a:pt x="1956664" y="4820477"/>
                </a:cubicBezTo>
                <a:cubicBezTo>
                  <a:pt x="2130256" y="4840017"/>
                  <a:pt x="3101544" y="4789319"/>
                  <a:pt x="3268168" y="4852692"/>
                </a:cubicBezTo>
                <a:cubicBezTo>
                  <a:pt x="3111993" y="4878041"/>
                  <a:pt x="2970336" y="4953030"/>
                  <a:pt x="2807197" y="4939300"/>
                </a:cubicBezTo>
                <a:cubicBezTo>
                  <a:pt x="2773524" y="4936660"/>
                  <a:pt x="2724756" y="4930323"/>
                  <a:pt x="2721272" y="4970458"/>
                </a:cubicBezTo>
                <a:cubicBezTo>
                  <a:pt x="2718369" y="5005313"/>
                  <a:pt x="2788038" y="4981548"/>
                  <a:pt x="2802552" y="5014291"/>
                </a:cubicBezTo>
                <a:cubicBezTo>
                  <a:pt x="2719531" y="5060235"/>
                  <a:pt x="2621415" y="5018515"/>
                  <a:pt x="2537812" y="5053898"/>
                </a:cubicBezTo>
                <a:cubicBezTo>
                  <a:pt x="2491948" y="5099314"/>
                  <a:pt x="2589483" y="5107236"/>
                  <a:pt x="2569744" y="5153182"/>
                </a:cubicBezTo>
                <a:cubicBezTo>
                  <a:pt x="2301522" y="5193845"/>
                  <a:pt x="2252174" y="5268836"/>
                  <a:pt x="1987436" y="5334320"/>
                </a:cubicBezTo>
                <a:cubicBezTo>
                  <a:pt x="1971179" y="5338545"/>
                  <a:pt x="1958407" y="5352274"/>
                  <a:pt x="1972921" y="5382376"/>
                </a:cubicBezTo>
                <a:cubicBezTo>
                  <a:pt x="2087874" y="5396107"/>
                  <a:pt x="2215599" y="5373399"/>
                  <a:pt x="2341001" y="5360725"/>
                </a:cubicBezTo>
                <a:cubicBezTo>
                  <a:pt x="2537812" y="5340129"/>
                  <a:pt x="2533748" y="5339072"/>
                  <a:pt x="2710822" y="5418816"/>
                </a:cubicBezTo>
                <a:cubicBezTo>
                  <a:pt x="2743914" y="5433602"/>
                  <a:pt x="2801390" y="5438355"/>
                  <a:pt x="2833903" y="5413007"/>
                </a:cubicBezTo>
                <a:cubicBezTo>
                  <a:pt x="2896604" y="5364422"/>
                  <a:pt x="2950016" y="5368646"/>
                  <a:pt x="3011556" y="5399276"/>
                </a:cubicBezTo>
                <a:cubicBezTo>
                  <a:pt x="3077160" y="5432547"/>
                  <a:pt x="3171793" y="5391882"/>
                  <a:pt x="3254233" y="5439412"/>
                </a:cubicBezTo>
                <a:cubicBezTo>
                  <a:pt x="3099802" y="5473739"/>
                  <a:pt x="2957563" y="5473739"/>
                  <a:pt x="2792101" y="5471625"/>
                </a:cubicBezTo>
                <a:cubicBezTo>
                  <a:pt x="2846095" y="5537639"/>
                  <a:pt x="2914601" y="5536582"/>
                  <a:pt x="2977303" y="5539751"/>
                </a:cubicBezTo>
                <a:cubicBezTo>
                  <a:pt x="3214174" y="5551898"/>
                  <a:pt x="3601411" y="5660686"/>
                  <a:pt x="3656566" y="5678642"/>
                </a:cubicBezTo>
                <a:cubicBezTo>
                  <a:pt x="4280675" y="5879847"/>
                  <a:pt x="4178497" y="5898332"/>
                  <a:pt x="4858340" y="5969625"/>
                </a:cubicBezTo>
                <a:cubicBezTo>
                  <a:pt x="5261253" y="6011873"/>
                  <a:pt x="4887368" y="6032469"/>
                  <a:pt x="5296668" y="6043559"/>
                </a:cubicBezTo>
                <a:cubicBezTo>
                  <a:pt x="5349500" y="6045143"/>
                  <a:pt x="5402911" y="6044087"/>
                  <a:pt x="5456323" y="6042502"/>
                </a:cubicBezTo>
                <a:cubicBezTo>
                  <a:pt x="5368077" y="6073134"/>
                  <a:pt x="5267058" y="6100066"/>
                  <a:pt x="5267058" y="6100066"/>
                </a:cubicBezTo>
                <a:cubicBezTo>
                  <a:pt x="5267058" y="6100066"/>
                  <a:pt x="5318728" y="6208854"/>
                  <a:pt x="7095266" y="6287541"/>
                </a:cubicBezTo>
                <a:cubicBezTo>
                  <a:pt x="7422124" y="6302329"/>
                  <a:pt x="9563254" y="6024548"/>
                  <a:pt x="9707235" y="5994446"/>
                </a:cubicBezTo>
                <a:cubicBezTo>
                  <a:pt x="9844249" y="5966984"/>
                  <a:pt x="10002164" y="5671247"/>
                  <a:pt x="10083442" y="5678642"/>
                </a:cubicBezTo>
                <a:cubicBezTo>
                  <a:pt x="10103183" y="5653293"/>
                  <a:pt x="10283158" y="5139979"/>
                  <a:pt x="10338892" y="4650957"/>
                </a:cubicBezTo>
                <a:cubicBezTo>
                  <a:pt x="10448618" y="4580718"/>
                  <a:pt x="10551960" y="4503088"/>
                  <a:pt x="10628013" y="4411198"/>
                </a:cubicBezTo>
                <a:cubicBezTo>
                  <a:pt x="10675040" y="4354692"/>
                  <a:pt x="10718003" y="4298185"/>
                  <a:pt x="10802766" y="4258050"/>
                </a:cubicBezTo>
                <a:cubicBezTo>
                  <a:pt x="10755739" y="4203128"/>
                  <a:pt x="10675040" y="4190453"/>
                  <a:pt x="10614662" y="4150318"/>
                </a:cubicBezTo>
                <a:cubicBezTo>
                  <a:pt x="10610017" y="4117046"/>
                  <a:pt x="10705811" y="4127081"/>
                  <a:pt x="10681427" y="4054203"/>
                </a:cubicBezTo>
                <a:cubicBezTo>
                  <a:pt x="10648335" y="3957032"/>
                  <a:pt x="10684328" y="3846131"/>
                  <a:pt x="10520029" y="3804411"/>
                </a:cubicBezTo>
                <a:cubicBezTo>
                  <a:pt x="10476485" y="3709881"/>
                  <a:pt x="10464294" y="3558845"/>
                  <a:pt x="10568798" y="3466426"/>
                </a:cubicBezTo>
                <a:cubicBezTo>
                  <a:pt x="10724388" y="3328592"/>
                  <a:pt x="10699424" y="3240927"/>
                  <a:pt x="10499709" y="3166465"/>
                </a:cubicBezTo>
                <a:cubicBezTo>
                  <a:pt x="10474164" y="3156958"/>
                  <a:pt x="10501452" y="2570768"/>
                  <a:pt x="10489840" y="2546475"/>
                </a:cubicBezTo>
                <a:cubicBezTo>
                  <a:pt x="10508418" y="2513205"/>
                  <a:pt x="10551960" y="2521126"/>
                  <a:pt x="10584471" y="2512148"/>
                </a:cubicBezTo>
                <a:cubicBezTo>
                  <a:pt x="10726711" y="2474125"/>
                  <a:pt x="10731357" y="2474125"/>
                  <a:pt x="10695942" y="2358471"/>
                </a:cubicBezTo>
                <a:cubicBezTo>
                  <a:pt x="10685490" y="2323616"/>
                  <a:pt x="10709874" y="2309357"/>
                  <a:pt x="10732516" y="2287706"/>
                </a:cubicBezTo>
                <a:cubicBezTo>
                  <a:pt x="10817280" y="2206905"/>
                  <a:pt x="10817860" y="2205850"/>
                  <a:pt x="10731357" y="2137725"/>
                </a:cubicBezTo>
                <a:cubicBezTo>
                  <a:pt x="10706391" y="2118185"/>
                  <a:pt x="10689555" y="2097061"/>
                  <a:pt x="10678525" y="2070656"/>
                </a:cubicBezTo>
                <a:cubicBezTo>
                  <a:pt x="10658203" y="2022599"/>
                  <a:pt x="10658784" y="1982463"/>
                  <a:pt x="10735999" y="1956587"/>
                </a:cubicBezTo>
                <a:cubicBezTo>
                  <a:pt x="10789993" y="1938104"/>
                  <a:pt x="10820762" y="1916978"/>
                  <a:pt x="10824246" y="1862584"/>
                </a:cubicBezTo>
                <a:cubicBezTo>
                  <a:pt x="10826570" y="1817166"/>
                  <a:pt x="10832955" y="1787594"/>
                  <a:pt x="10773156" y="1768054"/>
                </a:cubicBezTo>
                <a:cubicBezTo>
                  <a:pt x="10724969" y="1752211"/>
                  <a:pt x="10711036" y="1718412"/>
                  <a:pt x="10716261" y="1678278"/>
                </a:cubicBezTo>
                <a:cubicBezTo>
                  <a:pt x="10728452" y="1580050"/>
                  <a:pt x="10662849" y="1522487"/>
                  <a:pt x="10554864" y="1477599"/>
                </a:cubicBezTo>
                <a:cubicBezTo>
                  <a:pt x="10452101" y="1434822"/>
                  <a:pt x="10362116" y="1377259"/>
                  <a:pt x="10267483" y="1324977"/>
                </a:cubicBezTo>
                <a:cubicBezTo>
                  <a:pt x="10162399" y="1266887"/>
                  <a:pt x="10040481" y="1232031"/>
                  <a:pt x="9913337" y="1202458"/>
                </a:cubicBezTo>
                <a:cubicBezTo>
                  <a:pt x="9936561" y="1160210"/>
                  <a:pt x="10016678" y="1183974"/>
                  <a:pt x="10024805" y="1124827"/>
                </a:cubicBezTo>
                <a:cubicBezTo>
                  <a:pt x="9826251" y="1074658"/>
                  <a:pt x="9636408" y="999139"/>
                  <a:pt x="9411726" y="980655"/>
                </a:cubicBezTo>
                <a:cubicBezTo>
                  <a:pt x="9593444" y="990161"/>
                  <a:pt x="9758326" y="922036"/>
                  <a:pt x="9930753" y="901968"/>
                </a:cubicBezTo>
                <a:cubicBezTo>
                  <a:pt x="9947008" y="868698"/>
                  <a:pt x="9909273" y="877147"/>
                  <a:pt x="9894178" y="871339"/>
                </a:cubicBezTo>
                <a:cubicBezTo>
                  <a:pt x="9879083" y="865001"/>
                  <a:pt x="9860506" y="862889"/>
                  <a:pt x="9858182" y="839125"/>
                </a:cubicBezTo>
                <a:cubicBezTo>
                  <a:pt x="9941205" y="804798"/>
                  <a:pt x="10045126" y="827506"/>
                  <a:pt x="10131050" y="792652"/>
                </a:cubicBezTo>
                <a:cubicBezTo>
                  <a:pt x="10111891" y="741954"/>
                  <a:pt x="10037578" y="772583"/>
                  <a:pt x="10006808" y="731920"/>
                </a:cubicBezTo>
                <a:cubicBezTo>
                  <a:pt x="10086927" y="724526"/>
                  <a:pt x="10161239" y="721357"/>
                  <a:pt x="10233809" y="710268"/>
                </a:cubicBezTo>
                <a:cubicBezTo>
                  <a:pt x="10290705" y="701818"/>
                  <a:pt x="10306380" y="658513"/>
                  <a:pt x="10267483" y="628940"/>
                </a:cubicBezTo>
                <a:cubicBezTo>
                  <a:pt x="10232648" y="602536"/>
                  <a:pt x="10181559" y="600422"/>
                  <a:pt x="10136275" y="589333"/>
                </a:cubicBezTo>
                <a:cubicBezTo>
                  <a:pt x="9813479" y="512230"/>
                  <a:pt x="9474428" y="487409"/>
                  <a:pt x="9131312" y="480544"/>
                </a:cubicBezTo>
                <a:cubicBezTo>
                  <a:pt x="8580936" y="469453"/>
                  <a:pt x="8028817" y="469982"/>
                  <a:pt x="7479600" y="454667"/>
                </a:cubicBezTo>
                <a:cubicBezTo>
                  <a:pt x="7227489" y="447934"/>
                  <a:pt x="6976357" y="436744"/>
                  <a:pt x="6724001" y="434021"/>
                </a:cubicBezTo>
                <a:close/>
                <a:moveTo>
                  <a:pt x="0" y="0"/>
                </a:moveTo>
                <a:lnTo>
                  <a:pt x="12192000" y="0"/>
                </a:lnTo>
                <a:lnTo>
                  <a:pt x="12192000" y="6858000"/>
                </a:ln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1026" name="Picture 2">
            <a:extLst>
              <a:ext uri="{FF2B5EF4-FFF2-40B4-BE49-F238E27FC236}">
                <a16:creationId xmlns:a16="http://schemas.microsoft.com/office/drawing/2014/main" id="{9FD73F25-4EF3-4151-81E1-518CA2FEC8D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734938" y="1400384"/>
            <a:ext cx="5791199" cy="3852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2920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Our </a:t>
            </a:r>
            <a:r>
              <a:rPr lang="en-IE" b="1" dirty="0"/>
              <a:t>Shop</a:t>
            </a:r>
            <a:r>
              <a:rPr lang="en-IE" dirty="0"/>
              <a:t> App</a:t>
            </a:r>
          </a:p>
        </p:txBody>
      </p:sp>
      <p:sp>
        <p:nvSpPr>
          <p:cNvPr id="4" name="TextBox 3"/>
          <p:cNvSpPr txBox="1"/>
          <p:nvPr/>
        </p:nvSpPr>
        <p:spPr>
          <a:xfrm>
            <a:off x="609600" y="1630689"/>
            <a:ext cx="9144000" cy="58477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IE" sz="3200" dirty="0">
                <a:solidFill>
                  <a:srgbClr val="FF0000"/>
                </a:solidFill>
              </a:rPr>
              <a:t>Shop V4.0 - </a:t>
            </a:r>
            <a:r>
              <a:rPr lang="en-IE" sz="3200" dirty="0"/>
              <a:t>implemented the </a:t>
            </a:r>
            <a:r>
              <a:rPr lang="en-IE" sz="3200" b="1" dirty="0"/>
              <a:t>CRUD</a:t>
            </a:r>
            <a:r>
              <a:rPr lang="en-IE" sz="3200" dirty="0"/>
              <a:t> process</a:t>
            </a:r>
          </a:p>
        </p:txBody>
      </p:sp>
      <p:sp>
        <p:nvSpPr>
          <p:cNvPr id="5" name="TextBox 4"/>
          <p:cNvSpPr txBox="1"/>
          <p:nvPr/>
        </p:nvSpPr>
        <p:spPr>
          <a:xfrm>
            <a:off x="566051" y="3941679"/>
            <a:ext cx="11321149" cy="107721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IE" sz="3200" dirty="0">
                <a:solidFill>
                  <a:srgbClr val="FF0000"/>
                </a:solidFill>
              </a:rPr>
              <a:t>Shop V5.0</a:t>
            </a:r>
            <a:endParaRPr lang="en-IE" sz="3200" dirty="0"/>
          </a:p>
          <a:p>
            <a:r>
              <a:rPr lang="en-IE" sz="3200" dirty="0"/>
              <a:t>use XML to make our </a:t>
            </a:r>
            <a:r>
              <a:rPr lang="en-IE" sz="3200" b="1" dirty="0"/>
              <a:t>data persistent </a:t>
            </a:r>
            <a:r>
              <a:rPr lang="en-IE" sz="3200" dirty="0"/>
              <a:t>beyond the life of our app </a:t>
            </a:r>
          </a:p>
        </p:txBody>
      </p:sp>
      <p:sp>
        <p:nvSpPr>
          <p:cNvPr id="3" name="TextBox 2"/>
          <p:cNvSpPr txBox="1"/>
          <p:nvPr/>
        </p:nvSpPr>
        <p:spPr>
          <a:xfrm>
            <a:off x="1828800" y="2678829"/>
            <a:ext cx="7598619" cy="461665"/>
          </a:xfrm>
          <a:prstGeom prst="rect">
            <a:avLst/>
          </a:prstGeom>
          <a:noFill/>
        </p:spPr>
        <p:txBody>
          <a:bodyPr wrap="none" rtlCol="0">
            <a:spAutoFit/>
          </a:bodyPr>
          <a:lstStyle/>
          <a:p>
            <a:r>
              <a:rPr lang="en-GB" sz="2400" dirty="0"/>
              <a:t>Problem:</a:t>
            </a:r>
            <a:r>
              <a:rPr lang="en-IE" sz="2400" dirty="0"/>
              <a:t> All entered </a:t>
            </a:r>
            <a:r>
              <a:rPr lang="en-IE" sz="2400" b="1" dirty="0"/>
              <a:t>data is lost</a:t>
            </a:r>
            <a:r>
              <a:rPr lang="en-IE" sz="2400" dirty="0"/>
              <a:t> if we </a:t>
            </a:r>
            <a:r>
              <a:rPr lang="en-IE" sz="2400" b="1" dirty="0"/>
              <a:t>close our application</a:t>
            </a:r>
            <a:endParaRPr lang="en-IE" sz="2400" dirty="0"/>
          </a:p>
        </p:txBody>
      </p:sp>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863022" y="2588873"/>
            <a:ext cx="1187450" cy="889441"/>
          </a:xfrm>
          <a:prstGeom prst="rect">
            <a:avLst/>
          </a:prstGeom>
        </p:spPr>
      </p:pic>
      <p:sp>
        <p:nvSpPr>
          <p:cNvPr id="8" name="TextBox 7"/>
          <p:cNvSpPr txBox="1"/>
          <p:nvPr/>
        </p:nvSpPr>
        <p:spPr>
          <a:xfrm>
            <a:off x="1600200" y="5482262"/>
            <a:ext cx="6923306" cy="830997"/>
          </a:xfrm>
          <a:prstGeom prst="rect">
            <a:avLst/>
          </a:prstGeom>
          <a:noFill/>
        </p:spPr>
        <p:txBody>
          <a:bodyPr wrap="none" rtlCol="0">
            <a:spAutoFit/>
          </a:bodyPr>
          <a:lstStyle/>
          <a:p>
            <a:r>
              <a:rPr lang="en-GB" sz="2400" dirty="0"/>
              <a:t>Solution: </a:t>
            </a:r>
            <a:r>
              <a:rPr lang="en-IE" sz="2400" dirty="0">
                <a:solidFill>
                  <a:srgbClr val="FF0000"/>
                </a:solidFill>
              </a:rPr>
              <a:t>Store our objects from memory to XML </a:t>
            </a:r>
            <a:r>
              <a:rPr lang="en-IE" sz="2400" b="1" dirty="0">
                <a:solidFill>
                  <a:srgbClr val="FF0000"/>
                </a:solidFill>
              </a:rPr>
              <a:t>files</a:t>
            </a:r>
            <a:r>
              <a:rPr lang="en-IE" sz="2400" dirty="0">
                <a:solidFill>
                  <a:srgbClr val="FF0000"/>
                </a:solidFill>
              </a:rPr>
              <a:t>.</a:t>
            </a:r>
          </a:p>
          <a:p>
            <a:endParaRPr lang="en-GB" sz="2400" dirty="0">
              <a:solidFill>
                <a:srgbClr val="FF0000"/>
              </a:solidFill>
            </a:endParaRPr>
          </a:p>
        </p:txBody>
      </p:sp>
      <p:pic>
        <p:nvPicPr>
          <p:cNvPr id="9" name="Picture 8"/>
          <p:cNvPicPr>
            <a:picLocks noChangeAspect="1"/>
          </p:cNvPicPr>
          <p:nvPr/>
        </p:nvPicPr>
        <p:blipFill>
          <a:blip r:embed="rId4">
            <a:duotone>
              <a:prstClr val="black"/>
              <a:srgbClr val="FF0000">
                <a:tint val="45000"/>
                <a:satMod val="400000"/>
              </a:srgbClr>
            </a:duotone>
          </a:blip>
          <a:stretch>
            <a:fillRect/>
          </a:stretch>
        </p:blipFill>
        <p:spPr>
          <a:xfrm>
            <a:off x="1029854" y="5436541"/>
            <a:ext cx="584200" cy="584200"/>
          </a:xfrm>
          <a:prstGeom prst="rect">
            <a:avLst/>
          </a:prstGeom>
        </p:spPr>
      </p:pic>
      <p:pic>
        <p:nvPicPr>
          <p:cNvPr id="10" name="Picture 9"/>
          <p:cNvPicPr>
            <a:picLocks noChangeAspect="1"/>
          </p:cNvPicPr>
          <p:nvPr/>
        </p:nvPicPr>
        <p:blipFill>
          <a:blip r:embed="rId5"/>
          <a:stretch>
            <a:fillRect/>
          </a:stretch>
        </p:blipFill>
        <p:spPr>
          <a:xfrm>
            <a:off x="9203896" y="239995"/>
            <a:ext cx="1099407" cy="1099407"/>
          </a:xfrm>
          <a:prstGeom prst="rect">
            <a:avLst/>
          </a:prstGeom>
        </p:spPr>
      </p:pic>
    </p:spTree>
    <p:extLst>
      <p:ext uri="{BB962C8B-B14F-4D97-AF65-F5344CB8AC3E}">
        <p14:creationId xmlns:p14="http://schemas.microsoft.com/office/powerpoint/2010/main" val="1265042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B67C2-20E8-4483-8DB8-2733E5C64241}"/>
              </a:ext>
            </a:extLst>
          </p:cNvPr>
          <p:cNvSpPr>
            <a:spLocks noGrp="1"/>
          </p:cNvSpPr>
          <p:nvPr>
            <p:ph type="title"/>
          </p:nvPr>
        </p:nvSpPr>
        <p:spPr/>
        <p:txBody>
          <a:bodyPr/>
          <a:lstStyle/>
          <a:p>
            <a:r>
              <a:rPr lang="en-IE" dirty="0"/>
              <a:t>Shop </a:t>
            </a:r>
            <a:r>
              <a:rPr lang="en-IE" b="1" dirty="0"/>
              <a:t>V5.0</a:t>
            </a:r>
            <a:r>
              <a:rPr lang="en-IE" dirty="0"/>
              <a:t> (using XML)</a:t>
            </a:r>
          </a:p>
        </p:txBody>
      </p:sp>
      <p:sp>
        <p:nvSpPr>
          <p:cNvPr id="6" name="Content Placeholder 5">
            <a:extLst>
              <a:ext uri="{FF2B5EF4-FFF2-40B4-BE49-F238E27FC236}">
                <a16:creationId xmlns:a16="http://schemas.microsoft.com/office/drawing/2014/main" id="{1AC55566-B01D-48BC-9E42-9894F016F290}"/>
              </a:ext>
            </a:extLst>
          </p:cNvPr>
          <p:cNvSpPr>
            <a:spLocks noGrp="1"/>
          </p:cNvSpPr>
          <p:nvPr>
            <p:ph idx="1"/>
          </p:nvPr>
        </p:nvSpPr>
        <p:spPr>
          <a:xfrm>
            <a:off x="609600" y="1600201"/>
            <a:ext cx="10972800" cy="4525963"/>
          </a:xfrm>
        </p:spPr>
        <p:txBody>
          <a:bodyPr>
            <a:normAutofit lnSpcReduction="10000"/>
          </a:bodyPr>
          <a:lstStyle/>
          <a:p>
            <a:r>
              <a:rPr lang="en-IE" dirty="0"/>
              <a:t>For our XML persistence, we will use a component called </a:t>
            </a:r>
            <a:r>
              <a:rPr lang="en-IE" b="1" dirty="0" err="1"/>
              <a:t>XStream</a:t>
            </a:r>
            <a:r>
              <a:rPr lang="en-IE" dirty="0"/>
              <a:t>.</a:t>
            </a:r>
          </a:p>
          <a:p>
            <a:endParaRPr lang="en-IE" dirty="0"/>
          </a:p>
          <a:p>
            <a:r>
              <a:rPr lang="en-IE" b="1" dirty="0" err="1"/>
              <a:t>XStream</a:t>
            </a:r>
            <a:r>
              <a:rPr lang="en-IE" dirty="0"/>
              <a:t> </a:t>
            </a:r>
          </a:p>
          <a:p>
            <a:pPr lvl="1"/>
            <a:r>
              <a:rPr lang="en-IE" dirty="0"/>
              <a:t>is a simple library </a:t>
            </a:r>
            <a:br>
              <a:rPr lang="en-IE" dirty="0"/>
            </a:br>
            <a:r>
              <a:rPr lang="en-IE" dirty="0"/>
              <a:t>to serialize objects to XML and back again.</a:t>
            </a:r>
            <a:br>
              <a:rPr lang="en-IE" dirty="0"/>
            </a:br>
            <a:endParaRPr lang="en-IE" dirty="0"/>
          </a:p>
          <a:p>
            <a:pPr lvl="1"/>
            <a:r>
              <a:rPr lang="en-IE" dirty="0"/>
              <a:t>is called a component </a:t>
            </a:r>
            <a:br>
              <a:rPr lang="en-IE" dirty="0"/>
            </a:br>
            <a:r>
              <a:rPr lang="en-IE" dirty="0"/>
              <a:t>and we must download the </a:t>
            </a:r>
            <a:r>
              <a:rPr lang="en-IE" b="1" dirty="0"/>
              <a:t>jar </a:t>
            </a:r>
            <a:r>
              <a:rPr lang="en-IE" dirty="0"/>
              <a:t>file </a:t>
            </a:r>
            <a:br>
              <a:rPr lang="en-IE" dirty="0"/>
            </a:br>
            <a:r>
              <a:rPr lang="en-IE" dirty="0"/>
              <a:t>it is stored in, and incorporate it into our project.</a:t>
            </a:r>
          </a:p>
          <a:p>
            <a:endParaRPr lang="en-IE" dirty="0"/>
          </a:p>
          <a:p>
            <a:endParaRPr lang="en-IE" dirty="0"/>
          </a:p>
        </p:txBody>
      </p:sp>
      <p:sp>
        <p:nvSpPr>
          <p:cNvPr id="8" name="Rectangle 7">
            <a:extLst>
              <a:ext uri="{FF2B5EF4-FFF2-40B4-BE49-F238E27FC236}">
                <a16:creationId xmlns:a16="http://schemas.microsoft.com/office/drawing/2014/main" id="{0A619656-EFEF-4D0A-83D4-2E08D579216C}"/>
              </a:ext>
            </a:extLst>
          </p:cNvPr>
          <p:cNvSpPr/>
          <p:nvPr/>
        </p:nvSpPr>
        <p:spPr>
          <a:xfrm>
            <a:off x="3962401" y="6464087"/>
            <a:ext cx="3679597" cy="369332"/>
          </a:xfrm>
          <a:prstGeom prst="rect">
            <a:avLst/>
          </a:prstGeom>
        </p:spPr>
        <p:txBody>
          <a:bodyPr wrap="none">
            <a:spAutoFit/>
          </a:bodyPr>
          <a:lstStyle/>
          <a:p>
            <a:r>
              <a:rPr lang="en-IE" dirty="0">
                <a:hlinkClick r:id="rId2"/>
              </a:rPr>
              <a:t>http://x-stream.github.io/index.html</a:t>
            </a:r>
            <a:r>
              <a:rPr lang="en-IE" dirty="0"/>
              <a:t> </a:t>
            </a:r>
          </a:p>
        </p:txBody>
      </p:sp>
      <p:pic>
        <p:nvPicPr>
          <p:cNvPr id="3" name="Picture 2"/>
          <p:cNvPicPr>
            <a:picLocks noChangeAspect="1"/>
          </p:cNvPicPr>
          <p:nvPr/>
        </p:nvPicPr>
        <p:blipFill rotWithShape="1">
          <a:blip r:embed="rId3"/>
          <a:srcRect l="2007" b="34104"/>
          <a:stretch/>
        </p:blipFill>
        <p:spPr>
          <a:xfrm>
            <a:off x="8138143" y="3605845"/>
            <a:ext cx="2307998" cy="688461"/>
          </a:xfrm>
          <a:prstGeom prst="rect">
            <a:avLst/>
          </a:prstGeom>
        </p:spPr>
      </p:pic>
      <p:grpSp>
        <p:nvGrpSpPr>
          <p:cNvPr id="5" name="Group 4"/>
          <p:cNvGrpSpPr/>
          <p:nvPr/>
        </p:nvGrpSpPr>
        <p:grpSpPr>
          <a:xfrm>
            <a:off x="9292142" y="0"/>
            <a:ext cx="1099407" cy="1306816"/>
            <a:chOff x="7157495" y="263237"/>
            <a:chExt cx="1099407" cy="1306816"/>
          </a:xfrm>
        </p:grpSpPr>
        <p:pic>
          <p:nvPicPr>
            <p:cNvPr id="7" name="Picture 6"/>
            <p:cNvPicPr>
              <a:picLocks noChangeAspect="1"/>
            </p:cNvPicPr>
            <p:nvPr/>
          </p:nvPicPr>
          <p:blipFill>
            <a:blip r:embed="rId4"/>
            <a:stretch>
              <a:fillRect/>
            </a:stretch>
          </p:blipFill>
          <p:spPr>
            <a:xfrm>
              <a:off x="7157495" y="263237"/>
              <a:ext cx="1099407" cy="1099407"/>
            </a:xfrm>
            <a:prstGeom prst="rect">
              <a:avLst/>
            </a:prstGeom>
          </p:spPr>
        </p:pic>
        <p:sp>
          <p:nvSpPr>
            <p:cNvPr id="4" name="TextBox 3"/>
            <p:cNvSpPr txBox="1"/>
            <p:nvPr/>
          </p:nvSpPr>
          <p:spPr>
            <a:xfrm>
              <a:off x="7290229" y="1262276"/>
              <a:ext cx="833938" cy="307777"/>
            </a:xfrm>
            <a:prstGeom prst="rect">
              <a:avLst/>
            </a:prstGeom>
            <a:solidFill>
              <a:schemeClr val="accent2"/>
            </a:solidFill>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GB" sz="1400" dirty="0"/>
                <a:t>V5 - XML</a:t>
              </a:r>
            </a:p>
          </p:txBody>
        </p:sp>
      </p:grpSp>
      <p:pic>
        <p:nvPicPr>
          <p:cNvPr id="9" name="Picture 8"/>
          <p:cNvPicPr>
            <a:picLocks noChangeAspect="1"/>
          </p:cNvPicPr>
          <p:nvPr/>
        </p:nvPicPr>
        <p:blipFill>
          <a:blip r:embed="rId5"/>
          <a:stretch>
            <a:fillRect/>
          </a:stretch>
        </p:blipFill>
        <p:spPr>
          <a:xfrm>
            <a:off x="8853376" y="4983164"/>
            <a:ext cx="1143000" cy="1143000"/>
          </a:xfrm>
          <a:prstGeom prst="rect">
            <a:avLst/>
          </a:prstGeom>
        </p:spPr>
      </p:pic>
    </p:spTree>
    <p:extLst>
      <p:ext uri="{BB962C8B-B14F-4D97-AF65-F5344CB8AC3E}">
        <p14:creationId xmlns:p14="http://schemas.microsoft.com/office/powerpoint/2010/main" val="4120779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Shop V5.0 (using XML) - </a:t>
            </a:r>
            <a:r>
              <a:rPr lang="en-IE" b="1" dirty="0"/>
              <a:t>STEPS</a:t>
            </a:r>
          </a:p>
        </p:txBody>
      </p:sp>
      <p:sp>
        <p:nvSpPr>
          <p:cNvPr id="3" name="Content Placeholder 2"/>
          <p:cNvSpPr>
            <a:spLocks noGrp="1"/>
          </p:cNvSpPr>
          <p:nvPr>
            <p:ph idx="1"/>
          </p:nvPr>
        </p:nvSpPr>
        <p:spPr>
          <a:xfrm>
            <a:off x="1981200" y="1600201"/>
            <a:ext cx="9601200" cy="4525963"/>
          </a:xfrm>
        </p:spPr>
        <p:txBody>
          <a:bodyPr>
            <a:normAutofit/>
          </a:bodyPr>
          <a:lstStyle/>
          <a:p>
            <a:pPr marL="514350" indent="-514350">
              <a:buFont typeface="+mj-lt"/>
              <a:buAutoNum type="arabicPeriod"/>
            </a:pPr>
            <a:r>
              <a:rPr lang="en-IE" dirty="0"/>
              <a:t>Download the </a:t>
            </a:r>
            <a:r>
              <a:rPr lang="en-IE" b="1" dirty="0">
                <a:solidFill>
                  <a:srgbClr val="FF0000"/>
                </a:solidFill>
              </a:rPr>
              <a:t>xstream-1.4.21.jar </a:t>
            </a:r>
            <a:r>
              <a:rPr lang="en-IE" dirty="0"/>
              <a:t>component</a:t>
            </a:r>
          </a:p>
          <a:p>
            <a:pPr marL="914400" lvl="1" indent="-514350"/>
            <a:r>
              <a:rPr lang="en-IE" dirty="0"/>
              <a:t>Add it to your Shop project.</a:t>
            </a:r>
          </a:p>
          <a:p>
            <a:pPr marL="514350" indent="-514350">
              <a:buFont typeface="+mj-lt"/>
              <a:buAutoNum type="arabicPeriod"/>
            </a:pPr>
            <a:endParaRPr lang="en-IE" dirty="0"/>
          </a:p>
          <a:p>
            <a:pPr marL="514350" indent="-514350">
              <a:buFont typeface="+mj-lt"/>
              <a:buAutoNum type="arabicPeriod"/>
            </a:pPr>
            <a:r>
              <a:rPr lang="en-IE" b="1" dirty="0">
                <a:solidFill>
                  <a:srgbClr val="FF40FF"/>
                </a:solidFill>
              </a:rPr>
              <a:t>Store</a:t>
            </a:r>
            <a:r>
              <a:rPr lang="en-IE" dirty="0">
                <a:solidFill>
                  <a:srgbClr val="FF40FF"/>
                </a:solidFill>
              </a:rPr>
              <a:t> </a:t>
            </a:r>
            <a:r>
              <a:rPr lang="en-IE" dirty="0"/>
              <a:t>Class </a:t>
            </a:r>
          </a:p>
          <a:p>
            <a:pPr marL="857250" lvl="1" indent="-457200"/>
            <a:r>
              <a:rPr lang="en-IE" dirty="0"/>
              <a:t>Write the load(), save() methods. </a:t>
            </a:r>
          </a:p>
          <a:p>
            <a:pPr marL="514350" indent="-514350">
              <a:buFont typeface="+mj-lt"/>
              <a:buAutoNum type="arabicPeriod"/>
            </a:pPr>
            <a:endParaRPr lang="en-IE" dirty="0"/>
          </a:p>
          <a:p>
            <a:pPr marL="514350" indent="-514350">
              <a:buFont typeface="+mj-lt"/>
              <a:buAutoNum type="arabicPeriod"/>
            </a:pPr>
            <a:r>
              <a:rPr lang="en-IE" b="1" dirty="0">
                <a:solidFill>
                  <a:srgbClr val="F79646"/>
                </a:solidFill>
              </a:rPr>
              <a:t>Driver</a:t>
            </a:r>
            <a:r>
              <a:rPr lang="en-IE" b="1" dirty="0">
                <a:solidFill>
                  <a:srgbClr val="FF0000"/>
                </a:solidFill>
              </a:rPr>
              <a:t> </a:t>
            </a:r>
            <a:r>
              <a:rPr lang="en-IE" dirty="0"/>
              <a:t>Class</a:t>
            </a:r>
          </a:p>
          <a:p>
            <a:pPr lvl="1"/>
            <a:r>
              <a:rPr lang="en-IE" dirty="0"/>
              <a:t>include extra load and save functionality to the menu.</a:t>
            </a:r>
          </a:p>
          <a:p>
            <a:pPr marL="0" indent="0">
              <a:buNone/>
            </a:pPr>
            <a:endParaRPr lang="en-IE" dirty="0"/>
          </a:p>
          <a:p>
            <a:endParaRPr lang="en-IE" dirty="0"/>
          </a:p>
          <a:p>
            <a:pPr marL="0" indent="0">
              <a:buNone/>
            </a:pPr>
            <a:endParaRPr lang="en-IE" dirty="0"/>
          </a:p>
          <a:p>
            <a:pPr lvl="1"/>
            <a:endParaRPr lang="en-IE" dirty="0"/>
          </a:p>
        </p:txBody>
      </p:sp>
      <p:sp>
        <p:nvSpPr>
          <p:cNvPr id="4" name="Rectangle 3"/>
          <p:cNvSpPr/>
          <p:nvPr/>
        </p:nvSpPr>
        <p:spPr>
          <a:xfrm>
            <a:off x="1905000" y="1514476"/>
            <a:ext cx="8610600" cy="1304925"/>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5" name="Right Arrow 4"/>
          <p:cNvSpPr/>
          <p:nvPr/>
        </p:nvSpPr>
        <p:spPr>
          <a:xfrm>
            <a:off x="1066800" y="1752599"/>
            <a:ext cx="914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 name="Group 5"/>
          <p:cNvGrpSpPr/>
          <p:nvPr/>
        </p:nvGrpSpPr>
        <p:grpSpPr>
          <a:xfrm>
            <a:off x="9292142" y="0"/>
            <a:ext cx="1099407" cy="1306816"/>
            <a:chOff x="7157495" y="263237"/>
            <a:chExt cx="1099407" cy="1306816"/>
          </a:xfrm>
        </p:grpSpPr>
        <p:pic>
          <p:nvPicPr>
            <p:cNvPr id="7" name="Picture 6"/>
            <p:cNvPicPr>
              <a:picLocks noChangeAspect="1"/>
            </p:cNvPicPr>
            <p:nvPr/>
          </p:nvPicPr>
          <p:blipFill>
            <a:blip r:embed="rId2"/>
            <a:stretch>
              <a:fillRect/>
            </a:stretch>
          </p:blipFill>
          <p:spPr>
            <a:xfrm>
              <a:off x="7157495" y="263237"/>
              <a:ext cx="1099407" cy="1099407"/>
            </a:xfrm>
            <a:prstGeom prst="rect">
              <a:avLst/>
            </a:prstGeom>
          </p:spPr>
        </p:pic>
        <p:sp>
          <p:nvSpPr>
            <p:cNvPr id="8" name="TextBox 7"/>
            <p:cNvSpPr txBox="1"/>
            <p:nvPr/>
          </p:nvSpPr>
          <p:spPr>
            <a:xfrm>
              <a:off x="7290229" y="1262276"/>
              <a:ext cx="833938" cy="307777"/>
            </a:xfrm>
            <a:prstGeom prst="rect">
              <a:avLst/>
            </a:prstGeom>
            <a:solidFill>
              <a:schemeClr val="accent2"/>
            </a:solidFill>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GB" sz="1400" dirty="0"/>
                <a:t>V5 - XML</a:t>
              </a:r>
            </a:p>
          </p:txBody>
        </p:sp>
      </p:grpSp>
    </p:spTree>
    <p:extLst>
      <p:ext uri="{BB962C8B-B14F-4D97-AF65-F5344CB8AC3E}">
        <p14:creationId xmlns:p14="http://schemas.microsoft.com/office/powerpoint/2010/main" val="938576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769AC-72E5-4263-90D3-335B42B95021}"/>
              </a:ext>
            </a:extLst>
          </p:cNvPr>
          <p:cNvSpPr>
            <a:spLocks noGrp="1"/>
          </p:cNvSpPr>
          <p:nvPr>
            <p:ph type="title"/>
          </p:nvPr>
        </p:nvSpPr>
        <p:spPr/>
        <p:txBody>
          <a:bodyPr>
            <a:normAutofit/>
          </a:bodyPr>
          <a:lstStyle/>
          <a:p>
            <a:r>
              <a:rPr lang="en-IE" dirty="0"/>
              <a:t>Download the </a:t>
            </a:r>
            <a:r>
              <a:rPr lang="en-IE" b="1" dirty="0"/>
              <a:t>component</a:t>
            </a:r>
          </a:p>
        </p:txBody>
      </p:sp>
      <p:sp>
        <p:nvSpPr>
          <p:cNvPr id="4" name="Rectangle 3">
            <a:extLst>
              <a:ext uri="{FF2B5EF4-FFF2-40B4-BE49-F238E27FC236}">
                <a16:creationId xmlns:a16="http://schemas.microsoft.com/office/drawing/2014/main" id="{96FEB706-7379-4B8D-8CF9-C3042D989919}"/>
              </a:ext>
            </a:extLst>
          </p:cNvPr>
          <p:cNvSpPr/>
          <p:nvPr/>
        </p:nvSpPr>
        <p:spPr>
          <a:xfrm>
            <a:off x="2286000" y="6466545"/>
            <a:ext cx="8077200" cy="369332"/>
          </a:xfrm>
          <a:prstGeom prst="rect">
            <a:avLst/>
          </a:prstGeom>
        </p:spPr>
        <p:txBody>
          <a:bodyPr wrap="square">
            <a:spAutoFit/>
          </a:bodyPr>
          <a:lstStyle/>
          <a:p>
            <a:r>
              <a:rPr lang="en-IE" dirty="0"/>
              <a:t>https://mvnrepository.com/artifact/com.thoughtworks.xstream/xstream/1.4.21  </a:t>
            </a:r>
          </a:p>
        </p:txBody>
      </p:sp>
      <p:pic>
        <p:nvPicPr>
          <p:cNvPr id="6" name="Picture 5">
            <a:extLst>
              <a:ext uri="{FF2B5EF4-FFF2-40B4-BE49-F238E27FC236}">
                <a16:creationId xmlns:a16="http://schemas.microsoft.com/office/drawing/2014/main" id="{8E4423AB-F416-0C07-DF3E-66430458B994}"/>
              </a:ext>
            </a:extLst>
          </p:cNvPr>
          <p:cNvPicPr>
            <a:picLocks noChangeAspect="1"/>
          </p:cNvPicPr>
          <p:nvPr/>
        </p:nvPicPr>
        <p:blipFill>
          <a:blip r:embed="rId3"/>
          <a:stretch>
            <a:fillRect/>
          </a:stretch>
        </p:blipFill>
        <p:spPr>
          <a:xfrm>
            <a:off x="2133600" y="1219200"/>
            <a:ext cx="7559695" cy="5082980"/>
          </a:xfrm>
          <a:prstGeom prst="rect">
            <a:avLst/>
          </a:prstGeom>
        </p:spPr>
      </p:pic>
      <p:cxnSp>
        <p:nvCxnSpPr>
          <p:cNvPr id="7" name="Straight Arrow Connector 6">
            <a:extLst>
              <a:ext uri="{FF2B5EF4-FFF2-40B4-BE49-F238E27FC236}">
                <a16:creationId xmlns:a16="http://schemas.microsoft.com/office/drawing/2014/main" id="{83B9048C-78BB-44AF-8A6A-E75D817B61C8}"/>
              </a:ext>
            </a:extLst>
          </p:cNvPr>
          <p:cNvCxnSpPr>
            <a:cxnSpLocks/>
          </p:cNvCxnSpPr>
          <p:nvPr/>
        </p:nvCxnSpPr>
        <p:spPr>
          <a:xfrm flipH="1">
            <a:off x="5057235" y="3429000"/>
            <a:ext cx="2745099" cy="1313706"/>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sp>
        <p:nvSpPr>
          <p:cNvPr id="8" name="Rectangle 7">
            <a:extLst>
              <a:ext uri="{FF2B5EF4-FFF2-40B4-BE49-F238E27FC236}">
                <a16:creationId xmlns:a16="http://schemas.microsoft.com/office/drawing/2014/main" id="{52B123C8-3947-4ABA-A7B7-C29728EFD467}"/>
              </a:ext>
            </a:extLst>
          </p:cNvPr>
          <p:cNvSpPr/>
          <p:nvPr/>
        </p:nvSpPr>
        <p:spPr>
          <a:xfrm>
            <a:off x="7802334" y="2779593"/>
            <a:ext cx="2560867" cy="1200329"/>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IE" sz="2400" dirty="0"/>
              <a:t>Download the </a:t>
            </a:r>
            <a:r>
              <a:rPr lang="en-IE" sz="2400" b="1" dirty="0"/>
              <a:t>xstream-1.4.21.jar</a:t>
            </a:r>
            <a:r>
              <a:rPr lang="en-IE" sz="2400" dirty="0"/>
              <a:t> component. </a:t>
            </a:r>
          </a:p>
        </p:txBody>
      </p:sp>
      <p:sp>
        <p:nvSpPr>
          <p:cNvPr id="9" name="Donut 8"/>
          <p:cNvSpPr/>
          <p:nvPr/>
        </p:nvSpPr>
        <p:spPr>
          <a:xfrm flipV="1">
            <a:off x="4147630" y="4742706"/>
            <a:ext cx="909605" cy="304800"/>
          </a:xfrm>
          <a:prstGeom prst="donut">
            <a:avLst>
              <a:gd name="adj" fmla="val 102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2955872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67148-30D9-4D63-A127-B8682EEEBAA8}"/>
              </a:ext>
            </a:extLst>
          </p:cNvPr>
          <p:cNvSpPr>
            <a:spLocks noGrp="1"/>
          </p:cNvSpPr>
          <p:nvPr>
            <p:ph type="title"/>
          </p:nvPr>
        </p:nvSpPr>
        <p:spPr>
          <a:xfrm>
            <a:off x="1981200" y="274638"/>
            <a:ext cx="8686800" cy="1143000"/>
          </a:xfrm>
        </p:spPr>
        <p:txBody>
          <a:bodyPr>
            <a:normAutofit fontScale="90000"/>
          </a:bodyPr>
          <a:lstStyle/>
          <a:p>
            <a:r>
              <a:rPr lang="en-IE" dirty="0"/>
              <a:t>Adding a component to the </a:t>
            </a:r>
            <a:r>
              <a:rPr lang="en-IE" b="1"/>
              <a:t>lib folder -</a:t>
            </a:r>
            <a:r>
              <a:rPr lang="en-IE"/>
              <a:t>1</a:t>
            </a:r>
            <a:endParaRPr lang="en-IE" b="1" dirty="0"/>
          </a:p>
        </p:txBody>
      </p:sp>
      <p:pic>
        <p:nvPicPr>
          <p:cNvPr id="4" name="Picture 3">
            <a:extLst>
              <a:ext uri="{FF2B5EF4-FFF2-40B4-BE49-F238E27FC236}">
                <a16:creationId xmlns:a16="http://schemas.microsoft.com/office/drawing/2014/main" id="{AC3C84F2-BE18-4DC3-9D1D-67CE41B1B5F8}"/>
              </a:ext>
            </a:extLst>
          </p:cNvPr>
          <p:cNvPicPr>
            <a:picLocks noChangeAspect="1"/>
          </p:cNvPicPr>
          <p:nvPr/>
        </p:nvPicPr>
        <p:blipFill rotWithShape="1">
          <a:blip r:embed="rId2"/>
          <a:srcRect r="48333" b="12667"/>
          <a:stretch/>
        </p:blipFill>
        <p:spPr>
          <a:xfrm>
            <a:off x="5791200" y="1676400"/>
            <a:ext cx="4724400" cy="4991100"/>
          </a:xfrm>
          <a:prstGeom prst="rect">
            <a:avLst/>
          </a:prstGeom>
          <a:ln>
            <a:noFill/>
          </a:ln>
          <a:effectLst>
            <a:outerShdw blurRad="292100" dist="139700" dir="2700000" algn="tl" rotWithShape="0">
              <a:srgbClr val="333333">
                <a:alpha val="65000"/>
              </a:srgbClr>
            </a:outerShdw>
          </a:effectLst>
        </p:spPr>
      </p:pic>
      <p:sp>
        <p:nvSpPr>
          <p:cNvPr id="5" name="Rectangle 4">
            <a:extLst>
              <a:ext uri="{FF2B5EF4-FFF2-40B4-BE49-F238E27FC236}">
                <a16:creationId xmlns:a16="http://schemas.microsoft.com/office/drawing/2014/main" id="{694F5FFB-AE91-4B8E-A0E1-0124BB2F25E7}"/>
              </a:ext>
            </a:extLst>
          </p:cNvPr>
          <p:cNvSpPr/>
          <p:nvPr/>
        </p:nvSpPr>
        <p:spPr>
          <a:xfrm>
            <a:off x="1143000" y="3352800"/>
            <a:ext cx="3668751" cy="2308324"/>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p>
            <a:pPr algn="ctr"/>
            <a:br>
              <a:rPr lang="en-IE" sz="2400" dirty="0"/>
            </a:br>
            <a:r>
              <a:rPr lang="en-IE" sz="2400" dirty="0"/>
              <a:t>On the ShopV5.0 project…</a:t>
            </a:r>
          </a:p>
          <a:p>
            <a:pPr algn="ctr"/>
            <a:r>
              <a:rPr lang="en-IE" sz="2400" dirty="0"/>
              <a:t> right click  </a:t>
            </a:r>
          </a:p>
          <a:p>
            <a:pPr algn="ctr"/>
            <a:r>
              <a:rPr lang="en-IE" sz="2400" dirty="0"/>
              <a:t>select “</a:t>
            </a:r>
            <a:r>
              <a:rPr lang="en-IE" sz="2400" b="1" dirty="0"/>
              <a:t>New</a:t>
            </a:r>
            <a:r>
              <a:rPr lang="en-IE" sz="2400" dirty="0"/>
              <a:t>” </a:t>
            </a:r>
          </a:p>
          <a:p>
            <a:pPr algn="ctr"/>
            <a:r>
              <a:rPr lang="en-IE" sz="2400" dirty="0"/>
              <a:t>then “</a:t>
            </a:r>
            <a:r>
              <a:rPr lang="en-IE" sz="2400" b="1" dirty="0"/>
              <a:t>Directory</a:t>
            </a:r>
            <a:r>
              <a:rPr lang="en-IE" sz="2400" dirty="0"/>
              <a:t>”.</a:t>
            </a:r>
            <a:br>
              <a:rPr lang="en-IE" sz="2400" dirty="0"/>
            </a:br>
            <a:endParaRPr lang="en-IE" sz="2400" dirty="0"/>
          </a:p>
        </p:txBody>
      </p:sp>
      <p:cxnSp>
        <p:nvCxnSpPr>
          <p:cNvPr id="6" name="Straight Arrow Connector 5"/>
          <p:cNvCxnSpPr>
            <a:cxnSpLocks/>
            <a:stCxn id="5" idx="0"/>
            <a:endCxn id="10" idx="2"/>
          </p:cNvCxnSpPr>
          <p:nvPr/>
        </p:nvCxnSpPr>
        <p:spPr>
          <a:xfrm flipV="1">
            <a:off x="2977376" y="2382278"/>
            <a:ext cx="2623324" cy="97052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Donut 7"/>
          <p:cNvSpPr/>
          <p:nvPr/>
        </p:nvSpPr>
        <p:spPr>
          <a:xfrm flipV="1">
            <a:off x="8305800" y="2789238"/>
            <a:ext cx="1905000" cy="258762"/>
          </a:xfrm>
          <a:prstGeom prst="donut">
            <a:avLst>
              <a:gd name="adj" fmla="val 102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Donut 8"/>
          <p:cNvSpPr/>
          <p:nvPr/>
        </p:nvSpPr>
        <p:spPr>
          <a:xfrm flipV="1">
            <a:off x="6591300" y="2385220"/>
            <a:ext cx="838200" cy="176769"/>
          </a:xfrm>
          <a:prstGeom prst="donut">
            <a:avLst>
              <a:gd name="adj" fmla="val 102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Donut 9"/>
          <p:cNvSpPr/>
          <p:nvPr/>
        </p:nvSpPr>
        <p:spPr>
          <a:xfrm flipV="1">
            <a:off x="5600700" y="2286001"/>
            <a:ext cx="1066800" cy="192555"/>
          </a:xfrm>
          <a:prstGeom prst="donut">
            <a:avLst>
              <a:gd name="adj" fmla="val 102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4129842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67148-30D9-4D63-A127-B8682EEEBAA8}"/>
              </a:ext>
            </a:extLst>
          </p:cNvPr>
          <p:cNvSpPr>
            <a:spLocks noGrp="1"/>
          </p:cNvSpPr>
          <p:nvPr>
            <p:ph type="title"/>
          </p:nvPr>
        </p:nvSpPr>
        <p:spPr>
          <a:xfrm>
            <a:off x="1981200" y="274638"/>
            <a:ext cx="8686800" cy="1143000"/>
          </a:xfrm>
        </p:spPr>
        <p:txBody>
          <a:bodyPr>
            <a:normAutofit fontScale="90000"/>
          </a:bodyPr>
          <a:lstStyle/>
          <a:p>
            <a:r>
              <a:rPr lang="en-IE" dirty="0"/>
              <a:t>Adding a component to the </a:t>
            </a:r>
            <a:r>
              <a:rPr lang="en-IE" b="1" dirty="0"/>
              <a:t>lib folder </a:t>
            </a:r>
            <a:r>
              <a:rPr lang="en-IE" dirty="0"/>
              <a:t>- 2</a:t>
            </a:r>
          </a:p>
        </p:txBody>
      </p:sp>
      <p:sp>
        <p:nvSpPr>
          <p:cNvPr id="5" name="Rectangle 4">
            <a:extLst>
              <a:ext uri="{FF2B5EF4-FFF2-40B4-BE49-F238E27FC236}">
                <a16:creationId xmlns:a16="http://schemas.microsoft.com/office/drawing/2014/main" id="{694F5FFB-AE91-4B8E-A0E1-0124BB2F25E7}"/>
              </a:ext>
            </a:extLst>
          </p:cNvPr>
          <p:cNvSpPr/>
          <p:nvPr/>
        </p:nvSpPr>
        <p:spPr>
          <a:xfrm>
            <a:off x="6858000" y="2022902"/>
            <a:ext cx="2667000" cy="830997"/>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IE" sz="2400" dirty="0"/>
              <a:t>Call the new directory “lib”.</a:t>
            </a:r>
          </a:p>
        </p:txBody>
      </p:sp>
      <p:pic>
        <p:nvPicPr>
          <p:cNvPr id="3" name="Picture 2">
            <a:extLst>
              <a:ext uri="{FF2B5EF4-FFF2-40B4-BE49-F238E27FC236}">
                <a16:creationId xmlns:a16="http://schemas.microsoft.com/office/drawing/2014/main" id="{3374F5A9-5DEF-454F-AD1B-B85712D59A5D}"/>
              </a:ext>
            </a:extLst>
          </p:cNvPr>
          <p:cNvPicPr>
            <a:picLocks noChangeAspect="1"/>
          </p:cNvPicPr>
          <p:nvPr/>
        </p:nvPicPr>
        <p:blipFill>
          <a:blip r:embed="rId2"/>
          <a:stretch>
            <a:fillRect/>
          </a:stretch>
        </p:blipFill>
        <p:spPr>
          <a:xfrm>
            <a:off x="2057400" y="1750219"/>
            <a:ext cx="4434944" cy="1376362"/>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B2FAE64C-CB7E-46CA-9589-B5390D132FB1}"/>
              </a:ext>
            </a:extLst>
          </p:cNvPr>
          <p:cNvPicPr>
            <a:picLocks noChangeAspect="1"/>
          </p:cNvPicPr>
          <p:nvPr/>
        </p:nvPicPr>
        <p:blipFill>
          <a:blip r:embed="rId3"/>
          <a:stretch>
            <a:fillRect/>
          </a:stretch>
        </p:blipFill>
        <p:spPr>
          <a:xfrm>
            <a:off x="6586538" y="3810000"/>
            <a:ext cx="3286125" cy="2438400"/>
          </a:xfrm>
          <a:prstGeom prst="rect">
            <a:avLst/>
          </a:prstGeom>
          <a:ln>
            <a:noFill/>
          </a:ln>
          <a:effectLst>
            <a:outerShdw blurRad="292100" dist="139700" dir="2700000" algn="tl" rotWithShape="0">
              <a:srgbClr val="333333">
                <a:alpha val="65000"/>
              </a:srgbClr>
            </a:outerShdw>
          </a:effectLst>
        </p:spPr>
      </p:pic>
      <p:sp>
        <p:nvSpPr>
          <p:cNvPr id="7" name="Arrow: Down 6">
            <a:extLst>
              <a:ext uri="{FF2B5EF4-FFF2-40B4-BE49-F238E27FC236}">
                <a16:creationId xmlns:a16="http://schemas.microsoft.com/office/drawing/2014/main" id="{2AA4783F-1CCB-44A1-94F0-AA89EB71B6FE}"/>
              </a:ext>
            </a:extLst>
          </p:cNvPr>
          <p:cNvSpPr/>
          <p:nvPr/>
        </p:nvSpPr>
        <p:spPr>
          <a:xfrm>
            <a:off x="7924800" y="2971800"/>
            <a:ext cx="609600" cy="685800"/>
          </a:xfrm>
          <a:prstGeom prst="down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E"/>
          </a:p>
        </p:txBody>
      </p:sp>
      <p:sp>
        <p:nvSpPr>
          <p:cNvPr id="8" name="Donut 7"/>
          <p:cNvSpPr/>
          <p:nvPr/>
        </p:nvSpPr>
        <p:spPr>
          <a:xfrm flipV="1">
            <a:off x="6400800" y="4613702"/>
            <a:ext cx="3581400" cy="339298"/>
          </a:xfrm>
          <a:prstGeom prst="donut">
            <a:avLst>
              <a:gd name="adj" fmla="val 102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3478690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par>
                          <p:cTn id="9" fill="hold">
                            <p:stCondLst>
                              <p:cond delay="0"/>
                            </p:stCondLst>
                            <p:childTnLst>
                              <p:par>
                                <p:cTn id="10" presetID="22" presetClass="entr" presetSubtype="4"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7286625" y="1417638"/>
            <a:ext cx="4905375" cy="2847975"/>
          </a:xfrm>
          <a:prstGeom prst="rect">
            <a:avLst/>
          </a:prstGeom>
        </p:spPr>
      </p:pic>
      <p:sp>
        <p:nvSpPr>
          <p:cNvPr id="2" name="Title 1">
            <a:extLst>
              <a:ext uri="{FF2B5EF4-FFF2-40B4-BE49-F238E27FC236}">
                <a16:creationId xmlns:a16="http://schemas.microsoft.com/office/drawing/2014/main" id="{88067148-30D9-4D63-A127-B8682EEEBAA8}"/>
              </a:ext>
            </a:extLst>
          </p:cNvPr>
          <p:cNvSpPr>
            <a:spLocks noGrp="1"/>
          </p:cNvSpPr>
          <p:nvPr>
            <p:ph type="title"/>
          </p:nvPr>
        </p:nvSpPr>
        <p:spPr>
          <a:xfrm>
            <a:off x="1981200" y="274638"/>
            <a:ext cx="8610600" cy="1143000"/>
          </a:xfrm>
        </p:spPr>
        <p:txBody>
          <a:bodyPr>
            <a:normAutofit fontScale="90000"/>
          </a:bodyPr>
          <a:lstStyle/>
          <a:p>
            <a:r>
              <a:rPr lang="en-IE" dirty="0"/>
              <a:t>Adding a component to the </a:t>
            </a:r>
            <a:r>
              <a:rPr lang="en-IE" b="1" dirty="0"/>
              <a:t>lib folder </a:t>
            </a:r>
            <a:r>
              <a:rPr lang="en-IE" dirty="0"/>
              <a:t>- 3</a:t>
            </a:r>
          </a:p>
        </p:txBody>
      </p:sp>
      <p:sp>
        <p:nvSpPr>
          <p:cNvPr id="5" name="Rectangle 4">
            <a:extLst>
              <a:ext uri="{FF2B5EF4-FFF2-40B4-BE49-F238E27FC236}">
                <a16:creationId xmlns:a16="http://schemas.microsoft.com/office/drawing/2014/main" id="{694F5FFB-AE91-4B8E-A0E1-0124BB2F25E7}"/>
              </a:ext>
            </a:extLst>
          </p:cNvPr>
          <p:cNvSpPr/>
          <p:nvPr/>
        </p:nvSpPr>
        <p:spPr>
          <a:xfrm>
            <a:off x="3627125" y="2186970"/>
            <a:ext cx="2624063" cy="1569660"/>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IE" sz="2400" dirty="0"/>
              <a:t>Drag the </a:t>
            </a:r>
          </a:p>
          <a:p>
            <a:pPr algn="ctr"/>
            <a:r>
              <a:rPr lang="en-IE" sz="2400" b="1" dirty="0"/>
              <a:t>xstream-1.4.21.jar</a:t>
            </a:r>
            <a:r>
              <a:rPr lang="en-IE" sz="2400" dirty="0"/>
              <a:t> </a:t>
            </a:r>
          </a:p>
          <a:p>
            <a:pPr algn="ctr"/>
            <a:r>
              <a:rPr lang="en-IE" sz="2400" dirty="0"/>
              <a:t>file into the lib folder.</a:t>
            </a:r>
          </a:p>
        </p:txBody>
      </p:sp>
      <p:sp>
        <p:nvSpPr>
          <p:cNvPr id="7" name="Arrow: Down 6">
            <a:extLst>
              <a:ext uri="{FF2B5EF4-FFF2-40B4-BE49-F238E27FC236}">
                <a16:creationId xmlns:a16="http://schemas.microsoft.com/office/drawing/2014/main" id="{08E23CE9-128F-48E4-A7F0-1FA8CA1522FE}"/>
              </a:ext>
            </a:extLst>
          </p:cNvPr>
          <p:cNvSpPr/>
          <p:nvPr/>
        </p:nvSpPr>
        <p:spPr>
          <a:xfrm rot="16200000">
            <a:off x="6324600" y="2324100"/>
            <a:ext cx="609600" cy="685800"/>
          </a:xfrm>
          <a:prstGeom prst="down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E"/>
          </a:p>
        </p:txBody>
      </p:sp>
      <p:sp>
        <p:nvSpPr>
          <p:cNvPr id="9" name="Donut 8"/>
          <p:cNvSpPr/>
          <p:nvPr/>
        </p:nvSpPr>
        <p:spPr>
          <a:xfrm flipV="1">
            <a:off x="8077200" y="3276600"/>
            <a:ext cx="2863337" cy="533399"/>
          </a:xfrm>
          <a:prstGeom prst="donut">
            <a:avLst>
              <a:gd name="adj" fmla="val 102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11" name="Picture 10">
            <a:extLst>
              <a:ext uri="{FF2B5EF4-FFF2-40B4-BE49-F238E27FC236}">
                <a16:creationId xmlns:a16="http://schemas.microsoft.com/office/drawing/2014/main" id="{04DC8B4A-48B1-4BE4-AFE9-A0059D110F02}"/>
              </a:ext>
            </a:extLst>
          </p:cNvPr>
          <p:cNvPicPr>
            <a:picLocks noChangeAspect="1"/>
          </p:cNvPicPr>
          <p:nvPr/>
        </p:nvPicPr>
        <p:blipFill>
          <a:blip r:embed="rId3"/>
          <a:stretch>
            <a:fillRect/>
          </a:stretch>
        </p:blipFill>
        <p:spPr>
          <a:xfrm>
            <a:off x="549531" y="1916473"/>
            <a:ext cx="2863337" cy="30250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16730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22" presetClass="entr" presetSubtype="4"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610600" cy="1143000"/>
          </a:xfrm>
        </p:spPr>
        <p:txBody>
          <a:bodyPr>
            <a:noAutofit/>
          </a:bodyPr>
          <a:lstStyle/>
          <a:p>
            <a:r>
              <a:rPr lang="en-IE" sz="3600" dirty="0"/>
              <a:t>Adding the component to your </a:t>
            </a:r>
            <a:r>
              <a:rPr lang="en-IE" sz="3600" b="1" dirty="0"/>
              <a:t>build path </a:t>
            </a:r>
            <a:r>
              <a:rPr lang="en-IE" sz="3600" dirty="0"/>
              <a:t>- 1</a:t>
            </a:r>
          </a:p>
        </p:txBody>
      </p:sp>
      <p:pic>
        <p:nvPicPr>
          <p:cNvPr id="4" name="Picture 3">
            <a:extLst>
              <a:ext uri="{FF2B5EF4-FFF2-40B4-BE49-F238E27FC236}">
                <a16:creationId xmlns:a16="http://schemas.microsoft.com/office/drawing/2014/main" id="{A34E885F-707F-4AC4-BDA9-016A124AF82A}"/>
              </a:ext>
            </a:extLst>
          </p:cNvPr>
          <p:cNvPicPr>
            <a:picLocks noChangeAspect="1"/>
          </p:cNvPicPr>
          <p:nvPr/>
        </p:nvPicPr>
        <p:blipFill>
          <a:blip r:embed="rId2"/>
          <a:stretch>
            <a:fillRect/>
          </a:stretch>
        </p:blipFill>
        <p:spPr>
          <a:xfrm>
            <a:off x="2971800" y="2209800"/>
            <a:ext cx="7064794" cy="4319148"/>
          </a:xfrm>
          <a:prstGeom prst="rect">
            <a:avLst/>
          </a:prstGeom>
        </p:spPr>
      </p:pic>
      <p:sp>
        <p:nvSpPr>
          <p:cNvPr id="5" name="Rectangle 4"/>
          <p:cNvSpPr/>
          <p:nvPr/>
        </p:nvSpPr>
        <p:spPr>
          <a:xfrm>
            <a:off x="1956618" y="1697187"/>
            <a:ext cx="8254182" cy="461665"/>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IE" sz="2400" dirty="0"/>
              <a:t>From </a:t>
            </a:r>
            <a:r>
              <a:rPr lang="en-IE" sz="2400" b="1" dirty="0"/>
              <a:t>File</a:t>
            </a:r>
            <a:r>
              <a:rPr lang="en-IE" sz="2400" dirty="0"/>
              <a:t> menu, select </a:t>
            </a:r>
            <a:r>
              <a:rPr lang="en-IE" sz="2400" b="1" dirty="0"/>
              <a:t>P</a:t>
            </a:r>
            <a:r>
              <a:rPr lang="en-IE" sz="2400" b="1" dirty="0">
                <a:sym typeface="Wingdings" panose="05000000000000000000" pitchFamily="2" charset="2"/>
              </a:rPr>
              <a:t>roject Structure.  </a:t>
            </a:r>
            <a:r>
              <a:rPr lang="en-IE" sz="2400" dirty="0">
                <a:sym typeface="Wingdings" panose="05000000000000000000" pitchFamily="2" charset="2"/>
              </a:rPr>
              <a:t>Click on </a:t>
            </a:r>
            <a:r>
              <a:rPr lang="en-IE" sz="2400" b="1" dirty="0">
                <a:sym typeface="Wingdings" panose="05000000000000000000" pitchFamily="2" charset="2"/>
              </a:rPr>
              <a:t>Libraries</a:t>
            </a:r>
            <a:r>
              <a:rPr lang="en-IE" sz="2400" dirty="0">
                <a:sym typeface="Wingdings" panose="05000000000000000000" pitchFamily="2" charset="2"/>
              </a:rPr>
              <a:t>.</a:t>
            </a:r>
          </a:p>
        </p:txBody>
      </p:sp>
    </p:spTree>
    <p:extLst>
      <p:ext uri="{BB962C8B-B14F-4D97-AF65-F5344CB8AC3E}">
        <p14:creationId xmlns:p14="http://schemas.microsoft.com/office/powerpoint/2010/main" val="1468354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534400" cy="1143000"/>
          </a:xfrm>
        </p:spPr>
        <p:txBody>
          <a:bodyPr>
            <a:noAutofit/>
          </a:bodyPr>
          <a:lstStyle/>
          <a:p>
            <a:r>
              <a:rPr lang="en-IE" sz="3600" dirty="0"/>
              <a:t>Adding the component to your </a:t>
            </a:r>
            <a:r>
              <a:rPr lang="en-IE" sz="3600" b="1" dirty="0"/>
              <a:t>build path </a:t>
            </a:r>
            <a:r>
              <a:rPr lang="en-IE" sz="3600" dirty="0"/>
              <a:t>- 2</a:t>
            </a:r>
          </a:p>
        </p:txBody>
      </p:sp>
      <p:sp>
        <p:nvSpPr>
          <p:cNvPr id="5" name="Rectangle 4"/>
          <p:cNvSpPr/>
          <p:nvPr/>
        </p:nvSpPr>
        <p:spPr>
          <a:xfrm>
            <a:off x="190500" y="2895600"/>
            <a:ext cx="2476500" cy="1384995"/>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IE" sz="2400" dirty="0">
                <a:sym typeface="Wingdings" panose="05000000000000000000" pitchFamily="2" charset="2"/>
              </a:rPr>
              <a:t>To add a library to your build path: click on the </a:t>
            </a:r>
            <a:r>
              <a:rPr lang="en-IE" sz="3600" b="1" dirty="0">
                <a:solidFill>
                  <a:schemeClr val="tx1"/>
                </a:solidFill>
                <a:sym typeface="Wingdings" panose="05000000000000000000" pitchFamily="2" charset="2"/>
              </a:rPr>
              <a:t>+</a:t>
            </a:r>
            <a:endParaRPr lang="en-IE" sz="2400" b="1" dirty="0">
              <a:solidFill>
                <a:schemeClr val="tx1"/>
              </a:solidFill>
              <a:sym typeface="Wingdings" panose="05000000000000000000" pitchFamily="2" charset="2"/>
            </a:endParaRPr>
          </a:p>
        </p:txBody>
      </p:sp>
      <p:pic>
        <p:nvPicPr>
          <p:cNvPr id="6" name="Picture 5">
            <a:extLst>
              <a:ext uri="{FF2B5EF4-FFF2-40B4-BE49-F238E27FC236}">
                <a16:creationId xmlns:a16="http://schemas.microsoft.com/office/drawing/2014/main" id="{1D2F2EC6-8D07-43EC-8B5A-0AFC0A3A5B1E}"/>
              </a:ext>
            </a:extLst>
          </p:cNvPr>
          <p:cNvPicPr>
            <a:picLocks noChangeAspect="1"/>
          </p:cNvPicPr>
          <p:nvPr/>
        </p:nvPicPr>
        <p:blipFill>
          <a:blip r:embed="rId2"/>
          <a:stretch>
            <a:fillRect/>
          </a:stretch>
        </p:blipFill>
        <p:spPr>
          <a:xfrm>
            <a:off x="2971800" y="2209800"/>
            <a:ext cx="7064794" cy="4319148"/>
          </a:xfrm>
          <a:prstGeom prst="rect">
            <a:avLst/>
          </a:prstGeom>
        </p:spPr>
      </p:pic>
      <p:sp>
        <p:nvSpPr>
          <p:cNvPr id="3" name="Oval 2">
            <a:extLst>
              <a:ext uri="{FF2B5EF4-FFF2-40B4-BE49-F238E27FC236}">
                <a16:creationId xmlns:a16="http://schemas.microsoft.com/office/drawing/2014/main" id="{A9DEEBAD-6D0A-4FA2-BB97-EE1BE65FABC6}"/>
              </a:ext>
            </a:extLst>
          </p:cNvPr>
          <p:cNvSpPr/>
          <p:nvPr/>
        </p:nvSpPr>
        <p:spPr>
          <a:xfrm>
            <a:off x="3810000" y="2362200"/>
            <a:ext cx="609600" cy="5334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4056413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534400" cy="1143000"/>
          </a:xfrm>
        </p:spPr>
        <p:txBody>
          <a:bodyPr>
            <a:noAutofit/>
          </a:bodyPr>
          <a:lstStyle/>
          <a:p>
            <a:r>
              <a:rPr lang="en-IE" sz="3600" dirty="0"/>
              <a:t>Adding the component to your </a:t>
            </a:r>
            <a:r>
              <a:rPr lang="en-IE" sz="3600" b="1" dirty="0"/>
              <a:t>build path </a:t>
            </a:r>
            <a:r>
              <a:rPr lang="en-IE" sz="3600" dirty="0"/>
              <a:t>- 3</a:t>
            </a:r>
          </a:p>
        </p:txBody>
      </p:sp>
      <p:sp>
        <p:nvSpPr>
          <p:cNvPr id="5" name="Rectangle 4"/>
          <p:cNvSpPr/>
          <p:nvPr/>
        </p:nvSpPr>
        <p:spPr>
          <a:xfrm>
            <a:off x="2133600" y="1524001"/>
            <a:ext cx="7620000" cy="461665"/>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IE" sz="2400" dirty="0">
                <a:sym typeface="Wingdings" panose="05000000000000000000" pitchFamily="2" charset="2"/>
              </a:rPr>
              <a:t>Select </a:t>
            </a:r>
            <a:r>
              <a:rPr lang="en-IE" sz="2400" b="1" dirty="0">
                <a:sym typeface="Wingdings" panose="05000000000000000000" pitchFamily="2" charset="2"/>
              </a:rPr>
              <a:t>Java</a:t>
            </a:r>
            <a:r>
              <a:rPr lang="en-IE" sz="2400" dirty="0">
                <a:sym typeface="Wingdings" panose="05000000000000000000" pitchFamily="2" charset="2"/>
              </a:rPr>
              <a:t> and locate your l</a:t>
            </a:r>
            <a:r>
              <a:rPr lang="en-IE" sz="2400" u="sng" dirty="0">
                <a:sym typeface="Wingdings" panose="05000000000000000000" pitchFamily="2" charset="2"/>
              </a:rPr>
              <a:t>ibrary</a:t>
            </a:r>
            <a:r>
              <a:rPr lang="en-IE" sz="2400" dirty="0">
                <a:sym typeface="Wingdings" panose="05000000000000000000" pitchFamily="2" charset="2"/>
              </a:rPr>
              <a:t>…click </a:t>
            </a:r>
            <a:r>
              <a:rPr lang="en-IE" sz="2400" b="1" dirty="0">
                <a:sym typeface="Wingdings" panose="05000000000000000000" pitchFamily="2" charset="2"/>
              </a:rPr>
              <a:t>OK</a:t>
            </a:r>
            <a:r>
              <a:rPr lang="en-IE" sz="2400" dirty="0">
                <a:sym typeface="Wingdings" panose="05000000000000000000" pitchFamily="2" charset="2"/>
              </a:rPr>
              <a:t> (a few times!)</a:t>
            </a:r>
            <a:endParaRPr lang="en-IE" sz="2400" b="1" dirty="0">
              <a:solidFill>
                <a:srgbClr val="00B050"/>
              </a:solidFill>
              <a:sym typeface="Wingdings" panose="05000000000000000000" pitchFamily="2" charset="2"/>
            </a:endParaRPr>
          </a:p>
        </p:txBody>
      </p:sp>
      <p:pic>
        <p:nvPicPr>
          <p:cNvPr id="3" name="Picture 2"/>
          <p:cNvPicPr>
            <a:picLocks noChangeAspect="1"/>
          </p:cNvPicPr>
          <p:nvPr/>
        </p:nvPicPr>
        <p:blipFill>
          <a:blip r:embed="rId2"/>
          <a:stretch>
            <a:fillRect/>
          </a:stretch>
        </p:blipFill>
        <p:spPr>
          <a:xfrm>
            <a:off x="2209800" y="2209800"/>
            <a:ext cx="7772400" cy="4367277"/>
          </a:xfrm>
          <a:prstGeom prst="rect">
            <a:avLst/>
          </a:prstGeom>
        </p:spPr>
      </p:pic>
    </p:spTree>
    <p:extLst>
      <p:ext uri="{BB962C8B-B14F-4D97-AF65-F5344CB8AC3E}">
        <p14:creationId xmlns:p14="http://schemas.microsoft.com/office/powerpoint/2010/main" val="3434506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534400" cy="1143000"/>
          </a:xfrm>
        </p:spPr>
        <p:txBody>
          <a:bodyPr>
            <a:noAutofit/>
          </a:bodyPr>
          <a:lstStyle/>
          <a:p>
            <a:r>
              <a:rPr lang="en-IE" sz="3600" dirty="0"/>
              <a:t>Adding the component to your </a:t>
            </a:r>
            <a:r>
              <a:rPr lang="en-IE" sz="3600" b="1" dirty="0"/>
              <a:t>build path </a:t>
            </a:r>
            <a:r>
              <a:rPr lang="en-IE" sz="3600" dirty="0"/>
              <a:t>- 4</a:t>
            </a:r>
          </a:p>
        </p:txBody>
      </p:sp>
      <p:sp>
        <p:nvSpPr>
          <p:cNvPr id="5" name="Rectangle 4"/>
          <p:cNvSpPr/>
          <p:nvPr/>
        </p:nvSpPr>
        <p:spPr>
          <a:xfrm>
            <a:off x="370272" y="3048000"/>
            <a:ext cx="2667000" cy="1569660"/>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IE" sz="2400" dirty="0" err="1">
                <a:sym typeface="Wingdings" panose="05000000000000000000" pitchFamily="2" charset="2"/>
              </a:rPr>
              <a:t>XStream</a:t>
            </a:r>
            <a:r>
              <a:rPr lang="en-IE" sz="2400" dirty="0">
                <a:sym typeface="Wingdings" panose="05000000000000000000" pitchFamily="2" charset="2"/>
              </a:rPr>
              <a:t> is now added as a library – this means the compiler can find it!</a:t>
            </a:r>
            <a:endParaRPr lang="en-IE" sz="2400" b="1" dirty="0">
              <a:solidFill>
                <a:srgbClr val="00B050"/>
              </a:solidFill>
              <a:sym typeface="Wingdings" panose="05000000000000000000" pitchFamily="2" charset="2"/>
            </a:endParaRPr>
          </a:p>
        </p:txBody>
      </p:sp>
      <p:pic>
        <p:nvPicPr>
          <p:cNvPr id="3" name="Picture 2"/>
          <p:cNvPicPr>
            <a:picLocks noChangeAspect="1"/>
          </p:cNvPicPr>
          <p:nvPr/>
        </p:nvPicPr>
        <p:blipFill>
          <a:blip r:embed="rId2"/>
          <a:stretch>
            <a:fillRect/>
          </a:stretch>
        </p:blipFill>
        <p:spPr>
          <a:xfrm>
            <a:off x="3118833" y="2928555"/>
            <a:ext cx="8234967" cy="2529269"/>
          </a:xfrm>
          <a:prstGeom prst="rect">
            <a:avLst/>
          </a:prstGeom>
        </p:spPr>
      </p:pic>
    </p:spTree>
    <p:extLst>
      <p:ext uri="{BB962C8B-B14F-4D97-AF65-F5344CB8AC3E}">
        <p14:creationId xmlns:p14="http://schemas.microsoft.com/office/powerpoint/2010/main" val="1391790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Shop V5.0 (using XML) - </a:t>
            </a:r>
            <a:r>
              <a:rPr lang="en-IE" b="1" dirty="0"/>
              <a:t>STEPS</a:t>
            </a:r>
          </a:p>
        </p:txBody>
      </p:sp>
      <p:sp>
        <p:nvSpPr>
          <p:cNvPr id="3" name="Content Placeholder 2"/>
          <p:cNvSpPr>
            <a:spLocks noGrp="1"/>
          </p:cNvSpPr>
          <p:nvPr>
            <p:ph idx="1"/>
          </p:nvPr>
        </p:nvSpPr>
        <p:spPr>
          <a:xfrm>
            <a:off x="1981200" y="1600201"/>
            <a:ext cx="9601200" cy="4525963"/>
          </a:xfrm>
        </p:spPr>
        <p:txBody>
          <a:bodyPr>
            <a:normAutofit/>
          </a:bodyPr>
          <a:lstStyle/>
          <a:p>
            <a:pPr marL="514350" indent="-514350">
              <a:buFont typeface="+mj-lt"/>
              <a:buAutoNum type="arabicPeriod"/>
            </a:pPr>
            <a:r>
              <a:rPr lang="en-IE" dirty="0"/>
              <a:t>Download the </a:t>
            </a:r>
            <a:r>
              <a:rPr lang="en-IE" b="1" dirty="0">
                <a:solidFill>
                  <a:srgbClr val="FF0000"/>
                </a:solidFill>
              </a:rPr>
              <a:t>xstream-1.4.21.jar </a:t>
            </a:r>
            <a:r>
              <a:rPr lang="en-IE" dirty="0"/>
              <a:t>component</a:t>
            </a:r>
          </a:p>
          <a:p>
            <a:pPr marL="914400" lvl="1" indent="-514350"/>
            <a:r>
              <a:rPr lang="en-IE" dirty="0"/>
              <a:t>Add it to your Shop project.</a:t>
            </a:r>
          </a:p>
          <a:p>
            <a:pPr marL="514350" indent="-514350">
              <a:buFont typeface="+mj-lt"/>
              <a:buAutoNum type="arabicPeriod"/>
            </a:pPr>
            <a:endParaRPr lang="en-IE" dirty="0"/>
          </a:p>
          <a:p>
            <a:pPr marL="514350" indent="-514350">
              <a:buFont typeface="+mj-lt"/>
              <a:buAutoNum type="arabicPeriod"/>
            </a:pPr>
            <a:r>
              <a:rPr lang="en-IE" b="1" dirty="0">
                <a:solidFill>
                  <a:srgbClr val="FF40FF"/>
                </a:solidFill>
              </a:rPr>
              <a:t>Store</a:t>
            </a:r>
            <a:r>
              <a:rPr lang="en-IE" dirty="0">
                <a:solidFill>
                  <a:srgbClr val="FF40FF"/>
                </a:solidFill>
              </a:rPr>
              <a:t> </a:t>
            </a:r>
            <a:r>
              <a:rPr lang="en-IE" dirty="0"/>
              <a:t>Class </a:t>
            </a:r>
          </a:p>
          <a:p>
            <a:pPr marL="857250" lvl="1" indent="-457200"/>
            <a:r>
              <a:rPr lang="en-IE" dirty="0"/>
              <a:t>Write the load(), save() methods. </a:t>
            </a:r>
          </a:p>
          <a:p>
            <a:pPr marL="514350" indent="-514350">
              <a:buFont typeface="+mj-lt"/>
              <a:buAutoNum type="arabicPeriod"/>
            </a:pPr>
            <a:endParaRPr lang="en-IE" dirty="0"/>
          </a:p>
          <a:p>
            <a:pPr marL="514350" indent="-514350">
              <a:buFont typeface="+mj-lt"/>
              <a:buAutoNum type="arabicPeriod"/>
            </a:pPr>
            <a:r>
              <a:rPr lang="en-IE" b="1" dirty="0">
                <a:solidFill>
                  <a:srgbClr val="F79646"/>
                </a:solidFill>
              </a:rPr>
              <a:t>Driver</a:t>
            </a:r>
            <a:r>
              <a:rPr lang="en-IE" b="1" dirty="0">
                <a:solidFill>
                  <a:srgbClr val="FF0000"/>
                </a:solidFill>
              </a:rPr>
              <a:t> </a:t>
            </a:r>
            <a:r>
              <a:rPr lang="en-IE" dirty="0"/>
              <a:t>Class</a:t>
            </a:r>
          </a:p>
          <a:p>
            <a:pPr lvl="1"/>
            <a:r>
              <a:rPr lang="en-IE" dirty="0"/>
              <a:t>include extra load and save functionality to the menu.</a:t>
            </a:r>
          </a:p>
          <a:p>
            <a:pPr marL="0" indent="0">
              <a:buNone/>
            </a:pPr>
            <a:endParaRPr lang="en-IE" dirty="0"/>
          </a:p>
          <a:p>
            <a:endParaRPr lang="en-IE" dirty="0"/>
          </a:p>
          <a:p>
            <a:pPr marL="0" indent="0">
              <a:buNone/>
            </a:pPr>
            <a:endParaRPr lang="en-IE" dirty="0"/>
          </a:p>
          <a:p>
            <a:pPr lvl="1"/>
            <a:endParaRPr lang="en-IE" dirty="0"/>
          </a:p>
        </p:txBody>
      </p:sp>
      <p:sp>
        <p:nvSpPr>
          <p:cNvPr id="4" name="Rectangle 3"/>
          <p:cNvSpPr/>
          <p:nvPr/>
        </p:nvSpPr>
        <p:spPr>
          <a:xfrm>
            <a:off x="1981200" y="3210719"/>
            <a:ext cx="8610600" cy="1304925"/>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5" name="Right Arrow 4"/>
          <p:cNvSpPr/>
          <p:nvPr/>
        </p:nvSpPr>
        <p:spPr>
          <a:xfrm>
            <a:off x="990600" y="3672681"/>
            <a:ext cx="914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 name="Group 5"/>
          <p:cNvGrpSpPr/>
          <p:nvPr/>
        </p:nvGrpSpPr>
        <p:grpSpPr>
          <a:xfrm>
            <a:off x="9292142" y="0"/>
            <a:ext cx="1099407" cy="1306816"/>
            <a:chOff x="7157495" y="263237"/>
            <a:chExt cx="1099407" cy="1306816"/>
          </a:xfrm>
        </p:grpSpPr>
        <p:pic>
          <p:nvPicPr>
            <p:cNvPr id="7" name="Picture 6"/>
            <p:cNvPicPr>
              <a:picLocks noChangeAspect="1"/>
            </p:cNvPicPr>
            <p:nvPr/>
          </p:nvPicPr>
          <p:blipFill>
            <a:blip r:embed="rId2"/>
            <a:stretch>
              <a:fillRect/>
            </a:stretch>
          </p:blipFill>
          <p:spPr>
            <a:xfrm>
              <a:off x="7157495" y="263237"/>
              <a:ext cx="1099407" cy="1099407"/>
            </a:xfrm>
            <a:prstGeom prst="rect">
              <a:avLst/>
            </a:prstGeom>
          </p:spPr>
        </p:pic>
        <p:sp>
          <p:nvSpPr>
            <p:cNvPr id="8" name="TextBox 7"/>
            <p:cNvSpPr txBox="1"/>
            <p:nvPr/>
          </p:nvSpPr>
          <p:spPr>
            <a:xfrm>
              <a:off x="7290229" y="1262276"/>
              <a:ext cx="833938" cy="307777"/>
            </a:xfrm>
            <a:prstGeom prst="rect">
              <a:avLst/>
            </a:prstGeom>
            <a:solidFill>
              <a:schemeClr val="accent2"/>
            </a:solidFill>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GB" sz="1400" dirty="0"/>
                <a:t>V5 - XML</a:t>
              </a:r>
            </a:p>
          </p:txBody>
        </p:sp>
      </p:grpSp>
    </p:spTree>
    <p:extLst>
      <p:ext uri="{BB962C8B-B14F-4D97-AF65-F5344CB8AC3E}">
        <p14:creationId xmlns:p14="http://schemas.microsoft.com/office/powerpoint/2010/main" val="3163034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5006596" y="1360311"/>
            <a:ext cx="6066725" cy="1200329"/>
          </a:xfrm>
          <a:prstGeom prst="rect">
            <a:avLst/>
          </a:prstGeom>
          <a:noFill/>
        </p:spPr>
        <p:txBody>
          <a:bodyPr wrap="none" rtlCol="0">
            <a:spAutoFit/>
          </a:bodyPr>
          <a:lstStyle/>
          <a:p>
            <a:r>
              <a:rPr lang="en-GB" dirty="0">
                <a:solidFill>
                  <a:srgbClr val="00B050"/>
                </a:solidFill>
              </a:rPr>
              <a:t>// 1. Initialize an </a:t>
            </a:r>
            <a:r>
              <a:rPr lang="en-GB" dirty="0" err="1">
                <a:solidFill>
                  <a:srgbClr val="00B050"/>
                </a:solidFill>
              </a:rPr>
              <a:t>XStream</a:t>
            </a:r>
            <a:r>
              <a:rPr lang="en-GB" dirty="0">
                <a:solidFill>
                  <a:srgbClr val="00B050"/>
                </a:solidFill>
              </a:rPr>
              <a:t> object variable</a:t>
            </a:r>
          </a:p>
          <a:p>
            <a:r>
              <a:rPr lang="en-GB" dirty="0">
                <a:solidFill>
                  <a:srgbClr val="00B050"/>
                </a:solidFill>
              </a:rPr>
              <a:t>// 2. Use it to initialize an </a:t>
            </a:r>
            <a:r>
              <a:rPr lang="en-GB" dirty="0" err="1">
                <a:solidFill>
                  <a:srgbClr val="00B050"/>
                </a:solidFill>
              </a:rPr>
              <a:t>ObjectOutputStream</a:t>
            </a:r>
            <a:r>
              <a:rPr lang="en-GB" dirty="0">
                <a:solidFill>
                  <a:srgbClr val="00B050"/>
                </a:solidFill>
              </a:rPr>
              <a:t> to a specific file</a:t>
            </a:r>
          </a:p>
          <a:p>
            <a:r>
              <a:rPr lang="en-GB" dirty="0">
                <a:solidFill>
                  <a:srgbClr val="00B050"/>
                </a:solidFill>
              </a:rPr>
              <a:t>// 3. Write out the objects you want saved e.g. products</a:t>
            </a:r>
          </a:p>
          <a:p>
            <a:r>
              <a:rPr lang="en-GB" dirty="0">
                <a:solidFill>
                  <a:srgbClr val="00B050"/>
                </a:solidFill>
              </a:rPr>
              <a:t>// 4. Close the stream / file</a:t>
            </a:r>
          </a:p>
        </p:txBody>
      </p:sp>
      <p:sp>
        <p:nvSpPr>
          <p:cNvPr id="3" name="Rectangle 1">
            <a:extLst>
              <a:ext uri="{FF2B5EF4-FFF2-40B4-BE49-F238E27FC236}">
                <a16:creationId xmlns:a16="http://schemas.microsoft.com/office/drawing/2014/main" id="{5E829D51-B376-4662-9C8C-7EB7CC48E24B}"/>
              </a:ext>
            </a:extLst>
          </p:cNvPr>
          <p:cNvSpPr>
            <a:spLocks noChangeArrowheads="1"/>
          </p:cNvSpPr>
          <p:nvPr/>
        </p:nvSpPr>
        <p:spPr bwMode="auto">
          <a:xfrm>
            <a:off x="304800" y="3810000"/>
            <a:ext cx="11734800" cy="2554545"/>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VI" altLang="en-VI" sz="2000" b="0" i="0" u="none" strike="noStrike" cap="none" normalizeH="0" baseline="0" dirty="0">
                <a:ln>
                  <a:noFill/>
                </a:ln>
                <a:solidFill>
                  <a:srgbClr val="0033B3"/>
                </a:solidFill>
                <a:effectLst/>
                <a:latin typeface="JetBrains Mono"/>
              </a:rPr>
              <a:t>public void </a:t>
            </a:r>
            <a:r>
              <a:rPr kumimoji="0" lang="en-VI" altLang="en-VI" sz="2000" b="0" i="0" u="none" strike="noStrike" cap="none" normalizeH="0" baseline="0" dirty="0">
                <a:ln>
                  <a:noFill/>
                </a:ln>
                <a:solidFill>
                  <a:srgbClr val="00627A"/>
                </a:solidFill>
                <a:effectLst/>
                <a:latin typeface="JetBrains Mono"/>
              </a:rPr>
              <a:t>save</a:t>
            </a:r>
            <a:r>
              <a:rPr kumimoji="0" lang="en-VI" altLang="en-VI" sz="2000" b="0" i="0" u="none" strike="noStrike" cap="none" normalizeH="0" baseline="0" dirty="0">
                <a:ln>
                  <a:noFill/>
                </a:ln>
                <a:solidFill>
                  <a:srgbClr val="080808"/>
                </a:solidFill>
                <a:effectLst/>
                <a:latin typeface="JetBrains Mono"/>
              </a:rPr>
              <a:t>() </a:t>
            </a:r>
            <a:r>
              <a:rPr kumimoji="0" lang="en-VI" altLang="en-VI" sz="2000" b="0" i="0" u="none" strike="noStrike" cap="none" normalizeH="0" baseline="0" dirty="0">
                <a:ln>
                  <a:noFill/>
                </a:ln>
                <a:solidFill>
                  <a:srgbClr val="0033B3"/>
                </a:solidFill>
                <a:effectLst/>
                <a:latin typeface="JetBrains Mono"/>
              </a:rPr>
              <a:t>throws </a:t>
            </a:r>
            <a:r>
              <a:rPr kumimoji="0" lang="en-VI" altLang="en-VI" sz="2000" b="0" i="0" u="none" strike="noStrike" cap="none" normalizeH="0" baseline="0" dirty="0">
                <a:ln>
                  <a:noFill/>
                </a:ln>
                <a:solidFill>
                  <a:srgbClr val="000000"/>
                </a:solidFill>
                <a:effectLst/>
                <a:latin typeface="JetBrains Mono"/>
              </a:rPr>
              <a:t>Exception </a:t>
            </a:r>
            <a:endParaRPr kumimoji="0" lang="en-GB" altLang="en-VI" sz="2000" b="0" i="0" u="none" strike="noStrike" cap="none" normalizeH="0" baseline="0" dirty="0">
              <a:ln>
                <a:noFill/>
              </a:ln>
              <a:solidFill>
                <a:srgbClr val="000000"/>
              </a:solidFill>
              <a:effectLst/>
              <a:latin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VI" altLang="en-VI" sz="2000" b="0" i="0" u="none" strike="noStrike" cap="none" normalizeH="0" baseline="0" dirty="0">
                <a:ln>
                  <a:noFill/>
                </a:ln>
                <a:solidFill>
                  <a:srgbClr val="080808"/>
                </a:solidFill>
                <a:effectLst/>
                <a:latin typeface="JetBrains Mono"/>
              </a:rPr>
              <a:t>{</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r>
              <a:rPr kumimoji="0" lang="en-VI" altLang="en-VI" sz="2000" b="0" i="0" u="none" strike="noStrike" cap="none" normalizeH="0" baseline="0" dirty="0" err="1">
                <a:ln>
                  <a:noFill/>
                </a:ln>
                <a:solidFill>
                  <a:srgbClr val="000000"/>
                </a:solidFill>
                <a:effectLst/>
                <a:latin typeface="JetBrains Mono"/>
              </a:rPr>
              <a:t>XStream</a:t>
            </a:r>
            <a:r>
              <a:rPr kumimoji="0" lang="en-VI" altLang="en-VI" sz="2000" b="0" i="0" u="none" strike="noStrike" cap="none" normalizeH="0" baseline="0" dirty="0">
                <a:ln>
                  <a:noFill/>
                </a:ln>
                <a:solidFill>
                  <a:srgbClr val="000000"/>
                </a:solidFill>
                <a:effectLst/>
                <a:latin typeface="JetBrains Mono"/>
              </a:rPr>
              <a:t> </a:t>
            </a:r>
            <a:r>
              <a:rPr kumimoji="0" lang="en-VI" altLang="en-VI" sz="2000" b="0" i="0" u="none" strike="noStrike" cap="none" normalizeH="0" baseline="0" dirty="0" err="1">
                <a:ln>
                  <a:noFill/>
                </a:ln>
                <a:solidFill>
                  <a:srgbClr val="000000"/>
                </a:solidFill>
                <a:effectLst/>
                <a:latin typeface="JetBrains Mono"/>
              </a:rPr>
              <a:t>xstream</a:t>
            </a:r>
            <a:r>
              <a:rPr kumimoji="0" lang="en-VI" altLang="en-VI" sz="2000" b="0" i="0" u="none" strike="noStrike" cap="none" normalizeH="0" baseline="0" dirty="0">
                <a:ln>
                  <a:noFill/>
                </a:ln>
                <a:solidFill>
                  <a:srgbClr val="000000"/>
                </a:solidFill>
                <a:effectLst/>
                <a:latin typeface="JetBrains Mono"/>
              </a:rPr>
              <a:t> </a:t>
            </a:r>
            <a:r>
              <a:rPr kumimoji="0" lang="en-VI" altLang="en-VI" sz="2000" b="0" i="0" u="none" strike="noStrike" cap="none" normalizeH="0" baseline="0" dirty="0">
                <a:ln>
                  <a:noFill/>
                </a:ln>
                <a:solidFill>
                  <a:srgbClr val="080808"/>
                </a:solidFill>
                <a:effectLst/>
                <a:latin typeface="JetBrains Mono"/>
              </a:rPr>
              <a:t>= </a:t>
            </a:r>
            <a:r>
              <a:rPr kumimoji="0" lang="en-VI" altLang="en-VI" sz="2000" b="0" i="0" u="none" strike="noStrike" cap="none" normalizeH="0" baseline="0" dirty="0">
                <a:ln>
                  <a:noFill/>
                </a:ln>
                <a:solidFill>
                  <a:srgbClr val="0033B3"/>
                </a:solidFill>
                <a:effectLst/>
                <a:latin typeface="JetBrains Mono"/>
              </a:rPr>
              <a:t>new </a:t>
            </a:r>
            <a:r>
              <a:rPr kumimoji="0" lang="en-VI" altLang="en-VI" sz="2000" b="0" i="0" u="none" strike="noStrike" cap="none" normalizeH="0" baseline="0" dirty="0" err="1">
                <a:ln>
                  <a:noFill/>
                </a:ln>
                <a:solidFill>
                  <a:srgbClr val="080808"/>
                </a:solidFill>
                <a:effectLst/>
                <a:latin typeface="JetBrains Mono"/>
              </a:rPr>
              <a:t>XStream</a:t>
            </a:r>
            <a:r>
              <a:rPr kumimoji="0" lang="en-VI" altLang="en-VI" sz="2000" b="0" i="0" u="none" strike="noStrike" cap="none" normalizeH="0" baseline="0" dirty="0">
                <a:ln>
                  <a:noFill/>
                </a:ln>
                <a:solidFill>
                  <a:srgbClr val="080808"/>
                </a:solidFill>
                <a:effectLst/>
                <a:latin typeface="JetBrains Mono"/>
              </a:rPr>
              <a:t>(</a:t>
            </a:r>
            <a:r>
              <a:rPr kumimoji="0" lang="en-VI" altLang="en-VI" sz="2000" b="0" i="0" u="none" strike="noStrike" cap="none" normalizeH="0" baseline="0" dirty="0">
                <a:ln>
                  <a:noFill/>
                </a:ln>
                <a:solidFill>
                  <a:srgbClr val="0033B3"/>
                </a:solidFill>
                <a:effectLst/>
                <a:latin typeface="JetBrains Mono"/>
              </a:rPr>
              <a:t>new </a:t>
            </a:r>
            <a:r>
              <a:rPr kumimoji="0" lang="en-VI" altLang="en-VI" sz="2000" b="0" i="0" u="none" strike="noStrike" cap="none" normalizeH="0" baseline="0" dirty="0" err="1">
                <a:ln>
                  <a:noFill/>
                </a:ln>
                <a:solidFill>
                  <a:srgbClr val="080808"/>
                </a:solidFill>
                <a:effectLst/>
                <a:latin typeface="JetBrains Mono"/>
              </a:rPr>
              <a:t>DomDriver</a:t>
            </a:r>
            <a:r>
              <a:rPr kumimoji="0" lang="en-VI" altLang="en-VI" sz="2000" b="0" i="0" u="none" strike="noStrike" cap="none" normalizeH="0" baseline="0" dirty="0">
                <a:ln>
                  <a:noFill/>
                </a:ln>
                <a:solidFill>
                  <a:srgbClr val="080808"/>
                </a:solidFill>
                <a:effectLst/>
                <a:latin typeface="JetBrains Mono"/>
              </a:rPr>
              <a:t>());</a:t>
            </a:r>
            <a:r>
              <a:rPr kumimoji="0" lang="en-GB" altLang="en-VI" sz="2000" b="0" i="0" u="none" strike="noStrike" cap="none" normalizeH="0" baseline="0" dirty="0">
                <a:ln>
                  <a:noFill/>
                </a:ln>
                <a:solidFill>
                  <a:srgbClr val="080808"/>
                </a:solidFill>
                <a:effectLst/>
                <a:latin typeface="JetBrains Mono"/>
              </a:rPr>
              <a:t>    </a:t>
            </a:r>
            <a:r>
              <a:rPr kumimoji="0" lang="en-GB" altLang="en-VI" sz="2000" b="1" i="0" u="none" strike="noStrike" cap="none" normalizeH="0" baseline="0" dirty="0">
                <a:ln>
                  <a:noFill/>
                </a:ln>
                <a:solidFill>
                  <a:srgbClr val="00B050"/>
                </a:solidFill>
                <a:effectLst/>
                <a:latin typeface="JetBrains Mono"/>
              </a:rPr>
              <a:t>//1</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r>
              <a:rPr kumimoji="0" lang="en-VI" altLang="en-VI" sz="2000" b="0" i="0" u="none" strike="noStrike" cap="none" normalizeH="0" baseline="0" dirty="0" err="1">
                <a:ln>
                  <a:noFill/>
                </a:ln>
                <a:solidFill>
                  <a:srgbClr val="000000"/>
                </a:solidFill>
                <a:effectLst/>
                <a:latin typeface="JetBrains Mono"/>
              </a:rPr>
              <a:t>ObjectOutputStream</a:t>
            </a:r>
            <a:r>
              <a:rPr kumimoji="0" lang="en-VI" altLang="en-VI" sz="2000" b="0" i="0" u="none" strike="noStrike" cap="none" normalizeH="0" baseline="0" dirty="0">
                <a:ln>
                  <a:noFill/>
                </a:ln>
                <a:solidFill>
                  <a:srgbClr val="000000"/>
                </a:solidFill>
                <a:effectLst/>
                <a:latin typeface="JetBrains Mono"/>
              </a:rPr>
              <a:t> out </a:t>
            </a:r>
            <a:r>
              <a:rPr kumimoji="0" lang="en-VI" altLang="en-VI" sz="2000" b="0" i="0" u="none" strike="noStrike" cap="none" normalizeH="0" baseline="0" dirty="0">
                <a:ln>
                  <a:noFill/>
                </a:ln>
                <a:solidFill>
                  <a:srgbClr val="080808"/>
                </a:solidFill>
                <a:effectLst/>
                <a:latin typeface="JetBrains Mono"/>
              </a:rPr>
              <a:t>= </a:t>
            </a:r>
            <a:endParaRPr kumimoji="0" lang="en-GB" altLang="en-VI" sz="2000" b="0" i="0" u="none" strike="noStrike" cap="none" normalizeH="0" baseline="0" dirty="0">
              <a:ln>
                <a:noFill/>
              </a:ln>
              <a:solidFill>
                <a:srgbClr val="080808"/>
              </a:solidFill>
              <a:effectLst/>
              <a:latin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r>
              <a:rPr lang="en-GB" altLang="en-VI" sz="2000" dirty="0">
                <a:solidFill>
                  <a:srgbClr val="080808"/>
                </a:solidFill>
                <a:latin typeface="JetBrains Mono"/>
              </a:rPr>
              <a:t>		</a:t>
            </a:r>
            <a:r>
              <a:rPr kumimoji="0" lang="en-VI" altLang="en-VI" sz="2000" b="0" i="0" u="none" strike="noStrike" cap="none" normalizeH="0" baseline="0" dirty="0" err="1">
                <a:ln>
                  <a:noFill/>
                </a:ln>
                <a:solidFill>
                  <a:srgbClr val="000000"/>
                </a:solidFill>
                <a:effectLst/>
                <a:latin typeface="JetBrains Mono"/>
              </a:rPr>
              <a:t>xstream</a:t>
            </a:r>
            <a:r>
              <a:rPr kumimoji="0" lang="en-VI" altLang="en-VI" sz="2000" b="0" i="0" u="none" strike="noStrike" cap="none" normalizeH="0" baseline="0" dirty="0" err="1">
                <a:ln>
                  <a:noFill/>
                </a:ln>
                <a:solidFill>
                  <a:srgbClr val="080808"/>
                </a:solidFill>
                <a:effectLst/>
                <a:latin typeface="JetBrains Mono"/>
              </a:rPr>
              <a:t>.createObjectOutputStream</a:t>
            </a:r>
            <a:r>
              <a:rPr kumimoji="0" lang="en-VI" altLang="en-VI" sz="2000" b="0" i="0" u="none" strike="noStrike" cap="none" normalizeH="0" baseline="0" dirty="0">
                <a:ln>
                  <a:noFill/>
                </a:ln>
                <a:solidFill>
                  <a:srgbClr val="080808"/>
                </a:solidFill>
                <a:effectLst/>
                <a:latin typeface="JetBrains Mono"/>
              </a:rPr>
              <a:t>(</a:t>
            </a:r>
            <a:r>
              <a:rPr kumimoji="0" lang="en-VI" altLang="en-VI" sz="2000" b="0" i="0" u="none" strike="noStrike" cap="none" normalizeH="0" baseline="0" dirty="0">
                <a:ln>
                  <a:noFill/>
                </a:ln>
                <a:solidFill>
                  <a:srgbClr val="0033B3"/>
                </a:solidFill>
                <a:effectLst/>
                <a:latin typeface="JetBrains Mono"/>
              </a:rPr>
              <a:t>new </a:t>
            </a:r>
            <a:r>
              <a:rPr kumimoji="0" lang="en-VI" altLang="en-VI" sz="2000" b="0" i="0" u="none" strike="noStrike" cap="none" normalizeH="0" baseline="0" dirty="0" err="1">
                <a:ln>
                  <a:noFill/>
                </a:ln>
                <a:solidFill>
                  <a:srgbClr val="080808"/>
                </a:solidFill>
                <a:effectLst/>
                <a:latin typeface="JetBrains Mono"/>
              </a:rPr>
              <a:t>FileWriter</a:t>
            </a:r>
            <a:r>
              <a:rPr kumimoji="0" lang="en-VI" altLang="en-VI" sz="2000" b="0" i="0" u="none" strike="noStrike" cap="none" normalizeH="0" baseline="0" dirty="0">
                <a:ln>
                  <a:noFill/>
                </a:ln>
                <a:solidFill>
                  <a:srgbClr val="080808"/>
                </a:solidFill>
                <a:effectLst/>
                <a:latin typeface="JetBrains Mono"/>
              </a:rPr>
              <a:t>(</a:t>
            </a:r>
            <a:r>
              <a:rPr kumimoji="0" lang="en-VI" altLang="en-VI" sz="2000" b="0" i="0" u="none" strike="noStrike" cap="none" normalizeH="0" baseline="0" dirty="0">
                <a:ln>
                  <a:noFill/>
                </a:ln>
                <a:solidFill>
                  <a:srgbClr val="067D17"/>
                </a:solidFill>
                <a:effectLst/>
                <a:latin typeface="JetBrains Mono"/>
              </a:rPr>
              <a:t>"products.xml"</a:t>
            </a:r>
            <a:r>
              <a:rPr kumimoji="0" lang="en-VI" altLang="en-VI" sz="2000" b="0" i="0" u="none" strike="noStrike" cap="none" normalizeH="0" baseline="0" dirty="0">
                <a:ln>
                  <a:noFill/>
                </a:ln>
                <a:solidFill>
                  <a:srgbClr val="080808"/>
                </a:solidFill>
                <a:effectLst/>
                <a:latin typeface="JetBrains Mono"/>
              </a:rPr>
              <a:t>));</a:t>
            </a:r>
            <a:r>
              <a:rPr kumimoji="0" lang="en-GB" altLang="en-VI" sz="2000" b="0" i="0" u="none" strike="noStrike" cap="none" normalizeH="0" baseline="0" dirty="0">
                <a:ln>
                  <a:noFill/>
                </a:ln>
                <a:solidFill>
                  <a:srgbClr val="080808"/>
                </a:solidFill>
                <a:effectLst/>
                <a:latin typeface="JetBrains Mono"/>
              </a:rPr>
              <a:t>    </a:t>
            </a:r>
            <a:r>
              <a:rPr kumimoji="0" lang="en-GB" altLang="en-VI" sz="2000" b="1" i="0" u="none" strike="noStrike" cap="none" normalizeH="0" baseline="0" dirty="0">
                <a:ln>
                  <a:noFill/>
                </a:ln>
                <a:solidFill>
                  <a:srgbClr val="00B050"/>
                </a:solidFill>
                <a:effectLst/>
                <a:latin typeface="JetBrains Mono"/>
              </a:rPr>
              <a:t>//2</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r>
              <a:rPr kumimoji="0" lang="en-VI" altLang="en-VI" sz="2000" b="0" i="0" u="none" strike="noStrike" cap="none" normalizeH="0" baseline="0" dirty="0" err="1">
                <a:ln>
                  <a:noFill/>
                </a:ln>
                <a:solidFill>
                  <a:srgbClr val="000000"/>
                </a:solidFill>
                <a:effectLst/>
                <a:latin typeface="JetBrains Mono"/>
              </a:rPr>
              <a:t>out</a:t>
            </a:r>
            <a:r>
              <a:rPr kumimoji="0" lang="en-VI" altLang="en-VI" sz="2000" b="0" i="0" u="none" strike="noStrike" cap="none" normalizeH="0" baseline="0" dirty="0" err="1">
                <a:ln>
                  <a:noFill/>
                </a:ln>
                <a:solidFill>
                  <a:srgbClr val="080808"/>
                </a:solidFill>
                <a:effectLst/>
                <a:latin typeface="JetBrains Mono"/>
              </a:rPr>
              <a:t>.writeObject</a:t>
            </a:r>
            <a:r>
              <a:rPr kumimoji="0" lang="en-VI" altLang="en-VI" sz="2000" b="0" i="0" u="none" strike="noStrike" cap="none" normalizeH="0" baseline="0" dirty="0">
                <a:ln>
                  <a:noFill/>
                </a:ln>
                <a:solidFill>
                  <a:srgbClr val="080808"/>
                </a:solidFill>
                <a:effectLst/>
                <a:latin typeface="JetBrains Mono"/>
              </a:rPr>
              <a:t>(</a:t>
            </a:r>
            <a:r>
              <a:rPr kumimoji="0" lang="en-VI" altLang="en-VI" sz="2000" b="0" i="0" u="none" strike="noStrike" cap="none" normalizeH="0" baseline="0" dirty="0">
                <a:ln>
                  <a:noFill/>
                </a:ln>
                <a:solidFill>
                  <a:srgbClr val="871094"/>
                </a:solidFill>
                <a:effectLst/>
                <a:latin typeface="JetBrains Mono"/>
              </a:rPr>
              <a:t>products</a:t>
            </a:r>
            <a:r>
              <a:rPr kumimoji="0" lang="en-VI" altLang="en-VI" sz="2000" b="0" i="0" u="none" strike="noStrike" cap="none" normalizeH="0" baseline="0" dirty="0">
                <a:ln>
                  <a:noFill/>
                </a:ln>
                <a:solidFill>
                  <a:srgbClr val="080808"/>
                </a:solidFill>
                <a:effectLst/>
                <a:latin typeface="JetBrains Mono"/>
              </a:rPr>
              <a:t>);</a:t>
            </a:r>
            <a:r>
              <a:rPr kumimoji="0" lang="en-GB" altLang="en-VI" sz="2000" b="0" i="0" u="none" strike="noStrike" cap="none" normalizeH="0" baseline="0" dirty="0">
                <a:ln>
                  <a:noFill/>
                </a:ln>
                <a:solidFill>
                  <a:srgbClr val="080808"/>
                </a:solidFill>
                <a:effectLst/>
                <a:latin typeface="JetBrains Mono"/>
              </a:rPr>
              <a:t>     </a:t>
            </a:r>
            <a:r>
              <a:rPr kumimoji="0" lang="en-GB" altLang="en-VI" sz="2000" b="1" i="0" u="none" strike="noStrike" cap="none" normalizeH="0" baseline="0" dirty="0">
                <a:ln>
                  <a:noFill/>
                </a:ln>
                <a:solidFill>
                  <a:srgbClr val="00B050"/>
                </a:solidFill>
                <a:effectLst/>
                <a:latin typeface="JetBrains Mono"/>
              </a:rPr>
              <a:t>//3</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r>
              <a:rPr kumimoji="0" lang="en-VI" altLang="en-VI" sz="2000" b="0" i="0" u="none" strike="noStrike" cap="none" normalizeH="0" baseline="0" dirty="0" err="1">
                <a:ln>
                  <a:noFill/>
                </a:ln>
                <a:solidFill>
                  <a:srgbClr val="000000"/>
                </a:solidFill>
                <a:effectLst/>
                <a:latin typeface="JetBrains Mono"/>
              </a:rPr>
              <a:t>out</a:t>
            </a:r>
            <a:r>
              <a:rPr kumimoji="0" lang="en-VI" altLang="en-VI" sz="2000" b="0" i="0" u="none" strike="noStrike" cap="none" normalizeH="0" baseline="0" dirty="0" err="1">
                <a:ln>
                  <a:noFill/>
                </a:ln>
                <a:solidFill>
                  <a:srgbClr val="080808"/>
                </a:solidFill>
                <a:effectLst/>
                <a:latin typeface="JetBrains Mono"/>
              </a:rPr>
              <a:t>.close</a:t>
            </a:r>
            <a:r>
              <a:rPr kumimoji="0" lang="en-VI" altLang="en-VI" sz="2000" b="0" i="0" u="none" strike="noStrike" cap="none" normalizeH="0" baseline="0" dirty="0">
                <a:ln>
                  <a:noFill/>
                </a:ln>
                <a:solidFill>
                  <a:srgbClr val="080808"/>
                </a:solidFill>
                <a:effectLst/>
                <a:latin typeface="JetBrains Mono"/>
              </a:rPr>
              <a:t>();</a:t>
            </a:r>
            <a:r>
              <a:rPr kumimoji="0" lang="en-GB" altLang="en-VI" sz="2000" b="0" i="0" u="none" strike="noStrike" cap="none" normalizeH="0" baseline="0" dirty="0">
                <a:ln>
                  <a:noFill/>
                </a:ln>
                <a:solidFill>
                  <a:srgbClr val="080808"/>
                </a:solidFill>
                <a:effectLst/>
                <a:latin typeface="JetBrains Mono"/>
              </a:rPr>
              <a:t>       </a:t>
            </a:r>
            <a:r>
              <a:rPr kumimoji="0" lang="en-GB" altLang="en-VI" sz="2000" b="1" i="0" u="none" strike="noStrike" cap="none" normalizeH="0" baseline="0" dirty="0">
                <a:ln>
                  <a:noFill/>
                </a:ln>
                <a:solidFill>
                  <a:srgbClr val="00B050"/>
                </a:solidFill>
                <a:effectLst/>
                <a:latin typeface="JetBrains Mono"/>
              </a:rPr>
              <a:t>//4</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a:t>
            </a:r>
            <a:endParaRPr kumimoji="0" lang="en-VI" altLang="en-VI" sz="4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E22AE74F-4A2D-4CC0-924F-B9C693DBD1FC}"/>
              </a:ext>
            </a:extLst>
          </p:cNvPr>
          <p:cNvPicPr>
            <a:picLocks noChangeAspect="1"/>
          </p:cNvPicPr>
          <p:nvPr/>
        </p:nvPicPr>
        <p:blipFill>
          <a:blip r:embed="rId3"/>
          <a:stretch>
            <a:fillRect/>
          </a:stretch>
        </p:blipFill>
        <p:spPr>
          <a:xfrm>
            <a:off x="609600" y="161469"/>
            <a:ext cx="3439005" cy="3267531"/>
          </a:xfrm>
          <a:prstGeom prst="rect">
            <a:avLst/>
          </a:prstGeom>
          <a:ln>
            <a:noFill/>
          </a:ln>
          <a:effectLst>
            <a:outerShdw blurRad="292100" dist="139700" dir="2700000" algn="tl" rotWithShape="0">
              <a:srgbClr val="333333">
                <a:alpha val="65000"/>
              </a:srgbClr>
            </a:outerShdw>
          </a:effectLst>
        </p:spPr>
      </p:pic>
      <p:sp>
        <p:nvSpPr>
          <p:cNvPr id="8" name="Arrow: Left 7">
            <a:extLst>
              <a:ext uri="{FF2B5EF4-FFF2-40B4-BE49-F238E27FC236}">
                <a16:creationId xmlns:a16="http://schemas.microsoft.com/office/drawing/2014/main" id="{41894B99-3C09-45B7-AA32-F219B6DEC231}"/>
              </a:ext>
            </a:extLst>
          </p:cNvPr>
          <p:cNvSpPr/>
          <p:nvPr/>
        </p:nvSpPr>
        <p:spPr>
          <a:xfrm rot="10800000">
            <a:off x="228600" y="2895600"/>
            <a:ext cx="521209"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I"/>
          </a:p>
        </p:txBody>
      </p:sp>
      <p:cxnSp>
        <p:nvCxnSpPr>
          <p:cNvPr id="14" name="Straight Connector 13">
            <a:extLst>
              <a:ext uri="{FF2B5EF4-FFF2-40B4-BE49-F238E27FC236}">
                <a16:creationId xmlns:a16="http://schemas.microsoft.com/office/drawing/2014/main" id="{9C3DA545-5839-47F0-933F-59C8B3829335}"/>
              </a:ext>
            </a:extLst>
          </p:cNvPr>
          <p:cNvCxnSpPr/>
          <p:nvPr/>
        </p:nvCxnSpPr>
        <p:spPr>
          <a:xfrm>
            <a:off x="762000" y="3200400"/>
            <a:ext cx="10668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6968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2AE74F-4A2D-4CC0-924F-B9C693DBD1FC}"/>
              </a:ext>
            </a:extLst>
          </p:cNvPr>
          <p:cNvPicPr>
            <a:picLocks noChangeAspect="1"/>
          </p:cNvPicPr>
          <p:nvPr/>
        </p:nvPicPr>
        <p:blipFill>
          <a:blip r:embed="rId3"/>
          <a:stretch>
            <a:fillRect/>
          </a:stretch>
        </p:blipFill>
        <p:spPr>
          <a:xfrm>
            <a:off x="609600" y="161469"/>
            <a:ext cx="3439005" cy="3267531"/>
          </a:xfrm>
          <a:prstGeom prst="rect">
            <a:avLst/>
          </a:prstGeom>
          <a:ln>
            <a:noFill/>
          </a:ln>
          <a:effectLst>
            <a:outerShdw blurRad="292100" dist="139700" dir="2700000" algn="tl" rotWithShape="0">
              <a:srgbClr val="333333">
                <a:alpha val="65000"/>
              </a:srgbClr>
            </a:outerShdw>
          </a:effectLst>
        </p:spPr>
      </p:pic>
      <p:sp>
        <p:nvSpPr>
          <p:cNvPr id="8" name="Arrow: Left 7">
            <a:extLst>
              <a:ext uri="{FF2B5EF4-FFF2-40B4-BE49-F238E27FC236}">
                <a16:creationId xmlns:a16="http://schemas.microsoft.com/office/drawing/2014/main" id="{41894B99-3C09-45B7-AA32-F219B6DEC231}"/>
              </a:ext>
            </a:extLst>
          </p:cNvPr>
          <p:cNvSpPr/>
          <p:nvPr/>
        </p:nvSpPr>
        <p:spPr>
          <a:xfrm rot="10800000">
            <a:off x="240791" y="2667000"/>
            <a:ext cx="521209"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I"/>
          </a:p>
        </p:txBody>
      </p:sp>
      <p:sp>
        <p:nvSpPr>
          <p:cNvPr id="6" name="TextBox 5">
            <a:extLst>
              <a:ext uri="{FF2B5EF4-FFF2-40B4-BE49-F238E27FC236}">
                <a16:creationId xmlns:a16="http://schemas.microsoft.com/office/drawing/2014/main" id="{4413C905-CE87-4EC3-850E-1463AD704A94}"/>
              </a:ext>
            </a:extLst>
          </p:cNvPr>
          <p:cNvSpPr txBox="1"/>
          <p:nvPr/>
        </p:nvSpPr>
        <p:spPr>
          <a:xfrm>
            <a:off x="4266406" y="762000"/>
            <a:ext cx="7638117" cy="1477328"/>
          </a:xfrm>
          <a:prstGeom prst="rect">
            <a:avLst/>
          </a:prstGeom>
          <a:noFill/>
        </p:spPr>
        <p:txBody>
          <a:bodyPr wrap="none" rtlCol="0">
            <a:spAutoFit/>
          </a:bodyPr>
          <a:lstStyle/>
          <a:p>
            <a:r>
              <a:rPr lang="en-GB" dirty="0">
                <a:solidFill>
                  <a:srgbClr val="00B050"/>
                </a:solidFill>
              </a:rPr>
              <a:t>// 1. Provide a list of classes that you want to serialise</a:t>
            </a:r>
          </a:p>
          <a:p>
            <a:r>
              <a:rPr lang="en-GB" dirty="0">
                <a:solidFill>
                  <a:srgbClr val="00B050"/>
                </a:solidFill>
              </a:rPr>
              <a:t>// 2. Initialise an </a:t>
            </a:r>
            <a:r>
              <a:rPr lang="en-GB" dirty="0" err="1">
                <a:solidFill>
                  <a:srgbClr val="00B050"/>
                </a:solidFill>
              </a:rPr>
              <a:t>XStream</a:t>
            </a:r>
            <a:r>
              <a:rPr lang="en-GB" dirty="0">
                <a:solidFill>
                  <a:srgbClr val="00B050"/>
                </a:solidFill>
              </a:rPr>
              <a:t> object and set up security rules</a:t>
            </a:r>
          </a:p>
          <a:p>
            <a:r>
              <a:rPr lang="en-GB" dirty="0">
                <a:solidFill>
                  <a:srgbClr val="00B050"/>
                </a:solidFill>
              </a:rPr>
              <a:t>// 3. Use </a:t>
            </a:r>
            <a:r>
              <a:rPr lang="en-GB" dirty="0" err="1">
                <a:solidFill>
                  <a:srgbClr val="00B050"/>
                </a:solidFill>
              </a:rPr>
              <a:t>XStream</a:t>
            </a:r>
            <a:r>
              <a:rPr lang="en-GB" dirty="0">
                <a:solidFill>
                  <a:srgbClr val="00B050"/>
                </a:solidFill>
              </a:rPr>
              <a:t> object to initialize an </a:t>
            </a:r>
            <a:r>
              <a:rPr lang="en-GB" dirty="0" err="1">
                <a:solidFill>
                  <a:srgbClr val="00B050"/>
                </a:solidFill>
              </a:rPr>
              <a:t>Object</a:t>
            </a:r>
            <a:r>
              <a:rPr lang="en-GB" b="1" dirty="0" err="1">
                <a:solidFill>
                  <a:srgbClr val="00B050"/>
                </a:solidFill>
              </a:rPr>
              <a:t>Input</a:t>
            </a:r>
            <a:r>
              <a:rPr lang="en-GB" dirty="0" err="1">
                <a:solidFill>
                  <a:srgbClr val="00B050"/>
                </a:solidFill>
              </a:rPr>
              <a:t>Stream</a:t>
            </a:r>
            <a:r>
              <a:rPr lang="en-GB" dirty="0">
                <a:solidFill>
                  <a:srgbClr val="00B050"/>
                </a:solidFill>
              </a:rPr>
              <a:t> from a specific file</a:t>
            </a:r>
          </a:p>
          <a:p>
            <a:r>
              <a:rPr lang="en-GB" dirty="0">
                <a:solidFill>
                  <a:srgbClr val="00B050"/>
                </a:solidFill>
              </a:rPr>
              <a:t>// 4. Call the </a:t>
            </a:r>
            <a:r>
              <a:rPr lang="en-GB" dirty="0" err="1">
                <a:solidFill>
                  <a:srgbClr val="00B050"/>
                </a:solidFill>
              </a:rPr>
              <a:t>is.readObject</a:t>
            </a:r>
            <a:r>
              <a:rPr lang="en-GB" dirty="0">
                <a:solidFill>
                  <a:srgbClr val="00B050"/>
                </a:solidFill>
              </a:rPr>
              <a:t>() method to assign values to the object e.g. products</a:t>
            </a:r>
          </a:p>
          <a:p>
            <a:r>
              <a:rPr lang="en-GB" dirty="0">
                <a:solidFill>
                  <a:srgbClr val="00B050"/>
                </a:solidFill>
              </a:rPr>
              <a:t>// 5. Close the stream / file</a:t>
            </a:r>
          </a:p>
        </p:txBody>
      </p:sp>
      <p:cxnSp>
        <p:nvCxnSpPr>
          <p:cNvPr id="4" name="Straight Connector 3">
            <a:extLst>
              <a:ext uri="{FF2B5EF4-FFF2-40B4-BE49-F238E27FC236}">
                <a16:creationId xmlns:a16="http://schemas.microsoft.com/office/drawing/2014/main" id="{5DFAC8A2-C654-4C0C-9948-49BC744E2ED8}"/>
              </a:ext>
            </a:extLst>
          </p:cNvPr>
          <p:cNvCxnSpPr/>
          <p:nvPr/>
        </p:nvCxnSpPr>
        <p:spPr>
          <a:xfrm>
            <a:off x="762000" y="3048000"/>
            <a:ext cx="10668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Rectangle 1">
            <a:extLst>
              <a:ext uri="{FF2B5EF4-FFF2-40B4-BE49-F238E27FC236}">
                <a16:creationId xmlns:a16="http://schemas.microsoft.com/office/drawing/2014/main" id="{6843D9DD-6D2C-4D38-9800-55B5A76C0B2B}"/>
              </a:ext>
            </a:extLst>
          </p:cNvPr>
          <p:cNvSpPr>
            <a:spLocks noChangeArrowheads="1"/>
          </p:cNvSpPr>
          <p:nvPr/>
        </p:nvSpPr>
        <p:spPr bwMode="auto">
          <a:xfrm>
            <a:off x="3429797" y="2593776"/>
            <a:ext cx="8381203" cy="3785652"/>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VI" altLang="en-VI" sz="1600" b="0" i="0" u="none" strike="noStrike" cap="none" normalizeH="0" baseline="0" dirty="0">
                <a:ln>
                  <a:noFill/>
                </a:ln>
                <a:solidFill>
                  <a:srgbClr val="9E880D"/>
                </a:solidFill>
                <a:effectLst/>
                <a:latin typeface="JetBrains Mono"/>
              </a:rPr>
              <a:t>@SuppressWarnings</a:t>
            </a:r>
            <a:r>
              <a:rPr kumimoji="0" lang="en-VI" altLang="en-VI" sz="1600" b="0" i="0" u="none" strike="noStrike" cap="none" normalizeH="0" baseline="0" dirty="0">
                <a:ln>
                  <a:noFill/>
                </a:ln>
                <a:solidFill>
                  <a:srgbClr val="080808"/>
                </a:solidFill>
                <a:effectLst/>
                <a:latin typeface="JetBrains Mono"/>
              </a:rPr>
              <a:t>(</a:t>
            </a:r>
            <a:r>
              <a:rPr kumimoji="0" lang="en-VI" altLang="en-VI" sz="1600" b="0" i="0" u="none" strike="noStrike" cap="none" normalizeH="0" baseline="0" dirty="0">
                <a:ln>
                  <a:noFill/>
                </a:ln>
                <a:solidFill>
                  <a:srgbClr val="067D17"/>
                </a:solidFill>
                <a:effectLst/>
                <a:latin typeface="JetBrains Mono"/>
              </a:rPr>
              <a:t>"unchecked"</a:t>
            </a:r>
            <a:r>
              <a:rPr kumimoji="0" lang="en-VI" altLang="en-VI" sz="1600" b="0" i="0" u="none" strike="noStrike" cap="none" normalizeH="0" baseline="0" dirty="0">
                <a:ln>
                  <a:noFill/>
                </a:ln>
                <a:solidFill>
                  <a:srgbClr val="080808"/>
                </a:solidFill>
                <a:effectLst/>
                <a:latin typeface="JetBrains Mono"/>
              </a:rPr>
              <a:t>)</a:t>
            </a:r>
            <a:br>
              <a:rPr kumimoji="0" lang="en-VI" altLang="en-VI" sz="1600" b="0" i="0" u="none" strike="noStrike" cap="none" normalizeH="0" baseline="0" dirty="0">
                <a:ln>
                  <a:noFill/>
                </a:ln>
                <a:solidFill>
                  <a:srgbClr val="080808"/>
                </a:solidFill>
                <a:effectLst/>
                <a:latin typeface="JetBrains Mono"/>
              </a:rPr>
            </a:br>
            <a:r>
              <a:rPr kumimoji="0" lang="en-VI" altLang="en-VI" sz="1600" b="0" i="0" u="none" strike="noStrike" cap="none" normalizeH="0" baseline="0" dirty="0">
                <a:ln>
                  <a:noFill/>
                </a:ln>
                <a:solidFill>
                  <a:srgbClr val="0033B3"/>
                </a:solidFill>
                <a:effectLst/>
                <a:latin typeface="JetBrains Mono"/>
              </a:rPr>
              <a:t>public void </a:t>
            </a:r>
            <a:r>
              <a:rPr kumimoji="0" lang="en-VI" altLang="en-VI" sz="1600" b="0" i="0" u="none" strike="noStrike" cap="none" normalizeH="0" baseline="0" dirty="0">
                <a:ln>
                  <a:noFill/>
                </a:ln>
                <a:solidFill>
                  <a:srgbClr val="00627A"/>
                </a:solidFill>
                <a:effectLst/>
                <a:latin typeface="JetBrains Mono"/>
              </a:rPr>
              <a:t>load</a:t>
            </a:r>
            <a:r>
              <a:rPr kumimoji="0" lang="en-VI" altLang="en-VI" sz="1600" b="0" i="0" u="none" strike="noStrike" cap="none" normalizeH="0" baseline="0" dirty="0">
                <a:ln>
                  <a:noFill/>
                </a:ln>
                <a:solidFill>
                  <a:srgbClr val="080808"/>
                </a:solidFill>
                <a:effectLst/>
                <a:latin typeface="JetBrains Mono"/>
              </a:rPr>
              <a:t>() </a:t>
            </a:r>
            <a:r>
              <a:rPr kumimoji="0" lang="en-VI" altLang="en-VI" sz="1600" b="0" i="0" u="none" strike="noStrike" cap="none" normalizeH="0" baseline="0" dirty="0">
                <a:ln>
                  <a:noFill/>
                </a:ln>
                <a:solidFill>
                  <a:srgbClr val="0033B3"/>
                </a:solidFill>
                <a:effectLst/>
                <a:latin typeface="JetBrains Mono"/>
              </a:rPr>
              <a:t>throws </a:t>
            </a:r>
            <a:r>
              <a:rPr kumimoji="0" lang="en-VI" altLang="en-VI" sz="1600" b="0" i="0" u="none" strike="noStrike" cap="none" normalizeH="0" baseline="0" dirty="0">
                <a:ln>
                  <a:noFill/>
                </a:ln>
                <a:solidFill>
                  <a:srgbClr val="000000"/>
                </a:solidFill>
                <a:effectLst/>
                <a:latin typeface="JetBrains Mono"/>
              </a:rPr>
              <a:t>Exception </a:t>
            </a:r>
            <a:r>
              <a:rPr kumimoji="0" lang="en-VI" altLang="en-VI" sz="1600" b="0" i="0" u="none" strike="noStrike" cap="none" normalizeH="0" baseline="0" dirty="0">
                <a:ln>
                  <a:noFill/>
                </a:ln>
                <a:solidFill>
                  <a:srgbClr val="080808"/>
                </a:solidFill>
                <a:effectLst/>
                <a:latin typeface="JetBrains Mono"/>
              </a:rPr>
              <a:t>{</a:t>
            </a:r>
            <a:br>
              <a:rPr kumimoji="0" lang="en-VI" altLang="en-VI" sz="1600" b="0" i="0" u="none" strike="noStrike" cap="none" normalizeH="0" baseline="0" dirty="0">
                <a:ln>
                  <a:noFill/>
                </a:ln>
                <a:solidFill>
                  <a:srgbClr val="080808"/>
                </a:solidFill>
                <a:effectLst/>
                <a:latin typeface="JetBrains Mono"/>
              </a:rPr>
            </a:br>
            <a:r>
              <a:rPr kumimoji="0" lang="en-VI" altLang="en-VI" sz="1600" b="0" i="0" u="none" strike="noStrike" cap="none" normalizeH="0" baseline="0" dirty="0">
                <a:ln>
                  <a:noFill/>
                </a:ln>
                <a:solidFill>
                  <a:srgbClr val="080808"/>
                </a:solidFill>
                <a:effectLst/>
                <a:latin typeface="JetBrains Mono"/>
              </a:rPr>
              <a:t>    </a:t>
            </a:r>
            <a:r>
              <a:rPr kumimoji="0" lang="en-VI" altLang="en-VI" sz="1600" b="0" i="1" u="none" strike="noStrike" cap="none" normalizeH="0" baseline="0" dirty="0">
                <a:ln>
                  <a:noFill/>
                </a:ln>
                <a:solidFill>
                  <a:srgbClr val="8C8C8C"/>
                </a:solidFill>
                <a:effectLst/>
                <a:latin typeface="JetBrains Mono"/>
              </a:rPr>
              <a:t>//list of classes that you wish to include in the serialisation, separated by a comma</a:t>
            </a:r>
            <a:br>
              <a:rPr kumimoji="0" lang="en-VI" altLang="en-VI" sz="1600" b="0" i="1" u="none" strike="noStrike" cap="none" normalizeH="0" baseline="0" dirty="0">
                <a:ln>
                  <a:noFill/>
                </a:ln>
                <a:solidFill>
                  <a:srgbClr val="8C8C8C"/>
                </a:solidFill>
                <a:effectLst/>
                <a:latin typeface="JetBrains Mono"/>
              </a:rPr>
            </a:br>
            <a:r>
              <a:rPr kumimoji="0" lang="en-VI" altLang="en-VI" sz="1600" b="0" i="1" u="none" strike="noStrike" cap="none" normalizeH="0" baseline="0" dirty="0">
                <a:ln>
                  <a:noFill/>
                </a:ln>
                <a:solidFill>
                  <a:srgbClr val="8C8C8C"/>
                </a:solidFill>
                <a:effectLst/>
                <a:latin typeface="JetBrains Mono"/>
              </a:rPr>
              <a:t>    </a:t>
            </a:r>
            <a:r>
              <a:rPr kumimoji="0" lang="en-VI" altLang="en-VI" sz="1600" b="0" i="0" u="none" strike="noStrike" cap="none" normalizeH="0" baseline="0" dirty="0">
                <a:ln>
                  <a:noFill/>
                </a:ln>
                <a:solidFill>
                  <a:srgbClr val="000000"/>
                </a:solidFill>
                <a:effectLst/>
                <a:latin typeface="JetBrains Mono"/>
              </a:rPr>
              <a:t>Class</a:t>
            </a:r>
            <a:r>
              <a:rPr kumimoji="0" lang="en-VI" altLang="en-VI" sz="1600" b="0" i="0" u="none" strike="noStrike" cap="none" normalizeH="0" baseline="0" dirty="0">
                <a:ln>
                  <a:noFill/>
                </a:ln>
                <a:solidFill>
                  <a:srgbClr val="080808"/>
                </a:solidFill>
                <a:effectLst/>
                <a:latin typeface="JetBrains Mono"/>
              </a:rPr>
              <a:t>&lt;?&gt;[] </a:t>
            </a:r>
            <a:r>
              <a:rPr kumimoji="0" lang="en-VI" altLang="en-VI" sz="1600" b="0" i="0" u="none" strike="noStrike" cap="none" normalizeH="0" baseline="0" dirty="0">
                <a:ln>
                  <a:noFill/>
                </a:ln>
                <a:solidFill>
                  <a:srgbClr val="000000"/>
                </a:solidFill>
                <a:effectLst/>
                <a:latin typeface="JetBrains Mono"/>
              </a:rPr>
              <a:t>classes </a:t>
            </a:r>
            <a:r>
              <a:rPr kumimoji="0" lang="en-VI" altLang="en-VI" sz="1600" b="0" i="0" u="none" strike="noStrike" cap="none" normalizeH="0" baseline="0" dirty="0">
                <a:ln>
                  <a:noFill/>
                </a:ln>
                <a:solidFill>
                  <a:srgbClr val="080808"/>
                </a:solidFill>
                <a:effectLst/>
                <a:latin typeface="JetBrains Mono"/>
              </a:rPr>
              <a:t>= </a:t>
            </a:r>
            <a:r>
              <a:rPr kumimoji="0" lang="en-VI" altLang="en-VI" sz="1600" b="0" i="0" u="none" strike="noStrike" cap="none" normalizeH="0" baseline="0" dirty="0">
                <a:ln>
                  <a:noFill/>
                </a:ln>
                <a:solidFill>
                  <a:srgbClr val="0033B3"/>
                </a:solidFill>
                <a:effectLst/>
                <a:latin typeface="JetBrains Mono"/>
              </a:rPr>
              <a:t>new </a:t>
            </a:r>
            <a:r>
              <a:rPr kumimoji="0" lang="en-VI" altLang="en-VI" sz="1600" b="0" i="0" u="none" strike="noStrike" cap="none" normalizeH="0" baseline="0" dirty="0">
                <a:ln>
                  <a:noFill/>
                </a:ln>
                <a:solidFill>
                  <a:srgbClr val="080808"/>
                </a:solidFill>
                <a:effectLst/>
                <a:latin typeface="JetBrains Mono"/>
              </a:rPr>
              <a:t>Class[] { </a:t>
            </a:r>
            <a:r>
              <a:rPr kumimoji="0" lang="en-VI" altLang="en-VI" sz="1600" b="0" i="0" u="none" strike="noStrike" cap="none" normalizeH="0" baseline="0" dirty="0" err="1">
                <a:ln>
                  <a:noFill/>
                </a:ln>
                <a:solidFill>
                  <a:srgbClr val="000000"/>
                </a:solidFill>
                <a:effectLst/>
                <a:latin typeface="JetBrains Mono"/>
              </a:rPr>
              <a:t>Product</a:t>
            </a:r>
            <a:r>
              <a:rPr kumimoji="0" lang="en-VI" altLang="en-VI" sz="1600" b="0" i="0" u="none" strike="noStrike" cap="none" normalizeH="0" baseline="0" dirty="0" err="1">
                <a:ln>
                  <a:noFill/>
                </a:ln>
                <a:solidFill>
                  <a:srgbClr val="080808"/>
                </a:solidFill>
                <a:effectLst/>
                <a:latin typeface="JetBrains Mono"/>
              </a:rPr>
              <a:t>.</a:t>
            </a:r>
            <a:r>
              <a:rPr kumimoji="0" lang="en-VI" altLang="en-VI" sz="1600" b="0" i="0" u="none" strike="noStrike" cap="none" normalizeH="0" baseline="0" dirty="0" err="1">
                <a:ln>
                  <a:noFill/>
                </a:ln>
                <a:solidFill>
                  <a:srgbClr val="0033B3"/>
                </a:solidFill>
                <a:effectLst/>
                <a:latin typeface="JetBrains Mono"/>
              </a:rPr>
              <a:t>class</a:t>
            </a:r>
            <a:r>
              <a:rPr kumimoji="0" lang="en-VI" altLang="en-VI" sz="1600" b="0" i="0" u="none" strike="noStrike" cap="none" normalizeH="0" baseline="0" dirty="0">
                <a:ln>
                  <a:noFill/>
                </a:ln>
                <a:solidFill>
                  <a:srgbClr val="0033B3"/>
                </a:solidFill>
                <a:effectLst/>
                <a:latin typeface="JetBrains Mono"/>
              </a:rPr>
              <a:t> </a:t>
            </a:r>
            <a:r>
              <a:rPr kumimoji="0" lang="en-VI" altLang="en-VI" sz="1600" b="0" i="0" u="none" strike="noStrike" cap="none" normalizeH="0" baseline="0" dirty="0">
                <a:ln>
                  <a:noFill/>
                </a:ln>
                <a:solidFill>
                  <a:srgbClr val="080808"/>
                </a:solidFill>
                <a:effectLst/>
                <a:latin typeface="JetBrains Mono"/>
              </a:rPr>
              <a:t>};</a:t>
            </a:r>
            <a:r>
              <a:rPr kumimoji="0" lang="en-GB" altLang="en-VI" sz="1600" b="0" i="0" u="none" strike="noStrike" cap="none" normalizeH="0" baseline="0" dirty="0">
                <a:ln>
                  <a:noFill/>
                </a:ln>
                <a:solidFill>
                  <a:srgbClr val="080808"/>
                </a:solidFill>
                <a:effectLst/>
                <a:latin typeface="JetBrains Mono"/>
              </a:rPr>
              <a:t>     </a:t>
            </a:r>
            <a:r>
              <a:rPr kumimoji="0" lang="en-GB" altLang="en-VI" sz="1600" b="1" i="0" u="none" strike="noStrike" cap="none" normalizeH="0" baseline="0" dirty="0">
                <a:ln>
                  <a:noFill/>
                </a:ln>
                <a:solidFill>
                  <a:srgbClr val="00B050"/>
                </a:solidFill>
                <a:effectLst/>
                <a:latin typeface="JetBrains Mono"/>
              </a:rPr>
              <a:t>//1</a:t>
            </a:r>
            <a:br>
              <a:rPr kumimoji="0" lang="en-VI" altLang="en-VI" sz="1600" b="0" i="0" u="none" strike="noStrike" cap="none" normalizeH="0" baseline="0" dirty="0">
                <a:ln>
                  <a:noFill/>
                </a:ln>
                <a:solidFill>
                  <a:srgbClr val="080808"/>
                </a:solidFill>
                <a:effectLst/>
                <a:latin typeface="JetBrains Mono"/>
              </a:rPr>
            </a:br>
            <a:br>
              <a:rPr kumimoji="0" lang="en-VI" altLang="en-VI" sz="1600" b="0" i="0" u="none" strike="noStrike" cap="none" normalizeH="0" baseline="0" dirty="0">
                <a:ln>
                  <a:noFill/>
                </a:ln>
                <a:solidFill>
                  <a:srgbClr val="080808"/>
                </a:solidFill>
                <a:effectLst/>
                <a:latin typeface="JetBrains Mono"/>
              </a:rPr>
            </a:br>
            <a:r>
              <a:rPr kumimoji="0" lang="en-VI" altLang="en-VI" sz="1600" b="0" i="0" u="none" strike="noStrike" cap="none" normalizeH="0" baseline="0" dirty="0">
                <a:ln>
                  <a:noFill/>
                </a:ln>
                <a:solidFill>
                  <a:srgbClr val="080808"/>
                </a:solidFill>
                <a:effectLst/>
                <a:latin typeface="JetBrains Mono"/>
              </a:rPr>
              <a:t>    </a:t>
            </a:r>
            <a:r>
              <a:rPr kumimoji="0" lang="en-VI" altLang="en-VI" sz="1600" b="0" i="1" u="none" strike="noStrike" cap="none" normalizeH="0" baseline="0" dirty="0">
                <a:ln>
                  <a:noFill/>
                </a:ln>
                <a:solidFill>
                  <a:srgbClr val="8C8C8C"/>
                </a:solidFill>
                <a:effectLst/>
                <a:latin typeface="JetBrains Mono"/>
              </a:rPr>
              <a:t>//setting up the </a:t>
            </a:r>
            <a:r>
              <a:rPr kumimoji="0" lang="en-VI" altLang="en-VI" sz="1600" b="0" i="1" u="none" strike="noStrike" cap="none" normalizeH="0" baseline="0" dirty="0" err="1">
                <a:ln>
                  <a:noFill/>
                </a:ln>
                <a:solidFill>
                  <a:srgbClr val="8C8C8C"/>
                </a:solidFill>
                <a:effectLst/>
                <a:latin typeface="JetBrains Mono"/>
              </a:rPr>
              <a:t>xstream</a:t>
            </a:r>
            <a:r>
              <a:rPr kumimoji="0" lang="en-VI" altLang="en-VI" sz="1600" b="0" i="1" u="none" strike="noStrike" cap="none" normalizeH="0" baseline="0" dirty="0">
                <a:ln>
                  <a:noFill/>
                </a:ln>
                <a:solidFill>
                  <a:srgbClr val="8C8C8C"/>
                </a:solidFill>
                <a:effectLst/>
                <a:latin typeface="JetBrains Mono"/>
              </a:rPr>
              <a:t> object with default security and the above classes</a:t>
            </a:r>
            <a:br>
              <a:rPr kumimoji="0" lang="en-VI" altLang="en-VI" sz="1600" b="0" i="1" u="none" strike="noStrike" cap="none" normalizeH="0" baseline="0" dirty="0">
                <a:ln>
                  <a:noFill/>
                </a:ln>
                <a:solidFill>
                  <a:srgbClr val="8C8C8C"/>
                </a:solidFill>
                <a:effectLst/>
                <a:latin typeface="JetBrains Mono"/>
              </a:rPr>
            </a:br>
            <a:r>
              <a:rPr kumimoji="0" lang="en-VI" altLang="en-VI" sz="1600" b="0" i="1" u="none" strike="noStrike" cap="none" normalizeH="0" baseline="0" dirty="0">
                <a:ln>
                  <a:noFill/>
                </a:ln>
                <a:solidFill>
                  <a:srgbClr val="8C8C8C"/>
                </a:solidFill>
                <a:effectLst/>
                <a:latin typeface="JetBrains Mono"/>
              </a:rPr>
              <a:t>    </a:t>
            </a:r>
            <a:r>
              <a:rPr kumimoji="0" lang="en-VI" altLang="en-VI" sz="1600" b="0" i="0" u="none" strike="noStrike" cap="none" normalizeH="0" baseline="0" dirty="0" err="1">
                <a:ln>
                  <a:noFill/>
                </a:ln>
                <a:solidFill>
                  <a:srgbClr val="000000"/>
                </a:solidFill>
                <a:effectLst/>
                <a:latin typeface="JetBrains Mono"/>
              </a:rPr>
              <a:t>XStream</a:t>
            </a:r>
            <a:r>
              <a:rPr kumimoji="0" lang="en-VI" altLang="en-VI" sz="1600" b="0" i="0" u="none" strike="noStrike" cap="none" normalizeH="0" baseline="0" dirty="0">
                <a:ln>
                  <a:noFill/>
                </a:ln>
                <a:solidFill>
                  <a:srgbClr val="000000"/>
                </a:solidFill>
                <a:effectLst/>
                <a:latin typeface="JetBrains Mono"/>
              </a:rPr>
              <a:t> </a:t>
            </a:r>
            <a:r>
              <a:rPr kumimoji="0" lang="en-VI" altLang="en-VI" sz="1600" b="0" i="0" u="none" strike="noStrike" cap="none" normalizeH="0" baseline="0" dirty="0" err="1">
                <a:ln>
                  <a:noFill/>
                </a:ln>
                <a:solidFill>
                  <a:srgbClr val="000000"/>
                </a:solidFill>
                <a:effectLst/>
                <a:latin typeface="JetBrains Mono"/>
              </a:rPr>
              <a:t>xstream</a:t>
            </a:r>
            <a:r>
              <a:rPr kumimoji="0" lang="en-VI" altLang="en-VI" sz="1600" b="0" i="0" u="none" strike="noStrike" cap="none" normalizeH="0" baseline="0" dirty="0">
                <a:ln>
                  <a:noFill/>
                </a:ln>
                <a:solidFill>
                  <a:srgbClr val="000000"/>
                </a:solidFill>
                <a:effectLst/>
                <a:latin typeface="JetBrains Mono"/>
              </a:rPr>
              <a:t> </a:t>
            </a:r>
            <a:r>
              <a:rPr kumimoji="0" lang="en-VI" altLang="en-VI" sz="1600" b="0" i="0" u="none" strike="noStrike" cap="none" normalizeH="0" baseline="0" dirty="0">
                <a:ln>
                  <a:noFill/>
                </a:ln>
                <a:solidFill>
                  <a:srgbClr val="080808"/>
                </a:solidFill>
                <a:effectLst/>
                <a:latin typeface="JetBrains Mono"/>
              </a:rPr>
              <a:t>= </a:t>
            </a:r>
            <a:r>
              <a:rPr kumimoji="0" lang="en-VI" altLang="en-VI" sz="1600" b="0" i="0" u="none" strike="noStrike" cap="none" normalizeH="0" baseline="0" dirty="0">
                <a:ln>
                  <a:noFill/>
                </a:ln>
                <a:solidFill>
                  <a:srgbClr val="0033B3"/>
                </a:solidFill>
                <a:effectLst/>
                <a:latin typeface="JetBrains Mono"/>
              </a:rPr>
              <a:t>new </a:t>
            </a:r>
            <a:r>
              <a:rPr kumimoji="0" lang="en-VI" altLang="en-VI" sz="1600" b="0" i="0" u="none" strike="noStrike" cap="none" normalizeH="0" baseline="0" dirty="0" err="1">
                <a:ln>
                  <a:noFill/>
                </a:ln>
                <a:solidFill>
                  <a:srgbClr val="080808"/>
                </a:solidFill>
                <a:effectLst/>
                <a:latin typeface="JetBrains Mono"/>
              </a:rPr>
              <a:t>XStream</a:t>
            </a:r>
            <a:r>
              <a:rPr kumimoji="0" lang="en-VI" altLang="en-VI" sz="1600" b="0" i="0" u="none" strike="noStrike" cap="none" normalizeH="0" baseline="0" dirty="0">
                <a:ln>
                  <a:noFill/>
                </a:ln>
                <a:solidFill>
                  <a:srgbClr val="080808"/>
                </a:solidFill>
                <a:effectLst/>
                <a:latin typeface="JetBrains Mono"/>
              </a:rPr>
              <a:t>(</a:t>
            </a:r>
            <a:r>
              <a:rPr kumimoji="0" lang="en-VI" altLang="en-VI" sz="1600" b="0" i="0" u="none" strike="noStrike" cap="none" normalizeH="0" baseline="0" dirty="0">
                <a:ln>
                  <a:noFill/>
                </a:ln>
                <a:solidFill>
                  <a:srgbClr val="0033B3"/>
                </a:solidFill>
                <a:effectLst/>
                <a:latin typeface="JetBrains Mono"/>
              </a:rPr>
              <a:t>new </a:t>
            </a:r>
            <a:r>
              <a:rPr kumimoji="0" lang="en-VI" altLang="en-VI" sz="1600" b="0" i="0" u="none" strike="noStrike" cap="none" normalizeH="0" baseline="0" dirty="0" err="1">
                <a:ln>
                  <a:noFill/>
                </a:ln>
                <a:solidFill>
                  <a:srgbClr val="080808"/>
                </a:solidFill>
                <a:effectLst/>
                <a:latin typeface="JetBrains Mono"/>
              </a:rPr>
              <a:t>DomDriver</a:t>
            </a:r>
            <a:r>
              <a:rPr kumimoji="0" lang="en-VI" altLang="en-VI" sz="1600" b="0" i="0" u="none" strike="noStrike" cap="none" normalizeH="0" baseline="0" dirty="0">
                <a:ln>
                  <a:noFill/>
                </a:ln>
                <a:solidFill>
                  <a:srgbClr val="080808"/>
                </a:solidFill>
                <a:effectLst/>
                <a:latin typeface="JetBrains Mono"/>
              </a:rPr>
              <a:t>());</a:t>
            </a:r>
            <a:r>
              <a:rPr kumimoji="0" lang="en-GB" altLang="en-VI" sz="1600" b="0" i="0" u="none" strike="noStrike" cap="none" normalizeH="0" baseline="0" dirty="0">
                <a:ln>
                  <a:noFill/>
                </a:ln>
                <a:solidFill>
                  <a:srgbClr val="080808"/>
                </a:solidFill>
                <a:effectLst/>
                <a:latin typeface="JetBrains Mono"/>
              </a:rPr>
              <a:t>    </a:t>
            </a:r>
            <a:br>
              <a:rPr kumimoji="0" lang="en-VI" altLang="en-VI" sz="1600" b="0" i="0" u="none" strike="noStrike" cap="none" normalizeH="0" baseline="0" dirty="0">
                <a:ln>
                  <a:noFill/>
                </a:ln>
                <a:solidFill>
                  <a:srgbClr val="080808"/>
                </a:solidFill>
                <a:effectLst/>
                <a:latin typeface="JetBrains Mono"/>
              </a:rPr>
            </a:br>
            <a:r>
              <a:rPr kumimoji="0" lang="en-VI" altLang="en-VI" sz="1600" b="0" i="0" u="none" strike="noStrike" cap="none" normalizeH="0" baseline="0" dirty="0">
                <a:ln>
                  <a:noFill/>
                </a:ln>
                <a:solidFill>
                  <a:srgbClr val="080808"/>
                </a:solidFill>
                <a:effectLst/>
                <a:latin typeface="JetBrains Mono"/>
              </a:rPr>
              <a:t>    </a:t>
            </a:r>
            <a:r>
              <a:rPr kumimoji="0" lang="en-VI" altLang="en-VI" sz="1600" b="0" i="0" u="none" strike="noStrike" cap="none" normalizeH="0" baseline="0" dirty="0" err="1">
                <a:ln>
                  <a:noFill/>
                </a:ln>
                <a:solidFill>
                  <a:srgbClr val="000000"/>
                </a:solidFill>
                <a:effectLst/>
                <a:latin typeface="JetBrains Mono"/>
              </a:rPr>
              <a:t>XStream</a:t>
            </a:r>
            <a:r>
              <a:rPr kumimoji="0" lang="en-VI" altLang="en-VI" sz="1600" b="0" i="0" u="none" strike="noStrike" cap="none" normalizeH="0" baseline="0" dirty="0" err="1">
                <a:ln>
                  <a:noFill/>
                </a:ln>
                <a:solidFill>
                  <a:srgbClr val="080808"/>
                </a:solidFill>
                <a:effectLst/>
                <a:latin typeface="JetBrains Mono"/>
              </a:rPr>
              <a:t>.</a:t>
            </a:r>
            <a:r>
              <a:rPr kumimoji="0" lang="en-VI" altLang="en-VI" sz="1600" b="0" i="1" u="none" strike="noStrike" cap="none" normalizeH="0" baseline="0" dirty="0" err="1">
                <a:ln>
                  <a:noFill/>
                </a:ln>
                <a:solidFill>
                  <a:srgbClr val="080808"/>
                </a:solidFill>
                <a:effectLst/>
                <a:latin typeface="JetBrains Mono"/>
              </a:rPr>
              <a:t>setupDefaultSecurity</a:t>
            </a:r>
            <a:r>
              <a:rPr kumimoji="0" lang="en-VI" altLang="en-VI" sz="1600" b="0" i="0" u="none" strike="noStrike" cap="none" normalizeH="0" baseline="0" dirty="0">
                <a:ln>
                  <a:noFill/>
                </a:ln>
                <a:solidFill>
                  <a:srgbClr val="080808"/>
                </a:solidFill>
                <a:effectLst/>
                <a:latin typeface="JetBrains Mono"/>
              </a:rPr>
              <a:t>(</a:t>
            </a:r>
            <a:r>
              <a:rPr kumimoji="0" lang="en-VI" altLang="en-VI" sz="1600" b="0" i="0" u="none" strike="noStrike" cap="none" normalizeH="0" baseline="0" dirty="0" err="1">
                <a:ln>
                  <a:noFill/>
                </a:ln>
                <a:solidFill>
                  <a:srgbClr val="000000"/>
                </a:solidFill>
                <a:effectLst/>
                <a:latin typeface="JetBrains Mono"/>
              </a:rPr>
              <a:t>xstream</a:t>
            </a:r>
            <a:r>
              <a:rPr kumimoji="0" lang="en-VI" altLang="en-VI" sz="1600" b="0" i="0" u="none" strike="noStrike" cap="none" normalizeH="0" baseline="0" dirty="0">
                <a:ln>
                  <a:noFill/>
                </a:ln>
                <a:solidFill>
                  <a:srgbClr val="080808"/>
                </a:solidFill>
                <a:effectLst/>
                <a:latin typeface="JetBrains Mono"/>
              </a:rPr>
              <a:t>);</a:t>
            </a:r>
            <a:r>
              <a:rPr kumimoji="0" lang="en-GB" altLang="en-VI" sz="1600" b="0" i="0" u="none" strike="noStrike" cap="none" normalizeH="0" baseline="0" dirty="0">
                <a:ln>
                  <a:noFill/>
                </a:ln>
                <a:solidFill>
                  <a:srgbClr val="080808"/>
                </a:solidFill>
                <a:effectLst/>
                <a:latin typeface="JetBrains Mono"/>
              </a:rPr>
              <a:t>                                 </a:t>
            </a:r>
            <a:r>
              <a:rPr kumimoji="0" lang="en-GB" altLang="en-VI" sz="1600" b="1" i="0" u="none" strike="noStrike" cap="none" normalizeH="0" baseline="0" dirty="0">
                <a:ln>
                  <a:noFill/>
                </a:ln>
                <a:solidFill>
                  <a:srgbClr val="00B050"/>
                </a:solidFill>
                <a:effectLst/>
                <a:latin typeface="JetBrains Mono"/>
              </a:rPr>
              <a:t>//2</a:t>
            </a:r>
            <a:r>
              <a:rPr kumimoji="0" lang="en-GB" altLang="en-VI" sz="1600" b="0" i="0" u="none" strike="noStrike" cap="none" normalizeH="0" baseline="0" dirty="0">
                <a:ln>
                  <a:noFill/>
                </a:ln>
                <a:solidFill>
                  <a:srgbClr val="080808"/>
                </a:solidFill>
                <a:effectLst/>
                <a:latin typeface="JetBrains Mono"/>
              </a:rPr>
              <a:t>       </a:t>
            </a:r>
            <a:br>
              <a:rPr kumimoji="0" lang="en-VI" altLang="en-VI" sz="1600" b="0" i="0" u="none" strike="noStrike" cap="none" normalizeH="0" baseline="0" dirty="0">
                <a:ln>
                  <a:noFill/>
                </a:ln>
                <a:solidFill>
                  <a:srgbClr val="080808"/>
                </a:solidFill>
                <a:effectLst/>
                <a:latin typeface="JetBrains Mono"/>
              </a:rPr>
            </a:br>
            <a:r>
              <a:rPr kumimoji="0" lang="en-VI" altLang="en-VI" sz="1600" b="0" i="0" u="none" strike="noStrike" cap="none" normalizeH="0" baseline="0" dirty="0">
                <a:ln>
                  <a:noFill/>
                </a:ln>
                <a:solidFill>
                  <a:srgbClr val="080808"/>
                </a:solidFill>
                <a:effectLst/>
                <a:latin typeface="JetBrains Mono"/>
              </a:rPr>
              <a:t>    </a:t>
            </a:r>
            <a:r>
              <a:rPr kumimoji="0" lang="en-VI" altLang="en-VI" sz="1600" b="0" i="0" u="none" strike="noStrike" cap="none" normalizeH="0" baseline="0" dirty="0" err="1">
                <a:ln>
                  <a:noFill/>
                </a:ln>
                <a:solidFill>
                  <a:srgbClr val="000000"/>
                </a:solidFill>
                <a:effectLst/>
                <a:latin typeface="JetBrains Mono"/>
              </a:rPr>
              <a:t>xstream</a:t>
            </a:r>
            <a:r>
              <a:rPr kumimoji="0" lang="en-VI" altLang="en-VI" sz="1600" b="0" i="0" u="none" strike="noStrike" cap="none" normalizeH="0" baseline="0" dirty="0" err="1">
                <a:ln>
                  <a:noFill/>
                </a:ln>
                <a:solidFill>
                  <a:srgbClr val="080808"/>
                </a:solidFill>
                <a:effectLst/>
                <a:latin typeface="JetBrains Mono"/>
              </a:rPr>
              <a:t>.allowTypes</a:t>
            </a:r>
            <a:r>
              <a:rPr kumimoji="0" lang="en-VI" altLang="en-VI" sz="1600" b="0" i="0" u="none" strike="noStrike" cap="none" normalizeH="0" baseline="0" dirty="0">
                <a:ln>
                  <a:noFill/>
                </a:ln>
                <a:solidFill>
                  <a:srgbClr val="080808"/>
                </a:solidFill>
                <a:effectLst/>
                <a:latin typeface="JetBrains Mono"/>
              </a:rPr>
              <a:t>(</a:t>
            </a:r>
            <a:r>
              <a:rPr kumimoji="0" lang="en-VI" altLang="en-VI" sz="1600" b="0" i="0" u="none" strike="noStrike" cap="none" normalizeH="0" baseline="0" dirty="0">
                <a:ln>
                  <a:noFill/>
                </a:ln>
                <a:solidFill>
                  <a:srgbClr val="000000"/>
                </a:solidFill>
                <a:effectLst/>
                <a:latin typeface="JetBrains Mono"/>
              </a:rPr>
              <a:t>classes</a:t>
            </a:r>
            <a:r>
              <a:rPr kumimoji="0" lang="en-VI" altLang="en-VI" sz="1600" b="0" i="0" u="none" strike="noStrike" cap="none" normalizeH="0" baseline="0" dirty="0">
                <a:ln>
                  <a:noFill/>
                </a:ln>
                <a:solidFill>
                  <a:srgbClr val="080808"/>
                </a:solidFill>
                <a:effectLst/>
                <a:latin typeface="JetBrains Mono"/>
              </a:rPr>
              <a:t>);</a:t>
            </a:r>
            <a:br>
              <a:rPr kumimoji="0" lang="en-VI" altLang="en-VI" sz="1600" b="0" i="0" u="none" strike="noStrike" cap="none" normalizeH="0" baseline="0" dirty="0">
                <a:ln>
                  <a:noFill/>
                </a:ln>
                <a:solidFill>
                  <a:srgbClr val="080808"/>
                </a:solidFill>
                <a:effectLst/>
                <a:latin typeface="JetBrains Mono"/>
              </a:rPr>
            </a:br>
            <a:br>
              <a:rPr kumimoji="0" lang="en-VI" altLang="en-VI" sz="1600" b="0" i="0" u="none" strike="noStrike" cap="none" normalizeH="0" baseline="0" dirty="0">
                <a:ln>
                  <a:noFill/>
                </a:ln>
                <a:solidFill>
                  <a:srgbClr val="080808"/>
                </a:solidFill>
                <a:effectLst/>
                <a:latin typeface="JetBrains Mono"/>
              </a:rPr>
            </a:br>
            <a:r>
              <a:rPr kumimoji="0" lang="en-VI" altLang="en-VI" sz="1600" b="0" i="0" u="none" strike="noStrike" cap="none" normalizeH="0" baseline="0" dirty="0">
                <a:ln>
                  <a:noFill/>
                </a:ln>
                <a:solidFill>
                  <a:srgbClr val="080808"/>
                </a:solidFill>
                <a:effectLst/>
                <a:latin typeface="JetBrains Mono"/>
              </a:rPr>
              <a:t>    </a:t>
            </a:r>
            <a:r>
              <a:rPr kumimoji="0" lang="en-VI" altLang="en-VI" sz="1600" b="0" i="1" u="none" strike="noStrike" cap="none" normalizeH="0" baseline="0" dirty="0">
                <a:ln>
                  <a:noFill/>
                </a:ln>
                <a:solidFill>
                  <a:srgbClr val="8C8C8C"/>
                </a:solidFill>
                <a:effectLst/>
                <a:latin typeface="JetBrains Mono"/>
              </a:rPr>
              <a:t>//doing the actual serialisation to an XML file</a:t>
            </a:r>
            <a:br>
              <a:rPr kumimoji="0" lang="en-VI" altLang="en-VI" sz="1600" b="0" i="1" u="none" strike="noStrike" cap="none" normalizeH="0" baseline="0" dirty="0">
                <a:ln>
                  <a:noFill/>
                </a:ln>
                <a:solidFill>
                  <a:srgbClr val="8C8C8C"/>
                </a:solidFill>
                <a:effectLst/>
                <a:latin typeface="JetBrains Mono"/>
              </a:rPr>
            </a:br>
            <a:r>
              <a:rPr kumimoji="0" lang="en-VI" altLang="en-VI" sz="1600" b="0" i="1" u="none" strike="noStrike" cap="none" normalizeH="0" baseline="0" dirty="0">
                <a:ln>
                  <a:noFill/>
                </a:ln>
                <a:solidFill>
                  <a:srgbClr val="8C8C8C"/>
                </a:solidFill>
                <a:effectLst/>
                <a:latin typeface="JetBrains Mono"/>
              </a:rPr>
              <a:t>    </a:t>
            </a:r>
            <a:r>
              <a:rPr kumimoji="0" lang="en-VI" altLang="en-VI" sz="1600" b="0" i="0" u="none" strike="noStrike" cap="none" normalizeH="0" baseline="0" dirty="0" err="1">
                <a:ln>
                  <a:noFill/>
                </a:ln>
                <a:solidFill>
                  <a:srgbClr val="000000"/>
                </a:solidFill>
                <a:effectLst/>
                <a:latin typeface="JetBrains Mono"/>
              </a:rPr>
              <a:t>ObjectInputStream</a:t>
            </a:r>
            <a:r>
              <a:rPr kumimoji="0" lang="en-VI" altLang="en-VI" sz="1600" b="0" i="0" u="none" strike="noStrike" cap="none" normalizeH="0" baseline="0" dirty="0">
                <a:ln>
                  <a:noFill/>
                </a:ln>
                <a:solidFill>
                  <a:srgbClr val="000000"/>
                </a:solidFill>
                <a:effectLst/>
                <a:latin typeface="JetBrains Mono"/>
              </a:rPr>
              <a:t> is </a:t>
            </a:r>
            <a:r>
              <a:rPr kumimoji="0" lang="en-VI" altLang="en-VI" sz="1600" b="0" i="0" u="none" strike="noStrike" cap="none" normalizeH="0" baseline="0" dirty="0">
                <a:ln>
                  <a:noFill/>
                </a:ln>
                <a:solidFill>
                  <a:srgbClr val="080808"/>
                </a:solidFill>
                <a:effectLst/>
                <a:latin typeface="JetBrains Mono"/>
              </a:rPr>
              <a:t>= </a:t>
            </a:r>
            <a:r>
              <a:rPr kumimoji="0" lang="en-VI" altLang="en-VI" sz="1600" b="0" i="0" u="none" strike="noStrike" cap="none" normalizeH="0" baseline="0" dirty="0" err="1">
                <a:ln>
                  <a:noFill/>
                </a:ln>
                <a:solidFill>
                  <a:srgbClr val="000000"/>
                </a:solidFill>
                <a:effectLst/>
                <a:latin typeface="JetBrains Mono"/>
              </a:rPr>
              <a:t>xstream</a:t>
            </a:r>
            <a:r>
              <a:rPr kumimoji="0" lang="en-VI" altLang="en-VI" sz="1600" b="0" i="0" u="none" strike="noStrike" cap="none" normalizeH="0" baseline="0" dirty="0" err="1">
                <a:ln>
                  <a:noFill/>
                </a:ln>
                <a:solidFill>
                  <a:srgbClr val="080808"/>
                </a:solidFill>
                <a:effectLst/>
                <a:latin typeface="JetBrains Mono"/>
              </a:rPr>
              <a:t>.createObjectInputStream</a:t>
            </a:r>
            <a:r>
              <a:rPr kumimoji="0" lang="en-VI" altLang="en-VI" sz="1600" b="0" i="0" u="none" strike="noStrike" cap="none" normalizeH="0" baseline="0" dirty="0">
                <a:ln>
                  <a:noFill/>
                </a:ln>
                <a:solidFill>
                  <a:srgbClr val="080808"/>
                </a:solidFill>
                <a:effectLst/>
                <a:latin typeface="JetBrains Mono"/>
              </a:rPr>
              <a:t>(</a:t>
            </a:r>
            <a:r>
              <a:rPr kumimoji="0" lang="en-VI" altLang="en-VI" sz="1600" b="0" i="0" u="none" strike="noStrike" cap="none" normalizeH="0" baseline="0" dirty="0">
                <a:ln>
                  <a:noFill/>
                </a:ln>
                <a:solidFill>
                  <a:srgbClr val="0033B3"/>
                </a:solidFill>
                <a:effectLst/>
                <a:latin typeface="JetBrains Mono"/>
              </a:rPr>
              <a:t>new </a:t>
            </a:r>
            <a:r>
              <a:rPr kumimoji="0" lang="en-VI" altLang="en-VI" sz="1600" b="0" i="0" u="none" strike="noStrike" cap="none" normalizeH="0" baseline="0" dirty="0" err="1">
                <a:ln>
                  <a:noFill/>
                </a:ln>
                <a:solidFill>
                  <a:srgbClr val="080808"/>
                </a:solidFill>
                <a:effectLst/>
                <a:latin typeface="JetBrains Mono"/>
              </a:rPr>
              <a:t>FileReader</a:t>
            </a:r>
            <a:r>
              <a:rPr kumimoji="0" lang="en-VI" altLang="en-VI" sz="1600" b="0" i="0" u="none" strike="noStrike" cap="none" normalizeH="0" baseline="0" dirty="0">
                <a:ln>
                  <a:noFill/>
                </a:ln>
                <a:solidFill>
                  <a:srgbClr val="080808"/>
                </a:solidFill>
                <a:effectLst/>
                <a:latin typeface="JetBrains Mono"/>
              </a:rPr>
              <a:t>(</a:t>
            </a:r>
            <a:r>
              <a:rPr kumimoji="0" lang="en-VI" altLang="en-VI" sz="1600" b="0" i="0" u="none" strike="noStrike" cap="none" normalizeH="0" baseline="0" dirty="0">
                <a:ln>
                  <a:noFill/>
                </a:ln>
                <a:solidFill>
                  <a:srgbClr val="067D17"/>
                </a:solidFill>
                <a:effectLst/>
                <a:latin typeface="JetBrains Mono"/>
              </a:rPr>
              <a:t>"products.xml"</a:t>
            </a:r>
            <a:r>
              <a:rPr kumimoji="0" lang="en-VI" altLang="en-VI" sz="1600" b="0" i="0" u="none" strike="noStrike" cap="none" normalizeH="0" baseline="0" dirty="0">
                <a:ln>
                  <a:noFill/>
                </a:ln>
                <a:solidFill>
                  <a:srgbClr val="080808"/>
                </a:solidFill>
                <a:effectLst/>
                <a:latin typeface="JetBrains Mono"/>
              </a:rPr>
              <a:t>));</a:t>
            </a:r>
            <a:r>
              <a:rPr kumimoji="0" lang="en-GB" altLang="en-VI" sz="1600" b="0" i="0" u="none" strike="noStrike" cap="none" normalizeH="0" baseline="0" dirty="0">
                <a:ln>
                  <a:noFill/>
                </a:ln>
                <a:solidFill>
                  <a:srgbClr val="080808"/>
                </a:solidFill>
                <a:effectLst/>
                <a:latin typeface="JetBrains Mono"/>
              </a:rPr>
              <a:t>   </a:t>
            </a:r>
            <a:r>
              <a:rPr kumimoji="0" lang="en-GB" altLang="en-VI" sz="1600" b="1" i="0" u="none" strike="noStrike" cap="none" normalizeH="0" baseline="0" dirty="0">
                <a:ln>
                  <a:noFill/>
                </a:ln>
                <a:solidFill>
                  <a:srgbClr val="00B050"/>
                </a:solidFill>
                <a:effectLst/>
                <a:latin typeface="JetBrains Mono"/>
              </a:rPr>
              <a:t>//3</a:t>
            </a:r>
            <a:br>
              <a:rPr kumimoji="0" lang="en-VI" altLang="en-VI" sz="1600" b="0" i="0" u="none" strike="noStrike" cap="none" normalizeH="0" baseline="0" dirty="0">
                <a:ln>
                  <a:noFill/>
                </a:ln>
                <a:solidFill>
                  <a:srgbClr val="080808"/>
                </a:solidFill>
                <a:effectLst/>
                <a:latin typeface="JetBrains Mono"/>
              </a:rPr>
            </a:br>
            <a:r>
              <a:rPr kumimoji="0" lang="en-VI" altLang="en-VI" sz="1600" b="0" i="0" u="none" strike="noStrike" cap="none" normalizeH="0" baseline="0" dirty="0">
                <a:ln>
                  <a:noFill/>
                </a:ln>
                <a:solidFill>
                  <a:srgbClr val="080808"/>
                </a:solidFill>
                <a:effectLst/>
                <a:latin typeface="JetBrains Mono"/>
              </a:rPr>
              <a:t>    </a:t>
            </a:r>
            <a:r>
              <a:rPr kumimoji="0" lang="en-VI" altLang="en-VI" sz="1600" b="0" i="0" u="none" strike="noStrike" cap="none" normalizeH="0" baseline="0" dirty="0">
                <a:ln>
                  <a:noFill/>
                </a:ln>
                <a:solidFill>
                  <a:srgbClr val="871094"/>
                </a:solidFill>
                <a:effectLst/>
                <a:latin typeface="JetBrains Mono"/>
              </a:rPr>
              <a:t>products </a:t>
            </a:r>
            <a:r>
              <a:rPr kumimoji="0" lang="en-VI" altLang="en-VI" sz="1600" b="0" i="0" u="none" strike="noStrike" cap="none" normalizeH="0" baseline="0" dirty="0">
                <a:ln>
                  <a:noFill/>
                </a:ln>
                <a:solidFill>
                  <a:srgbClr val="080808"/>
                </a:solidFill>
                <a:effectLst/>
                <a:latin typeface="JetBrains Mono"/>
              </a:rPr>
              <a:t>= (</a:t>
            </a:r>
            <a:r>
              <a:rPr kumimoji="0" lang="en-VI" altLang="en-VI" sz="1600" b="0" i="0" u="none" strike="noStrike" cap="none" normalizeH="0" baseline="0" dirty="0" err="1">
                <a:ln>
                  <a:noFill/>
                </a:ln>
                <a:solidFill>
                  <a:srgbClr val="000000"/>
                </a:solidFill>
                <a:effectLst/>
                <a:latin typeface="JetBrains Mono"/>
              </a:rPr>
              <a:t>ArrayList</a:t>
            </a:r>
            <a:r>
              <a:rPr kumimoji="0" lang="en-VI" altLang="en-VI" sz="1600" b="0" i="0" u="none" strike="noStrike" cap="none" normalizeH="0" baseline="0" dirty="0">
                <a:ln>
                  <a:noFill/>
                </a:ln>
                <a:solidFill>
                  <a:srgbClr val="080808"/>
                </a:solidFill>
                <a:effectLst/>
                <a:latin typeface="JetBrains Mono"/>
              </a:rPr>
              <a:t>&lt;</a:t>
            </a:r>
            <a:r>
              <a:rPr kumimoji="0" lang="en-VI" altLang="en-VI" sz="1600" b="0" i="0" u="none" strike="noStrike" cap="none" normalizeH="0" baseline="0" dirty="0">
                <a:ln>
                  <a:noFill/>
                </a:ln>
                <a:solidFill>
                  <a:srgbClr val="000000"/>
                </a:solidFill>
                <a:effectLst/>
                <a:latin typeface="JetBrains Mono"/>
              </a:rPr>
              <a:t>Product</a:t>
            </a:r>
            <a:r>
              <a:rPr kumimoji="0" lang="en-VI" altLang="en-VI" sz="1600" b="0" i="0" u="none" strike="noStrike" cap="none" normalizeH="0" baseline="0" dirty="0">
                <a:ln>
                  <a:noFill/>
                </a:ln>
                <a:solidFill>
                  <a:srgbClr val="080808"/>
                </a:solidFill>
                <a:effectLst/>
                <a:latin typeface="JetBrains Mono"/>
              </a:rPr>
              <a:t>&gt;) </a:t>
            </a:r>
            <a:r>
              <a:rPr kumimoji="0" lang="en-VI" altLang="en-VI" sz="1600" b="0" i="0" u="none" strike="noStrike" cap="none" normalizeH="0" baseline="0" dirty="0" err="1">
                <a:ln>
                  <a:noFill/>
                </a:ln>
                <a:solidFill>
                  <a:srgbClr val="000000"/>
                </a:solidFill>
                <a:effectLst/>
                <a:latin typeface="JetBrains Mono"/>
              </a:rPr>
              <a:t>is</a:t>
            </a:r>
            <a:r>
              <a:rPr kumimoji="0" lang="en-VI" altLang="en-VI" sz="1600" b="0" i="0" u="none" strike="noStrike" cap="none" normalizeH="0" baseline="0" dirty="0" err="1">
                <a:ln>
                  <a:noFill/>
                </a:ln>
                <a:solidFill>
                  <a:srgbClr val="080808"/>
                </a:solidFill>
                <a:effectLst/>
                <a:latin typeface="JetBrains Mono"/>
              </a:rPr>
              <a:t>.readObject</a:t>
            </a:r>
            <a:r>
              <a:rPr kumimoji="0" lang="en-VI" altLang="en-VI" sz="1600" b="0" i="0" u="none" strike="noStrike" cap="none" normalizeH="0" baseline="0" dirty="0">
                <a:ln>
                  <a:noFill/>
                </a:ln>
                <a:solidFill>
                  <a:srgbClr val="080808"/>
                </a:solidFill>
                <a:effectLst/>
                <a:latin typeface="JetBrains Mono"/>
              </a:rPr>
              <a:t>();</a:t>
            </a:r>
            <a:r>
              <a:rPr kumimoji="0" lang="en-GB" altLang="en-VI" sz="1600" b="0" i="0" u="none" strike="noStrike" cap="none" normalizeH="0" baseline="0" dirty="0">
                <a:ln>
                  <a:noFill/>
                </a:ln>
                <a:solidFill>
                  <a:srgbClr val="080808"/>
                </a:solidFill>
                <a:effectLst/>
                <a:latin typeface="JetBrains Mono"/>
              </a:rPr>
              <a:t>   </a:t>
            </a:r>
            <a:r>
              <a:rPr kumimoji="0" lang="en-GB" altLang="en-VI" sz="1600" b="1" i="0" u="none" strike="noStrike" cap="none" normalizeH="0" baseline="0" dirty="0">
                <a:ln>
                  <a:noFill/>
                </a:ln>
                <a:solidFill>
                  <a:srgbClr val="00B050"/>
                </a:solidFill>
                <a:effectLst/>
                <a:latin typeface="JetBrains Mono"/>
              </a:rPr>
              <a:t>//4</a:t>
            </a:r>
            <a:br>
              <a:rPr kumimoji="0" lang="en-VI" altLang="en-VI" sz="1600" b="0" i="0" u="none" strike="noStrike" cap="none" normalizeH="0" baseline="0" dirty="0">
                <a:ln>
                  <a:noFill/>
                </a:ln>
                <a:solidFill>
                  <a:srgbClr val="080808"/>
                </a:solidFill>
                <a:effectLst/>
                <a:latin typeface="JetBrains Mono"/>
              </a:rPr>
            </a:br>
            <a:r>
              <a:rPr kumimoji="0" lang="en-VI" altLang="en-VI" sz="1600" b="0" i="0" u="none" strike="noStrike" cap="none" normalizeH="0" baseline="0" dirty="0">
                <a:ln>
                  <a:noFill/>
                </a:ln>
                <a:solidFill>
                  <a:srgbClr val="080808"/>
                </a:solidFill>
                <a:effectLst/>
                <a:latin typeface="JetBrains Mono"/>
              </a:rPr>
              <a:t>    </a:t>
            </a:r>
            <a:r>
              <a:rPr kumimoji="0" lang="en-VI" altLang="en-VI" sz="1600" b="0" i="0" u="none" strike="noStrike" cap="none" normalizeH="0" baseline="0" dirty="0" err="1">
                <a:ln>
                  <a:noFill/>
                </a:ln>
                <a:solidFill>
                  <a:srgbClr val="000000"/>
                </a:solidFill>
                <a:effectLst/>
                <a:latin typeface="JetBrains Mono"/>
              </a:rPr>
              <a:t>is</a:t>
            </a:r>
            <a:r>
              <a:rPr kumimoji="0" lang="en-VI" altLang="en-VI" sz="1600" b="0" i="0" u="none" strike="noStrike" cap="none" normalizeH="0" baseline="0" dirty="0" err="1">
                <a:ln>
                  <a:noFill/>
                </a:ln>
                <a:solidFill>
                  <a:srgbClr val="080808"/>
                </a:solidFill>
                <a:effectLst/>
                <a:latin typeface="JetBrains Mono"/>
              </a:rPr>
              <a:t>.close</a:t>
            </a:r>
            <a:r>
              <a:rPr kumimoji="0" lang="en-VI" altLang="en-VI" sz="1600" b="0" i="0" u="none" strike="noStrike" cap="none" normalizeH="0" baseline="0" dirty="0">
                <a:ln>
                  <a:noFill/>
                </a:ln>
                <a:solidFill>
                  <a:srgbClr val="080808"/>
                </a:solidFill>
                <a:effectLst/>
                <a:latin typeface="JetBrains Mono"/>
              </a:rPr>
              <a:t>();</a:t>
            </a:r>
            <a:r>
              <a:rPr kumimoji="0" lang="en-GB" altLang="en-VI" sz="1600" b="0" i="0" u="none" strike="noStrike" cap="none" normalizeH="0" baseline="0" dirty="0">
                <a:ln>
                  <a:noFill/>
                </a:ln>
                <a:solidFill>
                  <a:srgbClr val="080808"/>
                </a:solidFill>
                <a:effectLst/>
                <a:latin typeface="JetBrains Mono"/>
              </a:rPr>
              <a:t>    </a:t>
            </a:r>
            <a:r>
              <a:rPr kumimoji="0" lang="en-GB" altLang="en-VI" sz="1600" b="1" i="0" u="none" strike="noStrike" cap="none" normalizeH="0" baseline="0" dirty="0">
                <a:ln>
                  <a:noFill/>
                </a:ln>
                <a:solidFill>
                  <a:srgbClr val="00B050"/>
                </a:solidFill>
                <a:effectLst/>
                <a:latin typeface="JetBrains Mono"/>
              </a:rPr>
              <a:t>//5</a:t>
            </a:r>
            <a:br>
              <a:rPr kumimoji="0" lang="en-VI" altLang="en-VI" sz="1600" b="0" i="0" u="none" strike="noStrike" cap="none" normalizeH="0" baseline="0" dirty="0">
                <a:ln>
                  <a:noFill/>
                </a:ln>
                <a:solidFill>
                  <a:srgbClr val="080808"/>
                </a:solidFill>
                <a:effectLst/>
                <a:latin typeface="JetBrains Mono"/>
              </a:rPr>
            </a:br>
            <a:r>
              <a:rPr kumimoji="0" lang="en-VI" altLang="en-VI" sz="1600" b="0" i="0" u="none" strike="noStrike" cap="none" normalizeH="0" baseline="0" dirty="0">
                <a:ln>
                  <a:noFill/>
                </a:ln>
                <a:solidFill>
                  <a:srgbClr val="080808"/>
                </a:solidFill>
                <a:effectLst/>
                <a:latin typeface="JetBrains Mono"/>
              </a:rPr>
              <a:t>}</a:t>
            </a:r>
            <a:endParaRPr kumimoji="0" lang="en-VI" altLang="en-VI" sz="4000" b="0" i="0" u="none" strike="noStrike" cap="none" normalizeH="0" baseline="0" dirty="0">
              <a:ln>
                <a:noFill/>
              </a:ln>
              <a:solidFill>
                <a:schemeClr val="tx1"/>
              </a:solidFill>
              <a:effectLst/>
              <a:latin typeface="Arial" panose="020B0604020202020204" pitchFamily="34" charset="0"/>
            </a:endParaRPr>
          </a:p>
        </p:txBody>
      </p:sp>
      <p:sp>
        <p:nvSpPr>
          <p:cNvPr id="9" name="Right Brace 8">
            <a:extLst>
              <a:ext uri="{FF2B5EF4-FFF2-40B4-BE49-F238E27FC236}">
                <a16:creationId xmlns:a16="http://schemas.microsoft.com/office/drawing/2014/main" id="{C4E02B2A-377C-4E2B-AAC3-06F41A409B26}"/>
              </a:ext>
            </a:extLst>
          </p:cNvPr>
          <p:cNvSpPr/>
          <p:nvPr/>
        </p:nvSpPr>
        <p:spPr>
          <a:xfrm>
            <a:off x="7933064" y="4099206"/>
            <a:ext cx="304800" cy="609600"/>
          </a:xfrm>
          <a:prstGeom prst="rightBrace">
            <a:avLst/>
          </a:prstGeom>
          <a:ln w="28575">
            <a:solidFill>
              <a:srgbClr val="00B05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VI"/>
          </a:p>
        </p:txBody>
      </p:sp>
    </p:spTree>
    <p:extLst>
      <p:ext uri="{BB962C8B-B14F-4D97-AF65-F5344CB8AC3E}">
        <p14:creationId xmlns:p14="http://schemas.microsoft.com/office/powerpoint/2010/main" val="3805945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732224" y="1459960"/>
            <a:ext cx="6632222" cy="1077218"/>
          </a:xfrm>
          <a:prstGeom prst="rect">
            <a:avLst/>
          </a:prstGeom>
          <a:noFill/>
        </p:spPr>
        <p:txBody>
          <a:bodyPr wrap="square" rtlCol="0">
            <a:spAutoFit/>
          </a:bodyPr>
          <a:lstStyle/>
          <a:p>
            <a:r>
              <a:rPr lang="en-IE" sz="3200" dirty="0">
                <a:solidFill>
                  <a:schemeClr val="tx1"/>
                </a:solidFill>
              </a:rPr>
              <a:t>To use the </a:t>
            </a:r>
            <a:r>
              <a:rPr lang="en-IE" sz="3200" b="1" dirty="0">
                <a:solidFill>
                  <a:schemeClr val="tx1"/>
                </a:solidFill>
              </a:rPr>
              <a:t>load() </a:t>
            </a:r>
            <a:r>
              <a:rPr lang="en-IE" sz="3200" dirty="0">
                <a:solidFill>
                  <a:schemeClr val="tx1"/>
                </a:solidFill>
              </a:rPr>
              <a:t>&amp; </a:t>
            </a:r>
            <a:r>
              <a:rPr lang="en-IE" sz="3200" b="1" dirty="0">
                <a:solidFill>
                  <a:schemeClr val="tx1"/>
                </a:solidFill>
              </a:rPr>
              <a:t>save() </a:t>
            </a:r>
            <a:r>
              <a:rPr lang="en-IE" sz="3200" dirty="0">
                <a:solidFill>
                  <a:schemeClr val="tx1"/>
                </a:solidFill>
              </a:rPr>
              <a:t>code in another project, change:</a:t>
            </a:r>
            <a:endParaRPr lang="en-GB" sz="3200" b="1" dirty="0"/>
          </a:p>
        </p:txBody>
      </p:sp>
      <p:pic>
        <p:nvPicPr>
          <p:cNvPr id="7" name="Picture 6">
            <a:extLst>
              <a:ext uri="{FF2B5EF4-FFF2-40B4-BE49-F238E27FC236}">
                <a16:creationId xmlns:a16="http://schemas.microsoft.com/office/drawing/2014/main" id="{1145BA94-6398-45E8-A6B8-8D52D9CE7AE4}"/>
              </a:ext>
            </a:extLst>
          </p:cNvPr>
          <p:cNvPicPr>
            <a:picLocks noChangeAspect="1"/>
          </p:cNvPicPr>
          <p:nvPr/>
        </p:nvPicPr>
        <p:blipFill>
          <a:blip r:embed="rId2"/>
          <a:stretch>
            <a:fillRect/>
          </a:stretch>
        </p:blipFill>
        <p:spPr>
          <a:xfrm>
            <a:off x="609600" y="161469"/>
            <a:ext cx="3439005" cy="3267531"/>
          </a:xfrm>
          <a:prstGeom prst="rect">
            <a:avLst/>
          </a:prstGeom>
          <a:ln>
            <a:noFill/>
          </a:ln>
          <a:effectLst>
            <a:outerShdw blurRad="292100" dist="139700" dir="2700000" algn="tl" rotWithShape="0">
              <a:srgbClr val="333333">
                <a:alpha val="65000"/>
              </a:srgbClr>
            </a:outerShdw>
          </a:effectLst>
        </p:spPr>
      </p:pic>
      <p:sp>
        <p:nvSpPr>
          <p:cNvPr id="6" name="Rectangle 5"/>
          <p:cNvSpPr/>
          <p:nvPr/>
        </p:nvSpPr>
        <p:spPr>
          <a:xfrm>
            <a:off x="3352800" y="2514600"/>
            <a:ext cx="8763000" cy="3970318"/>
          </a:xfrm>
          <a:prstGeom prst="rect">
            <a:avLst/>
          </a:prstGeom>
          <a:solidFill>
            <a:schemeClr val="accent5">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wrap="square">
            <a:spAutoFit/>
          </a:bodyPr>
          <a:lstStyle/>
          <a:p>
            <a:pPr marL="57150"/>
            <a:r>
              <a:rPr lang="en-IE" sz="2800" dirty="0">
                <a:solidFill>
                  <a:schemeClr val="tx1"/>
                </a:solidFill>
              </a:rPr>
              <a:t>load()</a:t>
            </a:r>
          </a:p>
          <a:p>
            <a:pPr marL="514350" indent="-457200">
              <a:buFont typeface="+mj-lt"/>
              <a:buAutoNum type="arabicPeriod"/>
            </a:pPr>
            <a:r>
              <a:rPr lang="en-IE" sz="2800" dirty="0">
                <a:solidFill>
                  <a:schemeClr val="tx1"/>
                </a:solidFill>
              </a:rPr>
              <a:t>the class </a:t>
            </a:r>
            <a:r>
              <a:rPr lang="en-IE" sz="2800" b="1" u="sng" dirty="0">
                <a:solidFill>
                  <a:schemeClr val="tx1"/>
                </a:solidFill>
              </a:rPr>
              <a:t>type</a:t>
            </a:r>
            <a:r>
              <a:rPr lang="en-IE" sz="2800" dirty="0">
                <a:solidFill>
                  <a:schemeClr val="tx1"/>
                </a:solidFill>
              </a:rPr>
              <a:t> in the list of classes to serialise.</a:t>
            </a:r>
          </a:p>
          <a:p>
            <a:pPr marL="514350" indent="-457200">
              <a:buFont typeface="+mj-lt"/>
              <a:buAutoNum type="arabicPeriod"/>
            </a:pPr>
            <a:r>
              <a:rPr lang="en-IE" sz="2800" dirty="0">
                <a:solidFill>
                  <a:schemeClr val="tx1"/>
                </a:solidFill>
              </a:rPr>
              <a:t>the </a:t>
            </a:r>
            <a:r>
              <a:rPr lang="en-IE" sz="2800" b="1" u="sng" dirty="0">
                <a:solidFill>
                  <a:schemeClr val="tx1"/>
                </a:solidFill>
              </a:rPr>
              <a:t>name</a:t>
            </a:r>
            <a:r>
              <a:rPr lang="en-IE" sz="2800" dirty="0">
                <a:solidFill>
                  <a:schemeClr val="tx1"/>
                </a:solidFill>
              </a:rPr>
              <a:t> of the xml file. </a:t>
            </a:r>
          </a:p>
          <a:p>
            <a:pPr marL="514350" indent="-457200">
              <a:buFont typeface="+mj-lt"/>
              <a:buAutoNum type="arabicPeriod"/>
            </a:pPr>
            <a:r>
              <a:rPr lang="en-IE" sz="2800" dirty="0">
                <a:solidFill>
                  <a:schemeClr val="tx1"/>
                </a:solidFill>
              </a:rPr>
              <a:t>the </a:t>
            </a:r>
            <a:r>
              <a:rPr lang="en-IE" sz="2800" b="1" u="sng" dirty="0">
                <a:solidFill>
                  <a:schemeClr val="tx1"/>
                </a:solidFill>
              </a:rPr>
              <a:t>type</a:t>
            </a:r>
            <a:r>
              <a:rPr lang="en-IE" sz="2800" dirty="0">
                <a:solidFill>
                  <a:schemeClr val="tx1"/>
                </a:solidFill>
              </a:rPr>
              <a:t> of object stored in the </a:t>
            </a:r>
            <a:r>
              <a:rPr lang="en-IE" sz="2800" dirty="0" err="1">
                <a:solidFill>
                  <a:schemeClr val="tx1"/>
                </a:solidFill>
              </a:rPr>
              <a:t>ArrayList</a:t>
            </a:r>
            <a:r>
              <a:rPr lang="en-IE" sz="2800" dirty="0">
                <a:solidFill>
                  <a:schemeClr val="tx1"/>
                </a:solidFill>
              </a:rPr>
              <a:t>.</a:t>
            </a:r>
          </a:p>
          <a:p>
            <a:pPr marL="514350" indent="-457200">
              <a:buFont typeface="+mj-lt"/>
              <a:buAutoNum type="arabicPeriod"/>
            </a:pPr>
            <a:r>
              <a:rPr lang="en-IE" sz="2800" dirty="0">
                <a:solidFill>
                  <a:schemeClr val="tx1"/>
                </a:solidFill>
              </a:rPr>
              <a:t>the </a:t>
            </a:r>
            <a:r>
              <a:rPr lang="en-IE" sz="2800" b="1" u="sng" dirty="0">
                <a:solidFill>
                  <a:schemeClr val="tx1"/>
                </a:solidFill>
              </a:rPr>
              <a:t>name</a:t>
            </a:r>
            <a:r>
              <a:rPr lang="en-IE" sz="2800" dirty="0">
                <a:solidFill>
                  <a:schemeClr val="tx1"/>
                </a:solidFill>
              </a:rPr>
              <a:t> of the </a:t>
            </a:r>
            <a:r>
              <a:rPr lang="en-IE" sz="2800" dirty="0" err="1">
                <a:solidFill>
                  <a:schemeClr val="tx1"/>
                </a:solidFill>
              </a:rPr>
              <a:t>ArrayList</a:t>
            </a:r>
            <a:r>
              <a:rPr lang="en-IE" sz="2800" dirty="0">
                <a:solidFill>
                  <a:schemeClr val="tx1"/>
                </a:solidFill>
              </a:rPr>
              <a:t> object.</a:t>
            </a:r>
            <a:br>
              <a:rPr lang="en-IE" sz="2800" dirty="0">
                <a:solidFill>
                  <a:schemeClr val="tx1"/>
                </a:solidFill>
              </a:rPr>
            </a:br>
            <a:endParaRPr lang="en-IE" sz="2800" dirty="0">
              <a:solidFill>
                <a:schemeClr val="tx1"/>
              </a:solidFill>
            </a:endParaRPr>
          </a:p>
          <a:p>
            <a:pPr marL="57150"/>
            <a:r>
              <a:rPr lang="en-IE" sz="2800" dirty="0">
                <a:solidFill>
                  <a:schemeClr val="tx1"/>
                </a:solidFill>
              </a:rPr>
              <a:t>save()</a:t>
            </a:r>
          </a:p>
          <a:p>
            <a:pPr marL="571500" indent="-514350">
              <a:buFont typeface="+mj-lt"/>
              <a:buAutoNum type="arabicPeriod"/>
            </a:pPr>
            <a:r>
              <a:rPr lang="en-IE" sz="2800" dirty="0">
                <a:solidFill>
                  <a:schemeClr val="tx1"/>
                </a:solidFill>
              </a:rPr>
              <a:t>the </a:t>
            </a:r>
            <a:r>
              <a:rPr lang="en-IE" sz="2800" b="1" u="sng" dirty="0">
                <a:solidFill>
                  <a:schemeClr val="tx1"/>
                </a:solidFill>
              </a:rPr>
              <a:t>name</a:t>
            </a:r>
            <a:r>
              <a:rPr lang="en-IE" sz="2800" dirty="0">
                <a:solidFill>
                  <a:schemeClr val="tx1"/>
                </a:solidFill>
              </a:rPr>
              <a:t> of the xml file.</a:t>
            </a:r>
          </a:p>
          <a:p>
            <a:pPr marL="514350" indent="-457200">
              <a:buFont typeface="+mj-lt"/>
              <a:buAutoNum type="arabicPeriod"/>
            </a:pPr>
            <a:r>
              <a:rPr lang="en-IE" sz="2800" dirty="0">
                <a:solidFill>
                  <a:schemeClr val="tx1"/>
                </a:solidFill>
              </a:rPr>
              <a:t>the </a:t>
            </a:r>
            <a:r>
              <a:rPr lang="en-IE" sz="2800" b="1" u="sng" dirty="0">
                <a:solidFill>
                  <a:schemeClr val="tx1"/>
                </a:solidFill>
              </a:rPr>
              <a:t>name</a:t>
            </a:r>
            <a:r>
              <a:rPr lang="en-IE" sz="2800" dirty="0">
                <a:solidFill>
                  <a:schemeClr val="tx1"/>
                </a:solidFill>
              </a:rPr>
              <a:t> of the </a:t>
            </a:r>
            <a:r>
              <a:rPr lang="en-IE" sz="2800" dirty="0" err="1">
                <a:solidFill>
                  <a:schemeClr val="tx1"/>
                </a:solidFill>
              </a:rPr>
              <a:t>ArrayList</a:t>
            </a:r>
            <a:r>
              <a:rPr lang="en-IE" sz="2800" dirty="0">
                <a:solidFill>
                  <a:schemeClr val="tx1"/>
                </a:solidFill>
              </a:rPr>
              <a:t> object.</a:t>
            </a:r>
          </a:p>
        </p:txBody>
      </p:sp>
      <p:sp>
        <p:nvSpPr>
          <p:cNvPr id="3" name="Rectangle: Rounded Corners 2">
            <a:extLst>
              <a:ext uri="{FF2B5EF4-FFF2-40B4-BE49-F238E27FC236}">
                <a16:creationId xmlns:a16="http://schemas.microsoft.com/office/drawing/2014/main" id="{38811ABA-B48B-42A8-BBDC-28FA68EDC071}"/>
              </a:ext>
            </a:extLst>
          </p:cNvPr>
          <p:cNvSpPr/>
          <p:nvPr/>
        </p:nvSpPr>
        <p:spPr>
          <a:xfrm>
            <a:off x="685800" y="2819400"/>
            <a:ext cx="1219200" cy="3810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I"/>
          </a:p>
        </p:txBody>
      </p:sp>
    </p:spTree>
    <p:extLst>
      <p:ext uri="{BB962C8B-B14F-4D97-AF65-F5344CB8AC3E}">
        <p14:creationId xmlns:p14="http://schemas.microsoft.com/office/powerpoint/2010/main" val="20432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45BA94-6398-45E8-A6B8-8D52D9CE7AE4}"/>
              </a:ext>
            </a:extLst>
          </p:cNvPr>
          <p:cNvPicPr>
            <a:picLocks noChangeAspect="1"/>
          </p:cNvPicPr>
          <p:nvPr/>
        </p:nvPicPr>
        <p:blipFill>
          <a:blip r:embed="rId2"/>
          <a:stretch>
            <a:fillRect/>
          </a:stretch>
        </p:blipFill>
        <p:spPr>
          <a:xfrm>
            <a:off x="609600" y="161469"/>
            <a:ext cx="3439005" cy="3267531"/>
          </a:xfrm>
          <a:prstGeom prst="rect">
            <a:avLst/>
          </a:prstGeom>
          <a:ln>
            <a:noFill/>
          </a:ln>
          <a:effectLst>
            <a:outerShdw blurRad="292100" dist="139700" dir="2700000" algn="tl" rotWithShape="0">
              <a:srgbClr val="333333">
                <a:alpha val="65000"/>
              </a:srgbClr>
            </a:outerShdw>
          </a:effectLst>
        </p:spPr>
      </p:pic>
      <p:sp>
        <p:nvSpPr>
          <p:cNvPr id="3" name="Rectangle: Rounded Corners 2">
            <a:extLst>
              <a:ext uri="{FF2B5EF4-FFF2-40B4-BE49-F238E27FC236}">
                <a16:creationId xmlns:a16="http://schemas.microsoft.com/office/drawing/2014/main" id="{38811ABA-B48B-42A8-BBDC-28FA68EDC071}"/>
              </a:ext>
            </a:extLst>
          </p:cNvPr>
          <p:cNvSpPr/>
          <p:nvPr/>
        </p:nvSpPr>
        <p:spPr>
          <a:xfrm>
            <a:off x="685800" y="2819400"/>
            <a:ext cx="1219200" cy="3810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I"/>
          </a:p>
        </p:txBody>
      </p:sp>
      <p:sp>
        <p:nvSpPr>
          <p:cNvPr id="2" name="Rectangle 1">
            <a:extLst>
              <a:ext uri="{FF2B5EF4-FFF2-40B4-BE49-F238E27FC236}">
                <a16:creationId xmlns:a16="http://schemas.microsoft.com/office/drawing/2014/main" id="{08EBC7C7-39CA-412C-8299-FFAFAFA0E0ED}"/>
              </a:ext>
            </a:extLst>
          </p:cNvPr>
          <p:cNvSpPr>
            <a:spLocks noChangeArrowheads="1"/>
          </p:cNvSpPr>
          <p:nvPr/>
        </p:nvSpPr>
        <p:spPr bwMode="auto">
          <a:xfrm>
            <a:off x="4868025" y="2013853"/>
            <a:ext cx="5773375" cy="2246769"/>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VI" altLang="en-VI" sz="2000" b="0" i="0" u="none" strike="noStrike" cap="none" normalizeH="0" baseline="0" dirty="0">
                <a:ln>
                  <a:noFill/>
                </a:ln>
                <a:solidFill>
                  <a:srgbClr val="0033B3"/>
                </a:solidFill>
                <a:effectLst/>
                <a:latin typeface="JetBrains Mono"/>
              </a:rPr>
              <a:t>import </a:t>
            </a:r>
            <a:r>
              <a:rPr kumimoji="0" lang="en-VI" altLang="en-VI" sz="2000" b="0" i="0" u="none" strike="noStrike" cap="none" normalizeH="0" baseline="0" dirty="0" err="1">
                <a:ln>
                  <a:noFill/>
                </a:ln>
                <a:solidFill>
                  <a:srgbClr val="000000"/>
                </a:solidFill>
                <a:effectLst/>
                <a:latin typeface="JetBrains Mono"/>
              </a:rPr>
              <a:t>com.thoughtworks.xstream.XStream</a:t>
            </a:r>
            <a:r>
              <a:rPr kumimoji="0" lang="en-VI" altLang="en-VI" sz="2000" b="0" i="0" u="none" strike="noStrike" cap="none" normalizeH="0" baseline="0" dirty="0">
                <a:ln>
                  <a:noFill/>
                </a:ln>
                <a:solidFill>
                  <a:srgbClr val="080808"/>
                </a:solidFill>
                <a:effectLst/>
                <a:latin typeface="JetBrains Mono"/>
              </a:rPr>
              <a:t>;</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033B3"/>
                </a:solidFill>
                <a:effectLst/>
                <a:latin typeface="JetBrains Mono"/>
              </a:rPr>
              <a:t>import </a:t>
            </a:r>
            <a:r>
              <a:rPr kumimoji="0" lang="en-VI" altLang="en-VI" sz="2000" b="0" i="0" u="none" strike="noStrike" cap="none" normalizeH="0" baseline="0" dirty="0" err="1">
                <a:ln>
                  <a:noFill/>
                </a:ln>
                <a:solidFill>
                  <a:srgbClr val="000000"/>
                </a:solidFill>
                <a:effectLst/>
                <a:latin typeface="JetBrains Mono"/>
              </a:rPr>
              <a:t>com.thoughtworks.xstream.io.xml.DomDriver</a:t>
            </a:r>
            <a:r>
              <a:rPr kumimoji="0" lang="en-VI" altLang="en-VI" sz="2000" b="0" i="0" u="none" strike="noStrike" cap="none" normalizeH="0" baseline="0" dirty="0">
                <a:ln>
                  <a:noFill/>
                </a:ln>
                <a:solidFill>
                  <a:srgbClr val="080808"/>
                </a:solidFill>
                <a:effectLst/>
                <a:latin typeface="JetBrains Mono"/>
              </a:rPr>
              <a:t>;</a:t>
            </a:r>
            <a:br>
              <a:rPr kumimoji="0" lang="en-VI" altLang="en-VI" sz="2000" b="0" i="0" u="none" strike="noStrike" cap="none" normalizeH="0" baseline="0" dirty="0">
                <a:ln>
                  <a:noFill/>
                </a:ln>
                <a:solidFill>
                  <a:srgbClr val="080808"/>
                </a:solidFill>
                <a:effectLst/>
                <a:latin typeface="JetBrains Mono"/>
              </a:rPr>
            </a:b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033B3"/>
                </a:solidFill>
                <a:effectLst/>
                <a:latin typeface="JetBrains Mono"/>
              </a:rPr>
              <a:t>import </a:t>
            </a:r>
            <a:r>
              <a:rPr kumimoji="0" lang="en-VI" altLang="en-VI" sz="2000" b="0" i="0" u="none" strike="noStrike" cap="none" normalizeH="0" baseline="0" dirty="0" err="1">
                <a:ln>
                  <a:noFill/>
                </a:ln>
                <a:solidFill>
                  <a:srgbClr val="000000"/>
                </a:solidFill>
                <a:effectLst/>
                <a:latin typeface="JetBrains Mono"/>
              </a:rPr>
              <a:t>java.io.FileReader</a:t>
            </a:r>
            <a:r>
              <a:rPr kumimoji="0" lang="en-VI" altLang="en-VI" sz="2000" b="0" i="0" u="none" strike="noStrike" cap="none" normalizeH="0" baseline="0" dirty="0">
                <a:ln>
                  <a:noFill/>
                </a:ln>
                <a:solidFill>
                  <a:srgbClr val="080808"/>
                </a:solidFill>
                <a:effectLst/>
                <a:latin typeface="JetBrains Mono"/>
              </a:rPr>
              <a:t>;</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033B3"/>
                </a:solidFill>
                <a:effectLst/>
                <a:latin typeface="JetBrains Mono"/>
              </a:rPr>
              <a:t>import </a:t>
            </a:r>
            <a:r>
              <a:rPr kumimoji="0" lang="en-VI" altLang="en-VI" sz="2000" b="0" i="0" u="none" strike="noStrike" cap="none" normalizeH="0" baseline="0" dirty="0" err="1">
                <a:ln>
                  <a:noFill/>
                </a:ln>
                <a:solidFill>
                  <a:srgbClr val="000000"/>
                </a:solidFill>
                <a:effectLst/>
                <a:latin typeface="JetBrains Mono"/>
              </a:rPr>
              <a:t>java.io.FileWriter</a:t>
            </a:r>
            <a:r>
              <a:rPr kumimoji="0" lang="en-VI" altLang="en-VI" sz="2000" b="0" i="0" u="none" strike="noStrike" cap="none" normalizeH="0" baseline="0" dirty="0">
                <a:ln>
                  <a:noFill/>
                </a:ln>
                <a:solidFill>
                  <a:srgbClr val="080808"/>
                </a:solidFill>
                <a:effectLst/>
                <a:latin typeface="JetBrains Mono"/>
              </a:rPr>
              <a:t>;</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033B3"/>
                </a:solidFill>
                <a:effectLst/>
                <a:latin typeface="JetBrains Mono"/>
              </a:rPr>
              <a:t>import </a:t>
            </a:r>
            <a:r>
              <a:rPr kumimoji="0" lang="en-VI" altLang="en-VI" sz="2000" b="0" i="0" u="none" strike="noStrike" cap="none" normalizeH="0" baseline="0" dirty="0" err="1">
                <a:ln>
                  <a:noFill/>
                </a:ln>
                <a:solidFill>
                  <a:srgbClr val="000000"/>
                </a:solidFill>
                <a:effectLst/>
                <a:latin typeface="JetBrains Mono"/>
              </a:rPr>
              <a:t>java.io.ObjectInputStream</a:t>
            </a:r>
            <a:r>
              <a:rPr kumimoji="0" lang="en-VI" altLang="en-VI" sz="2000" b="0" i="0" u="none" strike="noStrike" cap="none" normalizeH="0" baseline="0" dirty="0">
                <a:ln>
                  <a:noFill/>
                </a:ln>
                <a:solidFill>
                  <a:srgbClr val="080808"/>
                </a:solidFill>
                <a:effectLst/>
                <a:latin typeface="JetBrains Mono"/>
              </a:rPr>
              <a:t>;</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033B3"/>
                </a:solidFill>
                <a:effectLst/>
                <a:latin typeface="JetBrains Mono"/>
              </a:rPr>
              <a:t>import </a:t>
            </a:r>
            <a:r>
              <a:rPr kumimoji="0" lang="en-VI" altLang="en-VI" sz="2000" b="0" i="0" u="none" strike="noStrike" cap="none" normalizeH="0" baseline="0" dirty="0" err="1">
                <a:ln>
                  <a:noFill/>
                </a:ln>
                <a:solidFill>
                  <a:srgbClr val="000000"/>
                </a:solidFill>
                <a:effectLst/>
                <a:latin typeface="JetBrains Mono"/>
              </a:rPr>
              <a:t>java.io.ObjectOutputStream</a:t>
            </a:r>
            <a:r>
              <a:rPr kumimoji="0" lang="en-VI" altLang="en-VI" sz="2000" b="0" i="0" u="none" strike="noStrike" cap="none" normalizeH="0" baseline="0" dirty="0">
                <a:ln>
                  <a:noFill/>
                </a:ln>
                <a:solidFill>
                  <a:srgbClr val="080808"/>
                </a:solidFill>
                <a:effectLst/>
                <a:latin typeface="JetBrains Mono"/>
              </a:rPr>
              <a:t>;</a:t>
            </a:r>
            <a:endParaRPr kumimoji="0" lang="en-VI" altLang="en-VI" sz="4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D6CA9D1F-62AB-43E6-8E08-F56DD068A5F1}"/>
              </a:ext>
            </a:extLst>
          </p:cNvPr>
          <p:cNvSpPr/>
          <p:nvPr/>
        </p:nvSpPr>
        <p:spPr>
          <a:xfrm>
            <a:off x="2095500" y="5791200"/>
            <a:ext cx="8001000" cy="523220"/>
          </a:xfrm>
          <a:prstGeom prst="rect">
            <a:avLst/>
          </a:prstGeom>
          <a:solidFill>
            <a:srgbClr val="FB3EF9"/>
          </a:solidFill>
          <a:ln>
            <a:solidFill>
              <a:schemeClr val="tx1"/>
            </a:solidFill>
          </a:ln>
        </p:spPr>
        <p:style>
          <a:lnRef idx="1">
            <a:schemeClr val="accent6"/>
          </a:lnRef>
          <a:fillRef idx="2">
            <a:schemeClr val="accent6"/>
          </a:fillRef>
          <a:effectRef idx="1">
            <a:schemeClr val="accent6"/>
          </a:effectRef>
          <a:fontRef idx="minor">
            <a:schemeClr val="dk1"/>
          </a:fontRef>
        </p:style>
        <p:txBody>
          <a:bodyPr wrap="square">
            <a:spAutoFit/>
          </a:bodyPr>
          <a:lstStyle/>
          <a:p>
            <a:pPr marL="57150"/>
            <a:r>
              <a:rPr lang="en-IE" sz="2800" dirty="0">
                <a:solidFill>
                  <a:schemeClr val="bg1"/>
                </a:solidFill>
              </a:rPr>
              <a:t>Note:  you need to import these additional </a:t>
            </a:r>
            <a:r>
              <a:rPr lang="en-IE" sz="2800" b="1" dirty="0">
                <a:solidFill>
                  <a:schemeClr val="bg1"/>
                </a:solidFill>
              </a:rPr>
              <a:t>packages</a:t>
            </a:r>
            <a:r>
              <a:rPr lang="en-IE" sz="2800" dirty="0">
                <a:solidFill>
                  <a:schemeClr val="bg1"/>
                </a:solidFill>
              </a:rPr>
              <a:t>.</a:t>
            </a:r>
          </a:p>
        </p:txBody>
      </p:sp>
      <p:sp>
        <p:nvSpPr>
          <p:cNvPr id="10" name="TextBox 9">
            <a:extLst>
              <a:ext uri="{FF2B5EF4-FFF2-40B4-BE49-F238E27FC236}">
                <a16:creationId xmlns:a16="http://schemas.microsoft.com/office/drawing/2014/main" id="{83687075-20A9-4CAF-AF5D-AC34CF0E5504}"/>
              </a:ext>
            </a:extLst>
          </p:cNvPr>
          <p:cNvSpPr txBox="1"/>
          <p:nvPr/>
        </p:nvSpPr>
        <p:spPr>
          <a:xfrm>
            <a:off x="4868025" y="1210459"/>
            <a:ext cx="3355534" cy="584775"/>
          </a:xfrm>
          <a:prstGeom prst="rect">
            <a:avLst/>
          </a:prstGeom>
          <a:noFill/>
        </p:spPr>
        <p:txBody>
          <a:bodyPr wrap="none" rtlCol="0">
            <a:spAutoFit/>
          </a:bodyPr>
          <a:lstStyle/>
          <a:p>
            <a:r>
              <a:rPr lang="en-GB" sz="3200" b="1" dirty="0"/>
              <a:t>Required Packages</a:t>
            </a:r>
          </a:p>
        </p:txBody>
      </p:sp>
    </p:spTree>
    <p:extLst>
      <p:ext uri="{BB962C8B-B14F-4D97-AF65-F5344CB8AC3E}">
        <p14:creationId xmlns:p14="http://schemas.microsoft.com/office/powerpoint/2010/main" val="1676389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Shop V5.0 (using XML) - </a:t>
            </a:r>
            <a:r>
              <a:rPr lang="en-IE" b="1" dirty="0"/>
              <a:t>STEPS</a:t>
            </a:r>
          </a:p>
        </p:txBody>
      </p:sp>
      <p:sp>
        <p:nvSpPr>
          <p:cNvPr id="3" name="Content Placeholder 2"/>
          <p:cNvSpPr>
            <a:spLocks noGrp="1"/>
          </p:cNvSpPr>
          <p:nvPr>
            <p:ph idx="1"/>
          </p:nvPr>
        </p:nvSpPr>
        <p:spPr>
          <a:xfrm>
            <a:off x="1981200" y="1600201"/>
            <a:ext cx="9601200" cy="4525963"/>
          </a:xfrm>
        </p:spPr>
        <p:txBody>
          <a:bodyPr>
            <a:normAutofit/>
          </a:bodyPr>
          <a:lstStyle/>
          <a:p>
            <a:pPr marL="514350" indent="-514350">
              <a:buFont typeface="+mj-lt"/>
              <a:buAutoNum type="arabicPeriod"/>
            </a:pPr>
            <a:r>
              <a:rPr lang="en-IE" dirty="0"/>
              <a:t>Download the </a:t>
            </a:r>
            <a:r>
              <a:rPr lang="en-IE" b="1" dirty="0">
                <a:solidFill>
                  <a:srgbClr val="FF0000"/>
                </a:solidFill>
              </a:rPr>
              <a:t>xstream-1.4.17.jar </a:t>
            </a:r>
            <a:r>
              <a:rPr lang="en-IE" dirty="0"/>
              <a:t>component</a:t>
            </a:r>
          </a:p>
          <a:p>
            <a:pPr marL="914400" lvl="1" indent="-514350"/>
            <a:r>
              <a:rPr lang="en-IE" dirty="0"/>
              <a:t>Add it to your Shop project.</a:t>
            </a:r>
          </a:p>
          <a:p>
            <a:pPr marL="514350" indent="-514350">
              <a:buFont typeface="+mj-lt"/>
              <a:buAutoNum type="arabicPeriod"/>
            </a:pPr>
            <a:endParaRPr lang="en-IE" dirty="0"/>
          </a:p>
          <a:p>
            <a:pPr marL="514350" indent="-514350">
              <a:buFont typeface="+mj-lt"/>
              <a:buAutoNum type="arabicPeriod"/>
            </a:pPr>
            <a:r>
              <a:rPr lang="en-IE" b="1" dirty="0">
                <a:solidFill>
                  <a:srgbClr val="FF40FF"/>
                </a:solidFill>
              </a:rPr>
              <a:t>Store</a:t>
            </a:r>
            <a:r>
              <a:rPr lang="en-IE" dirty="0">
                <a:solidFill>
                  <a:srgbClr val="FF40FF"/>
                </a:solidFill>
              </a:rPr>
              <a:t> </a:t>
            </a:r>
            <a:r>
              <a:rPr lang="en-IE" dirty="0"/>
              <a:t>Class </a:t>
            </a:r>
          </a:p>
          <a:p>
            <a:pPr marL="857250" lvl="1" indent="-457200"/>
            <a:r>
              <a:rPr lang="en-IE" dirty="0"/>
              <a:t>Write the load(), save() methods. </a:t>
            </a:r>
          </a:p>
          <a:p>
            <a:pPr marL="514350" indent="-514350">
              <a:buFont typeface="+mj-lt"/>
              <a:buAutoNum type="arabicPeriod"/>
            </a:pPr>
            <a:endParaRPr lang="en-IE" dirty="0"/>
          </a:p>
          <a:p>
            <a:pPr marL="514350" indent="-514350">
              <a:buFont typeface="+mj-lt"/>
              <a:buAutoNum type="arabicPeriod"/>
            </a:pPr>
            <a:r>
              <a:rPr lang="en-IE" b="1" dirty="0">
                <a:solidFill>
                  <a:srgbClr val="F79646"/>
                </a:solidFill>
              </a:rPr>
              <a:t>Driver</a:t>
            </a:r>
            <a:r>
              <a:rPr lang="en-IE" b="1" dirty="0">
                <a:solidFill>
                  <a:srgbClr val="FF0000"/>
                </a:solidFill>
              </a:rPr>
              <a:t> </a:t>
            </a:r>
            <a:r>
              <a:rPr lang="en-IE" dirty="0"/>
              <a:t>Class</a:t>
            </a:r>
          </a:p>
          <a:p>
            <a:pPr lvl="1"/>
            <a:r>
              <a:rPr lang="en-IE" dirty="0"/>
              <a:t>include extra load and save functionality to the menu.</a:t>
            </a:r>
          </a:p>
          <a:p>
            <a:pPr marL="0" indent="0">
              <a:buNone/>
            </a:pPr>
            <a:endParaRPr lang="en-IE" dirty="0"/>
          </a:p>
          <a:p>
            <a:endParaRPr lang="en-IE" dirty="0"/>
          </a:p>
          <a:p>
            <a:pPr marL="0" indent="0">
              <a:buNone/>
            </a:pPr>
            <a:endParaRPr lang="en-IE" dirty="0"/>
          </a:p>
          <a:p>
            <a:pPr lvl="1"/>
            <a:endParaRPr lang="en-IE" dirty="0"/>
          </a:p>
        </p:txBody>
      </p:sp>
      <p:sp>
        <p:nvSpPr>
          <p:cNvPr id="4" name="Rectangle 3"/>
          <p:cNvSpPr/>
          <p:nvPr/>
        </p:nvSpPr>
        <p:spPr>
          <a:xfrm>
            <a:off x="1923584" y="4832390"/>
            <a:ext cx="8744415" cy="1304925"/>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5" name="Right Arrow 4"/>
          <p:cNvSpPr/>
          <p:nvPr/>
        </p:nvSpPr>
        <p:spPr>
          <a:xfrm>
            <a:off x="875370" y="5294352"/>
            <a:ext cx="914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6" name="Group 5"/>
          <p:cNvGrpSpPr/>
          <p:nvPr/>
        </p:nvGrpSpPr>
        <p:grpSpPr>
          <a:xfrm>
            <a:off x="9292142" y="0"/>
            <a:ext cx="1099407" cy="1306816"/>
            <a:chOff x="7157495" y="263237"/>
            <a:chExt cx="1099407" cy="1306816"/>
          </a:xfrm>
        </p:grpSpPr>
        <p:pic>
          <p:nvPicPr>
            <p:cNvPr id="7" name="Picture 6"/>
            <p:cNvPicPr>
              <a:picLocks noChangeAspect="1"/>
            </p:cNvPicPr>
            <p:nvPr/>
          </p:nvPicPr>
          <p:blipFill>
            <a:blip r:embed="rId2"/>
            <a:stretch>
              <a:fillRect/>
            </a:stretch>
          </p:blipFill>
          <p:spPr>
            <a:xfrm>
              <a:off x="7157495" y="263237"/>
              <a:ext cx="1099407" cy="1099407"/>
            </a:xfrm>
            <a:prstGeom prst="rect">
              <a:avLst/>
            </a:prstGeom>
          </p:spPr>
        </p:pic>
        <p:sp>
          <p:nvSpPr>
            <p:cNvPr id="8" name="TextBox 7"/>
            <p:cNvSpPr txBox="1"/>
            <p:nvPr/>
          </p:nvSpPr>
          <p:spPr>
            <a:xfrm>
              <a:off x="7290229" y="1262276"/>
              <a:ext cx="833938" cy="307777"/>
            </a:xfrm>
            <a:prstGeom prst="rect">
              <a:avLst/>
            </a:prstGeom>
            <a:solidFill>
              <a:schemeClr val="accent2"/>
            </a:solidFill>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GB" sz="1400" dirty="0"/>
                <a:t>V5 - XML</a:t>
              </a:r>
            </a:p>
          </p:txBody>
        </p:sp>
      </p:grpSp>
    </p:spTree>
    <p:extLst>
      <p:ext uri="{BB962C8B-B14F-4D97-AF65-F5344CB8AC3E}">
        <p14:creationId xmlns:p14="http://schemas.microsoft.com/office/powerpoint/2010/main" val="3631942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4294967295"/>
          </p:nvPr>
        </p:nvSpPr>
        <p:spPr>
          <a:xfrm>
            <a:off x="3810000" y="261787"/>
            <a:ext cx="6650169" cy="412741"/>
          </a:xfrm>
          <a:solidFill>
            <a:schemeClr val="accent6"/>
          </a:solidFill>
        </p:spPr>
        <p:style>
          <a:lnRef idx="2">
            <a:schemeClr val="accent6">
              <a:shade val="50000"/>
            </a:schemeClr>
          </a:lnRef>
          <a:fillRef idx="1">
            <a:schemeClr val="accent6"/>
          </a:fillRef>
          <a:effectRef idx="0">
            <a:schemeClr val="accent6"/>
          </a:effectRef>
          <a:fontRef idx="minor">
            <a:schemeClr val="lt1"/>
          </a:fontRef>
        </p:style>
        <p:txBody>
          <a:bodyPr>
            <a:noAutofit/>
          </a:bodyPr>
          <a:lstStyle/>
          <a:p>
            <a:pPr marL="0" indent="0" algn="ctr">
              <a:buNone/>
            </a:pPr>
            <a:r>
              <a:rPr lang="en-IE" sz="2000" dirty="0"/>
              <a:t>Adding </a:t>
            </a:r>
            <a:r>
              <a:rPr lang="en-IE" sz="2000" b="1" dirty="0">
                <a:solidFill>
                  <a:srgbClr val="FF0000"/>
                </a:solidFill>
              </a:rPr>
              <a:t>Save</a:t>
            </a:r>
            <a:r>
              <a:rPr lang="en-IE" sz="2000" dirty="0"/>
              <a:t> and </a:t>
            </a:r>
            <a:r>
              <a:rPr lang="en-IE" sz="2000" b="1" dirty="0">
                <a:solidFill>
                  <a:srgbClr val="FF0000"/>
                </a:solidFill>
              </a:rPr>
              <a:t>Load</a:t>
            </a:r>
            <a:r>
              <a:rPr lang="en-IE" sz="2000" dirty="0">
                <a:solidFill>
                  <a:srgbClr val="FF0000"/>
                </a:solidFill>
              </a:rPr>
              <a:t> </a:t>
            </a:r>
            <a:r>
              <a:rPr lang="en-IE" sz="2000" dirty="0"/>
              <a:t>functionality to the </a:t>
            </a:r>
            <a:r>
              <a:rPr lang="en-IE" sz="2000" b="1" dirty="0"/>
              <a:t>menu</a:t>
            </a:r>
            <a:r>
              <a:rPr lang="en-IE" sz="2000" dirty="0"/>
              <a:t>.</a:t>
            </a:r>
          </a:p>
          <a:p>
            <a:pPr marL="457200" lvl="1" indent="0" algn="ctr">
              <a:buNone/>
            </a:pPr>
            <a:endParaRPr lang="en-IE" sz="2000" dirty="0"/>
          </a:p>
          <a:p>
            <a:pPr algn="ctr"/>
            <a:endParaRPr lang="en-US" sz="2000" dirty="0"/>
          </a:p>
        </p:txBody>
      </p:sp>
      <p:pic>
        <p:nvPicPr>
          <p:cNvPr id="11" name="Picture 10">
            <a:extLst>
              <a:ext uri="{FF2B5EF4-FFF2-40B4-BE49-F238E27FC236}">
                <a16:creationId xmlns:a16="http://schemas.microsoft.com/office/drawing/2014/main" id="{C965D4E2-B20A-44A6-AD94-FCBD65CC51F0}"/>
              </a:ext>
            </a:extLst>
          </p:cNvPr>
          <p:cNvPicPr>
            <a:picLocks noChangeAspect="1"/>
          </p:cNvPicPr>
          <p:nvPr/>
        </p:nvPicPr>
        <p:blipFill>
          <a:blip r:embed="rId3"/>
          <a:stretch>
            <a:fillRect/>
          </a:stretch>
        </p:blipFill>
        <p:spPr>
          <a:xfrm>
            <a:off x="357024" y="154228"/>
            <a:ext cx="2614776" cy="3468580"/>
          </a:xfrm>
          <a:prstGeom prst="rect">
            <a:avLst/>
          </a:prstGeom>
          <a:ln>
            <a:noFill/>
          </a:ln>
          <a:effectLst>
            <a:outerShdw blurRad="292100" dist="139700" dir="2700000" algn="tl" rotWithShape="0">
              <a:srgbClr val="333333">
                <a:alpha val="65000"/>
              </a:srgbClr>
            </a:outerShdw>
          </a:effectLst>
        </p:spPr>
      </p:pic>
      <p:sp>
        <p:nvSpPr>
          <p:cNvPr id="13" name="Rectangle: Rounded Corners 12">
            <a:extLst>
              <a:ext uri="{FF2B5EF4-FFF2-40B4-BE49-F238E27FC236}">
                <a16:creationId xmlns:a16="http://schemas.microsoft.com/office/drawing/2014/main" id="{721696B5-2FB1-4326-9F41-87341094A66A}"/>
              </a:ext>
            </a:extLst>
          </p:cNvPr>
          <p:cNvSpPr/>
          <p:nvPr/>
        </p:nvSpPr>
        <p:spPr>
          <a:xfrm>
            <a:off x="457200" y="783440"/>
            <a:ext cx="1828800" cy="2286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I"/>
          </a:p>
        </p:txBody>
      </p:sp>
      <p:pic>
        <p:nvPicPr>
          <p:cNvPr id="17" name="Picture 16">
            <a:extLst>
              <a:ext uri="{FF2B5EF4-FFF2-40B4-BE49-F238E27FC236}">
                <a16:creationId xmlns:a16="http://schemas.microsoft.com/office/drawing/2014/main" id="{5C8CE2EA-2F1C-43E7-90CE-E332ADF61727}"/>
              </a:ext>
            </a:extLst>
          </p:cNvPr>
          <p:cNvPicPr>
            <a:picLocks noChangeAspect="1"/>
          </p:cNvPicPr>
          <p:nvPr/>
        </p:nvPicPr>
        <p:blipFill>
          <a:blip r:embed="rId4"/>
          <a:stretch>
            <a:fillRect/>
          </a:stretch>
        </p:blipFill>
        <p:spPr>
          <a:xfrm>
            <a:off x="3869798" y="1061164"/>
            <a:ext cx="6553200" cy="4735672"/>
          </a:xfrm>
          <a:prstGeom prst="rect">
            <a:avLst/>
          </a:prstGeom>
          <a:ln>
            <a:noFill/>
          </a:ln>
          <a:effectLst>
            <a:outerShdw blurRad="292100" dist="139700" dir="2700000" algn="tl" rotWithShape="0">
              <a:srgbClr val="333333">
                <a:alpha val="65000"/>
              </a:srgbClr>
            </a:outerShdw>
          </a:effectLst>
        </p:spPr>
      </p:pic>
      <p:sp>
        <p:nvSpPr>
          <p:cNvPr id="18" name="Arrow: Right 17">
            <a:extLst>
              <a:ext uri="{FF2B5EF4-FFF2-40B4-BE49-F238E27FC236}">
                <a16:creationId xmlns:a16="http://schemas.microsoft.com/office/drawing/2014/main" id="{E8E8F95D-5D23-415F-B60E-5481FCB96027}"/>
              </a:ext>
            </a:extLst>
          </p:cNvPr>
          <p:cNvSpPr/>
          <p:nvPr/>
        </p:nvSpPr>
        <p:spPr>
          <a:xfrm>
            <a:off x="3817434" y="44196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I"/>
          </a:p>
        </p:txBody>
      </p:sp>
    </p:spTree>
    <p:extLst>
      <p:ext uri="{BB962C8B-B14F-4D97-AF65-F5344CB8AC3E}">
        <p14:creationId xmlns:p14="http://schemas.microsoft.com/office/powerpoint/2010/main" val="2225268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4294967295"/>
          </p:nvPr>
        </p:nvSpPr>
        <p:spPr>
          <a:xfrm>
            <a:off x="3810000" y="261787"/>
            <a:ext cx="6650169" cy="412741"/>
          </a:xfrm>
          <a:solidFill>
            <a:schemeClr val="accent6"/>
          </a:solidFill>
        </p:spPr>
        <p:style>
          <a:lnRef idx="2">
            <a:schemeClr val="accent6">
              <a:shade val="50000"/>
            </a:schemeClr>
          </a:lnRef>
          <a:fillRef idx="1">
            <a:schemeClr val="accent6"/>
          </a:fillRef>
          <a:effectRef idx="0">
            <a:schemeClr val="accent6"/>
          </a:effectRef>
          <a:fontRef idx="minor">
            <a:schemeClr val="lt1"/>
          </a:fontRef>
        </p:style>
        <p:txBody>
          <a:bodyPr>
            <a:noAutofit/>
          </a:bodyPr>
          <a:lstStyle/>
          <a:p>
            <a:pPr marL="0" indent="0" algn="ctr">
              <a:buNone/>
            </a:pPr>
            <a:r>
              <a:rPr lang="en-IE" sz="2000" dirty="0"/>
              <a:t>Adding </a:t>
            </a:r>
            <a:r>
              <a:rPr lang="en-IE" sz="2000" b="1" dirty="0">
                <a:solidFill>
                  <a:srgbClr val="FF0000"/>
                </a:solidFill>
              </a:rPr>
              <a:t>Save</a:t>
            </a:r>
            <a:r>
              <a:rPr lang="en-IE" sz="2000" dirty="0"/>
              <a:t> and </a:t>
            </a:r>
            <a:r>
              <a:rPr lang="en-IE" sz="2000" b="1" dirty="0">
                <a:solidFill>
                  <a:srgbClr val="FF0000"/>
                </a:solidFill>
              </a:rPr>
              <a:t>Load</a:t>
            </a:r>
            <a:r>
              <a:rPr lang="en-IE" sz="2000" dirty="0">
                <a:solidFill>
                  <a:srgbClr val="FF0000"/>
                </a:solidFill>
              </a:rPr>
              <a:t> </a:t>
            </a:r>
            <a:r>
              <a:rPr lang="en-IE" sz="2000" dirty="0"/>
              <a:t>functionality to the </a:t>
            </a:r>
            <a:r>
              <a:rPr lang="en-IE" sz="2000" b="1" dirty="0"/>
              <a:t>menu</a:t>
            </a:r>
            <a:r>
              <a:rPr lang="en-IE" sz="2000" dirty="0"/>
              <a:t>.</a:t>
            </a:r>
          </a:p>
          <a:p>
            <a:pPr marL="457200" lvl="1" indent="0" algn="ctr">
              <a:buNone/>
            </a:pPr>
            <a:endParaRPr lang="en-IE" sz="2000" dirty="0"/>
          </a:p>
          <a:p>
            <a:pPr algn="ctr"/>
            <a:endParaRPr lang="en-US" sz="2000" dirty="0"/>
          </a:p>
        </p:txBody>
      </p:sp>
      <p:pic>
        <p:nvPicPr>
          <p:cNvPr id="11" name="Picture 10">
            <a:extLst>
              <a:ext uri="{FF2B5EF4-FFF2-40B4-BE49-F238E27FC236}">
                <a16:creationId xmlns:a16="http://schemas.microsoft.com/office/drawing/2014/main" id="{C965D4E2-B20A-44A6-AD94-FCBD65CC51F0}"/>
              </a:ext>
            </a:extLst>
          </p:cNvPr>
          <p:cNvPicPr>
            <a:picLocks noChangeAspect="1"/>
          </p:cNvPicPr>
          <p:nvPr/>
        </p:nvPicPr>
        <p:blipFill>
          <a:blip r:embed="rId3"/>
          <a:stretch>
            <a:fillRect/>
          </a:stretch>
        </p:blipFill>
        <p:spPr>
          <a:xfrm>
            <a:off x="357024" y="154228"/>
            <a:ext cx="2614776" cy="3468580"/>
          </a:xfrm>
          <a:prstGeom prst="rect">
            <a:avLst/>
          </a:prstGeom>
          <a:ln>
            <a:noFill/>
          </a:ln>
          <a:effectLst>
            <a:outerShdw blurRad="292100" dist="139700" dir="2700000" algn="tl" rotWithShape="0">
              <a:srgbClr val="333333">
                <a:alpha val="65000"/>
              </a:srgbClr>
            </a:outerShdw>
          </a:effectLst>
        </p:spPr>
      </p:pic>
      <p:sp>
        <p:nvSpPr>
          <p:cNvPr id="13" name="Rectangle: Rounded Corners 12">
            <a:extLst>
              <a:ext uri="{FF2B5EF4-FFF2-40B4-BE49-F238E27FC236}">
                <a16:creationId xmlns:a16="http://schemas.microsoft.com/office/drawing/2014/main" id="{721696B5-2FB1-4326-9F41-87341094A66A}"/>
              </a:ext>
            </a:extLst>
          </p:cNvPr>
          <p:cNvSpPr/>
          <p:nvPr/>
        </p:nvSpPr>
        <p:spPr>
          <a:xfrm>
            <a:off x="457200" y="990600"/>
            <a:ext cx="1828800" cy="2286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I"/>
          </a:p>
        </p:txBody>
      </p:sp>
      <p:pic>
        <p:nvPicPr>
          <p:cNvPr id="4" name="Picture 3">
            <a:extLst>
              <a:ext uri="{FF2B5EF4-FFF2-40B4-BE49-F238E27FC236}">
                <a16:creationId xmlns:a16="http://schemas.microsoft.com/office/drawing/2014/main" id="{46A3E0AD-4F15-49E7-ADD9-36FDE61F9189}"/>
              </a:ext>
            </a:extLst>
          </p:cNvPr>
          <p:cNvPicPr>
            <a:picLocks noChangeAspect="1"/>
          </p:cNvPicPr>
          <p:nvPr/>
        </p:nvPicPr>
        <p:blipFill>
          <a:blip r:embed="rId4"/>
          <a:stretch>
            <a:fillRect/>
          </a:stretch>
        </p:blipFill>
        <p:spPr>
          <a:xfrm>
            <a:off x="3581400" y="1589446"/>
            <a:ext cx="7638285" cy="3679107"/>
          </a:xfrm>
          <a:prstGeom prst="rect">
            <a:avLst/>
          </a:prstGeom>
          <a:ln>
            <a:noFill/>
          </a:ln>
          <a:effectLst>
            <a:outerShdw blurRad="292100" dist="139700" dir="2700000" algn="tl" rotWithShape="0">
              <a:srgbClr val="333333">
                <a:alpha val="65000"/>
              </a:srgbClr>
            </a:outerShdw>
          </a:effectLst>
        </p:spPr>
      </p:pic>
      <p:sp>
        <p:nvSpPr>
          <p:cNvPr id="8" name="Arrow: Right 7">
            <a:extLst>
              <a:ext uri="{FF2B5EF4-FFF2-40B4-BE49-F238E27FC236}">
                <a16:creationId xmlns:a16="http://schemas.microsoft.com/office/drawing/2014/main" id="{AD684C83-0898-4336-92B5-D3BF49BA212C}"/>
              </a:ext>
            </a:extLst>
          </p:cNvPr>
          <p:cNvSpPr/>
          <p:nvPr/>
        </p:nvSpPr>
        <p:spPr>
          <a:xfrm>
            <a:off x="2971800" y="41910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I"/>
          </a:p>
        </p:txBody>
      </p:sp>
    </p:spTree>
    <p:extLst>
      <p:ext uri="{BB962C8B-B14F-4D97-AF65-F5344CB8AC3E}">
        <p14:creationId xmlns:p14="http://schemas.microsoft.com/office/powerpoint/2010/main" val="4408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4294967295"/>
          </p:nvPr>
        </p:nvSpPr>
        <p:spPr>
          <a:xfrm>
            <a:off x="3810000" y="261787"/>
            <a:ext cx="6650169" cy="412741"/>
          </a:xfrm>
          <a:solidFill>
            <a:schemeClr val="accent6"/>
          </a:solidFill>
        </p:spPr>
        <p:style>
          <a:lnRef idx="2">
            <a:schemeClr val="accent6">
              <a:shade val="50000"/>
            </a:schemeClr>
          </a:lnRef>
          <a:fillRef idx="1">
            <a:schemeClr val="accent6"/>
          </a:fillRef>
          <a:effectRef idx="0">
            <a:schemeClr val="accent6"/>
          </a:effectRef>
          <a:fontRef idx="minor">
            <a:schemeClr val="lt1"/>
          </a:fontRef>
        </p:style>
        <p:txBody>
          <a:bodyPr>
            <a:noAutofit/>
          </a:bodyPr>
          <a:lstStyle/>
          <a:p>
            <a:pPr marL="0" indent="0" algn="ctr">
              <a:buNone/>
            </a:pPr>
            <a:r>
              <a:rPr lang="en-IE" sz="2000" dirty="0"/>
              <a:t>Adding </a:t>
            </a:r>
            <a:r>
              <a:rPr lang="en-IE" sz="2000" b="1" dirty="0">
                <a:solidFill>
                  <a:srgbClr val="FF0000"/>
                </a:solidFill>
              </a:rPr>
              <a:t>Save</a:t>
            </a:r>
            <a:r>
              <a:rPr lang="en-IE" sz="2000" dirty="0"/>
              <a:t> and </a:t>
            </a:r>
            <a:r>
              <a:rPr lang="en-IE" sz="2000" b="1" dirty="0">
                <a:solidFill>
                  <a:srgbClr val="FF0000"/>
                </a:solidFill>
              </a:rPr>
              <a:t>Load</a:t>
            </a:r>
            <a:r>
              <a:rPr lang="en-IE" sz="2000" dirty="0">
                <a:solidFill>
                  <a:srgbClr val="FF0000"/>
                </a:solidFill>
              </a:rPr>
              <a:t> </a:t>
            </a:r>
            <a:r>
              <a:rPr lang="en-IE" sz="2000" dirty="0"/>
              <a:t>functionality to the </a:t>
            </a:r>
            <a:r>
              <a:rPr lang="en-IE" sz="2000" b="1" dirty="0"/>
              <a:t>menu</a:t>
            </a:r>
            <a:r>
              <a:rPr lang="en-IE" sz="2000" dirty="0"/>
              <a:t>.</a:t>
            </a:r>
          </a:p>
          <a:p>
            <a:pPr marL="457200" lvl="1" indent="0" algn="ctr">
              <a:buNone/>
            </a:pPr>
            <a:endParaRPr lang="en-IE" sz="2000" dirty="0"/>
          </a:p>
          <a:p>
            <a:pPr algn="ctr"/>
            <a:endParaRPr lang="en-US" sz="2000" dirty="0"/>
          </a:p>
        </p:txBody>
      </p:sp>
      <p:pic>
        <p:nvPicPr>
          <p:cNvPr id="11" name="Picture 10">
            <a:extLst>
              <a:ext uri="{FF2B5EF4-FFF2-40B4-BE49-F238E27FC236}">
                <a16:creationId xmlns:a16="http://schemas.microsoft.com/office/drawing/2014/main" id="{C965D4E2-B20A-44A6-AD94-FCBD65CC51F0}"/>
              </a:ext>
            </a:extLst>
          </p:cNvPr>
          <p:cNvPicPr>
            <a:picLocks noChangeAspect="1"/>
          </p:cNvPicPr>
          <p:nvPr/>
        </p:nvPicPr>
        <p:blipFill>
          <a:blip r:embed="rId3"/>
          <a:stretch>
            <a:fillRect/>
          </a:stretch>
        </p:blipFill>
        <p:spPr>
          <a:xfrm>
            <a:off x="357024" y="154228"/>
            <a:ext cx="2614776" cy="3468580"/>
          </a:xfrm>
          <a:prstGeom prst="rect">
            <a:avLst/>
          </a:prstGeom>
          <a:ln>
            <a:noFill/>
          </a:ln>
          <a:effectLst>
            <a:outerShdw blurRad="292100" dist="139700" dir="2700000" algn="tl" rotWithShape="0">
              <a:srgbClr val="333333">
                <a:alpha val="65000"/>
              </a:srgbClr>
            </a:outerShdw>
          </a:effectLst>
        </p:spPr>
      </p:pic>
      <p:sp>
        <p:nvSpPr>
          <p:cNvPr id="13" name="Rectangle: Rounded Corners 12">
            <a:extLst>
              <a:ext uri="{FF2B5EF4-FFF2-40B4-BE49-F238E27FC236}">
                <a16:creationId xmlns:a16="http://schemas.microsoft.com/office/drawing/2014/main" id="{721696B5-2FB1-4326-9F41-87341094A66A}"/>
              </a:ext>
            </a:extLst>
          </p:cNvPr>
          <p:cNvSpPr/>
          <p:nvPr/>
        </p:nvSpPr>
        <p:spPr>
          <a:xfrm>
            <a:off x="457200" y="2971800"/>
            <a:ext cx="1828800" cy="2286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I"/>
          </a:p>
        </p:txBody>
      </p:sp>
      <p:sp>
        <p:nvSpPr>
          <p:cNvPr id="9" name="Rectangle 8">
            <a:extLst>
              <a:ext uri="{FF2B5EF4-FFF2-40B4-BE49-F238E27FC236}">
                <a16:creationId xmlns:a16="http://schemas.microsoft.com/office/drawing/2014/main" id="{3FCC38E8-8568-442D-B54F-D0ED387A5D12}"/>
              </a:ext>
            </a:extLst>
          </p:cNvPr>
          <p:cNvSpPr>
            <a:spLocks noChangeArrowheads="1"/>
          </p:cNvSpPr>
          <p:nvPr/>
        </p:nvSpPr>
        <p:spPr bwMode="auto">
          <a:xfrm>
            <a:off x="3272883" y="874455"/>
            <a:ext cx="6303072" cy="2554545"/>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VI" altLang="en-VI" sz="2000" b="0" i="1" u="none" strike="noStrike" cap="none" normalizeH="0" baseline="0" dirty="0">
                <a:ln>
                  <a:noFill/>
                </a:ln>
                <a:solidFill>
                  <a:srgbClr val="8C8C8C"/>
                </a:solidFill>
                <a:effectLst/>
                <a:latin typeface="JetBrains Mono"/>
              </a:rPr>
              <a:t>//save all the products in the store to a file on the hard disk</a:t>
            </a:r>
            <a:br>
              <a:rPr kumimoji="0" lang="en-VI" altLang="en-VI" sz="2000" b="0" i="1" u="none" strike="noStrike" cap="none" normalizeH="0" baseline="0" dirty="0">
                <a:ln>
                  <a:noFill/>
                </a:ln>
                <a:solidFill>
                  <a:srgbClr val="8C8C8C"/>
                </a:solidFill>
                <a:effectLst/>
                <a:latin typeface="JetBrains Mono"/>
              </a:rPr>
            </a:br>
            <a:r>
              <a:rPr kumimoji="0" lang="en-VI" altLang="en-VI" sz="2000" b="0" i="0" u="none" strike="noStrike" cap="none" normalizeH="0" baseline="0" dirty="0">
                <a:ln>
                  <a:noFill/>
                </a:ln>
                <a:solidFill>
                  <a:srgbClr val="0033B3"/>
                </a:solidFill>
                <a:effectLst/>
                <a:latin typeface="JetBrains Mono"/>
              </a:rPr>
              <a:t>private void </a:t>
            </a:r>
            <a:r>
              <a:rPr kumimoji="0" lang="en-VI" altLang="en-VI" sz="2000" b="0" i="0" u="none" strike="noStrike" cap="none" normalizeH="0" baseline="0" dirty="0" err="1">
                <a:ln>
                  <a:noFill/>
                </a:ln>
                <a:solidFill>
                  <a:srgbClr val="00627A"/>
                </a:solidFill>
                <a:effectLst/>
                <a:latin typeface="JetBrains Mono"/>
              </a:rPr>
              <a:t>saveProducts</a:t>
            </a:r>
            <a:r>
              <a:rPr kumimoji="0" lang="en-VI" altLang="en-VI" sz="2000" b="0" i="0" u="none" strike="noStrike" cap="none" normalizeH="0" baseline="0" dirty="0">
                <a:ln>
                  <a:noFill/>
                </a:ln>
                <a:solidFill>
                  <a:srgbClr val="080808"/>
                </a:solidFill>
                <a:effectLst/>
                <a:latin typeface="JetBrains Mono"/>
              </a:rPr>
              <a:t>() {</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r>
              <a:rPr kumimoji="0" lang="en-VI" altLang="en-VI" sz="2000" b="0" i="0" u="none" strike="noStrike" cap="none" normalizeH="0" baseline="0" dirty="0">
                <a:ln>
                  <a:noFill/>
                </a:ln>
                <a:solidFill>
                  <a:srgbClr val="0033B3"/>
                </a:solidFill>
                <a:effectLst/>
                <a:latin typeface="JetBrains Mono"/>
              </a:rPr>
              <a:t>try </a:t>
            </a:r>
            <a:r>
              <a:rPr kumimoji="0" lang="en-VI" altLang="en-VI" sz="2000" b="0" i="0" u="none" strike="noStrike" cap="none" normalizeH="0" baseline="0" dirty="0">
                <a:ln>
                  <a:noFill/>
                </a:ln>
                <a:solidFill>
                  <a:srgbClr val="080808"/>
                </a:solidFill>
                <a:effectLst/>
                <a:latin typeface="JetBrains Mono"/>
              </a:rPr>
              <a:t>{</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r>
              <a:rPr kumimoji="0" lang="en-VI" altLang="en-VI" sz="2000" b="0" i="0" u="none" strike="noStrike" cap="none" normalizeH="0" baseline="0" dirty="0" err="1">
                <a:ln>
                  <a:noFill/>
                </a:ln>
                <a:solidFill>
                  <a:srgbClr val="871094"/>
                </a:solidFill>
                <a:effectLst/>
                <a:latin typeface="JetBrains Mono"/>
              </a:rPr>
              <a:t>store</a:t>
            </a:r>
            <a:r>
              <a:rPr kumimoji="0" lang="en-VI" altLang="en-VI" sz="2000" b="0" i="0" u="none" strike="noStrike" cap="none" normalizeH="0" baseline="0" dirty="0" err="1">
                <a:ln>
                  <a:noFill/>
                </a:ln>
                <a:solidFill>
                  <a:srgbClr val="080808"/>
                </a:solidFill>
                <a:effectLst/>
                <a:latin typeface="JetBrains Mono"/>
              </a:rPr>
              <a:t>.save</a:t>
            </a:r>
            <a:r>
              <a:rPr kumimoji="0" lang="en-VI" altLang="en-VI" sz="2000" b="0" i="0" u="none" strike="noStrike" cap="none" normalizeH="0" baseline="0" dirty="0">
                <a:ln>
                  <a:noFill/>
                </a:ln>
                <a:solidFill>
                  <a:srgbClr val="080808"/>
                </a:solidFill>
                <a:effectLst/>
                <a:latin typeface="JetBrains Mono"/>
              </a:rPr>
              <a:t>();</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 </a:t>
            </a:r>
            <a:r>
              <a:rPr kumimoji="0" lang="en-VI" altLang="en-VI" sz="2000" b="0" i="0" u="none" strike="noStrike" cap="none" normalizeH="0" baseline="0" dirty="0">
                <a:ln>
                  <a:noFill/>
                </a:ln>
                <a:solidFill>
                  <a:srgbClr val="0033B3"/>
                </a:solidFill>
                <a:effectLst/>
                <a:latin typeface="JetBrains Mono"/>
              </a:rPr>
              <a:t>catch </a:t>
            </a:r>
            <a:r>
              <a:rPr kumimoji="0" lang="en-VI" altLang="en-VI" sz="2000" b="0" i="0" u="none" strike="noStrike" cap="none" normalizeH="0" baseline="0" dirty="0">
                <a:ln>
                  <a:noFill/>
                </a:ln>
                <a:solidFill>
                  <a:srgbClr val="080808"/>
                </a:solidFill>
                <a:effectLst/>
                <a:latin typeface="JetBrains Mono"/>
              </a:rPr>
              <a:t>(</a:t>
            </a:r>
            <a:r>
              <a:rPr kumimoji="0" lang="en-VI" altLang="en-VI" sz="2000" b="0" i="0" u="none" strike="noStrike" cap="none" normalizeH="0" baseline="0" dirty="0">
                <a:ln>
                  <a:noFill/>
                </a:ln>
                <a:solidFill>
                  <a:srgbClr val="000000"/>
                </a:solidFill>
                <a:effectLst/>
                <a:latin typeface="JetBrains Mono"/>
              </a:rPr>
              <a:t>Exception </a:t>
            </a:r>
            <a:r>
              <a:rPr kumimoji="0" lang="en-VI" altLang="en-VI" sz="2000" b="0" i="0" u="none" strike="noStrike" cap="none" normalizeH="0" baseline="0" dirty="0">
                <a:ln>
                  <a:noFill/>
                </a:ln>
                <a:solidFill>
                  <a:srgbClr val="080808"/>
                </a:solidFill>
                <a:effectLst/>
                <a:latin typeface="JetBrains Mono"/>
              </a:rPr>
              <a:t>e) {</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r>
              <a:rPr kumimoji="0" lang="en-VI" altLang="en-VI" sz="2000" b="0" i="0" u="none" strike="noStrike" cap="none" normalizeH="0" baseline="0" dirty="0" err="1">
                <a:ln>
                  <a:noFill/>
                </a:ln>
                <a:solidFill>
                  <a:srgbClr val="000000"/>
                </a:solidFill>
                <a:effectLst/>
                <a:latin typeface="JetBrains Mono"/>
              </a:rPr>
              <a:t>System</a:t>
            </a:r>
            <a:r>
              <a:rPr kumimoji="0" lang="en-VI" altLang="en-VI" sz="2000" b="0" i="0" u="none" strike="noStrike" cap="none" normalizeH="0" baseline="0" dirty="0" err="1">
                <a:ln>
                  <a:noFill/>
                </a:ln>
                <a:solidFill>
                  <a:srgbClr val="080808"/>
                </a:solidFill>
                <a:effectLst/>
                <a:latin typeface="JetBrains Mono"/>
              </a:rPr>
              <a:t>.</a:t>
            </a:r>
            <a:r>
              <a:rPr kumimoji="0" lang="en-VI" altLang="en-VI" sz="2000" b="0" i="1" u="none" strike="noStrike" cap="none" normalizeH="0" baseline="0" dirty="0" err="1">
                <a:ln>
                  <a:noFill/>
                </a:ln>
                <a:solidFill>
                  <a:srgbClr val="871094"/>
                </a:solidFill>
                <a:effectLst/>
                <a:latin typeface="JetBrains Mono"/>
              </a:rPr>
              <a:t>err</a:t>
            </a:r>
            <a:r>
              <a:rPr kumimoji="0" lang="en-VI" altLang="en-VI" sz="2000" b="0" i="0" u="none" strike="noStrike" cap="none" normalizeH="0" baseline="0" dirty="0" err="1">
                <a:ln>
                  <a:noFill/>
                </a:ln>
                <a:solidFill>
                  <a:srgbClr val="080808"/>
                </a:solidFill>
                <a:effectLst/>
                <a:latin typeface="JetBrains Mono"/>
              </a:rPr>
              <a:t>.println</a:t>
            </a:r>
            <a:r>
              <a:rPr kumimoji="0" lang="en-VI" altLang="en-VI" sz="2000" b="0" i="0" u="none" strike="noStrike" cap="none" normalizeH="0" baseline="0" dirty="0">
                <a:ln>
                  <a:noFill/>
                </a:ln>
                <a:solidFill>
                  <a:srgbClr val="080808"/>
                </a:solidFill>
                <a:effectLst/>
                <a:latin typeface="JetBrains Mono"/>
              </a:rPr>
              <a:t>(</a:t>
            </a:r>
            <a:r>
              <a:rPr kumimoji="0" lang="en-VI" altLang="en-VI" sz="2000" b="0" i="0" u="none" strike="noStrike" cap="none" normalizeH="0" baseline="0" dirty="0">
                <a:ln>
                  <a:noFill/>
                </a:ln>
                <a:solidFill>
                  <a:srgbClr val="067D17"/>
                </a:solidFill>
                <a:effectLst/>
                <a:latin typeface="JetBrains Mono"/>
              </a:rPr>
              <a:t>"Error writing to file: " </a:t>
            </a:r>
            <a:r>
              <a:rPr kumimoji="0" lang="en-VI" altLang="en-VI" sz="2000" b="0" i="0" u="none" strike="noStrike" cap="none" normalizeH="0" baseline="0" dirty="0">
                <a:ln>
                  <a:noFill/>
                </a:ln>
                <a:solidFill>
                  <a:srgbClr val="080808"/>
                </a:solidFill>
                <a:effectLst/>
                <a:latin typeface="JetBrains Mono"/>
              </a:rPr>
              <a:t>+ e);</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a:t>
            </a:r>
            <a:endParaRPr kumimoji="0" lang="en-VI" altLang="en-VI" sz="4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38276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4294967295"/>
          </p:nvPr>
        </p:nvSpPr>
        <p:spPr>
          <a:xfrm>
            <a:off x="3810000" y="261787"/>
            <a:ext cx="6650169" cy="412741"/>
          </a:xfrm>
          <a:solidFill>
            <a:schemeClr val="accent6"/>
          </a:solidFill>
        </p:spPr>
        <p:style>
          <a:lnRef idx="2">
            <a:schemeClr val="accent6">
              <a:shade val="50000"/>
            </a:schemeClr>
          </a:lnRef>
          <a:fillRef idx="1">
            <a:schemeClr val="accent6"/>
          </a:fillRef>
          <a:effectRef idx="0">
            <a:schemeClr val="accent6"/>
          </a:effectRef>
          <a:fontRef idx="minor">
            <a:schemeClr val="lt1"/>
          </a:fontRef>
        </p:style>
        <p:txBody>
          <a:bodyPr>
            <a:noAutofit/>
          </a:bodyPr>
          <a:lstStyle/>
          <a:p>
            <a:pPr marL="0" indent="0" algn="ctr">
              <a:buNone/>
            </a:pPr>
            <a:r>
              <a:rPr lang="en-IE" sz="2000" dirty="0"/>
              <a:t>Adding </a:t>
            </a:r>
            <a:r>
              <a:rPr lang="en-IE" sz="2000" b="1" dirty="0">
                <a:solidFill>
                  <a:srgbClr val="FF0000"/>
                </a:solidFill>
              </a:rPr>
              <a:t>Save</a:t>
            </a:r>
            <a:r>
              <a:rPr lang="en-IE" sz="2000" dirty="0"/>
              <a:t> and </a:t>
            </a:r>
            <a:r>
              <a:rPr lang="en-IE" sz="2000" b="1" dirty="0">
                <a:solidFill>
                  <a:srgbClr val="FF0000"/>
                </a:solidFill>
              </a:rPr>
              <a:t>Load</a:t>
            </a:r>
            <a:r>
              <a:rPr lang="en-IE" sz="2000" dirty="0">
                <a:solidFill>
                  <a:srgbClr val="FF0000"/>
                </a:solidFill>
              </a:rPr>
              <a:t> </a:t>
            </a:r>
            <a:r>
              <a:rPr lang="en-IE" sz="2000" dirty="0"/>
              <a:t>functionality to the </a:t>
            </a:r>
            <a:r>
              <a:rPr lang="en-IE" sz="2000" b="1" dirty="0"/>
              <a:t>menu</a:t>
            </a:r>
            <a:r>
              <a:rPr lang="en-IE" sz="2000" dirty="0"/>
              <a:t>.</a:t>
            </a:r>
          </a:p>
          <a:p>
            <a:pPr marL="457200" lvl="1" indent="0" algn="ctr">
              <a:buNone/>
            </a:pPr>
            <a:endParaRPr lang="en-IE" sz="2000" dirty="0"/>
          </a:p>
          <a:p>
            <a:pPr algn="ctr"/>
            <a:endParaRPr lang="en-US" sz="2000" dirty="0"/>
          </a:p>
        </p:txBody>
      </p:sp>
      <p:pic>
        <p:nvPicPr>
          <p:cNvPr id="11" name="Picture 10">
            <a:extLst>
              <a:ext uri="{FF2B5EF4-FFF2-40B4-BE49-F238E27FC236}">
                <a16:creationId xmlns:a16="http://schemas.microsoft.com/office/drawing/2014/main" id="{C965D4E2-B20A-44A6-AD94-FCBD65CC51F0}"/>
              </a:ext>
            </a:extLst>
          </p:cNvPr>
          <p:cNvPicPr>
            <a:picLocks noChangeAspect="1"/>
          </p:cNvPicPr>
          <p:nvPr/>
        </p:nvPicPr>
        <p:blipFill>
          <a:blip r:embed="rId3"/>
          <a:stretch>
            <a:fillRect/>
          </a:stretch>
        </p:blipFill>
        <p:spPr>
          <a:xfrm>
            <a:off x="357024" y="154228"/>
            <a:ext cx="2614776" cy="3468580"/>
          </a:xfrm>
          <a:prstGeom prst="rect">
            <a:avLst/>
          </a:prstGeom>
          <a:ln>
            <a:noFill/>
          </a:ln>
          <a:effectLst>
            <a:outerShdw blurRad="292100" dist="139700" dir="2700000" algn="tl" rotWithShape="0">
              <a:srgbClr val="333333">
                <a:alpha val="65000"/>
              </a:srgbClr>
            </a:outerShdw>
          </a:effectLst>
        </p:spPr>
      </p:pic>
      <p:sp>
        <p:nvSpPr>
          <p:cNvPr id="13" name="Rectangle: Rounded Corners 12">
            <a:extLst>
              <a:ext uri="{FF2B5EF4-FFF2-40B4-BE49-F238E27FC236}">
                <a16:creationId xmlns:a16="http://schemas.microsoft.com/office/drawing/2014/main" id="{721696B5-2FB1-4326-9F41-87341094A66A}"/>
              </a:ext>
            </a:extLst>
          </p:cNvPr>
          <p:cNvSpPr/>
          <p:nvPr/>
        </p:nvSpPr>
        <p:spPr>
          <a:xfrm>
            <a:off x="357024" y="3124200"/>
            <a:ext cx="1828800" cy="2286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I" sz="4400"/>
          </a:p>
        </p:txBody>
      </p:sp>
      <p:sp>
        <p:nvSpPr>
          <p:cNvPr id="4" name="Rectangle 1">
            <a:extLst>
              <a:ext uri="{FF2B5EF4-FFF2-40B4-BE49-F238E27FC236}">
                <a16:creationId xmlns:a16="http://schemas.microsoft.com/office/drawing/2014/main" id="{88D46F7C-9E11-42B8-B3A4-3541544F920B}"/>
              </a:ext>
            </a:extLst>
          </p:cNvPr>
          <p:cNvSpPr>
            <a:spLocks noChangeArrowheads="1"/>
          </p:cNvSpPr>
          <p:nvPr/>
        </p:nvSpPr>
        <p:spPr bwMode="auto">
          <a:xfrm>
            <a:off x="3276600" y="3795446"/>
            <a:ext cx="6793398" cy="2554545"/>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VI" altLang="en-VI" sz="2000" b="0" i="1" u="none" strike="noStrike" cap="none" normalizeH="0" baseline="0" dirty="0">
                <a:ln>
                  <a:noFill/>
                </a:ln>
                <a:solidFill>
                  <a:srgbClr val="8C8C8C"/>
                </a:solidFill>
                <a:effectLst/>
                <a:latin typeface="JetBrains Mono"/>
              </a:rPr>
              <a:t>//load all the products into the store from a file on the hard disk</a:t>
            </a:r>
            <a:br>
              <a:rPr kumimoji="0" lang="en-VI" altLang="en-VI" sz="2000" b="0" i="1" u="none" strike="noStrike" cap="none" normalizeH="0" baseline="0" dirty="0">
                <a:ln>
                  <a:noFill/>
                </a:ln>
                <a:solidFill>
                  <a:srgbClr val="8C8C8C"/>
                </a:solidFill>
                <a:effectLst/>
                <a:latin typeface="JetBrains Mono"/>
              </a:rPr>
            </a:br>
            <a:r>
              <a:rPr kumimoji="0" lang="en-VI" altLang="en-VI" sz="2000" b="0" i="0" u="none" strike="noStrike" cap="none" normalizeH="0" baseline="0" dirty="0">
                <a:ln>
                  <a:noFill/>
                </a:ln>
                <a:solidFill>
                  <a:srgbClr val="0033B3"/>
                </a:solidFill>
                <a:effectLst/>
                <a:latin typeface="JetBrains Mono"/>
              </a:rPr>
              <a:t>private void </a:t>
            </a:r>
            <a:r>
              <a:rPr kumimoji="0" lang="en-VI" altLang="en-VI" sz="2000" b="0" i="0" u="none" strike="noStrike" cap="none" normalizeH="0" baseline="0" dirty="0" err="1">
                <a:ln>
                  <a:noFill/>
                </a:ln>
                <a:solidFill>
                  <a:srgbClr val="00627A"/>
                </a:solidFill>
                <a:effectLst/>
                <a:latin typeface="JetBrains Mono"/>
              </a:rPr>
              <a:t>loadProducts</a:t>
            </a:r>
            <a:r>
              <a:rPr kumimoji="0" lang="en-VI" altLang="en-VI" sz="2000" b="0" i="0" u="none" strike="noStrike" cap="none" normalizeH="0" baseline="0" dirty="0">
                <a:ln>
                  <a:noFill/>
                </a:ln>
                <a:solidFill>
                  <a:srgbClr val="080808"/>
                </a:solidFill>
                <a:effectLst/>
                <a:latin typeface="JetBrains Mono"/>
              </a:rPr>
              <a:t>() {</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r>
              <a:rPr kumimoji="0" lang="en-VI" altLang="en-VI" sz="2000" b="0" i="0" u="none" strike="noStrike" cap="none" normalizeH="0" baseline="0" dirty="0">
                <a:ln>
                  <a:noFill/>
                </a:ln>
                <a:solidFill>
                  <a:srgbClr val="0033B3"/>
                </a:solidFill>
                <a:effectLst/>
                <a:latin typeface="JetBrains Mono"/>
              </a:rPr>
              <a:t>try </a:t>
            </a:r>
            <a:r>
              <a:rPr kumimoji="0" lang="en-VI" altLang="en-VI" sz="2000" b="0" i="0" u="none" strike="noStrike" cap="none" normalizeH="0" baseline="0" dirty="0">
                <a:ln>
                  <a:noFill/>
                </a:ln>
                <a:solidFill>
                  <a:srgbClr val="080808"/>
                </a:solidFill>
                <a:effectLst/>
                <a:latin typeface="JetBrains Mono"/>
              </a:rPr>
              <a:t>{</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r>
              <a:rPr kumimoji="0" lang="en-VI" altLang="en-VI" sz="2000" b="0" i="0" u="none" strike="noStrike" cap="none" normalizeH="0" baseline="0" dirty="0" err="1">
                <a:ln>
                  <a:noFill/>
                </a:ln>
                <a:solidFill>
                  <a:srgbClr val="871094"/>
                </a:solidFill>
                <a:effectLst/>
                <a:latin typeface="JetBrains Mono"/>
              </a:rPr>
              <a:t>store</a:t>
            </a:r>
            <a:r>
              <a:rPr kumimoji="0" lang="en-VI" altLang="en-VI" sz="2000" b="0" i="0" u="none" strike="noStrike" cap="none" normalizeH="0" baseline="0" dirty="0" err="1">
                <a:ln>
                  <a:noFill/>
                </a:ln>
                <a:solidFill>
                  <a:srgbClr val="080808"/>
                </a:solidFill>
                <a:effectLst/>
                <a:latin typeface="JetBrains Mono"/>
              </a:rPr>
              <a:t>.load</a:t>
            </a:r>
            <a:r>
              <a:rPr kumimoji="0" lang="en-VI" altLang="en-VI" sz="2000" b="0" i="0" u="none" strike="noStrike" cap="none" normalizeH="0" baseline="0" dirty="0">
                <a:ln>
                  <a:noFill/>
                </a:ln>
                <a:solidFill>
                  <a:srgbClr val="080808"/>
                </a:solidFill>
                <a:effectLst/>
                <a:latin typeface="JetBrains Mono"/>
              </a:rPr>
              <a:t>();</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 </a:t>
            </a:r>
            <a:r>
              <a:rPr kumimoji="0" lang="en-VI" altLang="en-VI" sz="2000" b="0" i="0" u="none" strike="noStrike" cap="none" normalizeH="0" baseline="0" dirty="0">
                <a:ln>
                  <a:noFill/>
                </a:ln>
                <a:solidFill>
                  <a:srgbClr val="0033B3"/>
                </a:solidFill>
                <a:effectLst/>
                <a:latin typeface="JetBrains Mono"/>
              </a:rPr>
              <a:t>catch </a:t>
            </a:r>
            <a:r>
              <a:rPr kumimoji="0" lang="en-VI" altLang="en-VI" sz="2000" b="0" i="0" u="none" strike="noStrike" cap="none" normalizeH="0" baseline="0" dirty="0">
                <a:ln>
                  <a:noFill/>
                </a:ln>
                <a:solidFill>
                  <a:srgbClr val="080808"/>
                </a:solidFill>
                <a:effectLst/>
                <a:latin typeface="JetBrains Mono"/>
              </a:rPr>
              <a:t>(</a:t>
            </a:r>
            <a:r>
              <a:rPr kumimoji="0" lang="en-VI" altLang="en-VI" sz="2000" b="0" i="0" u="none" strike="noStrike" cap="none" normalizeH="0" baseline="0" dirty="0">
                <a:ln>
                  <a:noFill/>
                </a:ln>
                <a:solidFill>
                  <a:srgbClr val="000000"/>
                </a:solidFill>
                <a:effectLst/>
                <a:latin typeface="JetBrains Mono"/>
              </a:rPr>
              <a:t>Exception </a:t>
            </a:r>
            <a:r>
              <a:rPr kumimoji="0" lang="en-VI" altLang="en-VI" sz="2000" b="0" i="0" u="none" strike="noStrike" cap="none" normalizeH="0" baseline="0" dirty="0">
                <a:ln>
                  <a:noFill/>
                </a:ln>
                <a:solidFill>
                  <a:srgbClr val="080808"/>
                </a:solidFill>
                <a:effectLst/>
                <a:latin typeface="JetBrains Mono"/>
              </a:rPr>
              <a:t>e) {</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r>
              <a:rPr kumimoji="0" lang="en-VI" altLang="en-VI" sz="2000" b="0" i="0" u="none" strike="noStrike" cap="none" normalizeH="0" baseline="0" dirty="0" err="1">
                <a:ln>
                  <a:noFill/>
                </a:ln>
                <a:solidFill>
                  <a:srgbClr val="000000"/>
                </a:solidFill>
                <a:effectLst/>
                <a:latin typeface="JetBrains Mono"/>
              </a:rPr>
              <a:t>System</a:t>
            </a:r>
            <a:r>
              <a:rPr kumimoji="0" lang="en-VI" altLang="en-VI" sz="2000" b="0" i="0" u="none" strike="noStrike" cap="none" normalizeH="0" baseline="0" dirty="0" err="1">
                <a:ln>
                  <a:noFill/>
                </a:ln>
                <a:solidFill>
                  <a:srgbClr val="080808"/>
                </a:solidFill>
                <a:effectLst/>
                <a:latin typeface="JetBrains Mono"/>
              </a:rPr>
              <a:t>.</a:t>
            </a:r>
            <a:r>
              <a:rPr kumimoji="0" lang="en-VI" altLang="en-VI" sz="2000" b="0" i="1" u="none" strike="noStrike" cap="none" normalizeH="0" baseline="0" dirty="0" err="1">
                <a:ln>
                  <a:noFill/>
                </a:ln>
                <a:solidFill>
                  <a:srgbClr val="871094"/>
                </a:solidFill>
                <a:effectLst/>
                <a:latin typeface="JetBrains Mono"/>
              </a:rPr>
              <a:t>err</a:t>
            </a:r>
            <a:r>
              <a:rPr kumimoji="0" lang="en-VI" altLang="en-VI" sz="2000" b="0" i="0" u="none" strike="noStrike" cap="none" normalizeH="0" baseline="0" dirty="0" err="1">
                <a:ln>
                  <a:noFill/>
                </a:ln>
                <a:solidFill>
                  <a:srgbClr val="080808"/>
                </a:solidFill>
                <a:effectLst/>
                <a:latin typeface="JetBrains Mono"/>
              </a:rPr>
              <a:t>.println</a:t>
            </a:r>
            <a:r>
              <a:rPr kumimoji="0" lang="en-VI" altLang="en-VI" sz="2000" b="0" i="0" u="none" strike="noStrike" cap="none" normalizeH="0" baseline="0" dirty="0">
                <a:ln>
                  <a:noFill/>
                </a:ln>
                <a:solidFill>
                  <a:srgbClr val="080808"/>
                </a:solidFill>
                <a:effectLst/>
                <a:latin typeface="JetBrains Mono"/>
              </a:rPr>
              <a:t>(</a:t>
            </a:r>
            <a:r>
              <a:rPr kumimoji="0" lang="en-VI" altLang="en-VI" sz="2000" b="0" i="0" u="none" strike="noStrike" cap="none" normalizeH="0" baseline="0" dirty="0">
                <a:ln>
                  <a:noFill/>
                </a:ln>
                <a:solidFill>
                  <a:srgbClr val="067D17"/>
                </a:solidFill>
                <a:effectLst/>
                <a:latin typeface="JetBrains Mono"/>
              </a:rPr>
              <a:t>"Error reading from file: " </a:t>
            </a:r>
            <a:r>
              <a:rPr kumimoji="0" lang="en-VI" altLang="en-VI" sz="2000" b="0" i="0" u="none" strike="noStrike" cap="none" normalizeH="0" baseline="0" dirty="0">
                <a:ln>
                  <a:noFill/>
                </a:ln>
                <a:solidFill>
                  <a:srgbClr val="080808"/>
                </a:solidFill>
                <a:effectLst/>
                <a:latin typeface="JetBrains Mono"/>
              </a:rPr>
              <a:t>+ e);</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a:t>
            </a:r>
            <a:endParaRPr kumimoji="0" lang="en-VI" altLang="en-VI" sz="4800" b="0" i="0" u="none" strike="noStrike" cap="none" normalizeH="0" baseline="0" dirty="0">
              <a:ln>
                <a:noFill/>
              </a:ln>
              <a:solidFill>
                <a:schemeClr val="tx1"/>
              </a:solidFill>
              <a:effectLst/>
              <a:latin typeface="Arial" panose="020B0604020202020204" pitchFamily="34" charset="0"/>
            </a:endParaRPr>
          </a:p>
        </p:txBody>
      </p:sp>
      <p:sp>
        <p:nvSpPr>
          <p:cNvPr id="7" name="Rectangle 6">
            <a:extLst>
              <a:ext uri="{FF2B5EF4-FFF2-40B4-BE49-F238E27FC236}">
                <a16:creationId xmlns:a16="http://schemas.microsoft.com/office/drawing/2014/main" id="{0F31747B-010E-4FC5-855F-F09CE932119B}"/>
              </a:ext>
            </a:extLst>
          </p:cNvPr>
          <p:cNvSpPr>
            <a:spLocks noChangeArrowheads="1"/>
          </p:cNvSpPr>
          <p:nvPr/>
        </p:nvSpPr>
        <p:spPr bwMode="auto">
          <a:xfrm>
            <a:off x="3272883" y="874455"/>
            <a:ext cx="6303072" cy="2554545"/>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VI" altLang="en-VI" sz="2000" b="0" i="1" u="none" strike="noStrike" cap="none" normalizeH="0" baseline="0" dirty="0">
                <a:ln>
                  <a:noFill/>
                </a:ln>
                <a:solidFill>
                  <a:srgbClr val="8C8C8C"/>
                </a:solidFill>
                <a:effectLst/>
                <a:latin typeface="JetBrains Mono"/>
              </a:rPr>
              <a:t>//save all the products in the store to a file on the hard disk</a:t>
            </a:r>
            <a:br>
              <a:rPr kumimoji="0" lang="en-VI" altLang="en-VI" sz="2000" b="0" i="1" u="none" strike="noStrike" cap="none" normalizeH="0" baseline="0" dirty="0">
                <a:ln>
                  <a:noFill/>
                </a:ln>
                <a:solidFill>
                  <a:srgbClr val="8C8C8C"/>
                </a:solidFill>
                <a:effectLst/>
                <a:latin typeface="JetBrains Mono"/>
              </a:rPr>
            </a:br>
            <a:r>
              <a:rPr kumimoji="0" lang="en-VI" altLang="en-VI" sz="2000" b="0" i="0" u="none" strike="noStrike" cap="none" normalizeH="0" baseline="0" dirty="0">
                <a:ln>
                  <a:noFill/>
                </a:ln>
                <a:solidFill>
                  <a:srgbClr val="0033B3"/>
                </a:solidFill>
                <a:effectLst/>
                <a:latin typeface="JetBrains Mono"/>
              </a:rPr>
              <a:t>private void </a:t>
            </a:r>
            <a:r>
              <a:rPr kumimoji="0" lang="en-VI" altLang="en-VI" sz="2000" b="0" i="0" u="none" strike="noStrike" cap="none" normalizeH="0" baseline="0" dirty="0" err="1">
                <a:ln>
                  <a:noFill/>
                </a:ln>
                <a:solidFill>
                  <a:srgbClr val="00627A"/>
                </a:solidFill>
                <a:effectLst/>
                <a:latin typeface="JetBrains Mono"/>
              </a:rPr>
              <a:t>saveProducts</a:t>
            </a:r>
            <a:r>
              <a:rPr kumimoji="0" lang="en-VI" altLang="en-VI" sz="2000" b="0" i="0" u="none" strike="noStrike" cap="none" normalizeH="0" baseline="0" dirty="0">
                <a:ln>
                  <a:noFill/>
                </a:ln>
                <a:solidFill>
                  <a:srgbClr val="080808"/>
                </a:solidFill>
                <a:effectLst/>
                <a:latin typeface="JetBrains Mono"/>
              </a:rPr>
              <a:t>() {</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r>
              <a:rPr kumimoji="0" lang="en-VI" altLang="en-VI" sz="2000" b="0" i="0" u="none" strike="noStrike" cap="none" normalizeH="0" baseline="0" dirty="0">
                <a:ln>
                  <a:noFill/>
                </a:ln>
                <a:solidFill>
                  <a:srgbClr val="0033B3"/>
                </a:solidFill>
                <a:effectLst/>
                <a:latin typeface="JetBrains Mono"/>
              </a:rPr>
              <a:t>try </a:t>
            </a:r>
            <a:r>
              <a:rPr kumimoji="0" lang="en-VI" altLang="en-VI" sz="2000" b="0" i="0" u="none" strike="noStrike" cap="none" normalizeH="0" baseline="0" dirty="0">
                <a:ln>
                  <a:noFill/>
                </a:ln>
                <a:solidFill>
                  <a:srgbClr val="080808"/>
                </a:solidFill>
                <a:effectLst/>
                <a:latin typeface="JetBrains Mono"/>
              </a:rPr>
              <a:t>{</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r>
              <a:rPr kumimoji="0" lang="en-VI" altLang="en-VI" sz="2000" b="0" i="0" u="none" strike="noStrike" cap="none" normalizeH="0" baseline="0" dirty="0" err="1">
                <a:ln>
                  <a:noFill/>
                </a:ln>
                <a:solidFill>
                  <a:srgbClr val="871094"/>
                </a:solidFill>
                <a:effectLst/>
                <a:latin typeface="JetBrains Mono"/>
              </a:rPr>
              <a:t>store</a:t>
            </a:r>
            <a:r>
              <a:rPr kumimoji="0" lang="en-VI" altLang="en-VI" sz="2000" b="0" i="0" u="none" strike="noStrike" cap="none" normalizeH="0" baseline="0" dirty="0" err="1">
                <a:ln>
                  <a:noFill/>
                </a:ln>
                <a:solidFill>
                  <a:srgbClr val="080808"/>
                </a:solidFill>
                <a:effectLst/>
                <a:latin typeface="JetBrains Mono"/>
              </a:rPr>
              <a:t>.save</a:t>
            </a:r>
            <a:r>
              <a:rPr kumimoji="0" lang="en-VI" altLang="en-VI" sz="2000" b="0" i="0" u="none" strike="noStrike" cap="none" normalizeH="0" baseline="0" dirty="0">
                <a:ln>
                  <a:noFill/>
                </a:ln>
                <a:solidFill>
                  <a:srgbClr val="080808"/>
                </a:solidFill>
                <a:effectLst/>
                <a:latin typeface="JetBrains Mono"/>
              </a:rPr>
              <a:t>();</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 </a:t>
            </a:r>
            <a:r>
              <a:rPr kumimoji="0" lang="en-VI" altLang="en-VI" sz="2000" b="0" i="0" u="none" strike="noStrike" cap="none" normalizeH="0" baseline="0" dirty="0">
                <a:ln>
                  <a:noFill/>
                </a:ln>
                <a:solidFill>
                  <a:srgbClr val="0033B3"/>
                </a:solidFill>
                <a:effectLst/>
                <a:latin typeface="JetBrains Mono"/>
              </a:rPr>
              <a:t>catch </a:t>
            </a:r>
            <a:r>
              <a:rPr kumimoji="0" lang="en-VI" altLang="en-VI" sz="2000" b="0" i="0" u="none" strike="noStrike" cap="none" normalizeH="0" baseline="0" dirty="0">
                <a:ln>
                  <a:noFill/>
                </a:ln>
                <a:solidFill>
                  <a:srgbClr val="080808"/>
                </a:solidFill>
                <a:effectLst/>
                <a:latin typeface="JetBrains Mono"/>
              </a:rPr>
              <a:t>(</a:t>
            </a:r>
            <a:r>
              <a:rPr kumimoji="0" lang="en-VI" altLang="en-VI" sz="2000" b="0" i="0" u="none" strike="noStrike" cap="none" normalizeH="0" baseline="0" dirty="0">
                <a:ln>
                  <a:noFill/>
                </a:ln>
                <a:solidFill>
                  <a:srgbClr val="000000"/>
                </a:solidFill>
                <a:effectLst/>
                <a:latin typeface="JetBrains Mono"/>
              </a:rPr>
              <a:t>Exception </a:t>
            </a:r>
            <a:r>
              <a:rPr kumimoji="0" lang="en-VI" altLang="en-VI" sz="2000" b="0" i="0" u="none" strike="noStrike" cap="none" normalizeH="0" baseline="0" dirty="0">
                <a:ln>
                  <a:noFill/>
                </a:ln>
                <a:solidFill>
                  <a:srgbClr val="080808"/>
                </a:solidFill>
                <a:effectLst/>
                <a:latin typeface="JetBrains Mono"/>
              </a:rPr>
              <a:t>e) {</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r>
              <a:rPr kumimoji="0" lang="en-VI" altLang="en-VI" sz="2000" b="0" i="0" u="none" strike="noStrike" cap="none" normalizeH="0" baseline="0" dirty="0" err="1">
                <a:ln>
                  <a:noFill/>
                </a:ln>
                <a:solidFill>
                  <a:srgbClr val="000000"/>
                </a:solidFill>
                <a:effectLst/>
                <a:latin typeface="JetBrains Mono"/>
              </a:rPr>
              <a:t>System</a:t>
            </a:r>
            <a:r>
              <a:rPr kumimoji="0" lang="en-VI" altLang="en-VI" sz="2000" b="0" i="0" u="none" strike="noStrike" cap="none" normalizeH="0" baseline="0" dirty="0" err="1">
                <a:ln>
                  <a:noFill/>
                </a:ln>
                <a:solidFill>
                  <a:srgbClr val="080808"/>
                </a:solidFill>
                <a:effectLst/>
                <a:latin typeface="JetBrains Mono"/>
              </a:rPr>
              <a:t>.</a:t>
            </a:r>
            <a:r>
              <a:rPr kumimoji="0" lang="en-VI" altLang="en-VI" sz="2000" b="0" i="1" u="none" strike="noStrike" cap="none" normalizeH="0" baseline="0" dirty="0" err="1">
                <a:ln>
                  <a:noFill/>
                </a:ln>
                <a:solidFill>
                  <a:srgbClr val="871094"/>
                </a:solidFill>
                <a:effectLst/>
                <a:latin typeface="JetBrains Mono"/>
              </a:rPr>
              <a:t>err</a:t>
            </a:r>
            <a:r>
              <a:rPr kumimoji="0" lang="en-VI" altLang="en-VI" sz="2000" b="0" i="0" u="none" strike="noStrike" cap="none" normalizeH="0" baseline="0" dirty="0" err="1">
                <a:ln>
                  <a:noFill/>
                </a:ln>
                <a:solidFill>
                  <a:srgbClr val="080808"/>
                </a:solidFill>
                <a:effectLst/>
                <a:latin typeface="JetBrains Mono"/>
              </a:rPr>
              <a:t>.println</a:t>
            </a:r>
            <a:r>
              <a:rPr kumimoji="0" lang="en-VI" altLang="en-VI" sz="2000" b="0" i="0" u="none" strike="noStrike" cap="none" normalizeH="0" baseline="0" dirty="0">
                <a:ln>
                  <a:noFill/>
                </a:ln>
                <a:solidFill>
                  <a:srgbClr val="080808"/>
                </a:solidFill>
                <a:effectLst/>
                <a:latin typeface="JetBrains Mono"/>
              </a:rPr>
              <a:t>(</a:t>
            </a:r>
            <a:r>
              <a:rPr kumimoji="0" lang="en-VI" altLang="en-VI" sz="2000" b="0" i="0" u="none" strike="noStrike" cap="none" normalizeH="0" baseline="0" dirty="0">
                <a:ln>
                  <a:noFill/>
                </a:ln>
                <a:solidFill>
                  <a:srgbClr val="067D17"/>
                </a:solidFill>
                <a:effectLst/>
                <a:latin typeface="JetBrains Mono"/>
              </a:rPr>
              <a:t>"Error writing to file: " </a:t>
            </a:r>
            <a:r>
              <a:rPr kumimoji="0" lang="en-VI" altLang="en-VI" sz="2000" b="0" i="0" u="none" strike="noStrike" cap="none" normalizeH="0" baseline="0" dirty="0">
                <a:ln>
                  <a:noFill/>
                </a:ln>
                <a:solidFill>
                  <a:srgbClr val="080808"/>
                </a:solidFill>
                <a:effectLst/>
                <a:latin typeface="JetBrains Mono"/>
              </a:rPr>
              <a:t>+ e);</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a:t>
            </a:r>
            <a:endParaRPr kumimoji="0" lang="en-VI" altLang="en-VI" sz="4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2138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4294967295"/>
          </p:nvPr>
        </p:nvSpPr>
        <p:spPr>
          <a:xfrm>
            <a:off x="3276600" y="380999"/>
            <a:ext cx="8126327" cy="2927775"/>
          </a:xfrm>
          <a:solidFill>
            <a:schemeClr val="accent6"/>
          </a:solidFill>
        </p:spPr>
        <p:style>
          <a:lnRef idx="2">
            <a:schemeClr val="accent6">
              <a:shade val="50000"/>
            </a:schemeClr>
          </a:lnRef>
          <a:fillRef idx="1">
            <a:schemeClr val="accent6"/>
          </a:fillRef>
          <a:effectRef idx="0">
            <a:schemeClr val="accent6"/>
          </a:effectRef>
          <a:fontRef idx="minor">
            <a:schemeClr val="lt1"/>
          </a:fontRef>
        </p:style>
        <p:txBody>
          <a:bodyPr>
            <a:noAutofit/>
          </a:bodyPr>
          <a:lstStyle/>
          <a:p>
            <a:pPr marL="0" indent="0" algn="ctr">
              <a:buNone/>
            </a:pPr>
            <a:r>
              <a:rPr lang="en-IE" sz="2400" dirty="0"/>
              <a:t>try/catch</a:t>
            </a:r>
          </a:p>
          <a:p>
            <a:pPr marL="0" indent="0" algn="ctr">
              <a:buNone/>
            </a:pPr>
            <a:endParaRPr lang="en-IE" sz="2400" dirty="0"/>
          </a:p>
          <a:p>
            <a:pPr marL="0" indent="0" algn="ctr">
              <a:buNone/>
            </a:pPr>
            <a:r>
              <a:rPr lang="en-IE" sz="2400" dirty="0"/>
              <a:t>The save() and load() methods in the Store class can throw an Exception.  So, if we want to use, say, the load(), method, we need to write code to “handle” an Exception being thrown.  This is where try/catch comes in and we will look at this construct in the next slide deck.  </a:t>
            </a:r>
          </a:p>
        </p:txBody>
      </p:sp>
      <p:pic>
        <p:nvPicPr>
          <p:cNvPr id="11" name="Picture 10">
            <a:extLst>
              <a:ext uri="{FF2B5EF4-FFF2-40B4-BE49-F238E27FC236}">
                <a16:creationId xmlns:a16="http://schemas.microsoft.com/office/drawing/2014/main" id="{C965D4E2-B20A-44A6-AD94-FCBD65CC51F0}"/>
              </a:ext>
            </a:extLst>
          </p:cNvPr>
          <p:cNvPicPr>
            <a:picLocks noChangeAspect="1"/>
          </p:cNvPicPr>
          <p:nvPr/>
        </p:nvPicPr>
        <p:blipFill>
          <a:blip r:embed="rId3"/>
          <a:stretch>
            <a:fillRect/>
          </a:stretch>
        </p:blipFill>
        <p:spPr>
          <a:xfrm>
            <a:off x="357024" y="154228"/>
            <a:ext cx="2614776" cy="3468580"/>
          </a:xfrm>
          <a:prstGeom prst="rect">
            <a:avLst/>
          </a:prstGeom>
          <a:ln>
            <a:noFill/>
          </a:ln>
          <a:effectLst>
            <a:outerShdw blurRad="292100" dist="139700" dir="2700000" algn="tl" rotWithShape="0">
              <a:srgbClr val="333333">
                <a:alpha val="65000"/>
              </a:srgbClr>
            </a:outerShdw>
          </a:effectLst>
        </p:spPr>
      </p:pic>
      <p:sp>
        <p:nvSpPr>
          <p:cNvPr id="13" name="Rectangle: Rounded Corners 12">
            <a:extLst>
              <a:ext uri="{FF2B5EF4-FFF2-40B4-BE49-F238E27FC236}">
                <a16:creationId xmlns:a16="http://schemas.microsoft.com/office/drawing/2014/main" id="{721696B5-2FB1-4326-9F41-87341094A66A}"/>
              </a:ext>
            </a:extLst>
          </p:cNvPr>
          <p:cNvSpPr/>
          <p:nvPr/>
        </p:nvSpPr>
        <p:spPr>
          <a:xfrm>
            <a:off x="357024" y="3124200"/>
            <a:ext cx="1828800" cy="2286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I" sz="4400"/>
          </a:p>
        </p:txBody>
      </p:sp>
      <p:sp>
        <p:nvSpPr>
          <p:cNvPr id="6" name="Rectangle 1">
            <a:extLst>
              <a:ext uri="{FF2B5EF4-FFF2-40B4-BE49-F238E27FC236}">
                <a16:creationId xmlns:a16="http://schemas.microsoft.com/office/drawing/2014/main" id="{126B41BD-B080-401E-9113-32A86A24EBCC}"/>
              </a:ext>
            </a:extLst>
          </p:cNvPr>
          <p:cNvSpPr>
            <a:spLocks noChangeArrowheads="1"/>
          </p:cNvSpPr>
          <p:nvPr/>
        </p:nvSpPr>
        <p:spPr bwMode="auto">
          <a:xfrm>
            <a:off x="3276600" y="3795446"/>
            <a:ext cx="6793398" cy="2554545"/>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VI" altLang="en-VI" sz="2000" b="0" i="1" u="none" strike="noStrike" cap="none" normalizeH="0" baseline="0" dirty="0">
                <a:ln>
                  <a:noFill/>
                </a:ln>
                <a:solidFill>
                  <a:srgbClr val="8C8C8C"/>
                </a:solidFill>
                <a:effectLst/>
                <a:latin typeface="JetBrains Mono"/>
              </a:rPr>
              <a:t>//load all the products into the store from a file on the hard disk</a:t>
            </a:r>
            <a:br>
              <a:rPr kumimoji="0" lang="en-VI" altLang="en-VI" sz="2000" b="0" i="1" u="none" strike="noStrike" cap="none" normalizeH="0" baseline="0" dirty="0">
                <a:ln>
                  <a:noFill/>
                </a:ln>
                <a:solidFill>
                  <a:srgbClr val="8C8C8C"/>
                </a:solidFill>
                <a:effectLst/>
                <a:latin typeface="JetBrains Mono"/>
              </a:rPr>
            </a:br>
            <a:r>
              <a:rPr kumimoji="0" lang="en-VI" altLang="en-VI" sz="2000" b="0" i="0" u="none" strike="noStrike" cap="none" normalizeH="0" baseline="0" dirty="0">
                <a:ln>
                  <a:noFill/>
                </a:ln>
                <a:solidFill>
                  <a:srgbClr val="0033B3"/>
                </a:solidFill>
                <a:effectLst/>
                <a:latin typeface="JetBrains Mono"/>
              </a:rPr>
              <a:t>private void </a:t>
            </a:r>
            <a:r>
              <a:rPr kumimoji="0" lang="en-VI" altLang="en-VI" sz="2000" b="0" i="0" u="none" strike="noStrike" cap="none" normalizeH="0" baseline="0" dirty="0" err="1">
                <a:ln>
                  <a:noFill/>
                </a:ln>
                <a:solidFill>
                  <a:srgbClr val="00627A"/>
                </a:solidFill>
                <a:effectLst/>
                <a:latin typeface="JetBrains Mono"/>
              </a:rPr>
              <a:t>loadProducts</a:t>
            </a:r>
            <a:r>
              <a:rPr kumimoji="0" lang="en-VI" altLang="en-VI" sz="2000" b="0" i="0" u="none" strike="noStrike" cap="none" normalizeH="0" baseline="0" dirty="0">
                <a:ln>
                  <a:noFill/>
                </a:ln>
                <a:solidFill>
                  <a:srgbClr val="080808"/>
                </a:solidFill>
                <a:effectLst/>
                <a:latin typeface="JetBrains Mono"/>
              </a:rPr>
              <a:t>() {</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r>
              <a:rPr kumimoji="0" lang="en-VI" altLang="en-VI" sz="2000" b="0" i="0" u="none" strike="noStrike" cap="none" normalizeH="0" baseline="0" dirty="0">
                <a:ln>
                  <a:noFill/>
                </a:ln>
                <a:solidFill>
                  <a:srgbClr val="0033B3"/>
                </a:solidFill>
                <a:effectLst/>
                <a:latin typeface="JetBrains Mono"/>
              </a:rPr>
              <a:t>try </a:t>
            </a:r>
            <a:r>
              <a:rPr kumimoji="0" lang="en-VI" altLang="en-VI" sz="2000" b="0" i="0" u="none" strike="noStrike" cap="none" normalizeH="0" baseline="0" dirty="0">
                <a:ln>
                  <a:noFill/>
                </a:ln>
                <a:solidFill>
                  <a:srgbClr val="080808"/>
                </a:solidFill>
                <a:effectLst/>
                <a:latin typeface="JetBrains Mono"/>
              </a:rPr>
              <a:t>{</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r>
              <a:rPr kumimoji="0" lang="en-VI" altLang="en-VI" sz="2000" b="0" i="0" u="none" strike="noStrike" cap="none" normalizeH="0" baseline="0" dirty="0" err="1">
                <a:ln>
                  <a:noFill/>
                </a:ln>
                <a:solidFill>
                  <a:srgbClr val="871094"/>
                </a:solidFill>
                <a:effectLst/>
                <a:latin typeface="JetBrains Mono"/>
              </a:rPr>
              <a:t>store</a:t>
            </a:r>
            <a:r>
              <a:rPr kumimoji="0" lang="en-VI" altLang="en-VI" sz="2000" b="0" i="0" u="none" strike="noStrike" cap="none" normalizeH="0" baseline="0" dirty="0" err="1">
                <a:ln>
                  <a:noFill/>
                </a:ln>
                <a:solidFill>
                  <a:srgbClr val="080808"/>
                </a:solidFill>
                <a:effectLst/>
                <a:latin typeface="JetBrains Mono"/>
              </a:rPr>
              <a:t>.load</a:t>
            </a:r>
            <a:r>
              <a:rPr kumimoji="0" lang="en-VI" altLang="en-VI" sz="2000" b="0" i="0" u="none" strike="noStrike" cap="none" normalizeH="0" baseline="0" dirty="0">
                <a:ln>
                  <a:noFill/>
                </a:ln>
                <a:solidFill>
                  <a:srgbClr val="080808"/>
                </a:solidFill>
                <a:effectLst/>
                <a:latin typeface="JetBrains Mono"/>
              </a:rPr>
              <a:t>();</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 </a:t>
            </a:r>
            <a:r>
              <a:rPr kumimoji="0" lang="en-VI" altLang="en-VI" sz="2000" b="0" i="0" u="none" strike="noStrike" cap="none" normalizeH="0" baseline="0" dirty="0">
                <a:ln>
                  <a:noFill/>
                </a:ln>
                <a:solidFill>
                  <a:srgbClr val="0033B3"/>
                </a:solidFill>
                <a:effectLst/>
                <a:latin typeface="JetBrains Mono"/>
              </a:rPr>
              <a:t>catch </a:t>
            </a:r>
            <a:r>
              <a:rPr kumimoji="0" lang="en-VI" altLang="en-VI" sz="2000" b="0" i="0" u="none" strike="noStrike" cap="none" normalizeH="0" baseline="0" dirty="0">
                <a:ln>
                  <a:noFill/>
                </a:ln>
                <a:solidFill>
                  <a:srgbClr val="080808"/>
                </a:solidFill>
                <a:effectLst/>
                <a:latin typeface="JetBrains Mono"/>
              </a:rPr>
              <a:t>(</a:t>
            </a:r>
            <a:r>
              <a:rPr kumimoji="0" lang="en-VI" altLang="en-VI" sz="2000" b="0" i="0" u="none" strike="noStrike" cap="none" normalizeH="0" baseline="0" dirty="0">
                <a:ln>
                  <a:noFill/>
                </a:ln>
                <a:solidFill>
                  <a:srgbClr val="000000"/>
                </a:solidFill>
                <a:effectLst/>
                <a:latin typeface="JetBrains Mono"/>
              </a:rPr>
              <a:t>Exception </a:t>
            </a:r>
            <a:r>
              <a:rPr kumimoji="0" lang="en-VI" altLang="en-VI" sz="2000" b="0" i="0" u="none" strike="noStrike" cap="none" normalizeH="0" baseline="0" dirty="0">
                <a:ln>
                  <a:noFill/>
                </a:ln>
                <a:solidFill>
                  <a:srgbClr val="080808"/>
                </a:solidFill>
                <a:effectLst/>
                <a:latin typeface="JetBrains Mono"/>
              </a:rPr>
              <a:t>e) {</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r>
              <a:rPr kumimoji="0" lang="en-VI" altLang="en-VI" sz="2000" b="0" i="0" u="none" strike="noStrike" cap="none" normalizeH="0" baseline="0" dirty="0" err="1">
                <a:ln>
                  <a:noFill/>
                </a:ln>
                <a:solidFill>
                  <a:srgbClr val="000000"/>
                </a:solidFill>
                <a:effectLst/>
                <a:latin typeface="JetBrains Mono"/>
              </a:rPr>
              <a:t>System</a:t>
            </a:r>
            <a:r>
              <a:rPr kumimoji="0" lang="en-VI" altLang="en-VI" sz="2000" b="0" i="0" u="none" strike="noStrike" cap="none" normalizeH="0" baseline="0" dirty="0" err="1">
                <a:ln>
                  <a:noFill/>
                </a:ln>
                <a:solidFill>
                  <a:srgbClr val="080808"/>
                </a:solidFill>
                <a:effectLst/>
                <a:latin typeface="JetBrains Mono"/>
              </a:rPr>
              <a:t>.</a:t>
            </a:r>
            <a:r>
              <a:rPr kumimoji="0" lang="en-VI" altLang="en-VI" sz="2000" b="0" i="1" u="none" strike="noStrike" cap="none" normalizeH="0" baseline="0" dirty="0" err="1">
                <a:ln>
                  <a:noFill/>
                </a:ln>
                <a:solidFill>
                  <a:srgbClr val="871094"/>
                </a:solidFill>
                <a:effectLst/>
                <a:latin typeface="JetBrains Mono"/>
              </a:rPr>
              <a:t>err</a:t>
            </a:r>
            <a:r>
              <a:rPr kumimoji="0" lang="en-VI" altLang="en-VI" sz="2000" b="0" i="0" u="none" strike="noStrike" cap="none" normalizeH="0" baseline="0" dirty="0" err="1">
                <a:ln>
                  <a:noFill/>
                </a:ln>
                <a:solidFill>
                  <a:srgbClr val="080808"/>
                </a:solidFill>
                <a:effectLst/>
                <a:latin typeface="JetBrains Mono"/>
              </a:rPr>
              <a:t>.println</a:t>
            </a:r>
            <a:r>
              <a:rPr kumimoji="0" lang="en-VI" altLang="en-VI" sz="2000" b="0" i="0" u="none" strike="noStrike" cap="none" normalizeH="0" baseline="0" dirty="0">
                <a:ln>
                  <a:noFill/>
                </a:ln>
                <a:solidFill>
                  <a:srgbClr val="080808"/>
                </a:solidFill>
                <a:effectLst/>
                <a:latin typeface="JetBrains Mono"/>
              </a:rPr>
              <a:t>(</a:t>
            </a:r>
            <a:r>
              <a:rPr kumimoji="0" lang="en-VI" altLang="en-VI" sz="2000" b="0" i="0" u="none" strike="noStrike" cap="none" normalizeH="0" baseline="0" dirty="0">
                <a:ln>
                  <a:noFill/>
                </a:ln>
                <a:solidFill>
                  <a:srgbClr val="067D17"/>
                </a:solidFill>
                <a:effectLst/>
                <a:latin typeface="JetBrains Mono"/>
              </a:rPr>
              <a:t>"Error reading from file: " </a:t>
            </a:r>
            <a:r>
              <a:rPr kumimoji="0" lang="en-VI" altLang="en-VI" sz="2000" b="0" i="0" u="none" strike="noStrike" cap="none" normalizeH="0" baseline="0" dirty="0">
                <a:ln>
                  <a:noFill/>
                </a:ln>
                <a:solidFill>
                  <a:srgbClr val="080808"/>
                </a:solidFill>
                <a:effectLst/>
                <a:latin typeface="JetBrains Mono"/>
              </a:rPr>
              <a:t>+ e);</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    }</a:t>
            </a:r>
            <a:br>
              <a:rPr kumimoji="0" lang="en-VI" altLang="en-VI" sz="2000" b="0" i="0" u="none" strike="noStrike" cap="none" normalizeH="0" baseline="0" dirty="0">
                <a:ln>
                  <a:noFill/>
                </a:ln>
                <a:solidFill>
                  <a:srgbClr val="080808"/>
                </a:solidFill>
                <a:effectLst/>
                <a:latin typeface="JetBrains Mono"/>
              </a:rPr>
            </a:br>
            <a:r>
              <a:rPr kumimoji="0" lang="en-VI" altLang="en-VI" sz="2000" b="0" i="0" u="none" strike="noStrike" cap="none" normalizeH="0" baseline="0" dirty="0">
                <a:ln>
                  <a:noFill/>
                </a:ln>
                <a:solidFill>
                  <a:srgbClr val="080808"/>
                </a:solidFill>
                <a:effectLst/>
                <a:latin typeface="JetBrains Mono"/>
              </a:rPr>
              <a:t>}</a:t>
            </a:r>
            <a:endParaRPr kumimoji="0" lang="en-VI" altLang="en-VI" sz="4800" b="0" i="0" u="none" strike="noStrike" cap="none" normalizeH="0" baseline="0" dirty="0">
              <a:ln>
                <a:noFill/>
              </a:ln>
              <a:solidFill>
                <a:schemeClr val="tx1"/>
              </a:solidFill>
              <a:effectLst/>
              <a:latin typeface="Arial" panose="020B0604020202020204" pitchFamily="34" charset="0"/>
            </a:endParaRPr>
          </a:p>
        </p:txBody>
      </p:sp>
      <p:sp>
        <p:nvSpPr>
          <p:cNvPr id="2" name="Rectangle: Rounded Corners 1">
            <a:extLst>
              <a:ext uri="{FF2B5EF4-FFF2-40B4-BE49-F238E27FC236}">
                <a16:creationId xmlns:a16="http://schemas.microsoft.com/office/drawing/2014/main" id="{C2315E4E-ED19-4406-914B-2E2EC63DEA99}"/>
              </a:ext>
            </a:extLst>
          </p:cNvPr>
          <p:cNvSpPr/>
          <p:nvPr/>
        </p:nvSpPr>
        <p:spPr>
          <a:xfrm>
            <a:off x="3300761" y="4495800"/>
            <a:ext cx="5715000" cy="1600200"/>
          </a:xfrm>
          <a:prstGeom prst="round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VI"/>
          </a:p>
        </p:txBody>
      </p:sp>
    </p:spTree>
    <p:extLst>
      <p:ext uri="{BB962C8B-B14F-4D97-AF65-F5344CB8AC3E}">
        <p14:creationId xmlns:p14="http://schemas.microsoft.com/office/powerpoint/2010/main" val="15474584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5334001"/>
            <a:ext cx="11430000" cy="52322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IE" sz="2800" dirty="0"/>
              <a:t>When the </a:t>
            </a:r>
            <a:r>
              <a:rPr lang="en-IE" sz="2800" b="1" dirty="0"/>
              <a:t>save</a:t>
            </a:r>
            <a:r>
              <a:rPr lang="en-IE" sz="2800" dirty="0"/>
              <a:t> option is selected from the menu, this </a:t>
            </a:r>
            <a:r>
              <a:rPr lang="en-IE" sz="2800" b="1" dirty="0"/>
              <a:t>XML file </a:t>
            </a:r>
            <a:r>
              <a:rPr lang="en-IE" sz="2800" dirty="0"/>
              <a:t>is created </a:t>
            </a:r>
          </a:p>
        </p:txBody>
      </p:sp>
      <p:sp>
        <p:nvSpPr>
          <p:cNvPr id="6" name="Rectangle 5"/>
          <p:cNvSpPr/>
          <p:nvPr/>
        </p:nvSpPr>
        <p:spPr>
          <a:xfrm>
            <a:off x="2655879" y="5923250"/>
            <a:ext cx="6804043" cy="461665"/>
          </a:xfrm>
          <a:prstGeom prst="rect">
            <a:avLst/>
          </a:prstGeom>
        </p:spPr>
        <p:txBody>
          <a:bodyPr wrap="none">
            <a:spAutoFit/>
          </a:bodyPr>
          <a:lstStyle/>
          <a:p>
            <a:pPr algn="ctr"/>
            <a:r>
              <a:rPr lang="en-IE" sz="2400" dirty="0"/>
              <a:t>The XML file is located in your </a:t>
            </a:r>
            <a:r>
              <a:rPr lang="en-IE" sz="2400" b="1" dirty="0"/>
              <a:t>root project directory</a:t>
            </a:r>
            <a:r>
              <a:rPr lang="en-IE" sz="2400" dirty="0"/>
              <a:t>.</a:t>
            </a:r>
          </a:p>
        </p:txBody>
      </p:sp>
      <p:pic>
        <p:nvPicPr>
          <p:cNvPr id="5" name="Picture 4"/>
          <p:cNvPicPr>
            <a:picLocks noChangeAspect="1"/>
          </p:cNvPicPr>
          <p:nvPr/>
        </p:nvPicPr>
        <p:blipFill>
          <a:blip r:embed="rId2"/>
          <a:stretch>
            <a:fillRect/>
          </a:stretch>
        </p:blipFill>
        <p:spPr>
          <a:xfrm>
            <a:off x="237424" y="315966"/>
            <a:ext cx="1553276" cy="1553276"/>
          </a:xfrm>
          <a:prstGeom prst="rect">
            <a:avLst/>
          </a:prstGeom>
        </p:spPr>
      </p:pic>
      <p:pic>
        <p:nvPicPr>
          <p:cNvPr id="8" name="Picture 7">
            <a:extLst>
              <a:ext uri="{FF2B5EF4-FFF2-40B4-BE49-F238E27FC236}">
                <a16:creationId xmlns:a16="http://schemas.microsoft.com/office/drawing/2014/main" id="{F1C3FE57-095E-4AB6-B6B7-A7B4AA561DBD}"/>
              </a:ext>
            </a:extLst>
          </p:cNvPr>
          <p:cNvPicPr>
            <a:picLocks noChangeAspect="1"/>
          </p:cNvPicPr>
          <p:nvPr/>
        </p:nvPicPr>
        <p:blipFill>
          <a:blip r:embed="rId3"/>
          <a:stretch>
            <a:fillRect/>
          </a:stretch>
        </p:blipFill>
        <p:spPr>
          <a:xfrm>
            <a:off x="2286000" y="315966"/>
            <a:ext cx="6858000" cy="47930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34521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Self Study Questions</a:t>
            </a:r>
            <a:endParaRPr lang="en-GB" dirty="0"/>
          </a:p>
        </p:txBody>
      </p:sp>
      <p:sp>
        <p:nvSpPr>
          <p:cNvPr id="3" name="Content Placeholder 2"/>
          <p:cNvSpPr>
            <a:spLocks noGrp="1"/>
          </p:cNvSpPr>
          <p:nvPr>
            <p:ph idx="1"/>
          </p:nvPr>
        </p:nvSpPr>
        <p:spPr>
          <a:xfrm>
            <a:off x="609600" y="1600201"/>
            <a:ext cx="10972800" cy="4525963"/>
          </a:xfrm>
        </p:spPr>
        <p:txBody>
          <a:bodyPr/>
          <a:lstStyle/>
          <a:p>
            <a:pPr marL="514350" indent="-514350">
              <a:buFont typeface="+mj-lt"/>
              <a:buAutoNum type="arabicPeriod"/>
            </a:pPr>
            <a:r>
              <a:rPr lang="en-GB" dirty="0"/>
              <a:t>What is persistence?</a:t>
            </a:r>
          </a:p>
          <a:p>
            <a:pPr marL="514350" indent="-514350">
              <a:buFont typeface="+mj-lt"/>
              <a:buAutoNum type="arabicPeriod"/>
            </a:pPr>
            <a:endParaRPr lang="en-GB" dirty="0"/>
          </a:p>
          <a:p>
            <a:pPr marL="514350" indent="-514350">
              <a:buFont typeface="+mj-lt"/>
              <a:buAutoNum type="arabicPeriod"/>
            </a:pPr>
            <a:r>
              <a:rPr lang="en-GB" dirty="0"/>
              <a:t>What file type do we store Java objects in?</a:t>
            </a:r>
          </a:p>
          <a:p>
            <a:pPr marL="514350" indent="-514350">
              <a:buFont typeface="+mj-lt"/>
              <a:buAutoNum type="arabicPeriod"/>
            </a:pPr>
            <a:endParaRPr lang="en-GB" dirty="0"/>
          </a:p>
          <a:p>
            <a:pPr marL="514350" indent="-514350">
              <a:buFont typeface="+mj-lt"/>
              <a:buAutoNum type="arabicPeriod"/>
            </a:pPr>
            <a:r>
              <a:rPr lang="en-GB" dirty="0"/>
              <a:t>Which Java component did we use for serializing objects?</a:t>
            </a:r>
          </a:p>
          <a:p>
            <a:pPr marL="514350" indent="-514350">
              <a:buFont typeface="+mj-lt"/>
              <a:buAutoNum type="arabicPeriod"/>
            </a:pPr>
            <a:endParaRPr lang="en-GB" dirty="0"/>
          </a:p>
          <a:p>
            <a:pPr marL="514350" indent="-514350">
              <a:buFont typeface="+mj-lt"/>
              <a:buAutoNum type="arabicPeriod"/>
            </a:pPr>
            <a:r>
              <a:rPr lang="en-GB" dirty="0"/>
              <a:t>What 2 methods do we have to write to use this component?</a:t>
            </a:r>
          </a:p>
        </p:txBody>
      </p:sp>
    </p:spTree>
    <p:extLst>
      <p:ext uri="{BB962C8B-B14F-4D97-AF65-F5344CB8AC3E}">
        <p14:creationId xmlns:p14="http://schemas.microsoft.com/office/powerpoint/2010/main" val="405928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Questions?</a:t>
            </a:r>
          </a:p>
        </p:txBody>
      </p:sp>
      <p:pic>
        <p:nvPicPr>
          <p:cNvPr id="3" name="Picture 2" descr="A green question mark in a circle&#10;&#10;AI-generated content may be incorrect.">
            <a:extLst>
              <a:ext uri="{FF2B5EF4-FFF2-40B4-BE49-F238E27FC236}">
                <a16:creationId xmlns:a16="http://schemas.microsoft.com/office/drawing/2014/main" id="{5A9D487F-3157-9FE9-7E30-C739B06EAF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3019" y="1166019"/>
            <a:ext cx="4525963" cy="4525963"/>
          </a:xfrm>
          <a:prstGeom prst="rect">
            <a:avLst/>
          </a:prstGeom>
          <a:noFill/>
        </p:spPr>
      </p:pic>
    </p:spTree>
    <p:extLst>
      <p:ext uri="{BB962C8B-B14F-4D97-AF65-F5344CB8AC3E}">
        <p14:creationId xmlns:p14="http://schemas.microsoft.com/office/powerpoint/2010/main" val="1061480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1363</Words>
  <Application>Microsoft Office PowerPoint</Application>
  <PresentationFormat>Widescreen</PresentationFormat>
  <Paragraphs>136</Paragraphs>
  <Slides>27</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JetBrains Mono</vt:lpstr>
      <vt:lpstr>Wingdings</vt:lpstr>
      <vt:lpstr>Office Theme</vt:lpstr>
      <vt:lpstr>Persistence</vt:lpstr>
      <vt:lpstr>PowerPoint Presentation</vt:lpstr>
      <vt:lpstr>Our Shop App</vt:lpstr>
      <vt:lpstr>Shop V5.0 (using XML)</vt:lpstr>
      <vt:lpstr>Shop V5.0 (using XML) - STEPS</vt:lpstr>
      <vt:lpstr>Download the component</vt:lpstr>
      <vt:lpstr>Adding a component to the lib folder -1</vt:lpstr>
      <vt:lpstr>Adding a component to the lib folder - 2</vt:lpstr>
      <vt:lpstr>Adding a component to the lib folder - 3</vt:lpstr>
      <vt:lpstr>Adding the component to your build path - 1</vt:lpstr>
      <vt:lpstr>Adding the component to your build path - 2</vt:lpstr>
      <vt:lpstr>Adding the component to your build path - 3</vt:lpstr>
      <vt:lpstr>Adding the component to your build path - 4</vt:lpstr>
      <vt:lpstr>Shop V5.0 (using XML) - STEPS</vt:lpstr>
      <vt:lpstr>PowerPoint Presentation</vt:lpstr>
      <vt:lpstr>PowerPoint Presentation</vt:lpstr>
      <vt:lpstr>PowerPoint Presentation</vt:lpstr>
      <vt:lpstr>PowerPoint Presentation</vt:lpstr>
      <vt:lpstr>Shop V5.0 (using XML) - STEPS</vt:lpstr>
      <vt:lpstr>PowerPoint Presentation</vt:lpstr>
      <vt:lpstr>PowerPoint Presentation</vt:lpstr>
      <vt:lpstr>PowerPoint Presentation</vt:lpstr>
      <vt:lpstr>PowerPoint Presentation</vt:lpstr>
      <vt:lpstr>PowerPoint Presentation</vt:lpstr>
      <vt:lpstr>PowerPoint Presentation</vt:lpstr>
      <vt:lpstr>Self Study Questions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Saving and Retrieving  from XML files</dc:title>
  <dc:creator>Siobhan Drohan</dc:creator>
  <cp:lastModifiedBy>Siobhan Roche</cp:lastModifiedBy>
  <cp:revision>147</cp:revision>
  <cp:lastPrinted>2018-03-29T23:37:36Z</cp:lastPrinted>
  <dcterms:created xsi:type="dcterms:W3CDTF">2006-08-16T00:00:00Z</dcterms:created>
  <dcterms:modified xsi:type="dcterms:W3CDTF">2026-02-10T11:57:18Z</dcterms:modified>
</cp:coreProperties>
</file>