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455" r:id="rId3"/>
    <p:sldId id="456" r:id="rId4"/>
    <p:sldId id="457" r:id="rId5"/>
    <p:sldId id="458" r:id="rId6"/>
    <p:sldId id="459" r:id="rId7"/>
    <p:sldId id="460" r:id="rId8"/>
    <p:sldId id="454" r:id="rId9"/>
    <p:sldId id="418" r:id="rId10"/>
    <p:sldId id="461" r:id="rId11"/>
    <p:sldId id="433" r:id="rId12"/>
    <p:sldId id="434" r:id="rId13"/>
    <p:sldId id="436" r:id="rId14"/>
    <p:sldId id="437" r:id="rId15"/>
    <p:sldId id="392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63" autoAdjust="0"/>
    <p:restoredTop sz="94803"/>
  </p:normalViewPr>
  <p:slideViewPr>
    <p:cSldViewPr>
      <p:cViewPr varScale="1">
        <p:scale>
          <a:sx n="113" d="100"/>
          <a:sy n="113" d="100"/>
        </p:scale>
        <p:origin x="704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25/02/2025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oftware_design" TargetMode="External"/><Relationship Id="rId2" Type="http://schemas.openxmlformats.org/officeDocument/2006/relationships/hyperlink" Target="https://en.wikipedia.org/wiki/Reusability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Packages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3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Siobhan Roche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Using a derivation of the Model View Controller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92E7B-8ED6-CAF1-F3D1-4B1ED0D8B993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56FB1A2E-9EA9-8309-A2D1-FF0132B176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Using Packages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Evolving Shop to use a Package Structure</a:t>
            </a:r>
          </a:p>
        </p:txBody>
      </p:sp>
    </p:spTree>
    <p:extLst>
      <p:ext uri="{BB962C8B-B14F-4D97-AF65-F5344CB8AC3E}">
        <p14:creationId xmlns:p14="http://schemas.microsoft.com/office/powerpoint/2010/main" val="43755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E31F-CF2A-4CD7-BD6C-2DCE2AEA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Packages?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7AC8B-5EF0-4952-8A88-D95209AEC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GB" sz="3000" dirty="0"/>
              <a:t>We use folders or directories in our computers for the classification and accessibility of various files;</a:t>
            </a:r>
          </a:p>
          <a:p>
            <a:pPr fontAlgn="base"/>
            <a:endParaRPr lang="en-GB" sz="3000" dirty="0"/>
          </a:p>
          <a:p>
            <a:pPr fontAlgn="base"/>
            <a:r>
              <a:rPr lang="en-GB" sz="3000" dirty="0"/>
              <a:t>In Java, Packages are similar to folders, which are mainly used to organize classes and interfaces(we see interfaces later).</a:t>
            </a:r>
          </a:p>
          <a:p>
            <a:pPr marL="0" indent="0" fontAlgn="base">
              <a:buNone/>
            </a:pP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1239702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E31F-CF2A-4CD7-BD6C-2DCE2AEA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Packages?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7AC8B-5EF0-4952-8A88-D95209AEC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endParaRPr lang="en-GB" sz="3000" dirty="0"/>
          </a:p>
          <a:p>
            <a:pPr fontAlgn="base"/>
            <a:r>
              <a:rPr lang="en-GB" sz="3000" dirty="0"/>
              <a:t>Packages help us to write better and manageable code by preventing naming conflicts. Java provides some built-in packages which we can use:</a:t>
            </a:r>
          </a:p>
          <a:p>
            <a:pPr fontAlgn="base"/>
            <a:endParaRPr lang="en-GB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6176E-8467-4FBD-8739-C23EE3889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3984172"/>
            <a:ext cx="5943600" cy="254725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768800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E31F-CF2A-4CD7-BD6C-2DCE2AEA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Packages?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7AC8B-5EF0-4952-8A88-D95209AEC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endParaRPr lang="en-GB" sz="3000" dirty="0"/>
          </a:p>
          <a:p>
            <a:pPr fontAlgn="base"/>
            <a:r>
              <a:rPr lang="en-GB" sz="3000" dirty="0"/>
              <a:t>We can similarly structure our Projects to categorise our classes. </a:t>
            </a:r>
          </a:p>
          <a:p>
            <a:pPr marL="0" indent="0" fontAlgn="base">
              <a:buNone/>
            </a:pPr>
            <a:endParaRPr lang="en-GB" sz="3000" dirty="0"/>
          </a:p>
          <a:p>
            <a:pPr fontAlgn="base"/>
            <a:r>
              <a:rPr lang="en-GB" sz="3000" dirty="0"/>
              <a:t>So how should we categorise our classes? </a:t>
            </a:r>
          </a:p>
          <a:p>
            <a:pPr fontAlgn="base"/>
            <a:endParaRPr lang="en-GB" sz="3000" dirty="0"/>
          </a:p>
          <a:p>
            <a:pPr fontAlgn="base"/>
            <a:r>
              <a:rPr lang="en-GB" sz="3000" dirty="0"/>
              <a:t>Much work has been done on ‘Design Patterns’</a:t>
            </a:r>
          </a:p>
          <a:p>
            <a:pPr fontAlgn="base"/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327757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E31F-CF2A-4CD7-BD6C-2DCE2AEA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Patterns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7AC8B-5EF0-4952-8A88-D95209AEC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endParaRPr lang="en-GB" sz="3000" dirty="0"/>
          </a:p>
          <a:p>
            <a:pPr fontAlgn="base"/>
            <a:r>
              <a:rPr lang="en-GB" sz="3000" dirty="0"/>
              <a:t>A Design Pattern is an important concept in Computer Science. </a:t>
            </a:r>
          </a:p>
          <a:p>
            <a:pPr fontAlgn="base"/>
            <a:r>
              <a:rPr lang="en-GB" b="1" dirty="0"/>
              <a:t>A software design pattern</a:t>
            </a:r>
            <a:r>
              <a:rPr lang="en-GB" dirty="0"/>
              <a:t> is a general, </a:t>
            </a:r>
            <a:r>
              <a:rPr lang="en-GB" dirty="0">
                <a:hlinkClick r:id="rId2" tooltip="Reusability"/>
              </a:rPr>
              <a:t>reusable</a:t>
            </a:r>
            <a:r>
              <a:rPr lang="en-GB" dirty="0"/>
              <a:t> solution to a commonly occurring problem within a given context in </a:t>
            </a:r>
            <a:r>
              <a:rPr lang="en-GB" dirty="0">
                <a:hlinkClick r:id="rId3" tooltip="Software design"/>
              </a:rPr>
              <a:t>software design</a:t>
            </a:r>
            <a:r>
              <a:rPr lang="en-GB" dirty="0"/>
              <a:t>.  (Wikipedia) </a:t>
            </a:r>
            <a:endParaRPr lang="en-GB" sz="3000" dirty="0"/>
          </a:p>
          <a:p>
            <a:pPr fontAlgn="base"/>
            <a:r>
              <a:rPr lang="en-GB" sz="3000" dirty="0"/>
              <a:t>Model-View Controller is an important one </a:t>
            </a:r>
          </a:p>
          <a:p>
            <a:pPr fontAlgn="base"/>
            <a:endParaRPr lang="en-GB" sz="3000" dirty="0"/>
          </a:p>
          <a:p>
            <a:pPr fontAlgn="base"/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233269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E31F-CF2A-4CD7-BD6C-2DCE2AEA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Structure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7AC8B-5EF0-4952-8A88-D95209AEC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95400"/>
            <a:ext cx="5562600" cy="5287962"/>
          </a:xfrm>
        </p:spPr>
        <p:txBody>
          <a:bodyPr>
            <a:noAutofit/>
          </a:bodyPr>
          <a:lstStyle/>
          <a:p>
            <a:pPr fontAlgn="base"/>
            <a:endParaRPr lang="en-GB" sz="3000" dirty="0"/>
          </a:p>
          <a:p>
            <a:pPr fontAlgn="base"/>
            <a:r>
              <a:rPr lang="en-GB" sz="3000" dirty="0"/>
              <a:t>We break down our classes into the following sub-packages: </a:t>
            </a:r>
          </a:p>
          <a:p>
            <a:pPr fontAlgn="base"/>
            <a:r>
              <a:rPr lang="en-GB" sz="3000" b="1" dirty="0"/>
              <a:t>models</a:t>
            </a:r>
            <a:r>
              <a:rPr lang="en-GB" sz="3000" dirty="0"/>
              <a:t> – has the ‘bottom level’ classes, e.g. Product</a:t>
            </a:r>
          </a:p>
          <a:p>
            <a:pPr fontAlgn="base"/>
            <a:r>
              <a:rPr lang="en-GB" sz="3000" b="1" dirty="0"/>
              <a:t>controllers</a:t>
            </a:r>
            <a:r>
              <a:rPr lang="en-GB" sz="3000" dirty="0"/>
              <a:t> – this contains the classes that do the ‘heavy lifting’ and the user interface classes</a:t>
            </a:r>
          </a:p>
          <a:p>
            <a:pPr fontAlgn="base"/>
            <a:r>
              <a:rPr lang="en-GB" sz="3000" b="1" dirty="0" err="1"/>
              <a:t>utils</a:t>
            </a:r>
            <a:r>
              <a:rPr lang="en-GB" sz="3000" dirty="0"/>
              <a:t> – this contains any Utility classes </a:t>
            </a:r>
          </a:p>
          <a:p>
            <a:pPr fontAlgn="base"/>
            <a:endParaRPr lang="en-GB" sz="3000" dirty="0"/>
          </a:p>
        </p:txBody>
      </p:sp>
      <p:pic>
        <p:nvPicPr>
          <p:cNvPr id="4" name="Picture 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A1AAA3E4-0A0D-4A43-88A5-11AAC86E3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1981200"/>
            <a:ext cx="2883878" cy="381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B3BB4C-F93D-453A-A6B2-D740C439264A}"/>
              </a:ext>
            </a:extLst>
          </p:cNvPr>
          <p:cNvCxnSpPr>
            <a:cxnSpLocks/>
          </p:cNvCxnSpPr>
          <p:nvPr/>
        </p:nvCxnSpPr>
        <p:spPr>
          <a:xfrm>
            <a:off x="3581400" y="3186976"/>
            <a:ext cx="5105400" cy="100402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86337F-A9F4-46B0-96EA-DA87CBE86248}"/>
              </a:ext>
            </a:extLst>
          </p:cNvPr>
          <p:cNvCxnSpPr>
            <a:cxnSpLocks/>
          </p:cNvCxnSpPr>
          <p:nvPr/>
        </p:nvCxnSpPr>
        <p:spPr>
          <a:xfrm flipV="1">
            <a:off x="4114802" y="3707383"/>
            <a:ext cx="4571999" cy="55013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E80686-D1BE-4BD0-8DA0-52E83E1CD1B2}"/>
              </a:ext>
            </a:extLst>
          </p:cNvPr>
          <p:cNvCxnSpPr>
            <a:cxnSpLocks/>
          </p:cNvCxnSpPr>
          <p:nvPr/>
        </p:nvCxnSpPr>
        <p:spPr>
          <a:xfrm flipV="1">
            <a:off x="3200400" y="4754562"/>
            <a:ext cx="5638800" cy="141763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53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–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200" y="2590801"/>
            <a:ext cx="4038600" cy="2468563"/>
          </a:xfrm>
        </p:spPr>
        <p:txBody>
          <a:bodyPr>
            <a:normAutofit/>
          </a:bodyPr>
          <a:lstStyle/>
          <a:p>
            <a:endParaRPr lang="en-IE" sz="2800" dirty="0"/>
          </a:p>
          <a:p>
            <a:r>
              <a:rPr lang="en-IE" sz="2800" dirty="0"/>
              <a:t>We now look at the changes we need to make in the ‘packaged’ classes.</a:t>
            </a:r>
          </a:p>
        </p:txBody>
      </p:sp>
      <p:pic>
        <p:nvPicPr>
          <p:cNvPr id="7" name="Picture 6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478F8DE5-88C3-480B-9034-2FC3A06FE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853" y="1676400"/>
            <a:ext cx="3429000" cy="45301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F2BC8D98-FA23-45C3-A5C1-0BF6E4DC602D}"/>
              </a:ext>
            </a:extLst>
          </p:cNvPr>
          <p:cNvSpPr/>
          <p:nvPr/>
        </p:nvSpPr>
        <p:spPr>
          <a:xfrm>
            <a:off x="3962400" y="3352800"/>
            <a:ext cx="7620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F98EC9E4-9673-49E1-929E-4A4476C6B7DD}"/>
              </a:ext>
            </a:extLst>
          </p:cNvPr>
          <p:cNvSpPr/>
          <p:nvPr/>
        </p:nvSpPr>
        <p:spPr>
          <a:xfrm>
            <a:off x="3886200" y="4191000"/>
            <a:ext cx="7620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D2AB9C0C-A833-431B-A00E-E20AF5DB4C4C}"/>
              </a:ext>
            </a:extLst>
          </p:cNvPr>
          <p:cNvSpPr/>
          <p:nvPr/>
        </p:nvSpPr>
        <p:spPr>
          <a:xfrm>
            <a:off x="3886200" y="4724400"/>
            <a:ext cx="7620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98064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IE" dirty="0"/>
              <a:t>Accessing Packages or Classes from Another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534400" cy="5105400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IE" dirty="0"/>
              <a:t>If we want to access all the classes and interfaces of an existing package then we use the </a:t>
            </a:r>
            <a:r>
              <a:rPr lang="en-IE" b="1" dirty="0"/>
              <a:t>import</a:t>
            </a:r>
            <a:r>
              <a:rPr lang="en-IE" dirty="0"/>
              <a:t> statement. We can do it in three different ways:</a:t>
            </a:r>
          </a:p>
          <a:p>
            <a:pPr fontAlgn="base"/>
            <a:r>
              <a:rPr lang="en-IE" dirty="0"/>
              <a:t>import package.*;</a:t>
            </a:r>
          </a:p>
          <a:p>
            <a:pPr lvl="1" algn="thaiDist" fontAlgn="base"/>
            <a:r>
              <a:rPr lang="en-IE" dirty="0"/>
              <a:t>By using </a:t>
            </a:r>
            <a:r>
              <a:rPr lang="en-IE" b="1" dirty="0"/>
              <a:t>*</a:t>
            </a:r>
            <a:r>
              <a:rPr lang="en-IE" dirty="0"/>
              <a:t> after the import statement, we can access all the classes of the package but not the sub-packages.</a:t>
            </a:r>
          </a:p>
          <a:p>
            <a:pPr fontAlgn="base"/>
            <a:r>
              <a:rPr lang="en-IE" dirty="0"/>
              <a:t>import </a:t>
            </a:r>
            <a:r>
              <a:rPr lang="en-IE" dirty="0" err="1"/>
              <a:t>package.classname</a:t>
            </a:r>
            <a:r>
              <a:rPr lang="en-IE" dirty="0"/>
              <a:t>;</a:t>
            </a:r>
          </a:p>
          <a:p>
            <a:pPr fontAlgn="base"/>
            <a:r>
              <a:rPr lang="en-IE" dirty="0"/>
              <a:t>fully qualified name.</a:t>
            </a:r>
          </a:p>
        </p:txBody>
      </p:sp>
    </p:spTree>
    <p:extLst>
      <p:ext uri="{BB962C8B-B14F-4D97-AF65-F5344CB8AC3E}">
        <p14:creationId xmlns:p14="http://schemas.microsoft.com/office/powerpoint/2010/main" val="416958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– utilities and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534400" cy="5105400"/>
          </a:xfrm>
        </p:spPr>
        <p:txBody>
          <a:bodyPr>
            <a:normAutofit/>
          </a:bodyPr>
          <a:lstStyle/>
          <a:p>
            <a:r>
              <a:rPr lang="en-IE" sz="2800" dirty="0"/>
              <a:t>Refactor your Shop project to create this package structure.</a:t>
            </a:r>
          </a:p>
          <a:p>
            <a:endParaRPr lang="en-IE" sz="2800" dirty="0"/>
          </a:p>
          <a:p>
            <a:pPr lvl="1"/>
            <a:r>
              <a:rPr lang="en-IE" sz="2400" dirty="0"/>
              <a:t>Right-click on the </a:t>
            </a:r>
            <a:r>
              <a:rPr lang="en-IE" sz="2400" b="1" dirty="0" err="1"/>
              <a:t>src</a:t>
            </a:r>
            <a:r>
              <a:rPr lang="en-IE" sz="2400" dirty="0"/>
              <a:t> folder and select New </a:t>
            </a:r>
            <a:r>
              <a:rPr lang="en-IE" sz="2400" dirty="0">
                <a:sym typeface="Wingdings" panose="05000000000000000000" pitchFamily="2" charset="2"/>
              </a:rPr>
              <a:t> Package.  Enter “models” as the package name.</a:t>
            </a:r>
          </a:p>
          <a:p>
            <a:pPr lvl="1"/>
            <a:endParaRPr lang="en-IE" sz="2400" dirty="0">
              <a:sym typeface="Wingdings" panose="05000000000000000000" pitchFamily="2" charset="2"/>
            </a:endParaRPr>
          </a:p>
          <a:p>
            <a:pPr lvl="1"/>
            <a:r>
              <a:rPr lang="en-IE" sz="2400" dirty="0">
                <a:sym typeface="Wingdings" panose="05000000000000000000" pitchFamily="2" charset="2"/>
              </a:rPr>
              <a:t>Repeat this process and create two other packages called “controllers” and “</a:t>
            </a:r>
            <a:r>
              <a:rPr lang="en-IE" sz="2400" dirty="0" err="1">
                <a:sym typeface="Wingdings" panose="05000000000000000000" pitchFamily="2" charset="2"/>
              </a:rPr>
              <a:t>utils</a:t>
            </a:r>
            <a:r>
              <a:rPr lang="en-IE" sz="2400" dirty="0">
                <a:sym typeface="Wingdings" panose="05000000000000000000" pitchFamily="2" charset="2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1848431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– utilities and 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2895601"/>
            <a:ext cx="3429000" cy="25545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Copy the Shop classes into package locations specified in the screen shot.</a:t>
            </a:r>
          </a:p>
        </p:txBody>
      </p:sp>
      <p:pic>
        <p:nvPicPr>
          <p:cNvPr id="4" name="Picture 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E58F93A-56BD-4683-A575-454D0F379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441" y="1676400"/>
            <a:ext cx="3429000" cy="473115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68022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– utilities and packages</a:t>
            </a:r>
          </a:p>
        </p:txBody>
      </p:sp>
      <p:pic>
        <p:nvPicPr>
          <p:cNvPr id="4" name="Picture 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6663227-754A-4C4C-AF78-B49DF3C1C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216" y="1676400"/>
            <a:ext cx="8811185" cy="34615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 flipV="1">
            <a:off x="4648201" y="4452137"/>
            <a:ext cx="653303" cy="9188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38400" y="5370963"/>
            <a:ext cx="6400800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dirty="0"/>
              <a:t>This move caused the following error:  The Product class can’t be found in the Driver and Store class.</a:t>
            </a:r>
          </a:p>
        </p:txBody>
      </p:sp>
    </p:spTree>
    <p:extLst>
      <p:ext uri="{BB962C8B-B14F-4D97-AF65-F5344CB8AC3E}">
        <p14:creationId xmlns:p14="http://schemas.microsoft.com/office/powerpoint/2010/main" val="471401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IE" dirty="0"/>
              <a:t>Shop – utilities and packages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200" y="2133600"/>
            <a:ext cx="8382000" cy="267765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To fix this error, use IntelliJ’s Alt + Enter to:</a:t>
            </a:r>
          </a:p>
          <a:p>
            <a:endParaRPr lang="en-IE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/>
              <a:t>import </a:t>
            </a:r>
            <a:r>
              <a:rPr lang="en-IE" sz="2800" b="1" dirty="0" err="1"/>
              <a:t>models.Product</a:t>
            </a:r>
            <a:r>
              <a:rPr lang="en-IE" sz="2800" b="1" dirty="0"/>
              <a:t>; </a:t>
            </a:r>
            <a:r>
              <a:rPr lang="en-IE" sz="2800" dirty="0"/>
              <a:t>into Driver and Store classes.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/>
              <a:t>import </a:t>
            </a:r>
            <a:r>
              <a:rPr lang="en-IE" sz="2800" b="1" dirty="0" err="1"/>
              <a:t>utils.ScannerInput</a:t>
            </a:r>
            <a:r>
              <a:rPr lang="en-IE" sz="2800" b="1" dirty="0"/>
              <a:t>; </a:t>
            </a:r>
            <a:r>
              <a:rPr lang="en-IE" sz="2800" dirty="0"/>
              <a:t>into Driver.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2957338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– utilities and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2800" y="1833996"/>
            <a:ext cx="3048000" cy="4525963"/>
          </a:xfrm>
        </p:spPr>
        <p:txBody>
          <a:bodyPr>
            <a:normAutofit fontScale="85000" lnSpcReduction="20000"/>
          </a:bodyPr>
          <a:lstStyle/>
          <a:p>
            <a:r>
              <a:rPr lang="en-IE" dirty="0"/>
              <a:t>The errors are now gone.</a:t>
            </a:r>
          </a:p>
          <a:p>
            <a:pPr marL="0" indent="0">
              <a:buNone/>
            </a:pPr>
            <a:r>
              <a:rPr lang="en-IE" dirty="0"/>
              <a:t>  </a:t>
            </a:r>
          </a:p>
          <a:p>
            <a:r>
              <a:rPr lang="en-IE" dirty="0"/>
              <a:t>Test the app to make sure it is running as expected.</a:t>
            </a:r>
          </a:p>
          <a:p>
            <a:r>
              <a:rPr lang="en-IE" dirty="0"/>
              <a:t>We will use packages in this way for the remainder of the module.</a:t>
            </a:r>
          </a:p>
        </p:txBody>
      </p:sp>
      <p:pic>
        <p:nvPicPr>
          <p:cNvPr id="6" name="Picture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43B27CFD-F18A-4CBB-B978-9A034255B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1" y="1752601"/>
            <a:ext cx="3481469" cy="4599501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4169230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203" y="12446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438401" y="26144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8556747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5391</TotalTime>
  <Words>510</Words>
  <Application>Microsoft Macintosh PowerPoint</Application>
  <PresentationFormat>Widescreen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Packages in Java</vt:lpstr>
      <vt:lpstr>Using Packages</vt:lpstr>
      <vt:lpstr>Why Packages?</vt:lpstr>
      <vt:lpstr>Why Packages?</vt:lpstr>
      <vt:lpstr>Why Packages?</vt:lpstr>
      <vt:lpstr>Design Patterns</vt:lpstr>
      <vt:lpstr>Our Structure</vt:lpstr>
      <vt:lpstr>Shop – packages</vt:lpstr>
      <vt:lpstr>Accessing Packages or Classes from Another Package</vt:lpstr>
      <vt:lpstr>Shop – utilities and packages</vt:lpstr>
      <vt:lpstr>Shop – utilities and packages</vt:lpstr>
      <vt:lpstr>Shop – utilities and packages</vt:lpstr>
      <vt:lpstr>Shop – utilities and packages</vt:lpstr>
      <vt:lpstr>Shop – utilities and packages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Packages and Utilities</dc:title>
  <dc:creator>Siobhan Drohan</dc:creator>
  <cp:lastModifiedBy>Mairead Meagher</cp:lastModifiedBy>
  <cp:revision>163</cp:revision>
  <dcterms:created xsi:type="dcterms:W3CDTF">2006-08-16T00:00:00Z</dcterms:created>
  <dcterms:modified xsi:type="dcterms:W3CDTF">2025-02-25T11:58:43Z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FC85C181-B473-43BE-969B-EDA04EBBD123</vt:lpwstr>
  </property>
  <property fmtid="{D5CDD505-2E9C-101B-9397-08002B2CF9AE}" pid="3" name="ArticulatePath">
    <vt:lpwstr>a-prog-fund-2-Exceptions</vt:lpwstr>
  </property>
</Properties>
</file>