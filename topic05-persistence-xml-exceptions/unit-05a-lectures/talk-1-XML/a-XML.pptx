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416" r:id="rId3"/>
    <p:sldId id="422" r:id="rId4"/>
    <p:sldId id="396" r:id="rId5"/>
    <p:sldId id="397" r:id="rId6"/>
    <p:sldId id="409" r:id="rId7"/>
    <p:sldId id="410" r:id="rId8"/>
    <p:sldId id="415" r:id="rId9"/>
    <p:sldId id="417" r:id="rId10"/>
    <p:sldId id="413" r:id="rId11"/>
    <p:sldId id="418" r:id="rId12"/>
    <p:sldId id="400" r:id="rId13"/>
    <p:sldId id="401" r:id="rId14"/>
    <p:sldId id="419" r:id="rId15"/>
    <p:sldId id="420" r:id="rId16"/>
    <p:sldId id="421" r:id="rId17"/>
    <p:sldId id="402" r:id="rId18"/>
    <p:sldId id="425" r:id="rId19"/>
    <p:sldId id="414" r:id="rId20"/>
    <p:sldId id="424" r:id="rId21"/>
    <p:sldId id="3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2" autoAdjust="0"/>
    <p:restoredTop sz="94558"/>
  </p:normalViewPr>
  <p:slideViewPr>
    <p:cSldViewPr>
      <p:cViewPr varScale="1">
        <p:scale>
          <a:sx n="90" d="100"/>
          <a:sy n="90" d="100"/>
        </p:scale>
        <p:origin x="36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10/02/2026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xml/xml_whatis.asp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Source:  </a:t>
            </a:r>
            <a:r>
              <a:rPr lang="en-IE" dirty="0">
                <a:hlinkClick r:id="rId3"/>
              </a:rPr>
              <a:t>http://www.w3schools.com/xml/xml_whatis.asp</a:t>
            </a:r>
            <a:r>
              <a:rPr lang="en-IE" dirty="0"/>
              <a:t> 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7617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iff"/><Relationship Id="rId4" Type="http://schemas.openxmlformats.org/officeDocument/2006/relationships/image" Target="../media/image7.tif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xml/xml_whatis.as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Persistence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Introduction to XML and Serialization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8A713-3A92-43D7-9854-D52C90EF7929}"/>
              </a:ext>
            </a:extLst>
          </p:cNvPr>
          <p:cNvSpPr txBox="1"/>
          <p:nvPr/>
        </p:nvSpPr>
        <p:spPr>
          <a:xfrm>
            <a:off x="3581400" y="38100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19B04-837C-1655-8ED6-C10223F2FC27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9FC0EB9-DFE2-FF59-FC62-56410D98B1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Persistence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6096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“the continued existence of something”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207" y="2209801"/>
            <a:ext cx="5601586" cy="42597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56913" y="6469562"/>
            <a:ext cx="2139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/>
              <a:t>Dali </a:t>
            </a:r>
            <a:r>
              <a:rPr lang="mr-IN" sz="1200" i="1" dirty="0"/>
              <a:t>–</a:t>
            </a:r>
            <a:r>
              <a:rPr lang="en-GB" sz="1200" i="1" dirty="0"/>
              <a:t> “Persistence of memory”</a:t>
            </a:r>
          </a:p>
        </p:txBody>
      </p:sp>
    </p:spTree>
    <p:extLst>
      <p:ext uri="{BB962C8B-B14F-4D97-AF65-F5344CB8AC3E}">
        <p14:creationId xmlns:p14="http://schemas.microsoft.com/office/powerpoint/2010/main" val="88823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Persistence </a:t>
            </a:r>
            <a:r>
              <a:rPr lang="mr-IN" sz="3600" b="1" dirty="0"/>
              <a:t>–</a:t>
            </a:r>
            <a:r>
              <a:rPr lang="en-GB" sz="3600" b="1" dirty="0"/>
              <a:t> lack of (volatility - volatile)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00200"/>
            <a:ext cx="8217243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89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Persistence</a:t>
            </a:r>
            <a:r>
              <a:rPr lang="en-IE" dirty="0"/>
              <a:t> - 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Introduction to </a:t>
            </a:r>
            <a:r>
              <a:rPr lang="en-IE" b="1" dirty="0"/>
              <a:t>XML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XML versus HTML</a:t>
            </a:r>
          </a:p>
          <a:p>
            <a:pPr lvl="1"/>
            <a:r>
              <a:rPr lang="en-IE" dirty="0"/>
              <a:t>Example of XML</a:t>
            </a:r>
          </a:p>
          <a:p>
            <a:pPr lvl="1"/>
            <a:r>
              <a:rPr lang="en-IE" dirty="0"/>
              <a:t>XML does not “do” anything</a:t>
            </a:r>
          </a:p>
          <a:p>
            <a:pPr marL="457200" lvl="1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</a:t>
            </a:r>
            <a:r>
              <a:rPr lang="en-IE" b="1" dirty="0"/>
              <a:t>Serialization</a:t>
            </a:r>
            <a:r>
              <a:rPr lang="en-IE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010" y="1647024"/>
            <a:ext cx="8229600" cy="23412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ight Arrow 6"/>
          <p:cNvSpPr/>
          <p:nvPr/>
        </p:nvSpPr>
        <p:spPr>
          <a:xfrm>
            <a:off x="145515" y="2289689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XML</a:t>
            </a:r>
            <a:r>
              <a:rPr lang="en-IE" dirty="0"/>
              <a:t> versus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305800" cy="1600200"/>
          </a:xfrm>
        </p:spPr>
        <p:txBody>
          <a:bodyPr>
            <a:normAutofit lnSpcReduction="10000"/>
          </a:bodyPr>
          <a:lstStyle/>
          <a:p>
            <a:r>
              <a:rPr lang="en-IE" b="1" dirty="0">
                <a:solidFill>
                  <a:srgbClr val="FF0000"/>
                </a:solidFill>
              </a:rPr>
              <a:t>XML</a:t>
            </a:r>
            <a:r>
              <a:rPr lang="en-IE" dirty="0"/>
              <a:t> was designed to </a:t>
            </a:r>
            <a:r>
              <a:rPr lang="en-IE" b="1" dirty="0">
                <a:solidFill>
                  <a:srgbClr val="FF0000"/>
                </a:solidFill>
              </a:rPr>
              <a:t>describe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b="1" dirty="0">
                <a:solidFill>
                  <a:srgbClr val="FF0000"/>
                </a:solidFill>
              </a:rPr>
              <a:t>data</a:t>
            </a:r>
            <a:r>
              <a:rPr lang="en-IE" dirty="0"/>
              <a:t>, </a:t>
            </a:r>
          </a:p>
          <a:p>
            <a:pPr lvl="1"/>
            <a:r>
              <a:rPr lang="en-IE" dirty="0"/>
              <a:t>focus on </a:t>
            </a:r>
            <a:r>
              <a:rPr lang="en-IE" b="1" dirty="0"/>
              <a:t>what</a:t>
            </a:r>
            <a:r>
              <a:rPr lang="en-IE" dirty="0"/>
              <a:t> the data is.  </a:t>
            </a:r>
          </a:p>
          <a:p>
            <a:r>
              <a:rPr lang="en-IE" dirty="0"/>
              <a:t>XML is about </a:t>
            </a:r>
            <a:r>
              <a:rPr lang="en-IE" u="sng" dirty="0"/>
              <a:t>carrying information</a:t>
            </a:r>
            <a:r>
              <a:rPr lang="en-IE" dirty="0"/>
              <a:t>.</a:t>
            </a:r>
          </a:p>
          <a:p>
            <a:endParaRPr lang="en-IE" dirty="0">
              <a:solidFill>
                <a:srgbClr val="FF0000"/>
              </a:solidFill>
            </a:endParaRPr>
          </a:p>
          <a:p>
            <a:endParaRPr lang="en-I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F2DD68-E965-4C7C-AEF7-BE02AFE9639A}"/>
              </a:ext>
            </a:extLst>
          </p:cNvPr>
          <p:cNvSpPr/>
          <p:nvPr/>
        </p:nvSpPr>
        <p:spPr>
          <a:xfrm>
            <a:off x="2743200" y="3505200"/>
            <a:ext cx="6553200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>
                <a:solidFill>
                  <a:srgbClr val="0070C0"/>
                </a:solidFill>
              </a:rPr>
              <a:t>&lt;</a:t>
            </a:r>
            <a:r>
              <a:rPr lang="en-IE" sz="2400" b="1" dirty="0">
                <a:solidFill>
                  <a:srgbClr val="0070C0"/>
                </a:solidFill>
              </a:rPr>
              <a:t>note</a:t>
            </a:r>
            <a:r>
              <a:rPr lang="en-IE" sz="2400" dirty="0">
                <a:solidFill>
                  <a:srgbClr val="0070C0"/>
                </a:solidFill>
              </a:rPr>
              <a:t>&gt;</a:t>
            </a:r>
            <a:br>
              <a:rPr lang="en-IE" sz="2400" dirty="0"/>
            </a:br>
            <a:r>
              <a:rPr lang="en-IE" sz="2400" dirty="0"/>
              <a:t>  	</a:t>
            </a:r>
            <a:r>
              <a:rPr lang="en-IE" sz="2400" dirty="0">
                <a:solidFill>
                  <a:srgbClr val="0070C0"/>
                </a:solidFill>
              </a:rPr>
              <a:t>&lt;to&gt;</a:t>
            </a:r>
            <a:r>
              <a:rPr lang="en-IE" sz="2400" dirty="0"/>
              <a:t>Donald Duck</a:t>
            </a:r>
            <a:r>
              <a:rPr lang="en-IE" sz="2400" dirty="0">
                <a:solidFill>
                  <a:srgbClr val="0070C0"/>
                </a:solidFill>
              </a:rPr>
              <a:t>&lt;/to&gt;</a:t>
            </a:r>
            <a:br>
              <a:rPr lang="en-IE" sz="2400" dirty="0">
                <a:solidFill>
                  <a:srgbClr val="0070C0"/>
                </a:solidFill>
              </a:rPr>
            </a:br>
            <a:r>
              <a:rPr lang="en-IE" sz="2400" dirty="0"/>
              <a:t>  	</a:t>
            </a:r>
            <a:r>
              <a:rPr lang="en-IE" sz="2400" dirty="0">
                <a:solidFill>
                  <a:srgbClr val="0070C0"/>
                </a:solidFill>
              </a:rPr>
              <a:t>&lt;from&gt;</a:t>
            </a:r>
            <a:r>
              <a:rPr lang="en-IE" sz="2400" dirty="0"/>
              <a:t>Minnie Mouse</a:t>
            </a:r>
            <a:r>
              <a:rPr lang="en-IE" sz="2400" dirty="0">
                <a:solidFill>
                  <a:srgbClr val="0070C0"/>
                </a:solidFill>
              </a:rPr>
              <a:t>&lt;/from&gt;</a:t>
            </a:r>
            <a:br>
              <a:rPr lang="en-IE" sz="2400" dirty="0">
                <a:solidFill>
                  <a:srgbClr val="0070C0"/>
                </a:solidFill>
              </a:rPr>
            </a:br>
            <a:r>
              <a:rPr lang="en-IE" sz="2400" dirty="0"/>
              <a:t>  	</a:t>
            </a:r>
            <a:r>
              <a:rPr lang="en-IE" sz="2400" dirty="0">
                <a:solidFill>
                  <a:srgbClr val="0070C0"/>
                </a:solidFill>
              </a:rPr>
              <a:t>&lt;heading&gt;</a:t>
            </a:r>
            <a:r>
              <a:rPr lang="en-IE" sz="2400" dirty="0"/>
              <a:t>Reminder</a:t>
            </a:r>
            <a:r>
              <a:rPr lang="en-IE" sz="2400" dirty="0">
                <a:solidFill>
                  <a:srgbClr val="0070C0"/>
                </a:solidFill>
              </a:rPr>
              <a:t>&lt;/heading&gt;</a:t>
            </a:r>
            <a:br>
              <a:rPr lang="en-IE" sz="2400" dirty="0">
                <a:solidFill>
                  <a:srgbClr val="0070C0"/>
                </a:solidFill>
              </a:rPr>
            </a:br>
            <a:r>
              <a:rPr lang="en-IE" sz="2400" dirty="0"/>
              <a:t>  	</a:t>
            </a:r>
            <a:r>
              <a:rPr lang="en-IE" sz="2400" dirty="0">
                <a:solidFill>
                  <a:srgbClr val="0070C0"/>
                </a:solidFill>
              </a:rPr>
              <a:t>&lt;body&gt;</a:t>
            </a:r>
            <a:r>
              <a:rPr lang="en-IE" sz="2400" dirty="0"/>
              <a:t>Meeting at 10am today</a:t>
            </a:r>
            <a:r>
              <a:rPr lang="en-IE" sz="2400" dirty="0">
                <a:solidFill>
                  <a:srgbClr val="0070C0"/>
                </a:solidFill>
              </a:rPr>
              <a:t>&lt;/body&gt;</a:t>
            </a:r>
            <a:br>
              <a:rPr lang="en-IE" sz="2400" dirty="0">
                <a:solidFill>
                  <a:srgbClr val="0070C0"/>
                </a:solidFill>
              </a:rPr>
            </a:br>
            <a:r>
              <a:rPr lang="en-IE" sz="2400" dirty="0">
                <a:solidFill>
                  <a:srgbClr val="0070C0"/>
                </a:solidFill>
              </a:rPr>
              <a:t>&lt;/</a:t>
            </a:r>
            <a:r>
              <a:rPr lang="en-IE" sz="2400" b="1" dirty="0">
                <a:solidFill>
                  <a:srgbClr val="0070C0"/>
                </a:solidFill>
              </a:rPr>
              <a:t>note</a:t>
            </a:r>
            <a:r>
              <a:rPr lang="en-IE" sz="2400" dirty="0">
                <a:solidFill>
                  <a:srgbClr val="0070C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07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XML versus </a:t>
            </a:r>
            <a:r>
              <a:rPr lang="en-IE" b="1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600201"/>
            <a:ext cx="8153400" cy="1676399"/>
          </a:xfrm>
        </p:spPr>
        <p:txBody>
          <a:bodyPr>
            <a:normAutofit lnSpcReduction="10000"/>
          </a:bodyPr>
          <a:lstStyle/>
          <a:p>
            <a:r>
              <a:rPr lang="en-IE" b="1" dirty="0">
                <a:solidFill>
                  <a:srgbClr val="FF0000"/>
                </a:solidFill>
              </a:rPr>
              <a:t>HTML</a:t>
            </a:r>
            <a:r>
              <a:rPr lang="en-IE" dirty="0"/>
              <a:t> was designed to </a:t>
            </a:r>
            <a:r>
              <a:rPr lang="en-IE" b="1" dirty="0">
                <a:solidFill>
                  <a:srgbClr val="FF0000"/>
                </a:solidFill>
              </a:rPr>
              <a:t>display</a:t>
            </a:r>
            <a:r>
              <a:rPr lang="en-IE" dirty="0"/>
              <a:t> </a:t>
            </a:r>
            <a:r>
              <a:rPr lang="en-IE" b="1" dirty="0">
                <a:solidFill>
                  <a:srgbClr val="FF0000"/>
                </a:solidFill>
              </a:rPr>
              <a:t>data</a:t>
            </a:r>
            <a:r>
              <a:rPr lang="en-IE" dirty="0"/>
              <a:t>, </a:t>
            </a:r>
          </a:p>
          <a:p>
            <a:pPr lvl="1"/>
            <a:r>
              <a:rPr lang="en-IE" dirty="0"/>
              <a:t>focus on </a:t>
            </a:r>
            <a:r>
              <a:rPr lang="en-IE" b="1" dirty="0"/>
              <a:t>how</a:t>
            </a:r>
            <a:r>
              <a:rPr lang="en-IE" dirty="0"/>
              <a:t> the data looks.  </a:t>
            </a:r>
          </a:p>
          <a:p>
            <a:r>
              <a:rPr lang="en-IE" dirty="0"/>
              <a:t>HTML is about </a:t>
            </a:r>
            <a:r>
              <a:rPr lang="en-IE" u="sng" dirty="0"/>
              <a:t>displaying information</a:t>
            </a:r>
            <a:r>
              <a:rPr lang="en-IE" dirty="0"/>
              <a:t>.</a:t>
            </a:r>
          </a:p>
        </p:txBody>
      </p:sp>
      <p:pic>
        <p:nvPicPr>
          <p:cNvPr id="1028" name="Picture 4" descr="Image result for html example">
            <a:extLst>
              <a:ext uri="{FF2B5EF4-FFF2-40B4-BE49-F238E27FC236}">
                <a16:creationId xmlns:a16="http://schemas.microsoft.com/office/drawing/2014/main" id="{BCBE16ED-631A-4C92-B4A5-4D30C4EEE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443" y="3363557"/>
            <a:ext cx="5782158" cy="341824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41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XML is NOT a replacement for HTML</a:t>
            </a:r>
          </a:p>
        </p:txBody>
      </p:sp>
      <p:pic>
        <p:nvPicPr>
          <p:cNvPr id="1028" name="Picture 4" descr="Image result for html example">
            <a:extLst>
              <a:ext uri="{FF2B5EF4-FFF2-40B4-BE49-F238E27FC236}">
                <a16:creationId xmlns:a16="http://schemas.microsoft.com/office/drawing/2014/main" id="{BCBE16ED-631A-4C92-B4A5-4D30C4EEE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114801"/>
            <a:ext cx="4511384" cy="266699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668773-9995-4022-B3A0-E5AA4D4047FA}"/>
              </a:ext>
            </a:extLst>
          </p:cNvPr>
          <p:cNvSpPr/>
          <p:nvPr/>
        </p:nvSpPr>
        <p:spPr>
          <a:xfrm>
            <a:off x="1981200" y="1524000"/>
            <a:ext cx="4876800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rgbClr val="0070C0"/>
                </a:solidFill>
              </a:rPr>
              <a:t>&lt;note&gt;</a:t>
            </a:r>
            <a:br>
              <a:rPr lang="en-IE" dirty="0"/>
            </a:br>
            <a:r>
              <a:rPr lang="en-IE" dirty="0"/>
              <a:t>  	</a:t>
            </a:r>
            <a:r>
              <a:rPr lang="en-IE" dirty="0">
                <a:solidFill>
                  <a:srgbClr val="0070C0"/>
                </a:solidFill>
              </a:rPr>
              <a:t>&lt;to&gt;</a:t>
            </a:r>
            <a:r>
              <a:rPr lang="en-IE" dirty="0"/>
              <a:t>Donald Duck</a:t>
            </a:r>
            <a:r>
              <a:rPr lang="en-IE" dirty="0">
                <a:solidFill>
                  <a:srgbClr val="0070C0"/>
                </a:solidFill>
              </a:rPr>
              <a:t>&lt;/to&gt;</a:t>
            </a:r>
            <a:br>
              <a:rPr lang="en-IE" dirty="0">
                <a:solidFill>
                  <a:srgbClr val="0070C0"/>
                </a:solidFill>
              </a:rPr>
            </a:br>
            <a:r>
              <a:rPr lang="en-IE" dirty="0"/>
              <a:t>  	</a:t>
            </a:r>
            <a:r>
              <a:rPr lang="en-IE" dirty="0">
                <a:solidFill>
                  <a:srgbClr val="0070C0"/>
                </a:solidFill>
              </a:rPr>
              <a:t>&lt;from&gt;</a:t>
            </a:r>
            <a:r>
              <a:rPr lang="en-IE" dirty="0"/>
              <a:t>Minnie Mouse</a:t>
            </a:r>
            <a:r>
              <a:rPr lang="en-IE" dirty="0">
                <a:solidFill>
                  <a:srgbClr val="0070C0"/>
                </a:solidFill>
              </a:rPr>
              <a:t>&lt;/from&gt;</a:t>
            </a:r>
            <a:br>
              <a:rPr lang="en-IE" dirty="0">
                <a:solidFill>
                  <a:srgbClr val="0070C0"/>
                </a:solidFill>
              </a:rPr>
            </a:br>
            <a:r>
              <a:rPr lang="en-IE" dirty="0"/>
              <a:t>  	</a:t>
            </a:r>
            <a:r>
              <a:rPr lang="en-IE" dirty="0">
                <a:solidFill>
                  <a:srgbClr val="0070C0"/>
                </a:solidFill>
              </a:rPr>
              <a:t>&lt;heading&gt;</a:t>
            </a:r>
            <a:r>
              <a:rPr lang="en-IE" dirty="0"/>
              <a:t>Reminder</a:t>
            </a:r>
            <a:r>
              <a:rPr lang="en-IE" dirty="0">
                <a:solidFill>
                  <a:srgbClr val="0070C0"/>
                </a:solidFill>
              </a:rPr>
              <a:t>&lt;/heading&gt;</a:t>
            </a:r>
            <a:br>
              <a:rPr lang="en-IE" dirty="0">
                <a:solidFill>
                  <a:srgbClr val="0070C0"/>
                </a:solidFill>
              </a:rPr>
            </a:br>
            <a:r>
              <a:rPr lang="en-IE" dirty="0"/>
              <a:t>  	</a:t>
            </a:r>
            <a:r>
              <a:rPr lang="en-IE" dirty="0">
                <a:solidFill>
                  <a:srgbClr val="0070C0"/>
                </a:solidFill>
              </a:rPr>
              <a:t>&lt;body&gt;</a:t>
            </a:r>
            <a:r>
              <a:rPr lang="en-IE" dirty="0"/>
              <a:t>Meeting at 10am today</a:t>
            </a:r>
            <a:r>
              <a:rPr lang="en-IE" dirty="0">
                <a:solidFill>
                  <a:srgbClr val="0070C0"/>
                </a:solidFill>
              </a:rPr>
              <a:t>&lt;/body&gt;</a:t>
            </a:r>
            <a:br>
              <a:rPr lang="en-IE" dirty="0">
                <a:solidFill>
                  <a:srgbClr val="0070C0"/>
                </a:solidFill>
              </a:rPr>
            </a:br>
            <a:r>
              <a:rPr lang="en-IE" dirty="0">
                <a:solidFill>
                  <a:srgbClr val="0070C0"/>
                </a:solidFill>
              </a:rPr>
              <a:t>&lt;/note&gt;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72C854-6679-4E85-B6A1-5C8441506245}"/>
              </a:ext>
            </a:extLst>
          </p:cNvPr>
          <p:cNvSpPr/>
          <p:nvPr/>
        </p:nvSpPr>
        <p:spPr>
          <a:xfrm>
            <a:off x="3886200" y="3416064"/>
            <a:ext cx="1981200" cy="1600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500" dirty="0"/>
              <a:t>!=</a:t>
            </a:r>
          </a:p>
        </p:txBody>
      </p:sp>
    </p:spTree>
    <p:extLst>
      <p:ext uri="{BB962C8B-B14F-4D97-AF65-F5344CB8AC3E}">
        <p14:creationId xmlns:p14="http://schemas.microsoft.com/office/powerpoint/2010/main" val="240746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XML…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07978"/>
            <a:ext cx="10972800" cy="4525963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Extensible</a:t>
            </a:r>
          </a:p>
          <a:p>
            <a:pPr lvl="1"/>
            <a:r>
              <a:rPr lang="en-GB" sz="2200" dirty="0">
                <a:solidFill>
                  <a:schemeClr val="bg1"/>
                </a:solidFill>
              </a:rPr>
              <a:t>Extensible </a:t>
            </a:r>
            <a:r>
              <a:rPr lang="en-GB" sz="2200" dirty="0" err="1">
                <a:solidFill>
                  <a:schemeClr val="bg1"/>
                </a:solidFill>
              </a:rPr>
              <a:t>markup</a:t>
            </a:r>
            <a:r>
              <a:rPr lang="en-GB" sz="2200" dirty="0">
                <a:solidFill>
                  <a:schemeClr val="bg1"/>
                </a:solidFill>
              </a:rPr>
              <a:t> language</a:t>
            </a:r>
          </a:p>
          <a:p>
            <a:r>
              <a:rPr lang="en-GB" dirty="0" err="1">
                <a:solidFill>
                  <a:schemeClr val="bg1"/>
                </a:solidFill>
              </a:rPr>
              <a:t>Markup</a:t>
            </a:r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sz="2200" dirty="0">
                <a:solidFill>
                  <a:schemeClr val="bg1"/>
                </a:solidFill>
              </a:rPr>
              <a:t>Like HTML</a:t>
            </a:r>
          </a:p>
          <a:p>
            <a:r>
              <a:rPr lang="en-GB" dirty="0">
                <a:solidFill>
                  <a:schemeClr val="bg1"/>
                </a:solidFill>
              </a:rPr>
              <a:t>Describes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Not for displaying data HTML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Define your own tags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Not predefined</a:t>
            </a:r>
          </a:p>
          <a:p>
            <a:r>
              <a:rPr lang="en-GB" dirty="0">
                <a:solidFill>
                  <a:schemeClr val="bg1"/>
                </a:solidFill>
              </a:rPr>
              <a:t>Self Descriptive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924" y="1807978"/>
            <a:ext cx="4110406" cy="411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8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Persistence</a:t>
            </a:r>
            <a:r>
              <a:rPr lang="en-IE" dirty="0"/>
              <a:t> - 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Introduction to </a:t>
            </a:r>
            <a:r>
              <a:rPr lang="en-IE" b="1" dirty="0"/>
              <a:t>XML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XML versus HTML</a:t>
            </a:r>
          </a:p>
          <a:p>
            <a:pPr lvl="1"/>
            <a:r>
              <a:rPr lang="en-IE" dirty="0"/>
              <a:t>Example of XML</a:t>
            </a:r>
          </a:p>
          <a:p>
            <a:pPr lvl="1"/>
            <a:r>
              <a:rPr lang="en-IE" dirty="0"/>
              <a:t>XML does not “do” anything</a:t>
            </a:r>
          </a:p>
          <a:p>
            <a:pPr marL="457200" lvl="1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</a:t>
            </a:r>
            <a:r>
              <a:rPr lang="en-IE" b="1" dirty="0"/>
              <a:t>Serialization</a:t>
            </a:r>
            <a:r>
              <a:rPr lang="en-IE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0" y="1572567"/>
            <a:ext cx="8229600" cy="23412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ight Arrow 6"/>
          <p:cNvSpPr/>
          <p:nvPr/>
        </p:nvSpPr>
        <p:spPr>
          <a:xfrm>
            <a:off x="115677" y="28194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7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XML </a:t>
            </a:r>
            <a:r>
              <a:rPr lang="en-IE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4562205"/>
            <a:ext cx="7696200" cy="73470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dirty="0"/>
              <a:t>A </a:t>
            </a:r>
            <a:r>
              <a:rPr lang="en-IE" sz="2400" b="1" dirty="0"/>
              <a:t>note</a:t>
            </a:r>
            <a:r>
              <a:rPr lang="en-IE" sz="2400" dirty="0"/>
              <a:t> to Donald Duck, from Minnie Mouse, stored as XML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FE7B3-FC6C-4FF8-9F84-7CBB3494E665}"/>
              </a:ext>
            </a:extLst>
          </p:cNvPr>
          <p:cNvSpPr/>
          <p:nvPr/>
        </p:nvSpPr>
        <p:spPr>
          <a:xfrm>
            <a:off x="3048000" y="1778581"/>
            <a:ext cx="6324600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&lt;note&gt;</a:t>
            </a:r>
            <a:br>
              <a:rPr lang="en-IE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  	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&lt;to&gt;</a:t>
            </a: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Donald Duck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&lt;/to&gt;</a:t>
            </a:r>
            <a:b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  	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&lt;from&gt;</a:t>
            </a: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Minnie Mouse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&lt;/from&gt;</a:t>
            </a:r>
            <a:b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  	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&lt;heading&gt;</a:t>
            </a: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Reminder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&lt;/heading&gt;</a:t>
            </a:r>
            <a:b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  	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&lt;body&gt;</a:t>
            </a:r>
            <a:r>
              <a:rPr lang="en-IE" sz="2000" dirty="0">
                <a:latin typeface="Courier New" charset="0"/>
                <a:ea typeface="Courier New" charset="0"/>
                <a:cs typeface="Courier New" charset="0"/>
              </a:rPr>
              <a:t>Meeting at 10am today</a:t>
            </a: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&lt;/body&gt;</a:t>
            </a:r>
            <a:b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IE" sz="2000" dirty="0">
                <a:solidFill>
                  <a:srgbClr val="0070C0"/>
                </a:solidFill>
                <a:latin typeface="Courier New" charset="0"/>
                <a:ea typeface="Courier New" charset="0"/>
                <a:cs typeface="Courier New" charset="0"/>
              </a:rPr>
              <a:t>&lt;/note&gt;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590800" y="5157504"/>
            <a:ext cx="5638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000" dirty="0"/>
              <a:t>It has sender &lt;</a:t>
            </a:r>
            <a:r>
              <a:rPr lang="en-IE" sz="2000" b="1" dirty="0"/>
              <a:t>to</a:t>
            </a:r>
            <a:r>
              <a:rPr lang="en-IE" sz="2000" dirty="0"/>
              <a:t>&gt; and receiver &lt;</a:t>
            </a:r>
            <a:r>
              <a:rPr lang="en-IE" sz="2000" b="1" dirty="0"/>
              <a:t>from</a:t>
            </a:r>
            <a:r>
              <a:rPr lang="en-IE" sz="2000" dirty="0"/>
              <a:t>&gt; information </a:t>
            </a:r>
          </a:p>
          <a:p>
            <a:r>
              <a:rPr lang="en-IE" sz="2000" dirty="0"/>
              <a:t>It also has a </a:t>
            </a:r>
            <a:r>
              <a:rPr lang="en-IE" sz="2000" b="1" dirty="0"/>
              <a:t>heading</a:t>
            </a:r>
            <a:r>
              <a:rPr lang="en-IE" sz="2000" dirty="0"/>
              <a:t> and a message </a:t>
            </a:r>
            <a:r>
              <a:rPr lang="en-IE" sz="2000" b="1" dirty="0"/>
              <a:t>body</a:t>
            </a:r>
            <a:r>
              <a:rPr lang="en-IE" sz="2000" dirty="0"/>
              <a:t>.</a:t>
            </a:r>
          </a:p>
          <a:p>
            <a:r>
              <a:rPr lang="en-IE" sz="2000" dirty="0"/>
              <a:t>The XML is </a:t>
            </a:r>
            <a:r>
              <a:rPr lang="en-IE" sz="2000" u="sng" dirty="0"/>
              <a:t>self descriptive</a:t>
            </a:r>
            <a:r>
              <a:rPr lang="en-IE" sz="2000" dirty="0"/>
              <a:t>. </a:t>
            </a:r>
          </a:p>
          <a:p>
            <a:endParaRPr lang="en-IE" sz="20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194" y="418179"/>
            <a:ext cx="779905" cy="7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Persistence</a:t>
            </a:r>
            <a:r>
              <a:rPr lang="en-IE" dirty="0"/>
              <a:t> - 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30" y="1600201"/>
            <a:ext cx="109728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Introduction to </a:t>
            </a:r>
            <a:r>
              <a:rPr lang="en-IE" b="1" dirty="0"/>
              <a:t>XML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XML versus HTML</a:t>
            </a:r>
          </a:p>
          <a:p>
            <a:pPr lvl="1"/>
            <a:r>
              <a:rPr lang="en-IE" dirty="0"/>
              <a:t>Example of XML</a:t>
            </a:r>
          </a:p>
          <a:p>
            <a:pPr lvl="1"/>
            <a:r>
              <a:rPr lang="en-IE" dirty="0"/>
              <a:t>XML does not “do” anything</a:t>
            </a:r>
          </a:p>
          <a:p>
            <a:pPr marL="457200" lvl="1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</a:t>
            </a:r>
            <a:r>
              <a:rPr lang="en-IE" b="1" dirty="0"/>
              <a:t>Serialization</a:t>
            </a:r>
            <a:r>
              <a:rPr lang="en-IE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76400"/>
            <a:ext cx="8229600" cy="23412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ight Arrow 6"/>
          <p:cNvSpPr/>
          <p:nvPr/>
        </p:nvSpPr>
        <p:spPr>
          <a:xfrm>
            <a:off x="152400" y="33528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39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Our </a:t>
            </a:r>
            <a:r>
              <a:rPr lang="en-IE" b="1" dirty="0"/>
              <a:t>Shop</a:t>
            </a:r>
            <a:r>
              <a:rPr lang="en-IE" dirty="0"/>
              <a:t>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1630689"/>
            <a:ext cx="7315200" cy="10772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>
                <a:solidFill>
                  <a:srgbClr val="FF0000"/>
                </a:solidFill>
              </a:rPr>
              <a:t>Shop V4.0 </a:t>
            </a:r>
          </a:p>
          <a:p>
            <a:r>
              <a:rPr lang="en-IE" sz="3200" dirty="0"/>
              <a:t>implemented the </a:t>
            </a:r>
            <a:r>
              <a:rPr lang="en-IE" sz="3200" b="1" dirty="0"/>
              <a:t>CRUD</a:t>
            </a:r>
            <a:r>
              <a:rPr lang="en-IE" sz="3200" dirty="0"/>
              <a:t>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399" y="4374417"/>
            <a:ext cx="7315200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>
                <a:solidFill>
                  <a:srgbClr val="FF0000"/>
                </a:solidFill>
              </a:rPr>
              <a:t>Shop V5.0</a:t>
            </a:r>
            <a:endParaRPr lang="en-IE" sz="3200" dirty="0"/>
          </a:p>
          <a:p>
            <a:r>
              <a:rPr lang="en-IE" sz="3200" dirty="0"/>
              <a:t>use XML to make our </a:t>
            </a:r>
            <a:r>
              <a:rPr lang="en-IE" sz="3200" b="1" dirty="0"/>
              <a:t>data persistent </a:t>
            </a:r>
            <a:r>
              <a:rPr lang="en-IE" sz="3200" dirty="0"/>
              <a:t>beyond the life of our app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6691" y="3137957"/>
            <a:ext cx="759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Problem:</a:t>
            </a:r>
            <a:r>
              <a:rPr lang="en-IE" sz="2400" dirty="0"/>
              <a:t> All entered </a:t>
            </a:r>
            <a:r>
              <a:rPr lang="en-IE" sz="2400" b="1" dirty="0"/>
              <a:t>data is lost</a:t>
            </a:r>
            <a:r>
              <a:rPr lang="en-IE" sz="2400" dirty="0"/>
              <a:t> if we </a:t>
            </a:r>
            <a:r>
              <a:rPr lang="en-IE" sz="2400" b="1" dirty="0"/>
              <a:t>close our application</a:t>
            </a:r>
            <a:endParaRPr lang="en-IE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0913" y="3048001"/>
            <a:ext cx="1187450" cy="8894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34346" y="6134674"/>
            <a:ext cx="69233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Solution</a:t>
            </a:r>
            <a:r>
              <a:rPr lang="en-GB" sz="2400" dirty="0">
                <a:solidFill>
                  <a:srgbClr val="FF0000"/>
                </a:solidFill>
              </a:rPr>
              <a:t>: </a:t>
            </a:r>
            <a:r>
              <a:rPr lang="en-IE" sz="2400" dirty="0">
                <a:solidFill>
                  <a:srgbClr val="FF0000"/>
                </a:solidFill>
              </a:rPr>
              <a:t>Store our objects from memory to XML </a:t>
            </a:r>
            <a:r>
              <a:rPr lang="en-IE" sz="2400" b="1" dirty="0">
                <a:solidFill>
                  <a:srgbClr val="FF0000"/>
                </a:solidFill>
              </a:rPr>
              <a:t>files</a:t>
            </a:r>
            <a:r>
              <a:rPr lang="en-IE" sz="2400" dirty="0">
                <a:solidFill>
                  <a:srgbClr val="FF0000"/>
                </a:solidFill>
              </a:rPr>
              <a:t>.</a:t>
            </a:r>
          </a:p>
          <a:p>
            <a:endParaRPr lang="en-GB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064000" y="6088953"/>
            <a:ext cx="584200" cy="584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896" y="239995"/>
            <a:ext cx="1099407" cy="10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3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XML does not “do” anything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686800" cy="4525963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XML is just information wrapped in &lt;tags&gt;.</a:t>
            </a:r>
            <a:br>
              <a:rPr lang="en-IE" dirty="0"/>
            </a:br>
            <a:endParaRPr lang="en-IE" dirty="0"/>
          </a:p>
          <a:p>
            <a:r>
              <a:rPr lang="en-IE" dirty="0"/>
              <a:t>Someone must write a piece of software </a:t>
            </a:r>
            <a:br>
              <a:rPr lang="en-IE" dirty="0"/>
            </a:br>
            <a:r>
              <a:rPr lang="en-IE" dirty="0"/>
              <a:t>to send, receive or display it.</a:t>
            </a:r>
          </a:p>
          <a:p>
            <a:endParaRPr lang="en-IE" dirty="0"/>
          </a:p>
          <a:p>
            <a:r>
              <a:rPr lang="en-IE" dirty="0"/>
              <a:t>We will write Java code to:</a:t>
            </a:r>
          </a:p>
          <a:p>
            <a:pPr lvl="1"/>
            <a:r>
              <a:rPr lang="en-IE" b="1" dirty="0"/>
              <a:t>SEND objects TO </a:t>
            </a:r>
            <a:r>
              <a:rPr lang="en-IE" dirty="0"/>
              <a:t>an</a:t>
            </a:r>
            <a:r>
              <a:rPr lang="en-IE" b="1" dirty="0"/>
              <a:t> XML file </a:t>
            </a:r>
            <a:r>
              <a:rPr lang="en-IE" dirty="0"/>
              <a:t>on the hard disk.</a:t>
            </a:r>
          </a:p>
          <a:p>
            <a:pPr lvl="1"/>
            <a:r>
              <a:rPr lang="en-IE" b="1" dirty="0"/>
              <a:t>READ objects FROM </a:t>
            </a:r>
            <a:r>
              <a:rPr lang="en-IE" dirty="0"/>
              <a:t>an</a:t>
            </a:r>
            <a:r>
              <a:rPr lang="en-IE" b="1" dirty="0"/>
              <a:t> XML file </a:t>
            </a:r>
            <a:r>
              <a:rPr lang="en-IE" dirty="0"/>
              <a:t>on the hard disk.</a:t>
            </a:r>
            <a:br>
              <a:rPr lang="en-IE" dirty="0"/>
            </a:br>
            <a:endParaRPr lang="en-IE" dirty="0"/>
          </a:p>
          <a:p>
            <a:r>
              <a:rPr lang="en-IE" dirty="0"/>
              <a:t>This is called </a:t>
            </a:r>
            <a:r>
              <a:rPr lang="en-IE" b="1" dirty="0">
                <a:solidFill>
                  <a:srgbClr val="FF0000"/>
                </a:solidFill>
              </a:rPr>
              <a:t>Object Serialization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933700" y="6479703"/>
            <a:ext cx="632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dirty="0"/>
              <a:t>Source:  </a:t>
            </a:r>
            <a:r>
              <a:rPr lang="en-IE" dirty="0">
                <a:hlinkClick r:id="rId2"/>
              </a:rPr>
              <a:t>http://www.w3schools.com/xml/xml_whatis.asp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825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Persistence</a:t>
            </a:r>
            <a:r>
              <a:rPr lang="en-IE" dirty="0"/>
              <a:t> - 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Introduction to </a:t>
            </a:r>
            <a:r>
              <a:rPr lang="en-IE" b="1" dirty="0"/>
              <a:t>XML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XML versus HTML</a:t>
            </a:r>
          </a:p>
          <a:p>
            <a:pPr lvl="1"/>
            <a:r>
              <a:rPr lang="en-IE" dirty="0"/>
              <a:t>Example of XML</a:t>
            </a:r>
          </a:p>
          <a:p>
            <a:pPr lvl="1"/>
            <a:r>
              <a:rPr lang="en-IE" dirty="0"/>
              <a:t>XML does not “do” anything</a:t>
            </a:r>
          </a:p>
          <a:p>
            <a:pPr marL="457200" lvl="1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</a:t>
            </a:r>
            <a:r>
              <a:rPr lang="en-IE" b="1" dirty="0"/>
              <a:t>Serialization</a:t>
            </a:r>
            <a:r>
              <a:rPr lang="en-IE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4267200"/>
            <a:ext cx="8229600" cy="5886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ight Arrow 6"/>
          <p:cNvSpPr/>
          <p:nvPr/>
        </p:nvSpPr>
        <p:spPr>
          <a:xfrm>
            <a:off x="-268077" y="4371033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22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676400" y="2819400"/>
            <a:ext cx="2209800" cy="2209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OBJECT</a:t>
            </a:r>
          </a:p>
        </p:txBody>
      </p:sp>
      <p:sp>
        <p:nvSpPr>
          <p:cNvPr id="3" name="Chevron 2"/>
          <p:cNvSpPr/>
          <p:nvPr/>
        </p:nvSpPr>
        <p:spPr>
          <a:xfrm>
            <a:off x="39624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Chevron 3"/>
          <p:cNvSpPr/>
          <p:nvPr/>
        </p:nvSpPr>
        <p:spPr>
          <a:xfrm>
            <a:off x="44958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Chevron 4"/>
          <p:cNvSpPr/>
          <p:nvPr/>
        </p:nvSpPr>
        <p:spPr>
          <a:xfrm>
            <a:off x="50292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73914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79248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hevron 8"/>
          <p:cNvSpPr/>
          <p:nvPr/>
        </p:nvSpPr>
        <p:spPr>
          <a:xfrm>
            <a:off x="84582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Magnetic Disk 10"/>
          <p:cNvSpPr/>
          <p:nvPr/>
        </p:nvSpPr>
        <p:spPr>
          <a:xfrm>
            <a:off x="9372600" y="1600200"/>
            <a:ext cx="838200" cy="12192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DB</a:t>
            </a:r>
          </a:p>
        </p:txBody>
      </p:sp>
      <p:sp>
        <p:nvSpPr>
          <p:cNvPr id="12" name="Folded Corner 11"/>
          <p:cNvSpPr/>
          <p:nvPr/>
        </p:nvSpPr>
        <p:spPr>
          <a:xfrm rot="10800000">
            <a:off x="9372600" y="3429000"/>
            <a:ext cx="838200" cy="11430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GB" dirty="0"/>
              <a:t>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0722" y="381001"/>
            <a:ext cx="4063356" cy="769441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4400"/>
              <a:t>Java Serialization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7156" y="3268980"/>
            <a:ext cx="533400" cy="1600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/>
              <a:t>1011 0101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8286" y="3268980"/>
            <a:ext cx="533400" cy="1600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1000 0101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9416" y="3268980"/>
            <a:ext cx="533400" cy="1600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1011 1000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1" y="3677335"/>
            <a:ext cx="1130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/>
              <a:t>Stream Of</a:t>
            </a:r>
            <a:br>
              <a:rPr lang="en-GB"/>
            </a:br>
            <a:r>
              <a:rPr lang="en-GB"/>
              <a:t>Bytes</a:t>
            </a:r>
          </a:p>
        </p:txBody>
      </p:sp>
      <p:sp>
        <p:nvSpPr>
          <p:cNvPr id="19" name="Snip Single Corner Rectangle 18"/>
          <p:cNvSpPr/>
          <p:nvPr/>
        </p:nvSpPr>
        <p:spPr>
          <a:xfrm>
            <a:off x="9372600" y="5011615"/>
            <a:ext cx="838200" cy="1219200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Memory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8215" y="667435"/>
            <a:ext cx="1106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Persistent</a:t>
            </a:r>
            <a:br>
              <a:rPr lang="en-GB"/>
            </a:br>
            <a:r>
              <a:rPr lang="en-GB"/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3357" y="1886546"/>
            <a:ext cx="895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Volatile</a:t>
            </a:r>
            <a:br>
              <a:rPr lang="en-GB" dirty="0"/>
            </a:br>
            <a:r>
              <a:rPr lang="en-GB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16688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676400" y="2819400"/>
            <a:ext cx="2209800" cy="2209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OBJECT</a:t>
            </a:r>
          </a:p>
        </p:txBody>
      </p:sp>
      <p:sp>
        <p:nvSpPr>
          <p:cNvPr id="3" name="Chevron 2"/>
          <p:cNvSpPr/>
          <p:nvPr/>
        </p:nvSpPr>
        <p:spPr>
          <a:xfrm rot="10800000">
            <a:off x="39624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Chevron 3"/>
          <p:cNvSpPr/>
          <p:nvPr/>
        </p:nvSpPr>
        <p:spPr>
          <a:xfrm rot="10800000">
            <a:off x="44958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Chevron 4"/>
          <p:cNvSpPr/>
          <p:nvPr/>
        </p:nvSpPr>
        <p:spPr>
          <a:xfrm rot="10800000">
            <a:off x="50292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 rot="10800000">
            <a:off x="73914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 rot="10800000">
            <a:off x="79248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hevron 8"/>
          <p:cNvSpPr/>
          <p:nvPr/>
        </p:nvSpPr>
        <p:spPr>
          <a:xfrm rot="10800000">
            <a:off x="8458200" y="3429000"/>
            <a:ext cx="609600" cy="11430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Magnetic Disk 10"/>
          <p:cNvSpPr/>
          <p:nvPr/>
        </p:nvSpPr>
        <p:spPr>
          <a:xfrm>
            <a:off x="9372600" y="1600200"/>
            <a:ext cx="838200" cy="12192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DB</a:t>
            </a:r>
          </a:p>
        </p:txBody>
      </p:sp>
      <p:sp>
        <p:nvSpPr>
          <p:cNvPr id="12" name="Folded Corner 11"/>
          <p:cNvSpPr/>
          <p:nvPr/>
        </p:nvSpPr>
        <p:spPr>
          <a:xfrm rot="10800000">
            <a:off x="9372600" y="3429000"/>
            <a:ext cx="838200" cy="11430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algn="ctr"/>
            <a:r>
              <a:rPr lang="en-GB" dirty="0"/>
              <a:t>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0722" y="381001"/>
            <a:ext cx="4819974" cy="769441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4400" dirty="0"/>
              <a:t>Java De-Serialization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7156" y="3268980"/>
            <a:ext cx="533400" cy="1600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/>
              <a:t>1011 0101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8286" y="3268980"/>
            <a:ext cx="533400" cy="1600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1000 0101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9416" y="3268980"/>
            <a:ext cx="533400" cy="1600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1011 1000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1" y="3677335"/>
            <a:ext cx="1130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/>
              <a:t>Stream Of</a:t>
            </a:r>
            <a:br>
              <a:rPr lang="en-GB"/>
            </a:br>
            <a:r>
              <a:rPr lang="en-GB"/>
              <a:t>Bytes</a:t>
            </a:r>
          </a:p>
        </p:txBody>
      </p:sp>
      <p:sp>
        <p:nvSpPr>
          <p:cNvPr id="19" name="Snip Single Corner Rectangle 18"/>
          <p:cNvSpPr/>
          <p:nvPr/>
        </p:nvSpPr>
        <p:spPr>
          <a:xfrm>
            <a:off x="9372600" y="5011615"/>
            <a:ext cx="838200" cy="1219200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Memory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8215" y="667435"/>
            <a:ext cx="1106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Persistent</a:t>
            </a:r>
            <a:br>
              <a:rPr lang="en-GB"/>
            </a:br>
            <a:r>
              <a:rPr lang="en-GB"/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3357" y="1886546"/>
            <a:ext cx="895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Volatile</a:t>
            </a:r>
            <a:br>
              <a:rPr lang="en-GB" dirty="0"/>
            </a:br>
            <a:r>
              <a:rPr lang="en-GB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27197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5" grpId="0" animBg="1"/>
      <p:bldP spid="16" grpId="0" animBg="1"/>
      <p:bldP spid="17" grpId="0" animBg="1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3050"/>
            <a:ext cx="3810000" cy="1162050"/>
          </a:xfrm>
        </p:spPr>
        <p:txBody>
          <a:bodyPr>
            <a:normAutofit/>
          </a:bodyPr>
          <a:lstStyle/>
          <a:p>
            <a:r>
              <a:rPr lang="en-IE" sz="3200" dirty="0"/>
              <a:t>Object Serialization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1200" y="1828801"/>
            <a:ext cx="4648200" cy="4691063"/>
          </a:xfrm>
        </p:spPr>
        <p:txBody>
          <a:bodyPr>
            <a:normAutofit/>
          </a:bodyPr>
          <a:lstStyle/>
          <a:p>
            <a:r>
              <a:rPr lang="en-IE" sz="2800" dirty="0"/>
              <a:t>An object can be represented </a:t>
            </a:r>
            <a:br>
              <a:rPr lang="en-IE" sz="2800" dirty="0"/>
            </a:br>
            <a:r>
              <a:rPr lang="en-IE" sz="2800" dirty="0"/>
              <a:t>as a </a:t>
            </a:r>
            <a:r>
              <a:rPr lang="en-IE" sz="2800" b="1" dirty="0"/>
              <a:t>sequence of bytes</a:t>
            </a:r>
            <a:br>
              <a:rPr lang="en-IE" sz="2800" dirty="0"/>
            </a:br>
            <a:r>
              <a:rPr lang="en-IE" sz="2800" dirty="0"/>
              <a:t> </a:t>
            </a:r>
            <a:br>
              <a:rPr lang="en-IE" sz="2800" dirty="0"/>
            </a:br>
            <a:r>
              <a:rPr lang="en-IE" sz="2800" dirty="0"/>
              <a:t>that includes the object's </a:t>
            </a:r>
            <a:r>
              <a:rPr lang="en-IE" sz="2800" b="1" dirty="0"/>
              <a:t>data</a:t>
            </a:r>
          </a:p>
          <a:p>
            <a:endParaRPr lang="en-IE" sz="2800" dirty="0"/>
          </a:p>
          <a:p>
            <a:r>
              <a:rPr lang="en-IE" sz="2800" dirty="0"/>
              <a:t>as well as information </a:t>
            </a:r>
            <a:br>
              <a:rPr lang="en-IE" sz="2800" dirty="0"/>
            </a:br>
            <a:r>
              <a:rPr lang="en-IE" sz="2800" dirty="0"/>
              <a:t>about the object's </a:t>
            </a:r>
            <a:r>
              <a:rPr lang="en-IE" sz="2800" b="1" dirty="0"/>
              <a:t>type</a:t>
            </a:r>
          </a:p>
          <a:p>
            <a:r>
              <a:rPr lang="en-IE" sz="2800" dirty="0"/>
              <a:t> </a:t>
            </a:r>
            <a:br>
              <a:rPr lang="en-IE" sz="2800" dirty="0"/>
            </a:br>
            <a:r>
              <a:rPr lang="en-IE" sz="2800" dirty="0"/>
              <a:t>and the </a:t>
            </a:r>
            <a:r>
              <a:rPr lang="en-IE" sz="2800" b="1" dirty="0"/>
              <a:t>types of data stored </a:t>
            </a:r>
            <a:br>
              <a:rPr lang="en-IE" sz="2800" b="1" dirty="0"/>
            </a:br>
            <a:r>
              <a:rPr lang="en-IE" sz="2800" b="1" dirty="0"/>
              <a:t>in the object</a:t>
            </a:r>
            <a:r>
              <a:rPr lang="en-IE" sz="2800" dirty="0"/>
              <a:t>.</a:t>
            </a:r>
          </a:p>
          <a:p>
            <a:endParaRPr lang="en-GB" sz="2800" dirty="0"/>
          </a:p>
        </p:txBody>
      </p:sp>
      <p:pic>
        <p:nvPicPr>
          <p:cNvPr id="1026" name="Picture 2" descr="Image result for object serialization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981200"/>
            <a:ext cx="3869690" cy="35179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577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Serialization process involves </a:t>
            </a:r>
            <a:r>
              <a:rPr lang="en-IE" b="1" dirty="0"/>
              <a:t>Marshalling</a:t>
            </a:r>
          </a:p>
        </p:txBody>
      </p:sp>
      <p:pic>
        <p:nvPicPr>
          <p:cNvPr id="3076" name="Picture 4" descr="Image result for marshalling and unmarshalling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599493"/>
            <a:ext cx="8505825" cy="301154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899139" y="1777732"/>
            <a:ext cx="8511687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chemeClr val="tx1"/>
                </a:solidFill>
                <a:latin typeface="arial" panose="020B0604020202020204" pitchFamily="34" charset="0"/>
              </a:rPr>
              <a:t>Marshalling </a:t>
            </a:r>
            <a:r>
              <a:rPr lang="en-IE" sz="2000" dirty="0">
                <a:solidFill>
                  <a:schemeClr val="tx1"/>
                </a:solidFill>
                <a:latin typeface="arial" panose="020B0604020202020204" pitchFamily="34" charset="0"/>
              </a:rPr>
              <a:t>is</a:t>
            </a:r>
            <a:r>
              <a:rPr lang="en-IE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E" sz="2000" dirty="0">
                <a:solidFill>
                  <a:schemeClr val="tx1"/>
                </a:solidFill>
                <a:latin typeface="arial" panose="020B0604020202020204" pitchFamily="34" charset="0"/>
              </a:rPr>
              <a:t>the process of converting the objects &amp; data into a stream.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A50B6-5E28-40E1-A73E-474E28693709}"/>
              </a:ext>
            </a:extLst>
          </p:cNvPr>
          <p:cNvSpPr/>
          <p:nvPr/>
        </p:nvSpPr>
        <p:spPr>
          <a:xfrm>
            <a:off x="4326181" y="4191000"/>
            <a:ext cx="36576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947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Serialization process involves </a:t>
            </a:r>
            <a:r>
              <a:rPr lang="en-IE" b="1" dirty="0"/>
              <a:t>Marshalling</a:t>
            </a:r>
            <a:r>
              <a:rPr lang="en-IE" dirty="0"/>
              <a:t> and </a:t>
            </a:r>
            <a:r>
              <a:rPr lang="en-IE" b="1" dirty="0" err="1"/>
              <a:t>unMarshalling</a:t>
            </a:r>
            <a:endParaRPr lang="en-IE" b="1" dirty="0"/>
          </a:p>
        </p:txBody>
      </p:sp>
      <p:pic>
        <p:nvPicPr>
          <p:cNvPr id="3076" name="Picture 4" descr="Image result for marshalling and unmarshalling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599493"/>
            <a:ext cx="8505825" cy="301154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99139" y="5867400"/>
            <a:ext cx="8518411" cy="70788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UnMarshalling</a:t>
            </a:r>
            <a:r>
              <a:rPr lang="en-IE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E" sz="2000" dirty="0">
                <a:solidFill>
                  <a:schemeClr val="tx1"/>
                </a:solidFill>
                <a:latin typeface="arial" panose="020B0604020202020204" pitchFamily="34" charset="0"/>
              </a:rPr>
              <a:t>is the reverse process </a:t>
            </a:r>
            <a:br>
              <a:rPr lang="en-IE" sz="2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IE" sz="2000" dirty="0">
                <a:solidFill>
                  <a:schemeClr val="tx1"/>
                </a:solidFill>
                <a:latin typeface="arial" panose="020B0604020202020204" pitchFamily="34" charset="0"/>
              </a:rPr>
              <a:t>of converting the stream back to their original objects &amp; data. </a:t>
            </a:r>
            <a:endParaRPr lang="en-IE" sz="20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99139" y="1777732"/>
            <a:ext cx="8511687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chemeClr val="tx1"/>
                </a:solidFill>
                <a:latin typeface="arial" panose="020B0604020202020204" pitchFamily="34" charset="0"/>
              </a:rPr>
              <a:t>Marshalling </a:t>
            </a:r>
            <a:r>
              <a:rPr lang="en-IE" sz="2000" dirty="0">
                <a:solidFill>
                  <a:schemeClr val="tx1"/>
                </a:solidFill>
                <a:latin typeface="arial" panose="020B0604020202020204" pitchFamily="34" charset="0"/>
              </a:rPr>
              <a:t>is</a:t>
            </a:r>
            <a:r>
              <a:rPr lang="en-IE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E" sz="2000" dirty="0">
                <a:solidFill>
                  <a:schemeClr val="tx1"/>
                </a:solidFill>
                <a:latin typeface="arial" panose="020B0604020202020204" pitchFamily="34" charset="0"/>
              </a:rPr>
              <a:t>the process of converting the objects &amp; data into a stream.</a:t>
            </a:r>
          </a:p>
        </p:txBody>
      </p:sp>
    </p:spTree>
    <p:extLst>
      <p:ext uri="{BB962C8B-B14F-4D97-AF65-F5344CB8AC3E}">
        <p14:creationId xmlns:p14="http://schemas.microsoft.com/office/powerpoint/2010/main" val="326837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Self Study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6868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What does Persistence mean?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We use HTML for carrying data (T/F)?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We use XML for displaying data (T/F)?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XML is a replacement for HTML (T/F)?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When power is lost the data in a program is lost. What one word describes this?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Writing Java objects to a file is called?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Reading a file of data into Java objects is called?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Converting objects to a data stream is </a:t>
            </a:r>
            <a:r>
              <a:rPr lang="en-GB"/>
              <a:t>called?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383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381000"/>
            <a:ext cx="7620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E08CC682-4065-F8A1-C8E6-9CB511CC7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222" y="1676400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Microsoft Office PowerPoint</Application>
  <PresentationFormat>Widescreen</PresentationFormat>
  <Paragraphs>129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</vt:lpstr>
      <vt:lpstr>Calibri</vt:lpstr>
      <vt:lpstr>Courier New</vt:lpstr>
      <vt:lpstr>Office Theme</vt:lpstr>
      <vt:lpstr>Persistence</vt:lpstr>
      <vt:lpstr>Persistence</vt:lpstr>
      <vt:lpstr>Persistence – lack of (volatility - volatile)</vt:lpstr>
      <vt:lpstr>Persistence - Topic List</vt:lpstr>
      <vt:lpstr>XML versus HTML</vt:lpstr>
      <vt:lpstr>XML versus HTML</vt:lpstr>
      <vt:lpstr>XML is NOT a replacement for HTML</vt:lpstr>
      <vt:lpstr>XML…</vt:lpstr>
      <vt:lpstr>Persistence - Topic List</vt:lpstr>
      <vt:lpstr>XML example</vt:lpstr>
      <vt:lpstr>Persistence - Topic List</vt:lpstr>
      <vt:lpstr>Our Shop App</vt:lpstr>
      <vt:lpstr>XML does not “do” anything</vt:lpstr>
      <vt:lpstr>Persistence - Topic List</vt:lpstr>
      <vt:lpstr>PowerPoint Presentation</vt:lpstr>
      <vt:lpstr>PowerPoint Presentation</vt:lpstr>
      <vt:lpstr>Object Serialization</vt:lpstr>
      <vt:lpstr>Serialization process involves Marshalling</vt:lpstr>
      <vt:lpstr>Serialization process involves Marshalling and unMarshalling</vt:lpstr>
      <vt:lpstr>Self Study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XML</dc:title>
  <dc:creator>Siobhan Drohan</dc:creator>
  <cp:lastModifiedBy>Siobhan Roche</cp:lastModifiedBy>
  <cp:revision>123</cp:revision>
  <dcterms:created xsi:type="dcterms:W3CDTF">2006-08-16T00:00:00Z</dcterms:created>
  <dcterms:modified xsi:type="dcterms:W3CDTF">2026-02-10T11:52:07Z</dcterms:modified>
</cp:coreProperties>
</file>