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1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2.xml" ContentType="application/vnd.openxmlformats-officedocument.presentationml.notesSlide+xml"/>
  <Override PartName="/ppt/tags/tag12.xml" ContentType="application/vnd.openxmlformats-officedocument.presentationml.tags+xml"/>
  <Override PartName="/ppt/notesSlides/notesSlide3.xml" ContentType="application/vnd.openxmlformats-officedocument.presentationml.notesSlide+xml"/>
  <Override PartName="/ppt/tags/tag13.xml" ContentType="application/vnd.openxmlformats-officedocument.presentationml.tags+xml"/>
  <Override PartName="/ppt/notesSlides/notesSlide4.xml" ContentType="application/vnd.openxmlformats-officedocument.presentationml.notesSlide+xml"/>
  <Override PartName="/ppt/tags/tag14.xml" ContentType="application/vnd.openxmlformats-officedocument.presentationml.tags+xml"/>
  <Override PartName="/ppt/notesSlides/notesSlide5.xml" ContentType="application/vnd.openxmlformats-officedocument.presentationml.notesSlide+xml"/>
  <Override PartName="/ppt/tags/tag15.xml" ContentType="application/vnd.openxmlformats-officedocument.presentationml.tags+xml"/>
  <Override PartName="/ppt/notesSlides/notesSlide6.xml" ContentType="application/vnd.openxmlformats-officedocument.presentationml.notesSlide+xml"/>
  <Override PartName="/ppt/tags/tag16.xml" ContentType="application/vnd.openxmlformats-officedocument.presentationml.tags+xml"/>
  <Override PartName="/ppt/notesSlides/notesSlide7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411" r:id="rId3"/>
    <p:sldId id="412" r:id="rId4"/>
    <p:sldId id="398" r:id="rId5"/>
    <p:sldId id="399" r:id="rId6"/>
    <p:sldId id="417" r:id="rId7"/>
    <p:sldId id="414" r:id="rId8"/>
    <p:sldId id="415" r:id="rId9"/>
    <p:sldId id="418" r:id="rId10"/>
    <p:sldId id="400" r:id="rId11"/>
    <p:sldId id="416" r:id="rId12"/>
    <p:sldId id="401" r:id="rId13"/>
    <p:sldId id="402" r:id="rId14"/>
    <p:sldId id="403" r:id="rId15"/>
    <p:sldId id="404" r:id="rId16"/>
    <p:sldId id="405" r:id="rId17"/>
    <p:sldId id="419" r:id="rId18"/>
    <p:sldId id="407" r:id="rId19"/>
    <p:sldId id="408" r:id="rId20"/>
    <p:sldId id="409" r:id="rId21"/>
    <p:sldId id="420" r:id="rId22"/>
    <p:sldId id="392" r:id="rId23"/>
  </p:sldIdLst>
  <p:sldSz cx="12192000" cy="6858000"/>
  <p:notesSz cx="6858000" cy="9144000"/>
  <p:custDataLst>
    <p:tags r:id="rId2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D6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37" autoAdjust="0"/>
    <p:restoredTop sz="94626"/>
  </p:normalViewPr>
  <p:slideViewPr>
    <p:cSldViewPr>
      <p:cViewPr varScale="1">
        <p:scale>
          <a:sx n="65" d="100"/>
          <a:sy n="65" d="100"/>
        </p:scale>
        <p:origin x="532" y="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BC3C30-7F3D-4B20-9974-47C57B22CA6E}" type="datetimeFigureOut">
              <a:rPr lang="en-IE" smtClean="0"/>
              <a:t>13/02/2024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09BE90-ABBD-4931-8E0C-089E0ACACA6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9818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int</a:t>
            </a:r>
            <a:r>
              <a:rPr lang="en-GB" baseline="0" dirty="0"/>
              <a:t> g</a:t>
            </a:r>
            <a:r>
              <a:rPr lang="en-GB" dirty="0"/>
              <a:t> = </a:t>
            </a:r>
            <a:r>
              <a:rPr lang="en-GB" dirty="0" err="1"/>
              <a:t>BouncingBall.getGravity</a:t>
            </a:r>
            <a:r>
              <a:rPr lang="en-GB" dirty="0"/>
              <a:t>();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8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406516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sz="1200" b="0">
                <a:solidFill>
                  <a:schemeClr val="tx1"/>
                </a:solidFill>
                <a:latin typeface="Times New Roman" pitchFamily="18" charset="0"/>
              </a:rPr>
              <a:t>Objects First with Java</a:t>
            </a:r>
          </a:p>
        </p:txBody>
      </p:sp>
      <p:sp>
        <p:nvSpPr>
          <p:cNvPr id="1843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sz="1200" b="0">
                <a:solidFill>
                  <a:schemeClr val="tx1"/>
                </a:solidFill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1843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C04BD6C-80F8-45B1-8CDD-B562B15E45BD}" type="slidenum">
              <a:rPr lang="en-GB" sz="1200" b="0" smtClean="0">
                <a:solidFill>
                  <a:schemeClr val="tx1"/>
                </a:solidFill>
                <a:latin typeface="Times New Roman" pitchFamily="18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GB" sz="1200" b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184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84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sz="1200" b="0">
                <a:solidFill>
                  <a:schemeClr val="tx1"/>
                </a:solidFill>
                <a:latin typeface="Times New Roman" pitchFamily="18" charset="0"/>
              </a:rPr>
              <a:t>Objects First with Java</a:t>
            </a:r>
          </a:p>
        </p:txBody>
      </p:sp>
      <p:sp>
        <p:nvSpPr>
          <p:cNvPr id="1945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sz="1200" b="0">
                <a:solidFill>
                  <a:schemeClr val="tx1"/>
                </a:solidFill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1946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46D6E29-ACDB-46CB-A99B-0DCC466D15D5}" type="slidenum">
              <a:rPr lang="en-GB" sz="1200" b="0" smtClean="0">
                <a:solidFill>
                  <a:schemeClr val="tx1"/>
                </a:solidFill>
                <a:latin typeface="Times New Roman" pitchFamily="18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GB" sz="1200" b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194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946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sz="1200" b="0">
                <a:solidFill>
                  <a:schemeClr val="tx1"/>
                </a:solidFill>
                <a:latin typeface="Times New Roman" pitchFamily="18" charset="0"/>
              </a:rPr>
              <a:t>Objects First with Java</a:t>
            </a:r>
          </a:p>
        </p:txBody>
      </p:sp>
      <p:sp>
        <p:nvSpPr>
          <p:cNvPr id="2048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sz="1200" b="0">
                <a:solidFill>
                  <a:schemeClr val="tx1"/>
                </a:solidFill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2048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1111714-25E5-427D-A1FC-F83984E69988}" type="slidenum">
              <a:rPr lang="en-GB" sz="1200" b="0" smtClean="0">
                <a:solidFill>
                  <a:schemeClr val="tx1"/>
                </a:solidFill>
                <a:latin typeface="Times New Roman" pitchFamily="18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GB" sz="1200" b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204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04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sz="1200" b="0">
                <a:solidFill>
                  <a:schemeClr val="tx1"/>
                </a:solidFill>
                <a:latin typeface="Times New Roman" pitchFamily="18" charset="0"/>
              </a:rPr>
              <a:t>Objects First with Java</a:t>
            </a:r>
          </a:p>
        </p:txBody>
      </p:sp>
      <p:sp>
        <p:nvSpPr>
          <p:cNvPr id="215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sz="1200" b="0">
                <a:solidFill>
                  <a:schemeClr val="tx1"/>
                </a:solidFill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215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79319B6-2672-4D00-A93A-DB77ECA0B324}" type="slidenum">
              <a:rPr lang="en-GB" sz="1200" b="0" smtClean="0">
                <a:solidFill>
                  <a:schemeClr val="tx1"/>
                </a:solidFill>
                <a:latin typeface="Times New Roman" pitchFamily="18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GB" sz="1200" b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2150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151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sz="1200" b="0">
                <a:solidFill>
                  <a:schemeClr val="tx1"/>
                </a:solidFill>
                <a:latin typeface="Times New Roman" pitchFamily="18" charset="0"/>
              </a:rPr>
              <a:t>Objects First with Java</a:t>
            </a:r>
          </a:p>
        </p:txBody>
      </p:sp>
      <p:sp>
        <p:nvSpPr>
          <p:cNvPr id="2253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sz="1200" b="0">
                <a:solidFill>
                  <a:schemeClr val="tx1"/>
                </a:solidFill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2253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3409B39-84C2-4508-8E22-DBD3825367D0}" type="slidenum">
              <a:rPr lang="en-GB" sz="1200" b="0" smtClean="0">
                <a:solidFill>
                  <a:schemeClr val="tx1"/>
                </a:solidFill>
                <a:latin typeface="Times New Roman" pitchFamily="18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GB" sz="1200" b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225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253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sz="1200" b="0">
                <a:solidFill>
                  <a:schemeClr val="tx1"/>
                </a:solidFill>
                <a:latin typeface="Times New Roman" pitchFamily="18" charset="0"/>
              </a:rPr>
              <a:t>Objects First with Java</a:t>
            </a:r>
          </a:p>
        </p:txBody>
      </p:sp>
      <p:sp>
        <p:nvSpPr>
          <p:cNvPr id="2355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sz="1200" b="0">
                <a:solidFill>
                  <a:schemeClr val="tx1"/>
                </a:solidFill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2355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Monotype Sorts"/>
              <a:defRPr sz="2400" b="1">
                <a:solidFill>
                  <a:srgbClr val="000000"/>
                </a:solidFill>
                <a:latin typeface="Courier New" pitchFamily="49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8220257-79D8-4F21-8AED-8EE46422425A}" type="slidenum">
              <a:rPr lang="en-GB" sz="1200" b="0" smtClean="0">
                <a:solidFill>
                  <a:schemeClr val="tx1"/>
                </a:solidFill>
                <a:latin typeface="Times New Roman" pitchFamily="18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GB" sz="1200" b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235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355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javase/tutorial/java/javaOO/classvars.html" TargetMode="Externa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5641" y="914401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Some miscellaneous concepts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8300" y="3810000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251841" y="3124200"/>
            <a:ext cx="76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/>
          <p:cNvSpPr txBox="1">
            <a:spLocks/>
          </p:cNvSpPr>
          <p:nvPr/>
        </p:nvSpPr>
        <p:spPr>
          <a:xfrm>
            <a:off x="2175641" y="2133601"/>
            <a:ext cx="8374118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E" sz="2800">
                <a:solidFill>
                  <a:schemeClr val="tx1">
                    <a:lumMod val="50000"/>
                    <a:lumOff val="50000"/>
                  </a:schemeClr>
                </a:solidFill>
              </a:rPr>
              <a:t>Static Variables &amp; Methods, </a:t>
            </a:r>
            <a:r>
              <a:rPr lang="en-IE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Javadoc and Calculated Data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AEF5CB-8A29-46C7-BDAF-B78A48F6D744}"/>
              </a:ext>
            </a:extLst>
          </p:cNvPr>
          <p:cNvSpPr txBox="1"/>
          <p:nvPr/>
        </p:nvSpPr>
        <p:spPr>
          <a:xfrm>
            <a:off x="3810000" y="3817204"/>
            <a:ext cx="3581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Mairéad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Meagher</a:t>
            </a:r>
          </a:p>
          <a:p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Dr.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Siobhán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E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Drohan</a:t>
            </a:r>
          </a:p>
          <a:p>
            <a:r>
              <a:rPr lang="en-IE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Ms Siobhan Roche</a:t>
            </a:r>
            <a:endParaRPr lang="en-IE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3A4863-0298-8453-9805-DADCB9A895CF}"/>
              </a:ext>
            </a:extLst>
          </p:cNvPr>
          <p:cNvSpPr txBox="1"/>
          <p:nvPr/>
        </p:nvSpPr>
        <p:spPr>
          <a:xfrm>
            <a:off x="7336971" y="58498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http://www.setu.ie/</a:t>
            </a:r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CC007595-F103-A73E-70F6-4E27FF907AC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41" y="5501441"/>
            <a:ext cx="2286000" cy="128154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42371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16369" y="1600200"/>
            <a:ext cx="10972800" cy="45259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E" dirty="0"/>
              <a:t>Static Variables</a:t>
            </a:r>
          </a:p>
          <a:p>
            <a:endParaRPr lang="en-IE" dirty="0"/>
          </a:p>
          <a:p>
            <a:pPr marL="514350" indent="-514350">
              <a:buFont typeface="+mj-lt"/>
              <a:buAutoNum type="arabicPeriod" startAt="2"/>
            </a:pPr>
            <a:r>
              <a:rPr lang="en-IE" dirty="0"/>
              <a:t>Static Methods</a:t>
            </a:r>
          </a:p>
          <a:p>
            <a:endParaRPr lang="en-IE" dirty="0"/>
          </a:p>
          <a:p>
            <a:pPr marL="514350" indent="-514350">
              <a:buFont typeface="+mj-lt"/>
              <a:buAutoNum type="arabicPeriod" startAt="3"/>
            </a:pPr>
            <a:r>
              <a:rPr lang="en-IE" dirty="0"/>
              <a:t>Javadoc</a:t>
            </a:r>
          </a:p>
          <a:p>
            <a:endParaRPr lang="en-IE" dirty="0"/>
          </a:p>
          <a:p>
            <a:pPr marL="514350" indent="-514350">
              <a:buFont typeface="+mj-lt"/>
              <a:buAutoNum type="arabicPeriod" startAt="4"/>
            </a:pPr>
            <a:r>
              <a:rPr lang="en-IE" dirty="0"/>
              <a:t>Storing calculated data</a:t>
            </a:r>
          </a:p>
          <a:p>
            <a:pPr lvl="1"/>
            <a:endParaRPr lang="en-IE" dirty="0"/>
          </a:p>
        </p:txBody>
      </p:sp>
      <p:sp>
        <p:nvSpPr>
          <p:cNvPr id="5" name="Rectangle 4"/>
          <p:cNvSpPr/>
          <p:nvPr/>
        </p:nvSpPr>
        <p:spPr>
          <a:xfrm>
            <a:off x="1905000" y="1514476"/>
            <a:ext cx="4876800" cy="847725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Right Arrow 5"/>
          <p:cNvSpPr/>
          <p:nvPr/>
        </p:nvSpPr>
        <p:spPr>
          <a:xfrm>
            <a:off x="1066800" y="1752599"/>
            <a:ext cx="9144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08201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>
                <a:solidFill>
                  <a:srgbClr val="0070C0"/>
                </a:solidFill>
              </a:rPr>
              <a:t>Instance</a:t>
            </a:r>
            <a:r>
              <a:rPr lang="en-IE" dirty="0"/>
              <a:t> vs </a:t>
            </a:r>
            <a:r>
              <a:rPr lang="en-IE" b="1" dirty="0">
                <a:solidFill>
                  <a:srgbClr val="00B050"/>
                </a:solidFill>
              </a:rPr>
              <a:t>Static</a:t>
            </a:r>
            <a:r>
              <a:rPr lang="en-IE" dirty="0">
                <a:solidFill>
                  <a:srgbClr val="00B050"/>
                </a:solidFill>
              </a:rPr>
              <a:t> </a:t>
            </a:r>
            <a:r>
              <a:rPr lang="en-IE" dirty="0"/>
              <a:t>(</a:t>
            </a:r>
            <a:r>
              <a:rPr lang="en-IE" dirty="0">
                <a:solidFill>
                  <a:srgbClr val="00B050"/>
                </a:solidFill>
              </a:rPr>
              <a:t>Class</a:t>
            </a:r>
            <a:r>
              <a:rPr lang="en-IE" dirty="0"/>
              <a:t>) Variables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>
                <a:solidFill>
                  <a:srgbClr val="0070C0"/>
                </a:solidFill>
              </a:rPr>
              <a:t>Instance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627185" y="2286733"/>
            <a:ext cx="4187825" cy="39512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E" dirty="0"/>
              <a:t>Multiple objects created from the same class blueprint, </a:t>
            </a:r>
          </a:p>
          <a:p>
            <a:r>
              <a:rPr lang="en-IE" dirty="0"/>
              <a:t>each have their own </a:t>
            </a:r>
            <a:r>
              <a:rPr lang="en-IE" dirty="0">
                <a:solidFill>
                  <a:srgbClr val="0070C0"/>
                </a:solidFill>
              </a:rPr>
              <a:t>distinct copies of</a:t>
            </a:r>
            <a:r>
              <a:rPr lang="en-IE" dirty="0"/>
              <a:t> </a:t>
            </a:r>
            <a:r>
              <a:rPr lang="en-IE" b="1" i="1" dirty="0">
                <a:solidFill>
                  <a:srgbClr val="0070C0"/>
                </a:solidFill>
              </a:rPr>
              <a:t>instance variables</a:t>
            </a:r>
            <a:r>
              <a:rPr lang="en-IE" dirty="0"/>
              <a:t>.</a:t>
            </a:r>
          </a:p>
          <a:p>
            <a:endParaRPr lang="en-IE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E" dirty="0">
                <a:solidFill>
                  <a:srgbClr val="00B050"/>
                </a:solidFill>
              </a:rPr>
              <a:t>Static</a:t>
            </a:r>
            <a:endParaRPr lang="en-GB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>
          <a:xfrm>
            <a:off x="6169026" y="2174875"/>
            <a:ext cx="4194175" cy="395128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E" dirty="0"/>
              <a:t>For </a:t>
            </a:r>
            <a:r>
              <a:rPr lang="en-IE" dirty="0">
                <a:solidFill>
                  <a:srgbClr val="00B050"/>
                </a:solidFill>
              </a:rPr>
              <a:t>variables</a:t>
            </a:r>
            <a:r>
              <a:rPr lang="en-IE" dirty="0"/>
              <a:t> that are </a:t>
            </a:r>
            <a:r>
              <a:rPr lang="en-IE" u="sng" dirty="0">
                <a:solidFill>
                  <a:srgbClr val="00B050"/>
                </a:solidFill>
              </a:rPr>
              <a:t>common to all objects (instances</a:t>
            </a:r>
            <a:r>
              <a:rPr lang="en-IE" u="sng" dirty="0"/>
              <a:t>)</a:t>
            </a:r>
            <a:endParaRPr lang="en-IE" dirty="0"/>
          </a:p>
          <a:p>
            <a:r>
              <a:rPr lang="en-IE" dirty="0"/>
              <a:t>Use the </a:t>
            </a:r>
            <a:r>
              <a:rPr lang="en-IE" b="1" dirty="0">
                <a:solidFill>
                  <a:srgbClr val="00B050"/>
                </a:solidFill>
              </a:rPr>
              <a:t>static</a:t>
            </a:r>
            <a:r>
              <a:rPr lang="en-IE" dirty="0"/>
              <a:t> </a:t>
            </a:r>
            <a:r>
              <a:rPr lang="en-IE" dirty="0" err="1"/>
              <a:t>modi</a:t>
            </a:r>
            <a:r>
              <a:rPr lang="en-IE" dirty="0"/>
              <a:t>	</a:t>
            </a:r>
            <a:r>
              <a:rPr lang="en-IE" dirty="0" err="1"/>
              <a:t>fier</a:t>
            </a:r>
            <a:r>
              <a:rPr lang="en-IE" dirty="0"/>
              <a:t>. </a:t>
            </a:r>
          </a:p>
          <a:p>
            <a:endParaRPr lang="en-IE" dirty="0"/>
          </a:p>
          <a:p>
            <a:pPr marL="0" indent="0">
              <a:buNone/>
            </a:pPr>
            <a:r>
              <a:rPr lang="en-IE" dirty="0"/>
              <a:t>Fields that have the static modifier in their declaration are called:</a:t>
            </a:r>
          </a:p>
          <a:p>
            <a:r>
              <a:rPr lang="en-IE" b="1" i="1" dirty="0">
                <a:solidFill>
                  <a:srgbClr val="00B050"/>
                </a:solidFill>
              </a:rPr>
              <a:t>static fields</a:t>
            </a:r>
            <a:r>
              <a:rPr lang="en-IE" dirty="0"/>
              <a:t> </a:t>
            </a:r>
          </a:p>
          <a:p>
            <a:r>
              <a:rPr lang="en-IE" dirty="0"/>
              <a:t>or </a:t>
            </a:r>
            <a:br>
              <a:rPr lang="en-IE" dirty="0"/>
            </a:br>
            <a:r>
              <a:rPr lang="en-IE" b="1" i="1" dirty="0">
                <a:solidFill>
                  <a:srgbClr val="00B050"/>
                </a:solidFill>
              </a:rPr>
              <a:t>class variables</a:t>
            </a:r>
            <a:r>
              <a:rPr lang="en-IE" dirty="0"/>
              <a:t>. </a:t>
            </a:r>
          </a:p>
          <a:p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3352800" y="6477000"/>
            <a:ext cx="7315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dirty="0">
                <a:hlinkClick r:id="rId3"/>
              </a:rPr>
              <a:t>https://docs.oracle.com/javase/tutorial/java/javaOO/classvars.html</a:t>
            </a:r>
            <a:r>
              <a:rPr lang="en-IE" dirty="0"/>
              <a:t>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32294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3" grpId="0" uiExpand="1" build="p"/>
      <p:bldP spid="6" grpId="0" build="p"/>
      <p:bldP spid="7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>
                <a:solidFill>
                  <a:srgbClr val="0070C0"/>
                </a:solidFill>
              </a:rPr>
              <a:t>Instance</a:t>
            </a:r>
            <a:r>
              <a:rPr lang="en-IE" dirty="0"/>
              <a:t> vs </a:t>
            </a:r>
            <a:r>
              <a:rPr lang="en-IE" b="1" dirty="0">
                <a:solidFill>
                  <a:srgbClr val="00B050"/>
                </a:solidFill>
              </a:rPr>
              <a:t>Static</a:t>
            </a:r>
            <a:r>
              <a:rPr lang="en-IE" dirty="0">
                <a:solidFill>
                  <a:srgbClr val="00B050"/>
                </a:solidFill>
              </a:rPr>
              <a:t> </a:t>
            </a:r>
            <a:r>
              <a:rPr lang="en-IE" dirty="0"/>
              <a:t>(</a:t>
            </a:r>
            <a:r>
              <a:rPr lang="en-IE" dirty="0">
                <a:solidFill>
                  <a:srgbClr val="00B050"/>
                </a:solidFill>
              </a:rPr>
              <a:t>Class</a:t>
            </a:r>
            <a:r>
              <a:rPr lang="en-IE" dirty="0"/>
              <a:t>) Variables</a:t>
            </a:r>
            <a:endParaRPr lang="en-GB" dirty="0"/>
          </a:p>
        </p:txBody>
      </p:sp>
      <p:pic>
        <p:nvPicPr>
          <p:cNvPr id="95237" name="Picture 5" descr="fig5-11.tiff                                                   0007DD54Macintosh HD                   B7EA19AF: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76400" y="1676401"/>
            <a:ext cx="7042150" cy="4878685"/>
          </a:xfrm>
        </p:spPr>
      </p:pic>
      <p:sp>
        <p:nvSpPr>
          <p:cNvPr id="2" name="Rectangle 1"/>
          <p:cNvSpPr/>
          <p:nvPr/>
        </p:nvSpPr>
        <p:spPr>
          <a:xfrm>
            <a:off x="6096000" y="1700668"/>
            <a:ext cx="4419600" cy="369332"/>
          </a:xfrm>
          <a:prstGeom prst="rect">
            <a:avLst/>
          </a:prstGeom>
          <a:solidFill>
            <a:srgbClr val="00B050">
              <a:alpha val="49000"/>
            </a:srgb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en-AU" b="1" dirty="0">
                <a:latin typeface="Courier New" charset="0"/>
              </a:rPr>
              <a:t>private </a:t>
            </a:r>
            <a:r>
              <a:rPr lang="en-AU" b="1" dirty="0">
                <a:solidFill>
                  <a:srgbClr val="FF0000"/>
                </a:solidFill>
                <a:latin typeface="Courier New" charset="0"/>
              </a:rPr>
              <a:t>static</a:t>
            </a:r>
            <a:r>
              <a:rPr lang="en-AU" b="1" dirty="0">
                <a:latin typeface="Courier New" charset="0"/>
              </a:rPr>
              <a:t> </a:t>
            </a:r>
            <a:r>
              <a:rPr lang="en-AU" b="1" dirty="0" err="1">
                <a:latin typeface="Courier New" charset="0"/>
              </a:rPr>
              <a:t>int</a:t>
            </a:r>
            <a:r>
              <a:rPr lang="en-AU" b="1" dirty="0">
                <a:latin typeface="Courier New" charset="0"/>
              </a:rPr>
              <a:t> gravity = 3;</a:t>
            </a:r>
            <a:endParaRPr lang="en-AU" dirty="0"/>
          </a:p>
        </p:txBody>
      </p:sp>
      <p:sp>
        <p:nvSpPr>
          <p:cNvPr id="3" name="Rectangle 2"/>
          <p:cNvSpPr/>
          <p:nvPr/>
        </p:nvSpPr>
        <p:spPr>
          <a:xfrm>
            <a:off x="3733800" y="1752600"/>
            <a:ext cx="2057400" cy="1143000"/>
          </a:xfrm>
          <a:prstGeom prst="rect">
            <a:avLst/>
          </a:prstGeom>
          <a:solidFill>
            <a:srgbClr val="00B05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/>
          <p:cNvSpPr/>
          <p:nvPr/>
        </p:nvSpPr>
        <p:spPr>
          <a:xfrm>
            <a:off x="1740001" y="4248000"/>
            <a:ext cx="2090721" cy="14478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/>
          <p:cNvSpPr/>
          <p:nvPr/>
        </p:nvSpPr>
        <p:spPr>
          <a:xfrm>
            <a:off x="4224001" y="5004000"/>
            <a:ext cx="2090721" cy="14478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6564001" y="3733800"/>
            <a:ext cx="2090721" cy="14478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25347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7030A0"/>
                </a:solidFill>
              </a:rPr>
              <a:t>CONSTANTS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981200"/>
            <a:ext cx="8686800" cy="4038600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endParaRPr lang="en-AU" sz="2400" b="1" dirty="0">
              <a:latin typeface="Courier New" charset="0"/>
            </a:endParaRPr>
          </a:p>
          <a:p>
            <a:endParaRPr lang="en-AU" dirty="0"/>
          </a:p>
          <a:p>
            <a:r>
              <a:rPr lang="en-AU" b="1" dirty="0">
                <a:latin typeface="Courier New" charset="0"/>
              </a:rPr>
              <a:t>private </a:t>
            </a:r>
            <a:r>
              <a:rPr lang="en-AU" dirty="0"/>
              <a:t>: access modifier, as usual</a:t>
            </a:r>
            <a:br>
              <a:rPr lang="en-AU" dirty="0"/>
            </a:br>
            <a:endParaRPr lang="en-AU" dirty="0"/>
          </a:p>
          <a:p>
            <a:r>
              <a:rPr lang="en-AU" b="1" dirty="0">
                <a:latin typeface="Courier New" charset="0"/>
              </a:rPr>
              <a:t>static </a:t>
            </a:r>
            <a:r>
              <a:rPr lang="en-AU" dirty="0"/>
              <a:t>: class variable</a:t>
            </a:r>
            <a:br>
              <a:rPr lang="en-AU" dirty="0"/>
            </a:br>
            <a:endParaRPr lang="en-AU" dirty="0"/>
          </a:p>
          <a:p>
            <a:r>
              <a:rPr lang="en-AU" b="1" dirty="0">
                <a:latin typeface="Courier New" charset="0"/>
              </a:rPr>
              <a:t>final </a:t>
            </a:r>
            <a:r>
              <a:rPr lang="en-AU" dirty="0"/>
              <a:t>: constant (cannot change the value).  </a:t>
            </a:r>
          </a:p>
          <a:p>
            <a:endParaRPr lang="en-GB" dirty="0"/>
          </a:p>
        </p:txBody>
      </p:sp>
      <p:sp>
        <p:nvSpPr>
          <p:cNvPr id="2" name="Rectangle 1"/>
          <p:cNvSpPr/>
          <p:nvPr/>
        </p:nvSpPr>
        <p:spPr>
          <a:xfrm>
            <a:off x="2209800" y="1762779"/>
            <a:ext cx="8229600" cy="523220"/>
          </a:xfrm>
          <a:prstGeom prst="rect">
            <a:avLst/>
          </a:prstGeom>
          <a:ln w="44450"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r>
              <a:rPr lang="en-AU" sz="2800" b="1" dirty="0">
                <a:solidFill>
                  <a:srgbClr val="000000"/>
                </a:solidFill>
                <a:latin typeface="Courier New" charset="0"/>
              </a:rPr>
              <a:t>private static </a:t>
            </a:r>
            <a:r>
              <a:rPr lang="en-AU" sz="2800" b="1" u="sng" dirty="0">
                <a:solidFill>
                  <a:srgbClr val="7030A0"/>
                </a:solidFill>
                <a:latin typeface="Courier New" charset="0"/>
              </a:rPr>
              <a:t>final</a:t>
            </a:r>
            <a:r>
              <a:rPr lang="en-AU" sz="2800" b="1" dirty="0">
                <a:solidFill>
                  <a:srgbClr val="7030A0"/>
                </a:solidFill>
                <a:latin typeface="Courier New" charset="0"/>
              </a:rPr>
              <a:t> </a:t>
            </a:r>
            <a:r>
              <a:rPr lang="en-AU" sz="2800" b="1" dirty="0" err="1">
                <a:solidFill>
                  <a:srgbClr val="000000"/>
                </a:solidFill>
                <a:latin typeface="Courier New" charset="0"/>
              </a:rPr>
              <a:t>int</a:t>
            </a:r>
            <a:r>
              <a:rPr lang="en-AU" sz="2800" b="1" dirty="0">
                <a:solidFill>
                  <a:srgbClr val="000000"/>
                </a:solidFill>
                <a:latin typeface="Courier New" charset="0"/>
              </a:rPr>
              <a:t> GRAVITY = 3;</a:t>
            </a:r>
            <a:endParaRPr lang="en-AU" sz="3600" dirty="0">
              <a:solidFill>
                <a:srgbClr val="000000"/>
              </a:solidFill>
              <a:latin typeface="Calibri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267200" y="6007389"/>
            <a:ext cx="6400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/>
              <a:t>*Naming </a:t>
            </a:r>
            <a:r>
              <a:rPr lang="en-AU" sz="2400" dirty="0"/>
              <a:t>standard for final fields is ALL CAPITALS.</a:t>
            </a:r>
            <a:endParaRPr lang="en-GB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79886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59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16369" y="1676400"/>
            <a:ext cx="10972800" cy="45259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E" dirty="0"/>
              <a:t>Static Variables</a:t>
            </a:r>
          </a:p>
          <a:p>
            <a:endParaRPr lang="en-IE" dirty="0"/>
          </a:p>
          <a:p>
            <a:pPr marL="514350" indent="-514350">
              <a:buFont typeface="+mj-lt"/>
              <a:buAutoNum type="arabicPeriod" startAt="2"/>
            </a:pPr>
            <a:r>
              <a:rPr lang="en-IE" dirty="0"/>
              <a:t>Static Methods</a:t>
            </a:r>
          </a:p>
          <a:p>
            <a:endParaRPr lang="en-IE" dirty="0"/>
          </a:p>
          <a:p>
            <a:pPr marL="514350" indent="-514350">
              <a:buFont typeface="+mj-lt"/>
              <a:buAutoNum type="arabicPeriod" startAt="3"/>
            </a:pPr>
            <a:r>
              <a:rPr lang="en-IE" dirty="0"/>
              <a:t>Javadoc</a:t>
            </a:r>
          </a:p>
          <a:p>
            <a:endParaRPr lang="en-IE" dirty="0"/>
          </a:p>
          <a:p>
            <a:pPr marL="514350" indent="-514350">
              <a:buFont typeface="+mj-lt"/>
              <a:buAutoNum type="arabicPeriod" startAt="4"/>
            </a:pPr>
            <a:r>
              <a:rPr lang="en-IE" dirty="0"/>
              <a:t>Storing calculated data</a:t>
            </a:r>
          </a:p>
          <a:p>
            <a:pPr lvl="1"/>
            <a:endParaRPr lang="en-IE" dirty="0"/>
          </a:p>
        </p:txBody>
      </p:sp>
      <p:sp>
        <p:nvSpPr>
          <p:cNvPr id="5" name="Rectangle 4"/>
          <p:cNvSpPr/>
          <p:nvPr/>
        </p:nvSpPr>
        <p:spPr>
          <a:xfrm>
            <a:off x="1960880" y="2657476"/>
            <a:ext cx="4876800" cy="847725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Right Arrow 5"/>
          <p:cNvSpPr/>
          <p:nvPr/>
        </p:nvSpPr>
        <p:spPr>
          <a:xfrm>
            <a:off x="1066800" y="2895600"/>
            <a:ext cx="9144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0121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Static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134600" cy="4525963"/>
          </a:xfrm>
        </p:spPr>
        <p:txBody>
          <a:bodyPr>
            <a:normAutofit/>
          </a:bodyPr>
          <a:lstStyle/>
          <a:p>
            <a:r>
              <a:rPr lang="en-IE" dirty="0"/>
              <a:t>Java supports </a:t>
            </a:r>
            <a:r>
              <a:rPr lang="en-IE" b="1" dirty="0"/>
              <a:t>static methods </a:t>
            </a:r>
            <a:br>
              <a:rPr lang="en-IE" b="1" dirty="0"/>
            </a:br>
            <a:r>
              <a:rPr lang="en-IE" dirty="0"/>
              <a:t>as well as static variables. </a:t>
            </a:r>
          </a:p>
          <a:p>
            <a:endParaRPr lang="en-IE" dirty="0"/>
          </a:p>
          <a:p>
            <a:r>
              <a:rPr lang="en-IE" dirty="0"/>
              <a:t>Static methods</a:t>
            </a:r>
          </a:p>
          <a:p>
            <a:pPr lvl="1"/>
            <a:r>
              <a:rPr lang="en-IE" dirty="0"/>
              <a:t>have the </a:t>
            </a:r>
            <a:r>
              <a:rPr lang="en-IE" b="1" dirty="0"/>
              <a:t>static</a:t>
            </a:r>
            <a:r>
              <a:rPr lang="en-IE" dirty="0"/>
              <a:t> modifier in their declarations</a:t>
            </a:r>
          </a:p>
          <a:p>
            <a:pPr lvl="1"/>
            <a:r>
              <a:rPr lang="en-IE" dirty="0"/>
              <a:t>should be </a:t>
            </a:r>
            <a:r>
              <a:rPr lang="en-IE" b="1" dirty="0"/>
              <a:t>invoked with the class name</a:t>
            </a:r>
            <a:r>
              <a:rPr lang="en-IE" dirty="0"/>
              <a:t>, </a:t>
            </a:r>
            <a:br>
              <a:rPr lang="en-IE" dirty="0"/>
            </a:br>
            <a:r>
              <a:rPr lang="en-IE" dirty="0"/>
              <a:t>without the need for creating an instance of the class, as in:</a:t>
            </a:r>
          </a:p>
          <a:p>
            <a:pPr marL="0" indent="0">
              <a:buNone/>
            </a:pPr>
            <a:r>
              <a:rPr lang="en-IE" dirty="0"/>
              <a:t>                  </a:t>
            </a:r>
            <a:r>
              <a:rPr lang="en-IE" b="1" dirty="0" err="1">
                <a:solidFill>
                  <a:schemeClr val="accent6">
                    <a:lumMod val="75000"/>
                  </a:schemeClr>
                </a:solidFill>
              </a:rPr>
              <a:t>ClassName</a:t>
            </a:r>
            <a:r>
              <a:rPr lang="en-IE" dirty="0" err="1">
                <a:solidFill>
                  <a:schemeClr val="accent6">
                    <a:lumMod val="75000"/>
                  </a:schemeClr>
                </a:solidFill>
              </a:rPr>
              <a:t>.methodName</a:t>
            </a:r>
            <a:r>
              <a:rPr lang="en-IE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en-IE" dirty="0" err="1">
                <a:solidFill>
                  <a:schemeClr val="accent6">
                    <a:lumMod val="75000"/>
                  </a:schemeClr>
                </a:solidFill>
              </a:rPr>
              <a:t>args</a:t>
            </a:r>
            <a:r>
              <a:rPr lang="en-IE" dirty="0">
                <a:solidFill>
                  <a:schemeClr val="accent6">
                    <a:lumMod val="75000"/>
                  </a:schemeClr>
                </a:solidFill>
              </a:rPr>
              <a:t>)</a:t>
            </a:r>
          </a:p>
          <a:p>
            <a:endParaRPr lang="en-I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54586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Static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52600" y="4891454"/>
            <a:ext cx="8686800" cy="19420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E" sz="2800" dirty="0"/>
              <a:t>A common use for static methods is </a:t>
            </a:r>
            <a:r>
              <a:rPr lang="en-IE" sz="2800" b="1" dirty="0"/>
              <a:t>to access static fields</a:t>
            </a:r>
            <a:r>
              <a:rPr lang="en-IE" sz="2800" dirty="0"/>
              <a:t>.</a:t>
            </a:r>
            <a:br>
              <a:rPr lang="en-IE" sz="2800" dirty="0"/>
            </a:br>
            <a:endParaRPr lang="en-IE" sz="2800" dirty="0"/>
          </a:p>
          <a:p>
            <a:pPr lvl="1"/>
            <a:r>
              <a:rPr lang="en-IE" sz="2400" dirty="0"/>
              <a:t>E.g. we could add a </a:t>
            </a:r>
            <a:r>
              <a:rPr lang="en-IE" sz="2400" b="1" dirty="0"/>
              <a:t>static method </a:t>
            </a:r>
            <a:r>
              <a:rPr lang="en-IE" sz="2400" dirty="0"/>
              <a:t>to the </a:t>
            </a:r>
            <a:r>
              <a:rPr lang="en-IE" sz="2400" b="1" dirty="0" err="1">
                <a:solidFill>
                  <a:srgbClr val="00B050"/>
                </a:solidFill>
              </a:rPr>
              <a:t>BouncingBall</a:t>
            </a:r>
            <a:r>
              <a:rPr lang="en-IE" sz="2400" dirty="0"/>
              <a:t> class to access the </a:t>
            </a:r>
            <a:r>
              <a:rPr lang="en-IE" sz="2400" b="1" dirty="0">
                <a:solidFill>
                  <a:srgbClr val="00B050"/>
                </a:solidFill>
              </a:rPr>
              <a:t>gravity</a:t>
            </a:r>
            <a:r>
              <a:rPr lang="en-IE" sz="2400" dirty="0"/>
              <a:t> </a:t>
            </a:r>
            <a:r>
              <a:rPr lang="en-IE" sz="2400" b="1" dirty="0"/>
              <a:t>static field</a:t>
            </a:r>
            <a:r>
              <a:rPr lang="en-IE" sz="2400" dirty="0"/>
              <a:t>:</a:t>
            </a:r>
          </a:p>
          <a:p>
            <a:endParaRPr lang="en-IE" sz="2800" dirty="0"/>
          </a:p>
        </p:txBody>
      </p:sp>
      <p:grpSp>
        <p:nvGrpSpPr>
          <p:cNvPr id="11" name="Group 10"/>
          <p:cNvGrpSpPr/>
          <p:nvPr/>
        </p:nvGrpSpPr>
        <p:grpSpPr>
          <a:xfrm>
            <a:off x="914400" y="1700668"/>
            <a:ext cx="4145541" cy="2871962"/>
            <a:chOff x="-3063875" y="3048000"/>
            <a:chExt cx="7042150" cy="4878685"/>
          </a:xfrm>
        </p:grpSpPr>
        <p:pic>
          <p:nvPicPr>
            <p:cNvPr id="6" name="Picture 5" descr="fig5-11.tiff                                                   0007DD54Macintosh HD                   B7EA19AF: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-3063875" y="3048000"/>
              <a:ext cx="7042150" cy="4878685"/>
            </a:xfrm>
            <a:prstGeom prst="rect">
              <a:avLst/>
            </a:prstGeom>
          </p:spPr>
        </p:pic>
        <p:sp>
          <p:nvSpPr>
            <p:cNvPr id="7" name="Rectangle 6"/>
            <p:cNvSpPr/>
            <p:nvPr/>
          </p:nvSpPr>
          <p:spPr>
            <a:xfrm>
              <a:off x="-1006475" y="3124200"/>
              <a:ext cx="2057400" cy="1143000"/>
            </a:xfrm>
            <a:prstGeom prst="rect">
              <a:avLst/>
            </a:prstGeom>
            <a:solidFill>
              <a:srgbClr val="00B050">
                <a:alpha val="4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Rectangle 7"/>
            <p:cNvSpPr/>
            <p:nvPr/>
          </p:nvSpPr>
          <p:spPr>
            <a:xfrm>
              <a:off x="-3000275" y="5619600"/>
              <a:ext cx="2090721" cy="14478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tangle 8"/>
            <p:cNvSpPr/>
            <p:nvPr/>
          </p:nvSpPr>
          <p:spPr>
            <a:xfrm>
              <a:off x="-516275" y="6375600"/>
              <a:ext cx="2090721" cy="14478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23725" y="5105400"/>
              <a:ext cx="2090721" cy="14478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5715001" y="3553362"/>
            <a:ext cx="4864188" cy="132343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0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public </a:t>
            </a:r>
            <a:r>
              <a:rPr lang="en-IE" sz="20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static</a:t>
            </a:r>
            <a:r>
              <a:rPr lang="en-IE" sz="20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IE" sz="2000" dirty="0" err="1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int</a:t>
            </a:r>
            <a:r>
              <a:rPr lang="en-IE" sz="20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IE" sz="2000" b="1" dirty="0" err="1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getGravity</a:t>
            </a:r>
            <a:r>
              <a:rPr lang="en-IE" sz="20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() </a:t>
            </a:r>
          </a:p>
          <a:p>
            <a:r>
              <a:rPr lang="en-IE" sz="20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{ </a:t>
            </a:r>
          </a:p>
          <a:p>
            <a:r>
              <a:rPr lang="en-IE" sz="20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   return </a:t>
            </a:r>
            <a:r>
              <a:rPr lang="en-IE" sz="20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gravity</a:t>
            </a:r>
            <a:r>
              <a:rPr lang="en-IE" sz="20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; </a:t>
            </a:r>
          </a:p>
          <a:p>
            <a:r>
              <a:rPr lang="en-IE" sz="20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}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148CF3-1BEE-4A31-923E-1A7BA2C7C751}"/>
              </a:ext>
            </a:extLst>
          </p:cNvPr>
          <p:cNvSpPr/>
          <p:nvPr/>
        </p:nvSpPr>
        <p:spPr>
          <a:xfrm>
            <a:off x="6096000" y="1700668"/>
            <a:ext cx="4419600" cy="369332"/>
          </a:xfrm>
          <a:prstGeom prst="rect">
            <a:avLst/>
          </a:prstGeom>
          <a:solidFill>
            <a:srgbClr val="00B050">
              <a:alpha val="49000"/>
            </a:srgb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en-AU" b="1" dirty="0">
                <a:latin typeface="Courier New" charset="0"/>
              </a:rPr>
              <a:t>private </a:t>
            </a:r>
            <a:r>
              <a:rPr lang="en-AU" b="1" dirty="0">
                <a:solidFill>
                  <a:srgbClr val="FF0000"/>
                </a:solidFill>
                <a:latin typeface="Courier New" charset="0"/>
              </a:rPr>
              <a:t>static</a:t>
            </a:r>
            <a:r>
              <a:rPr lang="en-AU" b="1" dirty="0">
                <a:latin typeface="Courier New" charset="0"/>
              </a:rPr>
              <a:t> </a:t>
            </a:r>
            <a:r>
              <a:rPr lang="en-AU" b="1" dirty="0" err="1">
                <a:latin typeface="Courier New" charset="0"/>
              </a:rPr>
              <a:t>int</a:t>
            </a:r>
            <a:r>
              <a:rPr lang="en-AU" b="1" dirty="0">
                <a:latin typeface="Courier New" charset="0"/>
              </a:rPr>
              <a:t> gravity = 3;</a:t>
            </a:r>
            <a:endParaRPr lang="en-AU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97846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2923" y="1600200"/>
            <a:ext cx="10972800" cy="45259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E" dirty="0"/>
              <a:t>Static Variables</a:t>
            </a:r>
          </a:p>
          <a:p>
            <a:endParaRPr lang="en-IE" dirty="0"/>
          </a:p>
          <a:p>
            <a:pPr marL="514350" indent="-514350">
              <a:buFont typeface="+mj-lt"/>
              <a:buAutoNum type="arabicPeriod" startAt="2"/>
            </a:pPr>
            <a:r>
              <a:rPr lang="en-IE" dirty="0"/>
              <a:t>Static Methods</a:t>
            </a:r>
          </a:p>
          <a:p>
            <a:endParaRPr lang="en-IE" dirty="0"/>
          </a:p>
          <a:p>
            <a:pPr marL="514350" indent="-514350">
              <a:buFont typeface="+mj-lt"/>
              <a:buAutoNum type="arabicPeriod" startAt="3"/>
            </a:pPr>
            <a:r>
              <a:rPr lang="en-IE" dirty="0"/>
              <a:t>Javadoc</a:t>
            </a:r>
          </a:p>
          <a:p>
            <a:endParaRPr lang="en-IE" dirty="0"/>
          </a:p>
          <a:p>
            <a:pPr marL="514350" indent="-514350">
              <a:buFont typeface="+mj-lt"/>
              <a:buAutoNum type="arabicPeriod" startAt="4"/>
            </a:pPr>
            <a:r>
              <a:rPr lang="en-IE" dirty="0"/>
              <a:t>Storing calculated data</a:t>
            </a:r>
          </a:p>
          <a:p>
            <a:pPr lvl="1"/>
            <a:endParaRPr lang="en-IE" dirty="0"/>
          </a:p>
        </p:txBody>
      </p:sp>
      <p:sp>
        <p:nvSpPr>
          <p:cNvPr id="5" name="Rectangle 4"/>
          <p:cNvSpPr/>
          <p:nvPr/>
        </p:nvSpPr>
        <p:spPr>
          <a:xfrm>
            <a:off x="1981200" y="3863182"/>
            <a:ext cx="4876800" cy="847725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Right Arrow 5"/>
          <p:cNvSpPr/>
          <p:nvPr/>
        </p:nvSpPr>
        <p:spPr>
          <a:xfrm>
            <a:off x="1066800" y="4096543"/>
            <a:ext cx="9144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82906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dirty="0"/>
              <a:t>Writing class </a:t>
            </a:r>
            <a:r>
              <a:rPr lang="en-GB" b="1" dirty="0"/>
              <a:t>documentation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905000"/>
            <a:ext cx="9601200" cy="4525963"/>
          </a:xfrm>
        </p:spPr>
        <p:txBody>
          <a:bodyPr/>
          <a:lstStyle/>
          <a:p>
            <a:pPr eaLnBrk="1" hangingPunct="1"/>
            <a:r>
              <a:rPr lang="en-GB" dirty="0"/>
              <a:t>Your own classes should be documented the same way library classes are.</a:t>
            </a:r>
          </a:p>
          <a:p>
            <a:pPr eaLnBrk="1" hangingPunct="1"/>
            <a:endParaRPr lang="en-GB" dirty="0"/>
          </a:p>
          <a:p>
            <a:pPr eaLnBrk="1" hangingPunct="1"/>
            <a:r>
              <a:rPr lang="en-GB" dirty="0"/>
              <a:t>Other people should be able to use your class without reading the implementation.</a:t>
            </a:r>
          </a:p>
          <a:p>
            <a:pPr marL="0" indent="0">
              <a:buNone/>
            </a:pPr>
            <a:endParaRPr lang="en-GB" dirty="0"/>
          </a:p>
          <a:p>
            <a:pPr eaLnBrk="1" hangingPunct="1"/>
            <a:r>
              <a:rPr lang="en-GB" dirty="0"/>
              <a:t>Make your class a 'library class'!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6200" y="1055688"/>
            <a:ext cx="2692400" cy="7239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46863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2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24D06-5560-4B2C-833B-CCA5849AF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b="1" dirty="0"/>
              <a:t>Example</a:t>
            </a:r>
            <a:r>
              <a:rPr lang="en-IE" dirty="0"/>
              <a:t> of Library Documentation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925939-8480-4633-9C4B-A477631AC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631" y="1564728"/>
            <a:ext cx="5292562" cy="501863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B9BBAB0-AE35-4904-B738-1B995FBADE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801553"/>
            <a:ext cx="5721208" cy="379353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1204" y="1108869"/>
            <a:ext cx="2692400" cy="723900"/>
          </a:xfrm>
          <a:prstGeom prst="rect">
            <a:avLst/>
          </a:prstGeom>
        </p:spPr>
      </p:pic>
      <p:sp>
        <p:nvSpPr>
          <p:cNvPr id="7" name="Donut 6"/>
          <p:cNvSpPr/>
          <p:nvPr/>
        </p:nvSpPr>
        <p:spPr>
          <a:xfrm flipV="1">
            <a:off x="615462" y="3050626"/>
            <a:ext cx="1333500" cy="266702"/>
          </a:xfrm>
          <a:prstGeom prst="donut">
            <a:avLst>
              <a:gd name="adj" fmla="val 1025"/>
            </a:avLst>
          </a:prstGeom>
          <a:solidFill>
            <a:srgbClr val="FF0000"/>
          </a:solidFill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Donut 7"/>
          <p:cNvSpPr/>
          <p:nvPr/>
        </p:nvSpPr>
        <p:spPr>
          <a:xfrm flipV="1">
            <a:off x="6085625" y="3182553"/>
            <a:ext cx="1333500" cy="266702"/>
          </a:xfrm>
          <a:prstGeom prst="donut">
            <a:avLst>
              <a:gd name="adj" fmla="val 1025"/>
            </a:avLst>
          </a:prstGeom>
          <a:solidFill>
            <a:srgbClr val="FF0000"/>
          </a:solidFill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2798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8600" y="1146969"/>
            <a:ext cx="2692400" cy="723900"/>
          </a:xfrm>
          <a:prstGeom prst="rect">
            <a:avLst/>
          </a:prstGeom>
        </p:spPr>
      </p:pic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dirty="0"/>
              <a:t>Elements of documentation - </a:t>
            </a:r>
            <a:r>
              <a:rPr lang="en-GB" b="1" dirty="0"/>
              <a:t>class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10972800" cy="5105400"/>
          </a:xfrm>
        </p:spPr>
        <p:txBody>
          <a:bodyPr>
            <a:normAutofit/>
          </a:bodyPr>
          <a:lstStyle/>
          <a:p>
            <a:pPr eaLnBrk="1" hangingPunct="1">
              <a:buFont typeface="Times" pitchFamily="18" charset="0"/>
              <a:buNone/>
            </a:pPr>
            <a:r>
              <a:rPr lang="en-GB" sz="2800" i="1" dirty="0"/>
              <a:t>Documentation for a </a:t>
            </a:r>
            <a:r>
              <a:rPr lang="en-GB" sz="2800" i="1" u="sng" dirty="0"/>
              <a:t>class</a:t>
            </a:r>
            <a:r>
              <a:rPr lang="en-GB" sz="2800" i="1" dirty="0"/>
              <a:t> should include:</a:t>
            </a:r>
          </a:p>
          <a:p>
            <a:pPr eaLnBrk="1" hangingPunct="1">
              <a:buFont typeface="Times" pitchFamily="18" charset="0"/>
              <a:buNone/>
            </a:pPr>
            <a:endParaRPr lang="en-GB" sz="2800" i="1" dirty="0"/>
          </a:p>
          <a:p>
            <a:pPr eaLnBrk="1" hangingPunct="1">
              <a:buFont typeface="Times" pitchFamily="18" charset="0"/>
              <a:buNone/>
            </a:pPr>
            <a:endParaRPr lang="en-GB" sz="1200" dirty="0"/>
          </a:p>
          <a:p>
            <a:pPr eaLnBrk="1" hangingPunct="1"/>
            <a:r>
              <a:rPr lang="en-GB" sz="2800" b="1" dirty="0"/>
              <a:t>class name</a:t>
            </a:r>
          </a:p>
          <a:p>
            <a:pPr eaLnBrk="1" hangingPunct="1"/>
            <a:r>
              <a:rPr lang="en-GB" sz="2800" b="1" dirty="0"/>
              <a:t>comment</a:t>
            </a:r>
            <a:r>
              <a:rPr lang="en-GB" sz="2800" dirty="0"/>
              <a:t> describing the overall purpose and characteristics of the class</a:t>
            </a:r>
          </a:p>
          <a:p>
            <a:pPr eaLnBrk="1" hangingPunct="1"/>
            <a:r>
              <a:rPr lang="en-GB" sz="2800" b="1" dirty="0"/>
              <a:t>version number</a:t>
            </a:r>
          </a:p>
          <a:p>
            <a:pPr eaLnBrk="1" hangingPunct="1"/>
            <a:r>
              <a:rPr lang="en-GB" sz="2800" b="1" dirty="0"/>
              <a:t>author</a:t>
            </a:r>
            <a:r>
              <a:rPr lang="en-GB" sz="2800" dirty="0"/>
              <a:t>s’ names</a:t>
            </a:r>
          </a:p>
          <a:p>
            <a:r>
              <a:rPr lang="en-GB" sz="2800" b="1" dirty="0"/>
              <a:t>constructor</a:t>
            </a:r>
            <a:r>
              <a:rPr lang="en-GB" sz="2800" dirty="0"/>
              <a:t> documentation (for all constructors)</a:t>
            </a:r>
          </a:p>
          <a:p>
            <a:r>
              <a:rPr lang="en-GB" sz="2800" b="1" dirty="0"/>
              <a:t>method</a:t>
            </a:r>
            <a:r>
              <a:rPr lang="en-GB" sz="2800" dirty="0"/>
              <a:t> documentation (for all methods)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52014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6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1055688"/>
            <a:ext cx="2692400" cy="723900"/>
          </a:xfrm>
          <a:prstGeom prst="rect">
            <a:avLst/>
          </a:prstGeom>
        </p:spPr>
      </p:pic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GB" dirty="0"/>
              <a:t>Elements of documentation - </a:t>
            </a:r>
            <a:r>
              <a:rPr lang="en-GB" b="1" dirty="0"/>
              <a:t>methods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76400"/>
            <a:ext cx="11125200" cy="50292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Times" pitchFamily="18" charset="0"/>
              <a:buNone/>
            </a:pPr>
            <a:r>
              <a:rPr lang="en-GB" sz="2800" i="1" dirty="0"/>
              <a:t>    The documentation for each </a:t>
            </a:r>
            <a:r>
              <a:rPr lang="en-GB" sz="2800" b="1" i="1" dirty="0"/>
              <a:t>constructor</a:t>
            </a:r>
            <a:r>
              <a:rPr lang="en-GB" sz="2800" i="1" dirty="0"/>
              <a:t> and </a:t>
            </a:r>
            <a:r>
              <a:rPr lang="en-GB" sz="2800" b="1" i="1" dirty="0"/>
              <a:t>method</a:t>
            </a:r>
            <a:r>
              <a:rPr lang="en-GB" sz="2800" i="1" dirty="0"/>
              <a:t> should include:</a:t>
            </a:r>
          </a:p>
          <a:p>
            <a:pPr eaLnBrk="1" hangingPunct="1">
              <a:lnSpc>
                <a:spcPct val="90000"/>
              </a:lnSpc>
              <a:buFont typeface="Times" pitchFamily="18" charset="0"/>
              <a:buNone/>
            </a:pPr>
            <a:r>
              <a:rPr lang="en-GB" sz="2800" i="1" dirty="0"/>
              <a:t/>
            </a:r>
            <a:br>
              <a:rPr lang="en-GB" sz="2800" i="1" dirty="0"/>
            </a:br>
            <a:endParaRPr lang="en-GB" sz="1050" i="1" dirty="0"/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method name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return type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return value </a:t>
            </a:r>
            <a:r>
              <a:rPr lang="en-GB" dirty="0"/>
              <a:t>description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method</a:t>
            </a:r>
            <a:r>
              <a:rPr lang="en-GB" dirty="0"/>
              <a:t> </a:t>
            </a:r>
            <a:r>
              <a:rPr lang="en-GB" b="1" dirty="0"/>
              <a:t>purpose</a:t>
            </a:r>
            <a:r>
              <a:rPr lang="en-GB" dirty="0"/>
              <a:t> and function description 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parameter names and types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parameter </a:t>
            </a:r>
            <a:r>
              <a:rPr lang="en-GB" dirty="0"/>
              <a:t>description</a:t>
            </a:r>
            <a:r>
              <a:rPr lang="en-GB" b="1" dirty="0"/>
              <a:t> </a:t>
            </a:r>
            <a:r>
              <a:rPr lang="en-GB" dirty="0"/>
              <a:t>(for each parameter)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GB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56493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b="1" dirty="0"/>
              <a:t>Javadoc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981201"/>
            <a:ext cx="10058400" cy="4525963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GB" sz="2800" b="1" dirty="0" err="1"/>
              <a:t>javadoc</a:t>
            </a:r>
            <a:r>
              <a:rPr lang="en-GB" sz="2800" dirty="0"/>
              <a:t> </a:t>
            </a:r>
            <a:r>
              <a:rPr lang="en-GB" sz="2800" b="1" dirty="0"/>
              <a:t>comment</a:t>
            </a:r>
            <a:r>
              <a:rPr lang="en-GB" sz="2800" dirty="0"/>
              <a:t> - start symbol:  </a:t>
            </a:r>
            <a:r>
              <a:rPr lang="en-GB" sz="2800" dirty="0">
                <a:solidFill>
                  <a:srgbClr val="FF0000"/>
                </a:solidFill>
              </a:rPr>
              <a:t>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2800" dirty="0">
                <a:solidFill>
                  <a:srgbClr val="FF0000"/>
                </a:solidFill>
              </a:rPr>
              <a:t>	</a:t>
            </a:r>
            <a:r>
              <a:rPr lang="en-GB" sz="2800" b="1" dirty="0">
                <a:solidFill>
                  <a:srgbClr val="FF0000"/>
                </a:solidFill>
              </a:rPr>
              <a:t>/**</a:t>
            </a:r>
          </a:p>
          <a:p>
            <a:pPr eaLnBrk="1" hangingPunct="1">
              <a:lnSpc>
                <a:spcPct val="90000"/>
              </a:lnSpc>
            </a:pPr>
            <a:endParaRPr lang="en-GB" sz="2800" dirty="0"/>
          </a:p>
          <a:p>
            <a:pPr eaLnBrk="1" hangingPunct="1">
              <a:lnSpc>
                <a:spcPct val="90000"/>
              </a:lnSpc>
            </a:pPr>
            <a:r>
              <a:rPr lang="en-GB" sz="2800" dirty="0"/>
              <a:t>Immediately before a</a:t>
            </a:r>
            <a:r>
              <a:rPr lang="mr-IN" sz="2800" dirty="0"/>
              <a:t>…</a:t>
            </a:r>
            <a:r>
              <a:rPr lang="en-GB" sz="2800" dirty="0"/>
              <a:t/>
            </a:r>
            <a:br>
              <a:rPr lang="en-GB" sz="2800" dirty="0"/>
            </a:br>
            <a:endParaRPr lang="en-GB" sz="2800" dirty="0"/>
          </a:p>
          <a:p>
            <a:pPr lvl="1" eaLnBrk="1" hangingPunct="1">
              <a:lnSpc>
                <a:spcPct val="90000"/>
              </a:lnSpc>
            </a:pPr>
            <a:r>
              <a:rPr lang="en-GB" sz="2400" b="1" dirty="0"/>
              <a:t>class declaration </a:t>
            </a:r>
            <a:r>
              <a:rPr lang="en-GB" sz="2400" dirty="0"/>
              <a:t>is read as a </a:t>
            </a:r>
            <a:r>
              <a:rPr lang="en-GB" sz="2400" i="1" dirty="0"/>
              <a:t>class comment</a:t>
            </a:r>
            <a:r>
              <a:rPr lang="en-GB" sz="2400" dirty="0"/>
              <a:t>.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400" b="1" dirty="0"/>
              <a:t>method signature </a:t>
            </a:r>
            <a:r>
              <a:rPr lang="en-GB" sz="2400" dirty="0"/>
              <a:t>is read as a </a:t>
            </a:r>
            <a:r>
              <a:rPr lang="en-GB" sz="2400" i="1" dirty="0"/>
              <a:t>method comment</a:t>
            </a:r>
            <a:r>
              <a:rPr lang="en-GB" sz="2400" dirty="0"/>
              <a:t>.</a:t>
            </a:r>
          </a:p>
          <a:p>
            <a:pPr eaLnBrk="1" hangingPunct="1">
              <a:lnSpc>
                <a:spcPct val="90000"/>
              </a:lnSpc>
            </a:pPr>
            <a:endParaRPr lang="en-GB" sz="2800" dirty="0"/>
          </a:p>
          <a:p>
            <a:pPr eaLnBrk="1" hangingPunct="1">
              <a:lnSpc>
                <a:spcPct val="90000"/>
              </a:lnSpc>
            </a:pPr>
            <a:r>
              <a:rPr lang="en-GB" sz="2800" dirty="0"/>
              <a:t>Other special key symbols for formatting documentation include:</a:t>
            </a:r>
            <a:br>
              <a:rPr lang="en-GB" sz="2800" dirty="0"/>
            </a:br>
            <a:r>
              <a:rPr lang="en-GB" sz="2800" dirty="0"/>
              <a:t>	</a:t>
            </a:r>
            <a:r>
              <a:rPr lang="en-GB" sz="2400" b="1" dirty="0">
                <a:solidFill>
                  <a:srgbClr val="FF0000"/>
                </a:solidFill>
              </a:rPr>
              <a:t>@version</a:t>
            </a:r>
            <a:br>
              <a:rPr lang="en-GB" sz="2400" b="1" dirty="0">
                <a:solidFill>
                  <a:srgbClr val="FF0000"/>
                </a:solidFill>
              </a:rPr>
            </a:br>
            <a:r>
              <a:rPr lang="en-GB" sz="2400" b="1" dirty="0">
                <a:solidFill>
                  <a:srgbClr val="FF0000"/>
                </a:solidFill>
              </a:rPr>
              <a:t>	@author</a:t>
            </a:r>
            <a:br>
              <a:rPr lang="en-GB" sz="2400" b="1" dirty="0">
                <a:solidFill>
                  <a:srgbClr val="FF0000"/>
                </a:solidFill>
              </a:rPr>
            </a:br>
            <a:r>
              <a:rPr lang="en-GB" sz="2400" b="1" dirty="0">
                <a:solidFill>
                  <a:srgbClr val="FF0000"/>
                </a:solidFill>
              </a:rPr>
              <a:t>	@</a:t>
            </a:r>
            <a:r>
              <a:rPr lang="en-GB" sz="2400" b="1" dirty="0" err="1">
                <a:solidFill>
                  <a:srgbClr val="FF0000"/>
                </a:solidFill>
              </a:rPr>
              <a:t>param</a:t>
            </a:r>
            <a:r>
              <a:rPr lang="en-GB" sz="2400" b="1" dirty="0">
                <a:solidFill>
                  <a:srgbClr val="FF0000"/>
                </a:solidFill>
              </a:rPr>
              <a:t/>
            </a:r>
            <a:br>
              <a:rPr lang="en-GB" sz="2400" b="1" dirty="0">
                <a:solidFill>
                  <a:srgbClr val="FF0000"/>
                </a:solidFill>
              </a:rPr>
            </a:br>
            <a:r>
              <a:rPr lang="en-GB" sz="2400" b="1" dirty="0">
                <a:solidFill>
                  <a:srgbClr val="FF0000"/>
                </a:solidFill>
              </a:rPr>
              <a:t>	@return</a:t>
            </a:r>
            <a:endParaRPr lang="en-GB" b="1" dirty="0"/>
          </a:p>
          <a:p>
            <a:pPr eaLnBrk="1" hangingPunct="1">
              <a:lnSpc>
                <a:spcPct val="90000"/>
              </a:lnSpc>
            </a:pPr>
            <a:endParaRPr lang="en-GB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1055688"/>
            <a:ext cx="2692400" cy="7239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00688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dirty="0"/>
              <a:t>Javadoc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/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eaLnBrk="1" hangingPunct="1">
              <a:buFontTx/>
              <a:buNone/>
            </a:pPr>
            <a:r>
              <a:rPr lang="en-GB" sz="2800" b="1" dirty="0"/>
              <a:t>Class </a:t>
            </a:r>
            <a:r>
              <a:rPr lang="en-GB" sz="2800" dirty="0"/>
              <a:t>comment:</a:t>
            </a:r>
          </a:p>
          <a:p>
            <a:pPr eaLnBrk="1" hangingPunct="1">
              <a:buFontTx/>
              <a:buNone/>
            </a:pPr>
            <a:endParaRPr lang="en-GB" sz="2000" b="1" dirty="0">
              <a:latin typeface="Courier New" pitchFamily="49" charset="0"/>
            </a:endParaRPr>
          </a:p>
          <a:p>
            <a:pPr eaLnBrk="1" hangingPunct="1">
              <a:buFontTx/>
              <a:buNone/>
            </a:pPr>
            <a:r>
              <a:rPr lang="en-GB" sz="2000" b="1" dirty="0">
                <a:latin typeface="Courier New" pitchFamily="49" charset="0"/>
              </a:rPr>
              <a:t>/**</a:t>
            </a:r>
          </a:p>
          <a:p>
            <a:pPr eaLnBrk="1" hangingPunct="1">
              <a:buFontTx/>
              <a:buNone/>
            </a:pPr>
            <a:r>
              <a:rPr lang="en-GB" sz="2000" b="1" dirty="0">
                <a:latin typeface="Courier New" pitchFamily="49" charset="0"/>
              </a:rPr>
              <a:t> * The Responder class represents a response</a:t>
            </a:r>
          </a:p>
          <a:p>
            <a:pPr eaLnBrk="1" hangingPunct="1">
              <a:buFontTx/>
              <a:buNone/>
            </a:pPr>
            <a:r>
              <a:rPr lang="en-GB" sz="2000" b="1" dirty="0">
                <a:latin typeface="Courier New" pitchFamily="49" charset="0"/>
              </a:rPr>
              <a:t> * generator object. It is used to generate an </a:t>
            </a:r>
          </a:p>
          <a:p>
            <a:pPr eaLnBrk="1" hangingPunct="1">
              <a:buFontTx/>
              <a:buNone/>
            </a:pPr>
            <a:r>
              <a:rPr lang="en-GB" sz="2000" b="1" dirty="0">
                <a:latin typeface="Courier New" pitchFamily="49" charset="0"/>
              </a:rPr>
              <a:t> * automatic response.</a:t>
            </a:r>
          </a:p>
          <a:p>
            <a:pPr eaLnBrk="1" hangingPunct="1">
              <a:buFontTx/>
              <a:buNone/>
            </a:pPr>
            <a:r>
              <a:rPr lang="en-GB" sz="2000" b="1" dirty="0">
                <a:latin typeface="Courier New" pitchFamily="49" charset="0"/>
              </a:rPr>
              <a:t> * </a:t>
            </a:r>
          </a:p>
          <a:p>
            <a:pPr eaLnBrk="1" hangingPunct="1">
              <a:buFontTx/>
              <a:buNone/>
            </a:pPr>
            <a:r>
              <a:rPr lang="en-GB" sz="2000" b="1" dirty="0">
                <a:latin typeface="Courier New" pitchFamily="49" charset="0"/>
              </a:rPr>
              <a:t> * @author     Michael </a:t>
            </a:r>
            <a:r>
              <a:rPr lang="en-GB" sz="2000" b="1" dirty="0" err="1">
                <a:latin typeface="Courier New" pitchFamily="49" charset="0"/>
              </a:rPr>
              <a:t>Kölling</a:t>
            </a:r>
            <a:r>
              <a:rPr lang="en-GB" sz="2000" b="1" dirty="0">
                <a:latin typeface="Courier New" pitchFamily="49" charset="0"/>
              </a:rPr>
              <a:t> and David J. Barnes</a:t>
            </a:r>
          </a:p>
          <a:p>
            <a:pPr eaLnBrk="1" hangingPunct="1">
              <a:buFontTx/>
              <a:buNone/>
            </a:pPr>
            <a:r>
              <a:rPr lang="en-GB" sz="2000" b="1" dirty="0">
                <a:latin typeface="Courier New" pitchFamily="49" charset="0"/>
              </a:rPr>
              <a:t> * @version    1.0  (30.Mar.2006)</a:t>
            </a:r>
          </a:p>
          <a:p>
            <a:pPr eaLnBrk="1" hangingPunct="1">
              <a:buFontTx/>
              <a:buNone/>
            </a:pPr>
            <a:r>
              <a:rPr lang="en-GB" sz="2000" b="1" dirty="0">
                <a:latin typeface="Courier New" pitchFamily="49" charset="0"/>
              </a:rPr>
              <a:t> */</a:t>
            </a:r>
          </a:p>
          <a:p>
            <a:pPr eaLnBrk="1" hangingPunct="1">
              <a:buFontTx/>
              <a:buNone/>
            </a:pPr>
            <a:endParaRPr lang="en-GB" sz="2000" b="1" dirty="0">
              <a:latin typeface="Courier New" pitchFamily="49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1055688"/>
            <a:ext cx="2692400" cy="723900"/>
          </a:xfrm>
          <a:prstGeom prst="rect">
            <a:avLst/>
          </a:prstGeom>
        </p:spPr>
      </p:pic>
      <p:sp>
        <p:nvSpPr>
          <p:cNvPr id="5" name="Donut 4"/>
          <p:cNvSpPr/>
          <p:nvPr/>
        </p:nvSpPr>
        <p:spPr>
          <a:xfrm flipV="1">
            <a:off x="609600" y="2438400"/>
            <a:ext cx="990600" cy="381001"/>
          </a:xfrm>
          <a:prstGeom prst="donut">
            <a:avLst>
              <a:gd name="adj" fmla="val 1025"/>
            </a:avLst>
          </a:prstGeom>
          <a:solidFill>
            <a:srgbClr val="FF0000"/>
          </a:solidFill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6" name="Donut 5"/>
          <p:cNvSpPr/>
          <p:nvPr/>
        </p:nvSpPr>
        <p:spPr>
          <a:xfrm flipV="1">
            <a:off x="990600" y="4191000"/>
            <a:ext cx="1676400" cy="838203"/>
          </a:xfrm>
          <a:prstGeom prst="donut">
            <a:avLst>
              <a:gd name="adj" fmla="val 1025"/>
            </a:avLst>
          </a:prstGeom>
          <a:solidFill>
            <a:srgbClr val="FF0000"/>
          </a:solidFill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32582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dirty="0"/>
              <a:t>Javadoc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0"/>
            <a:ext cx="8229600" cy="495300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sz="2800" b="1" dirty="0"/>
              <a:t>Method</a:t>
            </a:r>
            <a:r>
              <a:rPr lang="en-GB" sz="2800" dirty="0"/>
              <a:t> comment: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GB" sz="2000" b="1" dirty="0">
              <a:latin typeface="Courier New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sz="2000" b="1" dirty="0">
                <a:latin typeface="Courier New" pitchFamily="49" charset="0"/>
              </a:rPr>
              <a:t>/**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sz="2000" b="1" dirty="0">
                <a:latin typeface="Courier New" pitchFamily="49" charset="0"/>
              </a:rPr>
              <a:t> * Read a line of text from standard input (the text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sz="2000" b="1" dirty="0">
                <a:latin typeface="Courier New" pitchFamily="49" charset="0"/>
              </a:rPr>
              <a:t> * terminal), and return it as a set of words.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sz="2000" b="1" dirty="0">
                <a:latin typeface="Courier New" pitchFamily="49" charset="0"/>
              </a:rPr>
              <a:t> *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sz="2000" b="1" dirty="0">
                <a:latin typeface="Courier New" pitchFamily="49" charset="0"/>
              </a:rPr>
              <a:t> * @</a:t>
            </a:r>
            <a:r>
              <a:rPr lang="en-GB" sz="2000" b="1" dirty="0" err="1">
                <a:latin typeface="Courier New" pitchFamily="49" charset="0"/>
              </a:rPr>
              <a:t>param</a:t>
            </a:r>
            <a:r>
              <a:rPr lang="en-GB" sz="2000" b="1" dirty="0">
                <a:latin typeface="Courier New" pitchFamily="49" charset="0"/>
              </a:rPr>
              <a:t>  prompt  A prompt to print to screen.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sz="2000" b="1" dirty="0">
                <a:latin typeface="Courier New" pitchFamily="49" charset="0"/>
              </a:rPr>
              <a:t> * @return A set of Strings, where each String is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sz="2000" b="1" dirty="0">
                <a:latin typeface="Courier New" pitchFamily="49" charset="0"/>
              </a:rPr>
              <a:t> *         one of the words typed by the user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sz="2000" b="1" dirty="0">
                <a:latin typeface="Courier New" pitchFamily="49" charset="0"/>
              </a:rPr>
              <a:t> */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sz="2000" b="1" dirty="0">
                <a:solidFill>
                  <a:schemeClr val="tx1"/>
                </a:solidFill>
                <a:latin typeface="Courier New" pitchFamily="49" charset="0"/>
              </a:rPr>
              <a:t>public </a:t>
            </a:r>
            <a:r>
              <a:rPr lang="en-GB" sz="2000" b="1" dirty="0" err="1">
                <a:solidFill>
                  <a:schemeClr val="tx1"/>
                </a:solidFill>
                <a:latin typeface="Courier New" pitchFamily="49" charset="0"/>
              </a:rPr>
              <a:t>HashSet</a:t>
            </a:r>
            <a:r>
              <a:rPr lang="en-GB" sz="2000" b="1" dirty="0">
                <a:solidFill>
                  <a:schemeClr val="tx1"/>
                </a:solidFill>
                <a:latin typeface="Courier New" pitchFamily="49" charset="0"/>
              </a:rPr>
              <a:t>&lt;String&gt; </a:t>
            </a:r>
            <a:r>
              <a:rPr lang="en-GB" sz="2000" b="1" dirty="0" err="1">
                <a:solidFill>
                  <a:schemeClr val="tx1"/>
                </a:solidFill>
                <a:latin typeface="Courier New" pitchFamily="49" charset="0"/>
              </a:rPr>
              <a:t>getInput</a:t>
            </a:r>
            <a:r>
              <a:rPr lang="en-GB" sz="2000" b="1" dirty="0">
                <a:solidFill>
                  <a:schemeClr val="tx1"/>
                </a:solidFill>
                <a:latin typeface="Courier New" pitchFamily="49" charset="0"/>
              </a:rPr>
              <a:t>(String prompt)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sz="2000" b="1" dirty="0">
                <a:solidFill>
                  <a:schemeClr val="tx1"/>
                </a:solidFill>
                <a:latin typeface="Courier New" pitchFamily="49" charset="0"/>
              </a:rPr>
              <a:t>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sz="2000" b="1" dirty="0">
                <a:solidFill>
                  <a:schemeClr val="tx1"/>
                </a:solidFill>
                <a:latin typeface="Courier New" pitchFamily="49" charset="0"/>
              </a:rPr>
              <a:t>   ...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sz="2000" b="1" dirty="0">
                <a:solidFill>
                  <a:schemeClr val="tx1"/>
                </a:solidFill>
                <a:latin typeface="Courier New" pitchFamily="49" charset="0"/>
              </a:rPr>
              <a:t>}</a:t>
            </a:r>
            <a:endParaRPr lang="en-GB" sz="2000" b="1" dirty="0">
              <a:latin typeface="Courier New" pitchFamily="49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1055688"/>
            <a:ext cx="2692400" cy="723900"/>
          </a:xfrm>
          <a:prstGeom prst="rect">
            <a:avLst/>
          </a:prstGeom>
        </p:spPr>
      </p:pic>
      <p:sp>
        <p:nvSpPr>
          <p:cNvPr id="5" name="Donut 4"/>
          <p:cNvSpPr/>
          <p:nvPr/>
        </p:nvSpPr>
        <p:spPr>
          <a:xfrm flipV="1">
            <a:off x="1757680" y="2285999"/>
            <a:ext cx="985520" cy="457201"/>
          </a:xfrm>
          <a:prstGeom prst="donut">
            <a:avLst>
              <a:gd name="adj" fmla="val 1025"/>
            </a:avLst>
          </a:prstGeom>
          <a:solidFill>
            <a:srgbClr val="FF0000"/>
          </a:solidFill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6" name="Donut 5"/>
          <p:cNvSpPr/>
          <p:nvPr/>
        </p:nvSpPr>
        <p:spPr>
          <a:xfrm flipV="1">
            <a:off x="2362200" y="3581401"/>
            <a:ext cx="1371600" cy="914401"/>
          </a:xfrm>
          <a:prstGeom prst="donut">
            <a:avLst>
              <a:gd name="adj" fmla="val 1025"/>
            </a:avLst>
          </a:prstGeom>
          <a:solidFill>
            <a:srgbClr val="FF0000"/>
          </a:solidFill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51932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65960" y="1600200"/>
            <a:ext cx="10972800" cy="45259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E" dirty="0"/>
              <a:t>Static Variables</a:t>
            </a:r>
          </a:p>
          <a:p>
            <a:endParaRPr lang="en-IE" dirty="0"/>
          </a:p>
          <a:p>
            <a:pPr marL="514350" indent="-514350">
              <a:buFont typeface="+mj-lt"/>
              <a:buAutoNum type="arabicPeriod" startAt="2"/>
            </a:pPr>
            <a:r>
              <a:rPr lang="en-IE" dirty="0"/>
              <a:t>Static Methods</a:t>
            </a:r>
          </a:p>
          <a:p>
            <a:endParaRPr lang="en-IE" dirty="0"/>
          </a:p>
          <a:p>
            <a:pPr marL="514350" indent="-514350">
              <a:buFont typeface="+mj-lt"/>
              <a:buAutoNum type="arabicPeriod" startAt="3"/>
            </a:pPr>
            <a:r>
              <a:rPr lang="en-IE" dirty="0"/>
              <a:t>Javadoc</a:t>
            </a:r>
          </a:p>
          <a:p>
            <a:endParaRPr lang="en-IE" dirty="0"/>
          </a:p>
          <a:p>
            <a:pPr marL="514350" indent="-514350">
              <a:buFont typeface="+mj-lt"/>
              <a:buAutoNum type="arabicPeriod" startAt="4"/>
            </a:pPr>
            <a:r>
              <a:rPr lang="en-IE" dirty="0"/>
              <a:t>Storing calculated data</a:t>
            </a:r>
          </a:p>
          <a:p>
            <a:pPr lvl="1"/>
            <a:endParaRPr lang="en-IE" dirty="0"/>
          </a:p>
        </p:txBody>
      </p:sp>
      <p:sp>
        <p:nvSpPr>
          <p:cNvPr id="5" name="Rectangle 4"/>
          <p:cNvSpPr/>
          <p:nvPr/>
        </p:nvSpPr>
        <p:spPr>
          <a:xfrm>
            <a:off x="1965960" y="4953001"/>
            <a:ext cx="4876800" cy="847725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Right Arrow 5"/>
          <p:cNvSpPr/>
          <p:nvPr/>
        </p:nvSpPr>
        <p:spPr>
          <a:xfrm>
            <a:off x="1051560" y="5257800"/>
            <a:ext cx="9144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56546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2895600" y="2514600"/>
            <a:ext cx="6400800" cy="1752600"/>
          </a:xfrm>
        </p:spPr>
        <p:txBody>
          <a:bodyPr>
            <a:normAutofit/>
          </a:bodyPr>
          <a:lstStyle/>
          <a:p>
            <a:r>
              <a:rPr lang="en-IE" sz="5400" dirty="0">
                <a:solidFill>
                  <a:srgbClr val="FF0000"/>
                </a:solidFill>
              </a:rPr>
              <a:t>The danger lurking within!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370121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b="1" dirty="0"/>
              <a:t>Calculated data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600200" y="1307804"/>
            <a:ext cx="4876800" cy="4559597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>
              <a:buNone/>
            </a:pPr>
            <a:r>
              <a:rPr lang="en-IE" sz="1400" dirty="0">
                <a:latin typeface="Courier New" charset="0"/>
                <a:ea typeface="Courier New" charset="0"/>
                <a:cs typeface="Courier New" charset="0"/>
              </a:rPr>
              <a:t>public class Employee</a:t>
            </a:r>
          </a:p>
          <a:p>
            <a:pPr marL="0" indent="0">
              <a:buNone/>
            </a:pPr>
            <a:r>
              <a:rPr lang="en-IE" sz="1400" dirty="0">
                <a:latin typeface="Courier New" charset="0"/>
                <a:ea typeface="Courier New" charset="0"/>
                <a:cs typeface="Courier New" charset="0"/>
              </a:rPr>
              <a:t>{</a:t>
            </a:r>
          </a:p>
          <a:p>
            <a:pPr marL="0" indent="0">
              <a:buNone/>
            </a:pPr>
            <a:r>
              <a:rPr lang="en-IE" sz="1400" dirty="0">
                <a:latin typeface="Courier New" charset="0"/>
                <a:ea typeface="Courier New" charset="0"/>
                <a:cs typeface="Courier New" charset="0"/>
              </a:rPr>
              <a:t>     private double salary;</a:t>
            </a:r>
          </a:p>
          <a:p>
            <a:pPr marL="0" indent="0">
              <a:buNone/>
            </a:pPr>
            <a:r>
              <a:rPr lang="en-IE" sz="1400" dirty="0">
                <a:latin typeface="Courier New" charset="0"/>
                <a:ea typeface="Courier New" charset="0"/>
                <a:cs typeface="Courier New" charset="0"/>
              </a:rPr>
              <a:t>     private double deductions;</a:t>
            </a:r>
          </a:p>
          <a:p>
            <a:pPr marL="0" indent="0">
              <a:buNone/>
            </a:pPr>
            <a:r>
              <a:rPr lang="en-IE" sz="1400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     private double </a:t>
            </a:r>
            <a:r>
              <a:rPr lang="en-IE" sz="1400" b="1" dirty="0" err="1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netSalary</a:t>
            </a:r>
            <a:r>
              <a:rPr lang="en-IE" sz="1400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;</a:t>
            </a:r>
          </a:p>
          <a:p>
            <a:pPr marL="0" indent="0">
              <a:buNone/>
            </a:pPr>
            <a:r>
              <a:rPr lang="en-IE" sz="1400" dirty="0">
                <a:latin typeface="Courier New" charset="0"/>
                <a:ea typeface="Courier New" charset="0"/>
                <a:cs typeface="Courier New" charset="0"/>
              </a:rPr>
              <a:t>     //</a:t>
            </a:r>
          </a:p>
          <a:p>
            <a:pPr marL="0" indent="0">
              <a:buNone/>
            </a:pPr>
            <a:r>
              <a:rPr lang="en-IE" sz="1400" dirty="0">
                <a:latin typeface="Courier New" charset="0"/>
                <a:ea typeface="Courier New" charset="0"/>
                <a:cs typeface="Courier New" charset="0"/>
              </a:rPr>
              <a:t>     //</a:t>
            </a:r>
            <a:br>
              <a:rPr lang="en-IE" sz="1400" dirty="0">
                <a:latin typeface="Courier New" charset="0"/>
                <a:ea typeface="Courier New" charset="0"/>
                <a:cs typeface="Courier New" charset="0"/>
              </a:rPr>
            </a:br>
            <a:endParaRPr lang="en-IE" sz="1400" dirty="0">
              <a:latin typeface="Courier New" charset="0"/>
              <a:ea typeface="Courier New" charset="0"/>
              <a:cs typeface="Courier New" charset="0"/>
            </a:endParaRPr>
          </a:p>
          <a:p>
            <a:pPr marL="0" indent="0">
              <a:buNone/>
            </a:pPr>
            <a:r>
              <a:rPr lang="en-IE" sz="1400" dirty="0">
                <a:latin typeface="Courier New" charset="0"/>
                <a:ea typeface="Courier New" charset="0"/>
                <a:cs typeface="Courier New" charset="0"/>
              </a:rPr>
              <a:t>     public void   </a:t>
            </a:r>
            <a:r>
              <a:rPr lang="en-IE" sz="1400" b="1" dirty="0" err="1">
                <a:latin typeface="Courier New" charset="0"/>
                <a:ea typeface="Courier New" charset="0"/>
                <a:cs typeface="Courier New" charset="0"/>
              </a:rPr>
              <a:t>calculateNetSalary</a:t>
            </a:r>
            <a:r>
              <a:rPr lang="en-IE" sz="1400" dirty="0">
                <a:latin typeface="Courier New" charset="0"/>
                <a:ea typeface="Courier New" charset="0"/>
                <a:cs typeface="Courier New" charset="0"/>
              </a:rPr>
              <a:t>()</a:t>
            </a:r>
          </a:p>
          <a:p>
            <a:pPr marL="0" indent="0">
              <a:buNone/>
            </a:pPr>
            <a:r>
              <a:rPr lang="en-IE" sz="1400" dirty="0">
                <a:latin typeface="Courier New" charset="0"/>
                <a:ea typeface="Courier New" charset="0"/>
                <a:cs typeface="Courier New" charset="0"/>
              </a:rPr>
              <a:t>     {</a:t>
            </a:r>
          </a:p>
          <a:p>
            <a:pPr marL="0" indent="0">
              <a:buNone/>
            </a:pPr>
            <a:r>
              <a:rPr lang="en-IE" sz="1400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        </a:t>
            </a:r>
            <a:r>
              <a:rPr lang="en-IE" sz="1400" dirty="0" err="1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netSalary</a:t>
            </a:r>
            <a:r>
              <a:rPr lang="en-IE" sz="1400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IE" sz="1400" dirty="0">
                <a:latin typeface="Courier New" charset="0"/>
                <a:ea typeface="Courier New" charset="0"/>
                <a:cs typeface="Courier New" charset="0"/>
              </a:rPr>
              <a:t>= salary – deductions;</a:t>
            </a:r>
          </a:p>
          <a:p>
            <a:pPr marL="0" indent="0">
              <a:buNone/>
            </a:pPr>
            <a:r>
              <a:rPr lang="en-IE" sz="1400" dirty="0">
                <a:latin typeface="Courier New" charset="0"/>
                <a:ea typeface="Courier New" charset="0"/>
                <a:cs typeface="Courier New" charset="0"/>
              </a:rPr>
              <a:t>     }</a:t>
            </a:r>
            <a:br>
              <a:rPr lang="en-IE" sz="1400" dirty="0">
                <a:latin typeface="Courier New" charset="0"/>
                <a:ea typeface="Courier New" charset="0"/>
                <a:cs typeface="Courier New" charset="0"/>
              </a:rPr>
            </a:br>
            <a:endParaRPr lang="en-IE" sz="1400" dirty="0">
              <a:latin typeface="Courier New" charset="0"/>
              <a:ea typeface="Courier New" charset="0"/>
              <a:cs typeface="Courier New" charset="0"/>
            </a:endParaRPr>
          </a:p>
          <a:p>
            <a:pPr marL="0" indent="0">
              <a:buNone/>
            </a:pPr>
            <a:r>
              <a:rPr lang="en-IE" sz="1400" dirty="0">
                <a:latin typeface="Courier New" charset="0"/>
                <a:ea typeface="Courier New" charset="0"/>
                <a:cs typeface="Courier New" charset="0"/>
              </a:rPr>
              <a:t>     public void </a:t>
            </a:r>
            <a:r>
              <a:rPr lang="en-IE" sz="1400" b="1" dirty="0" err="1">
                <a:latin typeface="Courier New" charset="0"/>
                <a:ea typeface="Courier New" charset="0"/>
                <a:cs typeface="Courier New" charset="0"/>
              </a:rPr>
              <a:t>setSalary</a:t>
            </a:r>
            <a:r>
              <a:rPr lang="en-IE" sz="1400" dirty="0">
                <a:latin typeface="Courier New" charset="0"/>
                <a:ea typeface="Courier New" charset="0"/>
                <a:cs typeface="Courier New" charset="0"/>
              </a:rPr>
              <a:t>(double salary)</a:t>
            </a:r>
          </a:p>
          <a:p>
            <a:pPr marL="0" indent="0">
              <a:buNone/>
            </a:pPr>
            <a:r>
              <a:rPr lang="en-IE" sz="1400" dirty="0">
                <a:latin typeface="Courier New" charset="0"/>
                <a:ea typeface="Courier New" charset="0"/>
                <a:cs typeface="Courier New" charset="0"/>
              </a:rPr>
              <a:t>     {</a:t>
            </a:r>
          </a:p>
          <a:p>
            <a:pPr marL="0" indent="0">
              <a:buNone/>
            </a:pPr>
            <a:r>
              <a:rPr lang="en-IE" sz="1400" dirty="0">
                <a:latin typeface="Courier New" charset="0"/>
                <a:ea typeface="Courier New" charset="0"/>
                <a:cs typeface="Courier New" charset="0"/>
              </a:rPr>
              <a:t>        </a:t>
            </a:r>
            <a:r>
              <a:rPr lang="en-IE" sz="1400" dirty="0" err="1">
                <a:latin typeface="Courier New" charset="0"/>
                <a:ea typeface="Courier New" charset="0"/>
                <a:cs typeface="Courier New" charset="0"/>
              </a:rPr>
              <a:t>this.salary</a:t>
            </a:r>
            <a:r>
              <a:rPr lang="en-IE" sz="1400" dirty="0">
                <a:latin typeface="Courier New" charset="0"/>
                <a:ea typeface="Courier New" charset="0"/>
                <a:cs typeface="Courier New" charset="0"/>
              </a:rPr>
              <a:t> = salary;   </a:t>
            </a:r>
          </a:p>
          <a:p>
            <a:pPr marL="0" indent="0">
              <a:buNone/>
            </a:pPr>
            <a:r>
              <a:rPr lang="en-IE" sz="1400" dirty="0">
                <a:latin typeface="Courier New" charset="0"/>
                <a:ea typeface="Courier New" charset="0"/>
                <a:cs typeface="Courier New" charset="0"/>
              </a:rPr>
              <a:t>     }</a:t>
            </a:r>
          </a:p>
          <a:p>
            <a:pPr marL="0" indent="0">
              <a:buNone/>
            </a:pPr>
            <a:r>
              <a:rPr lang="en-IE" sz="1400" dirty="0">
                <a:latin typeface="Courier New" charset="0"/>
                <a:ea typeface="Courier New" charset="0"/>
                <a:cs typeface="Courier New" charset="0"/>
              </a:rPr>
              <a:t>}</a:t>
            </a:r>
          </a:p>
          <a:p>
            <a:pPr marL="0" indent="0">
              <a:buNone/>
            </a:pPr>
            <a:endParaRPr lang="en-IE" sz="3600" dirty="0"/>
          </a:p>
        </p:txBody>
      </p:sp>
      <p:sp>
        <p:nvSpPr>
          <p:cNvPr id="6" name="TextBox 5"/>
          <p:cNvSpPr txBox="1"/>
          <p:nvPr/>
        </p:nvSpPr>
        <p:spPr>
          <a:xfrm>
            <a:off x="5684520" y="5599291"/>
            <a:ext cx="4495800" cy="83099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400" dirty="0">
                <a:sym typeface="Wingdings" pitchFamily="2" charset="2"/>
              </a:rPr>
              <a:t>NB: </a:t>
            </a:r>
            <a:r>
              <a:rPr lang="en-IE" sz="2400" b="1" dirty="0" err="1"/>
              <a:t>setSalary</a:t>
            </a:r>
            <a:r>
              <a:rPr lang="en-IE" sz="2400" b="1" dirty="0"/>
              <a:t>() </a:t>
            </a:r>
          </a:p>
          <a:p>
            <a:r>
              <a:rPr lang="en-IE" sz="2400" dirty="0"/>
              <a:t>doesn’t recalculate the net salary?  </a:t>
            </a:r>
          </a:p>
        </p:txBody>
      </p:sp>
      <p:sp>
        <p:nvSpPr>
          <p:cNvPr id="3" name="Rectangle 2"/>
          <p:cNvSpPr/>
          <p:nvPr/>
        </p:nvSpPr>
        <p:spPr>
          <a:xfrm>
            <a:off x="6781800" y="2077303"/>
            <a:ext cx="4476750" cy="286232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000" b="1" dirty="0">
                <a:solidFill>
                  <a:srgbClr val="00B050"/>
                </a:solidFill>
              </a:rPr>
              <a:t>!!! </a:t>
            </a:r>
            <a:r>
              <a:rPr lang="en-IE" sz="2000" b="1" u="sng" dirty="0">
                <a:solidFill>
                  <a:srgbClr val="00B050"/>
                </a:solidFill>
              </a:rPr>
              <a:t>DATA INTEGRITY </a:t>
            </a:r>
            <a:r>
              <a:rPr lang="en-IE" sz="2000" b="1" dirty="0">
                <a:solidFill>
                  <a:srgbClr val="00B050"/>
                </a:solidFill>
              </a:rPr>
              <a:t>WARNING !!!</a:t>
            </a:r>
            <a:br>
              <a:rPr lang="en-IE" sz="2000" b="1" dirty="0">
                <a:solidFill>
                  <a:srgbClr val="00B050"/>
                </a:solidFill>
              </a:rPr>
            </a:br>
            <a:r>
              <a:rPr lang="en-IE" sz="2000" b="1" dirty="0">
                <a:solidFill>
                  <a:srgbClr val="00B050"/>
                </a:solidFill>
              </a:rPr>
              <a:t>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IE" sz="2000" b="1" dirty="0" err="1">
                <a:solidFill>
                  <a:srgbClr val="FF0000"/>
                </a:solidFill>
              </a:rPr>
              <a:t>netSalary</a:t>
            </a:r>
            <a:r>
              <a:rPr lang="en-IE" sz="2000" b="1" dirty="0">
                <a:solidFill>
                  <a:srgbClr val="FF0000"/>
                </a:solidFill>
              </a:rPr>
              <a:t> field</a:t>
            </a:r>
            <a:r>
              <a:rPr lang="en-IE" sz="2000" dirty="0">
                <a:solidFill>
                  <a:srgbClr val="FF0000"/>
                </a:solidFill>
              </a:rPr>
              <a:t> </a:t>
            </a:r>
            <a:r>
              <a:rPr lang="en-IE" sz="2000" dirty="0"/>
              <a:t>can contain </a:t>
            </a:r>
            <a:r>
              <a:rPr lang="en-IE" sz="2000" b="1" dirty="0"/>
              <a:t>stale data.</a:t>
            </a:r>
            <a:br>
              <a:rPr lang="en-IE" sz="2000" b="1" dirty="0"/>
            </a:br>
            <a:endParaRPr lang="en-IE" sz="2000" b="1" dirty="0"/>
          </a:p>
          <a:p>
            <a:pPr marL="342900" indent="-342900">
              <a:buFont typeface="Arial" pitchFamily="34" charset="0"/>
              <a:buChar char="•"/>
            </a:pPr>
            <a:r>
              <a:rPr lang="en-IE" sz="2000" dirty="0"/>
              <a:t>Don’t store </a:t>
            </a:r>
            <a:r>
              <a:rPr lang="en-IE" sz="2000" b="1" dirty="0" err="1">
                <a:solidFill>
                  <a:srgbClr val="FF0000"/>
                </a:solidFill>
              </a:rPr>
              <a:t>netSalary</a:t>
            </a:r>
            <a:r>
              <a:rPr lang="en-IE" sz="2000" dirty="0">
                <a:solidFill>
                  <a:srgbClr val="FF0000"/>
                </a:solidFill>
              </a:rPr>
              <a:t> </a:t>
            </a:r>
            <a:r>
              <a:rPr lang="en-IE" sz="2000" dirty="0"/>
              <a:t>in a field</a:t>
            </a:r>
            <a:br>
              <a:rPr lang="en-IE" sz="2000" dirty="0"/>
            </a:br>
            <a:endParaRPr lang="en-IE" sz="2000" dirty="0"/>
          </a:p>
          <a:p>
            <a:pPr marL="342900" indent="-342900">
              <a:buFont typeface="Arial" pitchFamily="34" charset="0"/>
              <a:buChar char="•"/>
            </a:pPr>
            <a:r>
              <a:rPr lang="en-IE" sz="2000" dirty="0"/>
              <a:t>Calculate this when needed instead</a:t>
            </a:r>
            <a:br>
              <a:rPr lang="en-IE" sz="2000" dirty="0"/>
            </a:br>
            <a:endParaRPr lang="en-IE" sz="2000" dirty="0"/>
          </a:p>
          <a:p>
            <a:pPr marL="342900" indent="-342900">
              <a:buFont typeface="Arial" pitchFamily="34" charset="0"/>
              <a:buChar char="•"/>
            </a:pPr>
            <a:r>
              <a:rPr lang="en-IE" sz="2000" b="1" dirty="0" err="1"/>
              <a:t>calculateNetSalary</a:t>
            </a:r>
            <a:r>
              <a:rPr lang="en-IE" sz="2000" b="1" dirty="0"/>
              <a:t>()</a:t>
            </a:r>
            <a:endParaRPr lang="en-IE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6248400" y="399714"/>
            <a:ext cx="3657600" cy="4616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400" dirty="0" err="1">
                <a:solidFill>
                  <a:srgbClr val="FF0000"/>
                </a:solidFill>
              </a:rPr>
              <a:t>netSalary</a:t>
            </a:r>
            <a:r>
              <a:rPr lang="en-IE" sz="2400" dirty="0">
                <a:solidFill>
                  <a:srgbClr val="FF0000"/>
                </a:solidFill>
              </a:rPr>
              <a:t> </a:t>
            </a:r>
            <a:r>
              <a:rPr lang="en-IE" sz="2400" dirty="0"/>
              <a:t>is calculated data.</a:t>
            </a:r>
          </a:p>
        </p:txBody>
      </p:sp>
      <p:cxnSp>
        <p:nvCxnSpPr>
          <p:cNvPr id="8" name="Straight Arrow Connector 7"/>
          <p:cNvCxnSpPr>
            <a:cxnSpLocks/>
          </p:cNvCxnSpPr>
          <p:nvPr/>
        </p:nvCxnSpPr>
        <p:spPr>
          <a:xfrm flipV="1">
            <a:off x="3048000" y="861378"/>
            <a:ext cx="4267200" cy="3024822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cxnSpLocks/>
          </p:cNvCxnSpPr>
          <p:nvPr/>
        </p:nvCxnSpPr>
        <p:spPr>
          <a:xfrm>
            <a:off x="4495800" y="4800600"/>
            <a:ext cx="1752600" cy="6858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850722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b="1" dirty="0"/>
              <a:t>Calculated data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676400" y="1600200"/>
            <a:ext cx="6553200" cy="5134600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>
              <a:buNone/>
            </a:pPr>
            <a:r>
              <a:rPr lang="en-IE" sz="1800" dirty="0">
                <a:latin typeface="Courier New" charset="0"/>
                <a:ea typeface="Courier New" charset="0"/>
                <a:cs typeface="Courier New" charset="0"/>
              </a:rPr>
              <a:t>public class Employee</a:t>
            </a:r>
          </a:p>
          <a:p>
            <a:pPr marL="0" indent="0">
              <a:buNone/>
            </a:pPr>
            <a:r>
              <a:rPr lang="en-IE" sz="1800" dirty="0">
                <a:latin typeface="Courier New" charset="0"/>
                <a:ea typeface="Courier New" charset="0"/>
                <a:cs typeface="Courier New" charset="0"/>
              </a:rPr>
              <a:t>{</a:t>
            </a:r>
          </a:p>
          <a:p>
            <a:pPr marL="0" indent="0">
              <a:buNone/>
            </a:pPr>
            <a:r>
              <a:rPr lang="en-IE" sz="1800" dirty="0">
                <a:latin typeface="Courier New" charset="0"/>
                <a:ea typeface="Courier New" charset="0"/>
                <a:cs typeface="Courier New" charset="0"/>
              </a:rPr>
              <a:t>     private double salary;</a:t>
            </a:r>
          </a:p>
          <a:p>
            <a:pPr marL="0" indent="0">
              <a:buNone/>
            </a:pPr>
            <a:r>
              <a:rPr lang="en-IE" sz="1800" dirty="0">
                <a:latin typeface="Courier New" charset="0"/>
                <a:ea typeface="Courier New" charset="0"/>
                <a:cs typeface="Courier New" charset="0"/>
              </a:rPr>
              <a:t>     private double deductions;</a:t>
            </a:r>
          </a:p>
          <a:p>
            <a:pPr marL="0" indent="0">
              <a:buNone/>
            </a:pPr>
            <a:r>
              <a:rPr lang="en-IE" sz="1800" dirty="0">
                <a:latin typeface="Courier New" charset="0"/>
                <a:ea typeface="Courier New" charset="0"/>
                <a:cs typeface="Courier New" charset="0"/>
              </a:rPr>
              <a:t>     //</a:t>
            </a:r>
          </a:p>
          <a:p>
            <a:pPr marL="0" indent="0">
              <a:buNone/>
            </a:pPr>
            <a:endParaRPr lang="en-IE" sz="1800" dirty="0">
              <a:latin typeface="Courier New" charset="0"/>
              <a:ea typeface="Courier New" charset="0"/>
              <a:cs typeface="Courier New" charset="0"/>
            </a:endParaRPr>
          </a:p>
          <a:p>
            <a:pPr marL="0" indent="0">
              <a:buNone/>
            </a:pPr>
            <a:r>
              <a:rPr lang="en-IE" sz="1600" b="1" dirty="0">
                <a:solidFill>
                  <a:srgbClr val="0070C0"/>
                </a:solidFill>
                <a:latin typeface="Courier New" charset="0"/>
                <a:ea typeface="Courier New" charset="0"/>
                <a:cs typeface="Courier New" charset="0"/>
              </a:rPr>
              <a:t>     </a:t>
            </a:r>
            <a:r>
              <a:rPr lang="en-IE" sz="1600" dirty="0">
                <a:solidFill>
                  <a:srgbClr val="0070C0"/>
                </a:solidFill>
                <a:latin typeface="Courier New" charset="0"/>
                <a:ea typeface="Courier New" charset="0"/>
                <a:cs typeface="Courier New" charset="0"/>
              </a:rPr>
              <a:t>public double </a:t>
            </a:r>
            <a:r>
              <a:rPr lang="en-IE" sz="1600" b="1" dirty="0" err="1">
                <a:solidFill>
                  <a:srgbClr val="0070C0"/>
                </a:solidFill>
                <a:latin typeface="Courier New" charset="0"/>
                <a:ea typeface="Courier New" charset="0"/>
                <a:cs typeface="Courier New" charset="0"/>
              </a:rPr>
              <a:t>calculateNetSalary</a:t>
            </a:r>
            <a:r>
              <a:rPr lang="en-IE" sz="1600" b="1" dirty="0">
                <a:solidFill>
                  <a:srgbClr val="0070C0"/>
                </a:solidFill>
                <a:latin typeface="Courier New" charset="0"/>
                <a:ea typeface="Courier New" charset="0"/>
                <a:cs typeface="Courier New" charset="0"/>
              </a:rPr>
              <a:t>()</a:t>
            </a:r>
          </a:p>
          <a:p>
            <a:pPr marL="0" indent="0">
              <a:buNone/>
            </a:pPr>
            <a:r>
              <a:rPr lang="en-IE" sz="1600" b="1" dirty="0">
                <a:solidFill>
                  <a:srgbClr val="0070C0"/>
                </a:solidFill>
                <a:latin typeface="Courier New" charset="0"/>
                <a:ea typeface="Courier New" charset="0"/>
                <a:cs typeface="Courier New" charset="0"/>
              </a:rPr>
              <a:t>     {</a:t>
            </a:r>
          </a:p>
          <a:p>
            <a:pPr marL="0" indent="0">
              <a:buNone/>
            </a:pPr>
            <a:r>
              <a:rPr lang="en-IE" sz="1600" b="1" dirty="0">
                <a:solidFill>
                  <a:srgbClr val="0070C0"/>
                </a:solidFill>
                <a:latin typeface="Courier New" charset="0"/>
                <a:ea typeface="Courier New" charset="0"/>
                <a:cs typeface="Courier New" charset="0"/>
              </a:rPr>
              <a:t>            </a:t>
            </a:r>
            <a:r>
              <a:rPr lang="en-IE" sz="1600" dirty="0">
                <a:solidFill>
                  <a:srgbClr val="0070C0"/>
                </a:solidFill>
                <a:latin typeface="Courier New" charset="0"/>
                <a:ea typeface="Courier New" charset="0"/>
                <a:cs typeface="Courier New" charset="0"/>
              </a:rPr>
              <a:t>return (salary – deductions);</a:t>
            </a:r>
          </a:p>
          <a:p>
            <a:pPr marL="0" indent="0">
              <a:buNone/>
            </a:pPr>
            <a:r>
              <a:rPr lang="en-IE" sz="1600" b="1" dirty="0">
                <a:solidFill>
                  <a:srgbClr val="0070C0"/>
                </a:solidFill>
                <a:latin typeface="Courier New" charset="0"/>
                <a:ea typeface="Courier New" charset="0"/>
                <a:cs typeface="Courier New" charset="0"/>
              </a:rPr>
              <a:t>     }</a:t>
            </a:r>
          </a:p>
          <a:p>
            <a:pPr marL="0" indent="0">
              <a:buNone/>
            </a:pPr>
            <a:endParaRPr lang="en-IE" sz="1600" b="1" dirty="0">
              <a:solidFill>
                <a:srgbClr val="0070C0"/>
              </a:solidFill>
              <a:latin typeface="Courier New" charset="0"/>
              <a:ea typeface="Courier New" charset="0"/>
              <a:cs typeface="Courier New" charset="0"/>
            </a:endParaRPr>
          </a:p>
          <a:p>
            <a:pPr marL="0" indent="0">
              <a:buNone/>
            </a:pPr>
            <a:r>
              <a:rPr lang="en-IE" sz="1800" dirty="0">
                <a:latin typeface="Courier New" charset="0"/>
                <a:ea typeface="Courier New" charset="0"/>
                <a:cs typeface="Courier New" charset="0"/>
              </a:rPr>
              <a:t>     public void </a:t>
            </a:r>
            <a:r>
              <a:rPr lang="en-IE" sz="1800" dirty="0" err="1">
                <a:latin typeface="Courier New" charset="0"/>
                <a:ea typeface="Courier New" charset="0"/>
                <a:cs typeface="Courier New" charset="0"/>
              </a:rPr>
              <a:t>setSalary</a:t>
            </a:r>
            <a:r>
              <a:rPr lang="en-IE" sz="1800" dirty="0">
                <a:latin typeface="Courier New" charset="0"/>
                <a:ea typeface="Courier New" charset="0"/>
                <a:cs typeface="Courier New" charset="0"/>
              </a:rPr>
              <a:t>(double salary)</a:t>
            </a:r>
          </a:p>
          <a:p>
            <a:pPr marL="0" indent="0">
              <a:buNone/>
            </a:pPr>
            <a:r>
              <a:rPr lang="en-IE" sz="1800" dirty="0">
                <a:latin typeface="Courier New" charset="0"/>
                <a:ea typeface="Courier New" charset="0"/>
                <a:cs typeface="Courier New" charset="0"/>
              </a:rPr>
              <a:t>     {</a:t>
            </a:r>
          </a:p>
          <a:p>
            <a:pPr marL="0" indent="0">
              <a:buNone/>
            </a:pPr>
            <a:r>
              <a:rPr lang="en-IE" sz="1800" dirty="0">
                <a:latin typeface="Courier New" charset="0"/>
                <a:ea typeface="Courier New" charset="0"/>
                <a:cs typeface="Courier New" charset="0"/>
              </a:rPr>
              <a:t>           </a:t>
            </a:r>
            <a:r>
              <a:rPr lang="en-IE" sz="1800" dirty="0" err="1">
                <a:latin typeface="Courier New" charset="0"/>
                <a:ea typeface="Courier New" charset="0"/>
                <a:cs typeface="Courier New" charset="0"/>
              </a:rPr>
              <a:t>this.salary</a:t>
            </a:r>
            <a:r>
              <a:rPr lang="en-IE" sz="1800" dirty="0">
                <a:latin typeface="Courier New" charset="0"/>
                <a:ea typeface="Courier New" charset="0"/>
                <a:cs typeface="Courier New" charset="0"/>
              </a:rPr>
              <a:t> = salary;   </a:t>
            </a:r>
          </a:p>
          <a:p>
            <a:pPr marL="0" indent="0">
              <a:buNone/>
            </a:pPr>
            <a:r>
              <a:rPr lang="en-IE" sz="1800" dirty="0">
                <a:latin typeface="Courier New" charset="0"/>
                <a:ea typeface="Courier New" charset="0"/>
                <a:cs typeface="Courier New" charset="0"/>
              </a:rPr>
              <a:t>     }</a:t>
            </a:r>
          </a:p>
          <a:p>
            <a:pPr marL="0" indent="0">
              <a:buNone/>
            </a:pPr>
            <a:r>
              <a:rPr lang="en-IE" sz="1800" dirty="0">
                <a:latin typeface="Courier New" charset="0"/>
                <a:ea typeface="Courier New" charset="0"/>
                <a:cs typeface="Courier New" charset="0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50480" y="2081242"/>
            <a:ext cx="3383280" cy="830997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400" dirty="0" err="1">
                <a:solidFill>
                  <a:srgbClr val="FF0000"/>
                </a:solidFill>
              </a:rPr>
              <a:t>netSalary</a:t>
            </a:r>
            <a:r>
              <a:rPr lang="en-IE" sz="2400" dirty="0">
                <a:solidFill>
                  <a:srgbClr val="FF0000"/>
                </a:solidFill>
              </a:rPr>
              <a:t> field </a:t>
            </a:r>
          </a:p>
          <a:p>
            <a:pPr marL="342900" indent="-342900">
              <a:buFont typeface="Arial" charset="0"/>
              <a:buChar char="•"/>
            </a:pPr>
            <a:r>
              <a:rPr lang="en-IE" sz="2400" dirty="0"/>
              <a:t>is no longer declared.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3419018"/>
            <a:ext cx="3352800" cy="1200329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400" b="1" dirty="0" err="1">
                <a:solidFill>
                  <a:srgbClr val="0070C0"/>
                </a:solidFill>
              </a:rPr>
              <a:t>calculateNetSalary</a:t>
            </a:r>
            <a:r>
              <a:rPr lang="en-IE" sz="2400" b="1" dirty="0">
                <a:solidFill>
                  <a:srgbClr val="0070C0"/>
                </a:solidFill>
              </a:rPr>
              <a:t>()</a:t>
            </a:r>
          </a:p>
          <a:p>
            <a:pPr marL="342900" indent="-342900">
              <a:buFont typeface="Arial" charset="0"/>
              <a:buChar char="•"/>
            </a:pPr>
            <a:r>
              <a:rPr lang="en-IE" sz="2400" dirty="0"/>
              <a:t>now returns the result </a:t>
            </a:r>
            <a:br>
              <a:rPr lang="en-IE" sz="2400" dirty="0"/>
            </a:br>
            <a:r>
              <a:rPr lang="en-IE" sz="2400" dirty="0"/>
              <a:t>of the calculation.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50480" y="5410200"/>
            <a:ext cx="3383280" cy="830997"/>
          </a:xfrm>
          <a:prstGeom prst="rect">
            <a:avLst/>
          </a:prstGeom>
          <a:solidFill>
            <a:srgbClr val="FCD6B5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400" dirty="0">
                <a:sym typeface="Wingdings" pitchFamily="2" charset="2"/>
              </a:rPr>
              <a:t>No calculated data is stored, so </a:t>
            </a:r>
            <a:r>
              <a:rPr lang="en-IE" sz="2400" b="1" dirty="0">
                <a:sym typeface="Wingdings" pitchFamily="2" charset="2"/>
              </a:rPr>
              <a:t>no stale data</a:t>
            </a:r>
            <a:r>
              <a:rPr lang="en-IE" sz="2400" dirty="0">
                <a:sym typeface="Wingdings" pitchFamily="2" charset="2"/>
              </a:rPr>
              <a:t>!</a:t>
            </a:r>
            <a:endParaRPr lang="en-IE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7175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9601200" cy="5105400"/>
          </a:xfrm>
        </p:spPr>
        <p:txBody>
          <a:bodyPr>
            <a:normAutofit fontScale="70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E" dirty="0"/>
              <a:t>Static Variables</a:t>
            </a:r>
          </a:p>
          <a:p>
            <a:pPr marL="914400" lvl="1" indent="-514350"/>
            <a:r>
              <a:rPr lang="en-IE" dirty="0"/>
              <a:t>Class variables</a:t>
            </a:r>
          </a:p>
          <a:p>
            <a:pPr marL="914400" lvl="1" indent="-514350"/>
            <a:r>
              <a:rPr lang="en-IE" dirty="0"/>
              <a:t>Shared between multiple instances</a:t>
            </a:r>
          </a:p>
          <a:p>
            <a:pPr marL="914400" lvl="1" indent="-514350"/>
            <a:r>
              <a:rPr lang="en-IE" dirty="0"/>
              <a:t>Add final turns it into a CONSTANT</a:t>
            </a:r>
          </a:p>
          <a:p>
            <a:endParaRPr lang="en-IE" dirty="0"/>
          </a:p>
          <a:p>
            <a:pPr marL="514350" indent="-514350">
              <a:buFont typeface="+mj-lt"/>
              <a:buAutoNum type="arabicPeriod" startAt="2"/>
            </a:pPr>
            <a:r>
              <a:rPr lang="en-IE" dirty="0"/>
              <a:t>Static Methods</a:t>
            </a:r>
          </a:p>
          <a:p>
            <a:pPr marL="914400" lvl="1" indent="-514350"/>
            <a:r>
              <a:rPr lang="en-IE" dirty="0"/>
              <a:t>Used for accessing static variables</a:t>
            </a:r>
          </a:p>
          <a:p>
            <a:endParaRPr lang="en-IE" dirty="0"/>
          </a:p>
          <a:p>
            <a:pPr marL="514350" indent="-514350">
              <a:buFont typeface="+mj-lt"/>
              <a:buAutoNum type="arabicPeriod" startAt="3"/>
            </a:pPr>
            <a:r>
              <a:rPr lang="en-IE" dirty="0"/>
              <a:t>Javadoc</a:t>
            </a:r>
          </a:p>
          <a:p>
            <a:pPr lvl="1"/>
            <a:r>
              <a:rPr lang="en-IE" dirty="0"/>
              <a:t>Modifying comments means we can run the Javadoc compiler on our code to generate the documentation similar to Java library documentation</a:t>
            </a:r>
          </a:p>
          <a:p>
            <a:endParaRPr lang="en-IE" dirty="0"/>
          </a:p>
          <a:p>
            <a:pPr marL="514350" indent="-514350">
              <a:buFont typeface="+mj-lt"/>
              <a:buAutoNum type="arabicPeriod" startAt="4"/>
            </a:pPr>
            <a:r>
              <a:rPr lang="en-IE" dirty="0"/>
              <a:t>Storing calculated data</a:t>
            </a:r>
          </a:p>
          <a:p>
            <a:pPr marL="914400" lvl="1" indent="-514350"/>
            <a:r>
              <a:rPr lang="en-IE" dirty="0"/>
              <a:t>Don’t!</a:t>
            </a:r>
          </a:p>
          <a:p>
            <a:pPr marL="914400" lvl="1" indent="-514350"/>
            <a:r>
              <a:rPr lang="en-IE" dirty="0"/>
              <a:t>Write a method instead to calculate at runtime</a:t>
            </a:r>
          </a:p>
          <a:p>
            <a:pPr marL="914400" lvl="1" indent="-514350"/>
            <a:r>
              <a:rPr lang="en-IE" dirty="0"/>
              <a:t>Avoids STALE data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847114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:\Users\Siobhan\AppData\Local\Microsoft\Windows\Temporary Internet Files\Content.IE5\D6SFLNVW\questions-2[1]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4200" y="1219200"/>
            <a:ext cx="4394200" cy="439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2686398" y="2589074"/>
            <a:ext cx="3485803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Any Questions?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5038132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2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5373</TotalTime>
  <Words>961</Words>
  <Application>Microsoft Office PowerPoint</Application>
  <PresentationFormat>Widescreen</PresentationFormat>
  <Paragraphs>224</Paragraphs>
  <Slides>22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Calibri</vt:lpstr>
      <vt:lpstr>Courier New</vt:lpstr>
      <vt:lpstr>Mangal</vt:lpstr>
      <vt:lpstr>Times</vt:lpstr>
      <vt:lpstr>Times New Roman</vt:lpstr>
      <vt:lpstr>Wingdings</vt:lpstr>
      <vt:lpstr>Office Theme</vt:lpstr>
      <vt:lpstr>Some miscellaneous concepts</vt:lpstr>
      <vt:lpstr>Topic List</vt:lpstr>
      <vt:lpstr>Instance vs Static (Class) Variables</vt:lpstr>
      <vt:lpstr>Instance vs Static (Class) Variables</vt:lpstr>
      <vt:lpstr>CONSTANTS</vt:lpstr>
      <vt:lpstr>Topic List</vt:lpstr>
      <vt:lpstr>Static Methods</vt:lpstr>
      <vt:lpstr>Static Methods</vt:lpstr>
      <vt:lpstr>Topic List</vt:lpstr>
      <vt:lpstr>Writing class documentation</vt:lpstr>
      <vt:lpstr>Example of Library Documentation</vt:lpstr>
      <vt:lpstr>Elements of documentation - class</vt:lpstr>
      <vt:lpstr>Elements of documentation - methods</vt:lpstr>
      <vt:lpstr>Javadoc</vt:lpstr>
      <vt:lpstr>Javadoc</vt:lpstr>
      <vt:lpstr>Javadoc</vt:lpstr>
      <vt:lpstr>Topic List</vt:lpstr>
      <vt:lpstr>PowerPoint Presentation</vt:lpstr>
      <vt:lpstr>Calculated data</vt:lpstr>
      <vt:lpstr>Calculated data</vt:lpstr>
      <vt:lpstr>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Static methods etc.</dc:title>
  <dc:creator>Siobhan Drohan</dc:creator>
  <cp:lastModifiedBy>Siobhan Roche</cp:lastModifiedBy>
  <cp:revision>139</cp:revision>
  <cp:lastPrinted>2018-03-30T20:31:04Z</cp:lastPrinted>
  <dcterms:created xsi:type="dcterms:W3CDTF">2006-08-16T00:00:00Z</dcterms:created>
  <dcterms:modified xsi:type="dcterms:W3CDTF">2024-02-13T16:58:49Z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AB95D882-8808-4906-B73B-FA28CDFE2DCC</vt:lpwstr>
  </property>
  <property fmtid="{D5CDD505-2E9C-101B-9397-08002B2CF9AE}" pid="3" name="ArticulatePath">
    <vt:lpwstr>b-prog-fund-2-misc-concepts</vt:lpwstr>
  </property>
</Properties>
</file>