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417" r:id="rId3"/>
    <p:sldId id="429" r:id="rId4"/>
    <p:sldId id="424" r:id="rId5"/>
    <p:sldId id="420" r:id="rId6"/>
    <p:sldId id="426" r:id="rId7"/>
    <p:sldId id="428" r:id="rId8"/>
    <p:sldId id="403" r:id="rId9"/>
    <p:sldId id="415" r:id="rId10"/>
    <p:sldId id="405" r:id="rId11"/>
    <p:sldId id="406" r:id="rId12"/>
    <p:sldId id="407" r:id="rId13"/>
    <p:sldId id="408" r:id="rId14"/>
    <p:sldId id="422" r:id="rId15"/>
    <p:sldId id="430" r:id="rId16"/>
    <p:sldId id="436" r:id="rId17"/>
    <p:sldId id="434" r:id="rId18"/>
    <p:sldId id="419" r:id="rId19"/>
    <p:sldId id="435" r:id="rId20"/>
    <p:sldId id="443" r:id="rId21"/>
    <p:sldId id="444" r:id="rId22"/>
    <p:sldId id="446" r:id="rId23"/>
    <p:sldId id="448" r:id="rId24"/>
    <p:sldId id="418" r:id="rId25"/>
    <p:sldId id="626" r:id="rId26"/>
  </p:sldIdLst>
  <p:sldSz cx="12192000" cy="6858000"/>
  <p:notesSz cx="6858000" cy="9144000"/>
  <p:custDataLst>
    <p:tags r:id="rId2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06" autoAdjust="0"/>
    <p:restoredTop sz="94558"/>
  </p:normalViewPr>
  <p:slideViewPr>
    <p:cSldViewPr>
      <p:cViewPr varScale="1">
        <p:scale>
          <a:sx n="90" d="100"/>
          <a:sy n="90" d="100"/>
        </p:scale>
        <p:origin x="269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BC3C30-7F3D-4B20-9974-47C57B22CA6E}" type="datetimeFigureOut">
              <a:rPr lang="en-IE" smtClean="0"/>
              <a:t>10/02/2026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09BE90-ABBD-4931-8E0C-089E0ACACA6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9818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7D91168-DD61-401D-B908-CAD61D62C718}" type="slidenum">
              <a:rPr lang="en-IE"/>
              <a:pPr/>
              <a:t>8</a:t>
            </a:fld>
            <a:endParaRPr lang="en-IE"/>
          </a:p>
        </p:txBody>
      </p:sp>
      <p:sp>
        <p:nvSpPr>
          <p:cNvPr id="143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3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E" dirty="0"/>
              <a:t>© Judith Bishop(2001), Java Gently, Third Edition, Addison-Wesley</a:t>
            </a:r>
          </a:p>
          <a:p>
            <a:endParaRPr lang="en-GB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9341621-3A58-4EAB-AAB9-11DF99D5B3A5}" type="slidenum">
              <a:rPr lang="en-IE"/>
              <a:pPr/>
              <a:t>9</a:t>
            </a:fld>
            <a:endParaRPr lang="en-IE"/>
          </a:p>
        </p:txBody>
      </p:sp>
      <p:sp>
        <p:nvSpPr>
          <p:cNvPr id="168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89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buFontTx/>
              <a:buChar char="•"/>
            </a:pPr>
            <a:r>
              <a:rPr lang="en-IE" sz="900" dirty="0" err="1">
                <a:cs typeface="Times New Roman" pitchFamily="18" charset="0"/>
              </a:rPr>
              <a:t>NullPointerException</a:t>
            </a:r>
            <a:r>
              <a:rPr lang="en-IE" sz="900" dirty="0">
                <a:cs typeface="Times New Roman" pitchFamily="18" charset="0"/>
              </a:rPr>
              <a:t> ().</a:t>
            </a:r>
            <a:r>
              <a:rPr lang="en-GB" sz="900" dirty="0">
                <a:cs typeface="Times New Roman" pitchFamily="18" charset="0"/>
              </a:rPr>
              <a:t> </a:t>
            </a:r>
            <a:endParaRPr lang="en-IE" sz="900" dirty="0">
              <a:cs typeface="Times New Roman" pitchFamily="18" charset="0"/>
            </a:endParaRPr>
          </a:p>
          <a:p>
            <a:endParaRPr lang="en-IE" sz="900" dirty="0">
              <a:cs typeface="Times New Roman" pitchFamily="18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35777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0C0C81B-54E0-4A88-A5BF-7C4220889EB7}" type="slidenum">
              <a:rPr lang="en-IE"/>
              <a:pPr/>
              <a:t>10</a:t>
            </a:fld>
            <a:endParaRPr lang="en-IE"/>
          </a:p>
        </p:txBody>
      </p:sp>
      <p:sp>
        <p:nvSpPr>
          <p:cNvPr id="156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66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0C0C81B-54E0-4A88-A5BF-7C4220889EB7}" type="slidenum">
              <a:rPr lang="en-IE"/>
              <a:pPr/>
              <a:t>11</a:t>
            </a:fld>
            <a:endParaRPr lang="en-IE"/>
          </a:p>
        </p:txBody>
      </p:sp>
      <p:sp>
        <p:nvSpPr>
          <p:cNvPr id="156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66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24BBD43-3B37-426D-820D-6366311CC50C}" type="slidenum">
              <a:rPr lang="en-IE"/>
              <a:pPr/>
              <a:t>12</a:t>
            </a:fld>
            <a:endParaRPr lang="en-IE"/>
          </a:p>
        </p:txBody>
      </p:sp>
      <p:sp>
        <p:nvSpPr>
          <p:cNvPr id="158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87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E" dirty="0"/>
              <a:t>© Judith Bishop(2001), Java Gently, Third Edition, Addison-Wesley</a:t>
            </a:r>
          </a:p>
          <a:p>
            <a:endParaRPr lang="en-GB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S = start</a:t>
            </a:r>
          </a:p>
          <a:p>
            <a:r>
              <a:rPr lang="en-IE" dirty="0"/>
              <a:t>E = end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13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0013431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21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7755246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22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98442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23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023628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tif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4" Type="http://schemas.openxmlformats.org/officeDocument/2006/relationships/image" Target="../media/image1.tif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1.tif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1.tif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4" Type="http://schemas.openxmlformats.org/officeDocument/2006/relationships/image" Target="../media/image1.tif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75641" y="914401"/>
            <a:ext cx="7772400" cy="1470025"/>
          </a:xfrm>
        </p:spPr>
        <p:txBody>
          <a:bodyPr>
            <a:normAutofit/>
          </a:bodyPr>
          <a:lstStyle/>
          <a:p>
            <a:pPr algn="l"/>
            <a:r>
              <a:rPr lang="en-IE" sz="4000" dirty="0"/>
              <a:t>Exception Handling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38300" y="3810000"/>
            <a:ext cx="1866900" cy="1066800"/>
          </a:xfrm>
        </p:spPr>
        <p:txBody>
          <a:bodyPr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Produced 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by: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2251841" y="3124200"/>
            <a:ext cx="762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"/>
          <p:cNvSpPr txBox="1">
            <a:spLocks/>
          </p:cNvSpPr>
          <p:nvPr/>
        </p:nvSpPr>
        <p:spPr>
          <a:xfrm>
            <a:off x="2175641" y="2133601"/>
            <a:ext cx="7772400" cy="936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E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Handling invalid user input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68A713-3A92-43D7-9854-D52C90EF7929}"/>
              </a:ext>
            </a:extLst>
          </p:cNvPr>
          <p:cNvSpPr txBox="1"/>
          <p:nvPr/>
        </p:nvSpPr>
        <p:spPr>
          <a:xfrm>
            <a:off x="3733800" y="3810001"/>
            <a:ext cx="3581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Dr.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Siobhán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Drohan</a:t>
            </a:r>
            <a:endParaRPr lang="en-IE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Mairéad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Meagher</a:t>
            </a: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 Siobhan Roche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7200" y="1393825"/>
            <a:ext cx="1524000" cy="1524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BF5589C-8BF7-EC9B-DCA0-84C6F4A1E020}"/>
              </a:ext>
            </a:extLst>
          </p:cNvPr>
          <p:cNvSpPr txBox="1"/>
          <p:nvPr/>
        </p:nvSpPr>
        <p:spPr>
          <a:xfrm>
            <a:off x="7336971" y="5849826"/>
            <a:ext cx="40727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600" dirty="0"/>
              <a:t>Department of Computing and Mathematics</a:t>
            </a:r>
          </a:p>
          <a:p>
            <a:r>
              <a:rPr lang="en-IE" sz="1600" dirty="0"/>
              <a:t>http://www.setu.ie/</a:t>
            </a:r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7B67BC2A-1BD4-FFBE-B857-A92B888C2D8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41" y="5501441"/>
            <a:ext cx="2286000" cy="1281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371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3784" r="3363" b="-1"/>
          <a:stretch/>
        </p:blipFill>
        <p:spPr>
          <a:xfrm>
            <a:off x="6400800" y="457200"/>
            <a:ext cx="3229043" cy="231422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t="1363" b="4074"/>
          <a:stretch/>
        </p:blipFill>
        <p:spPr>
          <a:xfrm>
            <a:off x="3974903" y="3277494"/>
            <a:ext cx="4296411" cy="3047107"/>
          </a:xfrm>
          <a:prstGeom prst="rect">
            <a:avLst/>
          </a:prstGeom>
        </p:spPr>
      </p:pic>
      <p:pic>
        <p:nvPicPr>
          <p:cNvPr id="5" name="Content Placeholder 3"/>
          <p:cNvPicPr>
            <a:picLocks noChangeAspect="1"/>
          </p:cNvPicPr>
          <p:nvPr/>
        </p:nvPicPr>
        <p:blipFill rotWithShape="1">
          <a:blip r:embed="rId4"/>
          <a:srcRect l="78" t="-1" r="331" b="-1"/>
          <a:stretch/>
        </p:blipFill>
        <p:spPr>
          <a:xfrm>
            <a:off x="2438400" y="457200"/>
            <a:ext cx="3073004" cy="2314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1048717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EB3BC-371E-4329-8FEF-E01B9346B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>
            <a:normAutofit/>
          </a:bodyPr>
          <a:lstStyle/>
          <a:p>
            <a:r>
              <a:rPr lang="en-GB" dirty="0"/>
              <a:t>Lab01b, Step 3 – </a:t>
            </a:r>
            <a:r>
              <a:rPr lang="en-GB" dirty="0" err="1"/>
              <a:t>InputMismatch</a:t>
            </a:r>
            <a:r>
              <a:rPr lang="en-GB" dirty="0"/>
              <a:t> Exceptions</a:t>
            </a:r>
            <a:endParaRPr lang="en-V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91BED1-433D-4A00-9E73-68716741C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2"/>
            <a:ext cx="10972800" cy="1143000"/>
          </a:xfrm>
        </p:spPr>
        <p:txBody>
          <a:bodyPr>
            <a:normAutofit/>
          </a:bodyPr>
          <a:lstStyle/>
          <a:p>
            <a:r>
              <a:rPr lang="en-GB" sz="2800" dirty="0"/>
              <a:t>Do you remember, in our first week, we crashed our ShopV1.0 project with an </a:t>
            </a:r>
            <a:r>
              <a:rPr lang="en-GB" sz="2800" dirty="0" err="1"/>
              <a:t>InputMismatchException</a:t>
            </a:r>
            <a:r>
              <a:rPr lang="en-GB" sz="2800" dirty="0"/>
              <a:t>:</a:t>
            </a:r>
            <a:endParaRPr lang="en-VI" sz="2800" dirty="0"/>
          </a:p>
        </p:txBody>
      </p:sp>
      <p:pic>
        <p:nvPicPr>
          <p:cNvPr id="1026" name="Picture 2" descr="call stack dump">
            <a:extLst>
              <a:ext uri="{FF2B5EF4-FFF2-40B4-BE49-F238E27FC236}">
                <a16:creationId xmlns:a16="http://schemas.microsoft.com/office/drawing/2014/main" id="{7713DA40-94B0-4BAB-A45A-6F45D96EBE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2975" y="3638550"/>
            <a:ext cx="7362825" cy="31432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rrow: Down 5">
            <a:extLst>
              <a:ext uri="{FF2B5EF4-FFF2-40B4-BE49-F238E27FC236}">
                <a16:creationId xmlns:a16="http://schemas.microsoft.com/office/drawing/2014/main" id="{0047A4BE-9699-496C-85AD-07E5B5CB6395}"/>
              </a:ext>
            </a:extLst>
          </p:cNvPr>
          <p:cNvSpPr/>
          <p:nvPr/>
        </p:nvSpPr>
        <p:spPr>
          <a:xfrm>
            <a:off x="9067800" y="2991779"/>
            <a:ext cx="484632" cy="158022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B3349D91-B043-482C-9886-8B90F40FCCB9}"/>
              </a:ext>
            </a:extLst>
          </p:cNvPr>
          <p:cNvSpPr/>
          <p:nvPr/>
        </p:nvSpPr>
        <p:spPr>
          <a:xfrm rot="5400000">
            <a:off x="8825483" y="5550936"/>
            <a:ext cx="484632" cy="158022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A8419B-D303-4B2F-8244-B6755448F8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194" y="3357551"/>
            <a:ext cx="3116006" cy="334804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FFACE55-0818-4DF4-B739-2EA3B80EF15D}"/>
              </a:ext>
            </a:extLst>
          </p:cNvPr>
          <p:cNvSpPr/>
          <p:nvPr/>
        </p:nvSpPr>
        <p:spPr>
          <a:xfrm>
            <a:off x="922594" y="5783388"/>
            <a:ext cx="2339518" cy="457202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328872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EB3BC-371E-4329-8FEF-E01B9346B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>
            <a:normAutofit/>
          </a:bodyPr>
          <a:lstStyle/>
          <a:p>
            <a:r>
              <a:rPr lang="en-GB" dirty="0"/>
              <a:t>Lab01b, Step 3 – </a:t>
            </a:r>
            <a:r>
              <a:rPr lang="en-GB" dirty="0" err="1"/>
              <a:t>InputMismatch</a:t>
            </a:r>
            <a:r>
              <a:rPr lang="en-GB" dirty="0"/>
              <a:t> Exceptions</a:t>
            </a:r>
            <a:endParaRPr lang="en-VI" dirty="0"/>
          </a:p>
        </p:txBody>
      </p:sp>
      <p:pic>
        <p:nvPicPr>
          <p:cNvPr id="1026" name="Picture 2" descr="call stack dump">
            <a:extLst>
              <a:ext uri="{FF2B5EF4-FFF2-40B4-BE49-F238E27FC236}">
                <a16:creationId xmlns:a16="http://schemas.microsoft.com/office/drawing/2014/main" id="{7713DA40-94B0-4BAB-A45A-6F45D96EBE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2975" y="3638550"/>
            <a:ext cx="7362825" cy="31432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Arrow: Down 7">
            <a:extLst>
              <a:ext uri="{FF2B5EF4-FFF2-40B4-BE49-F238E27FC236}">
                <a16:creationId xmlns:a16="http://schemas.microsoft.com/office/drawing/2014/main" id="{B3349D91-B043-482C-9886-8B90F40FCCB9}"/>
              </a:ext>
            </a:extLst>
          </p:cNvPr>
          <p:cNvSpPr/>
          <p:nvPr/>
        </p:nvSpPr>
        <p:spPr>
          <a:xfrm rot="5400000">
            <a:off x="10834794" y="4662381"/>
            <a:ext cx="484632" cy="158022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FFF644F6-AF81-4DEA-857C-40D0B5009A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571986"/>
            <a:ext cx="11141122" cy="1631216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1F2937"/>
                </a:solidFill>
                <a:effectLst/>
                <a:latin typeface="+mn-lt"/>
              </a:rPr>
              <a:t>The program crashed because we were expecting the user to type in an </a:t>
            </a:r>
            <a:r>
              <a:rPr kumimoji="0" lang="en-VI" altLang="en-VI" sz="2000" b="1" i="0" u="none" strike="noStrike" cap="none" normalizeH="0" baseline="0" dirty="0">
                <a:ln>
                  <a:noFill/>
                </a:ln>
                <a:solidFill>
                  <a:srgbClr val="1F2937"/>
                </a:solidFill>
                <a:effectLst/>
                <a:latin typeface="+mn-lt"/>
              </a:rPr>
              <a:t>int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1F2937"/>
                </a:solidFill>
                <a:effectLst/>
                <a:latin typeface="+mn-lt"/>
              </a:rPr>
              <a:t> for </a:t>
            </a:r>
            <a:r>
              <a:rPr kumimoji="0" lang="en-VI" altLang="en-VI" sz="2000" b="0" i="1" u="none" strike="noStrike" cap="none" normalizeH="0" baseline="0" dirty="0">
                <a:ln>
                  <a:noFill/>
                </a:ln>
                <a:solidFill>
                  <a:srgbClr val="1F2937"/>
                </a:solidFill>
                <a:effectLst/>
                <a:latin typeface="+mn-lt"/>
              </a:rPr>
              <a:t>Product Code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1F2937"/>
                </a:solidFill>
                <a:effectLst/>
                <a:latin typeface="+mn-lt"/>
              </a:rPr>
              <a:t>, however they typed in a </a:t>
            </a:r>
            <a:r>
              <a:rPr kumimoji="0" lang="en-VI" altLang="en-VI" sz="2000" b="0" i="1" u="none" strike="noStrike" cap="none" normalizeH="0" baseline="0" dirty="0">
                <a:ln>
                  <a:noFill/>
                </a:ln>
                <a:solidFill>
                  <a:srgbClr val="1F2937"/>
                </a:solidFill>
                <a:effectLst/>
                <a:latin typeface="+mn-lt"/>
              </a:rPr>
              <a:t>String</a:t>
            </a:r>
            <a:r>
              <a:rPr kumimoji="0" lang="en-GB" altLang="en-VI" sz="2000" b="0" i="1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+mn-lt"/>
              </a:rPr>
              <a:t>, iPhone11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+mn-lt"/>
              </a:rPr>
              <a:t>. </a:t>
            </a:r>
            <a:endParaRPr lang="en-GB" altLang="en-VI" sz="2000" dirty="0">
              <a:solidFill>
                <a:srgbClr val="00B050"/>
              </a:solidFill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altLang="en-VI" sz="2000" b="0" i="0" u="none" strike="noStrike" cap="none" normalizeH="0" baseline="0" dirty="0">
              <a:ln>
                <a:noFill/>
              </a:ln>
              <a:solidFill>
                <a:srgbClr val="1F2937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1F2937"/>
                </a:solidFill>
                <a:effectLst/>
                <a:latin typeface="+mn-lt"/>
              </a:rPr>
              <a:t>We used a Scanner method </a:t>
            </a:r>
            <a:r>
              <a:rPr kumimoji="0" lang="en-VI" altLang="en-VI" sz="2000" b="1" i="0" u="none" strike="noStrike" cap="none" normalizeH="0" baseline="0" dirty="0" err="1">
                <a:ln>
                  <a:noFill/>
                </a:ln>
                <a:solidFill>
                  <a:srgbClr val="1F2937"/>
                </a:solidFill>
                <a:effectLst/>
                <a:latin typeface="+mn-lt"/>
              </a:rPr>
              <a:t>nextInt</a:t>
            </a:r>
            <a:r>
              <a:rPr kumimoji="0" lang="en-VI" altLang="en-VI" sz="2000" b="1" i="0" u="none" strike="noStrike" cap="none" normalizeH="0" baseline="0" dirty="0">
                <a:ln>
                  <a:noFill/>
                </a:ln>
                <a:solidFill>
                  <a:srgbClr val="1F2937"/>
                </a:solidFill>
                <a:effectLst/>
                <a:latin typeface="+mn-lt"/>
              </a:rPr>
              <a:t>()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1F2937"/>
                </a:solidFill>
                <a:effectLst/>
                <a:latin typeface="+mn-lt"/>
              </a:rPr>
              <a:t> to read this input </a:t>
            </a:r>
            <a:r>
              <a:rPr kumimoji="0" lang="en-GB" altLang="en-VI" sz="2000" b="0" i="0" u="none" strike="noStrike" cap="none" normalizeH="0" baseline="0" dirty="0">
                <a:ln>
                  <a:noFill/>
                </a:ln>
                <a:solidFill>
                  <a:srgbClr val="1F2937"/>
                </a:solidFill>
                <a:effectLst/>
                <a:latin typeface="+mn-lt"/>
              </a:rPr>
              <a:t>but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1F2937"/>
                </a:solidFill>
                <a:effectLst/>
                <a:latin typeface="+mn-lt"/>
              </a:rPr>
              <a:t> as </a:t>
            </a:r>
            <a:r>
              <a:rPr kumimoji="0" lang="en-GB" altLang="en-VI" sz="2000" b="0" i="0" u="none" strike="noStrike" cap="none" normalizeH="0" baseline="0" dirty="0">
                <a:ln>
                  <a:noFill/>
                </a:ln>
                <a:solidFill>
                  <a:srgbClr val="1F2937"/>
                </a:solidFill>
                <a:effectLst/>
                <a:latin typeface="+mn-lt"/>
              </a:rPr>
              <a:t>the input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1F2937"/>
                </a:solidFill>
                <a:effectLst/>
                <a:latin typeface="+mn-lt"/>
              </a:rPr>
              <a:t> was a String, the program couldn't handle it, so it crashed.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1BA8031-5F42-41C6-855F-F31EBBD6C0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194" y="3357551"/>
            <a:ext cx="3116006" cy="334804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E8C663D-528C-42AD-94D9-B7DF909E52A4}"/>
              </a:ext>
            </a:extLst>
          </p:cNvPr>
          <p:cNvSpPr/>
          <p:nvPr/>
        </p:nvSpPr>
        <p:spPr>
          <a:xfrm>
            <a:off x="922594" y="5783388"/>
            <a:ext cx="2339518" cy="457202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1332720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EB3BC-371E-4329-8FEF-E01B9346B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>
            <a:normAutofit/>
          </a:bodyPr>
          <a:lstStyle/>
          <a:p>
            <a:r>
              <a:rPr lang="en-GB" dirty="0"/>
              <a:t>Lab01b, Step 3 – </a:t>
            </a:r>
            <a:r>
              <a:rPr lang="en-GB" dirty="0" err="1"/>
              <a:t>InputMismatch</a:t>
            </a:r>
            <a:r>
              <a:rPr lang="en-GB" dirty="0"/>
              <a:t> Exceptions</a:t>
            </a:r>
            <a:endParaRPr lang="en-VI" dirty="0"/>
          </a:p>
        </p:txBody>
      </p:sp>
      <p:pic>
        <p:nvPicPr>
          <p:cNvPr id="1026" name="Picture 2" descr="call stack dump">
            <a:extLst>
              <a:ext uri="{FF2B5EF4-FFF2-40B4-BE49-F238E27FC236}">
                <a16:creationId xmlns:a16="http://schemas.microsoft.com/office/drawing/2014/main" id="{7713DA40-94B0-4BAB-A45A-6F45D96EBE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2975" y="3638550"/>
            <a:ext cx="7362825" cy="31432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Arrow: Down 7">
            <a:extLst>
              <a:ext uri="{FF2B5EF4-FFF2-40B4-BE49-F238E27FC236}">
                <a16:creationId xmlns:a16="http://schemas.microsoft.com/office/drawing/2014/main" id="{B3349D91-B043-482C-9886-8B90F40FCCB9}"/>
              </a:ext>
            </a:extLst>
          </p:cNvPr>
          <p:cNvSpPr/>
          <p:nvPr/>
        </p:nvSpPr>
        <p:spPr>
          <a:xfrm rot="5400000">
            <a:off x="8777394" y="5167206"/>
            <a:ext cx="484632" cy="158022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  <p:pic>
        <p:nvPicPr>
          <p:cNvPr id="1029" name="Picture 5" descr="addProduct method call">
            <a:extLst>
              <a:ext uri="{FF2B5EF4-FFF2-40B4-BE49-F238E27FC236}">
                <a16:creationId xmlns:a16="http://schemas.microsoft.com/office/drawing/2014/main" id="{0E7FC665-DD13-445C-8694-1C219D9A04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464"/>
          <a:stretch/>
        </p:blipFill>
        <p:spPr bwMode="auto">
          <a:xfrm>
            <a:off x="234958" y="1600200"/>
            <a:ext cx="5251441" cy="31726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96018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all stack dump">
            <a:extLst>
              <a:ext uri="{FF2B5EF4-FFF2-40B4-BE49-F238E27FC236}">
                <a16:creationId xmlns:a16="http://schemas.microsoft.com/office/drawing/2014/main" id="{7713DA40-94B0-4BAB-A45A-6F45D96EBE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2975" y="3638550"/>
            <a:ext cx="7362825" cy="31432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Arrow: Down 7">
            <a:extLst>
              <a:ext uri="{FF2B5EF4-FFF2-40B4-BE49-F238E27FC236}">
                <a16:creationId xmlns:a16="http://schemas.microsoft.com/office/drawing/2014/main" id="{B3349D91-B043-482C-9886-8B90F40FCCB9}"/>
              </a:ext>
            </a:extLst>
          </p:cNvPr>
          <p:cNvSpPr/>
          <p:nvPr/>
        </p:nvSpPr>
        <p:spPr>
          <a:xfrm rot="5400000">
            <a:off x="9234594" y="4938606"/>
            <a:ext cx="484632" cy="158022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  <p:pic>
        <p:nvPicPr>
          <p:cNvPr id="6" name="Picture 2" descr="Scanner int read">
            <a:extLst>
              <a:ext uri="{FF2B5EF4-FFF2-40B4-BE49-F238E27FC236}">
                <a16:creationId xmlns:a16="http://schemas.microsoft.com/office/drawing/2014/main" id="{E3948876-149A-4E28-BA98-9D59794CEA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76200"/>
            <a:ext cx="7524750" cy="49149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27513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EB3BC-371E-4329-8FEF-E01B9346B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What are Exceptions?</a:t>
            </a:r>
            <a:endParaRPr lang="en-V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0253BF-D6A7-4B00-A0CB-6E6102CB72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sz="3200" dirty="0"/>
              <a:t>An Exception is an object that signals that some </a:t>
            </a:r>
            <a:r>
              <a:rPr lang="en-IE" sz="3200" b="1" dirty="0"/>
              <a:t>unusual condition</a:t>
            </a:r>
            <a:r>
              <a:rPr lang="en-IE" sz="3200" dirty="0"/>
              <a:t> has occurred while the program is executing.  </a:t>
            </a:r>
          </a:p>
          <a:p>
            <a:endParaRPr lang="en-IE" sz="3200" dirty="0"/>
          </a:p>
          <a:p>
            <a:r>
              <a:rPr lang="en-IE" sz="3200" dirty="0"/>
              <a:t>Exceptions are intended to be </a:t>
            </a:r>
            <a:r>
              <a:rPr lang="en-IE" sz="3200" i="1" dirty="0">
                <a:solidFill>
                  <a:srgbClr val="FF0000"/>
                </a:solidFill>
              </a:rPr>
              <a:t>detected</a:t>
            </a:r>
            <a:r>
              <a:rPr lang="en-IE" sz="3200" dirty="0">
                <a:solidFill>
                  <a:srgbClr val="FF0000"/>
                </a:solidFill>
              </a:rPr>
              <a:t> </a:t>
            </a:r>
            <a:r>
              <a:rPr lang="en-IE" sz="3200" dirty="0"/>
              <a:t>and </a:t>
            </a:r>
            <a:r>
              <a:rPr lang="en-IE" sz="3200" i="1" dirty="0">
                <a:solidFill>
                  <a:srgbClr val="FF0000"/>
                </a:solidFill>
              </a:rPr>
              <a:t>handled</a:t>
            </a:r>
            <a:r>
              <a:rPr lang="en-IE" sz="3200" dirty="0"/>
              <a:t>, so that the program can continue in a sensible way if at all possible.</a:t>
            </a:r>
          </a:p>
          <a:p>
            <a:endParaRPr lang="en-IE" sz="3200" dirty="0"/>
          </a:p>
          <a:p>
            <a:r>
              <a:rPr lang="en-IE" sz="3200" dirty="0"/>
              <a:t>Java has many </a:t>
            </a:r>
            <a:r>
              <a:rPr lang="en-IE" sz="3200" b="1" dirty="0"/>
              <a:t>predefined Exception objects</a:t>
            </a:r>
            <a:r>
              <a:rPr lang="en-IE" sz="3200" dirty="0"/>
              <a:t>.  </a:t>
            </a:r>
          </a:p>
          <a:p>
            <a:endParaRPr lang="en-VI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E055B9-EB87-4DC3-B332-3E05443B18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9400" y="122238"/>
            <a:ext cx="1295400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0395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When an exception occurs…</a:t>
            </a:r>
          </a:p>
        </p:txBody>
      </p:sp>
      <p:sp>
        <p:nvSpPr>
          <p:cNvPr id="142339" name="Rectangle 3"/>
          <p:cNvSpPr>
            <a:spLocks noGrp="1" noChangeArrowheads="1"/>
          </p:cNvSpPr>
          <p:nvPr>
            <p:ph idx="1"/>
          </p:nvPr>
        </p:nvSpPr>
        <p:spPr>
          <a:xfrm>
            <a:off x="1790700" y="1600201"/>
            <a:ext cx="8610600" cy="45259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IE" dirty="0"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IE" i="1" dirty="0">
                <a:cs typeface="Times New Roman" pitchFamily="18" charset="0"/>
              </a:rPr>
              <a:t>...the normal flow of execution is disrupted </a:t>
            </a:r>
            <a:br>
              <a:rPr lang="en-IE" i="1" dirty="0">
                <a:cs typeface="Times New Roman" pitchFamily="18" charset="0"/>
              </a:rPr>
            </a:br>
            <a:r>
              <a:rPr lang="en-IE" i="1" dirty="0">
                <a:cs typeface="Times New Roman" pitchFamily="18" charset="0"/>
              </a:rPr>
              <a:t>and transferred to code, </a:t>
            </a:r>
            <a:br>
              <a:rPr lang="en-IE" i="1" dirty="0">
                <a:cs typeface="Times New Roman" pitchFamily="18" charset="0"/>
              </a:rPr>
            </a:br>
            <a:r>
              <a:rPr lang="en-IE" i="1" dirty="0">
                <a:cs typeface="Times New Roman" pitchFamily="18" charset="0"/>
              </a:rPr>
              <a:t>which can handle the exception condition.  </a:t>
            </a:r>
          </a:p>
          <a:p>
            <a:pPr marL="0" indent="0" algn="ctr">
              <a:buNone/>
            </a:pPr>
            <a:endParaRPr lang="en-IE" dirty="0"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IE" b="1" dirty="0">
                <a:cs typeface="Times New Roman" pitchFamily="18" charset="0"/>
              </a:rPr>
              <a:t>The exception mechanism is a lot cleaner </a:t>
            </a:r>
            <a:br>
              <a:rPr lang="en-IE" b="1" dirty="0">
                <a:cs typeface="Times New Roman" pitchFamily="18" charset="0"/>
              </a:rPr>
            </a:br>
            <a:r>
              <a:rPr lang="en-IE" b="1" dirty="0">
                <a:cs typeface="Times New Roman" pitchFamily="18" charset="0"/>
              </a:rPr>
              <a:t>than having to check an error value </a:t>
            </a:r>
            <a:br>
              <a:rPr lang="en-IE" b="1" dirty="0">
                <a:cs typeface="Times New Roman" pitchFamily="18" charset="0"/>
              </a:rPr>
            </a:br>
            <a:r>
              <a:rPr lang="en-IE" b="1" dirty="0">
                <a:cs typeface="Times New Roman" pitchFamily="18" charset="0"/>
              </a:rPr>
              <a:t>after every method call that could potentially fail. </a:t>
            </a:r>
            <a:r>
              <a:rPr lang="en-IE" b="1" dirty="0"/>
              <a:t> </a:t>
            </a:r>
            <a:endParaRPr lang="en-GB" b="1" dirty="0">
              <a:cs typeface="Times New Roman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2500B0-2A11-4EEF-B273-72653F9634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9400" y="122238"/>
            <a:ext cx="1295400" cy="1295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58555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dirty="0" err="1"/>
              <a:t>RuntimeException</a:t>
            </a:r>
            <a:r>
              <a:rPr lang="en-US" dirty="0"/>
              <a:t>…</a:t>
            </a:r>
          </a:p>
        </p:txBody>
      </p:sp>
      <p:sp>
        <p:nvSpPr>
          <p:cNvPr id="16793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E" sz="2800" dirty="0">
                <a:cs typeface="Times New Roman" pitchFamily="18" charset="0"/>
              </a:rPr>
              <a:t>is a subclass of the Exception </a:t>
            </a:r>
            <a:r>
              <a:rPr lang="en-IE" sz="2800" b="1" dirty="0">
                <a:cs typeface="Times New Roman" pitchFamily="18" charset="0"/>
              </a:rPr>
              <a:t>class</a:t>
            </a:r>
            <a:r>
              <a:rPr lang="en-IE" sz="2800" dirty="0">
                <a:cs typeface="Times New Roman" pitchFamily="18" charset="0"/>
              </a:rPr>
              <a:t>.</a:t>
            </a:r>
          </a:p>
          <a:p>
            <a:pPr>
              <a:lnSpc>
                <a:spcPct val="90000"/>
              </a:lnSpc>
            </a:pPr>
            <a:r>
              <a:rPr lang="en-IE" sz="2800" dirty="0">
                <a:cs typeface="Times New Roman" pitchFamily="18" charset="0"/>
              </a:rPr>
              <a:t>encompasses all exceptions which can ordinarily happen at run-time.</a:t>
            </a:r>
          </a:p>
          <a:p>
            <a:pPr>
              <a:lnSpc>
                <a:spcPct val="90000"/>
              </a:lnSpc>
            </a:pPr>
            <a:r>
              <a:rPr lang="en-IE" sz="2800" dirty="0">
                <a:cs typeface="Times New Roman" pitchFamily="18" charset="0"/>
              </a:rPr>
              <a:t>these exceptions can be thrown by any java statement or a method call. </a:t>
            </a:r>
          </a:p>
          <a:p>
            <a:pPr>
              <a:lnSpc>
                <a:spcPct val="90000"/>
              </a:lnSpc>
            </a:pPr>
            <a:r>
              <a:rPr lang="en-IE" sz="2800" dirty="0">
                <a:cs typeface="Times New Roman" pitchFamily="18" charset="0"/>
              </a:rPr>
              <a:t>can be avoided through good programming practices!</a:t>
            </a:r>
            <a:endParaRPr lang="en-GB" sz="2800" dirty="0">
              <a:cs typeface="Times New Roman" pitchFamily="18" charset="0"/>
            </a:endParaRPr>
          </a:p>
          <a:p>
            <a:pPr marL="0" indent="0">
              <a:lnSpc>
                <a:spcPct val="90000"/>
              </a:lnSpc>
            </a:pPr>
            <a:endParaRPr lang="en-IE" sz="2400" dirty="0">
              <a:cs typeface="Times New Roman" pitchFamily="18" charset="0"/>
            </a:endParaRPr>
          </a:p>
          <a:p>
            <a:pPr marL="0" indent="0">
              <a:lnSpc>
                <a:spcPct val="90000"/>
              </a:lnSpc>
            </a:pPr>
            <a:endParaRPr lang="en-IE" sz="2400" dirty="0">
              <a:cs typeface="Times New Roman" pitchFamily="18" charset="0"/>
            </a:endParaRPr>
          </a:p>
          <a:p>
            <a:pPr marL="0" indent="0">
              <a:lnSpc>
                <a:spcPct val="90000"/>
              </a:lnSpc>
            </a:pPr>
            <a:endParaRPr lang="en-IE" sz="2400" dirty="0">
              <a:cs typeface="Times New Roman" pitchFamily="18" charset="0"/>
            </a:endParaRPr>
          </a:p>
          <a:p>
            <a:pPr marL="0" indent="0">
              <a:lnSpc>
                <a:spcPct val="90000"/>
              </a:lnSpc>
            </a:pPr>
            <a:endParaRPr lang="en-IE" sz="2400" dirty="0">
              <a:cs typeface="Times New Roman" pitchFamily="18" charset="0"/>
            </a:endParaRPr>
          </a:p>
          <a:p>
            <a:pPr marL="274320" lvl="1" indent="0">
              <a:lnSpc>
                <a:spcPct val="90000"/>
              </a:lnSpc>
              <a:buNone/>
            </a:pPr>
            <a:endParaRPr lang="en-IE" dirty="0">
              <a:cs typeface="Times New Roman" pitchFamily="18" charset="0"/>
            </a:endParaRPr>
          </a:p>
          <a:p>
            <a:pPr marL="274320" lvl="1" indent="0">
              <a:lnSpc>
                <a:spcPct val="90000"/>
              </a:lnSpc>
              <a:buNone/>
            </a:pPr>
            <a:endParaRPr lang="en-IE" sz="2400" dirty="0">
              <a:cs typeface="Times New Roman" pitchFamily="18" charset="0"/>
            </a:endParaRPr>
          </a:p>
          <a:p>
            <a:pPr marL="274320" lvl="1" indent="0">
              <a:lnSpc>
                <a:spcPct val="90000"/>
              </a:lnSpc>
              <a:buNone/>
            </a:pPr>
            <a:endParaRPr lang="en-IE" sz="2400" dirty="0">
              <a:cs typeface="Times New Roman" pitchFamily="18" charset="0"/>
            </a:endParaRPr>
          </a:p>
          <a:p>
            <a:pPr marL="274320" lvl="1" indent="0">
              <a:lnSpc>
                <a:spcPct val="90000"/>
              </a:lnSpc>
              <a:buNone/>
            </a:pPr>
            <a:endParaRPr lang="en-IE" sz="2400" dirty="0">
              <a:cs typeface="Times New Roman" pitchFamily="18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6959496"/>
              </p:ext>
            </p:extLst>
          </p:nvPr>
        </p:nvGraphicFramePr>
        <p:xfrm>
          <a:off x="609600" y="3863182"/>
          <a:ext cx="11277600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3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44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E" sz="2000" dirty="0" err="1"/>
                        <a:t>RuntimeException</a:t>
                      </a:r>
                      <a:endParaRPr lang="en-IE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2000" dirty="0"/>
                        <a:t>Example </a:t>
                      </a:r>
                      <a:r>
                        <a:rPr lang="en-IE" sz="2000" baseline="0" dirty="0"/>
                        <a:t>Causes</a:t>
                      </a:r>
                      <a:endParaRPr lang="en-I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2000" dirty="0" err="1">
                          <a:cs typeface="Times New Roman" pitchFamily="18" charset="0"/>
                        </a:rPr>
                        <a:t>ArithmeticException</a:t>
                      </a:r>
                      <a:endParaRPr lang="en-IE" sz="2000" dirty="0"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2000" dirty="0">
                          <a:cs typeface="Times New Roman" pitchFamily="18" charset="0"/>
                        </a:rPr>
                        <a:t>Can be caused by dividing by zero.</a:t>
                      </a:r>
                      <a:endParaRPr lang="en-I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sz="2000" dirty="0" err="1">
                          <a:cs typeface="Times New Roman" pitchFamily="18" charset="0"/>
                        </a:rPr>
                        <a:t>ArrayIndexOutOfBoundsException</a:t>
                      </a:r>
                      <a:endParaRPr lang="en-IE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2000" dirty="0">
                          <a:cs typeface="Times New Roman" pitchFamily="18" charset="0"/>
                        </a:rPr>
                        <a:t>Referencing an array index number of 7 when only 5 exist in the array.</a:t>
                      </a:r>
                      <a:endParaRPr lang="en-I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2000" dirty="0" err="1">
                          <a:cs typeface="Times New Roman" pitchFamily="18" charset="0"/>
                        </a:rPr>
                        <a:t>NullPointerException</a:t>
                      </a:r>
                      <a:r>
                        <a:rPr lang="en-IE" sz="2000" dirty="0">
                          <a:cs typeface="Times New Roman" pitchFamily="18" charset="0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2000" dirty="0">
                          <a:cs typeface="Times New Roman" pitchFamily="18" charset="0"/>
                        </a:rPr>
                        <a:t>Trying to access an object</a:t>
                      </a:r>
                      <a:r>
                        <a:rPr lang="en-IE" sz="2000" baseline="0" dirty="0">
                          <a:cs typeface="Times New Roman" pitchFamily="18" charset="0"/>
                        </a:rPr>
                        <a:t> that has no memory allocated yet.</a:t>
                      </a:r>
                      <a:endParaRPr lang="en-I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2000" dirty="0" err="1">
                          <a:cs typeface="Times New Roman" pitchFamily="18" charset="0"/>
                        </a:rPr>
                        <a:t>InputMismatchException</a:t>
                      </a:r>
                      <a:endParaRPr lang="en-IE" sz="2000" dirty="0"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2000" dirty="0"/>
                        <a:t>Caused by passing invalid input (wrong type).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3954303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27CF4DEC-FAE6-4DC1-89C3-DBA3C99EE1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9400" y="122238"/>
            <a:ext cx="1295400" cy="1295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57855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939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Catching Exceptions - </a:t>
            </a:r>
            <a:r>
              <a:rPr lang="en-US" b="1" dirty="0"/>
              <a:t>handlers</a:t>
            </a:r>
          </a:p>
        </p:txBody>
      </p:sp>
      <p:sp>
        <p:nvSpPr>
          <p:cNvPr id="155651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905000"/>
            <a:ext cx="6781800" cy="4267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E" sz="1400" dirty="0">
                <a:cs typeface="Times New Roman" pitchFamily="18" charset="0"/>
              </a:rPr>
              <a:t> </a:t>
            </a:r>
          </a:p>
          <a:p>
            <a:r>
              <a:rPr lang="en-IE" sz="2400" b="1" dirty="0">
                <a:cs typeface="Times New Roman" pitchFamily="18" charset="0"/>
              </a:rPr>
              <a:t>Catch</a:t>
            </a:r>
            <a:r>
              <a:rPr lang="en-IE" sz="2400" dirty="0">
                <a:cs typeface="Times New Roman" pitchFamily="18" charset="0"/>
              </a:rPr>
              <a:t>ing an exception means declaring that you can handle exceptions of a particular class </a:t>
            </a:r>
            <a:br>
              <a:rPr lang="en-IE" sz="2400" dirty="0">
                <a:cs typeface="Times New Roman" pitchFamily="18" charset="0"/>
              </a:rPr>
            </a:br>
            <a:r>
              <a:rPr lang="en-IE" sz="2400" dirty="0">
                <a:cs typeface="Times New Roman" pitchFamily="18" charset="0"/>
              </a:rPr>
              <a:t>from a particular block of code.  </a:t>
            </a:r>
          </a:p>
          <a:p>
            <a:endParaRPr lang="en-IE" sz="2400" dirty="0">
              <a:cs typeface="Times New Roman" pitchFamily="18" charset="0"/>
            </a:endParaRPr>
          </a:p>
          <a:p>
            <a:r>
              <a:rPr lang="en-IE" sz="2400" dirty="0">
                <a:cs typeface="Times New Roman" pitchFamily="18" charset="0"/>
              </a:rPr>
              <a:t>You specify the block of code and then provide </a:t>
            </a:r>
            <a:r>
              <a:rPr lang="en-IE" sz="2400" b="1" dirty="0">
                <a:cs typeface="Times New Roman" pitchFamily="18" charset="0"/>
              </a:rPr>
              <a:t>handlers</a:t>
            </a:r>
            <a:r>
              <a:rPr lang="en-IE" sz="2400" dirty="0">
                <a:cs typeface="Times New Roman" pitchFamily="18" charset="0"/>
              </a:rPr>
              <a:t> for various classes of exception. </a:t>
            </a:r>
          </a:p>
          <a:p>
            <a:endParaRPr lang="en-IE" sz="2400" dirty="0">
              <a:cs typeface="Times New Roman" pitchFamily="18" charset="0"/>
            </a:endParaRPr>
          </a:p>
          <a:p>
            <a:r>
              <a:rPr lang="en-IE" sz="2400" dirty="0">
                <a:cs typeface="Times New Roman" pitchFamily="18" charset="0"/>
              </a:rPr>
              <a:t>If an exception occurs then execution transfers to the corresponding piece of handler code.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48DC06-8AFD-42E0-987E-AA4CD173D8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9400" y="122238"/>
            <a:ext cx="1295400" cy="1295400"/>
          </a:xfrm>
          <a:prstGeom prst="rect">
            <a:avLst/>
          </a:prstGeom>
        </p:spPr>
      </p:pic>
      <p:pic>
        <p:nvPicPr>
          <p:cNvPr id="7172" name="Picture 4" descr="Github 404 Error Page">
            <a:extLst>
              <a:ext uri="{FF2B5EF4-FFF2-40B4-BE49-F238E27FC236}">
                <a16:creationId xmlns:a16="http://schemas.microsoft.com/office/drawing/2014/main" id="{92E05785-4B0D-438A-A677-0FF2FD9DD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8865" y="1385887"/>
            <a:ext cx="4211150" cy="28813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Slack Error Page">
            <a:extLst>
              <a:ext uri="{FF2B5EF4-FFF2-40B4-BE49-F238E27FC236}">
                <a16:creationId xmlns:a16="http://schemas.microsoft.com/office/drawing/2014/main" id="{1092E32B-CECE-4D76-A45C-825ABCD55D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4355985"/>
            <a:ext cx="4495800" cy="237977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379255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try and catch</a:t>
            </a:r>
          </a:p>
        </p:txBody>
      </p:sp>
      <p:sp>
        <p:nvSpPr>
          <p:cNvPr id="155651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782716"/>
            <a:ext cx="8382000" cy="1219200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endParaRPr lang="en-IE" sz="2800" dirty="0"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IE" sz="2800" b="1" dirty="0">
                <a:cs typeface="Times New Roman" pitchFamily="18" charset="0"/>
              </a:rPr>
              <a:t>To catch exceptions, you surround a block of code </a:t>
            </a:r>
            <a:br>
              <a:rPr lang="en-IE" sz="2800" b="1" dirty="0">
                <a:cs typeface="Times New Roman" pitchFamily="18" charset="0"/>
              </a:rPr>
            </a:br>
            <a:r>
              <a:rPr lang="en-IE" sz="2800" b="1" dirty="0">
                <a:cs typeface="Times New Roman" pitchFamily="18" charset="0"/>
              </a:rPr>
              <a:t>with a "</a:t>
            </a:r>
            <a:r>
              <a:rPr lang="en-IE" sz="2800" b="1" dirty="0">
                <a:solidFill>
                  <a:srgbClr val="FF0000"/>
                </a:solidFill>
                <a:cs typeface="Times New Roman" pitchFamily="18" charset="0"/>
              </a:rPr>
              <a:t>try, catch</a:t>
            </a:r>
            <a:r>
              <a:rPr lang="en-IE" sz="2800" b="1" dirty="0">
                <a:cs typeface="Times New Roman" pitchFamily="18" charset="0"/>
              </a:rPr>
              <a:t>" statement. </a:t>
            </a:r>
            <a:endParaRPr lang="en-IE" sz="2800" dirty="0"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76300" y="3276600"/>
            <a:ext cx="10591800" cy="24560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IE" b="1" dirty="0">
                <a:latin typeface="Courier New" charset="0"/>
                <a:ea typeface="Courier New" charset="0"/>
                <a:cs typeface="Courier New" charset="0"/>
              </a:rPr>
              <a:t>try{</a:t>
            </a:r>
          </a:p>
          <a:p>
            <a:pPr>
              <a:lnSpc>
                <a:spcPct val="90000"/>
              </a:lnSpc>
            </a:pPr>
            <a:r>
              <a:rPr lang="en-IE" b="1" dirty="0">
                <a:latin typeface="Courier New" charset="0"/>
                <a:ea typeface="Courier New" charset="0"/>
                <a:cs typeface="Courier New" charset="0"/>
              </a:rPr>
              <a:t>    </a:t>
            </a:r>
            <a:r>
              <a:rPr lang="en-IE" dirty="0">
                <a:solidFill>
                  <a:schemeClr val="accent2"/>
                </a:solidFill>
                <a:latin typeface="Courier New" charset="0"/>
                <a:ea typeface="Courier New" charset="0"/>
                <a:cs typeface="Courier New" charset="0"/>
              </a:rPr>
              <a:t>// The try clause is the piece of code which you want to try to execute.</a:t>
            </a:r>
          </a:p>
          <a:p>
            <a:pPr>
              <a:lnSpc>
                <a:spcPct val="90000"/>
              </a:lnSpc>
            </a:pPr>
            <a:r>
              <a:rPr lang="en-IE" dirty="0">
                <a:solidFill>
                  <a:schemeClr val="accent2"/>
                </a:solidFill>
                <a:latin typeface="Courier New" charset="0"/>
                <a:ea typeface="Courier New" charset="0"/>
                <a:cs typeface="Courier New" charset="0"/>
              </a:rPr>
              <a:t>    // it contains statements in which an exception could be raised</a:t>
            </a:r>
          </a:p>
          <a:p>
            <a:pPr>
              <a:lnSpc>
                <a:spcPct val="90000"/>
              </a:lnSpc>
            </a:pPr>
            <a:r>
              <a:rPr lang="en-IE" b="1" dirty="0">
                <a:latin typeface="Courier New" charset="0"/>
                <a:ea typeface="Courier New" charset="0"/>
                <a:cs typeface="Courier New" charset="0"/>
              </a:rPr>
              <a:t>}</a:t>
            </a:r>
          </a:p>
          <a:p>
            <a:pPr>
              <a:lnSpc>
                <a:spcPct val="90000"/>
              </a:lnSpc>
            </a:pPr>
            <a:r>
              <a:rPr lang="en-IE" b="1" dirty="0">
                <a:latin typeface="Courier New" charset="0"/>
                <a:ea typeface="Courier New" charset="0"/>
                <a:cs typeface="Courier New" charset="0"/>
              </a:rPr>
              <a:t>catch (Exception e){</a:t>
            </a:r>
          </a:p>
          <a:p>
            <a:pPr>
              <a:lnSpc>
                <a:spcPct val="90000"/>
              </a:lnSpc>
            </a:pPr>
            <a:r>
              <a:rPr lang="en-IE" b="1" dirty="0">
                <a:latin typeface="Courier New" charset="0"/>
                <a:ea typeface="Courier New" charset="0"/>
                <a:cs typeface="Courier New" charset="0"/>
              </a:rPr>
              <a:t>   </a:t>
            </a:r>
            <a:r>
              <a:rPr lang="en-IE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IE" dirty="0">
                <a:solidFill>
                  <a:schemeClr val="accent2"/>
                </a:solidFill>
                <a:latin typeface="Courier New" charset="0"/>
                <a:ea typeface="Courier New" charset="0"/>
                <a:cs typeface="Courier New" charset="0"/>
              </a:rPr>
              <a:t>// The catch clauses are the </a:t>
            </a:r>
            <a:r>
              <a:rPr lang="en-IE" b="1" dirty="0">
                <a:solidFill>
                  <a:schemeClr val="accent2"/>
                </a:solidFill>
                <a:latin typeface="Courier New" charset="0"/>
                <a:ea typeface="Courier New" charset="0"/>
                <a:cs typeface="Courier New" charset="0"/>
              </a:rPr>
              <a:t>handlers</a:t>
            </a:r>
            <a:r>
              <a:rPr lang="en-IE" dirty="0">
                <a:solidFill>
                  <a:schemeClr val="accent2"/>
                </a:solidFill>
                <a:latin typeface="Courier New" charset="0"/>
                <a:ea typeface="Courier New" charset="0"/>
                <a:cs typeface="Courier New" charset="0"/>
              </a:rPr>
              <a:t> for the various exceptions.</a:t>
            </a:r>
            <a:endParaRPr lang="en-GB" dirty="0">
              <a:solidFill>
                <a:schemeClr val="accent2"/>
              </a:solidFill>
              <a:latin typeface="Courier New" charset="0"/>
              <a:ea typeface="Courier New" charset="0"/>
              <a:cs typeface="Courier New" charset="0"/>
            </a:endParaRPr>
          </a:p>
          <a:p>
            <a:pPr>
              <a:lnSpc>
                <a:spcPct val="90000"/>
              </a:lnSpc>
            </a:pPr>
            <a:r>
              <a:rPr lang="en-IE" dirty="0">
                <a:solidFill>
                  <a:schemeClr val="accent2"/>
                </a:solidFill>
                <a:latin typeface="Courier New" charset="0"/>
                <a:ea typeface="Courier New" charset="0"/>
                <a:cs typeface="Courier New" charset="0"/>
              </a:rPr>
              <a:t>    // it contains code to handle Exception and recover</a:t>
            </a:r>
          </a:p>
          <a:p>
            <a:pPr>
              <a:lnSpc>
                <a:spcPct val="90000"/>
              </a:lnSpc>
            </a:pPr>
            <a:r>
              <a:rPr lang="en-IE" b="1" dirty="0">
                <a:latin typeface="Courier New" charset="0"/>
                <a:ea typeface="Courier New" charset="0"/>
                <a:cs typeface="Courier New" charset="0"/>
              </a:rPr>
              <a:t>}</a:t>
            </a:r>
            <a:r>
              <a:rPr lang="en-GB" b="1" dirty="0">
                <a:latin typeface="Courier New" charset="0"/>
                <a:ea typeface="Courier New" charset="0"/>
                <a:cs typeface="Courier New" charset="0"/>
              </a:rPr>
              <a:t> </a:t>
            </a:r>
          </a:p>
          <a:p>
            <a:endParaRPr lang="en-IE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E08E0C-6DA3-4962-953B-5580F628A7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9400" y="122238"/>
            <a:ext cx="1295400" cy="1295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4255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try and catch - example</a:t>
            </a:r>
          </a:p>
        </p:txBody>
      </p:sp>
      <p:sp>
        <p:nvSpPr>
          <p:cNvPr id="157699" name="Rectangle 3"/>
          <p:cNvSpPr>
            <a:spLocks noGrp="1" noChangeArrowheads="1"/>
          </p:cNvSpPr>
          <p:nvPr>
            <p:ph idx="1"/>
          </p:nvPr>
        </p:nvSpPr>
        <p:spPr>
          <a:xfrm>
            <a:off x="2209800" y="4648200"/>
            <a:ext cx="7772400" cy="1905000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IE" sz="3400" dirty="0"/>
              <a:t>The parameter </a:t>
            </a:r>
            <a:r>
              <a:rPr lang="en-IE" sz="3400" b="1" i="1" dirty="0">
                <a:solidFill>
                  <a:schemeClr val="accent2"/>
                </a:solidFill>
              </a:rPr>
              <a:t>e</a:t>
            </a:r>
            <a:r>
              <a:rPr lang="en-IE" sz="3400" dirty="0"/>
              <a:t> is of type </a:t>
            </a:r>
            <a:r>
              <a:rPr lang="en-IE" sz="3400" b="1" dirty="0"/>
              <a:t>Exception.</a:t>
            </a:r>
            <a:br>
              <a:rPr lang="en-IE" sz="3400" b="1" dirty="0"/>
            </a:br>
            <a:br>
              <a:rPr lang="en-IE" sz="3400" b="1" dirty="0"/>
            </a:br>
            <a:r>
              <a:rPr lang="en-IE" sz="3400" dirty="0"/>
              <a:t>We can use </a:t>
            </a:r>
            <a:r>
              <a:rPr lang="en-IE" sz="3400" b="1" i="1" dirty="0">
                <a:solidFill>
                  <a:schemeClr val="accent2"/>
                </a:solidFill>
              </a:rPr>
              <a:t>e</a:t>
            </a:r>
            <a:r>
              <a:rPr lang="en-IE" sz="3400" dirty="0"/>
              <a:t> to print out </a:t>
            </a:r>
            <a:br>
              <a:rPr lang="en-IE" sz="3400" dirty="0"/>
            </a:br>
            <a:r>
              <a:rPr lang="en-IE" sz="3400" dirty="0"/>
              <a:t>what exception occurred.</a:t>
            </a:r>
          </a:p>
          <a:p>
            <a:pPr marL="0" indent="0">
              <a:buNone/>
            </a:pPr>
            <a:endParaRPr lang="en-IE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2628900" y="2155756"/>
            <a:ext cx="6934200" cy="17543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IE" b="1" dirty="0">
                <a:latin typeface="Courier New" charset="0"/>
                <a:ea typeface="Courier New" charset="0"/>
                <a:cs typeface="Courier New" charset="0"/>
              </a:rPr>
              <a:t>try</a:t>
            </a:r>
            <a:r>
              <a:rPr lang="en-IE" dirty="0">
                <a:latin typeface="Courier New" charset="0"/>
                <a:ea typeface="Courier New" charset="0"/>
                <a:cs typeface="Courier New" charset="0"/>
              </a:rPr>
              <a:t>{</a:t>
            </a:r>
          </a:p>
          <a:p>
            <a:r>
              <a:rPr lang="en-IE" dirty="0">
                <a:latin typeface="Courier New" charset="0"/>
                <a:ea typeface="Courier New" charset="0"/>
                <a:cs typeface="Courier New" charset="0"/>
              </a:rPr>
              <a:t>    </a:t>
            </a:r>
            <a:r>
              <a:rPr lang="en-IE" dirty="0" err="1">
                <a:latin typeface="Courier New" charset="0"/>
                <a:ea typeface="Courier New" charset="0"/>
                <a:cs typeface="Courier New" charset="0"/>
              </a:rPr>
              <a:t>myMethod</a:t>
            </a:r>
            <a:r>
              <a:rPr lang="en-IE" dirty="0">
                <a:latin typeface="Courier New" charset="0"/>
                <a:ea typeface="Courier New" charset="0"/>
                <a:cs typeface="Courier New" charset="0"/>
              </a:rPr>
              <a:t>();</a:t>
            </a:r>
          </a:p>
          <a:p>
            <a:r>
              <a:rPr lang="en-IE" dirty="0">
                <a:latin typeface="Courier New" charset="0"/>
                <a:ea typeface="Courier New" charset="0"/>
                <a:cs typeface="Courier New" charset="0"/>
              </a:rPr>
              <a:t>}</a:t>
            </a:r>
          </a:p>
          <a:p>
            <a:r>
              <a:rPr lang="en-IE" b="1" dirty="0">
                <a:latin typeface="Courier New" charset="0"/>
                <a:ea typeface="Courier New" charset="0"/>
                <a:cs typeface="Courier New" charset="0"/>
              </a:rPr>
              <a:t>catch</a:t>
            </a:r>
            <a:r>
              <a:rPr lang="en-IE" dirty="0">
                <a:latin typeface="Courier New" charset="0"/>
                <a:ea typeface="Courier New" charset="0"/>
                <a:cs typeface="Courier New" charset="0"/>
              </a:rPr>
              <a:t> (Exception </a:t>
            </a:r>
            <a:r>
              <a:rPr lang="en-IE" b="1" dirty="0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e</a:t>
            </a:r>
            <a:r>
              <a:rPr lang="en-IE" dirty="0">
                <a:latin typeface="Courier New" charset="0"/>
                <a:ea typeface="Courier New" charset="0"/>
                <a:cs typeface="Courier New" charset="0"/>
              </a:rPr>
              <a:t>){</a:t>
            </a:r>
          </a:p>
          <a:p>
            <a:r>
              <a:rPr lang="en-IE" dirty="0">
                <a:latin typeface="Courier New" charset="0"/>
                <a:ea typeface="Courier New" charset="0"/>
                <a:cs typeface="Courier New" charset="0"/>
              </a:rPr>
              <a:t>    </a:t>
            </a:r>
            <a:r>
              <a:rPr lang="en-IE" dirty="0" err="1">
                <a:latin typeface="Courier New" charset="0"/>
                <a:ea typeface="Courier New" charset="0"/>
                <a:cs typeface="Courier New" charset="0"/>
              </a:rPr>
              <a:t>System.err.println</a:t>
            </a:r>
            <a:r>
              <a:rPr lang="en-IE" dirty="0">
                <a:latin typeface="Courier New" charset="0"/>
                <a:ea typeface="Courier New" charset="0"/>
                <a:cs typeface="Courier New" charset="0"/>
              </a:rPr>
              <a:t>(“Caught Exception:  “ + </a:t>
            </a:r>
            <a:r>
              <a:rPr lang="en-IE" b="1" dirty="0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e</a:t>
            </a:r>
            <a:r>
              <a:rPr lang="en-IE" dirty="0">
                <a:latin typeface="Courier New" charset="0"/>
                <a:ea typeface="Courier New" charset="0"/>
                <a:cs typeface="Courier New" charset="0"/>
              </a:rPr>
              <a:t>)</a:t>
            </a:r>
          </a:p>
          <a:p>
            <a:r>
              <a:rPr lang="en-IE" dirty="0">
                <a:latin typeface="Courier New" charset="0"/>
                <a:ea typeface="Courier New" charset="0"/>
                <a:cs typeface="Courier New" charset="0"/>
              </a:rPr>
              <a:t>}</a:t>
            </a:r>
            <a:r>
              <a:rPr lang="en-GB" dirty="0">
                <a:latin typeface="Courier New" charset="0"/>
                <a:ea typeface="Courier New" charset="0"/>
                <a:cs typeface="Courier New" charset="0"/>
              </a:rPr>
              <a:t>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60623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699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Flow of control in Exception Handing</a:t>
            </a:r>
          </a:p>
        </p:txBody>
      </p:sp>
      <p:pic>
        <p:nvPicPr>
          <p:cNvPr id="4" name="Content Placeholder 3" descr="tryCatch.png"/>
          <p:cNvPicPr>
            <a:picLocks noGrp="1" noChangeAspect="1"/>
          </p:cNvPicPr>
          <p:nvPr>
            <p:ph idx="1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93" t="-858" r="590" b="-856"/>
          <a:stretch/>
        </p:blipFill>
        <p:spPr>
          <a:xfrm>
            <a:off x="1653310" y="1535854"/>
            <a:ext cx="4892194" cy="5137187"/>
          </a:xfrm>
        </p:spPr>
      </p:pic>
      <p:sp>
        <p:nvSpPr>
          <p:cNvPr id="3" name="TextBox 2"/>
          <p:cNvSpPr txBox="1"/>
          <p:nvPr/>
        </p:nvSpPr>
        <p:spPr>
          <a:xfrm>
            <a:off x="7344631" y="3124200"/>
            <a:ext cx="426847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 = Start</a:t>
            </a:r>
          </a:p>
          <a:p>
            <a:r>
              <a:rPr lang="en-GB" dirty="0"/>
              <a:t>E = End</a:t>
            </a:r>
          </a:p>
          <a:p>
            <a:endParaRPr lang="en-GB" dirty="0">
              <a:solidFill>
                <a:srgbClr val="7030A0"/>
              </a:solidFill>
            </a:endParaRPr>
          </a:p>
          <a:p>
            <a:r>
              <a:rPr lang="en-GB" dirty="0">
                <a:solidFill>
                  <a:srgbClr val="7030A0"/>
                </a:solidFill>
              </a:rPr>
              <a:t>Purple path = everything ok</a:t>
            </a:r>
          </a:p>
          <a:p>
            <a:r>
              <a:rPr lang="en-GB" dirty="0">
                <a:solidFill>
                  <a:srgbClr val="FF0000"/>
                </a:solidFill>
              </a:rPr>
              <a:t>Red path = exception is caught and handled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035430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EB3BC-371E-4329-8FEF-E01B9346B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>
            <a:normAutofit/>
          </a:bodyPr>
          <a:lstStyle/>
          <a:p>
            <a:r>
              <a:rPr lang="en-GB" dirty="0"/>
              <a:t>Returning to our – </a:t>
            </a:r>
            <a:r>
              <a:rPr lang="en-GB" dirty="0" err="1"/>
              <a:t>InputMismatch</a:t>
            </a:r>
            <a:r>
              <a:rPr lang="en-GB" dirty="0"/>
              <a:t> Exception</a:t>
            </a:r>
            <a:endParaRPr lang="en-VI" dirty="0"/>
          </a:p>
        </p:txBody>
      </p:sp>
      <p:pic>
        <p:nvPicPr>
          <p:cNvPr id="1026" name="Picture 2" descr="call stack dump">
            <a:extLst>
              <a:ext uri="{FF2B5EF4-FFF2-40B4-BE49-F238E27FC236}">
                <a16:creationId xmlns:a16="http://schemas.microsoft.com/office/drawing/2014/main" id="{7713DA40-94B0-4BAB-A45A-6F45D96EBE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6181" y="2399371"/>
            <a:ext cx="7362825" cy="31432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rrow: Down 5">
            <a:extLst>
              <a:ext uri="{FF2B5EF4-FFF2-40B4-BE49-F238E27FC236}">
                <a16:creationId xmlns:a16="http://schemas.microsoft.com/office/drawing/2014/main" id="{0047A4BE-9699-496C-85AD-07E5B5CB6395}"/>
              </a:ext>
            </a:extLst>
          </p:cNvPr>
          <p:cNvSpPr/>
          <p:nvPr/>
        </p:nvSpPr>
        <p:spPr>
          <a:xfrm>
            <a:off x="8831006" y="1752600"/>
            <a:ext cx="484632" cy="158022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B3349D91-B043-482C-9886-8B90F40FCCB9}"/>
              </a:ext>
            </a:extLst>
          </p:cNvPr>
          <p:cNvSpPr/>
          <p:nvPr/>
        </p:nvSpPr>
        <p:spPr>
          <a:xfrm rot="5400000">
            <a:off x="8588689" y="4311757"/>
            <a:ext cx="484632" cy="158022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A8419B-D303-4B2F-8244-B6755448F8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118372"/>
            <a:ext cx="3116006" cy="334804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FFACE55-0818-4DF4-B739-2EA3B80EF15D}"/>
              </a:ext>
            </a:extLst>
          </p:cNvPr>
          <p:cNvSpPr/>
          <p:nvPr/>
        </p:nvSpPr>
        <p:spPr>
          <a:xfrm>
            <a:off x="685800" y="4544209"/>
            <a:ext cx="2339518" cy="457202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10636131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EB3BC-371E-4329-8FEF-E01B9346B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>
            <a:normAutofit/>
          </a:bodyPr>
          <a:lstStyle/>
          <a:p>
            <a:r>
              <a:rPr lang="en-GB" dirty="0"/>
              <a:t>Lab03: </a:t>
            </a:r>
            <a:r>
              <a:rPr lang="en-GB" dirty="0" err="1"/>
              <a:t>ScannerInput</a:t>
            </a:r>
            <a:r>
              <a:rPr lang="en-GB" dirty="0"/>
              <a:t> Class is Introduced</a:t>
            </a:r>
            <a:endParaRPr lang="en-VI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CF5AE8-B8DF-4C97-A273-EAEBEDC437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76400"/>
            <a:ext cx="3513665" cy="1524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52E5CD2-81FD-4FDD-8C04-7FD702BFC861}"/>
              </a:ext>
            </a:extLst>
          </p:cNvPr>
          <p:cNvSpPr txBox="1"/>
          <p:nvPr/>
        </p:nvSpPr>
        <p:spPr>
          <a:xfrm>
            <a:off x="4193778" y="1676400"/>
            <a:ext cx="7845822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GB" altLang="en-VI" sz="2800" b="1" i="0" u="none" strike="noStrike" cap="none" normalizeH="0" baseline="0" dirty="0">
                <a:ln>
                  <a:noFill/>
                </a:ln>
                <a:solidFill>
                  <a:srgbClr val="1F2937"/>
                </a:solidFill>
                <a:effectLst/>
              </a:rPr>
              <a:t>The </a:t>
            </a:r>
            <a:r>
              <a:rPr kumimoji="0" lang="en-GB" altLang="en-VI" sz="2800" b="1" i="0" u="none" strike="noStrike" cap="none" normalizeH="0" baseline="0" dirty="0" err="1">
                <a:ln>
                  <a:noFill/>
                </a:ln>
                <a:solidFill>
                  <a:srgbClr val="1F2937"/>
                </a:solidFill>
                <a:effectLst/>
              </a:rPr>
              <a:t>ScannerInput</a:t>
            </a:r>
            <a:r>
              <a:rPr kumimoji="0" lang="en-GB" altLang="en-VI" sz="2800" b="1" i="0" u="none" strike="noStrike" cap="none" normalizeH="0" baseline="0" dirty="0">
                <a:ln>
                  <a:noFill/>
                </a:ln>
                <a:solidFill>
                  <a:srgbClr val="1F2937"/>
                </a:solidFill>
                <a:effectLst/>
              </a:rPr>
              <a:t> class: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GB" altLang="en-VI" sz="2700" i="0" u="none" strike="noStrike" cap="none" normalizeH="0" baseline="0" dirty="0">
                <a:ln>
                  <a:noFill/>
                </a:ln>
                <a:solidFill>
                  <a:srgbClr val="1F2937"/>
                </a:solidFill>
                <a:effectLst/>
              </a:rPr>
              <a:t>has four methods for reading four different data types.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GB" altLang="en-VI" sz="2700" dirty="0">
                <a:solidFill>
                  <a:srgbClr val="1F2937"/>
                </a:solidFill>
              </a:rPr>
              <a:t>creates a new Scanner object in each method, thereby getting rid of the Scanner bug (where the buffers are not flushed properly after each int/double/float read).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GB" altLang="en-VI" sz="2700" i="0" u="none" strike="noStrike" cap="none" normalizeH="0" baseline="0" dirty="0">
                <a:ln>
                  <a:noFill/>
                </a:ln>
                <a:solidFill>
                  <a:srgbClr val="1F2937"/>
                </a:solidFill>
                <a:effectLst/>
              </a:rPr>
              <a:t>Uses the try</a:t>
            </a:r>
            <a:r>
              <a:rPr lang="en-GB" altLang="en-VI" sz="2700" dirty="0">
                <a:solidFill>
                  <a:srgbClr val="1F2937"/>
                </a:solidFill>
              </a:rPr>
              <a:t>/catch construct to handle any </a:t>
            </a:r>
            <a:r>
              <a:rPr lang="en-GB" altLang="en-VI" sz="2700" dirty="0" err="1">
                <a:solidFill>
                  <a:srgbClr val="1F2937"/>
                </a:solidFill>
              </a:rPr>
              <a:t>InputMismatchExceptions</a:t>
            </a:r>
            <a:r>
              <a:rPr lang="en-GB" altLang="en-VI" sz="2700" dirty="0">
                <a:solidFill>
                  <a:srgbClr val="1F2937"/>
                </a:solidFill>
              </a:rPr>
              <a:t> and to stop them  crashing our program (i.e. recover from them).</a:t>
            </a:r>
            <a:endParaRPr kumimoji="0" lang="en-GB" altLang="en-VI" sz="2700" i="0" u="none" strike="noStrike" cap="none" normalizeH="0" baseline="0" dirty="0">
              <a:ln>
                <a:noFill/>
              </a:ln>
              <a:solidFill>
                <a:srgbClr val="1F2937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GB" altLang="en-VI" sz="2700" i="0" u="none" strike="noStrike" cap="none" normalizeH="0" baseline="0" dirty="0">
                <a:ln>
                  <a:noFill/>
                </a:ln>
                <a:solidFill>
                  <a:srgbClr val="1F2937"/>
                </a:solidFill>
                <a:effectLst/>
              </a:rPr>
              <a:t>is a “utility” class that we can reuse in all our projects.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34E1E0E-ADCD-4532-9583-018116FF1B14}"/>
              </a:ext>
            </a:extLst>
          </p:cNvPr>
          <p:cNvSpPr/>
          <p:nvPr/>
        </p:nvSpPr>
        <p:spPr>
          <a:xfrm>
            <a:off x="685800" y="1981200"/>
            <a:ext cx="2590800" cy="30480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3392531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EB3BC-371E-4329-8FEF-E01B9346B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>
            <a:normAutofit/>
          </a:bodyPr>
          <a:lstStyle/>
          <a:p>
            <a:r>
              <a:rPr lang="en-GB" dirty="0" err="1"/>
              <a:t>ScannerInput</a:t>
            </a:r>
            <a:r>
              <a:rPr lang="en-GB" dirty="0"/>
              <a:t> Class - try/catch example</a:t>
            </a:r>
            <a:endParaRPr lang="en-VI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CF5AE8-B8DF-4C97-A273-EAEBEDC437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76400"/>
            <a:ext cx="3513665" cy="1524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52E5CD2-81FD-4FDD-8C04-7FD702BFC861}"/>
              </a:ext>
            </a:extLst>
          </p:cNvPr>
          <p:cNvSpPr txBox="1"/>
          <p:nvPr/>
        </p:nvSpPr>
        <p:spPr>
          <a:xfrm>
            <a:off x="4199465" y="1783012"/>
            <a:ext cx="70104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VI" altLang="en-VI" sz="2000" b="1" i="0" u="none" strike="noStrike" cap="none" normalizeH="0" baseline="0" dirty="0" err="1">
                <a:ln>
                  <a:noFill/>
                </a:ln>
                <a:solidFill>
                  <a:srgbClr val="1F2937"/>
                </a:solidFill>
                <a:effectLst/>
              </a:rPr>
              <a:t>readNextInt</a:t>
            </a:r>
            <a:r>
              <a:rPr lang="en-GB" altLang="en-VI" sz="2000" dirty="0">
                <a:solidFill>
                  <a:srgbClr val="1F2937"/>
                </a:solidFill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GB" altLang="en-VI" sz="2000" b="0" i="0" u="none" strike="noStrike" cap="none" normalizeH="0" baseline="0" dirty="0">
              <a:ln>
                <a:noFill/>
              </a:ln>
              <a:solidFill>
                <a:srgbClr val="1F2937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GB" altLang="en-VI" sz="2000" dirty="0">
                <a:solidFill>
                  <a:srgbClr val="1F2937"/>
                </a:solidFill>
              </a:rPr>
              <a:t>T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1F2937"/>
                </a:solidFill>
                <a:effectLst/>
              </a:rPr>
              <a:t>his method takes in a String 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prompt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1F2937"/>
                </a:solidFill>
                <a:effectLst/>
              </a:rPr>
              <a:t> and prints it to the console (e.g. of a prompt would be </a:t>
            </a:r>
            <a:r>
              <a:rPr kumimoji="0" lang="en-VI" altLang="en-VI" sz="2000" b="0" i="1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"Please enter the product code"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1F2937"/>
                </a:solidFill>
                <a:effectLst/>
              </a:rPr>
              <a:t>). </a:t>
            </a:r>
            <a:endParaRPr kumimoji="0" lang="en-GB" altLang="en-VI" sz="2000" b="0" i="0" u="none" strike="noStrike" cap="none" normalizeH="0" baseline="0" dirty="0">
              <a:ln>
                <a:noFill/>
              </a:ln>
              <a:solidFill>
                <a:srgbClr val="1F2937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GB" altLang="en-VI" sz="2000" b="0" i="0" u="none" strike="noStrike" cap="none" normalizeH="0" baseline="0" dirty="0">
              <a:ln>
                <a:noFill/>
              </a:ln>
              <a:solidFill>
                <a:srgbClr val="1F2937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1F2937"/>
                </a:solidFill>
                <a:effectLst/>
              </a:rPr>
              <a:t>The user input is then read and it is checked to see if what the user entered is ACTUALLY an </a:t>
            </a:r>
            <a:r>
              <a:rPr kumimoji="0" lang="en-VI" altLang="en-VI" sz="20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</a:rPr>
              <a:t>int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1F2937"/>
                </a:solidFill>
                <a:effectLst/>
              </a:rPr>
              <a:t>. </a:t>
            </a:r>
            <a:endParaRPr kumimoji="0" lang="en-GB" altLang="en-VI" sz="2000" b="0" i="0" u="none" strike="noStrike" cap="none" normalizeH="0" baseline="0" dirty="0">
              <a:ln>
                <a:noFill/>
              </a:ln>
              <a:solidFill>
                <a:srgbClr val="1F2937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GB" altLang="en-VI" sz="2000" b="0" i="0" u="none" strike="noStrike" cap="none" normalizeH="0" baseline="0" dirty="0">
              <a:ln>
                <a:noFill/>
              </a:ln>
              <a:solidFill>
                <a:srgbClr val="1F2937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1F2937"/>
                </a:solidFill>
                <a:effectLst/>
              </a:rPr>
              <a:t>If </a:t>
            </a:r>
            <a:r>
              <a:rPr kumimoji="0" lang="en-GB" altLang="en-VI" sz="2000" b="0" i="0" u="none" strike="noStrike" cap="none" normalizeH="0" baseline="0" dirty="0">
                <a:ln>
                  <a:noFill/>
                </a:ln>
                <a:solidFill>
                  <a:srgbClr val="1F2937"/>
                </a:solidFill>
                <a:effectLst/>
              </a:rPr>
              <a:t>the value: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1F2937"/>
                </a:solidFill>
                <a:effectLst/>
              </a:rPr>
              <a:t>is an </a:t>
            </a:r>
            <a:r>
              <a:rPr kumimoji="0" lang="en-VI" altLang="en-VI" sz="20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</a:rPr>
              <a:t>int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1F2937"/>
                </a:solidFill>
                <a:effectLst/>
              </a:rPr>
              <a:t>, the value is returned. </a:t>
            </a:r>
            <a:endParaRPr lang="en-GB" altLang="en-VI" sz="2000" dirty="0">
              <a:solidFill>
                <a:srgbClr val="1F2937"/>
              </a:solidFill>
            </a:endParaRP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GB" altLang="en-VI" sz="2000" b="0" i="0" u="none" strike="noStrike" cap="none" normalizeH="0" baseline="0" dirty="0" err="1">
                <a:ln>
                  <a:noFill/>
                </a:ln>
                <a:solidFill>
                  <a:srgbClr val="1F2937"/>
                </a:solidFill>
                <a:effectLst/>
              </a:rPr>
              <a:t>i</a:t>
            </a:r>
            <a:r>
              <a:rPr kumimoji="0" lang="en-VI" altLang="en-VI" sz="2000" b="0" i="0" u="none" strike="noStrike" cap="none" normalizeH="0" baseline="0" dirty="0" err="1">
                <a:ln>
                  <a:noFill/>
                </a:ln>
                <a:solidFill>
                  <a:srgbClr val="1F2937"/>
                </a:solidFill>
                <a:effectLst/>
              </a:rPr>
              <a:t>sn't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1F2937"/>
                </a:solidFill>
                <a:effectLst/>
              </a:rPr>
              <a:t> an </a:t>
            </a:r>
            <a:r>
              <a:rPr kumimoji="0" lang="en-VI" altLang="en-VI" sz="20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</a:rPr>
              <a:t>int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1F2937"/>
                </a:solidFill>
                <a:effectLst/>
              </a:rPr>
              <a:t>, then the 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</a:rPr>
              <a:t>prompt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1F2937"/>
                </a:solidFill>
                <a:effectLst/>
              </a:rPr>
              <a:t> is printed again to the user and the validation of the input continues until the user enters a valid </a:t>
            </a:r>
            <a:r>
              <a:rPr kumimoji="0" lang="en-VI" altLang="en-VI" sz="20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</a:rPr>
              <a:t>int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1F2937"/>
                </a:solidFill>
                <a:effectLst/>
              </a:rPr>
              <a:t>.</a:t>
            </a:r>
            <a:endParaRPr kumimoji="0" lang="en-GB" altLang="en-VI" sz="2000" b="0" i="0" u="none" strike="noStrike" cap="none" normalizeH="0" baseline="0" dirty="0">
              <a:ln>
                <a:noFill/>
              </a:ln>
              <a:solidFill>
                <a:srgbClr val="1F2937"/>
              </a:solidFill>
              <a:effectLst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34E1E0E-ADCD-4532-9583-018116FF1B14}"/>
              </a:ext>
            </a:extLst>
          </p:cNvPr>
          <p:cNvSpPr/>
          <p:nvPr/>
        </p:nvSpPr>
        <p:spPr>
          <a:xfrm>
            <a:off x="685800" y="1981200"/>
            <a:ext cx="2590800" cy="30480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20558696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EB3BC-371E-4329-8FEF-E01B9346B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>
            <a:normAutofit/>
          </a:bodyPr>
          <a:lstStyle/>
          <a:p>
            <a:r>
              <a:rPr lang="en-GB" dirty="0" err="1"/>
              <a:t>ScannerInput</a:t>
            </a:r>
            <a:r>
              <a:rPr lang="en-GB" dirty="0"/>
              <a:t> Class - try/catch example</a:t>
            </a:r>
            <a:endParaRPr lang="en-VI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CF5AE8-B8DF-4C97-A273-EAEBEDC437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76400"/>
            <a:ext cx="3513665" cy="1524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34E1E0E-ADCD-4532-9583-018116FF1B14}"/>
              </a:ext>
            </a:extLst>
          </p:cNvPr>
          <p:cNvSpPr/>
          <p:nvPr/>
        </p:nvSpPr>
        <p:spPr>
          <a:xfrm>
            <a:off x="685800" y="1981200"/>
            <a:ext cx="2590800" cy="30480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2D7A3F-3B29-49B2-BED1-65F46EEDAF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3272" y="2496403"/>
            <a:ext cx="7171874" cy="38673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329390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DB636899-B822-4B40-8A5F-281FB1395C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355758"/>
            <a:ext cx="8229600" cy="614648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032035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EB3BC-371E-4329-8FEF-E01B9346B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>
            <a:normAutofit/>
          </a:bodyPr>
          <a:lstStyle/>
          <a:p>
            <a:r>
              <a:rPr lang="en-GB" dirty="0" err="1"/>
              <a:t>ScannerInput</a:t>
            </a:r>
            <a:r>
              <a:rPr lang="en-GB" dirty="0"/>
              <a:t> Class - try/catch example</a:t>
            </a:r>
            <a:endParaRPr lang="en-VI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CF5AE8-B8DF-4C97-A273-EAEBEDC437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76400"/>
            <a:ext cx="3513665" cy="1524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34E1E0E-ADCD-4532-9583-018116FF1B14}"/>
              </a:ext>
            </a:extLst>
          </p:cNvPr>
          <p:cNvSpPr/>
          <p:nvPr/>
        </p:nvSpPr>
        <p:spPr>
          <a:xfrm>
            <a:off x="685800" y="1981200"/>
            <a:ext cx="2590800" cy="30480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2D7A3F-3B29-49B2-BED1-65F46EEDAF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3272" y="2496403"/>
            <a:ext cx="7171874" cy="38673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Content Placeholder 3" descr="tryCatch.png">
            <a:extLst>
              <a:ext uri="{FF2B5EF4-FFF2-40B4-BE49-F238E27FC236}">
                <a16:creationId xmlns:a16="http://schemas.microsoft.com/office/drawing/2014/main" id="{16B9047B-DBE4-4511-AA5F-F1CC34D31F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93" t="-858" r="590" b="-856"/>
          <a:stretch/>
        </p:blipFill>
        <p:spPr>
          <a:xfrm>
            <a:off x="620730" y="3276600"/>
            <a:ext cx="3265470" cy="3429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514995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E3E588-C57D-4460-8197-4223C11CA7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GB" sz="4800" dirty="0" err="1">
                <a:solidFill>
                  <a:srgbClr val="FFFFFF"/>
                </a:solidFill>
              </a:rPr>
              <a:t>XStream</a:t>
            </a:r>
            <a:r>
              <a:rPr lang="en-GB" sz="4800" dirty="0">
                <a:solidFill>
                  <a:srgbClr val="FFFFFF"/>
                </a:solidFill>
              </a:rPr>
              <a:t> and Exceptions</a:t>
            </a:r>
            <a:endParaRPr lang="en-VI" sz="48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1F733-1F08-47D8-98A7-2968F4C31B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GB" sz="3000" dirty="0"/>
              <a:t>In the last slide deck, we covered using the </a:t>
            </a:r>
            <a:r>
              <a:rPr lang="en-GB" sz="3000" dirty="0" err="1"/>
              <a:t>XStream</a:t>
            </a:r>
            <a:r>
              <a:rPr lang="en-GB" sz="3000" dirty="0"/>
              <a:t> component to save and load XML data to/from the </a:t>
            </a:r>
            <a:r>
              <a:rPr lang="en-GB" sz="3000" dirty="0" err="1"/>
              <a:t>harddisk</a:t>
            </a:r>
            <a:r>
              <a:rPr lang="en-GB" sz="3000" dirty="0"/>
              <a:t>.  Now we will look in more detail at the Exception Handling.</a:t>
            </a:r>
            <a:endParaRPr lang="en-VI" sz="3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3256CB8-5EBE-4756-8554-C2DBC6CBFA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9286" y="123052"/>
            <a:ext cx="2429414" cy="40822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278059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5E829D51-B376-4662-9C8C-7EB7CC48E2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4750475"/>
            <a:ext cx="8682570" cy="203132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void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save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throws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Exception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XStream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en-VI" altLang="en-VI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xstream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en-VI" altLang="en-VI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XStream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en-VI" altLang="en-VI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DomDriver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());</a:t>
            </a:r>
            <a:r>
              <a:rPr kumimoji="0" lang="en-GB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b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ObjectOutputStream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out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endParaRPr kumimoji="0" lang="en-GB" altLang="en-VI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altLang="en-VI" dirty="0">
                <a:solidFill>
                  <a:srgbClr val="080808"/>
                </a:solidFill>
                <a:latin typeface="JetBrains Mono"/>
              </a:rPr>
              <a:t>		</a:t>
            </a:r>
            <a:r>
              <a:rPr kumimoji="0" lang="en-VI" altLang="en-VI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xstream</a:t>
            </a:r>
            <a:r>
              <a:rPr kumimoji="0" lang="en-VI" altLang="en-VI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.createObjectOutputStream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en-VI" altLang="en-VI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FileWriter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"products.xml"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));</a:t>
            </a:r>
            <a:r>
              <a:rPr kumimoji="0" lang="en-GB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</a:t>
            </a:r>
            <a:b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out</a:t>
            </a:r>
            <a:r>
              <a:rPr kumimoji="0" lang="en-VI" altLang="en-VI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.writeObject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products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r>
              <a:rPr kumimoji="0" lang="en-GB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b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out</a:t>
            </a:r>
            <a:r>
              <a:rPr kumimoji="0" lang="en-VI" altLang="en-VI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.close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r>
              <a:rPr kumimoji="0" lang="en-GB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</a:t>
            </a:r>
            <a:b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endParaRPr kumimoji="0" lang="en-VI" altLang="en-VI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2AE74F-4A2D-4CC0-924F-B9C693DBD1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595" y="76200"/>
            <a:ext cx="3439005" cy="32675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5FDEA686-2D2D-4EB3-A0EE-8F04B54C95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4597" y="76200"/>
            <a:ext cx="8381203" cy="452431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@SuppressWarnings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"unchecked"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void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load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throws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Exception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//list of classes that you wish to include in the serialisation, separated by a comma</a:t>
            </a:r>
            <a:br>
              <a:rPr kumimoji="0" lang="en-VI" altLang="en-VI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VI" altLang="en-VI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Class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&lt;?&gt;[]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classes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Class[] { </a:t>
            </a:r>
            <a:r>
              <a:rPr kumimoji="0" lang="en-VI" altLang="en-VI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Product</a:t>
            </a:r>
            <a:r>
              <a:rPr kumimoji="0" lang="en-VI" altLang="en-VI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class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};</a:t>
            </a:r>
            <a:r>
              <a:rPr kumimoji="0" lang="en-GB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</a:t>
            </a:r>
            <a:b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//setting up the </a:t>
            </a:r>
            <a:r>
              <a:rPr kumimoji="0" lang="en-VI" altLang="en-VI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xstream</a:t>
            </a:r>
            <a:r>
              <a:rPr kumimoji="0" lang="en-VI" altLang="en-VI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object with default security and the above classes</a:t>
            </a:r>
            <a:br>
              <a:rPr kumimoji="0" lang="en-VI" altLang="en-VI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VI" altLang="en-VI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kumimoji="0" lang="en-VI" altLang="en-VI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XStream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en-VI" altLang="en-VI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xstream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en-VI" altLang="en-VI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XStream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en-VI" altLang="en-VI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DomDriver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());</a:t>
            </a:r>
            <a:r>
              <a:rPr kumimoji="0" lang="en-GB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b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XStream</a:t>
            </a:r>
            <a:r>
              <a:rPr kumimoji="0" lang="en-VI" altLang="en-VI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setupDefaultSecurity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xstream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r>
              <a:rPr kumimoji="0" lang="en-GB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                   </a:t>
            </a:r>
            <a:b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xstream</a:t>
            </a:r>
            <a:r>
              <a:rPr kumimoji="0" lang="en-VI" altLang="en-VI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.allowTypes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classes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//doing the actual serialisation to an XML file</a:t>
            </a:r>
            <a:br>
              <a:rPr kumimoji="0" lang="en-VI" altLang="en-VI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VI" altLang="en-VI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kumimoji="0" lang="en-VI" altLang="en-VI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ObjectInputStream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is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xstream</a:t>
            </a:r>
            <a:r>
              <a:rPr kumimoji="0" lang="en-VI" altLang="en-VI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.createObjectInputStream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en-VI" altLang="en-VI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FileReader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"products.xml"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));</a:t>
            </a:r>
            <a:r>
              <a:rPr kumimoji="0" lang="en-GB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products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(</a:t>
            </a:r>
            <a:r>
              <a:rPr kumimoji="0" lang="en-VI" altLang="en-VI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ArrayList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Product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&gt;) </a:t>
            </a:r>
            <a:r>
              <a:rPr kumimoji="0" lang="en-VI" altLang="en-VI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is</a:t>
            </a:r>
            <a:r>
              <a:rPr kumimoji="0" lang="en-VI" altLang="en-VI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.readObject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r>
              <a:rPr kumimoji="0" lang="en-GB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b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is</a:t>
            </a:r>
            <a:r>
              <a:rPr kumimoji="0" lang="en-VI" altLang="en-VI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.close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r>
              <a:rPr kumimoji="0" lang="en-GB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b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endParaRPr kumimoji="0" lang="en-VI" altLang="en-VI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113ED09-D74E-4BE6-A4BC-BF6F8424F42F}"/>
              </a:ext>
            </a:extLst>
          </p:cNvPr>
          <p:cNvSpPr/>
          <p:nvPr/>
        </p:nvSpPr>
        <p:spPr>
          <a:xfrm>
            <a:off x="304800" y="2743200"/>
            <a:ext cx="1371600" cy="38100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93C7CA4-449B-4509-ABBF-C825BDD9947F}"/>
              </a:ext>
            </a:extLst>
          </p:cNvPr>
          <p:cNvSpPr/>
          <p:nvPr/>
        </p:nvSpPr>
        <p:spPr>
          <a:xfrm>
            <a:off x="152400" y="76200"/>
            <a:ext cx="1066800" cy="22860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  <p:sp>
        <p:nvSpPr>
          <p:cNvPr id="4" name="Arrow: Left 3">
            <a:extLst>
              <a:ext uri="{FF2B5EF4-FFF2-40B4-BE49-F238E27FC236}">
                <a16:creationId xmlns:a16="http://schemas.microsoft.com/office/drawing/2014/main" id="{F855D1AF-DA3C-43FA-912A-3ACB666AAAD1}"/>
              </a:ext>
            </a:extLst>
          </p:cNvPr>
          <p:cNvSpPr/>
          <p:nvPr/>
        </p:nvSpPr>
        <p:spPr>
          <a:xfrm>
            <a:off x="7391400" y="457200"/>
            <a:ext cx="1828800" cy="228600"/>
          </a:xfrm>
          <a:prstGeom prst="left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  <p:sp>
        <p:nvSpPr>
          <p:cNvPr id="12" name="Arrow: Left 11">
            <a:extLst>
              <a:ext uri="{FF2B5EF4-FFF2-40B4-BE49-F238E27FC236}">
                <a16:creationId xmlns:a16="http://schemas.microsoft.com/office/drawing/2014/main" id="{63C50781-39DC-4AB5-A957-5516CB8ABF19}"/>
              </a:ext>
            </a:extLst>
          </p:cNvPr>
          <p:cNvSpPr/>
          <p:nvPr/>
        </p:nvSpPr>
        <p:spPr>
          <a:xfrm>
            <a:off x="3734597" y="4876800"/>
            <a:ext cx="1828800" cy="228600"/>
          </a:xfrm>
          <a:prstGeom prst="left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20969684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4294967295"/>
          </p:nvPr>
        </p:nvSpPr>
        <p:spPr>
          <a:xfrm>
            <a:off x="3810000" y="261787"/>
            <a:ext cx="6650169" cy="412741"/>
          </a:xfrm>
          <a:solidFill>
            <a:schemeClr val="accent6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marL="0" indent="0" algn="ctr">
              <a:buNone/>
            </a:pPr>
            <a:r>
              <a:rPr lang="en-IE" sz="2000" dirty="0"/>
              <a:t>Adding </a:t>
            </a:r>
            <a:r>
              <a:rPr lang="en-IE" sz="2000" b="1" dirty="0">
                <a:solidFill>
                  <a:srgbClr val="FF0000"/>
                </a:solidFill>
              </a:rPr>
              <a:t>Save</a:t>
            </a:r>
            <a:r>
              <a:rPr lang="en-IE" sz="2000" dirty="0"/>
              <a:t> and </a:t>
            </a:r>
            <a:r>
              <a:rPr lang="en-IE" sz="2000" b="1" dirty="0">
                <a:solidFill>
                  <a:srgbClr val="FF0000"/>
                </a:solidFill>
              </a:rPr>
              <a:t>Load</a:t>
            </a:r>
            <a:r>
              <a:rPr lang="en-IE" sz="2000" dirty="0">
                <a:solidFill>
                  <a:srgbClr val="FF0000"/>
                </a:solidFill>
              </a:rPr>
              <a:t> </a:t>
            </a:r>
            <a:r>
              <a:rPr lang="en-IE" sz="2000" dirty="0"/>
              <a:t>functionality to the </a:t>
            </a:r>
            <a:r>
              <a:rPr lang="en-IE" sz="2000" b="1" dirty="0"/>
              <a:t>menu</a:t>
            </a:r>
            <a:r>
              <a:rPr lang="en-IE" sz="2000" dirty="0"/>
              <a:t>.</a:t>
            </a:r>
          </a:p>
          <a:p>
            <a:pPr marL="457200" lvl="1" indent="0" algn="ctr">
              <a:buNone/>
            </a:pPr>
            <a:endParaRPr lang="en-IE" sz="2000" dirty="0"/>
          </a:p>
          <a:p>
            <a:pPr algn="ctr"/>
            <a:endParaRPr lang="en-US" sz="2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965D4E2-B20A-44A6-AD94-FCBD65CC51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024" y="154228"/>
            <a:ext cx="2614776" cy="34685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21696B5-2FB1-4326-9F41-87341094A66A}"/>
              </a:ext>
            </a:extLst>
          </p:cNvPr>
          <p:cNvSpPr/>
          <p:nvPr/>
        </p:nvSpPr>
        <p:spPr>
          <a:xfrm>
            <a:off x="457200" y="990600"/>
            <a:ext cx="1828800" cy="22860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A3E0AD-4F15-49E7-ADD9-36FDE61F91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1400" y="1589446"/>
            <a:ext cx="7638285" cy="36791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AD684C83-0898-4336-92B5-D3BF49BA212C}"/>
              </a:ext>
            </a:extLst>
          </p:cNvPr>
          <p:cNvSpPr/>
          <p:nvPr/>
        </p:nvSpPr>
        <p:spPr>
          <a:xfrm>
            <a:off x="2971800" y="4191000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78BEBB4-0A7D-4EBB-9030-B9D6DC04BFC9}"/>
              </a:ext>
            </a:extLst>
          </p:cNvPr>
          <p:cNvSpPr/>
          <p:nvPr/>
        </p:nvSpPr>
        <p:spPr>
          <a:xfrm>
            <a:off x="357024" y="154228"/>
            <a:ext cx="1828800" cy="22860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44088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4294967295"/>
          </p:nvPr>
        </p:nvSpPr>
        <p:spPr>
          <a:xfrm>
            <a:off x="3810000" y="261787"/>
            <a:ext cx="6650169" cy="412741"/>
          </a:xfrm>
          <a:solidFill>
            <a:schemeClr val="accent6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marL="0" indent="0" algn="ctr">
              <a:buNone/>
            </a:pPr>
            <a:r>
              <a:rPr lang="en-IE" sz="2000" dirty="0"/>
              <a:t>Adding </a:t>
            </a:r>
            <a:r>
              <a:rPr lang="en-IE" sz="2000" b="1" dirty="0">
                <a:solidFill>
                  <a:srgbClr val="FF0000"/>
                </a:solidFill>
              </a:rPr>
              <a:t>Save</a:t>
            </a:r>
            <a:r>
              <a:rPr lang="en-IE" sz="2000" dirty="0"/>
              <a:t> and </a:t>
            </a:r>
            <a:r>
              <a:rPr lang="en-IE" sz="2000" b="1" dirty="0">
                <a:solidFill>
                  <a:srgbClr val="FF0000"/>
                </a:solidFill>
              </a:rPr>
              <a:t>Load</a:t>
            </a:r>
            <a:r>
              <a:rPr lang="en-IE" sz="2000" dirty="0">
                <a:solidFill>
                  <a:srgbClr val="FF0000"/>
                </a:solidFill>
              </a:rPr>
              <a:t> </a:t>
            </a:r>
            <a:r>
              <a:rPr lang="en-IE" sz="2000" dirty="0"/>
              <a:t>functionality to the </a:t>
            </a:r>
            <a:r>
              <a:rPr lang="en-IE" sz="2000" b="1" dirty="0"/>
              <a:t>menu</a:t>
            </a:r>
            <a:r>
              <a:rPr lang="en-IE" sz="2000" dirty="0"/>
              <a:t>.</a:t>
            </a:r>
          </a:p>
          <a:p>
            <a:pPr marL="457200" lvl="1" indent="0" algn="ctr">
              <a:buNone/>
            </a:pPr>
            <a:endParaRPr lang="en-IE" sz="2000" dirty="0"/>
          </a:p>
          <a:p>
            <a:pPr algn="ctr"/>
            <a:endParaRPr lang="en-US" sz="2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965D4E2-B20A-44A6-AD94-FCBD65CC51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024" y="154228"/>
            <a:ext cx="2614776" cy="34685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21696B5-2FB1-4326-9F41-87341094A66A}"/>
              </a:ext>
            </a:extLst>
          </p:cNvPr>
          <p:cNvSpPr/>
          <p:nvPr/>
        </p:nvSpPr>
        <p:spPr>
          <a:xfrm>
            <a:off x="357024" y="2895600"/>
            <a:ext cx="1828800" cy="45720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 sz="440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8D46F7C-9E11-42B8-B3A4-3541544F92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3795446"/>
            <a:ext cx="6793398" cy="255454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I" altLang="en-VI" sz="20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//load all the products into the store from a file on the hard disk</a:t>
            </a:r>
            <a:br>
              <a:rPr kumimoji="0" lang="en-VI" altLang="en-VI" sz="20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void </a:t>
            </a:r>
            <a:r>
              <a:rPr kumimoji="0" lang="en-VI" altLang="en-VI" sz="20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loadProducts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 {</a:t>
            </a:r>
            <a:b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try 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20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</a:t>
            </a:r>
            <a:r>
              <a:rPr kumimoji="0" lang="en-VI" altLang="en-VI" sz="2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.load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 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catch 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Exception 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e) {</a:t>
            </a:r>
            <a:b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System</a:t>
            </a:r>
            <a:r>
              <a:rPr kumimoji="0" lang="en-VI" altLang="en-VI" sz="2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20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err</a:t>
            </a:r>
            <a:r>
              <a:rPr kumimoji="0" lang="en-VI" altLang="en-VI" sz="2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.println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"Error reading from file: " 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+ e);</a:t>
            </a:r>
            <a:b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endParaRPr kumimoji="0" lang="en-VI" altLang="en-VI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F31747B-010E-4FC5-855F-F09CE93211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2883" y="874455"/>
            <a:ext cx="6303072" cy="255454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I" altLang="en-VI" sz="20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//save all the products in the store to a file on the hard disk</a:t>
            </a:r>
            <a:br>
              <a:rPr kumimoji="0" lang="en-VI" altLang="en-VI" sz="20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void </a:t>
            </a:r>
            <a:r>
              <a:rPr kumimoji="0" lang="en-VI" altLang="en-VI" sz="20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saveProducts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 {</a:t>
            </a:r>
            <a:b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try 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20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</a:t>
            </a:r>
            <a:r>
              <a:rPr kumimoji="0" lang="en-VI" altLang="en-VI" sz="2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.save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 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catch 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Exception 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e) {</a:t>
            </a:r>
            <a:b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System</a:t>
            </a:r>
            <a:r>
              <a:rPr kumimoji="0" lang="en-VI" altLang="en-VI" sz="2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20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err</a:t>
            </a:r>
            <a:r>
              <a:rPr kumimoji="0" lang="en-VI" altLang="en-VI" sz="2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.println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"Error writing to file: " 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+ e);</a:t>
            </a:r>
            <a:b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endParaRPr kumimoji="0" lang="en-VI" altLang="en-VI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1FB60E5-414E-4854-A5CB-E09F8B75FD3D}"/>
              </a:ext>
            </a:extLst>
          </p:cNvPr>
          <p:cNvSpPr/>
          <p:nvPr/>
        </p:nvSpPr>
        <p:spPr>
          <a:xfrm>
            <a:off x="357024" y="154228"/>
            <a:ext cx="1828800" cy="22860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1921382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9601200" cy="5029200"/>
          </a:xfrm>
        </p:spPr>
        <p:txBody>
          <a:bodyPr>
            <a:normAutofit/>
          </a:bodyPr>
          <a:lstStyle/>
          <a:p>
            <a:r>
              <a:rPr lang="en-GB" dirty="0"/>
              <a:t>Crash v Exceptions</a:t>
            </a:r>
          </a:p>
          <a:p>
            <a:r>
              <a:rPr lang="en-GB" dirty="0"/>
              <a:t>Detect and Handle</a:t>
            </a:r>
          </a:p>
          <a:p>
            <a:pPr lvl="1"/>
            <a:r>
              <a:rPr lang="en-GB" dirty="0"/>
              <a:t>Enables program to continue</a:t>
            </a:r>
          </a:p>
          <a:p>
            <a:r>
              <a:rPr lang="en-GB" dirty="0"/>
              <a:t>Java’s predefined Exception objects</a:t>
            </a:r>
          </a:p>
          <a:p>
            <a:r>
              <a:rPr lang="en-GB" dirty="0"/>
              <a:t>try / catch block</a:t>
            </a:r>
          </a:p>
          <a:p>
            <a:r>
              <a:rPr lang="en-GB" dirty="0"/>
              <a:t>Introduction to </a:t>
            </a:r>
          </a:p>
          <a:p>
            <a:pPr lvl="1"/>
            <a:r>
              <a:rPr lang="en-GB" dirty="0"/>
              <a:t>do while loop</a:t>
            </a:r>
          </a:p>
          <a:p>
            <a:pPr lvl="2"/>
            <a:r>
              <a:rPr lang="en-GB" dirty="0"/>
              <a:t>Always runs once</a:t>
            </a:r>
          </a:p>
          <a:p>
            <a:pPr lvl="2"/>
            <a:r>
              <a:rPr lang="en-GB" dirty="0"/>
              <a:t>Condition is test at the end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477520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Questions?</a:t>
            </a:r>
          </a:p>
        </p:txBody>
      </p:sp>
      <p:pic>
        <p:nvPicPr>
          <p:cNvPr id="3" name="Picture 2" descr="A green question mark in a circle&#10;&#10;AI-generated content may be incorrect.">
            <a:extLst>
              <a:ext uri="{FF2B5EF4-FFF2-40B4-BE49-F238E27FC236}">
                <a16:creationId xmlns:a16="http://schemas.microsoft.com/office/drawing/2014/main" id="{5A9D487F-3157-9FE9-7E30-C739B06EAF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3019" y="1166019"/>
            <a:ext cx="4525963" cy="452596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6148025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1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1215</Words>
  <Application>Microsoft Office PowerPoint</Application>
  <PresentationFormat>Widescreen</PresentationFormat>
  <Paragraphs>134</Paragraphs>
  <Slides>25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Calibri</vt:lpstr>
      <vt:lpstr>Courier New</vt:lpstr>
      <vt:lpstr>JetBrains Mono</vt:lpstr>
      <vt:lpstr>Times New Roman</vt:lpstr>
      <vt:lpstr>Office Theme</vt:lpstr>
      <vt:lpstr>Exception Handling</vt:lpstr>
      <vt:lpstr>PowerPoint Presentation</vt:lpstr>
      <vt:lpstr>Lab01b, Step 3 – InputMismatch Exceptions</vt:lpstr>
      <vt:lpstr>Lab01b, Step 3 – InputMismatch Exceptions</vt:lpstr>
      <vt:lpstr>Lab01b, Step 3 – InputMismatch Exceptions</vt:lpstr>
      <vt:lpstr>PowerPoint Presentation</vt:lpstr>
      <vt:lpstr>What are Exceptions?</vt:lpstr>
      <vt:lpstr>When an exception occurs…</vt:lpstr>
      <vt:lpstr>A RuntimeException…</vt:lpstr>
      <vt:lpstr>Catching Exceptions - handlers</vt:lpstr>
      <vt:lpstr>try and catch</vt:lpstr>
      <vt:lpstr>try and catch - example</vt:lpstr>
      <vt:lpstr>Flow of control in Exception Handing</vt:lpstr>
      <vt:lpstr>Returning to our – InputMismatch Exception</vt:lpstr>
      <vt:lpstr>Lab03: ScannerInput Class is Introduced</vt:lpstr>
      <vt:lpstr>ScannerInput Class - try/catch example</vt:lpstr>
      <vt:lpstr>ScannerInput Class - try/catch example</vt:lpstr>
      <vt:lpstr>PowerPoint Presentation</vt:lpstr>
      <vt:lpstr>ScannerInput Class - try/catch example</vt:lpstr>
      <vt:lpstr>XStream and Exceptions</vt:lpstr>
      <vt:lpstr>PowerPoint Presentation</vt:lpstr>
      <vt:lpstr>PowerPoint Presentation</vt:lpstr>
      <vt:lpstr>PowerPoint Presentation</vt:lpstr>
      <vt:lpstr>Summary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Exceptions</dc:title>
  <dc:creator>Siobhan Drohan</dc:creator>
  <cp:lastModifiedBy>Siobhan Roche</cp:lastModifiedBy>
  <cp:revision>129</cp:revision>
  <cp:lastPrinted>2018-03-30T01:09:02Z</cp:lastPrinted>
  <dcterms:created xsi:type="dcterms:W3CDTF">2006-08-16T00:00:00Z</dcterms:created>
  <dcterms:modified xsi:type="dcterms:W3CDTF">2026-02-10T12:01:26Z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FC85C181-B473-43BE-969B-EDA04EBBD123</vt:lpwstr>
  </property>
  <property fmtid="{D5CDD505-2E9C-101B-9397-08002B2CF9AE}" pid="3" name="ArticulatePath">
    <vt:lpwstr>a-prog-fund-2-Exceptions</vt:lpwstr>
  </property>
</Properties>
</file>