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notesSlides/notesSlide3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5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6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7.xml" ContentType="application/vnd.openxmlformats-officedocument.presentationml.notesSlide+xml"/>
  <Override PartName="/ppt/tags/tag19.xml" ContentType="application/vnd.openxmlformats-officedocument.presentationml.tags+xml"/>
  <Override PartName="/ppt/notesSlides/notesSlide8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56" r:id="rId2"/>
    <p:sldId id="494" r:id="rId3"/>
    <p:sldId id="496" r:id="rId4"/>
    <p:sldId id="559" r:id="rId5"/>
    <p:sldId id="560" r:id="rId6"/>
    <p:sldId id="540" r:id="rId7"/>
    <p:sldId id="497" r:id="rId8"/>
    <p:sldId id="523" r:id="rId9"/>
    <p:sldId id="561" r:id="rId10"/>
    <p:sldId id="541" r:id="rId11"/>
    <p:sldId id="529" r:id="rId12"/>
    <p:sldId id="532" r:id="rId13"/>
    <p:sldId id="534" r:id="rId14"/>
    <p:sldId id="533" r:id="rId15"/>
    <p:sldId id="530" r:id="rId16"/>
    <p:sldId id="572" r:id="rId17"/>
    <p:sldId id="562" r:id="rId18"/>
    <p:sldId id="535" r:id="rId19"/>
    <p:sldId id="536" r:id="rId20"/>
    <p:sldId id="564" r:id="rId21"/>
    <p:sldId id="563" r:id="rId22"/>
    <p:sldId id="567" r:id="rId23"/>
    <p:sldId id="568" r:id="rId24"/>
    <p:sldId id="577" r:id="rId25"/>
    <p:sldId id="578" r:id="rId26"/>
    <p:sldId id="579" r:id="rId27"/>
    <p:sldId id="569" r:id="rId28"/>
    <p:sldId id="571" r:id="rId29"/>
    <p:sldId id="566" r:id="rId30"/>
    <p:sldId id="573" r:id="rId31"/>
    <p:sldId id="574" r:id="rId32"/>
    <p:sldId id="565" r:id="rId33"/>
    <p:sldId id="543" r:id="rId34"/>
    <p:sldId id="580" r:id="rId35"/>
    <p:sldId id="582" r:id="rId36"/>
    <p:sldId id="584" r:id="rId37"/>
    <p:sldId id="575" r:id="rId38"/>
    <p:sldId id="554" r:id="rId39"/>
    <p:sldId id="581" r:id="rId40"/>
    <p:sldId id="585" r:id="rId41"/>
    <p:sldId id="586" r:id="rId42"/>
    <p:sldId id="576" r:id="rId43"/>
    <p:sldId id="392" r:id="rId44"/>
  </p:sldIdLst>
  <p:sldSz cx="12192000" cy="6858000"/>
  <p:notesSz cx="6858000" cy="9144000"/>
  <p:custDataLst>
    <p:tags r:id="rId4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F1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53" autoAdjust="0"/>
    <p:restoredTop sz="94724"/>
  </p:normalViewPr>
  <p:slideViewPr>
    <p:cSldViewPr>
      <p:cViewPr varScale="1">
        <p:scale>
          <a:sx n="121" d="100"/>
          <a:sy n="121" d="100"/>
        </p:scale>
        <p:origin x="200" y="31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gs" Target="tags/tag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07/03/2026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97631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95740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538056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60831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210966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26919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445428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3714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497421" y="3128069"/>
            <a:ext cx="2646554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48"/>
            <a:ext cx="3751796" cy="1110389"/>
            <a:chOff x="0" y="-174328"/>
            <a:chExt cx="4001913" cy="1579217"/>
          </a:xfrm>
        </p:grpSpPr>
        <p:sp>
          <p:nvSpPr>
            <p:cNvPr id="210" name="Shape 210"/>
            <p:cNvSpPr/>
            <p:nvPr/>
          </p:nvSpPr>
          <p:spPr>
            <a:xfrm>
              <a:off x="0" y="-174328"/>
              <a:ext cx="4001913" cy="958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Title Text</a:t>
            </a:r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037974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399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Test Driven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855279" y="3200400"/>
            <a:ext cx="1048144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JUnit to Test Product.java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875FDE-5437-BCEA-6271-713F0B14B648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F1D33C3B-725C-4E0B-8405-D20530C76AC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Let’s first write a complete test class and then we will discuss the theory behind it.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 dirty="0"/>
          </a:p>
          <a:p>
            <a:r>
              <a:rPr lang="en-IE" dirty="0"/>
              <a:t>Testing Product.java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12407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32564B5D-2EA3-48DC-B94A-007399AE9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78" y="854095"/>
            <a:ext cx="7885492" cy="590931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package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models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import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utils.Utilities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-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Product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setProductCode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toString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"Product description: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product code: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unit cost: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currently in product line: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booleanToYN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2791872-4DE7-4397-B23C-BA3EAA320699}"/>
              </a:ext>
            </a:extLst>
          </p:cNvPr>
          <p:cNvSpPr txBox="1">
            <a:spLocks/>
          </p:cNvSpPr>
          <p:nvPr/>
        </p:nvSpPr>
        <p:spPr>
          <a:xfrm>
            <a:off x="-152400" y="-76200"/>
            <a:ext cx="331354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/>
              <a:t>Product.java</a:t>
            </a:r>
            <a:endParaRPr lang="en-I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6934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-152400" y="-76200"/>
            <a:ext cx="3313540" cy="1143000"/>
          </a:xfrm>
        </p:spPr>
        <p:txBody>
          <a:bodyPr/>
          <a:lstStyle/>
          <a:p>
            <a:r>
              <a:rPr lang="en-IE" dirty="0"/>
              <a:t>Product.java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2564B5D-2EA3-48DC-B94A-007399AE9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78" y="854095"/>
            <a:ext cx="7885492" cy="590931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package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models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import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utils.Utilities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-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Product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setProductCode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toString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"Product description: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product code: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unit cost: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currently in product line: "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booleanToYN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2533957-5ED7-4075-B9D8-11A5380C8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275" y="66373"/>
            <a:ext cx="5377947" cy="418576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validRange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9999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validateStringLength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VI" altLang="en-VI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FA6212CE-4C23-462D-884D-A040977699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6800" y="4085749"/>
            <a:ext cx="3351687" cy="2677656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4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isInCurrentProductLine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6759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2791872-4DE7-4397-B23C-BA3EAA320699}"/>
              </a:ext>
            </a:extLst>
          </p:cNvPr>
          <p:cNvSpPr txBox="1">
            <a:spLocks/>
          </p:cNvSpPr>
          <p:nvPr/>
        </p:nvSpPr>
        <p:spPr>
          <a:xfrm>
            <a:off x="-152400" y="-76200"/>
            <a:ext cx="331354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dirty="0"/>
              <a:t>Utilities.java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01B348-0B53-4FEB-806C-03700DBE6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43457"/>
            <a:ext cx="5907130" cy="677108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endParaRPr kumimoji="0" lang="en-GB" altLang="en-VI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4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static double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toTwoDecimalPlaces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number){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(number *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/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100.0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static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YNtoBoolean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char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charToConvert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charToConvert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==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'y'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|| 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charToConvert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==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'Y'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</a:br>
            <a:r>
              <a:rPr kumimoji="0" lang="en-VI" altLang="en-VI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static char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booleanToYN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booleanToConvert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booleanToConvert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?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'Y'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: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'N'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static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stringToTruncate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length){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stringToTruncate.length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&lt;= length)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stringToTruncate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else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stringToTruncate.substring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length);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static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validateStringLength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strToCheck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maxLength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strToCheck.length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&lt;=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maxLength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static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validRange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numberToCheck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min,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max) {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numberToCheck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&gt;= min) &amp;&amp; (</a:t>
            </a:r>
            <a:r>
              <a:rPr kumimoji="0" lang="en-VI" altLang="en-VI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numberToCheck</a:t>
            </a: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&lt;= max));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42F2B-9D9A-48BE-969C-967E16FDFFE8}"/>
              </a:ext>
            </a:extLst>
          </p:cNvPr>
          <p:cNvSpPr txBox="1"/>
          <p:nvPr/>
        </p:nvSpPr>
        <p:spPr>
          <a:xfrm>
            <a:off x="1219200" y="2736502"/>
            <a:ext cx="32004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Some of these utility methods are used in the Product class:</a:t>
            </a:r>
            <a:endParaRPr lang="en-VI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3145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Creating a Test Source Directory…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56429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In IntelliJ, create a new directory and call it </a:t>
            </a:r>
            <a:r>
              <a:rPr lang="en-IE" dirty="0">
                <a:solidFill>
                  <a:srgbClr val="FF0000"/>
                </a:solidFill>
              </a:rPr>
              <a:t>test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A3F46B-EAFF-4A36-A371-9E1AEA77D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76400"/>
            <a:ext cx="8211696" cy="40677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7" name="Straight Arrow Connector 6"/>
          <p:cNvCxnSpPr>
            <a:cxnSpLocks/>
          </p:cNvCxnSpPr>
          <p:nvPr/>
        </p:nvCxnSpPr>
        <p:spPr>
          <a:xfrm flipH="1">
            <a:off x="7430646" y="3225297"/>
            <a:ext cx="2228277" cy="2358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01908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533400" y="511372"/>
            <a:ext cx="5105401" cy="1465307"/>
          </a:xfrm>
        </p:spPr>
        <p:txBody>
          <a:bodyPr>
            <a:noAutofit/>
          </a:bodyPr>
          <a:lstStyle/>
          <a:p>
            <a:r>
              <a:rPr lang="en-IE" sz="3200" dirty="0"/>
              <a:t>Then “mark” this new directory as a </a:t>
            </a:r>
            <a:br>
              <a:rPr lang="en-IE" sz="3200" dirty="0"/>
            </a:br>
            <a:r>
              <a:rPr lang="en-IE" sz="3200" b="1" dirty="0"/>
              <a:t>Test Sources Root </a:t>
            </a:r>
            <a:r>
              <a:rPr lang="en-IE" sz="3200" dirty="0"/>
              <a:t>directory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8A83B0-22E7-4961-9BB1-EB6231E270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7509" r="55000" b="4667"/>
          <a:stretch/>
        </p:blipFill>
        <p:spPr>
          <a:xfrm>
            <a:off x="914401" y="3124200"/>
            <a:ext cx="4724400" cy="11695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2590800" y="2088718"/>
            <a:ext cx="1600200" cy="118788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607017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533400" y="511372"/>
            <a:ext cx="5105401" cy="1465307"/>
          </a:xfrm>
        </p:spPr>
        <p:txBody>
          <a:bodyPr>
            <a:noAutofit/>
          </a:bodyPr>
          <a:lstStyle/>
          <a:p>
            <a:r>
              <a:rPr lang="en-IE" sz="3200" dirty="0"/>
              <a:t>Then “mark” this new directory as a </a:t>
            </a:r>
            <a:br>
              <a:rPr lang="en-IE" sz="3200" dirty="0"/>
            </a:br>
            <a:r>
              <a:rPr lang="en-IE" sz="3200" b="1" dirty="0"/>
              <a:t>Test Sources Root </a:t>
            </a:r>
            <a:r>
              <a:rPr lang="en-IE" sz="3200" dirty="0"/>
              <a:t>directory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8A83B0-22E7-4961-9BB1-EB6231E270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7509" r="55000" b="4667"/>
          <a:stretch/>
        </p:blipFill>
        <p:spPr>
          <a:xfrm>
            <a:off x="914401" y="3124200"/>
            <a:ext cx="4724400" cy="11695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2590800" y="2088718"/>
            <a:ext cx="1600200" cy="118788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2F668A-478B-4629-BE8B-E1E1F49CF0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200" y="229849"/>
            <a:ext cx="2933700" cy="6228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F497D0B-0728-4077-B821-BCBDA3425047}"/>
              </a:ext>
            </a:extLst>
          </p:cNvPr>
          <p:cNvSpPr txBox="1">
            <a:spLocks/>
          </p:cNvSpPr>
          <p:nvPr/>
        </p:nvSpPr>
        <p:spPr>
          <a:xfrm>
            <a:off x="6019800" y="5051498"/>
            <a:ext cx="2933700" cy="17895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200" dirty="0"/>
              <a:t>Create three packages in the test folder.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2486C11-0177-4F58-A104-104D461DAC11}"/>
              </a:ext>
            </a:extLst>
          </p:cNvPr>
          <p:cNvCxnSpPr>
            <a:cxnSpLocks/>
          </p:cNvCxnSpPr>
          <p:nvPr/>
        </p:nvCxnSpPr>
        <p:spPr>
          <a:xfrm flipV="1">
            <a:off x="8763000" y="5051498"/>
            <a:ext cx="685800" cy="66350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887005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Generating a test class for </a:t>
            </a:r>
            <a:r>
              <a:rPr lang="en-IE" dirty="0" err="1"/>
              <a:t>Product.Java</a:t>
            </a:r>
            <a:r>
              <a:rPr lang="en-IE" dirty="0"/>
              <a:t> …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02910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02340300-B97C-46BF-B282-7A14522068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334786"/>
            <a:ext cx="9296400" cy="56123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5CF4F7-5114-42A5-B1E8-BB026AF8F6D5}"/>
              </a:ext>
            </a:extLst>
          </p:cNvPr>
          <p:cNvSpPr txBox="1"/>
          <p:nvPr/>
        </p:nvSpPr>
        <p:spPr>
          <a:xfrm>
            <a:off x="787400" y="5410200"/>
            <a:ext cx="403860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  Click above the Product class declaration, then click on the light bulb…select </a:t>
            </a:r>
            <a:r>
              <a:rPr lang="en-IE" sz="2400" b="1" dirty="0"/>
              <a:t>Create Test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9543663-55B5-4EFB-A145-208E55F3956A}"/>
              </a:ext>
            </a:extLst>
          </p:cNvPr>
          <p:cNvSpPr/>
          <p:nvPr/>
        </p:nvSpPr>
        <p:spPr>
          <a:xfrm>
            <a:off x="558800" y="5086528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30587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F2CBD9-2F6B-4CF4-8616-9D2DF80FBF6C}"/>
              </a:ext>
            </a:extLst>
          </p:cNvPr>
          <p:cNvSpPr txBox="1"/>
          <p:nvPr/>
        </p:nvSpPr>
        <p:spPr>
          <a:xfrm>
            <a:off x="7718612" y="838201"/>
            <a:ext cx="2286000" cy="46166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  Choose JUnit5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4DE9879-6733-4371-9A74-DCC5DEEFB5A8}"/>
              </a:ext>
            </a:extLst>
          </p:cNvPr>
          <p:cNvSpPr/>
          <p:nvPr/>
        </p:nvSpPr>
        <p:spPr>
          <a:xfrm>
            <a:off x="7467600" y="60960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441C5-BA28-423B-A23F-EF9F120645CE}"/>
              </a:ext>
            </a:extLst>
          </p:cNvPr>
          <p:cNvSpPr txBox="1"/>
          <p:nvPr/>
        </p:nvSpPr>
        <p:spPr>
          <a:xfrm>
            <a:off x="9144000" y="2895600"/>
            <a:ext cx="2286000" cy="830997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  Click the Fix button…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4757E42-D86E-404C-AB21-9BF10B193F21}"/>
              </a:ext>
            </a:extLst>
          </p:cNvPr>
          <p:cNvSpPr/>
          <p:nvPr/>
        </p:nvSpPr>
        <p:spPr>
          <a:xfrm>
            <a:off x="8892988" y="2666999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3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F734B6E-338F-4E37-ABFB-DA786DF94A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712117"/>
            <a:ext cx="7891441" cy="28241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5319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69441C5-BA28-423B-A23F-EF9F120645CE}"/>
              </a:ext>
            </a:extLst>
          </p:cNvPr>
          <p:cNvSpPr txBox="1"/>
          <p:nvPr/>
        </p:nvSpPr>
        <p:spPr>
          <a:xfrm>
            <a:off x="7543800" y="1143000"/>
            <a:ext cx="2286000" cy="156966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…and click the OK button do download JUnit5 from Maven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91B646-BDA5-41F6-8A05-EA501135F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3036332"/>
            <a:ext cx="7010400" cy="247236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3EB83E4-9D06-49A3-8F7C-0855C8F388E7}"/>
              </a:ext>
            </a:extLst>
          </p:cNvPr>
          <p:cNvSpPr/>
          <p:nvPr/>
        </p:nvSpPr>
        <p:spPr>
          <a:xfrm>
            <a:off x="7315200" y="83820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4</a:t>
            </a:r>
          </a:p>
        </p:txBody>
      </p:sp>
      <p:sp>
        <p:nvSpPr>
          <p:cNvPr id="9" name="Arrow: Up 8">
            <a:extLst>
              <a:ext uri="{FF2B5EF4-FFF2-40B4-BE49-F238E27FC236}">
                <a16:creationId xmlns:a16="http://schemas.microsoft.com/office/drawing/2014/main" id="{36168EDA-B26C-4871-AE2E-18A00715E4E8}"/>
              </a:ext>
            </a:extLst>
          </p:cNvPr>
          <p:cNvSpPr/>
          <p:nvPr/>
        </p:nvSpPr>
        <p:spPr>
          <a:xfrm>
            <a:off x="7391400" y="5679964"/>
            <a:ext cx="838200" cy="762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8570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EFC3BA-F3EE-4F84-9E80-BC5DDBEDAFE1}"/>
              </a:ext>
            </a:extLst>
          </p:cNvPr>
          <p:cNvSpPr txBox="1"/>
          <p:nvPr/>
        </p:nvSpPr>
        <p:spPr>
          <a:xfrm>
            <a:off x="7642412" y="1752600"/>
            <a:ext cx="2796988" cy="30469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  Now that JUnit5 is downloaded…select the checkboxes as shown to generate test methods.  </a:t>
            </a:r>
          </a:p>
          <a:p>
            <a:endParaRPr lang="en-IE" sz="2400" dirty="0"/>
          </a:p>
          <a:p>
            <a:r>
              <a:rPr lang="en-IE" sz="2400" dirty="0"/>
              <a:t>Note the class name is set to </a:t>
            </a:r>
            <a:r>
              <a:rPr lang="en-IE" sz="2400" dirty="0" err="1"/>
              <a:t>ProductTest</a:t>
            </a:r>
            <a:r>
              <a:rPr lang="en-IE" sz="2400" dirty="0"/>
              <a:t>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7BFB4CF-AFA6-43DA-A915-31FF819B4132}"/>
              </a:ext>
            </a:extLst>
          </p:cNvPr>
          <p:cNvSpPr/>
          <p:nvPr/>
        </p:nvSpPr>
        <p:spPr>
          <a:xfrm>
            <a:off x="7391400" y="152400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5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AE4450B-1B56-447C-82F7-50ECAA2C1C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428592"/>
            <a:ext cx="6324600" cy="60008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041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C2BE48-FE32-47C9-A640-6B47F3792229}"/>
              </a:ext>
            </a:extLst>
          </p:cNvPr>
          <p:cNvSpPr txBox="1"/>
          <p:nvPr/>
        </p:nvSpPr>
        <p:spPr>
          <a:xfrm>
            <a:off x="7391400" y="3289280"/>
            <a:ext cx="312420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   ProductTest.java is generated with starting code.  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37C2083-F9E5-452D-9646-1BA5D507EC9B}"/>
              </a:ext>
            </a:extLst>
          </p:cNvPr>
          <p:cNvSpPr/>
          <p:nvPr/>
        </p:nvSpPr>
        <p:spPr>
          <a:xfrm>
            <a:off x="7162800" y="320040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6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B903FCA4-A5E3-4A23-86B6-2A02AF3DD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890" y="76200"/>
            <a:ext cx="5292619" cy="6553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524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914400" y="2590800"/>
            <a:ext cx="10363200" cy="1470025"/>
          </a:xfrm>
        </p:spPr>
        <p:txBody>
          <a:bodyPr>
            <a:normAutofit fontScale="90000"/>
          </a:bodyPr>
          <a:lstStyle/>
          <a:p>
            <a:r>
              <a:rPr lang="en-IE" dirty="0" err="1"/>
              <a:t>ProductTest.Java</a:t>
            </a:r>
            <a:br>
              <a:rPr lang="en-IE" dirty="0"/>
            </a:br>
            <a:br>
              <a:rPr lang="en-IE" dirty="0"/>
            </a:br>
            <a:r>
              <a:rPr lang="en-IE" dirty="0"/>
              <a:t>Testing a Getter Method:</a:t>
            </a:r>
            <a:br>
              <a:rPr lang="en-IE" dirty="0"/>
            </a:br>
            <a:r>
              <a:rPr lang="en-IE" dirty="0" err="1"/>
              <a:t>getProductName</a:t>
            </a:r>
            <a:r>
              <a:rPr lang="en-IE" dirty="0"/>
              <a:t>()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13400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153262" y="2133600"/>
            <a:ext cx="3124200" cy="2057400"/>
          </a:xfrm>
        </p:spPr>
        <p:txBody>
          <a:bodyPr>
            <a:normAutofit/>
          </a:bodyPr>
          <a:lstStyle/>
          <a:p>
            <a:r>
              <a:rPr lang="en-IE" sz="3200" dirty="0"/>
              <a:t>Extract of Product.java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2564B5D-2EA3-48DC-B94A-007399AE9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117693"/>
            <a:ext cx="8970982" cy="674030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-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double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Product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setProductCode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GB" altLang="en-VI" sz="16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</a:t>
            </a:r>
            <a:r>
              <a:rPr kumimoji="0" lang="en-GB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033B3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600" dirty="0">
                <a:solidFill>
                  <a:srgbClr val="0033B3"/>
                </a:solidFill>
                <a:latin typeface="JetBrains Mono"/>
              </a:rPr>
              <a:t>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validateStringLength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lang="en-GB" altLang="en-VI" sz="1600" dirty="0">
              <a:solidFill>
                <a:srgbClr val="080808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</a:t>
            </a:r>
            <a:r>
              <a:rPr kumimoji="0" lang="en-GB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kumimoji="0" lang="en-GB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//Code Omitted</a:t>
            </a:r>
            <a:endParaRPr lang="en-GB" altLang="en-VI" sz="1600" dirty="0">
              <a:solidFill>
                <a:srgbClr val="080808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42448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31D90A0-FC48-418B-A16C-251E7EB76B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0467"/>
          <a:stretch/>
        </p:blipFill>
        <p:spPr>
          <a:xfrm>
            <a:off x="152400" y="228599"/>
            <a:ext cx="9525000" cy="63203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141C1B-2DEA-4717-AC77-8C0FFD1B685D}"/>
              </a:ext>
            </a:extLst>
          </p:cNvPr>
          <p:cNvSpPr txBox="1"/>
          <p:nvPr/>
        </p:nvSpPr>
        <p:spPr>
          <a:xfrm>
            <a:off x="8763000" y="3886200"/>
            <a:ext cx="3124200" cy="2308324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   ProductTest.java</a:t>
            </a:r>
          </a:p>
          <a:p>
            <a:endParaRPr lang="en-IE" sz="2400" dirty="0"/>
          </a:p>
          <a:p>
            <a:r>
              <a:rPr lang="en-IE" sz="2400" dirty="0"/>
              <a:t>Add four Product objects and instantiate them with the details shown.</a:t>
            </a:r>
          </a:p>
        </p:txBody>
      </p:sp>
    </p:spTree>
    <p:extLst>
      <p:ext uri="{BB962C8B-B14F-4D97-AF65-F5344CB8AC3E}">
        <p14:creationId xmlns:p14="http://schemas.microsoft.com/office/powerpoint/2010/main" val="2905094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AE2428-57B6-4551-96F1-F0C12E370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533400"/>
            <a:ext cx="7725913" cy="3733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ACA364-961F-4BCB-BBF9-4BC6E50EB836}"/>
              </a:ext>
            </a:extLst>
          </p:cNvPr>
          <p:cNvSpPr txBox="1"/>
          <p:nvPr/>
        </p:nvSpPr>
        <p:spPr>
          <a:xfrm>
            <a:off x="8358166" y="533400"/>
            <a:ext cx="3529034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ProductTest.java</a:t>
            </a:r>
          </a:p>
          <a:p>
            <a:endParaRPr lang="en-IE" sz="2400" dirty="0"/>
          </a:p>
          <a:p>
            <a:r>
              <a:rPr lang="en-IE" sz="2400" dirty="0"/>
              <a:t>Include four assertions to test the </a:t>
            </a:r>
            <a:r>
              <a:rPr lang="en-IE" sz="2400" dirty="0" err="1"/>
              <a:t>getProductName</a:t>
            </a:r>
            <a:r>
              <a:rPr lang="en-IE" sz="2400" dirty="0"/>
              <a:t>() method</a:t>
            </a:r>
          </a:p>
        </p:txBody>
      </p:sp>
    </p:spTree>
    <p:extLst>
      <p:ext uri="{BB962C8B-B14F-4D97-AF65-F5344CB8AC3E}">
        <p14:creationId xmlns:p14="http://schemas.microsoft.com/office/powerpoint/2010/main" val="1772454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AE2428-57B6-4551-96F1-F0C12E370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533400"/>
            <a:ext cx="7725913" cy="3733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236734A3-F851-48D0-852E-59E6A370E59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476"/>
          <a:stretch/>
        </p:blipFill>
        <p:spPr>
          <a:xfrm>
            <a:off x="4495800" y="1923033"/>
            <a:ext cx="7391400" cy="46883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177662-EFAF-40D2-8445-564E67A2DFC1}"/>
              </a:ext>
            </a:extLst>
          </p:cNvPr>
          <p:cNvSpPr txBox="1"/>
          <p:nvPr/>
        </p:nvSpPr>
        <p:spPr>
          <a:xfrm>
            <a:off x="1380330" y="5334000"/>
            <a:ext cx="281940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Run the test method:</a:t>
            </a:r>
          </a:p>
        </p:txBody>
      </p:sp>
    </p:spTree>
    <p:extLst>
      <p:ext uri="{BB962C8B-B14F-4D97-AF65-F5344CB8AC3E}">
        <p14:creationId xmlns:p14="http://schemas.microsoft.com/office/powerpoint/2010/main" val="1253381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7E7DCD7B-08C5-4367-971C-61CA6B6FD1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90500"/>
            <a:ext cx="7636732" cy="6477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98A6B5C-37B6-43C5-96BD-D668E18D3B15}"/>
              </a:ext>
            </a:extLst>
          </p:cNvPr>
          <p:cNvSpPr txBox="1"/>
          <p:nvPr/>
        </p:nvSpPr>
        <p:spPr>
          <a:xfrm>
            <a:off x="7027132" y="4467576"/>
            <a:ext cx="198120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The method has failed</a:t>
            </a:r>
          </a:p>
        </p:txBody>
      </p:sp>
      <p:sp>
        <p:nvSpPr>
          <p:cNvPr id="5" name="Arrow: Left 4">
            <a:extLst>
              <a:ext uri="{FF2B5EF4-FFF2-40B4-BE49-F238E27FC236}">
                <a16:creationId xmlns:a16="http://schemas.microsoft.com/office/drawing/2014/main" id="{F3C4636F-40F2-4184-B083-801A710BC35F}"/>
              </a:ext>
            </a:extLst>
          </p:cNvPr>
          <p:cNvSpPr/>
          <p:nvPr/>
        </p:nvSpPr>
        <p:spPr>
          <a:xfrm>
            <a:off x="4876800" y="4675326"/>
            <a:ext cx="1905000" cy="415499"/>
          </a:xfrm>
          <a:prstGeom prst="leftArrow">
            <a:avLst>
              <a:gd name="adj1" fmla="val 50000"/>
              <a:gd name="adj2" fmla="val 6086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23659356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FBE184A6-E938-43D5-8BA6-CD047A16A8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90500"/>
            <a:ext cx="7636732" cy="6477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D3076-C633-4D32-8B34-573479C64199}"/>
              </a:ext>
            </a:extLst>
          </p:cNvPr>
          <p:cNvSpPr txBox="1"/>
          <p:nvPr/>
        </p:nvSpPr>
        <p:spPr>
          <a:xfrm>
            <a:off x="8281966" y="2971800"/>
            <a:ext cx="3529034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The error is in the third assertion…it should have been the </a:t>
            </a:r>
            <a:r>
              <a:rPr lang="en-IE" sz="2400" dirty="0" err="1"/>
              <a:t>productAbove</a:t>
            </a:r>
            <a:r>
              <a:rPr lang="en-IE" sz="2400" dirty="0"/>
              <a:t> object and not the </a:t>
            </a:r>
            <a:r>
              <a:rPr lang="en-IE" sz="2400" dirty="0" err="1"/>
              <a:t>productExact</a:t>
            </a:r>
            <a:r>
              <a:rPr lang="en-IE" sz="2400" dirty="0"/>
              <a:t> one.  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A86BDC-F529-41B2-9C58-FE6D8E3FD7F6}"/>
              </a:ext>
            </a:extLst>
          </p:cNvPr>
          <p:cNvSpPr/>
          <p:nvPr/>
        </p:nvSpPr>
        <p:spPr>
          <a:xfrm>
            <a:off x="5562600" y="1905000"/>
            <a:ext cx="2057400" cy="5334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7464694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96B740-1C4D-4A20-90A5-975A84D3D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44"/>
            <a:ext cx="10277475" cy="62388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D3076-C633-4D32-8B34-573479C64199}"/>
              </a:ext>
            </a:extLst>
          </p:cNvPr>
          <p:cNvSpPr txBox="1"/>
          <p:nvPr/>
        </p:nvSpPr>
        <p:spPr>
          <a:xfrm>
            <a:off x="8458200" y="3460044"/>
            <a:ext cx="3070527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Fixing the error and running the test again, results in a green tick (success).  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90D6C1B-E8E6-4049-AB09-D811C9097A21}"/>
              </a:ext>
            </a:extLst>
          </p:cNvPr>
          <p:cNvSpPr/>
          <p:nvPr/>
        </p:nvSpPr>
        <p:spPr>
          <a:xfrm>
            <a:off x="6781800" y="1143000"/>
            <a:ext cx="2514600" cy="7620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FBC5186-5965-4607-BFFE-D3502F904223}"/>
              </a:ext>
            </a:extLst>
          </p:cNvPr>
          <p:cNvSpPr/>
          <p:nvPr/>
        </p:nvSpPr>
        <p:spPr>
          <a:xfrm>
            <a:off x="228600" y="2652888"/>
            <a:ext cx="2667000" cy="1004711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780239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914400" y="2590800"/>
            <a:ext cx="10363200" cy="1470025"/>
          </a:xfrm>
        </p:spPr>
        <p:txBody>
          <a:bodyPr>
            <a:normAutofit/>
          </a:bodyPr>
          <a:lstStyle/>
          <a:p>
            <a:r>
              <a:rPr lang="en-IE" dirty="0"/>
              <a:t>JUnit Interface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72118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743F6E17-29CD-4EFB-A247-86989E59F4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235"/>
          <a:stretch/>
        </p:blipFill>
        <p:spPr>
          <a:xfrm>
            <a:off x="457200" y="1295400"/>
            <a:ext cx="10971080" cy="3886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93E414E-5FE0-4E81-B5C0-E4BB25066CC9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1947139" y="3886200"/>
            <a:ext cx="228600" cy="1577636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710B2E-700B-48BC-818B-6A02DC5FA35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4315386" y="876188"/>
            <a:ext cx="35895" cy="63599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4ABF5B0-460B-48BE-89E9-D3A3BD057BD3}"/>
              </a:ext>
            </a:extLst>
          </p:cNvPr>
          <p:cNvSpPr txBox="1"/>
          <p:nvPr/>
        </p:nvSpPr>
        <p:spPr>
          <a:xfrm>
            <a:off x="3276600" y="229858"/>
            <a:ext cx="207757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dirty="0"/>
              <a:t>Number of tests that ran and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43EEC4-0557-4BF4-B09B-5DEFB1E1119E}"/>
              </a:ext>
            </a:extLst>
          </p:cNvPr>
          <p:cNvSpPr txBox="1"/>
          <p:nvPr/>
        </p:nvSpPr>
        <p:spPr>
          <a:xfrm>
            <a:off x="956539" y="5463836"/>
            <a:ext cx="2438400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dirty="0"/>
              <a:t>Itemised tests and their individual result.</a:t>
            </a:r>
          </a:p>
          <a:p>
            <a:r>
              <a:rPr lang="en-IE" b="1" dirty="0">
                <a:solidFill>
                  <a:srgbClr val="00B050"/>
                </a:solidFill>
              </a:rPr>
              <a:t>      Green = Pass</a:t>
            </a:r>
          </a:p>
          <a:p>
            <a:r>
              <a:rPr lang="en-IE" b="1" dirty="0">
                <a:solidFill>
                  <a:srgbClr val="00B050"/>
                </a:solidFill>
              </a:rPr>
              <a:t>     </a:t>
            </a:r>
            <a:r>
              <a:rPr lang="en-IE" b="1" dirty="0">
                <a:solidFill>
                  <a:schemeClr val="accent6"/>
                </a:solidFill>
              </a:rPr>
              <a:t>Orange - Failure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135D1AD-D5AD-411B-BDE5-0BA867D0B7F1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6400801" y="751590"/>
            <a:ext cx="1628214" cy="199161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AC2C683-A946-419C-9CF1-BCF7C0B321D8}"/>
              </a:ext>
            </a:extLst>
          </p:cNvPr>
          <p:cNvSpPr txBox="1"/>
          <p:nvPr/>
        </p:nvSpPr>
        <p:spPr>
          <a:xfrm>
            <a:off x="7218830" y="382258"/>
            <a:ext cx="1620370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dirty="0"/>
              <a:t>Assertion Error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154D805-4A6B-4755-A01D-09D236DB3C25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7620001" y="2168850"/>
            <a:ext cx="2402540" cy="148875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6363273-3402-457E-86D3-220D625BCA15}"/>
              </a:ext>
            </a:extLst>
          </p:cNvPr>
          <p:cNvSpPr txBox="1"/>
          <p:nvPr/>
        </p:nvSpPr>
        <p:spPr>
          <a:xfrm>
            <a:off x="9212356" y="691522"/>
            <a:ext cx="1620370" cy="147732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dirty="0"/>
              <a:t>Class name and line of code causing the assertion failure.</a:t>
            </a:r>
          </a:p>
        </p:txBody>
      </p:sp>
    </p:spTree>
    <p:extLst>
      <p:ext uri="{BB962C8B-B14F-4D97-AF65-F5344CB8AC3E}">
        <p14:creationId xmlns:p14="http://schemas.microsoft.com/office/powerpoint/2010/main" val="36531819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AC2C683-A946-419C-9CF1-BCF7C0B321D8}"/>
              </a:ext>
            </a:extLst>
          </p:cNvPr>
          <p:cNvSpPr txBox="1"/>
          <p:nvPr/>
        </p:nvSpPr>
        <p:spPr>
          <a:xfrm>
            <a:off x="6553200" y="382258"/>
            <a:ext cx="2286000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dirty="0"/>
              <a:t>Exit Code 0 – Success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AD2637D-1A87-4F9E-AEB1-D23699AFB9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984" t="39241" r="5403" b="7266"/>
          <a:stretch/>
        </p:blipFill>
        <p:spPr>
          <a:xfrm>
            <a:off x="381000" y="1609863"/>
            <a:ext cx="10152247" cy="3638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DDDF60-B48B-4992-83C8-3F6FC4053A5F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4315386" y="876188"/>
            <a:ext cx="35895" cy="63599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7808676-8969-4C0E-B8C7-88C309DA9D70}"/>
              </a:ext>
            </a:extLst>
          </p:cNvPr>
          <p:cNvSpPr txBox="1"/>
          <p:nvPr/>
        </p:nvSpPr>
        <p:spPr>
          <a:xfrm>
            <a:off x="3276600" y="229858"/>
            <a:ext cx="207757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dirty="0"/>
              <a:t>Number of tests that ran and status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135D1AD-D5AD-411B-BDE5-0BA867D0B7F1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6553202" y="751590"/>
            <a:ext cx="1142998" cy="153441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043EEC4-0557-4BF4-B09B-5DEFB1E1119E}"/>
              </a:ext>
            </a:extLst>
          </p:cNvPr>
          <p:cNvSpPr txBox="1"/>
          <p:nvPr/>
        </p:nvSpPr>
        <p:spPr>
          <a:xfrm>
            <a:off x="956539" y="5463836"/>
            <a:ext cx="2438400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dirty="0"/>
              <a:t>Itemised tests and their individual result.</a:t>
            </a:r>
          </a:p>
          <a:p>
            <a:r>
              <a:rPr lang="en-IE" b="1" dirty="0">
                <a:solidFill>
                  <a:srgbClr val="00B050"/>
                </a:solidFill>
              </a:rPr>
              <a:t>      Green = Pass</a:t>
            </a:r>
          </a:p>
          <a:p>
            <a:r>
              <a:rPr lang="en-IE" b="1" dirty="0">
                <a:solidFill>
                  <a:srgbClr val="00B050"/>
                </a:solidFill>
              </a:rPr>
              <a:t>     </a:t>
            </a:r>
            <a:r>
              <a:rPr lang="en-IE" b="1" dirty="0">
                <a:solidFill>
                  <a:schemeClr val="accent6"/>
                </a:solidFill>
              </a:rPr>
              <a:t>Orange - Failure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93E414E-5FE0-4E81-B5C0-E4BB25066CC9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1947139" y="3886200"/>
            <a:ext cx="228600" cy="1577636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3961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914400" y="2590800"/>
            <a:ext cx="10363200" cy="1470025"/>
          </a:xfrm>
        </p:spPr>
        <p:txBody>
          <a:bodyPr>
            <a:normAutofit fontScale="90000"/>
          </a:bodyPr>
          <a:lstStyle/>
          <a:p>
            <a:r>
              <a:rPr lang="en-IE" dirty="0" err="1"/>
              <a:t>ProductTest.Java</a:t>
            </a:r>
            <a:br>
              <a:rPr lang="en-IE" dirty="0"/>
            </a:br>
            <a:br>
              <a:rPr lang="en-IE" dirty="0"/>
            </a:br>
            <a:r>
              <a:rPr lang="en-IE" dirty="0"/>
              <a:t>Testing a Setter Method:</a:t>
            </a:r>
            <a:br>
              <a:rPr lang="en-IE" dirty="0"/>
            </a:br>
            <a:r>
              <a:rPr lang="en-IE" dirty="0" err="1"/>
              <a:t>setProductName</a:t>
            </a:r>
            <a:r>
              <a:rPr lang="en-IE" dirty="0"/>
              <a:t>()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36378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153262" y="2133600"/>
            <a:ext cx="3124200" cy="2057400"/>
          </a:xfrm>
        </p:spPr>
        <p:txBody>
          <a:bodyPr>
            <a:normAutofit/>
          </a:bodyPr>
          <a:lstStyle/>
          <a:p>
            <a:r>
              <a:rPr lang="en-IE" sz="3200" dirty="0"/>
              <a:t>Extract of Product.java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2564B5D-2EA3-48DC-B94A-007399AE9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117693"/>
            <a:ext cx="8970982" cy="674030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-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double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Product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setProductCode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GB" altLang="en-VI" sz="16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</a:t>
            </a:r>
            <a:r>
              <a:rPr kumimoji="0" lang="en-GB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033B3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600" dirty="0">
                <a:solidFill>
                  <a:srgbClr val="0033B3"/>
                </a:solidFill>
                <a:latin typeface="JetBrains Mono"/>
              </a:rPr>
              <a:t>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setProductName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validateStringLength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lang="en-GB" altLang="en-VI" sz="1600" dirty="0">
              <a:solidFill>
                <a:srgbClr val="080808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</a:t>
            </a:r>
            <a:r>
              <a:rPr kumimoji="0" lang="en-GB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kumimoji="0" lang="en-GB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//Code Omitted</a:t>
            </a:r>
            <a:endParaRPr lang="en-GB" altLang="en-VI" sz="1600" dirty="0">
              <a:solidFill>
                <a:srgbClr val="080808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794274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1AE294A-54DB-4801-A2D6-1497B866C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226" y="1143000"/>
            <a:ext cx="11381548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123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914400" y="2590800"/>
            <a:ext cx="10363200" cy="1470025"/>
          </a:xfrm>
        </p:spPr>
        <p:txBody>
          <a:bodyPr>
            <a:normAutofit fontScale="90000"/>
          </a:bodyPr>
          <a:lstStyle/>
          <a:p>
            <a:r>
              <a:rPr lang="en-IE" dirty="0" err="1"/>
              <a:t>ProductTest.Java</a:t>
            </a:r>
            <a:br>
              <a:rPr lang="en-IE" dirty="0"/>
            </a:br>
            <a:br>
              <a:rPr lang="en-IE" dirty="0"/>
            </a:br>
            <a:r>
              <a:rPr lang="en-IE" dirty="0"/>
              <a:t>Testing the </a:t>
            </a:r>
            <a:r>
              <a:rPr lang="en-IE" dirty="0" err="1"/>
              <a:t>toString</a:t>
            </a:r>
            <a:r>
              <a:rPr lang="en-IE" dirty="0"/>
              <a:t> Method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43798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153262" y="2133600"/>
            <a:ext cx="3124200" cy="2057400"/>
          </a:xfrm>
        </p:spPr>
        <p:txBody>
          <a:bodyPr>
            <a:normAutofit/>
          </a:bodyPr>
          <a:lstStyle/>
          <a:p>
            <a:r>
              <a:rPr lang="en-IE" sz="3200" dirty="0"/>
              <a:t>Extract of Product.java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2564B5D-2EA3-48DC-B94A-007399AE9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363915"/>
            <a:ext cx="8970982" cy="624786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-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double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false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Product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int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productName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20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setProductCode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productCode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unitCost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GB" altLang="en-VI" sz="16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toString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{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"Product description: "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productName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product code: "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productCode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unit cost: "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unitCost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              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", currently in product line: " 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booleanToYN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inCurrentProductLine</a:t>
            </a: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VI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</a:t>
            </a:r>
            <a:r>
              <a:rPr kumimoji="0" lang="en-GB" altLang="en-VI" sz="16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JetBrains Mono"/>
              </a:rPr>
              <a:t>  </a:t>
            </a:r>
            <a:endParaRPr kumimoji="0" lang="en-GB" altLang="en-VI" sz="16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kumimoji="0" lang="en-GB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//Code Omitted</a:t>
            </a:r>
            <a:endParaRPr lang="en-GB" altLang="en-VI" sz="1600" dirty="0">
              <a:solidFill>
                <a:srgbClr val="080808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630335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F31F0-BDB9-4E07-9811-95354CBB0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032" y="1752600"/>
            <a:ext cx="11387936" cy="31434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9098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2209800" y="2130426"/>
            <a:ext cx="7772400" cy="2974975"/>
          </a:xfrm>
        </p:spPr>
        <p:txBody>
          <a:bodyPr>
            <a:normAutofit/>
          </a:bodyPr>
          <a:lstStyle/>
          <a:p>
            <a:r>
              <a:rPr lang="en-IE" dirty="0"/>
              <a:t>Tidying up the JUnit Interface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51916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EAC5804C-A8F1-418E-8E58-3148DF27FA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79"/>
          <a:stretch/>
        </p:blipFill>
        <p:spPr bwMode="auto">
          <a:xfrm>
            <a:off x="457200" y="685800"/>
            <a:ext cx="3581400" cy="52653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A123CA-63AB-44D8-9047-1A79E8FFB90F}"/>
              </a:ext>
            </a:extLst>
          </p:cNvPr>
          <p:cNvSpPr txBox="1"/>
          <p:nvPr/>
        </p:nvSpPr>
        <p:spPr>
          <a:xfrm>
            <a:off x="4495800" y="457200"/>
            <a:ext cx="3529034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As you add and run more tests to ProductTest.java, they are displayed under the </a:t>
            </a:r>
            <a:r>
              <a:rPr lang="en-IE" sz="2400" dirty="0" err="1">
                <a:solidFill>
                  <a:srgbClr val="00B050"/>
                </a:solidFill>
              </a:rPr>
              <a:t>ProductTest</a:t>
            </a:r>
            <a:r>
              <a:rPr lang="en-IE" sz="2400" dirty="0"/>
              <a:t> heading.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9CA0F58-8B72-4D00-B8B9-5B3ACED21006}"/>
              </a:ext>
            </a:extLst>
          </p:cNvPr>
          <p:cNvCxnSpPr>
            <a:stCxn id="3" idx="1"/>
          </p:cNvCxnSpPr>
          <p:nvPr/>
        </p:nvCxnSpPr>
        <p:spPr>
          <a:xfrm flipH="1">
            <a:off x="2667000" y="1242030"/>
            <a:ext cx="1828800" cy="58677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57575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EAC5804C-A8F1-418E-8E58-3148DF27FA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79"/>
          <a:stretch/>
        </p:blipFill>
        <p:spPr bwMode="auto">
          <a:xfrm>
            <a:off x="457200" y="685800"/>
            <a:ext cx="3581400" cy="52653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A123CA-63AB-44D8-9047-1A79E8FFB90F}"/>
              </a:ext>
            </a:extLst>
          </p:cNvPr>
          <p:cNvSpPr txBox="1"/>
          <p:nvPr/>
        </p:nvSpPr>
        <p:spPr>
          <a:xfrm>
            <a:off x="4495800" y="457200"/>
            <a:ext cx="3529034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As you add and run more tests to ProductTest.java, they are displayed under the </a:t>
            </a:r>
            <a:r>
              <a:rPr lang="en-IE" sz="2400" dirty="0" err="1">
                <a:solidFill>
                  <a:srgbClr val="00B050"/>
                </a:solidFill>
              </a:rPr>
              <a:t>ProductTest</a:t>
            </a:r>
            <a:r>
              <a:rPr lang="en-IE" sz="2400" dirty="0"/>
              <a:t> heading.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9CA0F58-8B72-4D00-B8B9-5B3ACED21006}"/>
              </a:ext>
            </a:extLst>
          </p:cNvPr>
          <p:cNvCxnSpPr>
            <a:stCxn id="3" idx="1"/>
          </p:cNvCxnSpPr>
          <p:nvPr/>
        </p:nvCxnSpPr>
        <p:spPr>
          <a:xfrm flipH="1">
            <a:off x="2667000" y="1242030"/>
            <a:ext cx="1828800" cy="58677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pic>
        <p:nvPicPr>
          <p:cNvPr id="5" name="Picture 2">
            <a:extLst>
              <a:ext uri="{FF2B5EF4-FFF2-40B4-BE49-F238E27FC236}">
                <a16:creationId xmlns:a16="http://schemas.microsoft.com/office/drawing/2014/main" id="{78E9B61B-9938-49D2-ADAA-A945500293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48524"/>
          <a:stretch/>
        </p:blipFill>
        <p:spPr bwMode="auto">
          <a:xfrm>
            <a:off x="7315200" y="2362200"/>
            <a:ext cx="4648200" cy="4355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7E3D21-F160-42DF-A5D8-25D800765DFB}"/>
              </a:ext>
            </a:extLst>
          </p:cNvPr>
          <p:cNvSpPr txBox="1"/>
          <p:nvPr/>
        </p:nvSpPr>
        <p:spPr>
          <a:xfrm>
            <a:off x="4648200" y="3886200"/>
            <a:ext cx="2514600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But this layout would be much easier to read…especially as more and more test methods are added...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892DF1A-AFF4-4BD3-98AD-AE49BBFF5711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7162800" y="4539951"/>
            <a:ext cx="862034" cy="68507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238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A123CA-63AB-44D8-9047-1A79E8FFB90F}"/>
              </a:ext>
            </a:extLst>
          </p:cNvPr>
          <p:cNvSpPr txBox="1"/>
          <p:nvPr/>
        </p:nvSpPr>
        <p:spPr>
          <a:xfrm>
            <a:off x="3200400" y="294144"/>
            <a:ext cx="3529034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To get this layout, we will need to use the </a:t>
            </a:r>
            <a:r>
              <a:rPr lang="en-IE" sz="2400" dirty="0">
                <a:solidFill>
                  <a:srgbClr val="C00000"/>
                </a:solidFill>
              </a:rPr>
              <a:t>@Nested </a:t>
            </a:r>
            <a:r>
              <a:rPr lang="en-IE" sz="2400" dirty="0"/>
              <a:t>class approach WITHIN </a:t>
            </a:r>
            <a:r>
              <a:rPr lang="en-IE" sz="2400" dirty="0" err="1"/>
              <a:t>ProductTest</a:t>
            </a:r>
            <a:r>
              <a:rPr lang="en-IE" sz="2400" dirty="0"/>
              <a:t> e.g.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9CA0F58-8B72-4D00-B8B9-5B3ACED21006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2133600" y="1078974"/>
            <a:ext cx="1066800" cy="90222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pic>
        <p:nvPicPr>
          <p:cNvPr id="5" name="Picture 2">
            <a:extLst>
              <a:ext uri="{FF2B5EF4-FFF2-40B4-BE49-F238E27FC236}">
                <a16:creationId xmlns:a16="http://schemas.microsoft.com/office/drawing/2014/main" id="{78E9B61B-9938-49D2-ADAA-A945500293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48524"/>
          <a:stretch/>
        </p:blipFill>
        <p:spPr bwMode="auto">
          <a:xfrm>
            <a:off x="7315200" y="2362200"/>
            <a:ext cx="4648200" cy="4355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7E3D21-F160-42DF-A5D8-25D800765DFB}"/>
              </a:ext>
            </a:extLst>
          </p:cNvPr>
          <p:cNvSpPr txBox="1"/>
          <p:nvPr/>
        </p:nvSpPr>
        <p:spPr>
          <a:xfrm>
            <a:off x="4648200" y="3886200"/>
            <a:ext cx="2514600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But this layout would be much easier to read…especially as more and more test methods are added...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892DF1A-AFF4-4BD3-98AD-AE49BBFF5711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7162800" y="4539951"/>
            <a:ext cx="862034" cy="68507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97C7243E-6AD1-4CA7-9EB2-FB8C3D25F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050065"/>
            <a:ext cx="3962400" cy="2489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5965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7545788D-B3B2-4810-8E38-49CDFF7A82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2875" y="112028"/>
            <a:ext cx="4581703" cy="652486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ProductTest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en-VI" sz="1100" b="0" i="0" u="none" strike="noStrike" cap="none" normalizeH="0" baseline="0" dirty="0">
              <a:ln>
                <a:noFill/>
              </a:ln>
              <a:solidFill>
                <a:srgbClr val="9E880D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@Nested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Getters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getProductName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42Inches"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.getProductName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50 Inches"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.getProductName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"Television 60 Inches"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.getProductName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.getProductName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getUnitCost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.getUnitCost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.getUnitCost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.getUnitCost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.getUnitCost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getProductCode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(-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.getProductCode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1000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.getProductCode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(-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.getProductCode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assertEquals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9999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.getProductCode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@Test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isInCurrentProductLine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productBelow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.isInCurrentProductLine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assertTrue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productExact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.isInCurrentProductLine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assertFalse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productAbove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.isInCurrentProductLine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</a:t>
            </a:r>
            <a:r>
              <a:rPr kumimoji="0" lang="en-VI" altLang="en-VI" sz="11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assertFalse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productZero</a:t>
            </a:r>
            <a:r>
              <a:rPr kumimoji="0" lang="en-VI" altLang="en-VI" sz="11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.isInCurrentProductLine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}</a:t>
            </a:r>
            <a:b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en-VI" altLang="en-VI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GB" altLang="en-VI" sz="11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VI" sz="1100" dirty="0">
                <a:solidFill>
                  <a:srgbClr val="080808"/>
                </a:solidFill>
                <a:latin typeface="JetBrains Mono"/>
              </a:rPr>
              <a:t>}</a:t>
            </a:r>
            <a:endParaRPr kumimoji="0" lang="en-VI" altLang="en-VI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2ACD1E-9E87-4052-880D-40EF994EE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050065"/>
            <a:ext cx="3962400" cy="24898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6FF6F2-B7A6-4C55-94BD-D050E9C7DF93}"/>
              </a:ext>
            </a:extLst>
          </p:cNvPr>
          <p:cNvSpPr txBox="1"/>
          <p:nvPr/>
        </p:nvSpPr>
        <p:spPr>
          <a:xfrm>
            <a:off x="3200400" y="294144"/>
            <a:ext cx="3529034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To get this layout, we will need to use the </a:t>
            </a:r>
            <a:r>
              <a:rPr lang="en-IE" sz="2400" dirty="0">
                <a:solidFill>
                  <a:srgbClr val="C00000"/>
                </a:solidFill>
              </a:rPr>
              <a:t>@Nested </a:t>
            </a:r>
            <a:r>
              <a:rPr lang="en-IE" sz="2400" dirty="0"/>
              <a:t>class approach WITHIN </a:t>
            </a:r>
            <a:r>
              <a:rPr lang="en-IE" sz="2400" dirty="0" err="1"/>
              <a:t>ProductTest</a:t>
            </a:r>
            <a:r>
              <a:rPr lang="en-IE" sz="2400" dirty="0"/>
              <a:t> e.g.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48DEC6-7284-4A99-AF7E-03CF39C3E252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2133600" y="1078974"/>
            <a:ext cx="1066800" cy="90222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C6E278B-32D5-4CA6-9447-A3E321D6C1EA}"/>
              </a:ext>
            </a:extLst>
          </p:cNvPr>
          <p:cNvCxnSpPr>
            <a:cxnSpLocks/>
          </p:cNvCxnSpPr>
          <p:nvPr/>
        </p:nvCxnSpPr>
        <p:spPr>
          <a:xfrm>
            <a:off x="5188535" y="1863804"/>
            <a:ext cx="1898065" cy="8031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3761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2209800" y="2130426"/>
            <a:ext cx="7772400" cy="2974975"/>
          </a:xfrm>
        </p:spPr>
        <p:txBody>
          <a:bodyPr>
            <a:normAutofit/>
          </a:bodyPr>
          <a:lstStyle/>
          <a:p>
            <a:r>
              <a:rPr lang="en-IE" dirty="0" err="1"/>
              <a:t>ProductTest.Java</a:t>
            </a:r>
            <a:br>
              <a:rPr lang="en-IE" dirty="0"/>
            </a:br>
            <a:br>
              <a:rPr lang="en-IE" dirty="0"/>
            </a:br>
            <a:r>
              <a:rPr lang="en-IE" dirty="0"/>
              <a:t>Have we tested everything in Product.java?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324435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9DA79918-72B4-45BB-8463-FC7360668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228600"/>
            <a:ext cx="6282267" cy="6400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9C0A9CC-CD4B-4008-84B1-C3712CDD122E}"/>
              </a:ext>
            </a:extLst>
          </p:cNvPr>
          <p:cNvSpPr txBox="1"/>
          <p:nvPr/>
        </p:nvSpPr>
        <p:spPr>
          <a:xfrm>
            <a:off x="304800" y="2133600"/>
            <a:ext cx="3529034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We can run a Coverage Report with our tests to see what code is tested and what isn’t.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040813-C740-4CAF-879B-730A2BC4E7DA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2069317" y="3703260"/>
            <a:ext cx="2713549" cy="113853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27603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275BBD7-C6F0-42F7-870B-09032C04B66F}"/>
              </a:ext>
            </a:extLst>
          </p:cNvPr>
          <p:cNvSpPr txBox="1"/>
          <p:nvPr/>
        </p:nvSpPr>
        <p:spPr>
          <a:xfrm>
            <a:off x="304800" y="2286000"/>
            <a:ext cx="228600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Percentages are applied to each class.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D028C-52D9-4F5A-B16E-60221C384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245" y="171629"/>
            <a:ext cx="8000755" cy="6629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4908094-7423-4F66-8DF8-247C70D24752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590800" y="2286000"/>
            <a:ext cx="1066800" cy="60016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673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275BBD7-C6F0-42F7-870B-09032C04B66F}"/>
              </a:ext>
            </a:extLst>
          </p:cNvPr>
          <p:cNvSpPr txBox="1"/>
          <p:nvPr/>
        </p:nvSpPr>
        <p:spPr>
          <a:xfrm>
            <a:off x="304800" y="2286000"/>
            <a:ext cx="228600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Percentages are applied to each class.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D028C-52D9-4F5A-B16E-60221C384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245" y="171629"/>
            <a:ext cx="8000755" cy="6629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4908094-7423-4F66-8DF8-247C70D24752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590800" y="2286000"/>
            <a:ext cx="1066800" cy="60016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54081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A9FCC6-48A8-4474-801C-5D1249558F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9286"/>
          <a:stretch/>
        </p:blipFill>
        <p:spPr>
          <a:xfrm>
            <a:off x="1447800" y="228600"/>
            <a:ext cx="10602759" cy="5334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E8D27D-E73E-41D3-ABBA-62CAF271D803}"/>
              </a:ext>
            </a:extLst>
          </p:cNvPr>
          <p:cNvSpPr txBox="1"/>
          <p:nvPr/>
        </p:nvSpPr>
        <p:spPr>
          <a:xfrm>
            <a:off x="990600" y="4953000"/>
            <a:ext cx="3429000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IE" sz="2400" dirty="0"/>
              <a:t>Viewing the java code will give you a visual as to what code has been </a:t>
            </a:r>
            <a:r>
              <a:rPr lang="en-IE" sz="2400" dirty="0">
                <a:solidFill>
                  <a:srgbClr val="00B050"/>
                </a:solidFill>
              </a:rPr>
              <a:t>tested</a:t>
            </a:r>
            <a:r>
              <a:rPr lang="en-IE" sz="2400" dirty="0"/>
              <a:t> and what </a:t>
            </a:r>
            <a:r>
              <a:rPr lang="en-IE" sz="2400" dirty="0">
                <a:solidFill>
                  <a:schemeClr val="accent2">
                    <a:lumMod val="75000"/>
                  </a:schemeClr>
                </a:solidFill>
              </a:rPr>
              <a:t>hasn’t</a:t>
            </a:r>
            <a:r>
              <a:rPr lang="en-IE" sz="2400" dirty="0"/>
              <a:t>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0A3A785-DBCD-443D-BCB5-EC75F48F72A6}"/>
              </a:ext>
            </a:extLst>
          </p:cNvPr>
          <p:cNvCxnSpPr>
            <a:cxnSpLocks/>
          </p:cNvCxnSpPr>
          <p:nvPr/>
        </p:nvCxnSpPr>
        <p:spPr>
          <a:xfrm flipV="1">
            <a:off x="2590800" y="2590800"/>
            <a:ext cx="2438400" cy="236220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151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ln w="11430"/>
                <a:solidFill>
                  <a:srgbClr val="FFFFFF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  <a:latin typeface="+mj-lt"/>
                <a:ea typeface="+mj-ea"/>
                <a:cs typeface="+mj-cs"/>
              </a:rPr>
              <a:t>Any 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CA18E50-A229-D0C5-0998-6A0069FBC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3296" y="643466"/>
            <a:ext cx="5568739" cy="556873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2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2019</Words>
  <Application>Microsoft Macintosh PowerPoint</Application>
  <PresentationFormat>Widescreen</PresentationFormat>
  <Paragraphs>118</Paragraphs>
  <Slides>43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Gill Sans</vt:lpstr>
      <vt:lpstr>JetBrains Mono</vt:lpstr>
      <vt:lpstr>Office Theme</vt:lpstr>
      <vt:lpstr>Test Driven Development</vt:lpstr>
      <vt:lpstr>Let’s first write a complete test class and then we will discuss the theory behind it.</vt:lpstr>
      <vt:lpstr>PowerPoint Presentation</vt:lpstr>
      <vt:lpstr>Product.java</vt:lpstr>
      <vt:lpstr>PowerPoint Presentation</vt:lpstr>
      <vt:lpstr>Creating a Test Source Directory…</vt:lpstr>
      <vt:lpstr>In IntelliJ, create a new directory and call it test</vt:lpstr>
      <vt:lpstr>Then “mark” this new directory as a  Test Sources Root directory</vt:lpstr>
      <vt:lpstr>Then “mark” this new directory as a  Test Sources Root directory</vt:lpstr>
      <vt:lpstr>Generating a test class for Product.Java 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ProductTest.Java  Testing a Getter Method: getProductName()</vt:lpstr>
      <vt:lpstr>Extract of Product.java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JUnit Interface</vt:lpstr>
      <vt:lpstr>PowerPoint Presentation</vt:lpstr>
      <vt:lpstr>PowerPoint Presentation</vt:lpstr>
      <vt:lpstr>ProductTest.Java  Testing a Setter Method: setProductName()</vt:lpstr>
      <vt:lpstr>Extract of Product.java</vt:lpstr>
      <vt:lpstr>PowerPoint Presentation</vt:lpstr>
      <vt:lpstr>ProductTest.Java  Testing the toString Method</vt:lpstr>
      <vt:lpstr>Extract of Product.java</vt:lpstr>
      <vt:lpstr>PowerPoint Presentation</vt:lpstr>
      <vt:lpstr>Tidying up the JUnit Interface</vt:lpstr>
      <vt:lpstr>PowerPoint Presentation</vt:lpstr>
      <vt:lpstr>PowerPoint Presentation</vt:lpstr>
      <vt:lpstr>PowerPoint Presentation</vt:lpstr>
      <vt:lpstr>PowerPoint Presentation</vt:lpstr>
      <vt:lpstr>ProductTest.Java  Have we tested everything in Product.java?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Mairead Meagher</cp:lastModifiedBy>
  <cp:revision>167</cp:revision>
  <dcterms:created xsi:type="dcterms:W3CDTF">2006-08-16T00:00:00Z</dcterms:created>
  <dcterms:modified xsi:type="dcterms:W3CDTF">2026-03-07T21:21:15Z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FF5A7D80-6C30-434A-9D59-15D7BAD30DD1</vt:lpwstr>
  </property>
  <property fmtid="{D5CDD505-2E9C-101B-9397-08002B2CF9AE}" pid="3" name="ArticulatePath">
    <vt:lpwstr>a-prog-fund-2-TDD</vt:lpwstr>
  </property>
</Properties>
</file>