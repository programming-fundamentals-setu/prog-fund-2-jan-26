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notesSlides/notesSlide1.xml" ContentType="application/vnd.openxmlformats-officedocument.presentationml.notesSlide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6" r:id="rId2"/>
    <p:sldId id="396" r:id="rId3"/>
    <p:sldId id="500" r:id="rId4"/>
    <p:sldId id="509" r:id="rId5"/>
    <p:sldId id="543" r:id="rId6"/>
    <p:sldId id="542" r:id="rId7"/>
    <p:sldId id="551" r:id="rId8"/>
    <p:sldId id="515" r:id="rId9"/>
    <p:sldId id="533" r:id="rId10"/>
    <p:sldId id="534" r:id="rId11"/>
    <p:sldId id="535" r:id="rId12"/>
    <p:sldId id="555" r:id="rId13"/>
    <p:sldId id="544" r:id="rId14"/>
    <p:sldId id="556" r:id="rId15"/>
    <p:sldId id="546" r:id="rId16"/>
    <p:sldId id="488" r:id="rId17"/>
    <p:sldId id="547" r:id="rId18"/>
    <p:sldId id="553" r:id="rId19"/>
    <p:sldId id="549" r:id="rId20"/>
    <p:sldId id="548" r:id="rId21"/>
    <p:sldId id="532" r:id="rId22"/>
    <p:sldId id="392" r:id="rId23"/>
  </p:sldIdLst>
  <p:sldSz cx="12192000" cy="6858000"/>
  <p:notesSz cx="6858000" cy="9144000"/>
  <p:custDataLst>
    <p:tags r:id="rId25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61" autoAdjust="0"/>
    <p:restoredTop sz="94682"/>
  </p:normalViewPr>
  <p:slideViewPr>
    <p:cSldViewPr>
      <p:cViewPr varScale="1">
        <p:scale>
          <a:sx n="90" d="100"/>
          <a:sy n="90" d="100"/>
        </p:scale>
        <p:origin x="232" y="72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BC3C30-7F3D-4B20-9974-47C57B22CA6E}" type="datetimeFigureOut">
              <a:rPr lang="en-IE" smtClean="0"/>
              <a:t>07/03/2026</a:t>
            </a:fld>
            <a:endParaRPr lang="en-I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09BE90-ABBD-4931-8E0C-089E0ACACA6B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898184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09BE90-ABBD-4931-8E0C-089E0ACACA6B}" type="slidenum">
              <a:rPr lang="en-IE" smtClean="0"/>
              <a:t>9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0938846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www.wit.ie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1_Lab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hape 206"/>
          <p:cNvSpPr/>
          <p:nvPr/>
        </p:nvSpPr>
        <p:spPr>
          <a:xfrm flipV="1">
            <a:off x="851522" y="3070411"/>
            <a:ext cx="10519439" cy="47"/>
          </a:xfrm>
          <a:prstGeom prst="line">
            <a:avLst/>
          </a:prstGeom>
          <a:ln w="12700">
            <a:solidFill>
              <a:srgbClr val="919191"/>
            </a:solidFill>
            <a:miter lim="400000"/>
          </a:ln>
        </p:spPr>
        <p:txBody>
          <a:bodyPr lIns="35717" tIns="35717" rIns="35717" bIns="35717" anchor="ctr"/>
          <a:lstStyle/>
          <a:p>
            <a:endParaRPr sz="1800"/>
          </a:p>
        </p:txBody>
      </p:sp>
      <p:pic>
        <p:nvPicPr>
          <p:cNvPr id="207" name="WI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157" y="6134697"/>
            <a:ext cx="3033804" cy="473273"/>
          </a:xfrm>
          <a:prstGeom prst="rect">
            <a:avLst/>
          </a:prstGeom>
          <a:ln w="12700">
            <a:miter lim="400000"/>
          </a:ln>
        </p:spPr>
      </p:pic>
      <p:pic>
        <p:nvPicPr>
          <p:cNvPr id="208" name="esu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72625" y="6206134"/>
            <a:ext cx="1812472" cy="321469"/>
          </a:xfrm>
          <a:prstGeom prst="rect">
            <a:avLst/>
          </a:prstGeom>
          <a:ln w="12700">
            <a:miter lim="400000"/>
          </a:ln>
        </p:spPr>
      </p:pic>
      <p:sp>
        <p:nvSpPr>
          <p:cNvPr id="209" name="Shape 209"/>
          <p:cNvSpPr/>
          <p:nvPr/>
        </p:nvSpPr>
        <p:spPr>
          <a:xfrm>
            <a:off x="497421" y="3128069"/>
            <a:ext cx="2646554" cy="11555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35717" tIns="35717" rIns="35717" bIns="35717" anchor="ctr">
            <a:spAutoFit/>
          </a:bodyPr>
          <a:lstStyle/>
          <a:p>
            <a:pPr algn="r" defTabSz="410751">
              <a:lnSpc>
                <a:spcPct val="80000"/>
              </a:lnSpc>
              <a:defRPr sz="4400">
                <a:solidFill>
                  <a:srgbClr val="AAAAAA"/>
                </a:solidFill>
                <a:latin typeface="Helvetica Neue UltraLight"/>
                <a:ea typeface="Helvetica Neue UltraLight"/>
                <a:cs typeface="Helvetica Neue UltraLight"/>
                <a:sym typeface="Helvetica Neue UltraLight"/>
              </a:defRPr>
            </a:pPr>
            <a:r>
              <a:rPr sz="4400"/>
              <a:t>Produced </a:t>
            </a:r>
          </a:p>
          <a:p>
            <a:pPr algn="r" defTabSz="410751">
              <a:lnSpc>
                <a:spcPct val="80000"/>
              </a:lnSpc>
              <a:defRPr sz="4400">
                <a:solidFill>
                  <a:srgbClr val="AAAAAA"/>
                </a:solidFill>
                <a:latin typeface="Helvetica Neue UltraLight"/>
                <a:ea typeface="Helvetica Neue UltraLight"/>
                <a:cs typeface="Helvetica Neue UltraLight"/>
                <a:sym typeface="Helvetica Neue UltraLight"/>
              </a:defRPr>
            </a:pPr>
            <a:r>
              <a:rPr sz="4400"/>
              <a:t>by</a:t>
            </a:r>
          </a:p>
        </p:txBody>
      </p:sp>
      <p:grpSp>
        <p:nvGrpSpPr>
          <p:cNvPr id="213" name="Group 213"/>
          <p:cNvGrpSpPr/>
          <p:nvPr/>
        </p:nvGrpSpPr>
        <p:grpSpPr>
          <a:xfrm>
            <a:off x="3476624" y="4561048"/>
            <a:ext cx="3751796" cy="1110389"/>
            <a:chOff x="0" y="-174328"/>
            <a:chExt cx="4001913" cy="1579217"/>
          </a:xfrm>
        </p:grpSpPr>
        <p:sp>
          <p:nvSpPr>
            <p:cNvPr id="210" name="Shape 210"/>
            <p:cNvSpPr/>
            <p:nvPr/>
          </p:nvSpPr>
          <p:spPr>
            <a:xfrm>
              <a:off x="0" y="-174328"/>
              <a:ext cx="4001913" cy="95825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 defTabSz="410751">
                <a:lnSpc>
                  <a:spcPct val="120000"/>
                </a:lnSpc>
                <a:defRPr sz="1600">
                  <a:solidFill>
                    <a:srgbClr val="133455"/>
                  </a:solidFill>
                  <a:latin typeface="+mj-lt"/>
                  <a:ea typeface="+mj-ea"/>
                  <a:cs typeface="+mj-cs"/>
                  <a:sym typeface="Helvetica Neue"/>
                </a:defRPr>
              </a:pPr>
              <a:r>
                <a:rPr sz="1600"/>
                <a:t>Department of Computing, Maths &amp; Physics</a:t>
              </a:r>
            </a:p>
            <a:p>
              <a:pPr defTabSz="410751">
                <a:lnSpc>
                  <a:spcPct val="120000"/>
                </a:lnSpc>
                <a:defRPr sz="1600">
                  <a:solidFill>
                    <a:srgbClr val="133455"/>
                  </a:solidFill>
                  <a:latin typeface="+mj-lt"/>
                  <a:ea typeface="+mj-ea"/>
                  <a:cs typeface="+mj-cs"/>
                  <a:sym typeface="Helvetica Neue"/>
                </a:defRPr>
              </a:pPr>
              <a:r>
                <a:rPr sz="1600"/>
                <a:t>Waterford Institute of Technology</a:t>
              </a:r>
            </a:p>
          </p:txBody>
        </p:sp>
        <p:sp>
          <p:nvSpPr>
            <p:cNvPr id="211" name="Shape 211"/>
            <p:cNvSpPr/>
            <p:nvPr/>
          </p:nvSpPr>
          <p:spPr>
            <a:xfrm>
              <a:off x="0" y="560227"/>
              <a:ext cx="1909513" cy="5398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defTabSz="584200">
                <a:defRPr>
                  <a:latin typeface="+mj-lt"/>
                  <a:ea typeface="+mj-ea"/>
                  <a:cs typeface="+mj-cs"/>
                  <a:sym typeface="Helvetica Neue"/>
                  <a:hlinkClick r:id="" action="ppaction://noaction"/>
                </a:defRPr>
              </a:lvl1pPr>
            </a:lstStyle>
            <a:p>
              <a:r>
                <a:rPr sz="1800">
                  <a:hlinkClick r:id="rId4"/>
                </a:rPr>
                <a:t>http://www.wit.ie</a:t>
              </a:r>
            </a:p>
          </p:txBody>
        </p:sp>
        <p:sp>
          <p:nvSpPr>
            <p:cNvPr id="212" name="Shape 212"/>
            <p:cNvSpPr/>
            <p:nvPr/>
          </p:nvSpPr>
          <p:spPr>
            <a:xfrm>
              <a:off x="0" y="865027"/>
              <a:ext cx="2329252" cy="5398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defTabSz="584200">
                <a:defRPr>
                  <a:latin typeface="+mj-lt"/>
                  <a:ea typeface="+mj-ea"/>
                  <a:cs typeface="+mj-cs"/>
                  <a:sym typeface="Helvetica Neue"/>
                  <a:hlinkClick r:id="" action="ppaction://noaction"/>
                </a:defRPr>
              </a:lvl1pPr>
            </a:lstStyle>
            <a:p>
              <a:r>
                <a:rPr sz="1800">
                  <a:hlinkClick r:id="rId4"/>
                </a:rPr>
                <a:t>http://elearning.wit.ie</a:t>
              </a:r>
            </a:p>
          </p:txBody>
        </p:sp>
      </p:grpSp>
      <p:sp>
        <p:nvSpPr>
          <p:cNvPr id="214" name="Shape 214"/>
          <p:cNvSpPr>
            <a:spLocks noGrp="1"/>
          </p:cNvSpPr>
          <p:nvPr>
            <p:ph type="body" sz="quarter" idx="13"/>
          </p:nvPr>
        </p:nvSpPr>
        <p:spPr>
          <a:xfrm>
            <a:off x="839391" y="2428449"/>
            <a:ext cx="10537031" cy="400110"/>
          </a:xfrm>
          <a:prstGeom prst="rect">
            <a:avLst/>
          </a:prstGeom>
        </p:spPr>
        <p:txBody>
          <a:bodyPr anchor="ctr">
            <a:spAutoFit/>
          </a:bodyPr>
          <a:lstStyle>
            <a:lvl1pPr marL="0" indent="0">
              <a:spcBef>
                <a:spcPts val="0"/>
              </a:spcBef>
              <a:buSzTx/>
              <a:buNone/>
              <a:defRPr sz="2000">
                <a:solidFill>
                  <a:srgbClr val="606060"/>
                </a:solidFill>
              </a:defRPr>
            </a:lvl1pPr>
          </a:lstStyle>
          <a:p>
            <a:r>
              <a:t>Subtitle</a:t>
            </a:r>
          </a:p>
        </p:txBody>
      </p:sp>
      <p:sp>
        <p:nvSpPr>
          <p:cNvPr id="215" name="Shape 215"/>
          <p:cNvSpPr>
            <a:spLocks noGrp="1"/>
          </p:cNvSpPr>
          <p:nvPr>
            <p:ph type="title"/>
          </p:nvPr>
        </p:nvSpPr>
        <p:spPr>
          <a:xfrm>
            <a:off x="833438" y="1665388"/>
            <a:ext cx="10537031" cy="723305"/>
          </a:xfrm>
          <a:prstGeom prst="rect">
            <a:avLst/>
          </a:prstGeom>
        </p:spPr>
        <p:txBody>
          <a:bodyPr anchor="ctr"/>
          <a:lstStyle>
            <a:lvl1pPr>
              <a:defRPr sz="3100"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r>
              <a:t>Title Text</a:t>
            </a:r>
          </a:p>
        </p:txBody>
      </p:sp>
      <p:sp>
        <p:nvSpPr>
          <p:cNvPr id="216" name="Shape 216"/>
          <p:cNvSpPr>
            <a:spLocks noGrp="1"/>
          </p:cNvSpPr>
          <p:nvPr>
            <p:ph type="body" sz="quarter" idx="1"/>
          </p:nvPr>
        </p:nvSpPr>
        <p:spPr>
          <a:xfrm>
            <a:off x="3494484" y="3330774"/>
            <a:ext cx="5417344" cy="139303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spcBef>
                <a:spcPts val="0"/>
              </a:spcBef>
              <a:buSzTx/>
              <a:buNone/>
              <a:defRPr sz="1300"/>
            </a:lvl1pPr>
            <a:lvl2pPr marL="0" indent="0">
              <a:lnSpc>
                <a:spcPct val="120000"/>
              </a:lnSpc>
              <a:spcBef>
                <a:spcPts val="0"/>
              </a:spcBef>
              <a:buSzTx/>
              <a:buNone/>
              <a:defRPr sz="1300"/>
            </a:lvl2pPr>
            <a:lvl3pPr marL="0" indent="0">
              <a:lnSpc>
                <a:spcPct val="120000"/>
              </a:lnSpc>
              <a:spcBef>
                <a:spcPts val="0"/>
              </a:spcBef>
              <a:buSzTx/>
              <a:buNone/>
              <a:defRPr sz="1300"/>
            </a:lvl3pPr>
            <a:lvl4pPr marL="0" indent="0">
              <a:lnSpc>
                <a:spcPct val="120000"/>
              </a:lnSpc>
              <a:spcBef>
                <a:spcPts val="0"/>
              </a:spcBef>
              <a:buSzTx/>
              <a:buNone/>
              <a:defRPr sz="1300"/>
            </a:lvl4pPr>
            <a:lvl5pPr marL="0" indent="0">
              <a:lnSpc>
                <a:spcPct val="120000"/>
              </a:lnSpc>
              <a:spcBef>
                <a:spcPts val="0"/>
              </a:spcBef>
              <a:buSzTx/>
              <a:buNone/>
              <a:defRPr sz="13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17" name="Shape 217"/>
          <p:cNvSpPr>
            <a:spLocks noGrp="1"/>
          </p:cNvSpPr>
          <p:nvPr>
            <p:ph type="sldNum" sz="quarter" idx="2"/>
          </p:nvPr>
        </p:nvSpPr>
        <p:spPr>
          <a:xfrm>
            <a:off x="5935265" y="6527601"/>
            <a:ext cx="297656" cy="241102"/>
          </a:xfrm>
          <a:prstGeom prst="rect">
            <a:avLst/>
          </a:prstGeom>
        </p:spPr>
        <p:txBody>
          <a:bodyPr/>
          <a:lstStyle>
            <a:lvl1pPr algn="ctr">
              <a:defRPr sz="1100">
                <a:latin typeface="Gill Sans"/>
                <a:ea typeface="Gill Sans"/>
                <a:cs typeface="Gill Sans"/>
                <a:sym typeface="Gill Sans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50379749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2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junit.org/junit5/docs/current/api/org.junit.jupiter.api/org/junit/jupiter/api/Assertions.html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hyperlink" Target="http://junit.org/javadoc/latest/org/junit/Assert.html#assertNotEquals(java.lang.Object, java.lang.Object)" TargetMode="External"/><Relationship Id="rId3" Type="http://schemas.openxmlformats.org/officeDocument/2006/relationships/hyperlink" Target="http://junit.org/javadoc/latest/org/junit/Assert.html#assertEquals(double, double, double)" TargetMode="External"/><Relationship Id="rId7" Type="http://schemas.openxmlformats.org/officeDocument/2006/relationships/hyperlink" Target="http://junit.org/javadoc/latest/org/junit/Assert.html#assertNotEquals(double, double, double)" TargetMode="Externa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Relationship Id="rId6" Type="http://schemas.openxmlformats.org/officeDocument/2006/relationships/hyperlink" Target="http://docs.oracle.com/javase/1.5.0/docs/api/java/lang/Object.html" TargetMode="External"/><Relationship Id="rId11" Type="http://schemas.openxmlformats.org/officeDocument/2006/relationships/hyperlink" Target="https://junit.org/junit5/docs/current/api/org.junit.jupiter.api/org/junit/jupiter/api/Assertions.html" TargetMode="External"/><Relationship Id="rId5" Type="http://schemas.openxmlformats.org/officeDocument/2006/relationships/hyperlink" Target="http://junit.org/javadoc/latest/org/junit/Assert.html#assertEquals(java.lang.Object, java.lang.Object)" TargetMode="External"/><Relationship Id="rId10" Type="http://schemas.openxmlformats.org/officeDocument/2006/relationships/hyperlink" Target="http://junit.org/javadoc/latest/org/junit/Assert.html#assertSame(java.lang.Object, java.lang.Object)" TargetMode="External"/><Relationship Id="rId4" Type="http://schemas.openxmlformats.org/officeDocument/2006/relationships/hyperlink" Target="http://junit.org/javadoc/latest/org/junit/Assert.html#assertEquals(long, long)" TargetMode="External"/><Relationship Id="rId9" Type="http://schemas.openxmlformats.org/officeDocument/2006/relationships/hyperlink" Target="http://junit.org/javadoc/latest/org/junit/Assert.html#assertNotSame(java.lang.Object, java.lang.Object)" TargetMode="Externa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hyperlink" Target="http://junit.org/javadoc/latest/org/junit/Assert.html#assertFalse(boolean)" TargetMode="External"/><Relationship Id="rId3" Type="http://schemas.openxmlformats.org/officeDocument/2006/relationships/hyperlink" Target="http://junit.org/javadoc/latest/org/junit/Assert.html#assertNotNull(java.lang.Object)" TargetMode="External"/><Relationship Id="rId7" Type="http://schemas.openxmlformats.org/officeDocument/2006/relationships/hyperlink" Target="http://junit.org/javadoc/latest/org/junit/Assert.html#assertNull(java.lang.Object)" TargetMode="External"/><Relationship Id="rId12" Type="http://schemas.openxmlformats.org/officeDocument/2006/relationships/hyperlink" Target="https://junit.org/junit5/docs/current/api/org.junit.jupiter.api/org/junit/jupiter/api/Assertions.html" TargetMode="Externa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Relationship Id="rId6" Type="http://schemas.openxmlformats.org/officeDocument/2006/relationships/hyperlink" Target="http://docs.oracle.com/javase/1.5.0/docs/api/java/lang/String.html" TargetMode="External"/><Relationship Id="rId11" Type="http://schemas.openxmlformats.org/officeDocument/2006/relationships/hyperlink" Target="http://junit.org/javadoc/latest/org/junit/Assert.html#fail(java.lang.String)" TargetMode="External"/><Relationship Id="rId5" Type="http://schemas.openxmlformats.org/officeDocument/2006/relationships/hyperlink" Target="http://junit.org/javadoc/latest/org/junit/Assert.html#assertNotNull(java.lang.String, java.lang.Object)" TargetMode="External"/><Relationship Id="rId10" Type="http://schemas.openxmlformats.org/officeDocument/2006/relationships/hyperlink" Target="http://junit.org/javadoc/latest/org/junit/Assert.html#fail()" TargetMode="External"/><Relationship Id="rId4" Type="http://schemas.openxmlformats.org/officeDocument/2006/relationships/hyperlink" Target="http://docs.oracle.com/javase/1.5.0/docs/api/java/lang/Object.html" TargetMode="External"/><Relationship Id="rId9" Type="http://schemas.openxmlformats.org/officeDocument/2006/relationships/hyperlink" Target="http://junit.org/javadoc/latest/org/junit/Assert.html#assertTrue(java.lang.String, boolean)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tutorialspoint.com/junit/junit_test_framework.htm" TargetMode="Externa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75641" y="914401"/>
            <a:ext cx="7772400" cy="1470025"/>
          </a:xfrm>
        </p:spPr>
        <p:txBody>
          <a:bodyPr>
            <a:normAutofit/>
          </a:bodyPr>
          <a:lstStyle/>
          <a:p>
            <a:pPr algn="l"/>
            <a:r>
              <a:rPr lang="en-IE" sz="4000" dirty="0"/>
              <a:t>JUnit Framework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38300" y="3810000"/>
            <a:ext cx="1866900" cy="1066800"/>
          </a:xfrm>
        </p:spPr>
        <p:txBody>
          <a:bodyPr>
            <a:norm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lang="en-IE" sz="2400" dirty="0"/>
              <a:t>Produced </a:t>
            </a:r>
          </a:p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lang="en-IE" sz="2400" dirty="0"/>
              <a:t>by:</a:t>
            </a:r>
          </a:p>
        </p:txBody>
      </p:sp>
      <p:cxnSp>
        <p:nvCxnSpPr>
          <p:cNvPr id="6" name="Straight Connector 5"/>
          <p:cNvCxnSpPr>
            <a:cxnSpLocks/>
          </p:cNvCxnSpPr>
          <p:nvPr/>
        </p:nvCxnSpPr>
        <p:spPr>
          <a:xfrm>
            <a:off x="685800" y="3070226"/>
            <a:ext cx="11049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810000" y="3817204"/>
            <a:ext cx="2971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Dr. Siobhán Drohan</a:t>
            </a:r>
          </a:p>
          <a:p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Mairead Meagher</a:t>
            </a:r>
          </a:p>
          <a:p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Siobhan Roche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7000" y="5892226"/>
            <a:ext cx="40727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1600" dirty="0">
                <a:solidFill>
                  <a:schemeClr val="tx2">
                    <a:lumMod val="75000"/>
                  </a:schemeClr>
                </a:solidFill>
              </a:rPr>
              <a:t>Department of Computing and Mathematics</a:t>
            </a:r>
          </a:p>
          <a:p>
            <a:r>
              <a:rPr lang="en-IE" sz="1600" dirty="0">
                <a:solidFill>
                  <a:schemeClr val="tx2">
                    <a:lumMod val="75000"/>
                  </a:schemeClr>
                </a:solidFill>
              </a:rPr>
              <a:t>http://www.wit.ie/</a:t>
            </a:r>
          </a:p>
        </p:txBody>
      </p:sp>
      <p:sp>
        <p:nvSpPr>
          <p:cNvPr id="12" name="Title 1"/>
          <p:cNvSpPr txBox="1">
            <a:spLocks/>
          </p:cNvSpPr>
          <p:nvPr/>
        </p:nvSpPr>
        <p:spPr>
          <a:xfrm>
            <a:off x="2175641" y="2133601"/>
            <a:ext cx="7772400" cy="9366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E" sz="3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Terminology: assertions, annotations, fixtures</a:t>
            </a:r>
          </a:p>
        </p:txBody>
      </p:sp>
      <p:pic>
        <p:nvPicPr>
          <p:cNvPr id="5" name="Picture 4" descr="Text&#10;&#10;Description automatically generated">
            <a:extLst>
              <a:ext uri="{FF2B5EF4-FFF2-40B4-BE49-F238E27FC236}">
                <a16:creationId xmlns:a16="http://schemas.microsoft.com/office/drawing/2014/main" id="{2A863623-F7E9-83C0-64D2-77A5DDFAD9A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641" y="5501441"/>
            <a:ext cx="2286000" cy="128154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0423712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dirty="0"/>
              <a:t>Topic List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E" sz="3600" dirty="0"/>
              <a:t>General Terminology</a:t>
            </a:r>
            <a:br>
              <a:rPr lang="en-IE" sz="3600" dirty="0"/>
            </a:br>
            <a:endParaRPr lang="en-IE" sz="3600" dirty="0"/>
          </a:p>
          <a:p>
            <a:r>
              <a:rPr lang="en-IE" sz="3600" dirty="0"/>
              <a:t>Assertions</a:t>
            </a:r>
          </a:p>
          <a:p>
            <a:endParaRPr lang="en-IE" sz="3600" dirty="0"/>
          </a:p>
          <a:p>
            <a:r>
              <a:rPr lang="en-IE" sz="3600" dirty="0"/>
              <a:t>Annotations</a:t>
            </a:r>
          </a:p>
          <a:p>
            <a:endParaRPr lang="en-IE" sz="3600" dirty="0"/>
          </a:p>
          <a:p>
            <a:r>
              <a:rPr lang="en-IE" sz="3600" dirty="0"/>
              <a:t>Fixtures</a:t>
            </a:r>
          </a:p>
          <a:p>
            <a:pPr lvl="1"/>
            <a:endParaRPr lang="en-IE" dirty="0"/>
          </a:p>
          <a:p>
            <a:endParaRPr lang="en-IE" dirty="0"/>
          </a:p>
          <a:p>
            <a:endParaRPr lang="en-IE" dirty="0"/>
          </a:p>
        </p:txBody>
      </p:sp>
      <p:sp>
        <p:nvSpPr>
          <p:cNvPr id="4" name="Rectangle 3"/>
          <p:cNvSpPr/>
          <p:nvPr/>
        </p:nvSpPr>
        <p:spPr>
          <a:xfrm>
            <a:off x="578556" y="1600200"/>
            <a:ext cx="4679244" cy="60959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558390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412510" y="4343401"/>
            <a:ext cx="2692890" cy="95410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IE" sz="2800" dirty="0"/>
              <a:t>JUnit Test Class / Test Case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06247D-16F3-404D-8D8E-CCAE5E10AE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232008"/>
            <a:ext cx="3936510" cy="639398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cxnSp>
        <p:nvCxnSpPr>
          <p:cNvPr id="4" name="Straight Arrow Connector 3"/>
          <p:cNvCxnSpPr>
            <a:cxnSpLocks/>
          </p:cNvCxnSpPr>
          <p:nvPr/>
        </p:nvCxnSpPr>
        <p:spPr>
          <a:xfrm>
            <a:off x="5105400" y="4820454"/>
            <a:ext cx="3200400" cy="208746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2E4F631-5142-4BAF-BB2D-BC5FE18F02C7}"/>
              </a:ext>
            </a:extLst>
          </p:cNvPr>
          <p:cNvCxnSpPr>
            <a:cxnSpLocks/>
            <a:stCxn id="8" idx="3"/>
          </p:cNvCxnSpPr>
          <p:nvPr/>
        </p:nvCxnSpPr>
        <p:spPr>
          <a:xfrm flipV="1">
            <a:off x="5105400" y="4552147"/>
            <a:ext cx="3200400" cy="268308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4279587-064E-4A43-A993-F938ACFAD4AD}"/>
              </a:ext>
            </a:extLst>
          </p:cNvPr>
          <p:cNvCxnSpPr>
            <a:cxnSpLocks/>
            <a:stCxn id="8" idx="3"/>
          </p:cNvCxnSpPr>
          <p:nvPr/>
        </p:nvCxnSpPr>
        <p:spPr>
          <a:xfrm>
            <a:off x="5105400" y="4820455"/>
            <a:ext cx="3200400" cy="685799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24152546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15B6770-C0A0-4E3A-99A2-9D291B950A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1091" y="146039"/>
            <a:ext cx="8991590" cy="650804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cxnSp>
        <p:nvCxnSpPr>
          <p:cNvPr id="9" name="Straight Arrow Connector 8"/>
          <p:cNvCxnSpPr>
            <a:cxnSpLocks/>
            <a:stCxn id="10" idx="3"/>
          </p:cNvCxnSpPr>
          <p:nvPr/>
        </p:nvCxnSpPr>
        <p:spPr>
          <a:xfrm>
            <a:off x="2090493" y="5845507"/>
            <a:ext cx="1828802" cy="620557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61691" y="5399231"/>
            <a:ext cx="1828802" cy="89255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2600" dirty="0"/>
              <a:t>Test Methods</a:t>
            </a:r>
          </a:p>
        </p:txBody>
      </p:sp>
      <p:cxnSp>
        <p:nvCxnSpPr>
          <p:cNvPr id="15" name="Straight Arrow Connector 14"/>
          <p:cNvCxnSpPr>
            <a:cxnSpLocks/>
            <a:stCxn id="10" idx="3"/>
          </p:cNvCxnSpPr>
          <p:nvPr/>
        </p:nvCxnSpPr>
        <p:spPr>
          <a:xfrm>
            <a:off x="2090493" y="5845507"/>
            <a:ext cx="1828802" cy="0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cxnSpLocks/>
            <a:stCxn id="18" idx="3"/>
          </p:cNvCxnSpPr>
          <p:nvPr/>
        </p:nvCxnSpPr>
        <p:spPr>
          <a:xfrm>
            <a:off x="2047384" y="2605650"/>
            <a:ext cx="1761551" cy="1366809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85833" y="1959319"/>
            <a:ext cx="1761551" cy="129266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2600" dirty="0"/>
              <a:t>Tearing down the </a:t>
            </a:r>
            <a:r>
              <a:rPr lang="en-IE" sz="2600" b="1" dirty="0">
                <a:solidFill>
                  <a:srgbClr val="FF0000"/>
                </a:solidFill>
              </a:rPr>
              <a:t>test fixture</a:t>
            </a:r>
          </a:p>
        </p:txBody>
      </p:sp>
      <p:cxnSp>
        <p:nvCxnSpPr>
          <p:cNvPr id="19" name="Straight Arrow Connector 18"/>
          <p:cNvCxnSpPr>
            <a:cxnSpLocks/>
            <a:stCxn id="20" idx="3"/>
          </p:cNvCxnSpPr>
          <p:nvPr/>
        </p:nvCxnSpPr>
        <p:spPr>
          <a:xfrm>
            <a:off x="2047384" y="1157850"/>
            <a:ext cx="1915016" cy="1445351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261691" y="511519"/>
            <a:ext cx="1785693" cy="129266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2600" dirty="0"/>
              <a:t>Setting up the </a:t>
            </a:r>
            <a:r>
              <a:rPr lang="en-IE" sz="2600" b="1" dirty="0">
                <a:solidFill>
                  <a:srgbClr val="FF0000"/>
                </a:solidFill>
              </a:rPr>
              <a:t>test fixture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2060C92-19F4-4FA9-BCAA-6E30B250E70B}"/>
              </a:ext>
            </a:extLst>
          </p:cNvPr>
          <p:cNvCxnSpPr>
            <a:cxnSpLocks/>
            <a:stCxn id="10" idx="3"/>
          </p:cNvCxnSpPr>
          <p:nvPr/>
        </p:nvCxnSpPr>
        <p:spPr>
          <a:xfrm flipV="1">
            <a:off x="2090493" y="5399231"/>
            <a:ext cx="1828802" cy="446276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69EB7A6D-81D6-4BB2-BDB4-07A02870C209}"/>
              </a:ext>
            </a:extLst>
          </p:cNvPr>
          <p:cNvSpPr txBox="1"/>
          <p:nvPr/>
        </p:nvSpPr>
        <p:spPr>
          <a:xfrm>
            <a:off x="10136636" y="146039"/>
            <a:ext cx="1981200" cy="52322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2800" dirty="0"/>
              <a:t>JUnit </a:t>
            </a:r>
            <a:r>
              <a:rPr lang="en-IE" sz="2800" b="1" dirty="0"/>
              <a:t>5</a:t>
            </a:r>
            <a:endParaRPr lang="en-IE" sz="2800" dirty="0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A9189883-DC98-45CC-929C-6C5B044A6B15}"/>
              </a:ext>
            </a:extLst>
          </p:cNvPr>
          <p:cNvCxnSpPr>
            <a:cxnSpLocks/>
            <a:stCxn id="25" idx="3"/>
          </p:cNvCxnSpPr>
          <p:nvPr/>
        </p:nvCxnSpPr>
        <p:spPr>
          <a:xfrm>
            <a:off x="2047384" y="4360219"/>
            <a:ext cx="1761551" cy="270649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CBF4FC1D-9AD1-4BCA-BC7B-F971C803A5BE}"/>
              </a:ext>
            </a:extLst>
          </p:cNvPr>
          <p:cNvSpPr txBox="1"/>
          <p:nvPr/>
        </p:nvSpPr>
        <p:spPr>
          <a:xfrm>
            <a:off x="261691" y="3513833"/>
            <a:ext cx="1785693" cy="169277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2600" dirty="0"/>
              <a:t>Nesting similar tests together</a:t>
            </a:r>
            <a:endParaRPr lang="en-IE" sz="2600" b="1" dirty="0">
              <a:solidFill>
                <a:srgbClr val="FF0000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043015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dirty="0"/>
              <a:t>Topic List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E" sz="3600" dirty="0"/>
              <a:t>General Terminology</a:t>
            </a:r>
            <a:br>
              <a:rPr lang="en-IE" sz="3600" dirty="0"/>
            </a:br>
            <a:endParaRPr lang="en-IE" sz="3600" dirty="0"/>
          </a:p>
          <a:p>
            <a:r>
              <a:rPr lang="en-IE" sz="3600" dirty="0"/>
              <a:t>Assertions</a:t>
            </a:r>
          </a:p>
          <a:p>
            <a:endParaRPr lang="en-IE" sz="3600" dirty="0"/>
          </a:p>
          <a:p>
            <a:r>
              <a:rPr lang="en-IE" sz="3600" dirty="0"/>
              <a:t>Annotations</a:t>
            </a:r>
          </a:p>
          <a:p>
            <a:endParaRPr lang="en-IE" sz="3600" dirty="0"/>
          </a:p>
          <a:p>
            <a:r>
              <a:rPr lang="en-IE" sz="3600" dirty="0"/>
              <a:t>Fixtures</a:t>
            </a:r>
          </a:p>
          <a:p>
            <a:pPr lvl="1"/>
            <a:endParaRPr lang="en-IE" dirty="0"/>
          </a:p>
          <a:p>
            <a:endParaRPr lang="en-IE" dirty="0"/>
          </a:p>
          <a:p>
            <a:endParaRPr lang="en-IE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6ED2EBF-AE34-4D17-A6A6-DF5A63A2E530}"/>
              </a:ext>
            </a:extLst>
          </p:cNvPr>
          <p:cNvSpPr/>
          <p:nvPr/>
        </p:nvSpPr>
        <p:spPr>
          <a:xfrm>
            <a:off x="578556" y="2819401"/>
            <a:ext cx="4679244" cy="60959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05048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609600" y="3810000"/>
            <a:ext cx="2514600" cy="129266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2600" dirty="0"/>
              <a:t>Test Methods then contain assertions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28601"/>
            <a:ext cx="2971802" cy="129266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2600" dirty="0"/>
              <a:t>First you import the </a:t>
            </a:r>
            <a:r>
              <a:rPr lang="en-IE" sz="2600" b="1" dirty="0">
                <a:solidFill>
                  <a:srgbClr val="FF0000"/>
                </a:solidFill>
              </a:rPr>
              <a:t>Assertions</a:t>
            </a:r>
            <a:r>
              <a:rPr lang="en-IE" sz="2600" dirty="0"/>
              <a:t> class from </a:t>
            </a:r>
            <a:r>
              <a:rPr lang="en-IE" sz="2600" b="1" dirty="0" err="1">
                <a:solidFill>
                  <a:srgbClr val="FF0000"/>
                </a:solidFill>
              </a:rPr>
              <a:t>org.junit</a:t>
            </a:r>
            <a:r>
              <a:rPr lang="en-IE" sz="2600" b="1" dirty="0">
                <a:solidFill>
                  <a:srgbClr val="FF0000"/>
                </a:solidFill>
              </a:rPr>
              <a:t>…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184A403-7EAB-4EBF-A6D4-71B2871298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1372" y="103361"/>
            <a:ext cx="6798628" cy="665414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D11AB85-9291-45B2-BD9C-AEC4C1CD6FF3}"/>
              </a:ext>
            </a:extLst>
          </p:cNvPr>
          <p:cNvSpPr txBox="1"/>
          <p:nvPr/>
        </p:nvSpPr>
        <p:spPr>
          <a:xfrm>
            <a:off x="9906000" y="76200"/>
            <a:ext cx="1981200" cy="52322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2800" dirty="0"/>
              <a:t>JUnit </a:t>
            </a:r>
            <a:r>
              <a:rPr lang="en-IE" sz="2800" b="1" dirty="0"/>
              <a:t>5</a:t>
            </a:r>
            <a:endParaRPr lang="en-IE" sz="2800" dirty="0"/>
          </a:p>
        </p:txBody>
      </p:sp>
      <p:cxnSp>
        <p:nvCxnSpPr>
          <p:cNvPr id="12" name="Straight Arrow Connector 11"/>
          <p:cNvCxnSpPr>
            <a:cxnSpLocks/>
          </p:cNvCxnSpPr>
          <p:nvPr/>
        </p:nvCxnSpPr>
        <p:spPr>
          <a:xfrm flipV="1">
            <a:off x="3429002" y="599420"/>
            <a:ext cx="1676398" cy="697954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>
            <a:cxnSpLocks/>
            <a:stCxn id="10" idx="3"/>
          </p:cNvCxnSpPr>
          <p:nvPr/>
        </p:nvCxnSpPr>
        <p:spPr>
          <a:xfrm>
            <a:off x="3124200" y="4456331"/>
            <a:ext cx="2743200" cy="1802249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80320D1-A9DB-4140-BB97-5B00B8D30F33}"/>
              </a:ext>
            </a:extLst>
          </p:cNvPr>
          <p:cNvCxnSpPr>
            <a:cxnSpLocks/>
            <a:stCxn id="10" idx="3"/>
          </p:cNvCxnSpPr>
          <p:nvPr/>
        </p:nvCxnSpPr>
        <p:spPr>
          <a:xfrm flipV="1">
            <a:off x="3124200" y="3657601"/>
            <a:ext cx="2667000" cy="798730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36696224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1FB723C-9873-4461-A00A-2E33BE9724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74865"/>
            <a:ext cx="9682300" cy="629233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C1E72B3-187F-467E-A1CE-75BE730A7242}"/>
              </a:ext>
            </a:extLst>
          </p:cNvPr>
          <p:cNvSpPr txBox="1"/>
          <p:nvPr/>
        </p:nvSpPr>
        <p:spPr>
          <a:xfrm>
            <a:off x="9906000" y="76200"/>
            <a:ext cx="1981200" cy="52322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2800" dirty="0"/>
              <a:t>JUnit </a:t>
            </a:r>
            <a:r>
              <a:rPr lang="en-IE" sz="2800" b="1" dirty="0"/>
              <a:t>5</a:t>
            </a:r>
            <a:endParaRPr lang="en-IE" sz="2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61FB2A5-97BE-404C-B6FD-EF4C181B3BB7}"/>
              </a:ext>
            </a:extLst>
          </p:cNvPr>
          <p:cNvSpPr txBox="1"/>
          <p:nvPr/>
        </p:nvSpPr>
        <p:spPr>
          <a:xfrm>
            <a:off x="9372600" y="653248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hlinkClick r:id="rId3"/>
              </a:rPr>
              <a:t>Assertions (JUnit 5.8.1 API)</a:t>
            </a:r>
            <a:endParaRPr lang="en-VI" dirty="0"/>
          </a:p>
        </p:txBody>
      </p:sp>
    </p:spTree>
    <p:extLst>
      <p:ext uri="{BB962C8B-B14F-4D97-AF65-F5344CB8AC3E}">
        <p14:creationId xmlns:p14="http://schemas.microsoft.com/office/powerpoint/2010/main" val="37986085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The Assertions Class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>
              <a:defRPr sz="1800"/>
            </a:pPr>
            <a:r>
              <a:rPr lang="en-IE" sz="2400" dirty="0"/>
              <a:t>To check if code is behaving as you expect, you use an assertion.</a:t>
            </a:r>
          </a:p>
          <a:p>
            <a:pPr lvl="0">
              <a:defRPr sz="1800"/>
            </a:pPr>
            <a:endParaRPr lang="en-IE" sz="2400" dirty="0"/>
          </a:p>
          <a:p>
            <a:pPr lvl="0">
              <a:defRPr sz="1800"/>
            </a:pPr>
            <a:r>
              <a:rPr lang="en-IE" sz="2400" dirty="0"/>
              <a:t>An assertion is a simple method call that verifies that something is true.</a:t>
            </a:r>
          </a:p>
          <a:p>
            <a:endParaRPr lang="en-IE" sz="2400" dirty="0"/>
          </a:p>
          <a:p>
            <a:r>
              <a:rPr lang="en-IE" sz="2400" dirty="0"/>
              <a:t>The Assertions class Contains a set of assertion methods useful for writing JUnit tests. </a:t>
            </a:r>
          </a:p>
          <a:p>
            <a:endParaRPr lang="en-IE" sz="2400" dirty="0"/>
          </a:p>
          <a:p>
            <a:r>
              <a:rPr lang="en-IE" sz="2400" dirty="0"/>
              <a:t>Only failed assertions are recorded i.e. an </a:t>
            </a:r>
            <a:r>
              <a:rPr lang="en-IE" sz="2400" b="1" dirty="0" err="1"/>
              <a:t>AssertionFailedError</a:t>
            </a:r>
            <a:r>
              <a:rPr lang="en-IE" sz="2400" b="1" dirty="0"/>
              <a:t> </a:t>
            </a:r>
            <a:r>
              <a:rPr lang="en-IE" sz="2400" dirty="0"/>
              <a:t> is thrown and handled by JUnit.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82ECB56-6D59-47CE-994D-6DFBA818702A}"/>
              </a:ext>
            </a:extLst>
          </p:cNvPr>
          <p:cNvSpPr txBox="1"/>
          <p:nvPr/>
        </p:nvSpPr>
        <p:spPr>
          <a:xfrm>
            <a:off x="9906000" y="76200"/>
            <a:ext cx="1981200" cy="52322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2800" dirty="0"/>
              <a:t>JUnit </a:t>
            </a:r>
            <a:r>
              <a:rPr lang="en-IE" sz="2800" b="1" dirty="0"/>
              <a:t>5</a:t>
            </a:r>
            <a:endParaRPr lang="en-IE" sz="28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655165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The Assertions Class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524001"/>
            <a:ext cx="96774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E" dirty="0"/>
              <a:t>These methods can be used directly: </a:t>
            </a:r>
          </a:p>
          <a:p>
            <a:pPr marL="0" indent="0">
              <a:buNone/>
            </a:pPr>
            <a:r>
              <a:rPr lang="en-IE" sz="24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IE" sz="2400" b="1" dirty="0" err="1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Assertions.assertEquals</a:t>
            </a:r>
            <a:r>
              <a:rPr lang="en-IE" sz="24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(...);</a:t>
            </a:r>
          </a:p>
          <a:p>
            <a:endParaRPr lang="en-IE" dirty="0"/>
          </a:p>
          <a:p>
            <a:pPr marL="0" indent="0">
              <a:buNone/>
            </a:pPr>
            <a:r>
              <a:rPr lang="en-IE" dirty="0"/>
              <a:t>However, they read better if they are referenced through a static import:</a:t>
            </a:r>
          </a:p>
          <a:p>
            <a:pPr marL="0" indent="0">
              <a:buNone/>
            </a:pPr>
            <a:r>
              <a:rPr lang="en-US" altLang="en-US" sz="24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0" indent="0">
              <a:buNone/>
            </a:pPr>
            <a:r>
              <a:rPr lang="en-US" altLang="en-US" sz="21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import static </a:t>
            </a:r>
            <a:r>
              <a:rPr lang="en-US" altLang="en-US" sz="21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org.junit.jupiter.api.Assertions</a:t>
            </a:r>
            <a:r>
              <a:rPr lang="en-US" altLang="en-US" sz="21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.*;</a:t>
            </a:r>
            <a:endParaRPr lang="en-US" altLang="en-US" sz="2100" dirty="0">
              <a:latin typeface="Arial" panose="020B0604020202020204" pitchFamily="34" charset="0"/>
            </a:endParaRPr>
          </a:p>
          <a:p>
            <a:pPr marL="0" indent="0">
              <a:buNone/>
            </a:pPr>
            <a:r>
              <a:rPr lang="en-IE" sz="21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//some code </a:t>
            </a:r>
          </a:p>
          <a:p>
            <a:pPr marL="0" indent="0">
              <a:buNone/>
            </a:pPr>
            <a:r>
              <a:rPr lang="en-IE" sz="21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IE" sz="2100" b="1" dirty="0" err="1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assertEquals</a:t>
            </a:r>
            <a:r>
              <a:rPr lang="en-IE" sz="21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(...);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06000" y="4285455"/>
            <a:ext cx="1902372" cy="138499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2800" dirty="0"/>
              <a:t> We will use this approach.</a:t>
            </a:r>
          </a:p>
        </p:txBody>
      </p:sp>
      <p:sp>
        <p:nvSpPr>
          <p:cNvPr id="7" name="Arrow: Left 6">
            <a:extLst>
              <a:ext uri="{FF2B5EF4-FFF2-40B4-BE49-F238E27FC236}">
                <a16:creationId xmlns:a16="http://schemas.microsoft.com/office/drawing/2014/main" id="{D53A4F0B-BC32-40B5-8FEF-D81783384054}"/>
              </a:ext>
            </a:extLst>
          </p:cNvPr>
          <p:cNvSpPr/>
          <p:nvPr/>
        </p:nvSpPr>
        <p:spPr>
          <a:xfrm>
            <a:off x="9144000" y="4645131"/>
            <a:ext cx="762000" cy="519182"/>
          </a:xfrm>
          <a:prstGeom prst="lef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2955A68-42CE-4BFC-82A9-C6BD851F6AB4}"/>
              </a:ext>
            </a:extLst>
          </p:cNvPr>
          <p:cNvSpPr txBox="1"/>
          <p:nvPr/>
        </p:nvSpPr>
        <p:spPr>
          <a:xfrm>
            <a:off x="9906000" y="76200"/>
            <a:ext cx="1981200" cy="52322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2800" dirty="0"/>
              <a:t>JUnit </a:t>
            </a:r>
            <a:r>
              <a:rPr lang="en-IE" sz="2800" b="1" dirty="0"/>
              <a:t>5</a:t>
            </a:r>
            <a:endParaRPr lang="en-IE" sz="28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90022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Some common Assert methods (1)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925318"/>
              </p:ext>
            </p:extLst>
          </p:nvPr>
        </p:nvGraphicFramePr>
        <p:xfrm>
          <a:off x="1143000" y="1524000"/>
          <a:ext cx="10058400" cy="4998720"/>
        </p:xfrm>
        <a:graphic>
          <a:graphicData uri="http://schemas.openxmlformats.org/drawingml/2006/table">
            <a:tbl>
              <a:tblPr/>
              <a:tblGrid>
                <a:gridCol w="17313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270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l"/>
                      <a:r>
                        <a:rPr lang="en-IE" b="1" dirty="0"/>
                        <a:t>Method Summary</a:t>
                      </a:r>
                      <a:endParaRPr lang="en-IE" dirty="0"/>
                    </a:p>
                  </a:txBody>
                  <a:tcPr marL="28575" marR="28575" marT="28575" marB="285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A35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E" sz="1800" dirty="0"/>
                        <a:t>static void</a:t>
                      </a: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1"/>
                      <a:r>
                        <a:rPr lang="en-IE" sz="2000" b="1" dirty="0" err="1">
                          <a:solidFill>
                            <a:srgbClr val="03A35D"/>
                          </a:solidFill>
                          <a:effectLst/>
                          <a:hlinkClick r:id="rId3"/>
                        </a:rPr>
                        <a:t>assertEquals</a:t>
                      </a:r>
                      <a:r>
                        <a:rPr lang="en-IE" sz="2000" dirty="0"/>
                        <a:t>(double expected, double actual, double delta) </a:t>
                      </a:r>
                      <a:br>
                        <a:rPr lang="en-IE" sz="2000" dirty="0"/>
                      </a:br>
                      <a:r>
                        <a:rPr lang="en-IE" sz="2000" dirty="0"/>
                        <a:t>Asserts that two doubles are equal to within a positive delta.</a:t>
                      </a:r>
                    </a:p>
                  </a:txBody>
                  <a:tcPr marL="28575" marR="28575" marT="28575" marB="285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E" sz="1800" dirty="0"/>
                        <a:t>static void</a:t>
                      </a: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1"/>
                      <a:r>
                        <a:rPr lang="en-IE" sz="2000" b="1" dirty="0" err="1">
                          <a:solidFill>
                            <a:srgbClr val="03A35D"/>
                          </a:solidFill>
                          <a:effectLst/>
                          <a:hlinkClick r:id="rId4"/>
                        </a:rPr>
                        <a:t>assertEquals</a:t>
                      </a:r>
                      <a:r>
                        <a:rPr lang="en-IE" sz="2000" dirty="0"/>
                        <a:t>(long expected, long actual) </a:t>
                      </a:r>
                      <a:br>
                        <a:rPr lang="en-IE" sz="2000" dirty="0"/>
                      </a:br>
                      <a:r>
                        <a:rPr lang="en-IE" sz="2000" dirty="0"/>
                        <a:t>Asserts that two longs are equal.</a:t>
                      </a:r>
                    </a:p>
                  </a:txBody>
                  <a:tcPr marL="28575" marR="28575" marT="28575" marB="285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E" sz="1800" dirty="0"/>
                        <a:t>static void</a:t>
                      </a: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1"/>
                      <a:r>
                        <a:rPr lang="en-IE" sz="2000" b="1" dirty="0" err="1">
                          <a:solidFill>
                            <a:srgbClr val="03A35D"/>
                          </a:solidFill>
                          <a:effectLst/>
                          <a:hlinkClick r:id="rId5"/>
                        </a:rPr>
                        <a:t>assertEquals</a:t>
                      </a:r>
                      <a:r>
                        <a:rPr lang="en-IE" sz="2000" dirty="0"/>
                        <a:t>(</a:t>
                      </a:r>
                      <a:r>
                        <a:rPr lang="en-IE" sz="2000" dirty="0">
                          <a:solidFill>
                            <a:srgbClr val="03A35D"/>
                          </a:solidFill>
                          <a:effectLst/>
                          <a:hlinkClick r:id="rId6" tooltip="class or interface in java.lang"/>
                        </a:rPr>
                        <a:t>Object</a:t>
                      </a:r>
                      <a:r>
                        <a:rPr lang="en-IE" sz="2000" dirty="0"/>
                        <a:t> expected, </a:t>
                      </a:r>
                      <a:r>
                        <a:rPr lang="en-IE" sz="2000" dirty="0">
                          <a:solidFill>
                            <a:srgbClr val="03A35D"/>
                          </a:solidFill>
                          <a:effectLst/>
                          <a:hlinkClick r:id="rId6" tooltip="class or interface in java.lang"/>
                        </a:rPr>
                        <a:t>Object</a:t>
                      </a:r>
                      <a:r>
                        <a:rPr lang="en-IE" sz="2000" dirty="0"/>
                        <a:t> actual) </a:t>
                      </a:r>
                      <a:br>
                        <a:rPr lang="en-IE" sz="2000" dirty="0"/>
                      </a:br>
                      <a:r>
                        <a:rPr lang="en-IE" sz="2000" dirty="0"/>
                        <a:t>Asserts that two objects are equal.</a:t>
                      </a:r>
                    </a:p>
                  </a:txBody>
                  <a:tcPr marL="28575" marR="28575" marT="28575" marB="285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E" sz="1800" dirty="0"/>
                        <a:t>static void</a:t>
                      </a: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1"/>
                      <a:r>
                        <a:rPr lang="en-IE" sz="2000" b="1" dirty="0" err="1">
                          <a:solidFill>
                            <a:srgbClr val="03A35D"/>
                          </a:solidFill>
                          <a:effectLst/>
                          <a:hlinkClick r:id="rId7"/>
                        </a:rPr>
                        <a:t>assertNotEquals</a:t>
                      </a:r>
                      <a:r>
                        <a:rPr lang="en-IE" sz="2000" dirty="0"/>
                        <a:t>(double unexpected, double actual, double delta) </a:t>
                      </a:r>
                      <a:br>
                        <a:rPr lang="en-IE" sz="2000" dirty="0"/>
                      </a:br>
                      <a:r>
                        <a:rPr lang="en-IE" sz="2000" dirty="0"/>
                        <a:t>Asserts that two doubles are </a:t>
                      </a:r>
                      <a:r>
                        <a:rPr lang="en-IE" sz="2000" b="1" dirty="0"/>
                        <a:t>not</a:t>
                      </a:r>
                      <a:r>
                        <a:rPr lang="en-IE" sz="2000" dirty="0"/>
                        <a:t> equal to within a positive delta.</a:t>
                      </a:r>
                    </a:p>
                  </a:txBody>
                  <a:tcPr marL="28575" marR="28575" marT="28575" marB="285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E" sz="1800" dirty="0"/>
                        <a:t>static void</a:t>
                      </a: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1"/>
                      <a:r>
                        <a:rPr lang="en-IE" sz="2000" b="1" dirty="0" err="1">
                          <a:solidFill>
                            <a:srgbClr val="03A35D"/>
                          </a:solidFill>
                          <a:effectLst/>
                          <a:hlinkClick r:id="rId8"/>
                        </a:rPr>
                        <a:t>assertNotEquals</a:t>
                      </a:r>
                      <a:r>
                        <a:rPr lang="en-IE" sz="2000" dirty="0"/>
                        <a:t>(</a:t>
                      </a:r>
                      <a:r>
                        <a:rPr lang="en-IE" sz="2000" dirty="0">
                          <a:solidFill>
                            <a:srgbClr val="03A35D"/>
                          </a:solidFill>
                          <a:effectLst/>
                          <a:hlinkClick r:id="rId6" tooltip="class or interface in java.lang"/>
                        </a:rPr>
                        <a:t>Object</a:t>
                      </a:r>
                      <a:r>
                        <a:rPr lang="en-IE" sz="2000" dirty="0"/>
                        <a:t> unexpected, </a:t>
                      </a:r>
                      <a:r>
                        <a:rPr lang="en-IE" sz="2000" dirty="0">
                          <a:solidFill>
                            <a:srgbClr val="03A35D"/>
                          </a:solidFill>
                          <a:effectLst/>
                          <a:hlinkClick r:id="rId6" tooltip="class or interface in java.lang"/>
                        </a:rPr>
                        <a:t>Object</a:t>
                      </a:r>
                      <a:r>
                        <a:rPr lang="en-IE" sz="2000" dirty="0"/>
                        <a:t> actual) </a:t>
                      </a:r>
                      <a:br>
                        <a:rPr lang="en-IE" sz="2000" dirty="0"/>
                      </a:br>
                      <a:r>
                        <a:rPr lang="en-IE" sz="2000" dirty="0"/>
                        <a:t>Asserts that two objects are </a:t>
                      </a:r>
                      <a:r>
                        <a:rPr lang="en-IE" sz="2000" b="1" dirty="0"/>
                        <a:t>not</a:t>
                      </a:r>
                      <a:r>
                        <a:rPr lang="en-IE" sz="2000" dirty="0"/>
                        <a:t> equals.</a:t>
                      </a:r>
                    </a:p>
                  </a:txBody>
                  <a:tcPr marL="28575" marR="28575" marT="28575" marB="285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E" sz="1800" dirty="0"/>
                        <a:t>static void</a:t>
                      </a: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1"/>
                      <a:r>
                        <a:rPr lang="en-IE" sz="2000" b="1" dirty="0" err="1">
                          <a:solidFill>
                            <a:srgbClr val="03A35D"/>
                          </a:solidFill>
                          <a:effectLst/>
                          <a:hlinkClick r:id="rId9"/>
                        </a:rPr>
                        <a:t>assertNotSame</a:t>
                      </a:r>
                      <a:r>
                        <a:rPr lang="en-IE" sz="2000" dirty="0"/>
                        <a:t>(</a:t>
                      </a:r>
                      <a:r>
                        <a:rPr lang="en-IE" sz="2000" dirty="0">
                          <a:solidFill>
                            <a:srgbClr val="03A35D"/>
                          </a:solidFill>
                          <a:effectLst/>
                          <a:hlinkClick r:id="rId6" tooltip="class or interface in java.lang"/>
                        </a:rPr>
                        <a:t>Object</a:t>
                      </a:r>
                      <a:r>
                        <a:rPr lang="en-IE" sz="2000" dirty="0"/>
                        <a:t> unexpected, </a:t>
                      </a:r>
                      <a:r>
                        <a:rPr lang="en-IE" sz="2000" dirty="0">
                          <a:solidFill>
                            <a:srgbClr val="03A35D"/>
                          </a:solidFill>
                          <a:effectLst/>
                          <a:hlinkClick r:id="rId6" tooltip="class or interface in java.lang"/>
                        </a:rPr>
                        <a:t>Object</a:t>
                      </a:r>
                      <a:r>
                        <a:rPr lang="en-IE" sz="2000" dirty="0"/>
                        <a:t> actual) </a:t>
                      </a:r>
                      <a:br>
                        <a:rPr lang="en-IE" sz="2000" dirty="0"/>
                      </a:br>
                      <a:r>
                        <a:rPr lang="en-IE" sz="2000" dirty="0"/>
                        <a:t>Asserts that two objects do not refer to the same object.</a:t>
                      </a:r>
                    </a:p>
                  </a:txBody>
                  <a:tcPr marL="28575" marR="28575" marT="28575" marB="285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E" sz="1800" dirty="0"/>
                        <a:t>static void</a:t>
                      </a: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1"/>
                      <a:r>
                        <a:rPr lang="en-IE" sz="2000" b="1" dirty="0" err="1">
                          <a:solidFill>
                            <a:srgbClr val="03A35D"/>
                          </a:solidFill>
                          <a:effectLst/>
                          <a:hlinkClick r:id="rId10"/>
                        </a:rPr>
                        <a:t>assertSame</a:t>
                      </a:r>
                      <a:r>
                        <a:rPr lang="en-IE" sz="2000" dirty="0"/>
                        <a:t>(</a:t>
                      </a:r>
                      <a:r>
                        <a:rPr lang="en-IE" sz="2000" dirty="0">
                          <a:solidFill>
                            <a:srgbClr val="03A35D"/>
                          </a:solidFill>
                          <a:effectLst/>
                          <a:hlinkClick r:id="rId6" tooltip="class or interface in java.lang"/>
                        </a:rPr>
                        <a:t>Object</a:t>
                      </a:r>
                      <a:r>
                        <a:rPr lang="en-IE" sz="2000" dirty="0"/>
                        <a:t> expected, </a:t>
                      </a:r>
                      <a:r>
                        <a:rPr lang="en-IE" sz="2000" dirty="0">
                          <a:solidFill>
                            <a:srgbClr val="03A35D"/>
                          </a:solidFill>
                          <a:effectLst/>
                          <a:hlinkClick r:id="rId6" tooltip="class or interface in java.lang"/>
                        </a:rPr>
                        <a:t>Object</a:t>
                      </a:r>
                      <a:r>
                        <a:rPr lang="en-IE" sz="2000" dirty="0"/>
                        <a:t> actual) </a:t>
                      </a:r>
                      <a:br>
                        <a:rPr lang="en-IE" sz="2000" dirty="0"/>
                      </a:br>
                      <a:r>
                        <a:rPr lang="en-IE" sz="2000" dirty="0"/>
                        <a:t>Asserts that two objects refer to the same object.</a:t>
                      </a:r>
                    </a:p>
                  </a:txBody>
                  <a:tcPr marL="28575" marR="28575" marT="28575" marB="285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751C9196-BB32-45DE-BC45-7169BFF3C40A}"/>
              </a:ext>
            </a:extLst>
          </p:cNvPr>
          <p:cNvSpPr txBox="1"/>
          <p:nvPr/>
        </p:nvSpPr>
        <p:spPr>
          <a:xfrm>
            <a:off x="9372600" y="653248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hlinkClick r:id="rId11"/>
              </a:rPr>
              <a:t>Assertions (JUnit 5.8.1 API)</a:t>
            </a:r>
            <a:endParaRPr lang="en-VI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325671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Some common Assert methods (2)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1929142"/>
              </p:ext>
            </p:extLst>
          </p:nvPr>
        </p:nvGraphicFramePr>
        <p:xfrm>
          <a:off x="1981200" y="1522480"/>
          <a:ext cx="7543800" cy="4998720"/>
        </p:xfrm>
        <a:graphic>
          <a:graphicData uri="http://schemas.openxmlformats.org/drawingml/2006/table">
            <a:tbl>
              <a:tblPr/>
              <a:tblGrid>
                <a:gridCol w="14957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480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l"/>
                      <a:r>
                        <a:rPr lang="en-IE" b="1" dirty="0"/>
                        <a:t>Method Summary</a:t>
                      </a:r>
                      <a:endParaRPr lang="en-IE" dirty="0"/>
                    </a:p>
                  </a:txBody>
                  <a:tcPr marL="28575" marR="28575" marT="28575" marB="285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A35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E" sz="1800" dirty="0"/>
                        <a:t>static void</a:t>
                      </a: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1"/>
                      <a:r>
                        <a:rPr lang="en-IE" sz="2000" b="1" dirty="0" err="1">
                          <a:solidFill>
                            <a:srgbClr val="03A35D"/>
                          </a:solidFill>
                          <a:effectLst/>
                          <a:hlinkClick r:id="rId3"/>
                        </a:rPr>
                        <a:t>assertNotNull</a:t>
                      </a:r>
                      <a:r>
                        <a:rPr lang="en-IE" sz="2000" dirty="0"/>
                        <a:t>(</a:t>
                      </a:r>
                      <a:r>
                        <a:rPr lang="en-IE" sz="2000" dirty="0">
                          <a:solidFill>
                            <a:srgbClr val="03A35D"/>
                          </a:solidFill>
                          <a:effectLst/>
                          <a:hlinkClick r:id="rId4" tooltip="class or interface in java.lang"/>
                        </a:rPr>
                        <a:t>Object</a:t>
                      </a:r>
                      <a:r>
                        <a:rPr lang="en-IE" sz="2000" dirty="0"/>
                        <a:t> object) </a:t>
                      </a:r>
                      <a:br>
                        <a:rPr lang="en-IE" sz="2000" dirty="0"/>
                      </a:br>
                      <a:r>
                        <a:rPr lang="en-IE" sz="2000" dirty="0"/>
                        <a:t>Asserts that an object isn't null.</a:t>
                      </a:r>
                    </a:p>
                  </a:txBody>
                  <a:tcPr marL="28575" marR="28575" marT="28575" marB="285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E" sz="1800" dirty="0"/>
                        <a:t>static void</a:t>
                      </a: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1"/>
                      <a:r>
                        <a:rPr lang="en-IE" sz="2000" b="1" dirty="0" err="1">
                          <a:solidFill>
                            <a:srgbClr val="03A35D"/>
                          </a:solidFill>
                          <a:effectLst/>
                          <a:hlinkClick r:id="rId5"/>
                        </a:rPr>
                        <a:t>assertNotNull</a:t>
                      </a:r>
                      <a:r>
                        <a:rPr lang="en-IE" sz="2000" dirty="0"/>
                        <a:t>(</a:t>
                      </a:r>
                      <a:r>
                        <a:rPr lang="en-IE" sz="2000" dirty="0">
                          <a:solidFill>
                            <a:srgbClr val="03A35D"/>
                          </a:solidFill>
                          <a:effectLst/>
                          <a:hlinkClick r:id="rId6" tooltip="class or interface in java.lang"/>
                        </a:rPr>
                        <a:t>String</a:t>
                      </a:r>
                      <a:r>
                        <a:rPr lang="en-IE" sz="2000" dirty="0"/>
                        <a:t> message, </a:t>
                      </a:r>
                      <a:r>
                        <a:rPr lang="en-IE" sz="2000" dirty="0">
                          <a:solidFill>
                            <a:srgbClr val="03A35D"/>
                          </a:solidFill>
                          <a:effectLst/>
                          <a:hlinkClick r:id="rId4" tooltip="class or interface in java.lang"/>
                        </a:rPr>
                        <a:t>Object</a:t>
                      </a:r>
                      <a:r>
                        <a:rPr lang="en-IE" sz="2000" dirty="0"/>
                        <a:t> object) </a:t>
                      </a:r>
                      <a:br>
                        <a:rPr lang="en-IE" sz="2000" dirty="0"/>
                      </a:br>
                      <a:r>
                        <a:rPr lang="en-IE" sz="2000" dirty="0"/>
                        <a:t>Asserts that an object isn't null.</a:t>
                      </a:r>
                    </a:p>
                  </a:txBody>
                  <a:tcPr marL="28575" marR="28575" marT="28575" marB="285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E" sz="1800" dirty="0"/>
                        <a:t>static void</a:t>
                      </a: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1"/>
                      <a:r>
                        <a:rPr lang="en-IE" sz="2000" b="1" dirty="0" err="1">
                          <a:solidFill>
                            <a:srgbClr val="03A35D"/>
                          </a:solidFill>
                          <a:effectLst/>
                          <a:hlinkClick r:id="rId7"/>
                        </a:rPr>
                        <a:t>assertNull</a:t>
                      </a:r>
                      <a:r>
                        <a:rPr lang="en-IE" sz="2000" dirty="0"/>
                        <a:t>(</a:t>
                      </a:r>
                      <a:r>
                        <a:rPr lang="en-IE" sz="2000" dirty="0">
                          <a:solidFill>
                            <a:srgbClr val="03A35D"/>
                          </a:solidFill>
                          <a:effectLst/>
                          <a:hlinkClick r:id="rId4" tooltip="class or interface in java.lang"/>
                        </a:rPr>
                        <a:t>Object</a:t>
                      </a:r>
                      <a:r>
                        <a:rPr lang="en-IE" sz="2000" dirty="0"/>
                        <a:t> object) </a:t>
                      </a:r>
                      <a:br>
                        <a:rPr lang="en-IE" sz="2000" dirty="0"/>
                      </a:br>
                      <a:r>
                        <a:rPr lang="en-IE" sz="2000" dirty="0"/>
                        <a:t>Asserts that an object is null.</a:t>
                      </a:r>
                    </a:p>
                  </a:txBody>
                  <a:tcPr marL="28575" marR="28575" marT="28575" marB="285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E" sz="1800" dirty="0"/>
                        <a:t>static void</a:t>
                      </a: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1"/>
                      <a:r>
                        <a:rPr lang="en-IE" sz="2000" b="1" dirty="0" err="1">
                          <a:solidFill>
                            <a:srgbClr val="03A35D"/>
                          </a:solidFill>
                          <a:effectLst/>
                          <a:hlinkClick r:id="rId8"/>
                        </a:rPr>
                        <a:t>assertFalse</a:t>
                      </a:r>
                      <a:r>
                        <a:rPr lang="en-IE" sz="2000" dirty="0"/>
                        <a:t>(</a:t>
                      </a:r>
                      <a:r>
                        <a:rPr lang="en-IE" sz="2000" dirty="0" err="1"/>
                        <a:t>boolean</a:t>
                      </a:r>
                      <a:r>
                        <a:rPr lang="en-IE" sz="2000" dirty="0"/>
                        <a:t> condition) </a:t>
                      </a:r>
                      <a:br>
                        <a:rPr lang="en-IE" sz="2000" dirty="0"/>
                      </a:br>
                      <a:r>
                        <a:rPr lang="en-IE" sz="2000" dirty="0"/>
                        <a:t>Asserts that a condition is false.</a:t>
                      </a:r>
                    </a:p>
                  </a:txBody>
                  <a:tcPr marL="28575" marR="28575" marT="28575" marB="285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E" sz="1800" dirty="0"/>
                        <a:t>static void</a:t>
                      </a: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1"/>
                      <a:r>
                        <a:rPr lang="en-IE" sz="2000" b="1" dirty="0" err="1">
                          <a:solidFill>
                            <a:srgbClr val="03A35D"/>
                          </a:solidFill>
                          <a:effectLst/>
                          <a:hlinkClick r:id="rId9"/>
                        </a:rPr>
                        <a:t>assertTrue</a:t>
                      </a:r>
                      <a:r>
                        <a:rPr lang="en-IE" sz="2000" dirty="0"/>
                        <a:t>(</a:t>
                      </a:r>
                      <a:r>
                        <a:rPr lang="en-IE" sz="2000" dirty="0">
                          <a:solidFill>
                            <a:srgbClr val="03A35D"/>
                          </a:solidFill>
                          <a:effectLst/>
                          <a:hlinkClick r:id="rId6" tooltip="class or interface in java.lang"/>
                        </a:rPr>
                        <a:t>String</a:t>
                      </a:r>
                      <a:r>
                        <a:rPr lang="en-IE" sz="2000" dirty="0"/>
                        <a:t> message, </a:t>
                      </a:r>
                      <a:r>
                        <a:rPr lang="en-IE" sz="2000" dirty="0" err="1"/>
                        <a:t>boolean</a:t>
                      </a:r>
                      <a:r>
                        <a:rPr lang="en-IE" sz="2000" dirty="0"/>
                        <a:t> condition) </a:t>
                      </a:r>
                      <a:br>
                        <a:rPr lang="en-IE" sz="2000" dirty="0"/>
                      </a:br>
                      <a:r>
                        <a:rPr lang="en-IE" sz="2000" dirty="0"/>
                        <a:t>Asserts that a condition is true.</a:t>
                      </a:r>
                    </a:p>
                  </a:txBody>
                  <a:tcPr marL="28575" marR="28575" marT="28575" marB="285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E" sz="1800" dirty="0"/>
                        <a:t>static void</a:t>
                      </a: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1"/>
                      <a:r>
                        <a:rPr lang="en-IE" sz="2000" b="1" dirty="0">
                          <a:solidFill>
                            <a:srgbClr val="03A35D"/>
                          </a:solidFill>
                          <a:effectLst/>
                          <a:hlinkClick r:id="rId10"/>
                        </a:rPr>
                        <a:t>fail</a:t>
                      </a:r>
                      <a:r>
                        <a:rPr lang="en-IE" sz="2000" dirty="0"/>
                        <a:t>() </a:t>
                      </a:r>
                      <a:br>
                        <a:rPr lang="en-IE" sz="2000" dirty="0"/>
                      </a:br>
                      <a:r>
                        <a:rPr lang="en-IE" sz="2000" dirty="0"/>
                        <a:t>Fails a test with no message.</a:t>
                      </a:r>
                    </a:p>
                  </a:txBody>
                  <a:tcPr marL="28575" marR="28575" marT="28575" marB="285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E" sz="1800" dirty="0"/>
                        <a:t>static void</a:t>
                      </a:r>
                    </a:p>
                  </a:txBody>
                  <a:tcPr marL="28575" marR="28575" marT="28575" marB="285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1"/>
                      <a:r>
                        <a:rPr lang="en-IE" sz="2000" b="1" dirty="0">
                          <a:solidFill>
                            <a:srgbClr val="03A35D"/>
                          </a:solidFill>
                          <a:effectLst/>
                          <a:hlinkClick r:id="rId11"/>
                        </a:rPr>
                        <a:t>fail</a:t>
                      </a:r>
                      <a:r>
                        <a:rPr lang="en-IE" sz="2000" dirty="0"/>
                        <a:t>(</a:t>
                      </a:r>
                      <a:r>
                        <a:rPr lang="en-IE" sz="2000" dirty="0">
                          <a:solidFill>
                            <a:srgbClr val="03A35D"/>
                          </a:solidFill>
                          <a:effectLst/>
                          <a:hlinkClick r:id="rId6" tooltip="class or interface in java.lang"/>
                        </a:rPr>
                        <a:t>String</a:t>
                      </a:r>
                      <a:r>
                        <a:rPr lang="en-IE" sz="2000" dirty="0"/>
                        <a:t> message) </a:t>
                      </a:r>
                      <a:br>
                        <a:rPr lang="en-IE" sz="2000" dirty="0"/>
                      </a:br>
                      <a:r>
                        <a:rPr lang="en-IE" sz="2000" dirty="0"/>
                        <a:t>Fails a test with the given message.</a:t>
                      </a:r>
                    </a:p>
                  </a:txBody>
                  <a:tcPr marL="28575" marR="28575" marT="28575" marB="285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52039839-5B46-4D4C-92A9-EC739B32A369}"/>
              </a:ext>
            </a:extLst>
          </p:cNvPr>
          <p:cNvSpPr txBox="1"/>
          <p:nvPr/>
        </p:nvSpPr>
        <p:spPr>
          <a:xfrm>
            <a:off x="9372600" y="653248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hlinkClick r:id="rId12"/>
              </a:rPr>
              <a:t>Assertions (JUnit 5.8.1 API)</a:t>
            </a:r>
            <a:endParaRPr lang="en-VI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639116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990600" y="4912006"/>
            <a:ext cx="1967089" cy="492443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2600" dirty="0" err="1"/>
              <a:t>assertTrue</a:t>
            </a:r>
            <a:endParaRPr lang="en-IE" sz="2600" dirty="0"/>
          </a:p>
        </p:txBody>
      </p:sp>
      <p:sp>
        <p:nvSpPr>
          <p:cNvPr id="11" name="TextBox 10"/>
          <p:cNvSpPr txBox="1"/>
          <p:nvPr/>
        </p:nvSpPr>
        <p:spPr>
          <a:xfrm>
            <a:off x="990598" y="2331072"/>
            <a:ext cx="1967089" cy="492443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2600" dirty="0" err="1"/>
              <a:t>assertEquals</a:t>
            </a:r>
            <a:endParaRPr lang="en-IE" sz="2600" b="1" dirty="0">
              <a:solidFill>
                <a:srgbClr val="FF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184A403-7EAB-4EBF-A6D4-71B2871298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0102" y="76200"/>
            <a:ext cx="6798628" cy="665414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D11AB85-9291-45B2-BD9C-AEC4C1CD6FF3}"/>
              </a:ext>
            </a:extLst>
          </p:cNvPr>
          <p:cNvSpPr txBox="1"/>
          <p:nvPr/>
        </p:nvSpPr>
        <p:spPr>
          <a:xfrm>
            <a:off x="9906000" y="76200"/>
            <a:ext cx="1981200" cy="52322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2800" dirty="0"/>
              <a:t>JUnit </a:t>
            </a:r>
            <a:r>
              <a:rPr lang="en-IE" sz="2800" b="1" dirty="0"/>
              <a:t>5</a:t>
            </a:r>
            <a:endParaRPr lang="en-IE" sz="2800" dirty="0"/>
          </a:p>
        </p:txBody>
      </p:sp>
      <p:cxnSp>
        <p:nvCxnSpPr>
          <p:cNvPr id="12" name="Straight Arrow Connector 11"/>
          <p:cNvCxnSpPr>
            <a:cxnSpLocks/>
            <a:stCxn id="10" idx="3"/>
          </p:cNvCxnSpPr>
          <p:nvPr/>
        </p:nvCxnSpPr>
        <p:spPr>
          <a:xfrm>
            <a:off x="2957689" y="5158228"/>
            <a:ext cx="2909711" cy="861572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>
            <a:cxnSpLocks/>
            <a:stCxn id="14" idx="3"/>
          </p:cNvCxnSpPr>
          <p:nvPr/>
        </p:nvCxnSpPr>
        <p:spPr>
          <a:xfrm>
            <a:off x="2957688" y="5849779"/>
            <a:ext cx="2833512" cy="587864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80320D1-A9DB-4140-BB97-5B00B8D30F33}"/>
              </a:ext>
            </a:extLst>
          </p:cNvPr>
          <p:cNvCxnSpPr>
            <a:cxnSpLocks/>
            <a:stCxn id="11" idx="3"/>
          </p:cNvCxnSpPr>
          <p:nvPr/>
        </p:nvCxnSpPr>
        <p:spPr>
          <a:xfrm>
            <a:off x="2957687" y="2577294"/>
            <a:ext cx="2833513" cy="1080307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4593BD2B-E637-4BDD-95B1-3FF0177D7735}"/>
              </a:ext>
            </a:extLst>
          </p:cNvPr>
          <p:cNvSpPr txBox="1"/>
          <p:nvPr/>
        </p:nvSpPr>
        <p:spPr>
          <a:xfrm>
            <a:off x="990600" y="5603557"/>
            <a:ext cx="1967088" cy="492443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2600" dirty="0" err="1"/>
              <a:t>assertFalse</a:t>
            </a:r>
            <a:endParaRPr lang="en-IE" sz="26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83815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dirty="0"/>
              <a:t>Topic List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E" sz="3600" dirty="0"/>
              <a:t>General Terminology</a:t>
            </a:r>
            <a:br>
              <a:rPr lang="en-IE" sz="3600" dirty="0"/>
            </a:br>
            <a:endParaRPr lang="en-IE" sz="3600" dirty="0"/>
          </a:p>
          <a:p>
            <a:r>
              <a:rPr lang="en-IE" sz="3600" dirty="0"/>
              <a:t>Assertions</a:t>
            </a:r>
          </a:p>
          <a:p>
            <a:endParaRPr lang="en-IE" sz="3600" dirty="0"/>
          </a:p>
          <a:p>
            <a:r>
              <a:rPr lang="en-IE" sz="3600" dirty="0"/>
              <a:t>Annotations</a:t>
            </a:r>
          </a:p>
          <a:p>
            <a:endParaRPr lang="en-IE" sz="3600" dirty="0"/>
          </a:p>
          <a:p>
            <a:r>
              <a:rPr lang="en-IE" sz="3600" dirty="0"/>
              <a:t>Fixtures</a:t>
            </a:r>
          </a:p>
          <a:p>
            <a:pPr lvl="1"/>
            <a:endParaRPr lang="en-IE" dirty="0"/>
          </a:p>
          <a:p>
            <a:endParaRPr lang="en-IE" dirty="0"/>
          </a:p>
          <a:p>
            <a:endParaRPr lang="en-IE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6B3F9D5-EF90-4D1D-AED3-CED349C7D586}"/>
              </a:ext>
            </a:extLst>
          </p:cNvPr>
          <p:cNvSpPr/>
          <p:nvPr/>
        </p:nvSpPr>
        <p:spPr>
          <a:xfrm>
            <a:off x="578556" y="4114800"/>
            <a:ext cx="4679244" cy="60959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05048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184A403-7EAB-4EBF-A6D4-71B2871298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0102" y="76200"/>
            <a:ext cx="6798628" cy="665414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D11AB85-9291-45B2-BD9C-AEC4C1CD6FF3}"/>
              </a:ext>
            </a:extLst>
          </p:cNvPr>
          <p:cNvSpPr txBox="1"/>
          <p:nvPr/>
        </p:nvSpPr>
        <p:spPr>
          <a:xfrm>
            <a:off x="9906000" y="76200"/>
            <a:ext cx="1981200" cy="52322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2800" dirty="0"/>
              <a:t>JUnit </a:t>
            </a:r>
            <a:r>
              <a:rPr lang="en-IE" sz="2800" b="1" dirty="0"/>
              <a:t>5</a:t>
            </a:r>
            <a:endParaRPr lang="en-IE" sz="2800" dirty="0"/>
          </a:p>
        </p:txBody>
      </p:sp>
      <p:cxnSp>
        <p:nvCxnSpPr>
          <p:cNvPr id="12" name="Straight Arrow Connector 11"/>
          <p:cNvCxnSpPr>
            <a:cxnSpLocks/>
          </p:cNvCxnSpPr>
          <p:nvPr/>
        </p:nvCxnSpPr>
        <p:spPr>
          <a:xfrm flipV="1">
            <a:off x="2603834" y="2133600"/>
            <a:ext cx="2730166" cy="1382762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>
            <a:cxnSpLocks/>
            <a:stCxn id="16" idx="3"/>
          </p:cNvCxnSpPr>
          <p:nvPr/>
        </p:nvCxnSpPr>
        <p:spPr>
          <a:xfrm flipV="1">
            <a:off x="2603834" y="2632803"/>
            <a:ext cx="2730166" cy="883559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80320D1-A9DB-4140-BB97-5B00B8D30F33}"/>
              </a:ext>
            </a:extLst>
          </p:cNvPr>
          <p:cNvCxnSpPr>
            <a:cxnSpLocks/>
            <a:stCxn id="16" idx="3"/>
          </p:cNvCxnSpPr>
          <p:nvPr/>
        </p:nvCxnSpPr>
        <p:spPr>
          <a:xfrm flipV="1">
            <a:off x="2603834" y="1600202"/>
            <a:ext cx="2730166" cy="1916160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63E6E237-F570-40EA-8193-C53C4F06BF9C}"/>
              </a:ext>
            </a:extLst>
          </p:cNvPr>
          <p:cNvSpPr txBox="1"/>
          <p:nvPr/>
        </p:nvSpPr>
        <p:spPr>
          <a:xfrm>
            <a:off x="783270" y="2362200"/>
            <a:ext cx="1820564" cy="230832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2400" dirty="0"/>
              <a:t>These methods have </a:t>
            </a:r>
            <a:r>
              <a:rPr lang="en-IE" sz="2400" b="1" dirty="0"/>
              <a:t>Annotations</a:t>
            </a:r>
          </a:p>
          <a:p>
            <a:pPr algn="ctr"/>
            <a:endParaRPr lang="en-IE" sz="2400" dirty="0"/>
          </a:p>
          <a:p>
            <a:pPr algn="ctr"/>
            <a:r>
              <a:rPr lang="en-IE" sz="2400" b="1" dirty="0">
                <a:solidFill>
                  <a:srgbClr val="0070C0"/>
                </a:solidFill>
              </a:rPr>
              <a:t>@</a:t>
            </a:r>
            <a:r>
              <a:rPr lang="en-IE" sz="2400" b="1" dirty="0" err="1">
                <a:solidFill>
                  <a:srgbClr val="0070C0"/>
                </a:solidFill>
              </a:rPr>
              <a:t>someword</a:t>
            </a:r>
            <a:endParaRPr lang="en-IE" sz="2400" b="1" dirty="0">
              <a:solidFill>
                <a:srgbClr val="0070C0"/>
              </a:solidFill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C10025C-7A0F-48B1-AB05-899B36B1875C}"/>
              </a:ext>
            </a:extLst>
          </p:cNvPr>
          <p:cNvCxnSpPr>
            <a:cxnSpLocks/>
            <a:stCxn id="16" idx="3"/>
          </p:cNvCxnSpPr>
          <p:nvPr/>
        </p:nvCxnSpPr>
        <p:spPr>
          <a:xfrm>
            <a:off x="2603834" y="3516362"/>
            <a:ext cx="2958766" cy="1055638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6168567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Shape 103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pPr lvl="0">
              <a:defRPr sz="1800"/>
            </a:pPr>
            <a:r>
              <a:rPr lang="en-IE" sz="4000" dirty="0"/>
              <a:t>What are Annotations?</a:t>
            </a:r>
            <a:endParaRPr sz="4000" dirty="0"/>
          </a:p>
        </p:txBody>
      </p:sp>
      <p:sp>
        <p:nvSpPr>
          <p:cNvPr id="104" name="Shape 104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pPr>
              <a:spcBef>
                <a:spcPts val="1969"/>
              </a:spcBef>
              <a:defRPr sz="1800"/>
            </a:pPr>
            <a:endParaRPr lang="en-IE" sz="1050" dirty="0"/>
          </a:p>
          <a:p>
            <a:pPr>
              <a:spcBef>
                <a:spcPts val="1969"/>
              </a:spcBef>
              <a:defRPr sz="1800"/>
            </a:pPr>
            <a:r>
              <a:rPr sz="2800" dirty="0"/>
              <a:t>Annotations provide data about a program that is not part of the program itself. They have no direct effect on the operation of the code they annotate.</a:t>
            </a:r>
            <a:endParaRPr lang="en-IE" sz="2800" dirty="0"/>
          </a:p>
          <a:p>
            <a:pPr>
              <a:spcBef>
                <a:spcPts val="1969"/>
              </a:spcBef>
              <a:defRPr sz="1800"/>
            </a:pPr>
            <a:endParaRPr sz="2800" dirty="0"/>
          </a:p>
          <a:p>
            <a:pPr>
              <a:spcBef>
                <a:spcPts val="1969"/>
              </a:spcBef>
              <a:defRPr sz="1800"/>
            </a:pPr>
            <a:r>
              <a:rPr sz="2800" dirty="0"/>
              <a:t>Annotations can be applied to a program's declarations of classes, fields, methods, and other program elements</a:t>
            </a:r>
            <a:r>
              <a:rPr lang="en-IE" sz="2800" dirty="0"/>
              <a:t>.</a:t>
            </a:r>
            <a:endParaRPr sz="2800" dirty="0"/>
          </a:p>
        </p:txBody>
      </p:sp>
      <p:sp>
        <p:nvSpPr>
          <p:cNvPr id="105" name="Shape 105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vert="horz" lIns="64291" tIns="32146" rIns="64291" bIns="32146" rtlCol="0" anchor="ctr"/>
          <a:lstStyle/>
          <a:p>
            <a:pPr lvl="0">
              <a:defRPr sz="1800"/>
            </a:pPr>
            <a:fld id="{86CB4B4D-7CA3-9044-876B-883B54F8677D}" type="slidenum">
              <a:rPr sz="1000"/>
              <a:t>15</a:t>
            </a:fld>
            <a:endParaRPr sz="100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510095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Shape 103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pPr lvl="0">
              <a:defRPr sz="1800"/>
            </a:pPr>
            <a:r>
              <a:rPr lang="en-IE" sz="4000" dirty="0"/>
              <a:t>What are Annotations?</a:t>
            </a:r>
            <a:endParaRPr sz="4000" dirty="0"/>
          </a:p>
        </p:txBody>
      </p:sp>
      <p:sp>
        <p:nvSpPr>
          <p:cNvPr id="104" name="Shape 104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pPr>
              <a:spcBef>
                <a:spcPts val="1969"/>
              </a:spcBef>
              <a:defRPr sz="1800"/>
            </a:pPr>
            <a:endParaRPr lang="en-IE" sz="300" dirty="0"/>
          </a:p>
          <a:p>
            <a:pPr>
              <a:spcBef>
                <a:spcPts val="1969"/>
              </a:spcBef>
              <a:defRPr sz="1800"/>
            </a:pPr>
            <a:r>
              <a:rPr sz="2400" dirty="0"/>
              <a:t>Annotations have a number of uses, among them:</a:t>
            </a:r>
          </a:p>
          <a:p>
            <a:pPr lvl="1">
              <a:spcBef>
                <a:spcPts val="1969"/>
              </a:spcBef>
              <a:defRPr sz="1800"/>
            </a:pPr>
            <a:r>
              <a:rPr sz="2400" dirty="0"/>
              <a:t>Information for the compiler — Annotations can be used by the compiler to detect errors or suppress warnings. </a:t>
            </a:r>
          </a:p>
          <a:p>
            <a:pPr lvl="1">
              <a:spcBef>
                <a:spcPts val="1969"/>
              </a:spcBef>
              <a:defRPr sz="1800"/>
            </a:pPr>
            <a:r>
              <a:rPr sz="2400" dirty="0"/>
              <a:t>Compiler-time and deployment-time processing — Software tools can process annotation information to generate code, XML files, and so forth. </a:t>
            </a:r>
          </a:p>
          <a:p>
            <a:pPr lvl="1">
              <a:spcBef>
                <a:spcPts val="1969"/>
              </a:spcBef>
              <a:defRPr sz="1800"/>
            </a:pPr>
            <a:r>
              <a:rPr sz="2400" dirty="0"/>
              <a:t>Runtime processing — Some annotations are available to be examined at runtime.</a:t>
            </a:r>
          </a:p>
        </p:txBody>
      </p:sp>
      <p:sp>
        <p:nvSpPr>
          <p:cNvPr id="105" name="Shape 105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vert="horz" lIns="64291" tIns="32146" rIns="64291" bIns="32146" rtlCol="0" anchor="ctr"/>
          <a:lstStyle/>
          <a:p>
            <a:pPr lvl="0">
              <a:defRPr sz="1800"/>
            </a:pPr>
            <a:fld id="{86CB4B4D-7CA3-9044-876B-883B54F8677D}" type="slidenum">
              <a:rPr sz="1000"/>
              <a:t>16</a:t>
            </a:fld>
            <a:endParaRPr sz="100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771274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78F1335-505C-48F4-A986-0CB99C8ED4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9601" y="117999"/>
            <a:ext cx="7036546" cy="66294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cxnSp>
        <p:nvCxnSpPr>
          <p:cNvPr id="9" name="Straight Arrow Connector 8"/>
          <p:cNvCxnSpPr>
            <a:cxnSpLocks/>
            <a:stCxn id="10" idx="3"/>
          </p:cNvCxnSpPr>
          <p:nvPr/>
        </p:nvCxnSpPr>
        <p:spPr>
          <a:xfrm>
            <a:off x="3962400" y="6079362"/>
            <a:ext cx="1524000" cy="169038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74978" y="5525364"/>
            <a:ext cx="3787422" cy="110799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2200" b="1" dirty="0">
                <a:solidFill>
                  <a:srgbClr val="0070C0"/>
                </a:solidFill>
              </a:rPr>
              <a:t>@Test </a:t>
            </a:r>
          </a:p>
          <a:p>
            <a:r>
              <a:rPr lang="en-IE" sz="2200" dirty="0"/>
              <a:t>identifies  that a method is a test method.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4978" y="457200"/>
            <a:ext cx="3863621" cy="76944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2200" dirty="0"/>
              <a:t>Import the required Annotation class(</a:t>
            </a:r>
            <a:r>
              <a:rPr lang="en-IE" sz="2200" dirty="0" err="1"/>
              <a:t>es</a:t>
            </a:r>
            <a:r>
              <a:rPr lang="en-IE" sz="2200" dirty="0"/>
              <a:t>) from </a:t>
            </a:r>
            <a:r>
              <a:rPr lang="en-IE" sz="2200" dirty="0" err="1"/>
              <a:t>org.junit</a:t>
            </a:r>
            <a:r>
              <a:rPr lang="en-IE" sz="2200" dirty="0"/>
              <a:t>.</a:t>
            </a:r>
          </a:p>
        </p:txBody>
      </p:sp>
      <p:sp>
        <p:nvSpPr>
          <p:cNvPr id="2" name="Left Brace 1"/>
          <p:cNvSpPr/>
          <p:nvPr/>
        </p:nvSpPr>
        <p:spPr>
          <a:xfrm>
            <a:off x="4038598" y="457199"/>
            <a:ext cx="914401" cy="769441"/>
          </a:xfrm>
          <a:prstGeom prst="leftBrac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cxnSp>
        <p:nvCxnSpPr>
          <p:cNvPr id="14" name="Straight Arrow Connector 13"/>
          <p:cNvCxnSpPr>
            <a:cxnSpLocks/>
            <a:stCxn id="10" idx="3"/>
          </p:cNvCxnSpPr>
          <p:nvPr/>
        </p:nvCxnSpPr>
        <p:spPr>
          <a:xfrm flipV="1">
            <a:off x="3962400" y="5618202"/>
            <a:ext cx="1600200" cy="46116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74978" y="1598259"/>
            <a:ext cx="3863621" cy="76944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2200" b="1" dirty="0">
                <a:solidFill>
                  <a:srgbClr val="0070C0"/>
                </a:solidFill>
              </a:rPr>
              <a:t>@BeforeEach </a:t>
            </a:r>
            <a:r>
              <a:rPr lang="en-IE" sz="2200" dirty="0"/>
              <a:t>runs the method before each test.</a:t>
            </a:r>
          </a:p>
        </p:txBody>
      </p:sp>
      <p:cxnSp>
        <p:nvCxnSpPr>
          <p:cNvPr id="18" name="Straight Arrow Connector 17"/>
          <p:cNvCxnSpPr>
            <a:cxnSpLocks/>
            <a:stCxn id="17" idx="3"/>
          </p:cNvCxnSpPr>
          <p:nvPr/>
        </p:nvCxnSpPr>
        <p:spPr>
          <a:xfrm>
            <a:off x="4038599" y="1982980"/>
            <a:ext cx="1219201" cy="658079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74976" y="2590139"/>
            <a:ext cx="3863622" cy="76944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2200" b="1" dirty="0">
                <a:solidFill>
                  <a:srgbClr val="0070C0"/>
                </a:solidFill>
              </a:rPr>
              <a:t>@</a:t>
            </a:r>
            <a:r>
              <a:rPr lang="en-IE" sz="2200" b="1" dirty="0" err="1">
                <a:solidFill>
                  <a:srgbClr val="0070C0"/>
                </a:solidFill>
              </a:rPr>
              <a:t>AfterEach</a:t>
            </a:r>
            <a:r>
              <a:rPr lang="en-IE" sz="2200" b="1" dirty="0">
                <a:solidFill>
                  <a:srgbClr val="0070C0"/>
                </a:solidFill>
              </a:rPr>
              <a:t> </a:t>
            </a:r>
          </a:p>
          <a:p>
            <a:r>
              <a:rPr lang="en-IE" sz="2200" dirty="0"/>
              <a:t>runs the method after each test.</a:t>
            </a:r>
          </a:p>
        </p:txBody>
      </p:sp>
      <p:cxnSp>
        <p:nvCxnSpPr>
          <p:cNvPr id="20" name="Straight Arrow Connector 19"/>
          <p:cNvCxnSpPr>
            <a:cxnSpLocks/>
            <a:stCxn id="19" idx="3"/>
          </p:cNvCxnSpPr>
          <p:nvPr/>
        </p:nvCxnSpPr>
        <p:spPr>
          <a:xfrm>
            <a:off x="4038598" y="2974860"/>
            <a:ext cx="1219202" cy="392118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52F1A045-624C-4A97-9FED-4F8CEC0A3B6C}"/>
              </a:ext>
            </a:extLst>
          </p:cNvPr>
          <p:cNvSpPr txBox="1"/>
          <p:nvPr/>
        </p:nvSpPr>
        <p:spPr>
          <a:xfrm>
            <a:off x="10058400" y="110601"/>
            <a:ext cx="1981200" cy="954107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2800" dirty="0"/>
              <a:t>JUnit </a:t>
            </a:r>
            <a:r>
              <a:rPr lang="en-IE" sz="2800" b="1" dirty="0"/>
              <a:t>5</a:t>
            </a:r>
            <a:r>
              <a:rPr lang="en-IE" sz="2800" dirty="0"/>
              <a:t> Annotations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9C06A5C-C0EF-49F1-AE29-A408B8453981}"/>
              </a:ext>
            </a:extLst>
          </p:cNvPr>
          <p:cNvSpPr txBox="1"/>
          <p:nvPr/>
        </p:nvSpPr>
        <p:spPr>
          <a:xfrm>
            <a:off x="152400" y="3733800"/>
            <a:ext cx="3787422" cy="110799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2200" b="1" dirty="0">
                <a:solidFill>
                  <a:srgbClr val="0070C0"/>
                </a:solidFill>
              </a:rPr>
              <a:t>@Nested</a:t>
            </a:r>
          </a:p>
          <a:p>
            <a:r>
              <a:rPr lang="en-IE" sz="2200" dirty="0"/>
              <a:t>Groups together a series of methods into a nested class.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DB6A1318-FCD0-45EF-AE68-19025875CB0D}"/>
              </a:ext>
            </a:extLst>
          </p:cNvPr>
          <p:cNvCxnSpPr>
            <a:cxnSpLocks/>
            <a:stCxn id="29" idx="3"/>
          </p:cNvCxnSpPr>
          <p:nvPr/>
        </p:nvCxnSpPr>
        <p:spPr>
          <a:xfrm flipV="1">
            <a:off x="3939822" y="3962400"/>
            <a:ext cx="1317978" cy="325398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25280457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dirty="0"/>
              <a:t>Other Useful </a:t>
            </a:r>
            <a:r>
              <a:rPr lang="en-IE" b="1" dirty="0">
                <a:solidFill>
                  <a:srgbClr val="0070C0"/>
                </a:solidFill>
              </a:rPr>
              <a:t>JUnit5 </a:t>
            </a:r>
            <a:r>
              <a:rPr lang="en-IE" dirty="0"/>
              <a:t>Annotations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62368935"/>
              </p:ext>
            </p:extLst>
          </p:nvPr>
        </p:nvGraphicFramePr>
        <p:xfrm>
          <a:off x="685800" y="1905001"/>
          <a:ext cx="10744200" cy="3657601"/>
        </p:xfrm>
        <a:graphic>
          <a:graphicData uri="http://schemas.openxmlformats.org/drawingml/2006/table">
            <a:tbl>
              <a:tblPr/>
              <a:tblGrid>
                <a:gridCol w="28593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848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03142">
                <a:tc>
                  <a:txBody>
                    <a:bodyPr/>
                    <a:lstStyle/>
                    <a:p>
                      <a:pPr algn="l"/>
                      <a:r>
                        <a:rPr lang="en-IE" sz="2000" b="1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</a:rPr>
                        <a:t>@</a:t>
                      </a:r>
                      <a:r>
                        <a:rPr lang="en-IE" sz="2000" b="1" dirty="0" err="1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</a:rPr>
                        <a:t>BeforeAll</a:t>
                      </a:r>
                      <a:endParaRPr lang="en-IE" sz="2000" b="1" dirty="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</a:endParaRPr>
                    </a:p>
                    <a:p>
                      <a:pPr algn="l"/>
                      <a:r>
                        <a:rPr lang="en-IE" sz="2000" b="1" dirty="0">
                          <a:effectLst/>
                        </a:rPr>
                        <a:t>public void method()</a:t>
                      </a:r>
                    </a:p>
                  </a:txBody>
                  <a:tcPr marL="46183" marR="46183" marT="23092" marB="230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E" sz="2000" dirty="0">
                          <a:effectLst/>
                        </a:rPr>
                        <a:t>Will execute the method once, before the start of all tests in the current class.</a:t>
                      </a:r>
                    </a:p>
                  </a:txBody>
                  <a:tcPr marL="46183" marR="46183" marT="23092" marB="230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03142">
                <a:tc>
                  <a:txBody>
                    <a:bodyPr/>
                    <a:lstStyle/>
                    <a:p>
                      <a:pPr algn="l"/>
                      <a:r>
                        <a:rPr lang="en-IE" sz="2000" b="1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</a:rPr>
                        <a:t>@</a:t>
                      </a:r>
                      <a:r>
                        <a:rPr lang="en-IE" sz="2000" b="1" dirty="0" err="1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</a:rPr>
                        <a:t>AfterAll</a:t>
                      </a:r>
                      <a:r>
                        <a:rPr lang="en-IE" sz="2000" b="1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</a:rPr>
                        <a:t> </a:t>
                      </a:r>
                    </a:p>
                    <a:p>
                      <a:pPr algn="l"/>
                      <a:r>
                        <a:rPr lang="en-IE" sz="2000" b="1" dirty="0">
                          <a:effectLst/>
                        </a:rPr>
                        <a:t>public void method()</a:t>
                      </a:r>
                    </a:p>
                  </a:txBody>
                  <a:tcPr marL="46183" marR="46183" marT="23092" marB="230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E" sz="2000" dirty="0">
                          <a:effectLst/>
                        </a:rPr>
                        <a:t>Will execute the method once, after all tests in the current class have finished.  </a:t>
                      </a:r>
                    </a:p>
                  </a:txBody>
                  <a:tcPr marL="46183" marR="46183" marT="23092" marB="230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51317">
                <a:tc>
                  <a:txBody>
                    <a:bodyPr/>
                    <a:lstStyle/>
                    <a:p>
                      <a:pPr algn="l"/>
                      <a:r>
                        <a:rPr lang="en-IE" sz="2000" b="1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</a:rPr>
                        <a:t>@Disabled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E" sz="2000" b="1" dirty="0">
                          <a:effectLst/>
                        </a:rPr>
                        <a:t>public void method()</a:t>
                      </a:r>
                    </a:p>
                  </a:txBody>
                  <a:tcPr marL="46183" marR="46183" marT="23092" marB="230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E" sz="2000" dirty="0">
                          <a:effectLst/>
                        </a:rPr>
                        <a:t>Used to disable a test class or test method.  </a:t>
                      </a:r>
                    </a:p>
                  </a:txBody>
                  <a:tcPr marL="46183" marR="46183" marT="23092" marB="230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36440053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dirty="0"/>
              <a:t>Topic List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E" sz="3600" dirty="0"/>
              <a:t>General Terminology</a:t>
            </a:r>
            <a:br>
              <a:rPr lang="en-IE" sz="3600" dirty="0"/>
            </a:br>
            <a:endParaRPr lang="en-IE" sz="3600" dirty="0"/>
          </a:p>
          <a:p>
            <a:r>
              <a:rPr lang="en-IE" sz="3600" dirty="0"/>
              <a:t>Assertions</a:t>
            </a:r>
          </a:p>
          <a:p>
            <a:endParaRPr lang="en-IE" sz="3600" dirty="0"/>
          </a:p>
          <a:p>
            <a:r>
              <a:rPr lang="en-IE" sz="3600" dirty="0"/>
              <a:t>Annotations</a:t>
            </a:r>
          </a:p>
          <a:p>
            <a:endParaRPr lang="en-IE" sz="3600" dirty="0"/>
          </a:p>
          <a:p>
            <a:r>
              <a:rPr lang="en-IE" sz="3600" dirty="0"/>
              <a:t>Fixtures</a:t>
            </a:r>
          </a:p>
          <a:p>
            <a:pPr lvl="1"/>
            <a:endParaRPr lang="en-IE" dirty="0"/>
          </a:p>
          <a:p>
            <a:endParaRPr lang="en-IE" dirty="0"/>
          </a:p>
          <a:p>
            <a:endParaRPr lang="en-IE" dirty="0"/>
          </a:p>
        </p:txBody>
      </p:sp>
      <p:sp>
        <p:nvSpPr>
          <p:cNvPr id="4" name="Rectangle 3"/>
          <p:cNvSpPr/>
          <p:nvPr/>
        </p:nvSpPr>
        <p:spPr>
          <a:xfrm>
            <a:off x="533400" y="5486400"/>
            <a:ext cx="4114800" cy="5334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645310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2CAEACE-50B5-4583-9185-7A5B7B794E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4395" y="328827"/>
            <a:ext cx="9630987" cy="55630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cxnSp>
        <p:nvCxnSpPr>
          <p:cNvPr id="9" name="Straight Arrow Connector 8"/>
          <p:cNvCxnSpPr>
            <a:cxnSpLocks/>
            <a:stCxn id="10" idx="3"/>
          </p:cNvCxnSpPr>
          <p:nvPr/>
        </p:nvCxnSpPr>
        <p:spPr>
          <a:xfrm>
            <a:off x="2065867" y="5337854"/>
            <a:ext cx="1210733" cy="148546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75166" y="4783856"/>
            <a:ext cx="1790701" cy="110799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2200" dirty="0"/>
              <a:t>Tearing down the test fixture.</a:t>
            </a:r>
          </a:p>
        </p:txBody>
      </p:sp>
      <p:sp>
        <p:nvSpPr>
          <p:cNvPr id="2" name="Left Brace 1"/>
          <p:cNvSpPr/>
          <p:nvPr/>
        </p:nvSpPr>
        <p:spPr>
          <a:xfrm>
            <a:off x="2065868" y="2971800"/>
            <a:ext cx="1096432" cy="1812056"/>
          </a:xfrm>
          <a:prstGeom prst="leftBrac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17" name="TextBox 16"/>
          <p:cNvSpPr txBox="1"/>
          <p:nvPr/>
        </p:nvSpPr>
        <p:spPr>
          <a:xfrm>
            <a:off x="275166" y="3469538"/>
            <a:ext cx="1823156" cy="76944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2200" dirty="0"/>
              <a:t>Setting up the test fixture.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1299" y="1897559"/>
            <a:ext cx="1857024" cy="76944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2200" dirty="0"/>
              <a:t>Test fixture fields.</a:t>
            </a:r>
          </a:p>
        </p:txBody>
      </p:sp>
      <p:cxnSp>
        <p:nvCxnSpPr>
          <p:cNvPr id="20" name="Straight Arrow Connector 19"/>
          <p:cNvCxnSpPr>
            <a:cxnSpLocks/>
          </p:cNvCxnSpPr>
          <p:nvPr/>
        </p:nvCxnSpPr>
        <p:spPr>
          <a:xfrm>
            <a:off x="2098322" y="2209800"/>
            <a:ext cx="1178278" cy="22860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46BB95A2-2C51-463A-9656-A463F117FBA9}"/>
              </a:ext>
            </a:extLst>
          </p:cNvPr>
          <p:cNvSpPr txBox="1"/>
          <p:nvPr/>
        </p:nvSpPr>
        <p:spPr>
          <a:xfrm>
            <a:off x="10094182" y="110601"/>
            <a:ext cx="1981200" cy="52322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2800" dirty="0"/>
              <a:t>JUnit </a:t>
            </a:r>
            <a:r>
              <a:rPr lang="en-IE" sz="2800" b="1" dirty="0"/>
              <a:t>5</a:t>
            </a:r>
            <a:endParaRPr lang="en-IE" sz="28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076551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Fixtures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E" dirty="0"/>
              <a:t>A </a:t>
            </a:r>
            <a:r>
              <a:rPr lang="en-IE" b="1" dirty="0"/>
              <a:t>Fixture </a:t>
            </a:r>
            <a:r>
              <a:rPr lang="en-IE" dirty="0"/>
              <a:t>is a fixed state of a set of objects used as a baseline for running tests. </a:t>
            </a:r>
          </a:p>
          <a:p>
            <a:r>
              <a:rPr lang="en-IE" dirty="0"/>
              <a:t>Test fixtures allow tests to share common test data.</a:t>
            </a:r>
          </a:p>
          <a:p>
            <a:r>
              <a:rPr lang="en-IE" dirty="0"/>
              <a:t>The purpose of a test fixture is to ensure that there is a fixed environment in which tests are run so that results are repeatable. </a:t>
            </a:r>
          </a:p>
          <a:p>
            <a:r>
              <a:rPr lang="en-IE" dirty="0"/>
              <a:t>It includes:</a:t>
            </a:r>
          </a:p>
          <a:p>
            <a:pPr lvl="1"/>
            <a:r>
              <a:rPr lang="en-IE" dirty="0" err="1"/>
              <a:t>setUp</a:t>
            </a:r>
            <a:r>
              <a:rPr lang="en-IE" dirty="0"/>
              <a:t>() method which runs before every test method.</a:t>
            </a:r>
          </a:p>
          <a:p>
            <a:pPr lvl="1"/>
            <a:r>
              <a:rPr lang="en-IE" dirty="0" err="1"/>
              <a:t>tearDown</a:t>
            </a:r>
            <a:r>
              <a:rPr lang="en-IE" dirty="0"/>
              <a:t>() method which runs after every test method.</a:t>
            </a:r>
          </a:p>
          <a:p>
            <a:endParaRPr lang="en-IE" dirty="0"/>
          </a:p>
        </p:txBody>
      </p:sp>
      <p:sp>
        <p:nvSpPr>
          <p:cNvPr id="4" name="Rectangle 3"/>
          <p:cNvSpPr/>
          <p:nvPr/>
        </p:nvSpPr>
        <p:spPr>
          <a:xfrm>
            <a:off x="4495801" y="6514011"/>
            <a:ext cx="614270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E" dirty="0">
                <a:hlinkClick r:id="rId3"/>
              </a:rPr>
              <a:t>http://www.tutorialspoint.com/junit/junit_test_framework.htm</a:t>
            </a:r>
            <a:r>
              <a:rPr lang="en-IE" dirty="0"/>
              <a:t>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121575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1028700" y="1967266"/>
            <a:ext cx="2628900" cy="2547257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b="1" kern="1200">
                <a:ln w="11430"/>
                <a:solidFill>
                  <a:srgbClr val="FFFFFF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+mj-lt"/>
                <a:ea typeface="+mj-ea"/>
                <a:cs typeface="+mj-cs"/>
              </a:rPr>
              <a:t>Any Questions?</a:t>
            </a:r>
          </a:p>
        </p:txBody>
      </p:sp>
      <p:pic>
        <p:nvPicPr>
          <p:cNvPr id="3" name="Picture 2" descr="A green question mark in a circle&#10;&#10;AI-generated content may be incorrect.">
            <a:extLst>
              <a:ext uri="{FF2B5EF4-FFF2-40B4-BE49-F238E27FC236}">
                <a16:creationId xmlns:a16="http://schemas.microsoft.com/office/drawing/2014/main" id="{5CA18E50-A229-D0C5-0998-6A0069FBCC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3296" y="643466"/>
            <a:ext cx="5568739" cy="5568739"/>
          </a:xfrm>
          <a:prstGeom prst="rect">
            <a:avLst/>
          </a:prstGeom>
          <a:noFill/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15038132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  <p:tag name="ARTICULATE_SLIDE_COUNT" val="2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909</Words>
  <Application>Microsoft Macintosh PowerPoint</Application>
  <PresentationFormat>Widescreen</PresentationFormat>
  <Paragraphs>160</Paragraphs>
  <Slides>22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Calibri</vt:lpstr>
      <vt:lpstr>Courier New</vt:lpstr>
      <vt:lpstr>Gill Sans</vt:lpstr>
      <vt:lpstr>Office Theme</vt:lpstr>
      <vt:lpstr>JUnit Framework</vt:lpstr>
      <vt:lpstr>Topic List </vt:lpstr>
      <vt:lpstr>PowerPoint Presentation</vt:lpstr>
      <vt:lpstr>PowerPoint Presentation</vt:lpstr>
      <vt:lpstr>Topic List </vt:lpstr>
      <vt:lpstr>PowerPoint Presentation</vt:lpstr>
      <vt:lpstr>PowerPoint Presentation</vt:lpstr>
      <vt:lpstr>The Assertions Class</vt:lpstr>
      <vt:lpstr>The Assertions Class</vt:lpstr>
      <vt:lpstr>Some common Assert methods (1)</vt:lpstr>
      <vt:lpstr>Some common Assert methods (2)</vt:lpstr>
      <vt:lpstr>PowerPoint Presentation</vt:lpstr>
      <vt:lpstr>Topic List </vt:lpstr>
      <vt:lpstr>PowerPoint Presentation</vt:lpstr>
      <vt:lpstr>What are Annotations?</vt:lpstr>
      <vt:lpstr>What are Annotations?</vt:lpstr>
      <vt:lpstr>PowerPoint Presentation</vt:lpstr>
      <vt:lpstr>Other Useful JUnit5 Annotations</vt:lpstr>
      <vt:lpstr>Topic List </vt:lpstr>
      <vt:lpstr>PowerPoint Presentation</vt:lpstr>
      <vt:lpstr>Fixtures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 Introduction to Processing</dc:title>
  <dc:creator>Siobhan Drohan</dc:creator>
  <cp:lastModifiedBy>Mairead Meagher</cp:lastModifiedBy>
  <cp:revision>163</cp:revision>
  <dcterms:created xsi:type="dcterms:W3CDTF">2006-08-16T00:00:00Z</dcterms:created>
  <dcterms:modified xsi:type="dcterms:W3CDTF">2026-03-07T21:26:33Z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FF5A7D80-6C30-434A-9D59-15D7BAD30DD1</vt:lpwstr>
  </property>
  <property fmtid="{D5CDD505-2E9C-101B-9397-08002B2CF9AE}" pid="3" name="ArticulatePath">
    <vt:lpwstr>a-prog-fund-2-TDD</vt:lpwstr>
  </property>
</Properties>
</file>