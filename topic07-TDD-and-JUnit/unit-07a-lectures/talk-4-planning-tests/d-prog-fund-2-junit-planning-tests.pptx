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6" r:id="rId2"/>
    <p:sldId id="540" r:id="rId3"/>
    <p:sldId id="534" r:id="rId4"/>
    <p:sldId id="535" r:id="rId5"/>
    <p:sldId id="538" r:id="rId6"/>
    <p:sldId id="539" r:id="rId7"/>
    <p:sldId id="424" r:id="rId8"/>
    <p:sldId id="425" r:id="rId9"/>
    <p:sldId id="547" r:id="rId10"/>
    <p:sldId id="426" r:id="rId11"/>
    <p:sldId id="427" r:id="rId12"/>
    <p:sldId id="428" r:id="rId13"/>
    <p:sldId id="429" r:id="rId14"/>
    <p:sldId id="545" r:id="rId15"/>
    <p:sldId id="546" r:id="rId16"/>
    <p:sldId id="430" r:id="rId17"/>
    <p:sldId id="431" r:id="rId18"/>
    <p:sldId id="432" r:id="rId19"/>
    <p:sldId id="433" r:id="rId20"/>
    <p:sldId id="543" r:id="rId21"/>
    <p:sldId id="542" r:id="rId22"/>
    <p:sldId id="392" r:id="rId23"/>
  </p:sldIdLst>
  <p:sldSz cx="12192000" cy="6858000"/>
  <p:notesSz cx="6858000" cy="9144000"/>
  <p:custDataLst>
    <p:tags r:id="rId2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456" autoAdjust="0"/>
    <p:restoredTop sz="94475"/>
  </p:normalViewPr>
  <p:slideViewPr>
    <p:cSldViewPr>
      <p:cViewPr varScale="1">
        <p:scale>
          <a:sx n="88" d="100"/>
          <a:sy n="88" d="100"/>
        </p:scale>
        <p:origin x="192" y="75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BC3C30-7F3D-4B20-9974-47C57B22CA6E}" type="datetimeFigureOut">
              <a:rPr lang="en-IE" smtClean="0"/>
              <a:t>07/03/2026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09BE90-ABBD-4931-8E0C-089E0ACACA6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898184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www.wit.ie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_Lab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hape 206"/>
          <p:cNvSpPr/>
          <p:nvPr/>
        </p:nvSpPr>
        <p:spPr>
          <a:xfrm flipV="1">
            <a:off x="851522" y="3070411"/>
            <a:ext cx="10519439" cy="47"/>
          </a:xfrm>
          <a:prstGeom prst="line">
            <a:avLst/>
          </a:prstGeom>
          <a:ln w="12700">
            <a:solidFill>
              <a:srgbClr val="919191"/>
            </a:solidFill>
            <a:miter lim="400000"/>
          </a:ln>
        </p:spPr>
        <p:txBody>
          <a:bodyPr lIns="35717" tIns="35717" rIns="35717" bIns="35717" anchor="ctr"/>
          <a:lstStyle/>
          <a:p>
            <a:endParaRPr sz="1800"/>
          </a:p>
        </p:txBody>
      </p:sp>
      <p:pic>
        <p:nvPicPr>
          <p:cNvPr id="207" name="WI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157" y="6134697"/>
            <a:ext cx="3033804" cy="473273"/>
          </a:xfrm>
          <a:prstGeom prst="rect">
            <a:avLst/>
          </a:prstGeom>
          <a:ln w="12700">
            <a:miter lim="400000"/>
          </a:ln>
        </p:spPr>
      </p:pic>
      <p:pic>
        <p:nvPicPr>
          <p:cNvPr id="208" name="esu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2625" y="6206134"/>
            <a:ext cx="1812472" cy="321469"/>
          </a:xfrm>
          <a:prstGeom prst="rect">
            <a:avLst/>
          </a:prstGeom>
          <a:ln w="12700">
            <a:miter lim="400000"/>
          </a:ln>
        </p:spPr>
      </p:pic>
      <p:sp>
        <p:nvSpPr>
          <p:cNvPr id="209" name="Shape 209"/>
          <p:cNvSpPr/>
          <p:nvPr/>
        </p:nvSpPr>
        <p:spPr>
          <a:xfrm>
            <a:off x="497421" y="3128069"/>
            <a:ext cx="2646554" cy="11555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35717" tIns="35717" rIns="35717" bIns="35717" anchor="ctr">
            <a:spAutoFit/>
          </a:bodyPr>
          <a:lstStyle/>
          <a:p>
            <a:pPr algn="r" defTabSz="410751">
              <a:lnSpc>
                <a:spcPct val="80000"/>
              </a:lnSpc>
              <a:defRPr sz="4400">
                <a:solidFill>
                  <a:srgbClr val="AAAAAA"/>
                </a:solidFill>
                <a:latin typeface="Helvetica Neue UltraLight"/>
                <a:ea typeface="Helvetica Neue UltraLight"/>
                <a:cs typeface="Helvetica Neue UltraLight"/>
                <a:sym typeface="Helvetica Neue UltraLight"/>
              </a:defRPr>
            </a:pPr>
            <a:r>
              <a:rPr sz="4400"/>
              <a:t>Produced </a:t>
            </a:r>
          </a:p>
          <a:p>
            <a:pPr algn="r" defTabSz="410751">
              <a:lnSpc>
                <a:spcPct val="80000"/>
              </a:lnSpc>
              <a:defRPr sz="4400">
                <a:solidFill>
                  <a:srgbClr val="AAAAAA"/>
                </a:solidFill>
                <a:latin typeface="Helvetica Neue UltraLight"/>
                <a:ea typeface="Helvetica Neue UltraLight"/>
                <a:cs typeface="Helvetica Neue UltraLight"/>
                <a:sym typeface="Helvetica Neue UltraLight"/>
              </a:defRPr>
            </a:pPr>
            <a:r>
              <a:rPr sz="4400"/>
              <a:t>by</a:t>
            </a:r>
          </a:p>
        </p:txBody>
      </p:sp>
      <p:grpSp>
        <p:nvGrpSpPr>
          <p:cNvPr id="213" name="Group 213"/>
          <p:cNvGrpSpPr/>
          <p:nvPr/>
        </p:nvGrpSpPr>
        <p:grpSpPr>
          <a:xfrm>
            <a:off x="3476624" y="4561048"/>
            <a:ext cx="3751796" cy="1110389"/>
            <a:chOff x="0" y="-174328"/>
            <a:chExt cx="4001913" cy="1579217"/>
          </a:xfrm>
        </p:grpSpPr>
        <p:sp>
          <p:nvSpPr>
            <p:cNvPr id="210" name="Shape 210"/>
            <p:cNvSpPr/>
            <p:nvPr/>
          </p:nvSpPr>
          <p:spPr>
            <a:xfrm>
              <a:off x="0" y="-174328"/>
              <a:ext cx="4001913" cy="95825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defTabSz="410751">
                <a:lnSpc>
                  <a:spcPct val="120000"/>
                </a:lnSpc>
                <a:defRPr sz="1600">
                  <a:solidFill>
                    <a:srgbClr val="133455"/>
                  </a:solidFill>
                  <a:latin typeface="+mj-lt"/>
                  <a:ea typeface="+mj-ea"/>
                  <a:cs typeface="+mj-cs"/>
                  <a:sym typeface="Helvetica Neue"/>
                </a:defRPr>
              </a:pPr>
              <a:r>
                <a:rPr sz="1600"/>
                <a:t>Department of Computing, Maths &amp; Physics</a:t>
              </a:r>
            </a:p>
            <a:p>
              <a:pPr defTabSz="410751">
                <a:lnSpc>
                  <a:spcPct val="120000"/>
                </a:lnSpc>
                <a:defRPr sz="1600">
                  <a:solidFill>
                    <a:srgbClr val="133455"/>
                  </a:solidFill>
                  <a:latin typeface="+mj-lt"/>
                  <a:ea typeface="+mj-ea"/>
                  <a:cs typeface="+mj-cs"/>
                  <a:sym typeface="Helvetica Neue"/>
                </a:defRPr>
              </a:pPr>
              <a:r>
                <a:rPr sz="1600"/>
                <a:t>Waterford Institute of Technology</a:t>
              </a:r>
            </a:p>
          </p:txBody>
        </p:sp>
        <p:sp>
          <p:nvSpPr>
            <p:cNvPr id="211" name="Shape 211"/>
            <p:cNvSpPr/>
            <p:nvPr/>
          </p:nvSpPr>
          <p:spPr>
            <a:xfrm>
              <a:off x="0" y="560227"/>
              <a:ext cx="1909513" cy="5398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defTabSz="584200">
                <a:defRPr>
                  <a:latin typeface="+mj-lt"/>
                  <a:ea typeface="+mj-ea"/>
                  <a:cs typeface="+mj-cs"/>
                  <a:sym typeface="Helvetica Neue"/>
                  <a:hlinkClick r:id="" action="ppaction://noaction"/>
                </a:defRPr>
              </a:lvl1pPr>
            </a:lstStyle>
            <a:p>
              <a:r>
                <a:rPr sz="1800">
                  <a:hlinkClick r:id="rId4"/>
                </a:rPr>
                <a:t>http://www.wit.ie</a:t>
              </a:r>
            </a:p>
          </p:txBody>
        </p:sp>
        <p:sp>
          <p:nvSpPr>
            <p:cNvPr id="212" name="Shape 212"/>
            <p:cNvSpPr/>
            <p:nvPr/>
          </p:nvSpPr>
          <p:spPr>
            <a:xfrm>
              <a:off x="0" y="865027"/>
              <a:ext cx="2329252" cy="5398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defTabSz="584200">
                <a:defRPr>
                  <a:latin typeface="+mj-lt"/>
                  <a:ea typeface="+mj-ea"/>
                  <a:cs typeface="+mj-cs"/>
                  <a:sym typeface="Helvetica Neue"/>
                  <a:hlinkClick r:id="" action="ppaction://noaction"/>
                </a:defRPr>
              </a:lvl1pPr>
            </a:lstStyle>
            <a:p>
              <a:r>
                <a:rPr sz="1800">
                  <a:hlinkClick r:id="rId4"/>
                </a:rPr>
                <a:t>http://elearning.wit.ie</a:t>
              </a:r>
            </a:p>
          </p:txBody>
        </p:sp>
      </p:grpSp>
      <p:sp>
        <p:nvSpPr>
          <p:cNvPr id="214" name="Shape 214"/>
          <p:cNvSpPr>
            <a:spLocks noGrp="1"/>
          </p:cNvSpPr>
          <p:nvPr>
            <p:ph type="body" sz="quarter" idx="13"/>
          </p:nvPr>
        </p:nvSpPr>
        <p:spPr>
          <a:xfrm>
            <a:off x="839391" y="2428449"/>
            <a:ext cx="10537031" cy="400110"/>
          </a:xfrm>
          <a:prstGeom prst="rect">
            <a:avLst/>
          </a:prstGeom>
        </p:spPr>
        <p:txBody>
          <a:bodyPr anchor="ctr">
            <a:spAutoFit/>
          </a:bodyPr>
          <a:lstStyle>
            <a:lvl1pPr marL="0" indent="0">
              <a:spcBef>
                <a:spcPts val="0"/>
              </a:spcBef>
              <a:buSzTx/>
              <a:buNone/>
              <a:defRPr sz="2000">
                <a:solidFill>
                  <a:srgbClr val="606060"/>
                </a:solidFill>
              </a:defRPr>
            </a:lvl1pPr>
          </a:lstStyle>
          <a:p>
            <a:r>
              <a:t>Subtitle</a:t>
            </a:r>
          </a:p>
        </p:txBody>
      </p:sp>
      <p:sp>
        <p:nvSpPr>
          <p:cNvPr id="215" name="Shape 215"/>
          <p:cNvSpPr>
            <a:spLocks noGrp="1"/>
          </p:cNvSpPr>
          <p:nvPr>
            <p:ph type="title"/>
          </p:nvPr>
        </p:nvSpPr>
        <p:spPr>
          <a:xfrm>
            <a:off x="833438" y="1665388"/>
            <a:ext cx="10537031" cy="723305"/>
          </a:xfrm>
          <a:prstGeom prst="rect">
            <a:avLst/>
          </a:prstGeom>
        </p:spPr>
        <p:txBody>
          <a:bodyPr anchor="ctr"/>
          <a:lstStyle>
            <a:lvl1pPr>
              <a:defRPr sz="3100"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r>
              <a:t>Title Text</a:t>
            </a:r>
          </a:p>
        </p:txBody>
      </p:sp>
      <p:sp>
        <p:nvSpPr>
          <p:cNvPr id="216" name="Shape 216"/>
          <p:cNvSpPr>
            <a:spLocks noGrp="1"/>
          </p:cNvSpPr>
          <p:nvPr>
            <p:ph type="body" sz="quarter" idx="1"/>
          </p:nvPr>
        </p:nvSpPr>
        <p:spPr>
          <a:xfrm>
            <a:off x="3494484" y="3330774"/>
            <a:ext cx="5417344" cy="139303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spcBef>
                <a:spcPts val="0"/>
              </a:spcBef>
              <a:buSzTx/>
              <a:buNone/>
              <a:defRPr sz="1300"/>
            </a:lvl1pPr>
            <a:lvl2pPr marL="0" indent="0">
              <a:lnSpc>
                <a:spcPct val="120000"/>
              </a:lnSpc>
              <a:spcBef>
                <a:spcPts val="0"/>
              </a:spcBef>
              <a:buSzTx/>
              <a:buNone/>
              <a:defRPr sz="1300"/>
            </a:lvl2pPr>
            <a:lvl3pPr marL="0" indent="0">
              <a:lnSpc>
                <a:spcPct val="120000"/>
              </a:lnSpc>
              <a:spcBef>
                <a:spcPts val="0"/>
              </a:spcBef>
              <a:buSzTx/>
              <a:buNone/>
              <a:defRPr sz="1300"/>
            </a:lvl3pPr>
            <a:lvl4pPr marL="0" indent="0">
              <a:lnSpc>
                <a:spcPct val="120000"/>
              </a:lnSpc>
              <a:spcBef>
                <a:spcPts val="0"/>
              </a:spcBef>
              <a:buSzTx/>
              <a:buNone/>
              <a:defRPr sz="1300"/>
            </a:lvl4pPr>
            <a:lvl5pPr marL="0" indent="0">
              <a:lnSpc>
                <a:spcPct val="120000"/>
              </a:lnSpc>
              <a:spcBef>
                <a:spcPts val="0"/>
              </a:spcBef>
              <a:buSzTx/>
              <a:buNone/>
              <a:defRPr sz="13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17" name="Shape 217"/>
          <p:cNvSpPr>
            <a:spLocks noGrp="1"/>
          </p:cNvSpPr>
          <p:nvPr>
            <p:ph type="sldNum" sz="quarter" idx="2"/>
          </p:nvPr>
        </p:nvSpPr>
        <p:spPr>
          <a:xfrm>
            <a:off x="5935265" y="6527601"/>
            <a:ext cx="297656" cy="241102"/>
          </a:xfrm>
          <a:prstGeom prst="rect">
            <a:avLst/>
          </a:prstGeom>
        </p:spPr>
        <p:txBody>
          <a:bodyPr/>
          <a:lstStyle>
            <a:lvl1pPr algn="ctr">
              <a:defRPr sz="1100"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50379749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2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Relationship Id="rId4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75641" y="914401"/>
            <a:ext cx="7772400" cy="1470025"/>
          </a:xfrm>
        </p:spPr>
        <p:txBody>
          <a:bodyPr>
            <a:normAutofit/>
          </a:bodyPr>
          <a:lstStyle/>
          <a:p>
            <a:pPr algn="l"/>
            <a:r>
              <a:rPr lang="en-IE" sz="4000" dirty="0"/>
              <a:t>JUnit Framework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38300" y="3810000"/>
            <a:ext cx="1866900" cy="1066800"/>
          </a:xfrm>
        </p:spPr>
        <p:txBody>
          <a:bodyPr>
            <a:norm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en-IE" sz="2400" dirty="0"/>
              <a:t>Produced </a:t>
            </a:r>
          </a:p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en-IE" sz="2400" dirty="0"/>
              <a:t>by:</a:t>
            </a:r>
          </a:p>
        </p:txBody>
      </p:sp>
      <p:cxnSp>
        <p:nvCxnSpPr>
          <p:cNvPr id="6" name="Straight Connector 5"/>
          <p:cNvCxnSpPr>
            <a:cxnSpLocks/>
          </p:cNvCxnSpPr>
          <p:nvPr/>
        </p:nvCxnSpPr>
        <p:spPr>
          <a:xfrm>
            <a:off x="1066800" y="3124200"/>
            <a:ext cx="10058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810000" y="3817204"/>
            <a:ext cx="29718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Mairead Meagher</a:t>
            </a:r>
          </a:p>
          <a:p>
            <a:r>
              <a:rPr lang="en-IE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Dr.</a:t>
            </a:r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Siobhán Drohan</a:t>
            </a:r>
          </a:p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Eamonn de </a:t>
            </a:r>
            <a:r>
              <a:rPr lang="en-IE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Leastar</a:t>
            </a:r>
            <a:endParaRPr lang="en-IE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Siobhan Roche</a:t>
            </a:r>
          </a:p>
        </p:txBody>
      </p:sp>
      <p:sp>
        <p:nvSpPr>
          <p:cNvPr id="12" name="Title 1"/>
          <p:cNvSpPr txBox="1">
            <a:spLocks/>
          </p:cNvSpPr>
          <p:nvPr/>
        </p:nvSpPr>
        <p:spPr>
          <a:xfrm>
            <a:off x="2175641" y="2133601"/>
            <a:ext cx="7772400" cy="9366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E" sz="3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Four Phase Test and Test Planning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9C4B5D-5DCD-5530-23F5-9A1897D1965D}"/>
              </a:ext>
            </a:extLst>
          </p:cNvPr>
          <p:cNvSpPr txBox="1"/>
          <p:nvPr/>
        </p:nvSpPr>
        <p:spPr>
          <a:xfrm>
            <a:off x="7336971" y="5849826"/>
            <a:ext cx="40727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1600" dirty="0"/>
              <a:t>Department of Computing and Mathematics</a:t>
            </a:r>
          </a:p>
          <a:p>
            <a:r>
              <a:rPr lang="en-IE" sz="1600" dirty="0"/>
              <a:t>http://www.setu.ie/</a:t>
            </a:r>
          </a:p>
        </p:txBody>
      </p:sp>
      <p:pic>
        <p:nvPicPr>
          <p:cNvPr id="7" name="Picture 6" descr="Text&#10;&#10;Description automatically generated">
            <a:extLst>
              <a:ext uri="{FF2B5EF4-FFF2-40B4-BE49-F238E27FC236}">
                <a16:creationId xmlns:a16="http://schemas.microsoft.com/office/drawing/2014/main" id="{0E196267-1545-8AB8-4C34-BE186D92675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641" y="5501441"/>
            <a:ext cx="2286000" cy="128154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0423712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716"/>
    </mc:Choice>
    <mc:Fallback xmlns="">
      <p:transition spd="slow" advTm="14716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Topic List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endParaRPr lang="en-IE" dirty="0"/>
          </a:p>
          <a:p>
            <a:pPr lvl="1"/>
            <a:r>
              <a:rPr lang="en-IE" dirty="0"/>
              <a:t>Four Phase Test.</a:t>
            </a:r>
          </a:p>
          <a:p>
            <a:pPr lvl="1"/>
            <a:endParaRPr lang="en-IE" dirty="0"/>
          </a:p>
          <a:p>
            <a:pPr lvl="1"/>
            <a:r>
              <a:rPr lang="en-IE" dirty="0"/>
              <a:t>Planning a more complicated Test Case.</a:t>
            </a:r>
          </a:p>
          <a:p>
            <a:pPr lvl="1"/>
            <a:endParaRPr lang="en-IE" dirty="0"/>
          </a:p>
          <a:p>
            <a:pPr marL="457200" lvl="1" indent="0">
              <a:buNone/>
            </a:pPr>
            <a:endParaRPr lang="en-IE" dirty="0"/>
          </a:p>
          <a:p>
            <a:endParaRPr lang="en-IE" dirty="0"/>
          </a:p>
          <a:p>
            <a:endParaRPr lang="en-IE" dirty="0"/>
          </a:p>
        </p:txBody>
      </p:sp>
      <p:sp>
        <p:nvSpPr>
          <p:cNvPr id="4" name="Rectangle 3"/>
          <p:cNvSpPr/>
          <p:nvPr/>
        </p:nvSpPr>
        <p:spPr>
          <a:xfrm>
            <a:off x="838200" y="2133600"/>
            <a:ext cx="6324600" cy="5334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50481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Shape 264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r>
              <a:t>Four Phase Test</a:t>
            </a:r>
          </a:p>
        </p:txBody>
      </p:sp>
      <p:sp>
        <p:nvSpPr>
          <p:cNvPr id="265" name="Shape 265"/>
          <p:cNvSpPr>
            <a:spLocks noGrp="1"/>
          </p:cNvSpPr>
          <p:nvPr>
            <p:ph idx="1"/>
          </p:nvPr>
        </p:nvSpPr>
        <p:spPr>
          <a:xfrm>
            <a:off x="609600" y="1600201"/>
            <a:ext cx="11125200" cy="2209799"/>
          </a:xfrm>
          <a:prstGeom prst="rect">
            <a:avLst/>
          </a:prstGeom>
          <a:ln>
            <a:noFill/>
          </a:ln>
        </p:spPr>
        <p:txBody>
          <a:bodyPr>
            <a:noAutofit/>
          </a:bodyPr>
          <a:lstStyle/>
          <a:p>
            <a:r>
              <a:rPr sz="2800" dirty="0"/>
              <a:t>How do we structure our test logic to make what we are testing obvious?</a:t>
            </a:r>
            <a:endParaRPr lang="en-IE" sz="2800" dirty="0"/>
          </a:p>
          <a:p>
            <a:endParaRPr sz="2800" dirty="0"/>
          </a:p>
          <a:p>
            <a:r>
              <a:rPr sz="2800" dirty="0"/>
              <a:t>We structure each test with four distinct </a:t>
            </a:r>
            <a:r>
              <a:rPr lang="en-IE" sz="2800" u="sng" dirty="0"/>
              <a:t>phases</a:t>
            </a:r>
            <a:r>
              <a:rPr lang="en-IE" sz="2800" dirty="0"/>
              <a:t> </a:t>
            </a:r>
            <a:r>
              <a:rPr sz="2800" dirty="0"/>
              <a:t>executed in sequence.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1017988"/>
              </p:ext>
            </p:extLst>
          </p:nvPr>
        </p:nvGraphicFramePr>
        <p:xfrm>
          <a:off x="4724400" y="3806142"/>
          <a:ext cx="2286000" cy="2072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IE" sz="2800" dirty="0"/>
                        <a:t>Setup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E" sz="2800" dirty="0"/>
                        <a:t>Exercise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E" sz="2800" dirty="0"/>
                        <a:t>Verify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E" sz="2800" dirty="0"/>
                        <a:t>Teardown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3046420268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Shape 269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IE" dirty="0"/>
              <a:t>How it works</a:t>
            </a:r>
            <a:endParaRPr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8212324"/>
              </p:ext>
            </p:extLst>
          </p:nvPr>
        </p:nvGraphicFramePr>
        <p:xfrm>
          <a:off x="609600" y="2057400"/>
          <a:ext cx="10972800" cy="3291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21306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421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E" sz="2400" b="0" dirty="0"/>
                        <a:t>Setup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E" sz="2400" b="0" dirty="0"/>
                        <a:t>We set up the test fixture (the “before” picture) so that we are in a position</a:t>
                      </a:r>
                      <a:r>
                        <a:rPr lang="en-IE" sz="2400" b="0" baseline="0" dirty="0"/>
                        <a:t> to exercise the tests</a:t>
                      </a:r>
                      <a:r>
                        <a:rPr lang="en-IE" sz="2400" b="0" dirty="0"/>
                        <a:t>. This could be objects</a:t>
                      </a:r>
                      <a:r>
                        <a:rPr lang="en-IE" sz="2400" b="0" baseline="0" dirty="0"/>
                        <a:t> that we need to create, values we need to set, other methods we need to call, etc.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E" sz="2400" dirty="0"/>
                        <a:t>Exercise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E" sz="2400" dirty="0"/>
                        <a:t>We interact with the system we are testing.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E" sz="2400" dirty="0"/>
                        <a:t>Verify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E" sz="2400" dirty="0"/>
                        <a:t>We do whatever is necessary to determine whether the expected outcome has been obtained.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E" sz="2400" dirty="0"/>
                        <a:t>Teardown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E" sz="2400" dirty="0"/>
                        <a:t>We tear down the test fixture to put the world back into the state in which we found it.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2759995443"/>
      </p:ext>
    </p:extLst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">
            <a:extLst>
              <a:ext uri="{FF2B5EF4-FFF2-40B4-BE49-F238E27FC236}">
                <a16:creationId xmlns:a16="http://schemas.microsoft.com/office/drawing/2014/main" id="{DC1CC728-B720-4EE2-876E-F1BC132FD4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1" y="246757"/>
            <a:ext cx="7157729" cy="6001643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US" altLang="en-US" sz="12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DVDTest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  <a:b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2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private 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DVD </a:t>
            </a:r>
            <a:r>
              <a:rPr lang="en-US" altLang="en-US" sz="1200" b="1" dirty="0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dvd1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en-US" sz="1200" b="1" dirty="0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dvd2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en-US" sz="1200" b="1" dirty="0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dvd3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200" dirty="0">
                <a:solidFill>
                  <a:srgbClr val="8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@</a:t>
            </a:r>
            <a:r>
              <a:rPr lang="en-US" altLang="en-US" sz="1200" dirty="0" err="1">
                <a:solidFill>
                  <a:srgbClr val="8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BeforeEach</a:t>
            </a:r>
            <a:br>
              <a:rPr lang="en-US" altLang="en-US" sz="1200" dirty="0">
                <a:solidFill>
                  <a:srgbClr val="8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200" dirty="0">
                <a:solidFill>
                  <a:srgbClr val="8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2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altLang="en-US" sz="12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setUp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  <a:b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en-US" sz="1200" b="1" dirty="0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dvd1 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altLang="en-US" sz="12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 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DVD(</a:t>
            </a:r>
            <a:r>
              <a:rPr lang="en-US" altLang="en-US" sz="12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"The Hobbit(Director)"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  </a:t>
            </a:r>
            <a:r>
              <a:rPr lang="en-US" altLang="en-US" sz="1200" i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//title with 20 characters</a:t>
            </a:r>
            <a:br>
              <a:rPr lang="en-US" altLang="en-US" sz="1200" i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200" i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en-US" sz="1200" b="1" dirty="0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dvd2 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altLang="en-US" sz="12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 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DVD(</a:t>
            </a:r>
            <a:r>
              <a:rPr lang="en-US" altLang="en-US" sz="12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"The Steve Jobs Film"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   </a:t>
            </a:r>
            <a:r>
              <a:rPr lang="en-US" altLang="en-US" sz="1200" i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//title with 19 characters</a:t>
            </a:r>
            <a:br>
              <a:rPr lang="en-US" altLang="en-US" sz="1200" i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200" i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en-US" sz="1200" b="1" dirty="0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dvd3 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altLang="en-US" sz="12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 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DVD(</a:t>
            </a:r>
            <a:r>
              <a:rPr lang="en-US" altLang="en-US" sz="12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"Avatar: Directors Cut"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 </a:t>
            </a:r>
            <a:r>
              <a:rPr lang="en-US" altLang="en-US" sz="1200" i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//title with 21 characters</a:t>
            </a:r>
            <a:br>
              <a:rPr lang="en-US" altLang="en-US" sz="1200" i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200" i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b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200" dirty="0">
                <a:solidFill>
                  <a:srgbClr val="8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@</a:t>
            </a:r>
            <a:r>
              <a:rPr lang="en-US" altLang="en-US" sz="1200" dirty="0" err="1">
                <a:solidFill>
                  <a:srgbClr val="8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AfterEach</a:t>
            </a:r>
            <a:br>
              <a:rPr lang="en-US" altLang="en-US" sz="1200" dirty="0">
                <a:solidFill>
                  <a:srgbClr val="8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200" dirty="0">
                <a:solidFill>
                  <a:srgbClr val="8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2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altLang="en-US" sz="12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tearDown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  <a:b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en-US" sz="1200" b="1" dirty="0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dvd1 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altLang="en-US" sz="1200" b="1" dirty="0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dvd2 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altLang="en-US" sz="1200" b="1" dirty="0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dvd3 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altLang="en-US" sz="12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null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  <a:b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200" dirty="0">
                <a:solidFill>
                  <a:srgbClr val="8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@Test</a:t>
            </a:r>
            <a:br>
              <a:rPr lang="en-US" altLang="en-US" sz="1200" dirty="0">
                <a:solidFill>
                  <a:srgbClr val="8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200" dirty="0">
                <a:solidFill>
                  <a:srgbClr val="8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2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altLang="en-US" sz="12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setTitle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  <a:b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  <a:b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200" dirty="0">
                <a:solidFill>
                  <a:srgbClr val="8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@Test</a:t>
            </a:r>
            <a:br>
              <a:rPr lang="en-US" altLang="en-US" sz="1200" dirty="0">
                <a:solidFill>
                  <a:srgbClr val="8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200" dirty="0">
                <a:solidFill>
                  <a:srgbClr val="8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2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altLang="en-US" sz="12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getTitle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  <a:b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en-US" sz="1200" i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assertEquals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12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"The Hobbit(Director)"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en-US" sz="1200" b="1" dirty="0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dvd1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.getTitle());</a:t>
            </a:r>
            <a:b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en-US" sz="1200" i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assertEquals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12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"The Steve Jobs Film"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en-US" sz="1200" b="1" dirty="0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dvd2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.getTitle());</a:t>
            </a:r>
            <a:br>
              <a:rPr lang="en-US" altLang="en-US" sz="1200" i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200" i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en-US" sz="1200" i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assertEquals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12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"Avatar: Directors"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en-US" sz="1200" b="1" dirty="0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dvd3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.getTitle());</a:t>
            </a:r>
            <a:b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  <a:b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200" dirty="0">
                <a:solidFill>
                  <a:srgbClr val="8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@Test</a:t>
            </a:r>
            <a:br>
              <a:rPr lang="en-US" altLang="en-US" sz="1200" dirty="0">
                <a:solidFill>
                  <a:srgbClr val="8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200" dirty="0">
                <a:solidFill>
                  <a:srgbClr val="8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2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altLang="en-US" sz="12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testToString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  <a:b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  <a:b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altLang="en-US" sz="5400" dirty="0">
              <a:latin typeface="Arial" panose="020B060402020202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600201" y="1336358"/>
            <a:ext cx="1605459" cy="49244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2600" dirty="0"/>
              <a:t>Setup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2237" y="4495801"/>
            <a:ext cx="1605458" cy="49244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2600" dirty="0"/>
              <a:t>Verify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67142" y="3420034"/>
            <a:ext cx="1605458" cy="49244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2600" dirty="0"/>
              <a:t>Exercise</a:t>
            </a:r>
          </a:p>
        </p:txBody>
      </p:sp>
      <p:cxnSp>
        <p:nvCxnSpPr>
          <p:cNvPr id="16" name="Straight Arrow Connector 15"/>
          <p:cNvCxnSpPr/>
          <p:nvPr/>
        </p:nvCxnSpPr>
        <p:spPr>
          <a:xfrm flipH="1">
            <a:off x="8300543" y="3937208"/>
            <a:ext cx="269329" cy="482392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609396" y="2514601"/>
            <a:ext cx="1591005" cy="49244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2600" dirty="0"/>
              <a:t>Teardown</a:t>
            </a:r>
          </a:p>
        </p:txBody>
      </p:sp>
      <p:sp>
        <p:nvSpPr>
          <p:cNvPr id="3" name="Left Brace 2"/>
          <p:cNvSpPr/>
          <p:nvPr/>
        </p:nvSpPr>
        <p:spPr>
          <a:xfrm>
            <a:off x="3247696" y="4419602"/>
            <a:ext cx="1057605" cy="609599"/>
          </a:xfrm>
          <a:prstGeom prst="leftBrac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9" name="Left Brace 18"/>
          <p:cNvSpPr/>
          <p:nvPr/>
        </p:nvSpPr>
        <p:spPr>
          <a:xfrm>
            <a:off x="3233242" y="1066800"/>
            <a:ext cx="952500" cy="1275923"/>
          </a:xfrm>
          <a:prstGeom prst="leftBrac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2" name="Left Brace 21"/>
          <p:cNvSpPr/>
          <p:nvPr/>
        </p:nvSpPr>
        <p:spPr>
          <a:xfrm>
            <a:off x="3352800" y="2362200"/>
            <a:ext cx="780390" cy="838200"/>
          </a:xfrm>
          <a:prstGeom prst="leftBrac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66414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8" grpId="0" animBg="1"/>
      <p:bldP spid="14" grpId="0" animBg="1"/>
      <p:bldP spid="17" grpId="0" animBg="1"/>
      <p:bldP spid="3" grpId="0" animBg="1"/>
      <p:bldP spid="19" grpId="0" animBg="1"/>
      <p:bldP spid="2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Topic List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endParaRPr lang="en-IE" dirty="0"/>
          </a:p>
          <a:p>
            <a:pPr lvl="1"/>
            <a:r>
              <a:rPr lang="en-IE" dirty="0"/>
              <a:t>Four Phase Test.</a:t>
            </a:r>
          </a:p>
          <a:p>
            <a:pPr lvl="1"/>
            <a:endParaRPr lang="en-IE" dirty="0"/>
          </a:p>
          <a:p>
            <a:pPr lvl="1"/>
            <a:r>
              <a:rPr lang="en-IE" dirty="0"/>
              <a:t>Planning a more complicated Test Case.</a:t>
            </a:r>
          </a:p>
          <a:p>
            <a:pPr marL="457200" lvl="1" indent="0">
              <a:buNone/>
            </a:pPr>
            <a:endParaRPr lang="en-IE" dirty="0"/>
          </a:p>
          <a:p>
            <a:endParaRPr lang="en-IE" dirty="0"/>
          </a:p>
          <a:p>
            <a:endParaRPr lang="en-IE" dirty="0"/>
          </a:p>
        </p:txBody>
      </p:sp>
      <p:sp>
        <p:nvSpPr>
          <p:cNvPr id="4" name="Rectangle 3"/>
          <p:cNvSpPr/>
          <p:nvPr/>
        </p:nvSpPr>
        <p:spPr>
          <a:xfrm>
            <a:off x="990600" y="3162300"/>
            <a:ext cx="6324600" cy="5334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31705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Shape 115"/>
          <p:cNvSpPr>
            <a:spLocks noGrp="1"/>
          </p:cNvSpPr>
          <p:nvPr>
            <p:ph type="title"/>
          </p:nvPr>
        </p:nvSpPr>
        <p:spPr>
          <a:xfrm>
            <a:off x="1981200" y="228600"/>
            <a:ext cx="8229600" cy="1143000"/>
          </a:xfrm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3000" dirty="0"/>
              <a:t>Planning </a:t>
            </a:r>
            <a:r>
              <a:rPr lang="en-IE" sz="3000" dirty="0"/>
              <a:t>JUnit </a:t>
            </a:r>
            <a:r>
              <a:rPr sz="3000" dirty="0"/>
              <a:t>Tests</a:t>
            </a:r>
          </a:p>
        </p:txBody>
      </p:sp>
      <p:sp>
        <p:nvSpPr>
          <p:cNvPr id="116" name="Shape 116"/>
          <p:cNvSpPr>
            <a:spLocks noGrp="1"/>
          </p:cNvSpPr>
          <p:nvPr>
            <p:ph idx="1"/>
          </p:nvPr>
        </p:nvSpPr>
        <p:spPr>
          <a:xfrm>
            <a:off x="609600" y="1600201"/>
            <a:ext cx="9753600" cy="4525963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spcBef>
                <a:spcPts val="633"/>
              </a:spcBef>
              <a:defRPr sz="1800"/>
            </a:pPr>
            <a:r>
              <a:rPr sz="2400" b="1" dirty="0"/>
              <a:t>Method to test: </a:t>
            </a:r>
            <a:r>
              <a:rPr sz="2400" dirty="0"/>
              <a:t>A static method designed to </a:t>
            </a:r>
            <a:r>
              <a:rPr lang="en-IE" sz="2400" dirty="0"/>
              <a:t>return</a:t>
            </a:r>
            <a:r>
              <a:rPr sz="2400" dirty="0"/>
              <a:t> the largest </a:t>
            </a:r>
            <a:r>
              <a:rPr lang="en-IE" sz="2400" dirty="0"/>
              <a:t>number</a:t>
            </a:r>
            <a:r>
              <a:rPr sz="2400" dirty="0"/>
              <a:t> in a </a:t>
            </a:r>
            <a:r>
              <a:rPr lang="en-IE" sz="2400" dirty="0"/>
              <a:t>primitive array</a:t>
            </a:r>
            <a:r>
              <a:rPr sz="2400" dirty="0"/>
              <a:t> of </a:t>
            </a:r>
            <a:r>
              <a:rPr lang="en-IE" sz="2400" dirty="0" err="1"/>
              <a:t>int</a:t>
            </a:r>
            <a:r>
              <a:rPr sz="2400" dirty="0"/>
              <a:t>.</a:t>
            </a:r>
            <a:endParaRPr lang="en-IE" sz="2400" dirty="0"/>
          </a:p>
          <a:p>
            <a:pPr marL="0" indent="0">
              <a:spcBef>
                <a:spcPts val="633"/>
              </a:spcBef>
              <a:buNone/>
              <a:defRPr sz="1800"/>
            </a:pPr>
            <a:endParaRPr sz="1800" dirty="0"/>
          </a:p>
          <a:p>
            <a:pPr>
              <a:spcBef>
                <a:spcPts val="633"/>
              </a:spcBef>
              <a:defRPr sz="1800"/>
            </a:pPr>
            <a:r>
              <a:rPr lang="en-IE" sz="2400" b="1" dirty="0"/>
              <a:t>Suggested tests: </a:t>
            </a:r>
            <a:r>
              <a:rPr sz="2400" dirty="0"/>
              <a:t>The following tests would seem to make sense:</a:t>
            </a:r>
            <a:endParaRPr lang="en-IE" sz="2400" dirty="0"/>
          </a:p>
          <a:p>
            <a:pPr>
              <a:spcBef>
                <a:spcPts val="633"/>
              </a:spcBef>
              <a:defRPr sz="1800"/>
            </a:pPr>
            <a:endParaRPr sz="2000" dirty="0"/>
          </a:p>
          <a:p>
            <a:pPr marL="1371600" lvl="3" indent="0">
              <a:spcBef>
                <a:spcPts val="633"/>
              </a:spcBef>
              <a:buNone/>
              <a:defRPr sz="1800"/>
            </a:pPr>
            <a:r>
              <a:rPr b="1" dirty="0">
                <a:solidFill>
                  <a:schemeClr val="accent2"/>
                </a:solidFill>
              </a:rPr>
              <a:t>[7, 8, 9] </a:t>
            </a:r>
            <a:r>
              <a:rPr lang="en-IE" b="1" dirty="0">
                <a:sym typeface="Wingdings" panose="05000000000000000000" pitchFamily="2" charset="2"/>
              </a:rPr>
              <a:t></a:t>
            </a:r>
            <a:r>
              <a:rPr lang="en-IE" b="1" dirty="0">
                <a:solidFill>
                  <a:schemeClr val="accent2"/>
                </a:solidFill>
              </a:rPr>
              <a:t> </a:t>
            </a:r>
            <a:r>
              <a:rPr b="1" dirty="0">
                <a:solidFill>
                  <a:srgbClr val="00B050"/>
                </a:solidFill>
              </a:rPr>
              <a:t>9</a:t>
            </a:r>
          </a:p>
          <a:p>
            <a:pPr lvl="3">
              <a:spcBef>
                <a:spcPts val="633"/>
              </a:spcBef>
              <a:buFont typeface="Wingdings" panose="05000000000000000000" pitchFamily="2" charset="2"/>
              <a:buChar char="v"/>
              <a:defRPr sz="1800"/>
            </a:pPr>
            <a:endParaRPr b="1" dirty="0">
              <a:solidFill>
                <a:schemeClr val="accent2"/>
              </a:solidFill>
            </a:endParaRPr>
          </a:p>
          <a:p>
            <a:pPr marL="1371600" lvl="3" indent="0">
              <a:spcBef>
                <a:spcPts val="633"/>
              </a:spcBef>
              <a:buNone/>
              <a:defRPr sz="1800"/>
            </a:pPr>
            <a:r>
              <a:rPr b="1" dirty="0">
                <a:solidFill>
                  <a:schemeClr val="accent2"/>
                </a:solidFill>
              </a:rPr>
              <a:t>[8, 9, 7] </a:t>
            </a:r>
            <a:r>
              <a:rPr lang="en-IE" b="1" dirty="0">
                <a:sym typeface="Wingdings" panose="05000000000000000000" pitchFamily="2" charset="2"/>
              </a:rPr>
              <a:t></a:t>
            </a:r>
            <a:r>
              <a:rPr lang="en-IE" b="1" dirty="0">
                <a:solidFill>
                  <a:schemeClr val="accent2"/>
                </a:solidFill>
                <a:sym typeface="Wingdings" panose="05000000000000000000" pitchFamily="2" charset="2"/>
              </a:rPr>
              <a:t> </a:t>
            </a:r>
            <a:r>
              <a:rPr b="1" dirty="0">
                <a:solidFill>
                  <a:srgbClr val="00B050"/>
                </a:solidFill>
              </a:rPr>
              <a:t>9</a:t>
            </a:r>
            <a:endParaRPr lang="en-IE" b="1" dirty="0">
              <a:solidFill>
                <a:srgbClr val="00B050"/>
              </a:solidFill>
            </a:endParaRPr>
          </a:p>
          <a:p>
            <a:pPr marL="1371600" lvl="3" indent="0">
              <a:spcBef>
                <a:spcPts val="633"/>
              </a:spcBef>
              <a:buNone/>
              <a:defRPr sz="1800"/>
            </a:pPr>
            <a:endParaRPr b="1" dirty="0">
              <a:solidFill>
                <a:schemeClr val="accent2"/>
              </a:solidFill>
            </a:endParaRPr>
          </a:p>
          <a:p>
            <a:pPr marL="1371600" lvl="3" indent="0">
              <a:spcBef>
                <a:spcPts val="633"/>
              </a:spcBef>
              <a:buNone/>
              <a:defRPr sz="1800"/>
            </a:pPr>
            <a:r>
              <a:rPr b="1" dirty="0">
                <a:solidFill>
                  <a:schemeClr val="accent2"/>
                </a:solidFill>
              </a:rPr>
              <a:t>[9, 7, 8] </a:t>
            </a:r>
            <a:r>
              <a:rPr lang="en-IE" b="1" dirty="0">
                <a:sym typeface="Wingdings" panose="05000000000000000000" pitchFamily="2" charset="2"/>
              </a:rPr>
              <a:t></a:t>
            </a:r>
            <a:r>
              <a:rPr lang="en-IE" b="1" dirty="0">
                <a:solidFill>
                  <a:schemeClr val="accent2"/>
                </a:solidFill>
                <a:sym typeface="Wingdings" panose="05000000000000000000" pitchFamily="2" charset="2"/>
              </a:rPr>
              <a:t> </a:t>
            </a:r>
            <a:r>
              <a:rPr b="1" dirty="0">
                <a:solidFill>
                  <a:srgbClr val="00B050"/>
                </a:solidFill>
              </a:rPr>
              <a:t>9</a:t>
            </a:r>
            <a:endParaRPr lang="en-IE" sz="1800" b="1" dirty="0">
              <a:solidFill>
                <a:srgbClr val="00B050"/>
              </a:solidFill>
            </a:endParaRPr>
          </a:p>
          <a:p>
            <a:pPr marL="114300" indent="0">
              <a:spcBef>
                <a:spcPts val="633"/>
              </a:spcBef>
              <a:buNone/>
              <a:defRPr sz="1800"/>
            </a:pPr>
            <a:endParaRPr lang="en-IE" b="1" dirty="0">
              <a:solidFill>
                <a:srgbClr val="00B050"/>
              </a:solidFill>
            </a:endParaRPr>
          </a:p>
          <a:p>
            <a:pPr marL="114300" indent="0">
              <a:spcBef>
                <a:spcPts val="633"/>
              </a:spcBef>
              <a:buNone/>
              <a:defRPr sz="1800"/>
            </a:pPr>
            <a:r>
              <a:rPr lang="en-IE" b="1" dirty="0">
                <a:solidFill>
                  <a:srgbClr val="00B050"/>
                </a:solidFill>
              </a:rPr>
              <a:t>	</a:t>
            </a:r>
            <a:r>
              <a:rPr lang="en-IE" sz="2000" dirty="0">
                <a:solidFill>
                  <a:schemeClr val="accent2"/>
                </a:solidFill>
              </a:rPr>
              <a:t>[</a:t>
            </a:r>
            <a:r>
              <a:rPr sz="2000" dirty="0">
                <a:solidFill>
                  <a:schemeClr val="accent2"/>
                </a:solidFill>
              </a:rPr>
              <a:t>supplied test data</a:t>
            </a:r>
            <a:r>
              <a:rPr lang="en-IE" sz="2000" dirty="0">
                <a:solidFill>
                  <a:schemeClr val="accent2"/>
                </a:solidFill>
              </a:rPr>
              <a:t>]</a:t>
            </a:r>
            <a:r>
              <a:rPr sz="2000" dirty="0">
                <a:solidFill>
                  <a:schemeClr val="accent2"/>
                </a:solidFill>
              </a:rPr>
              <a:t> </a:t>
            </a:r>
            <a:r>
              <a:rPr lang="en-IE" sz="2000" dirty="0">
                <a:sym typeface="Wingdings" panose="05000000000000000000" pitchFamily="2" charset="2"/>
              </a:rPr>
              <a:t> </a:t>
            </a:r>
            <a:r>
              <a:rPr sz="2000" dirty="0">
                <a:solidFill>
                  <a:srgbClr val="00B050"/>
                </a:solidFill>
              </a:rPr>
              <a:t>expected result</a:t>
            </a:r>
            <a:endParaRPr dirty="0">
              <a:solidFill>
                <a:srgbClr val="00B050"/>
              </a:solidFill>
            </a:endParaRPr>
          </a:p>
        </p:txBody>
      </p:sp>
      <p:sp>
        <p:nvSpPr>
          <p:cNvPr id="118" name="Shape 118"/>
          <p:cNvSpPr/>
          <p:nvPr/>
        </p:nvSpPr>
        <p:spPr>
          <a:xfrm>
            <a:off x="5715000" y="3429000"/>
            <a:ext cx="4038600" cy="1524000"/>
          </a:xfrm>
          <a:prstGeom prst="rect">
            <a:avLst/>
          </a:prstGeom>
          <a:ln w="12700">
            <a:solidFill/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 anchor="b">
            <a:spAutoFit/>
          </a:bodyPr>
          <a:lstStyle/>
          <a:p>
            <a:pPr defTabSz="410751">
              <a:defRPr sz="1800"/>
            </a:pPr>
            <a:r>
              <a:rPr sz="2000" dirty="0">
                <a:latin typeface="Monaco"/>
                <a:ea typeface="Monaco"/>
                <a:cs typeface="Monaco"/>
                <a:sym typeface="Monaco"/>
              </a:rPr>
              <a:t>  </a:t>
            </a:r>
            <a:r>
              <a:rPr sz="2000" dirty="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rPr>
              <a:t>public</a:t>
            </a:r>
            <a:r>
              <a:rPr sz="2000" dirty="0">
                <a:latin typeface="Monaco"/>
                <a:ea typeface="Monaco"/>
                <a:cs typeface="Monaco"/>
                <a:sym typeface="Monaco"/>
              </a:rPr>
              <a:t> </a:t>
            </a:r>
            <a:r>
              <a:rPr sz="2000" dirty="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rPr>
              <a:t>static</a:t>
            </a:r>
            <a:r>
              <a:rPr sz="2000" dirty="0">
                <a:latin typeface="Monaco"/>
                <a:ea typeface="Monaco"/>
                <a:cs typeface="Monaco"/>
                <a:sym typeface="Monaco"/>
              </a:rPr>
              <a:t> </a:t>
            </a:r>
            <a:r>
              <a:rPr sz="2000" dirty="0" err="1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rPr>
              <a:t>int</a:t>
            </a:r>
            <a:r>
              <a:rPr sz="2000" dirty="0">
                <a:latin typeface="Monaco"/>
                <a:ea typeface="Monaco"/>
                <a:cs typeface="Monaco"/>
                <a:sym typeface="Monaco"/>
              </a:rPr>
              <a:t> largest (</a:t>
            </a:r>
            <a:r>
              <a:rPr sz="2000" dirty="0" err="1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rPr>
              <a:t>int</a:t>
            </a:r>
            <a:r>
              <a:rPr sz="2000" dirty="0">
                <a:latin typeface="Monaco"/>
                <a:ea typeface="Monaco"/>
                <a:cs typeface="Monaco"/>
                <a:sym typeface="Monaco"/>
              </a:rPr>
              <a:t>[] list)</a:t>
            </a:r>
          </a:p>
          <a:p>
            <a:pPr defTabSz="410751">
              <a:defRPr sz="1800"/>
            </a:pPr>
            <a:r>
              <a:rPr sz="2000" dirty="0">
                <a:latin typeface="Monaco"/>
                <a:ea typeface="Monaco"/>
                <a:cs typeface="Monaco"/>
                <a:sym typeface="Monaco"/>
              </a:rPr>
              <a:t>  {</a:t>
            </a:r>
          </a:p>
          <a:p>
            <a:pPr defTabSz="410751">
              <a:defRPr sz="1800"/>
            </a:pPr>
            <a:r>
              <a:rPr sz="2000" dirty="0">
                <a:latin typeface="Monaco"/>
                <a:ea typeface="Monaco"/>
                <a:cs typeface="Monaco"/>
                <a:sym typeface="Monaco"/>
              </a:rPr>
              <a:t>  </a:t>
            </a:r>
            <a:r>
              <a:rPr lang="en-GB" sz="2000" dirty="0">
                <a:latin typeface="Monaco"/>
                <a:ea typeface="Monaco"/>
                <a:cs typeface="Monaco"/>
                <a:sym typeface="Monaco"/>
              </a:rPr>
              <a:t>   </a:t>
            </a:r>
            <a:r>
              <a:rPr sz="2000" dirty="0">
                <a:latin typeface="Monaco"/>
                <a:ea typeface="Monaco"/>
                <a:cs typeface="Monaco"/>
                <a:sym typeface="Monaco"/>
              </a:rPr>
              <a:t>...</a:t>
            </a:r>
          </a:p>
          <a:p>
            <a:pPr defTabSz="410751">
              <a:defRPr sz="1800"/>
            </a:pPr>
            <a:r>
              <a:rPr sz="2000" dirty="0">
                <a:latin typeface="Monaco"/>
                <a:ea typeface="Monaco"/>
                <a:cs typeface="Monaco"/>
                <a:sym typeface="Monaco"/>
              </a:rPr>
              <a:t>  }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14938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1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18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18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" grpId="0" build="allAtOnce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Shape 1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3000" dirty="0"/>
              <a:t>More Test Data</a:t>
            </a:r>
          </a:p>
        </p:txBody>
      </p:sp>
      <p:sp>
        <p:nvSpPr>
          <p:cNvPr id="6" name="Shape 121">
            <a:extLst>
              <a:ext uri="{FF2B5EF4-FFF2-40B4-BE49-F238E27FC236}">
                <a16:creationId xmlns:a16="http://schemas.microsoft.com/office/drawing/2014/main" id="{D22EE200-7CFC-4F29-A39A-0628042C0B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0565" y="1699614"/>
            <a:ext cx="9601200" cy="48768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285750" lvl="2" indent="-285750">
              <a:lnSpc>
                <a:spcPct val="90000"/>
              </a:lnSpc>
              <a:spcBef>
                <a:spcPts val="633"/>
              </a:spcBef>
              <a:defRPr sz="1800"/>
            </a:pPr>
            <a:r>
              <a:rPr sz="2000" dirty="0"/>
              <a:t>Already </a:t>
            </a:r>
            <a:r>
              <a:rPr lang="en-IE" sz="2000" dirty="0"/>
              <a:t>planned tests </a:t>
            </a:r>
            <a:br>
              <a:rPr lang="en-IE" sz="2000" dirty="0"/>
            </a:br>
            <a:r>
              <a:rPr lang="en-IE" sz="2000" dirty="0"/>
              <a:t>with this </a:t>
            </a:r>
            <a:r>
              <a:rPr sz="2000" dirty="0"/>
              <a:t>data:</a:t>
            </a:r>
            <a:endParaRPr lang="en-IE" sz="2000" dirty="0"/>
          </a:p>
          <a:p>
            <a:pPr marL="457200" lvl="3" indent="0">
              <a:lnSpc>
                <a:spcPct val="90000"/>
              </a:lnSpc>
              <a:spcBef>
                <a:spcPts val="633"/>
              </a:spcBef>
              <a:buNone/>
              <a:defRPr sz="1800"/>
            </a:pPr>
            <a:r>
              <a:rPr lang="en-IE" b="1" dirty="0">
                <a:solidFill>
                  <a:schemeClr val="accent2"/>
                </a:solidFill>
              </a:rPr>
              <a:t>	[7, 8, 9] </a:t>
            </a:r>
            <a:r>
              <a:rPr lang="en-IE" b="1" dirty="0">
                <a:sym typeface="Wingdings" panose="05000000000000000000" pitchFamily="2" charset="2"/>
              </a:rPr>
              <a:t></a:t>
            </a:r>
            <a:r>
              <a:rPr lang="en-IE" b="1" dirty="0">
                <a:solidFill>
                  <a:schemeClr val="accent2"/>
                </a:solidFill>
              </a:rPr>
              <a:t> </a:t>
            </a:r>
            <a:r>
              <a:rPr lang="en-IE" b="1" dirty="0">
                <a:solidFill>
                  <a:srgbClr val="00B050"/>
                </a:solidFill>
              </a:rPr>
              <a:t>9</a:t>
            </a:r>
            <a:endParaRPr lang="en-IE" b="1" dirty="0">
              <a:solidFill>
                <a:schemeClr val="accent2"/>
              </a:solidFill>
            </a:endParaRPr>
          </a:p>
          <a:p>
            <a:pPr marL="457200" lvl="3" indent="0">
              <a:lnSpc>
                <a:spcPct val="90000"/>
              </a:lnSpc>
              <a:spcBef>
                <a:spcPts val="633"/>
              </a:spcBef>
              <a:buNone/>
              <a:defRPr sz="1800"/>
            </a:pPr>
            <a:r>
              <a:rPr lang="en-IE" b="1" dirty="0">
                <a:solidFill>
                  <a:schemeClr val="accent2"/>
                </a:solidFill>
              </a:rPr>
              <a:t>	[8, 9, 7] </a:t>
            </a:r>
            <a:r>
              <a:rPr lang="en-IE" b="1" dirty="0">
                <a:sym typeface="Wingdings" panose="05000000000000000000" pitchFamily="2" charset="2"/>
              </a:rPr>
              <a:t></a:t>
            </a:r>
            <a:r>
              <a:rPr lang="en-IE" b="1" dirty="0">
                <a:solidFill>
                  <a:schemeClr val="accent2"/>
                </a:solidFill>
                <a:sym typeface="Wingdings" panose="05000000000000000000" pitchFamily="2" charset="2"/>
              </a:rPr>
              <a:t> </a:t>
            </a:r>
            <a:r>
              <a:rPr lang="en-IE" b="1" dirty="0">
                <a:solidFill>
                  <a:srgbClr val="00B050"/>
                </a:solidFill>
              </a:rPr>
              <a:t>9</a:t>
            </a:r>
            <a:endParaRPr lang="en-IE" b="1" dirty="0">
              <a:solidFill>
                <a:schemeClr val="accent2"/>
              </a:solidFill>
            </a:endParaRPr>
          </a:p>
          <a:p>
            <a:pPr marL="457200" lvl="3" indent="0">
              <a:lnSpc>
                <a:spcPct val="90000"/>
              </a:lnSpc>
              <a:spcBef>
                <a:spcPts val="633"/>
              </a:spcBef>
              <a:buNone/>
              <a:defRPr sz="1800"/>
            </a:pPr>
            <a:r>
              <a:rPr lang="en-IE" b="1" dirty="0">
                <a:solidFill>
                  <a:schemeClr val="accent2"/>
                </a:solidFill>
              </a:rPr>
              <a:t>	[9, 7, 8] </a:t>
            </a:r>
            <a:r>
              <a:rPr lang="en-IE" b="1" dirty="0">
                <a:sym typeface="Wingdings" panose="05000000000000000000" pitchFamily="2" charset="2"/>
              </a:rPr>
              <a:t></a:t>
            </a:r>
            <a:r>
              <a:rPr lang="en-IE" b="1" dirty="0">
                <a:solidFill>
                  <a:schemeClr val="accent2"/>
                </a:solidFill>
                <a:sym typeface="Wingdings" panose="05000000000000000000" pitchFamily="2" charset="2"/>
              </a:rPr>
              <a:t> </a:t>
            </a:r>
            <a:r>
              <a:rPr lang="en-IE" b="1" dirty="0">
                <a:solidFill>
                  <a:srgbClr val="00B050"/>
                </a:solidFill>
              </a:rPr>
              <a:t>9</a:t>
            </a:r>
          </a:p>
          <a:p>
            <a:pPr marL="285750" lvl="2" indent="-285750">
              <a:lnSpc>
                <a:spcPct val="90000"/>
              </a:lnSpc>
              <a:spcBef>
                <a:spcPts val="633"/>
              </a:spcBef>
              <a:defRPr sz="1800"/>
            </a:pPr>
            <a:endParaRPr lang="en-IE" sz="2000" dirty="0"/>
          </a:p>
          <a:p>
            <a:pPr marL="285750" lvl="2" indent="-285750">
              <a:lnSpc>
                <a:spcPct val="90000"/>
              </a:lnSpc>
              <a:spcBef>
                <a:spcPts val="633"/>
              </a:spcBef>
              <a:defRPr sz="1800"/>
            </a:pPr>
            <a:r>
              <a:rPr sz="2000" dirty="0"/>
              <a:t>What about this </a:t>
            </a:r>
            <a:br>
              <a:rPr lang="en-GB" sz="2000" dirty="0"/>
            </a:br>
            <a:r>
              <a:rPr sz="2000" dirty="0"/>
              <a:t>set</a:t>
            </a:r>
            <a:r>
              <a:rPr lang="en-IE" sz="2000" dirty="0"/>
              <a:t> of values</a:t>
            </a:r>
            <a:r>
              <a:rPr sz="2000" dirty="0"/>
              <a:t>:</a:t>
            </a:r>
            <a:endParaRPr lang="en-IE" sz="2000" dirty="0"/>
          </a:p>
          <a:p>
            <a:pPr marL="0" lvl="2" indent="0">
              <a:lnSpc>
                <a:spcPct val="90000"/>
              </a:lnSpc>
              <a:spcBef>
                <a:spcPts val="633"/>
              </a:spcBef>
              <a:buNone/>
              <a:defRPr sz="1800"/>
            </a:pPr>
            <a:r>
              <a:rPr lang="en-IE" sz="2000" b="1" dirty="0">
                <a:solidFill>
                  <a:schemeClr val="accent2"/>
                </a:solidFill>
              </a:rPr>
              <a:t>	</a:t>
            </a:r>
            <a:r>
              <a:rPr sz="2000" b="1" dirty="0">
                <a:solidFill>
                  <a:schemeClr val="accent2"/>
                </a:solidFill>
              </a:rPr>
              <a:t>[7, 9, 8, 9] </a:t>
            </a:r>
            <a:r>
              <a:rPr lang="en-IE" sz="2000" dirty="0">
                <a:sym typeface="Wingdings" panose="05000000000000000000" pitchFamily="2" charset="2"/>
              </a:rPr>
              <a:t></a:t>
            </a:r>
            <a:r>
              <a:rPr sz="2000" dirty="0"/>
              <a:t> </a:t>
            </a:r>
            <a:r>
              <a:rPr sz="2000" b="1" dirty="0">
                <a:solidFill>
                  <a:srgbClr val="00B050"/>
                </a:solidFill>
              </a:rPr>
              <a:t>9</a:t>
            </a:r>
          </a:p>
          <a:p>
            <a:pPr marL="914400" lvl="2" indent="0">
              <a:lnSpc>
                <a:spcPct val="90000"/>
              </a:lnSpc>
              <a:spcBef>
                <a:spcPts val="633"/>
              </a:spcBef>
              <a:buNone/>
              <a:defRPr sz="1800"/>
            </a:pPr>
            <a:r>
              <a:rPr sz="2000" b="1" dirty="0">
                <a:solidFill>
                  <a:schemeClr val="accent2"/>
                </a:solidFill>
              </a:rPr>
              <a:t>[1]</a:t>
            </a:r>
            <a:r>
              <a:rPr sz="2000" dirty="0"/>
              <a:t> </a:t>
            </a:r>
            <a:r>
              <a:rPr lang="en-IE" sz="2000" dirty="0">
                <a:sym typeface="Wingdings" panose="05000000000000000000" pitchFamily="2" charset="2"/>
              </a:rPr>
              <a:t></a:t>
            </a:r>
            <a:r>
              <a:rPr sz="2000" dirty="0"/>
              <a:t> </a:t>
            </a:r>
            <a:r>
              <a:rPr sz="2000" b="1" dirty="0">
                <a:solidFill>
                  <a:srgbClr val="00B050"/>
                </a:solidFill>
              </a:rPr>
              <a:t>1</a:t>
            </a:r>
          </a:p>
          <a:p>
            <a:pPr marL="914400" lvl="2" indent="0">
              <a:lnSpc>
                <a:spcPct val="90000"/>
              </a:lnSpc>
              <a:spcBef>
                <a:spcPts val="633"/>
              </a:spcBef>
              <a:buNone/>
              <a:defRPr sz="1800"/>
            </a:pPr>
            <a:r>
              <a:rPr sz="2000" b="1" dirty="0">
                <a:solidFill>
                  <a:schemeClr val="accent2"/>
                </a:solidFill>
              </a:rPr>
              <a:t>[-9, -8, -7] </a:t>
            </a:r>
            <a:r>
              <a:rPr lang="en-IE" sz="2000" b="1" dirty="0">
                <a:sym typeface="Wingdings" panose="05000000000000000000" pitchFamily="2" charset="2"/>
              </a:rPr>
              <a:t></a:t>
            </a:r>
            <a:r>
              <a:rPr sz="2000" dirty="0"/>
              <a:t> </a:t>
            </a:r>
            <a:r>
              <a:rPr sz="2000" b="1" dirty="0">
                <a:solidFill>
                  <a:srgbClr val="00B050"/>
                </a:solidFill>
              </a:rPr>
              <a:t>-7</a:t>
            </a:r>
            <a:endParaRPr lang="en-IE" sz="2000" b="1" dirty="0">
              <a:solidFill>
                <a:srgbClr val="00B050"/>
              </a:solidFill>
            </a:endParaRPr>
          </a:p>
          <a:p>
            <a:pPr marL="914400" lvl="2" indent="0">
              <a:lnSpc>
                <a:spcPct val="90000"/>
              </a:lnSpc>
              <a:spcBef>
                <a:spcPts val="633"/>
              </a:spcBef>
              <a:buNone/>
              <a:defRPr sz="1800"/>
            </a:pPr>
            <a:endParaRPr lang="en-IE" sz="2000" b="1" dirty="0">
              <a:solidFill>
                <a:srgbClr val="00B050"/>
              </a:solidFill>
            </a:endParaRPr>
          </a:p>
          <a:p>
            <a:pPr marL="114300" indent="0">
              <a:lnSpc>
                <a:spcPct val="90000"/>
              </a:lnSpc>
              <a:spcBef>
                <a:spcPts val="633"/>
              </a:spcBef>
              <a:buNone/>
              <a:defRPr sz="1800"/>
            </a:pPr>
            <a:r>
              <a:rPr lang="en-IE" sz="2000" dirty="0">
                <a:solidFill>
                  <a:schemeClr val="accent2"/>
                </a:solidFill>
              </a:rPr>
              <a:t>[supplied test data] </a:t>
            </a:r>
            <a:r>
              <a:rPr lang="en-IE" sz="2000" dirty="0">
                <a:sym typeface="Wingdings" panose="05000000000000000000" pitchFamily="2" charset="2"/>
              </a:rPr>
              <a:t> </a:t>
            </a:r>
            <a:r>
              <a:rPr lang="en-IE" sz="2000" dirty="0">
                <a:solidFill>
                  <a:srgbClr val="00B050"/>
                </a:solidFill>
              </a:rPr>
              <a:t>expected result</a:t>
            </a:r>
            <a:endParaRPr sz="2000" b="1" dirty="0">
              <a:solidFill>
                <a:srgbClr val="00B05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907006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Shape 1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3000" dirty="0"/>
              <a:t>More Test Data</a:t>
            </a:r>
          </a:p>
        </p:txBody>
      </p:sp>
      <p:sp>
        <p:nvSpPr>
          <p:cNvPr id="121" name="Shape 121"/>
          <p:cNvSpPr>
            <a:spLocks noGrp="1"/>
          </p:cNvSpPr>
          <p:nvPr>
            <p:ph idx="1"/>
          </p:nvPr>
        </p:nvSpPr>
        <p:spPr>
          <a:xfrm>
            <a:off x="610565" y="1699614"/>
            <a:ext cx="9601200" cy="48768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285750" lvl="2" indent="-285750">
              <a:lnSpc>
                <a:spcPct val="90000"/>
              </a:lnSpc>
              <a:spcBef>
                <a:spcPts val="633"/>
              </a:spcBef>
              <a:defRPr sz="1800"/>
            </a:pPr>
            <a:r>
              <a:rPr sz="2000" dirty="0"/>
              <a:t>Already </a:t>
            </a:r>
            <a:r>
              <a:rPr lang="en-IE" sz="2000" dirty="0"/>
              <a:t>planned tests </a:t>
            </a:r>
            <a:br>
              <a:rPr lang="en-IE" sz="2000" dirty="0"/>
            </a:br>
            <a:r>
              <a:rPr lang="en-IE" sz="2000" dirty="0"/>
              <a:t>with this </a:t>
            </a:r>
            <a:r>
              <a:rPr sz="2000" dirty="0"/>
              <a:t>data:</a:t>
            </a:r>
            <a:endParaRPr lang="en-IE" sz="2000" dirty="0"/>
          </a:p>
          <a:p>
            <a:pPr marL="457200" lvl="3" indent="0">
              <a:lnSpc>
                <a:spcPct val="90000"/>
              </a:lnSpc>
              <a:spcBef>
                <a:spcPts val="633"/>
              </a:spcBef>
              <a:buNone/>
              <a:defRPr sz="1800"/>
            </a:pPr>
            <a:r>
              <a:rPr lang="en-IE" b="1" dirty="0">
                <a:solidFill>
                  <a:schemeClr val="accent2"/>
                </a:solidFill>
              </a:rPr>
              <a:t>	[7, 8, 9] </a:t>
            </a:r>
            <a:r>
              <a:rPr lang="en-IE" b="1" dirty="0">
                <a:sym typeface="Wingdings" panose="05000000000000000000" pitchFamily="2" charset="2"/>
              </a:rPr>
              <a:t></a:t>
            </a:r>
            <a:r>
              <a:rPr lang="en-IE" b="1" dirty="0">
                <a:solidFill>
                  <a:schemeClr val="accent2"/>
                </a:solidFill>
              </a:rPr>
              <a:t> </a:t>
            </a:r>
            <a:r>
              <a:rPr lang="en-IE" b="1" dirty="0">
                <a:solidFill>
                  <a:srgbClr val="00B050"/>
                </a:solidFill>
              </a:rPr>
              <a:t>9</a:t>
            </a:r>
            <a:endParaRPr lang="en-IE" b="1" dirty="0">
              <a:solidFill>
                <a:schemeClr val="accent2"/>
              </a:solidFill>
            </a:endParaRPr>
          </a:p>
          <a:p>
            <a:pPr marL="457200" lvl="3" indent="0">
              <a:lnSpc>
                <a:spcPct val="90000"/>
              </a:lnSpc>
              <a:spcBef>
                <a:spcPts val="633"/>
              </a:spcBef>
              <a:buNone/>
              <a:defRPr sz="1800"/>
            </a:pPr>
            <a:r>
              <a:rPr lang="en-IE" b="1" dirty="0">
                <a:solidFill>
                  <a:schemeClr val="accent2"/>
                </a:solidFill>
              </a:rPr>
              <a:t>	[8, 9, 7] </a:t>
            </a:r>
            <a:r>
              <a:rPr lang="en-IE" b="1" dirty="0">
                <a:sym typeface="Wingdings" panose="05000000000000000000" pitchFamily="2" charset="2"/>
              </a:rPr>
              <a:t></a:t>
            </a:r>
            <a:r>
              <a:rPr lang="en-IE" b="1" dirty="0">
                <a:solidFill>
                  <a:schemeClr val="accent2"/>
                </a:solidFill>
                <a:sym typeface="Wingdings" panose="05000000000000000000" pitchFamily="2" charset="2"/>
              </a:rPr>
              <a:t> </a:t>
            </a:r>
            <a:r>
              <a:rPr lang="en-IE" b="1" dirty="0">
                <a:solidFill>
                  <a:srgbClr val="00B050"/>
                </a:solidFill>
              </a:rPr>
              <a:t>9</a:t>
            </a:r>
            <a:endParaRPr lang="en-IE" b="1" dirty="0">
              <a:solidFill>
                <a:schemeClr val="accent2"/>
              </a:solidFill>
            </a:endParaRPr>
          </a:p>
          <a:p>
            <a:pPr marL="457200" lvl="3" indent="0">
              <a:lnSpc>
                <a:spcPct val="90000"/>
              </a:lnSpc>
              <a:spcBef>
                <a:spcPts val="633"/>
              </a:spcBef>
              <a:buNone/>
              <a:defRPr sz="1800"/>
            </a:pPr>
            <a:r>
              <a:rPr lang="en-IE" b="1" dirty="0">
                <a:solidFill>
                  <a:schemeClr val="accent2"/>
                </a:solidFill>
              </a:rPr>
              <a:t>	[9, 7, 8] </a:t>
            </a:r>
            <a:r>
              <a:rPr lang="en-IE" b="1" dirty="0">
                <a:sym typeface="Wingdings" panose="05000000000000000000" pitchFamily="2" charset="2"/>
              </a:rPr>
              <a:t></a:t>
            </a:r>
            <a:r>
              <a:rPr lang="en-IE" b="1" dirty="0">
                <a:solidFill>
                  <a:schemeClr val="accent2"/>
                </a:solidFill>
                <a:sym typeface="Wingdings" panose="05000000000000000000" pitchFamily="2" charset="2"/>
              </a:rPr>
              <a:t> </a:t>
            </a:r>
            <a:r>
              <a:rPr lang="en-IE" b="1" dirty="0">
                <a:solidFill>
                  <a:srgbClr val="00B050"/>
                </a:solidFill>
              </a:rPr>
              <a:t>9</a:t>
            </a:r>
          </a:p>
          <a:p>
            <a:pPr marL="285750" lvl="2" indent="-285750">
              <a:lnSpc>
                <a:spcPct val="90000"/>
              </a:lnSpc>
              <a:spcBef>
                <a:spcPts val="633"/>
              </a:spcBef>
              <a:defRPr sz="1800"/>
            </a:pPr>
            <a:endParaRPr lang="en-IE" sz="2000" dirty="0"/>
          </a:p>
          <a:p>
            <a:pPr marL="285750" lvl="2" indent="-285750">
              <a:lnSpc>
                <a:spcPct val="90000"/>
              </a:lnSpc>
              <a:spcBef>
                <a:spcPts val="633"/>
              </a:spcBef>
              <a:defRPr sz="1800"/>
            </a:pPr>
            <a:r>
              <a:rPr sz="2000" dirty="0"/>
              <a:t>What about this </a:t>
            </a:r>
            <a:br>
              <a:rPr lang="en-GB" sz="2000" dirty="0"/>
            </a:br>
            <a:r>
              <a:rPr sz="2000" dirty="0"/>
              <a:t>set</a:t>
            </a:r>
            <a:r>
              <a:rPr lang="en-IE" sz="2000" dirty="0"/>
              <a:t> of values</a:t>
            </a:r>
            <a:r>
              <a:rPr sz="2000" dirty="0"/>
              <a:t>:</a:t>
            </a:r>
            <a:endParaRPr lang="en-IE" sz="2000" dirty="0"/>
          </a:p>
          <a:p>
            <a:pPr marL="0" lvl="2" indent="0">
              <a:lnSpc>
                <a:spcPct val="90000"/>
              </a:lnSpc>
              <a:spcBef>
                <a:spcPts val="633"/>
              </a:spcBef>
              <a:buNone/>
              <a:defRPr sz="1800"/>
            </a:pPr>
            <a:r>
              <a:rPr lang="en-IE" sz="2000" b="1" dirty="0">
                <a:solidFill>
                  <a:schemeClr val="accent2"/>
                </a:solidFill>
              </a:rPr>
              <a:t>	</a:t>
            </a:r>
            <a:r>
              <a:rPr sz="2000" b="1" dirty="0">
                <a:solidFill>
                  <a:schemeClr val="accent2"/>
                </a:solidFill>
              </a:rPr>
              <a:t>[7, 9, 8, 9] </a:t>
            </a:r>
            <a:r>
              <a:rPr lang="en-IE" sz="2000" dirty="0">
                <a:sym typeface="Wingdings" panose="05000000000000000000" pitchFamily="2" charset="2"/>
              </a:rPr>
              <a:t></a:t>
            </a:r>
            <a:r>
              <a:rPr sz="2000" dirty="0"/>
              <a:t> </a:t>
            </a:r>
            <a:r>
              <a:rPr sz="2000" b="1" dirty="0">
                <a:solidFill>
                  <a:srgbClr val="00B050"/>
                </a:solidFill>
              </a:rPr>
              <a:t>9</a:t>
            </a:r>
          </a:p>
          <a:p>
            <a:pPr marL="914400" lvl="2" indent="0">
              <a:lnSpc>
                <a:spcPct val="90000"/>
              </a:lnSpc>
              <a:spcBef>
                <a:spcPts val="633"/>
              </a:spcBef>
              <a:buNone/>
              <a:defRPr sz="1800"/>
            </a:pPr>
            <a:r>
              <a:rPr sz="2000" b="1" dirty="0">
                <a:solidFill>
                  <a:schemeClr val="accent2"/>
                </a:solidFill>
              </a:rPr>
              <a:t>[1]</a:t>
            </a:r>
            <a:r>
              <a:rPr sz="2000" dirty="0"/>
              <a:t> </a:t>
            </a:r>
            <a:r>
              <a:rPr lang="en-IE" sz="2000" dirty="0">
                <a:sym typeface="Wingdings" panose="05000000000000000000" pitchFamily="2" charset="2"/>
              </a:rPr>
              <a:t></a:t>
            </a:r>
            <a:r>
              <a:rPr sz="2000" dirty="0"/>
              <a:t> </a:t>
            </a:r>
            <a:r>
              <a:rPr sz="2000" b="1" dirty="0">
                <a:solidFill>
                  <a:srgbClr val="00B050"/>
                </a:solidFill>
              </a:rPr>
              <a:t>1</a:t>
            </a:r>
          </a:p>
          <a:p>
            <a:pPr marL="914400" lvl="2" indent="0">
              <a:lnSpc>
                <a:spcPct val="90000"/>
              </a:lnSpc>
              <a:spcBef>
                <a:spcPts val="633"/>
              </a:spcBef>
              <a:buNone/>
              <a:defRPr sz="1800"/>
            </a:pPr>
            <a:r>
              <a:rPr sz="2000" b="1" dirty="0">
                <a:solidFill>
                  <a:schemeClr val="accent2"/>
                </a:solidFill>
              </a:rPr>
              <a:t>[-9, -8, -7] </a:t>
            </a:r>
            <a:r>
              <a:rPr lang="en-IE" sz="2000" b="1" dirty="0">
                <a:sym typeface="Wingdings" panose="05000000000000000000" pitchFamily="2" charset="2"/>
              </a:rPr>
              <a:t></a:t>
            </a:r>
            <a:r>
              <a:rPr sz="2000" dirty="0"/>
              <a:t> </a:t>
            </a:r>
            <a:r>
              <a:rPr sz="2000" b="1" dirty="0">
                <a:solidFill>
                  <a:srgbClr val="00B050"/>
                </a:solidFill>
              </a:rPr>
              <a:t>-7</a:t>
            </a:r>
            <a:endParaRPr lang="en-IE" sz="2000" b="1" dirty="0">
              <a:solidFill>
                <a:srgbClr val="00B050"/>
              </a:solidFill>
            </a:endParaRPr>
          </a:p>
          <a:p>
            <a:pPr marL="914400" lvl="2" indent="0">
              <a:lnSpc>
                <a:spcPct val="90000"/>
              </a:lnSpc>
              <a:spcBef>
                <a:spcPts val="633"/>
              </a:spcBef>
              <a:buNone/>
              <a:defRPr sz="1800"/>
            </a:pPr>
            <a:endParaRPr lang="en-IE" sz="2000" b="1" dirty="0">
              <a:solidFill>
                <a:srgbClr val="00B050"/>
              </a:solidFill>
            </a:endParaRPr>
          </a:p>
          <a:p>
            <a:pPr marL="114300" indent="0">
              <a:lnSpc>
                <a:spcPct val="90000"/>
              </a:lnSpc>
              <a:spcBef>
                <a:spcPts val="633"/>
              </a:spcBef>
              <a:buNone/>
              <a:defRPr sz="1800"/>
            </a:pPr>
            <a:r>
              <a:rPr lang="en-IE" sz="2000" dirty="0">
                <a:solidFill>
                  <a:schemeClr val="accent2"/>
                </a:solidFill>
              </a:rPr>
              <a:t>[supplied test data] </a:t>
            </a:r>
            <a:r>
              <a:rPr lang="en-IE" sz="2000" dirty="0">
                <a:sym typeface="Wingdings" panose="05000000000000000000" pitchFamily="2" charset="2"/>
              </a:rPr>
              <a:t> </a:t>
            </a:r>
            <a:r>
              <a:rPr lang="en-IE" sz="2000" dirty="0">
                <a:solidFill>
                  <a:srgbClr val="00B050"/>
                </a:solidFill>
              </a:rPr>
              <a:t>expected result</a:t>
            </a:r>
            <a:endParaRPr sz="2000" b="1" dirty="0">
              <a:solidFill>
                <a:srgbClr val="00B050"/>
              </a:solidFill>
            </a:endParaRPr>
          </a:p>
        </p:txBody>
      </p:sp>
      <p:sp>
        <p:nvSpPr>
          <p:cNvPr id="4" name="Shape 123">
            <a:extLst>
              <a:ext uri="{FF2B5EF4-FFF2-40B4-BE49-F238E27FC236}">
                <a16:creationId xmlns:a16="http://schemas.microsoft.com/office/drawing/2014/main" id="{15457E59-586A-40E6-A7E6-690C38247711}"/>
              </a:ext>
            </a:extLst>
          </p:cNvPr>
          <p:cNvSpPr/>
          <p:nvPr/>
        </p:nvSpPr>
        <p:spPr>
          <a:xfrm>
            <a:off x="3886200" y="1066800"/>
            <a:ext cx="7848600" cy="4308872"/>
          </a:xfrm>
          <a:prstGeom prst="rect">
            <a:avLst/>
          </a:prstGeom>
          <a:solidFill>
            <a:schemeClr val="bg1"/>
          </a:solidFill>
          <a:ln w="12700">
            <a:solidFill/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 anchor="b">
            <a:spAutoFit/>
          </a:bodyPr>
          <a:lstStyle/>
          <a:p>
            <a:pPr defTabSz="410751">
              <a:defRPr sz="1800"/>
            </a:pPr>
            <a:r>
              <a:rPr sz="2800"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 </a:t>
            </a:r>
            <a:r>
              <a:rPr dirty="0">
                <a:solidFill>
                  <a:srgbClr val="931A68"/>
                </a:solidFill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public</a:t>
            </a:r>
            <a:r>
              <a:rPr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</a:t>
            </a:r>
            <a:r>
              <a:rPr dirty="0">
                <a:solidFill>
                  <a:srgbClr val="931A68"/>
                </a:solidFill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static</a:t>
            </a:r>
            <a:r>
              <a:rPr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</a:t>
            </a:r>
            <a:r>
              <a:rPr dirty="0" err="1">
                <a:solidFill>
                  <a:srgbClr val="931A68"/>
                </a:solidFill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int</a:t>
            </a:r>
            <a:r>
              <a:rPr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largest (</a:t>
            </a:r>
            <a:r>
              <a:rPr dirty="0" err="1">
                <a:solidFill>
                  <a:srgbClr val="931A68"/>
                </a:solidFill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int</a:t>
            </a:r>
            <a:r>
              <a:rPr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[] list)</a:t>
            </a:r>
          </a:p>
          <a:p>
            <a:pPr defTabSz="410751">
              <a:defRPr sz="1800"/>
            </a:pPr>
            <a:r>
              <a:rPr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 {</a:t>
            </a:r>
          </a:p>
          <a:p>
            <a:pPr defTabSz="410751">
              <a:defRPr sz="1800"/>
            </a:pPr>
            <a:r>
              <a:rPr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 </a:t>
            </a:r>
            <a:r>
              <a:rPr lang="en-IE"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 </a:t>
            </a:r>
            <a:r>
              <a:rPr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 </a:t>
            </a:r>
            <a:r>
              <a:rPr dirty="0" err="1">
                <a:solidFill>
                  <a:srgbClr val="931A68"/>
                </a:solidFill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int</a:t>
            </a:r>
            <a:r>
              <a:rPr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index</a:t>
            </a:r>
            <a:r>
              <a:rPr lang="en-IE"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;</a:t>
            </a:r>
          </a:p>
          <a:p>
            <a:pPr defTabSz="410751">
              <a:defRPr sz="1800"/>
            </a:pPr>
            <a:r>
              <a:rPr lang="en-IE"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     </a:t>
            </a:r>
            <a:r>
              <a:rPr lang="en-IE" dirty="0" err="1">
                <a:solidFill>
                  <a:srgbClr val="931A68"/>
                </a:solidFill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int</a:t>
            </a:r>
            <a:r>
              <a:rPr lang="en-IE"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</a:t>
            </a:r>
            <a:r>
              <a:rPr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max = </a:t>
            </a:r>
            <a:r>
              <a:rPr dirty="0" err="1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Integer.</a:t>
            </a:r>
            <a:r>
              <a:rPr dirty="0" err="1">
                <a:solidFill>
                  <a:srgbClr val="0326CC"/>
                </a:solidFill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MAX_VALUE</a:t>
            </a:r>
            <a:r>
              <a:rPr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;</a:t>
            </a:r>
          </a:p>
          <a:p>
            <a:pPr defTabSz="410751">
              <a:defRPr sz="1800"/>
            </a:pPr>
            <a:endParaRPr dirty="0">
              <a:latin typeface="Courier New" panose="02070309020205020404" pitchFamily="49" charset="0"/>
              <a:ea typeface="Monaco"/>
              <a:cs typeface="Courier New" panose="02070309020205020404" pitchFamily="49" charset="0"/>
              <a:sym typeface="Monaco"/>
            </a:endParaRPr>
          </a:p>
          <a:p>
            <a:pPr defTabSz="410751">
              <a:defRPr sz="1800"/>
            </a:pPr>
            <a:r>
              <a:rPr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 </a:t>
            </a:r>
            <a:r>
              <a:rPr lang="en-IE"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 </a:t>
            </a:r>
            <a:r>
              <a:rPr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 </a:t>
            </a:r>
            <a:r>
              <a:rPr dirty="0">
                <a:solidFill>
                  <a:srgbClr val="931A68"/>
                </a:solidFill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for</a:t>
            </a:r>
            <a:r>
              <a:rPr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(index = 0; index &lt; </a:t>
            </a:r>
            <a:r>
              <a:rPr dirty="0" err="1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list.</a:t>
            </a:r>
            <a:r>
              <a:rPr dirty="0" err="1">
                <a:solidFill>
                  <a:srgbClr val="0326CC"/>
                </a:solidFill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length</a:t>
            </a:r>
            <a:r>
              <a:rPr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- 1; index++)</a:t>
            </a:r>
          </a:p>
          <a:p>
            <a:pPr defTabSz="410751">
              <a:defRPr sz="1800"/>
            </a:pPr>
            <a:r>
              <a:rPr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   </a:t>
            </a:r>
            <a:r>
              <a:rPr lang="en-IE"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 </a:t>
            </a:r>
            <a:r>
              <a:rPr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{</a:t>
            </a:r>
          </a:p>
          <a:p>
            <a:pPr defTabSz="410751">
              <a:defRPr sz="1800"/>
            </a:pPr>
            <a:r>
              <a:rPr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     </a:t>
            </a:r>
            <a:r>
              <a:rPr lang="en-IE"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   </a:t>
            </a:r>
            <a:r>
              <a:rPr dirty="0">
                <a:solidFill>
                  <a:srgbClr val="931A68"/>
                </a:solidFill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if</a:t>
            </a:r>
            <a:r>
              <a:rPr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(list[index] &gt; max)</a:t>
            </a:r>
          </a:p>
          <a:p>
            <a:pPr defTabSz="410751">
              <a:defRPr sz="1800"/>
            </a:pPr>
            <a:r>
              <a:rPr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    </a:t>
            </a:r>
            <a:r>
              <a:rPr lang="en-IE"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   </a:t>
            </a:r>
            <a:r>
              <a:rPr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{</a:t>
            </a:r>
          </a:p>
          <a:p>
            <a:pPr defTabSz="410751">
              <a:defRPr sz="1800"/>
            </a:pPr>
            <a:r>
              <a:rPr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      </a:t>
            </a:r>
            <a:r>
              <a:rPr lang="en-IE"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     </a:t>
            </a:r>
            <a:r>
              <a:rPr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max = list[index];</a:t>
            </a:r>
          </a:p>
          <a:p>
            <a:pPr defTabSz="410751">
              <a:defRPr sz="1800"/>
            </a:pPr>
            <a:r>
              <a:rPr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     </a:t>
            </a:r>
            <a:r>
              <a:rPr lang="en-IE"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   </a:t>
            </a:r>
            <a:r>
              <a:rPr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}</a:t>
            </a:r>
          </a:p>
          <a:p>
            <a:pPr defTabSz="410751">
              <a:defRPr sz="1800"/>
            </a:pPr>
            <a:r>
              <a:rPr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   </a:t>
            </a:r>
            <a:r>
              <a:rPr lang="en-IE"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  </a:t>
            </a:r>
            <a:r>
              <a:rPr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}</a:t>
            </a:r>
          </a:p>
          <a:p>
            <a:pPr defTabSz="410751">
              <a:defRPr sz="1800"/>
            </a:pPr>
            <a:r>
              <a:rPr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   </a:t>
            </a:r>
            <a:r>
              <a:rPr lang="en-IE"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 </a:t>
            </a:r>
          </a:p>
          <a:p>
            <a:pPr defTabSz="410751">
              <a:defRPr sz="1800"/>
            </a:pPr>
            <a:r>
              <a:rPr lang="en-IE" dirty="0">
                <a:solidFill>
                  <a:srgbClr val="931A68"/>
                </a:solidFill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     </a:t>
            </a:r>
            <a:r>
              <a:rPr dirty="0">
                <a:solidFill>
                  <a:srgbClr val="931A68"/>
                </a:solidFill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return</a:t>
            </a:r>
            <a:r>
              <a:rPr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max;</a:t>
            </a:r>
          </a:p>
          <a:p>
            <a:pPr defTabSz="410751">
              <a:defRPr sz="1800"/>
            </a:pPr>
            <a:r>
              <a:rPr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 }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889591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Shape 125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3000" dirty="0"/>
              <a:t>Writing the Test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6183060-E33B-45D3-94AB-AF32B8C85C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0" y="2693581"/>
            <a:ext cx="7590539" cy="3785652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 </a:t>
            </a:r>
            <a:r>
              <a:rPr lang="en-US" altLang="en-US" sz="16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org.junit.jupiter.api.</a:t>
            </a:r>
            <a:r>
              <a:rPr lang="en-US" altLang="en-US" sz="1600" dirty="0" err="1">
                <a:solidFill>
                  <a:srgbClr val="8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Test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 static </a:t>
            </a:r>
            <a:r>
              <a:rPr lang="en-US" altLang="en-US" sz="16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org.junit.jupiter.api.Assertions.</a:t>
            </a:r>
            <a:r>
              <a:rPr lang="en-US" altLang="en-US" sz="1600" i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assertEquals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en-US" altLang="en-US" sz="16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TestLargest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600" dirty="0">
                <a:solidFill>
                  <a:srgbClr val="8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@Test</a:t>
            </a:r>
            <a:br>
              <a:rPr lang="en-US" altLang="en-US" sz="1600" dirty="0">
                <a:solidFill>
                  <a:srgbClr val="8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8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6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void </a:t>
            </a:r>
            <a:r>
              <a:rPr lang="en-US" altLang="en-US" sz="16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testOrder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en-US" sz="1600" b="1" dirty="0" err="1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[] </a:t>
            </a:r>
            <a:r>
              <a:rPr lang="en-US" altLang="en-US" sz="16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en-US" sz="16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 </a:t>
            </a:r>
            <a:r>
              <a:rPr lang="en-US" altLang="en-US" sz="1600" b="1" dirty="0" err="1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altLang="en-US" sz="16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en-US" sz="16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altLang="en-US" sz="16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= </a:t>
            </a:r>
            <a:r>
              <a:rPr lang="en-US" altLang="en-US" sz="16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en-US" sz="16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altLang="en-US" sz="16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= </a:t>
            </a:r>
            <a:r>
              <a:rPr lang="en-US" altLang="en-US" sz="16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9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en-US" sz="16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altLang="en-US" sz="16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= </a:t>
            </a:r>
            <a:r>
              <a:rPr lang="en-US" altLang="en-US" sz="16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en-US" sz="1600" i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assertEquals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16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9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en-US" sz="16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Largest.</a:t>
            </a:r>
            <a:r>
              <a:rPr lang="en-US" altLang="en-US" sz="1600" i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largest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16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));</a:t>
            </a: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altLang="en-US" sz="6600" dirty="0">
              <a:latin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1EA5EB4-E730-4A2F-AF81-10F52E4D85E3}"/>
              </a:ext>
            </a:extLst>
          </p:cNvPr>
          <p:cNvSpPr/>
          <p:nvPr/>
        </p:nvSpPr>
        <p:spPr>
          <a:xfrm>
            <a:off x="399241" y="2283756"/>
            <a:ext cx="2951630" cy="83099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0" algn="ctr">
              <a:defRPr sz="1800"/>
            </a:pPr>
            <a:r>
              <a:rPr lang="en-IE" sz="2400" dirty="0"/>
              <a:t>This is a </a:t>
            </a:r>
            <a:r>
              <a:rPr lang="en-IE" sz="2400" b="1" dirty="0" err="1"/>
              <a:t>TestCase</a:t>
            </a:r>
            <a:r>
              <a:rPr lang="en-IE" sz="2400" dirty="0"/>
              <a:t> called </a:t>
            </a:r>
            <a:r>
              <a:rPr lang="en-IE" sz="2400" b="1" dirty="0" err="1"/>
              <a:t>TestLargest</a:t>
            </a:r>
            <a:endParaRPr lang="en-IE" sz="2400" b="1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C84CEFC-653B-47C8-9990-7498384408F3}"/>
              </a:ext>
            </a:extLst>
          </p:cNvPr>
          <p:cNvSpPr/>
          <p:nvPr/>
        </p:nvSpPr>
        <p:spPr>
          <a:xfrm>
            <a:off x="1638299" y="3728779"/>
            <a:ext cx="1905000" cy="2308324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0" algn="ctr">
              <a:defRPr sz="1800"/>
            </a:pPr>
            <a:r>
              <a:rPr lang="en-IE" sz="2400" dirty="0"/>
              <a:t>It has one Unit Test - to verify the behaviour of the largest method.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FD129AA-68D9-4DF8-ABBD-13B761D85AA2}"/>
              </a:ext>
            </a:extLst>
          </p:cNvPr>
          <p:cNvCxnSpPr>
            <a:cxnSpLocks/>
          </p:cNvCxnSpPr>
          <p:nvPr/>
        </p:nvCxnSpPr>
        <p:spPr>
          <a:xfrm>
            <a:off x="3352800" y="2673562"/>
            <a:ext cx="838200" cy="907838"/>
          </a:xfrm>
          <a:prstGeom prst="straightConnector1">
            <a:avLst/>
          </a:prstGeom>
          <a:ln w="3810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Left Brace 14">
            <a:extLst>
              <a:ext uri="{FF2B5EF4-FFF2-40B4-BE49-F238E27FC236}">
                <a16:creationId xmlns:a16="http://schemas.microsoft.com/office/drawing/2014/main" id="{F77FB662-0AB1-4DA1-97DC-ABE08C0C229B}"/>
              </a:ext>
            </a:extLst>
          </p:cNvPr>
          <p:cNvSpPr/>
          <p:nvPr/>
        </p:nvSpPr>
        <p:spPr>
          <a:xfrm>
            <a:off x="3543299" y="4114799"/>
            <a:ext cx="952501" cy="1777741"/>
          </a:xfrm>
          <a:prstGeom prst="leftBrace">
            <a:avLst>
              <a:gd name="adj1" fmla="val 8333"/>
              <a:gd name="adj2" fmla="val 54557"/>
            </a:avLst>
          </a:prstGeom>
          <a:ln w="3810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86391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9" grpId="0" animBg="1"/>
      <p:bldP spid="1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Shape 13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3000" dirty="0"/>
              <a:t>Running the Test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34CD231-4DFA-4937-8E40-D5B65CA489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6900" y="1635822"/>
            <a:ext cx="8534400" cy="2250269"/>
          </a:xfrm>
          <a:prstGeom prst="rect">
            <a:avLst/>
          </a:prstGeom>
          <a:ln>
            <a:solidFill>
              <a:schemeClr val="tx2"/>
            </a:solidFill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FC8DC78-4D34-484E-B33C-7A72EFC0C954}"/>
              </a:ext>
            </a:extLst>
          </p:cNvPr>
          <p:cNvSpPr/>
          <p:nvPr/>
        </p:nvSpPr>
        <p:spPr>
          <a:xfrm>
            <a:off x="7429500" y="4097044"/>
            <a:ext cx="2971800" cy="181588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0" algn="ctr">
              <a:defRPr sz="1800"/>
            </a:pPr>
            <a:r>
              <a:rPr lang="en-IE" sz="2800" dirty="0"/>
              <a:t>Why did it return such a huge number instead of our 9?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AB268133-F270-49B7-81D4-4EB258829345}"/>
              </a:ext>
            </a:extLst>
          </p:cNvPr>
          <p:cNvCxnSpPr>
            <a:cxnSpLocks/>
            <a:stCxn id="3" idx="0"/>
          </p:cNvCxnSpPr>
          <p:nvPr/>
        </p:nvCxnSpPr>
        <p:spPr>
          <a:xfrm flipH="1" flipV="1">
            <a:off x="7543800" y="3343868"/>
            <a:ext cx="1371600" cy="75317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3E8202AE-A33D-48D9-96A9-6FC16FACB469}"/>
              </a:ext>
            </a:extLst>
          </p:cNvPr>
          <p:cNvSpPr/>
          <p:nvPr/>
        </p:nvSpPr>
        <p:spPr>
          <a:xfrm>
            <a:off x="3251947" y="6019801"/>
            <a:ext cx="7162800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0">
              <a:defRPr sz="1800"/>
            </a:pPr>
            <a:r>
              <a:rPr lang="en-IE" sz="2400" dirty="0"/>
              <a:t>Where could that very large number have come from?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07234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Shape 135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3000" dirty="0"/>
              <a:t>Bug</a:t>
            </a:r>
          </a:p>
        </p:txBody>
      </p:sp>
      <p:sp>
        <p:nvSpPr>
          <p:cNvPr id="136" name="Shape 136"/>
          <p:cNvSpPr>
            <a:spLocks noGrp="1"/>
          </p:cNvSpPr>
          <p:nvPr>
            <p:ph idx="1"/>
          </p:nvPr>
        </p:nvSpPr>
        <p:spPr>
          <a:xfrm>
            <a:off x="838200" y="2078001"/>
            <a:ext cx="2362200" cy="16764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0" indent="0" algn="ctr">
              <a:buNone/>
              <a:defRPr sz="1800"/>
            </a:pPr>
            <a:r>
              <a:rPr lang="en-IE" sz="2400" dirty="0"/>
              <a:t>We should </a:t>
            </a:r>
            <a:r>
              <a:rPr sz="2400" dirty="0"/>
              <a:t>initialize </a:t>
            </a:r>
            <a:r>
              <a:rPr sz="2400" b="1" dirty="0"/>
              <a:t>max </a:t>
            </a:r>
            <a:r>
              <a:rPr sz="2400" dirty="0"/>
              <a:t>to zero, not MAX_VALUE.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5DBF81F-8B51-448F-9C8D-54028C5B47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27863" y="1023614"/>
            <a:ext cx="7220246" cy="4770537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Largest {</a:t>
            </a: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6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static </a:t>
            </a:r>
            <a:r>
              <a:rPr lang="en-US" altLang="en-US" sz="1600" b="1" dirty="0" err="1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en-US" sz="16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largest (</a:t>
            </a:r>
            <a:r>
              <a:rPr lang="en-US" altLang="en-US" sz="1600" b="1" dirty="0" err="1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[] list)</a:t>
            </a: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{</a:t>
            </a: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en-US" sz="1600" b="1" dirty="0" err="1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en-US" sz="16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index;</a:t>
            </a: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en-US" sz="1600" i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en-US" altLang="en-US" sz="1600" i="1" dirty="0" err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en-US" sz="1600" i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max = </a:t>
            </a:r>
            <a:r>
              <a:rPr lang="en-US" altLang="en-US" sz="1600" i="1" dirty="0" err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Integer.MAX_VALUE</a:t>
            </a:r>
            <a:r>
              <a:rPr lang="en-US" altLang="en-US" sz="1600" i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lang="en-US" altLang="en-US" sz="1600" i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i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en-US" sz="1600" b="1" dirty="0" err="1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en-US" sz="16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max = </a:t>
            </a:r>
            <a:r>
              <a:rPr lang="en-US" altLang="en-US" sz="16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en-US" sz="16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(index = </a:t>
            </a:r>
            <a:r>
              <a:rPr lang="en-US" altLang="en-US" sz="16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index &lt; </a:t>
            </a:r>
            <a:r>
              <a:rPr lang="en-US" altLang="en-US" sz="16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list.</a:t>
            </a:r>
            <a:r>
              <a:rPr lang="en-US" altLang="en-US" sz="1600" b="1" dirty="0" err="1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length</a:t>
            </a:r>
            <a:r>
              <a:rPr lang="en-US" altLang="en-US" sz="1600" b="1" dirty="0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 </a:t>
            </a:r>
            <a:r>
              <a:rPr lang="en-US" altLang="en-US" sz="16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index++)</a:t>
            </a: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{</a:t>
            </a: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altLang="en-US" sz="16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 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(list[index] &gt; max)</a:t>
            </a: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{</a:t>
            </a: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max = list[index];</a:t>
            </a: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}</a:t>
            </a: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en-US" sz="16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 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max;</a:t>
            </a: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altLang="en-US" sz="6600" dirty="0">
              <a:latin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6E32598-D225-41D8-877D-72BF840268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5353829"/>
            <a:ext cx="7239000" cy="125750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Arrow: Right 3">
            <a:extLst>
              <a:ext uri="{FF2B5EF4-FFF2-40B4-BE49-F238E27FC236}">
                <a16:creationId xmlns:a16="http://schemas.microsoft.com/office/drawing/2014/main" id="{9A1477AB-5DFE-44C4-824B-B680CD211FF6}"/>
              </a:ext>
            </a:extLst>
          </p:cNvPr>
          <p:cNvSpPr/>
          <p:nvPr/>
        </p:nvSpPr>
        <p:spPr>
          <a:xfrm>
            <a:off x="3200400" y="2459001"/>
            <a:ext cx="838200" cy="457200"/>
          </a:xfrm>
          <a:prstGeom prst="right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10437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6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6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6" grpId="0" uiExpand="1" build="p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Shape 14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3000" dirty="0"/>
              <a:t>Further Tests</a:t>
            </a:r>
          </a:p>
        </p:txBody>
      </p:sp>
      <p:sp>
        <p:nvSpPr>
          <p:cNvPr id="142" name="Shape 14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pPr>
              <a:spcBef>
                <a:spcPts val="2250"/>
              </a:spcBef>
              <a:defRPr sz="1800"/>
            </a:pPr>
            <a:r>
              <a:rPr sz="2400" dirty="0"/>
              <a:t>What happens when the largest number appears in different places in the list - first or last, and somewhere in the middle?</a:t>
            </a:r>
          </a:p>
          <a:p>
            <a:pPr lvl="1">
              <a:spcBef>
                <a:spcPts val="0"/>
              </a:spcBef>
              <a:defRPr sz="1800"/>
            </a:pPr>
            <a:r>
              <a:rPr sz="2400" dirty="0"/>
              <a:t>Bugs most often show up at the “edges”</a:t>
            </a:r>
            <a:r>
              <a:rPr lang="en-IE" sz="2400" dirty="0"/>
              <a:t>.</a:t>
            </a:r>
            <a:endParaRPr sz="2400" dirty="0"/>
          </a:p>
          <a:p>
            <a:pPr lvl="1">
              <a:spcBef>
                <a:spcPts val="0"/>
              </a:spcBef>
              <a:defRPr sz="1800"/>
            </a:pPr>
            <a:r>
              <a:rPr sz="2400" dirty="0"/>
              <a:t>In this case, edges occur when the largest number is at the start or end of the array that we pass in</a:t>
            </a:r>
            <a:r>
              <a:rPr lang="en-IE" sz="2400" dirty="0"/>
              <a:t>.</a:t>
            </a:r>
            <a:endParaRPr sz="2400" dirty="0"/>
          </a:p>
          <a:p>
            <a:pPr>
              <a:spcBef>
                <a:spcPts val="2250"/>
              </a:spcBef>
              <a:defRPr sz="1800"/>
            </a:pPr>
            <a:r>
              <a:rPr sz="2400" dirty="0"/>
              <a:t>Aggregate into a single unit test:</a:t>
            </a:r>
          </a:p>
        </p:txBody>
      </p:sp>
      <p:sp>
        <p:nvSpPr>
          <p:cNvPr id="144" name="Shape 144"/>
          <p:cNvSpPr/>
          <p:nvPr/>
        </p:nvSpPr>
        <p:spPr>
          <a:xfrm>
            <a:off x="1371600" y="4267200"/>
            <a:ext cx="10058400" cy="215443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 anchor="b">
            <a:spAutoFit/>
          </a:bodyPr>
          <a:lstStyle/>
          <a:p>
            <a:pPr defTabSz="410751">
              <a:defRPr sz="1800"/>
            </a:pPr>
            <a:r>
              <a:rPr lang="en-IE" sz="2000"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 @Test</a:t>
            </a:r>
          </a:p>
          <a:p>
            <a:pPr defTabSz="410751">
              <a:defRPr sz="1800"/>
            </a:pPr>
            <a:r>
              <a:rPr sz="2000"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 </a:t>
            </a:r>
            <a:r>
              <a:rPr sz="2000" dirty="0">
                <a:solidFill>
                  <a:srgbClr val="931A68"/>
                </a:solidFill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public</a:t>
            </a:r>
            <a:r>
              <a:rPr sz="2000"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</a:t>
            </a:r>
            <a:r>
              <a:rPr sz="2000" dirty="0">
                <a:solidFill>
                  <a:srgbClr val="931A68"/>
                </a:solidFill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void</a:t>
            </a:r>
            <a:r>
              <a:rPr sz="2000"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</a:t>
            </a:r>
            <a:r>
              <a:rPr sz="2000" dirty="0" err="1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testOrder</a:t>
            </a:r>
            <a:r>
              <a:rPr sz="2000"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()</a:t>
            </a:r>
          </a:p>
          <a:p>
            <a:pPr defTabSz="410751">
              <a:defRPr sz="1800"/>
            </a:pPr>
            <a:r>
              <a:rPr sz="2000"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 {</a:t>
            </a:r>
          </a:p>
          <a:p>
            <a:pPr defTabSz="410751">
              <a:defRPr sz="1800"/>
            </a:pPr>
            <a:r>
              <a:rPr sz="2000"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   </a:t>
            </a:r>
            <a:r>
              <a:rPr sz="2000" dirty="0" err="1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assertEquals</a:t>
            </a:r>
            <a:r>
              <a:rPr sz="2000"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(9, </a:t>
            </a:r>
            <a:r>
              <a:rPr sz="2000" dirty="0" err="1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Largest.largest</a:t>
            </a:r>
            <a:r>
              <a:rPr sz="2000"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(</a:t>
            </a:r>
            <a:r>
              <a:rPr sz="2000" dirty="0">
                <a:solidFill>
                  <a:srgbClr val="931A68"/>
                </a:solidFill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new</a:t>
            </a:r>
            <a:r>
              <a:rPr sz="2000"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</a:t>
            </a:r>
            <a:r>
              <a:rPr sz="2000" dirty="0" err="1">
                <a:solidFill>
                  <a:srgbClr val="931A68"/>
                </a:solidFill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int</a:t>
            </a:r>
            <a:r>
              <a:rPr sz="2000"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[] { 9, 8, 7 }));</a:t>
            </a:r>
          </a:p>
          <a:p>
            <a:pPr defTabSz="410751">
              <a:defRPr sz="1800"/>
            </a:pPr>
            <a:r>
              <a:rPr sz="2000"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   </a:t>
            </a:r>
            <a:r>
              <a:rPr sz="2000" dirty="0" err="1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assertEquals</a:t>
            </a:r>
            <a:r>
              <a:rPr sz="2000"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(9, </a:t>
            </a:r>
            <a:r>
              <a:rPr sz="2000" dirty="0" err="1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Largest.largest</a:t>
            </a:r>
            <a:r>
              <a:rPr sz="2000"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(</a:t>
            </a:r>
            <a:r>
              <a:rPr sz="2000" dirty="0">
                <a:solidFill>
                  <a:srgbClr val="931A68"/>
                </a:solidFill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new</a:t>
            </a:r>
            <a:r>
              <a:rPr sz="2000"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</a:t>
            </a:r>
            <a:r>
              <a:rPr sz="2000" dirty="0" err="1">
                <a:solidFill>
                  <a:srgbClr val="931A68"/>
                </a:solidFill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int</a:t>
            </a:r>
            <a:r>
              <a:rPr sz="2000"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[] { 8, 9, 7 }));</a:t>
            </a:r>
          </a:p>
          <a:p>
            <a:pPr defTabSz="410751">
              <a:defRPr sz="1800"/>
            </a:pPr>
            <a:r>
              <a:rPr sz="2000"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   </a:t>
            </a:r>
            <a:r>
              <a:rPr sz="2000" dirty="0" err="1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assertEquals</a:t>
            </a:r>
            <a:r>
              <a:rPr sz="2000"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(9, </a:t>
            </a:r>
            <a:r>
              <a:rPr sz="2000" dirty="0" err="1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Largest.largest</a:t>
            </a:r>
            <a:r>
              <a:rPr sz="2000"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(</a:t>
            </a:r>
            <a:r>
              <a:rPr sz="2000" dirty="0">
                <a:solidFill>
                  <a:srgbClr val="931A68"/>
                </a:solidFill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new</a:t>
            </a:r>
            <a:r>
              <a:rPr sz="2000"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</a:t>
            </a:r>
            <a:r>
              <a:rPr sz="2000" dirty="0" err="1">
                <a:solidFill>
                  <a:srgbClr val="931A68"/>
                </a:solidFill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int</a:t>
            </a:r>
            <a:r>
              <a:rPr sz="2000"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[] { 7, 8, 9 }));</a:t>
            </a:r>
          </a:p>
          <a:p>
            <a:pPr defTabSz="410751">
              <a:defRPr sz="1800"/>
            </a:pPr>
            <a:r>
              <a:rPr sz="2000"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 }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548848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8EB2BEE-0728-4ACD-B2DC-50F5FF53C8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2200" y="304800"/>
            <a:ext cx="7380742" cy="605418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97DE774-8F15-45C8-A9DC-0190C7095785}"/>
              </a:ext>
            </a:extLst>
          </p:cNvPr>
          <p:cNvSpPr/>
          <p:nvPr/>
        </p:nvSpPr>
        <p:spPr>
          <a:xfrm>
            <a:off x="9296400" y="5181600"/>
            <a:ext cx="2362200" cy="137160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E" sz="2800" dirty="0"/>
              <a:t>Refactored </a:t>
            </a:r>
            <a:r>
              <a:rPr lang="en-IE" sz="2800" dirty="0" err="1"/>
              <a:t>testOrder</a:t>
            </a:r>
            <a:r>
              <a:rPr lang="en-IE" sz="2800" dirty="0"/>
              <a:t>() method</a:t>
            </a:r>
          </a:p>
        </p:txBody>
      </p:sp>
    </p:spTree>
    <p:extLst>
      <p:ext uri="{BB962C8B-B14F-4D97-AF65-F5344CB8AC3E}">
        <p14:creationId xmlns:p14="http://schemas.microsoft.com/office/powerpoint/2010/main" val="29199979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FD188AA-5F1E-4654-A52A-EF88CDE841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1" y="152401"/>
            <a:ext cx="8065381" cy="555195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6BE28A1-B1FA-472F-B246-978FDDF201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4418147"/>
            <a:ext cx="8772723" cy="222788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34BD3D9-B101-4F71-AB71-71E8628F1EA1}"/>
              </a:ext>
            </a:extLst>
          </p:cNvPr>
          <p:cNvSpPr/>
          <p:nvPr/>
        </p:nvSpPr>
        <p:spPr>
          <a:xfrm>
            <a:off x="9806651" y="5018552"/>
            <a:ext cx="2362200" cy="137160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E" sz="2800" dirty="0" err="1"/>
              <a:t>testOrder</a:t>
            </a:r>
            <a:r>
              <a:rPr lang="en-IE" sz="2800" dirty="0"/>
              <a:t>() failed</a:t>
            </a:r>
          </a:p>
        </p:txBody>
      </p:sp>
    </p:spTree>
    <p:extLst>
      <p:ext uri="{BB962C8B-B14F-4D97-AF65-F5344CB8AC3E}">
        <p14:creationId xmlns:p14="http://schemas.microsoft.com/office/powerpoint/2010/main" val="954565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3D07012-7039-43F0-94D4-013DBA9C7A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446" y="920621"/>
            <a:ext cx="7467109" cy="5016758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Largest {</a:t>
            </a: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6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static </a:t>
            </a:r>
            <a:r>
              <a:rPr lang="en-US" altLang="en-US" sz="1600" b="1" dirty="0" err="1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en-US" sz="16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largest (</a:t>
            </a:r>
            <a:r>
              <a:rPr lang="en-US" altLang="en-US" sz="1600" b="1" dirty="0" err="1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[] list)</a:t>
            </a: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{</a:t>
            </a: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en-US" sz="1600" b="1" dirty="0" err="1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en-US" sz="16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index;</a:t>
            </a: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en-US" sz="1600" i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en-US" altLang="en-US" sz="1600" i="1" dirty="0" err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en-US" sz="1600" i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max = </a:t>
            </a:r>
            <a:r>
              <a:rPr lang="en-US" altLang="en-US" sz="1600" i="1" dirty="0" err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Integer.MAX_VALUE</a:t>
            </a:r>
            <a:r>
              <a:rPr lang="en-US" altLang="en-US" sz="1600" i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lang="en-US" altLang="en-US" sz="1600" i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i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en-US" sz="1600" b="1" dirty="0" err="1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en-US" sz="16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max = </a:t>
            </a:r>
            <a:r>
              <a:rPr lang="en-US" altLang="en-US" sz="16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en-US" sz="1600" b="1" i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//for (index = 0; index &lt; </a:t>
            </a:r>
            <a:r>
              <a:rPr lang="en-US" altLang="en-US" sz="1600" b="1" i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list.length</a:t>
            </a:r>
            <a:r>
              <a:rPr lang="en-US" altLang="en-US" sz="1600" b="1" i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- 1; index++)</a:t>
            </a:r>
            <a:br>
              <a:rPr lang="en-US" altLang="en-US" sz="1600" i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i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en-US" sz="16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(index = </a:t>
            </a:r>
            <a:r>
              <a:rPr lang="en-US" altLang="en-US" sz="16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index &lt; </a:t>
            </a:r>
            <a:r>
              <a:rPr lang="en-US" altLang="en-US" sz="16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list.</a:t>
            </a:r>
            <a:r>
              <a:rPr lang="en-US" altLang="en-US" sz="1600" b="1" dirty="0" err="1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length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index++)</a:t>
            </a: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{</a:t>
            </a: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altLang="en-US" sz="16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 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(list[index] &gt; max)</a:t>
            </a: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{</a:t>
            </a: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max = list[index];</a:t>
            </a: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}</a:t>
            </a: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en-US" sz="16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 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max;</a:t>
            </a: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altLang="en-US" sz="6600" dirty="0">
              <a:latin typeface="Arial" panose="020B060402020202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E858764-EFF9-43DE-93EA-30AE61E6F3C1}"/>
              </a:ext>
            </a:extLst>
          </p:cNvPr>
          <p:cNvSpPr/>
          <p:nvPr/>
        </p:nvSpPr>
        <p:spPr>
          <a:xfrm>
            <a:off x="8153400" y="5029200"/>
            <a:ext cx="2362200" cy="137160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E" sz="2800" dirty="0"/>
              <a:t>Code Fix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483414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Shape 15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3000"/>
              <a:t>Further Boundary Conditions</a:t>
            </a:r>
          </a:p>
        </p:txBody>
      </p:sp>
      <p:sp>
        <p:nvSpPr>
          <p:cNvPr id="154" name="Shape 154"/>
          <p:cNvSpPr/>
          <p:nvPr/>
        </p:nvSpPr>
        <p:spPr>
          <a:xfrm>
            <a:off x="759106" y="1709678"/>
            <a:ext cx="9372600" cy="2877711"/>
          </a:xfrm>
          <a:prstGeom prst="rect">
            <a:avLst/>
          </a:prstGeom>
          <a:ln w="12700">
            <a:solidFill/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 anchor="b">
            <a:spAutoFit/>
          </a:bodyPr>
          <a:lstStyle/>
          <a:p>
            <a:pPr defTabSz="410751">
              <a:defRPr sz="1800"/>
            </a:pPr>
            <a:r>
              <a:rPr lang="en-IE" sz="17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 @Test</a:t>
            </a:r>
            <a:r>
              <a:rPr sz="17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 </a:t>
            </a:r>
            <a:endParaRPr lang="en-IE" sz="1700" dirty="0">
              <a:solidFill>
                <a:schemeClr val="accent6">
                  <a:lumMod val="75000"/>
                </a:schemeClr>
              </a:solidFill>
              <a:latin typeface="Courier New" panose="02070309020205020404" pitchFamily="49" charset="0"/>
              <a:ea typeface="Monaco"/>
              <a:cs typeface="Courier New" panose="02070309020205020404" pitchFamily="49" charset="0"/>
              <a:sym typeface="Monaco"/>
            </a:endParaRPr>
          </a:p>
          <a:p>
            <a:pPr defTabSz="410751">
              <a:defRPr sz="1800"/>
            </a:pPr>
            <a:r>
              <a:rPr lang="en-IE" sz="1700" dirty="0">
                <a:solidFill>
                  <a:srgbClr val="931A68"/>
                </a:solidFill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 </a:t>
            </a:r>
            <a:r>
              <a:rPr sz="1700" dirty="0">
                <a:solidFill>
                  <a:srgbClr val="931A68"/>
                </a:solidFill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public</a:t>
            </a:r>
            <a:r>
              <a:rPr sz="1700"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</a:t>
            </a:r>
            <a:r>
              <a:rPr sz="1700" dirty="0">
                <a:solidFill>
                  <a:srgbClr val="931A68"/>
                </a:solidFill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void</a:t>
            </a:r>
            <a:r>
              <a:rPr sz="1700"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</a:t>
            </a:r>
            <a:r>
              <a:rPr sz="1700" dirty="0" err="1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testDups</a:t>
            </a:r>
            <a:r>
              <a:rPr sz="1700"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()</a:t>
            </a:r>
          </a:p>
          <a:p>
            <a:pPr defTabSz="410751">
              <a:defRPr sz="1800"/>
            </a:pPr>
            <a:r>
              <a:rPr sz="1700"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 {</a:t>
            </a:r>
          </a:p>
          <a:p>
            <a:pPr defTabSz="410751">
              <a:defRPr sz="1800"/>
            </a:pPr>
            <a:r>
              <a:rPr sz="1700"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   </a:t>
            </a:r>
            <a:r>
              <a:rPr lang="en-GB" sz="1700"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 </a:t>
            </a:r>
            <a:r>
              <a:rPr sz="1700" dirty="0" err="1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assertEquals</a:t>
            </a:r>
            <a:r>
              <a:rPr sz="1700"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(9, </a:t>
            </a:r>
            <a:r>
              <a:rPr sz="1700" dirty="0" err="1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Largest.largest</a:t>
            </a:r>
            <a:r>
              <a:rPr sz="1700"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(</a:t>
            </a:r>
            <a:r>
              <a:rPr sz="1700" dirty="0">
                <a:solidFill>
                  <a:srgbClr val="931A68"/>
                </a:solidFill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new</a:t>
            </a:r>
            <a:r>
              <a:rPr sz="1700"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</a:t>
            </a:r>
            <a:r>
              <a:rPr sz="1700" dirty="0">
                <a:solidFill>
                  <a:srgbClr val="931A68"/>
                </a:solidFill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int</a:t>
            </a:r>
            <a:r>
              <a:rPr sz="1700"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[] { 9, 7, 9, 8 }));</a:t>
            </a:r>
          </a:p>
          <a:p>
            <a:pPr defTabSz="410751">
              <a:defRPr sz="1800"/>
            </a:pPr>
            <a:r>
              <a:rPr sz="1700"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 }</a:t>
            </a:r>
          </a:p>
          <a:p>
            <a:pPr defTabSz="410751">
              <a:defRPr sz="1800"/>
            </a:pPr>
            <a:endParaRPr lang="en-IE" sz="1700" dirty="0">
              <a:latin typeface="Courier New" panose="02070309020205020404" pitchFamily="49" charset="0"/>
              <a:ea typeface="Monaco"/>
              <a:cs typeface="Courier New" panose="02070309020205020404" pitchFamily="49" charset="0"/>
              <a:sym typeface="Monaco"/>
            </a:endParaRPr>
          </a:p>
          <a:p>
            <a:pPr defTabSz="410751">
              <a:defRPr sz="1800"/>
            </a:pPr>
            <a:r>
              <a:rPr lang="en-IE" sz="17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 @Test</a:t>
            </a:r>
            <a:endParaRPr sz="1700" dirty="0">
              <a:solidFill>
                <a:schemeClr val="accent6">
                  <a:lumMod val="75000"/>
                </a:schemeClr>
              </a:solidFill>
              <a:latin typeface="Courier New" panose="02070309020205020404" pitchFamily="49" charset="0"/>
              <a:ea typeface="Monaco"/>
              <a:cs typeface="Courier New" panose="02070309020205020404" pitchFamily="49" charset="0"/>
              <a:sym typeface="Monaco"/>
            </a:endParaRPr>
          </a:p>
          <a:p>
            <a:pPr defTabSz="410751">
              <a:defRPr sz="1800"/>
            </a:pPr>
            <a:r>
              <a:rPr sz="1700"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 </a:t>
            </a:r>
            <a:r>
              <a:rPr sz="1700" dirty="0">
                <a:solidFill>
                  <a:srgbClr val="931A68"/>
                </a:solidFill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public</a:t>
            </a:r>
            <a:r>
              <a:rPr sz="1700"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</a:t>
            </a:r>
            <a:r>
              <a:rPr sz="1700" dirty="0">
                <a:solidFill>
                  <a:srgbClr val="931A68"/>
                </a:solidFill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void</a:t>
            </a:r>
            <a:r>
              <a:rPr sz="1700"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</a:t>
            </a:r>
            <a:r>
              <a:rPr sz="1700" dirty="0" err="1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testOne</a:t>
            </a:r>
            <a:r>
              <a:rPr sz="1700"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()</a:t>
            </a:r>
          </a:p>
          <a:p>
            <a:pPr defTabSz="410751">
              <a:defRPr sz="1800"/>
            </a:pPr>
            <a:r>
              <a:rPr sz="1700"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 {</a:t>
            </a:r>
          </a:p>
          <a:p>
            <a:pPr defTabSz="410751">
              <a:defRPr sz="1800"/>
            </a:pPr>
            <a:r>
              <a:rPr sz="1700"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  </a:t>
            </a:r>
            <a:r>
              <a:rPr lang="en-GB" sz="1700"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 </a:t>
            </a:r>
            <a:r>
              <a:rPr sz="1700"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</a:t>
            </a:r>
            <a:r>
              <a:rPr sz="1700" dirty="0" err="1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assertEquals</a:t>
            </a:r>
            <a:r>
              <a:rPr sz="1700"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(1, </a:t>
            </a:r>
            <a:r>
              <a:rPr sz="1700" dirty="0" err="1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Largest.largest</a:t>
            </a:r>
            <a:r>
              <a:rPr sz="1700"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(</a:t>
            </a:r>
            <a:r>
              <a:rPr sz="1700" dirty="0">
                <a:solidFill>
                  <a:srgbClr val="931A68"/>
                </a:solidFill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new</a:t>
            </a:r>
            <a:r>
              <a:rPr sz="1700"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</a:t>
            </a:r>
            <a:r>
              <a:rPr sz="1700" dirty="0">
                <a:solidFill>
                  <a:srgbClr val="931A68"/>
                </a:solidFill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int</a:t>
            </a:r>
            <a:r>
              <a:rPr sz="1700"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[] { 1 }));</a:t>
            </a:r>
          </a:p>
          <a:p>
            <a:pPr defTabSz="410751">
              <a:defRPr sz="1800"/>
            </a:pPr>
            <a:r>
              <a:rPr sz="1700"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 }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6D101B4-1701-4172-955E-750D7BA304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7000" y="4831734"/>
            <a:ext cx="7848600" cy="189058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77023BA-F4A0-4231-BE18-EF270ACE8DF0}"/>
              </a:ext>
            </a:extLst>
          </p:cNvPr>
          <p:cNvSpPr/>
          <p:nvPr/>
        </p:nvSpPr>
        <p:spPr>
          <a:xfrm>
            <a:off x="9448800" y="731838"/>
            <a:ext cx="2362200" cy="137160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E" sz="2800" dirty="0"/>
              <a:t>Exercising More Tests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63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Shape 157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3000"/>
              <a:t>Failure on testNegative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AFEE3C1-F454-4EE7-B7BB-B1FE68320F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4306" y="1754808"/>
            <a:ext cx="7467600" cy="155217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39AA24C-A2DE-446E-9840-6C69CDF133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3600" y="3581401"/>
            <a:ext cx="8229600" cy="248214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025136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hape 162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3000" dirty="0"/>
              <a:t>fix </a:t>
            </a:r>
            <a:r>
              <a:rPr sz="3000" dirty="0" err="1"/>
              <a:t>testNegative</a:t>
            </a:r>
            <a:endParaRPr sz="30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0228964-4C92-4D6F-937E-7AEE6806BB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566604"/>
            <a:ext cx="7826185" cy="5016758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Largest {</a:t>
            </a: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6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static int 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largest (</a:t>
            </a:r>
            <a:r>
              <a:rPr lang="en-US" altLang="en-US" sz="16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[] list)</a:t>
            </a: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{</a:t>
            </a: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en-US" sz="16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index;</a:t>
            </a: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en-US" sz="1600" i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//int max = </a:t>
            </a:r>
            <a:r>
              <a:rPr lang="en-US" altLang="en-US" sz="1600" i="1" dirty="0" err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Integer.MAX_VALUE</a:t>
            </a:r>
            <a:r>
              <a:rPr lang="en-US" altLang="en-US" sz="1600" i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lang="en-US" altLang="en-US" sz="1600" i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i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en-US" sz="16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max = </a:t>
            </a:r>
            <a:r>
              <a:rPr lang="en-US" altLang="en-US" sz="16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Integer.</a:t>
            </a:r>
            <a:r>
              <a:rPr lang="en-US" altLang="en-US" sz="1600" b="1" i="1" dirty="0" err="1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MIN_VALUE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en-US" sz="1600" i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//for (index = 0; index &lt; </a:t>
            </a:r>
            <a:r>
              <a:rPr lang="en-US" altLang="en-US" sz="1600" i="1" dirty="0" err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list.length</a:t>
            </a:r>
            <a:r>
              <a:rPr lang="en-US" altLang="en-US" sz="1600" i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- 1; index++)</a:t>
            </a:r>
            <a:br>
              <a:rPr lang="en-US" altLang="en-US" sz="1600" i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i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en-US" sz="16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(index = </a:t>
            </a:r>
            <a:r>
              <a:rPr lang="en-US" altLang="en-US" sz="16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index &lt; </a:t>
            </a:r>
            <a:r>
              <a:rPr lang="en-US" altLang="en-US" sz="16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list.</a:t>
            </a:r>
            <a:r>
              <a:rPr lang="en-US" altLang="en-US" sz="1600" b="1" dirty="0" err="1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length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index++)</a:t>
            </a: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{</a:t>
            </a: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altLang="en-US" sz="16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 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(list[index] &gt; max)</a:t>
            </a: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{</a:t>
            </a: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max = list[index];</a:t>
            </a: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}</a:t>
            </a: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en-US" sz="16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 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max;</a:t>
            </a: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altLang="en-US" sz="6600" dirty="0">
              <a:latin typeface="Arial" panose="020B0604020202020204" pitchFamily="34" charset="0"/>
            </a:endParaRPr>
          </a:p>
        </p:txBody>
      </p:sp>
      <p:sp>
        <p:nvSpPr>
          <p:cNvPr id="163" name="Shape 163"/>
          <p:cNvSpPr>
            <a:spLocks noGrp="1"/>
          </p:cNvSpPr>
          <p:nvPr>
            <p:ph idx="1"/>
          </p:nvPr>
        </p:nvSpPr>
        <p:spPr>
          <a:xfrm>
            <a:off x="6934200" y="4343400"/>
            <a:ext cx="4724401" cy="155761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 fontScale="92500" lnSpcReduction="10000"/>
          </a:bodyPr>
          <a:lstStyle/>
          <a:p>
            <a:pPr marL="0" indent="0">
              <a:buNone/>
              <a:defRPr sz="1800"/>
            </a:pPr>
            <a:r>
              <a:rPr sz="2800" dirty="0"/>
              <a:t>Choosing 0 to</a:t>
            </a:r>
            <a:r>
              <a:rPr lang="en-IE" sz="2800" dirty="0"/>
              <a:t> </a:t>
            </a:r>
            <a:r>
              <a:rPr sz="2800" dirty="0"/>
              <a:t>initialize max was a bad idea</a:t>
            </a:r>
            <a:r>
              <a:rPr lang="en-IE" sz="2800" dirty="0"/>
              <a:t>…should have been MIN VALUE, so as to be less than all negative numbers as well.</a:t>
            </a:r>
          </a:p>
          <a:p>
            <a:pPr marL="0" indent="0">
              <a:buNone/>
              <a:defRPr sz="1800"/>
            </a:pPr>
            <a:endParaRPr lang="en-IE" sz="2800" dirty="0"/>
          </a:p>
          <a:p>
            <a:pPr lvl="0">
              <a:defRPr sz="1800"/>
            </a:pPr>
            <a:endParaRPr sz="28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742392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" grpId="0" uiExpand="1" build="p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hape 162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pPr lvl="0">
              <a:defRPr sz="1800"/>
            </a:pPr>
            <a:r>
              <a:rPr lang="en-IE" sz="2800" dirty="0"/>
              <a:t>Is there a better approach for setting the max value?</a:t>
            </a:r>
            <a:endParaRPr sz="2800" dirty="0"/>
          </a:p>
        </p:txBody>
      </p:sp>
      <p:sp>
        <p:nvSpPr>
          <p:cNvPr id="163" name="Shape 163"/>
          <p:cNvSpPr>
            <a:spLocks noGrp="1"/>
          </p:cNvSpPr>
          <p:nvPr>
            <p:ph idx="1"/>
          </p:nvPr>
        </p:nvSpPr>
        <p:spPr>
          <a:xfrm>
            <a:off x="990600" y="2514601"/>
            <a:ext cx="3733800" cy="3763963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>
              <a:defRPr sz="1800"/>
            </a:pPr>
            <a:r>
              <a:rPr lang="en-IE" sz="2400" dirty="0"/>
              <a:t>Maybe instead of the </a:t>
            </a:r>
            <a:r>
              <a:rPr sz="2400" dirty="0"/>
              <a:t>MIN VALUE, </a:t>
            </a:r>
            <a:r>
              <a:rPr lang="en-IE" sz="2400" dirty="0"/>
              <a:t>we set max to be the first element in the list array.</a:t>
            </a:r>
          </a:p>
          <a:p>
            <a:pPr lvl="0">
              <a:defRPr sz="1800"/>
            </a:pPr>
            <a:endParaRPr lang="en-IE" sz="2400" dirty="0"/>
          </a:p>
          <a:p>
            <a:pPr lvl="0">
              <a:defRPr sz="1800"/>
            </a:pPr>
            <a:r>
              <a:rPr lang="en-IE" sz="2400" dirty="0"/>
              <a:t>Would that work?</a:t>
            </a:r>
            <a:endParaRPr sz="2400" dirty="0"/>
          </a:p>
        </p:txBody>
      </p:sp>
      <p:sp>
        <p:nvSpPr>
          <p:cNvPr id="164" name="Shape 164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vert="horz" lIns="64291" tIns="32146" rIns="64291" bIns="32146" rtlCol="0" anchor="ctr"/>
          <a:lstStyle/>
          <a:p>
            <a:pPr lvl="0">
              <a:defRPr sz="1800"/>
            </a:pPr>
            <a:fld id="{86CB4B4D-7CA3-9044-876B-883B54F8677D}" type="slidenum">
              <a:rPr sz="1000"/>
              <a:t>20</a:t>
            </a:fld>
            <a:endParaRPr sz="1000"/>
          </a:p>
        </p:txBody>
      </p:sp>
      <p:sp>
        <p:nvSpPr>
          <p:cNvPr id="165" name="Shape 165"/>
          <p:cNvSpPr/>
          <p:nvPr/>
        </p:nvSpPr>
        <p:spPr>
          <a:xfrm>
            <a:off x="4724400" y="2057400"/>
            <a:ext cx="7086600" cy="3877985"/>
          </a:xfrm>
          <a:prstGeom prst="rect">
            <a:avLst/>
          </a:prstGeom>
          <a:ln w="12700">
            <a:solidFill/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 anchor="b">
            <a:spAutoFit/>
          </a:bodyPr>
          <a:lstStyle/>
          <a:p>
            <a:pPr defTabSz="410751">
              <a:defRPr sz="1800"/>
            </a:pPr>
            <a:r>
              <a:rPr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 </a:t>
            </a:r>
            <a:r>
              <a:rPr dirty="0">
                <a:solidFill>
                  <a:srgbClr val="931A68"/>
                </a:solidFill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public</a:t>
            </a:r>
            <a:r>
              <a:rPr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</a:t>
            </a:r>
            <a:r>
              <a:rPr dirty="0">
                <a:solidFill>
                  <a:srgbClr val="931A68"/>
                </a:solidFill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static</a:t>
            </a:r>
            <a:r>
              <a:rPr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</a:t>
            </a:r>
            <a:r>
              <a:rPr dirty="0" err="1">
                <a:solidFill>
                  <a:srgbClr val="931A68"/>
                </a:solidFill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int</a:t>
            </a:r>
            <a:r>
              <a:rPr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largest (</a:t>
            </a:r>
            <a:r>
              <a:rPr dirty="0" err="1">
                <a:solidFill>
                  <a:srgbClr val="931A68"/>
                </a:solidFill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int</a:t>
            </a:r>
            <a:r>
              <a:rPr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[] list)</a:t>
            </a:r>
          </a:p>
          <a:p>
            <a:pPr defTabSz="410751">
              <a:defRPr sz="1800"/>
            </a:pPr>
            <a:r>
              <a:rPr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 {</a:t>
            </a:r>
          </a:p>
          <a:p>
            <a:pPr defTabSz="410751">
              <a:defRPr sz="1800"/>
            </a:pPr>
            <a:r>
              <a:rPr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   </a:t>
            </a:r>
            <a:r>
              <a:rPr lang="en-IE"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 </a:t>
            </a:r>
            <a:r>
              <a:rPr dirty="0" err="1">
                <a:solidFill>
                  <a:srgbClr val="931A68"/>
                </a:solidFill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int</a:t>
            </a:r>
            <a:r>
              <a:rPr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index</a:t>
            </a:r>
            <a:r>
              <a:rPr lang="en-IE"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= 0;</a:t>
            </a:r>
          </a:p>
          <a:p>
            <a:pPr defTabSz="410751">
              <a:defRPr sz="1800"/>
            </a:pPr>
            <a:r>
              <a:rPr lang="en-IE"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     </a:t>
            </a:r>
            <a:r>
              <a:rPr lang="en-IE" dirty="0" err="1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int</a:t>
            </a:r>
            <a:r>
              <a:rPr lang="en-IE"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</a:t>
            </a:r>
            <a:r>
              <a:rPr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max = </a:t>
            </a:r>
            <a:r>
              <a:rPr lang="en-IE"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list[0]</a:t>
            </a:r>
            <a:r>
              <a:rPr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;</a:t>
            </a:r>
          </a:p>
          <a:p>
            <a:pPr defTabSz="410751">
              <a:defRPr sz="1800"/>
            </a:pPr>
            <a:endParaRPr dirty="0">
              <a:latin typeface="Courier New" panose="02070309020205020404" pitchFamily="49" charset="0"/>
              <a:ea typeface="Monaco"/>
              <a:cs typeface="Courier New" panose="02070309020205020404" pitchFamily="49" charset="0"/>
              <a:sym typeface="Monaco"/>
            </a:endParaRPr>
          </a:p>
          <a:p>
            <a:pPr defTabSz="410751">
              <a:defRPr sz="1800"/>
            </a:pPr>
            <a:r>
              <a:rPr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   </a:t>
            </a:r>
            <a:r>
              <a:rPr lang="en-IE"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 </a:t>
            </a:r>
            <a:r>
              <a:rPr dirty="0">
                <a:solidFill>
                  <a:srgbClr val="931A68"/>
                </a:solidFill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for</a:t>
            </a:r>
            <a:r>
              <a:rPr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(index = 0; index &lt; </a:t>
            </a:r>
            <a:r>
              <a:rPr dirty="0" err="1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list.</a:t>
            </a:r>
            <a:r>
              <a:rPr dirty="0" err="1">
                <a:solidFill>
                  <a:srgbClr val="0326CC"/>
                </a:solidFill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length</a:t>
            </a:r>
            <a:r>
              <a:rPr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; index++)</a:t>
            </a:r>
          </a:p>
          <a:p>
            <a:pPr defTabSz="410751">
              <a:defRPr sz="1800"/>
            </a:pPr>
            <a:r>
              <a:rPr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   </a:t>
            </a:r>
            <a:r>
              <a:rPr lang="en-IE"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 </a:t>
            </a:r>
            <a:r>
              <a:rPr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{</a:t>
            </a:r>
          </a:p>
          <a:p>
            <a:pPr defTabSz="410751">
              <a:defRPr sz="1800"/>
            </a:pPr>
            <a:r>
              <a:rPr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     </a:t>
            </a:r>
            <a:r>
              <a:rPr lang="en-IE"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   </a:t>
            </a:r>
            <a:r>
              <a:rPr dirty="0">
                <a:solidFill>
                  <a:srgbClr val="931A68"/>
                </a:solidFill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if</a:t>
            </a:r>
            <a:r>
              <a:rPr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(list[index] &gt; max)</a:t>
            </a:r>
          </a:p>
          <a:p>
            <a:pPr defTabSz="410751">
              <a:defRPr sz="1800"/>
            </a:pPr>
            <a:r>
              <a:rPr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    </a:t>
            </a:r>
            <a:r>
              <a:rPr lang="en-IE"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   </a:t>
            </a:r>
            <a:r>
              <a:rPr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{</a:t>
            </a:r>
          </a:p>
          <a:p>
            <a:pPr defTabSz="410751">
              <a:defRPr sz="1800"/>
            </a:pPr>
            <a:r>
              <a:rPr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      </a:t>
            </a:r>
            <a:r>
              <a:rPr lang="en-IE"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     </a:t>
            </a:r>
            <a:r>
              <a:rPr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max = list[index];</a:t>
            </a:r>
          </a:p>
          <a:p>
            <a:pPr defTabSz="410751">
              <a:defRPr sz="1800"/>
            </a:pPr>
            <a:r>
              <a:rPr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     </a:t>
            </a:r>
            <a:r>
              <a:rPr lang="en-IE"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   </a:t>
            </a:r>
            <a:r>
              <a:rPr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}</a:t>
            </a:r>
          </a:p>
          <a:p>
            <a:pPr defTabSz="410751">
              <a:defRPr sz="1800"/>
            </a:pPr>
            <a:r>
              <a:rPr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   </a:t>
            </a:r>
            <a:r>
              <a:rPr lang="en-IE"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  </a:t>
            </a:r>
            <a:r>
              <a:rPr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}</a:t>
            </a:r>
          </a:p>
          <a:p>
            <a:pPr defTabSz="410751">
              <a:defRPr sz="1800"/>
            </a:pPr>
            <a:r>
              <a:rPr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   </a:t>
            </a:r>
            <a:r>
              <a:rPr lang="en-IE"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  </a:t>
            </a:r>
            <a:r>
              <a:rPr dirty="0">
                <a:solidFill>
                  <a:srgbClr val="931A68"/>
                </a:solidFill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return</a:t>
            </a:r>
            <a:r>
              <a:rPr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max;</a:t>
            </a:r>
          </a:p>
          <a:p>
            <a:pPr defTabSz="410751">
              <a:defRPr sz="1800"/>
            </a:pPr>
            <a:r>
              <a:rPr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 }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89321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Yes and this is the preferred approach!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2252E52-4D59-4735-82D7-462FEC399C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47583" y="1524001"/>
            <a:ext cx="6726521" cy="4524315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Largest {</a:t>
            </a: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6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static </a:t>
            </a:r>
            <a:r>
              <a:rPr lang="en-US" altLang="en-US" sz="1600" b="1" dirty="0" err="1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en-US" sz="16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largest (</a:t>
            </a:r>
            <a:r>
              <a:rPr lang="en-US" altLang="en-US" sz="1600" b="1" dirty="0" err="1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[] list)</a:t>
            </a: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{</a:t>
            </a: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en-US" sz="1600" b="1" dirty="0" err="1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en-US" sz="16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index;</a:t>
            </a: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en-US" sz="1600" b="1" dirty="0" err="1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en-US" sz="16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max = list[</a:t>
            </a:r>
            <a:r>
              <a:rPr lang="en-US" altLang="en-US" sz="16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en-US" sz="16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(index = </a:t>
            </a:r>
            <a:r>
              <a:rPr lang="en-US" altLang="en-US" sz="16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index &lt; </a:t>
            </a:r>
            <a:r>
              <a:rPr lang="en-US" altLang="en-US" sz="16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list.</a:t>
            </a:r>
            <a:r>
              <a:rPr lang="en-US" altLang="en-US" sz="1600" b="1" dirty="0" err="1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length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index++)</a:t>
            </a: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{</a:t>
            </a: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altLang="en-US" sz="16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 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(list[index] &gt; max)</a:t>
            </a: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{</a:t>
            </a: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max = list[index];</a:t>
            </a: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}</a:t>
            </a: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en-US" sz="16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 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max;</a:t>
            </a: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altLang="en-US" sz="6600" dirty="0">
              <a:latin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EAFC4D0-1239-44C1-B522-098DD73DACD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7500"/>
          <a:stretch/>
        </p:blipFill>
        <p:spPr>
          <a:xfrm>
            <a:off x="7543800" y="4216129"/>
            <a:ext cx="3886200" cy="234930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287083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1028700" y="1967266"/>
            <a:ext cx="2628900" cy="2547257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kern="1200">
                <a:ln w="11430"/>
                <a:solidFill>
                  <a:srgbClr val="FFFFFF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+mj-lt"/>
                <a:ea typeface="+mj-ea"/>
                <a:cs typeface="+mj-cs"/>
              </a:rPr>
              <a:t>Any Questions?</a:t>
            </a:r>
          </a:p>
        </p:txBody>
      </p:sp>
      <p:pic>
        <p:nvPicPr>
          <p:cNvPr id="3" name="Picture 2" descr="A green question mark in a circle&#10;&#10;AI-generated content may be incorrect.">
            <a:extLst>
              <a:ext uri="{FF2B5EF4-FFF2-40B4-BE49-F238E27FC236}">
                <a16:creationId xmlns:a16="http://schemas.microsoft.com/office/drawing/2014/main" id="{5CA18E50-A229-D0C5-0998-6A0069FBCC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3296" y="643466"/>
            <a:ext cx="5568739" cy="5568739"/>
          </a:xfrm>
          <a:prstGeom prst="rect">
            <a:avLst/>
          </a:prstGeom>
          <a:noFill/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15038132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  <p:tag name="ARTICULATE_SLIDE_COUNT" val="2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1689</Words>
  <Application>Microsoft Macintosh PowerPoint</Application>
  <PresentationFormat>Widescreen</PresentationFormat>
  <Paragraphs>165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Arial</vt:lpstr>
      <vt:lpstr>Calibri</vt:lpstr>
      <vt:lpstr>Courier New</vt:lpstr>
      <vt:lpstr>Gill Sans</vt:lpstr>
      <vt:lpstr>Monaco</vt:lpstr>
      <vt:lpstr>Wingdings</vt:lpstr>
      <vt:lpstr>Office Theme</vt:lpstr>
      <vt:lpstr>JUnit Framework</vt:lpstr>
      <vt:lpstr>Topic List </vt:lpstr>
      <vt:lpstr>Four Phase Test</vt:lpstr>
      <vt:lpstr>How it works</vt:lpstr>
      <vt:lpstr>PowerPoint Presentation</vt:lpstr>
      <vt:lpstr>Topic List </vt:lpstr>
      <vt:lpstr>Planning JUnit Tests</vt:lpstr>
      <vt:lpstr>More Test Data</vt:lpstr>
      <vt:lpstr>More Test Data</vt:lpstr>
      <vt:lpstr>Writing the Test</vt:lpstr>
      <vt:lpstr>Running the Test</vt:lpstr>
      <vt:lpstr>Bug</vt:lpstr>
      <vt:lpstr>Further Tests</vt:lpstr>
      <vt:lpstr>PowerPoint Presentation</vt:lpstr>
      <vt:lpstr>PowerPoint Presentation</vt:lpstr>
      <vt:lpstr>PowerPoint Presentation</vt:lpstr>
      <vt:lpstr>Further Boundary Conditions</vt:lpstr>
      <vt:lpstr>Failure on testNegative</vt:lpstr>
      <vt:lpstr>fix testNegative</vt:lpstr>
      <vt:lpstr>Is there a better approach for setting the max value?</vt:lpstr>
      <vt:lpstr>Yes and this is the preferred approach!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 Introduction to Processing</dc:title>
  <dc:creator>Siobhan Drohan</dc:creator>
  <cp:lastModifiedBy>Mairead Meagher</cp:lastModifiedBy>
  <cp:revision>163</cp:revision>
  <dcterms:created xsi:type="dcterms:W3CDTF">2006-08-16T00:00:00Z</dcterms:created>
  <dcterms:modified xsi:type="dcterms:W3CDTF">2026-03-07T21:40:03Z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FF5A7D80-6C30-434A-9D59-15D7BAD30DD1</vt:lpwstr>
  </property>
  <property fmtid="{D5CDD505-2E9C-101B-9397-08002B2CF9AE}" pid="3" name="ArticulatePath">
    <vt:lpwstr>a-prog-fund-2-TDD</vt:lpwstr>
  </property>
</Properties>
</file>