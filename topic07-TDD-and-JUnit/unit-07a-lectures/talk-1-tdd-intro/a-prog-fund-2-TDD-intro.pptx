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1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396" r:id="rId3"/>
    <p:sldId id="540" r:id="rId4"/>
    <p:sldId id="541" r:id="rId5"/>
    <p:sldId id="542" r:id="rId6"/>
    <p:sldId id="461" r:id="rId7"/>
    <p:sldId id="467" r:id="rId8"/>
    <p:sldId id="459" r:id="rId9"/>
    <p:sldId id="543" r:id="rId10"/>
    <p:sldId id="469" r:id="rId11"/>
    <p:sldId id="539" r:id="rId12"/>
    <p:sldId id="470" r:id="rId13"/>
    <p:sldId id="471" r:id="rId14"/>
    <p:sldId id="544" r:id="rId15"/>
    <p:sldId id="525" r:id="rId16"/>
    <p:sldId id="524" r:id="rId17"/>
    <p:sldId id="529" r:id="rId18"/>
    <p:sldId id="392" r:id="rId19"/>
  </p:sldIdLst>
  <p:sldSz cx="12192000" cy="6858000"/>
  <p:notesSz cx="6858000" cy="9144000"/>
  <p:custDataLst>
    <p:tags r:id="rId2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53" autoAdjust="0"/>
    <p:restoredTop sz="94674"/>
  </p:normalViewPr>
  <p:slideViewPr>
    <p:cSldViewPr>
      <p:cViewPr varScale="1">
        <p:scale>
          <a:sx n="74" d="100"/>
          <a:sy n="74" d="100"/>
        </p:scale>
        <p:origin x="82" y="42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BC3C30-7F3D-4B20-9974-47C57B22CA6E}" type="datetimeFigureOut">
              <a:rPr lang="en-IE" smtClean="0"/>
              <a:t>03/03/2026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09BE90-ABBD-4931-8E0C-089E0ACACA6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9818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09BE90-ABBD-4931-8E0C-089E0ACACA6B}" type="slidenum">
              <a:rPr lang="en-IE" smtClean="0"/>
              <a:t>8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8437870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www.wit.ie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Lab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hape 206"/>
          <p:cNvSpPr/>
          <p:nvPr/>
        </p:nvSpPr>
        <p:spPr>
          <a:xfrm flipV="1">
            <a:off x="851522" y="3070411"/>
            <a:ext cx="10519439" cy="47"/>
          </a:xfrm>
          <a:prstGeom prst="line">
            <a:avLst/>
          </a:prstGeom>
          <a:ln w="12700">
            <a:solidFill>
              <a:srgbClr val="919191"/>
            </a:solidFill>
            <a:miter lim="400000"/>
          </a:ln>
        </p:spPr>
        <p:txBody>
          <a:bodyPr lIns="35717" tIns="35717" rIns="35717" bIns="35717" anchor="ctr"/>
          <a:lstStyle/>
          <a:p>
            <a:endParaRPr sz="1800"/>
          </a:p>
        </p:txBody>
      </p:sp>
      <p:pic>
        <p:nvPicPr>
          <p:cNvPr id="207" name="WI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157" y="6134697"/>
            <a:ext cx="3033804" cy="473273"/>
          </a:xfrm>
          <a:prstGeom prst="rect">
            <a:avLst/>
          </a:prstGeom>
          <a:ln w="12700">
            <a:miter lim="400000"/>
          </a:ln>
        </p:spPr>
      </p:pic>
      <p:pic>
        <p:nvPicPr>
          <p:cNvPr id="208" name="esu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2625" y="6206134"/>
            <a:ext cx="1812472" cy="321469"/>
          </a:xfrm>
          <a:prstGeom prst="rect">
            <a:avLst/>
          </a:prstGeom>
          <a:ln w="12700">
            <a:miter lim="400000"/>
          </a:ln>
        </p:spPr>
      </p:pic>
      <p:sp>
        <p:nvSpPr>
          <p:cNvPr id="209" name="Shape 209"/>
          <p:cNvSpPr/>
          <p:nvPr/>
        </p:nvSpPr>
        <p:spPr>
          <a:xfrm>
            <a:off x="497421" y="3128069"/>
            <a:ext cx="2646554" cy="11555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717" tIns="35717" rIns="35717" bIns="35717" anchor="ctr">
            <a:spAutoFit/>
          </a:bodyPr>
          <a:lstStyle/>
          <a:p>
            <a:pPr algn="r" defTabSz="410751">
              <a:lnSpc>
                <a:spcPct val="80000"/>
              </a:lnSpc>
              <a:defRPr sz="4400">
                <a:solidFill>
                  <a:srgbClr val="AAAAAA"/>
                </a:solidFill>
                <a:latin typeface="Helvetica Neue UltraLight"/>
                <a:ea typeface="Helvetica Neue UltraLight"/>
                <a:cs typeface="Helvetica Neue UltraLight"/>
                <a:sym typeface="Helvetica Neue UltraLight"/>
              </a:defRPr>
            </a:pPr>
            <a:r>
              <a:rPr sz="4400"/>
              <a:t>Produced </a:t>
            </a:r>
          </a:p>
          <a:p>
            <a:pPr algn="r" defTabSz="410751">
              <a:lnSpc>
                <a:spcPct val="80000"/>
              </a:lnSpc>
              <a:defRPr sz="4400">
                <a:solidFill>
                  <a:srgbClr val="AAAAAA"/>
                </a:solidFill>
                <a:latin typeface="Helvetica Neue UltraLight"/>
                <a:ea typeface="Helvetica Neue UltraLight"/>
                <a:cs typeface="Helvetica Neue UltraLight"/>
                <a:sym typeface="Helvetica Neue UltraLight"/>
              </a:defRPr>
            </a:pPr>
            <a:r>
              <a:rPr sz="4400"/>
              <a:t>by</a:t>
            </a:r>
          </a:p>
        </p:txBody>
      </p:sp>
      <p:grpSp>
        <p:nvGrpSpPr>
          <p:cNvPr id="213" name="Group 213"/>
          <p:cNvGrpSpPr/>
          <p:nvPr/>
        </p:nvGrpSpPr>
        <p:grpSpPr>
          <a:xfrm>
            <a:off x="3476624" y="4561048"/>
            <a:ext cx="3751796" cy="1110389"/>
            <a:chOff x="0" y="-174328"/>
            <a:chExt cx="4001913" cy="1579217"/>
          </a:xfrm>
        </p:grpSpPr>
        <p:sp>
          <p:nvSpPr>
            <p:cNvPr id="210" name="Shape 210"/>
            <p:cNvSpPr/>
            <p:nvPr/>
          </p:nvSpPr>
          <p:spPr>
            <a:xfrm>
              <a:off x="0" y="-174328"/>
              <a:ext cx="4001913" cy="95825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defTabSz="410751">
                <a:lnSpc>
                  <a:spcPct val="120000"/>
                </a:lnSpc>
                <a:defRPr sz="1600">
                  <a:solidFill>
                    <a:srgbClr val="133455"/>
                  </a:solidFill>
                  <a:latin typeface="+mj-lt"/>
                  <a:ea typeface="+mj-ea"/>
                  <a:cs typeface="+mj-cs"/>
                  <a:sym typeface="Helvetica Neue"/>
                </a:defRPr>
              </a:pPr>
              <a:r>
                <a:rPr sz="1600"/>
                <a:t>Department of Computing, Maths &amp; Physics</a:t>
              </a:r>
            </a:p>
            <a:p>
              <a:pPr defTabSz="410751">
                <a:lnSpc>
                  <a:spcPct val="120000"/>
                </a:lnSpc>
                <a:defRPr sz="1600">
                  <a:solidFill>
                    <a:srgbClr val="133455"/>
                  </a:solidFill>
                  <a:latin typeface="+mj-lt"/>
                  <a:ea typeface="+mj-ea"/>
                  <a:cs typeface="+mj-cs"/>
                  <a:sym typeface="Helvetica Neue"/>
                </a:defRPr>
              </a:pPr>
              <a:r>
                <a:rPr sz="1600"/>
                <a:t>Waterford Institute of Technology</a:t>
              </a:r>
            </a:p>
          </p:txBody>
        </p:sp>
        <p:sp>
          <p:nvSpPr>
            <p:cNvPr id="211" name="Shape 211"/>
            <p:cNvSpPr/>
            <p:nvPr/>
          </p:nvSpPr>
          <p:spPr>
            <a:xfrm>
              <a:off x="0" y="560227"/>
              <a:ext cx="1909513" cy="5398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defTabSz="584200">
                <a:defRPr>
                  <a:latin typeface="+mj-lt"/>
                  <a:ea typeface="+mj-ea"/>
                  <a:cs typeface="+mj-cs"/>
                  <a:sym typeface="Helvetica Neue"/>
                  <a:hlinkClick r:id="" action="ppaction://noaction"/>
                </a:defRPr>
              </a:lvl1pPr>
            </a:lstStyle>
            <a:p>
              <a:r>
                <a:rPr sz="1800">
                  <a:hlinkClick r:id="rId4"/>
                </a:rPr>
                <a:t>http://www.wit.ie</a:t>
              </a:r>
            </a:p>
          </p:txBody>
        </p:sp>
        <p:sp>
          <p:nvSpPr>
            <p:cNvPr id="212" name="Shape 212"/>
            <p:cNvSpPr/>
            <p:nvPr/>
          </p:nvSpPr>
          <p:spPr>
            <a:xfrm>
              <a:off x="0" y="865027"/>
              <a:ext cx="2329252" cy="5398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 defTabSz="584200">
                <a:defRPr>
                  <a:latin typeface="+mj-lt"/>
                  <a:ea typeface="+mj-ea"/>
                  <a:cs typeface="+mj-cs"/>
                  <a:sym typeface="Helvetica Neue"/>
                  <a:hlinkClick r:id="" action="ppaction://noaction"/>
                </a:defRPr>
              </a:lvl1pPr>
            </a:lstStyle>
            <a:p>
              <a:r>
                <a:rPr sz="1800">
                  <a:hlinkClick r:id="rId4"/>
                </a:rPr>
                <a:t>http://elearning.wit.ie</a:t>
              </a:r>
            </a:p>
          </p:txBody>
        </p:sp>
      </p:grpSp>
      <p:sp>
        <p:nvSpPr>
          <p:cNvPr id="214" name="Shape 214"/>
          <p:cNvSpPr>
            <a:spLocks noGrp="1"/>
          </p:cNvSpPr>
          <p:nvPr>
            <p:ph type="body" sz="quarter" idx="13"/>
          </p:nvPr>
        </p:nvSpPr>
        <p:spPr>
          <a:xfrm>
            <a:off x="839391" y="2428449"/>
            <a:ext cx="10537031" cy="400110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>
              <a:spcBef>
                <a:spcPts val="0"/>
              </a:spcBef>
              <a:buSzTx/>
              <a:buNone/>
              <a:defRPr sz="2000">
                <a:solidFill>
                  <a:srgbClr val="606060"/>
                </a:solidFill>
              </a:defRPr>
            </a:lvl1pPr>
          </a:lstStyle>
          <a:p>
            <a:r>
              <a:t>Subtitle</a:t>
            </a:r>
          </a:p>
        </p:txBody>
      </p:sp>
      <p:sp>
        <p:nvSpPr>
          <p:cNvPr id="215" name="Shape 215"/>
          <p:cNvSpPr>
            <a:spLocks noGrp="1"/>
          </p:cNvSpPr>
          <p:nvPr>
            <p:ph type="title"/>
          </p:nvPr>
        </p:nvSpPr>
        <p:spPr>
          <a:xfrm>
            <a:off x="833438" y="1665388"/>
            <a:ext cx="10537031" cy="723305"/>
          </a:xfrm>
          <a:prstGeom prst="rect">
            <a:avLst/>
          </a:prstGeom>
        </p:spPr>
        <p:txBody>
          <a:bodyPr anchor="ctr"/>
          <a:lstStyle>
            <a:lvl1pPr>
              <a:defRPr sz="3100"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r>
              <a:t>Title Text</a:t>
            </a:r>
          </a:p>
        </p:txBody>
      </p:sp>
      <p:sp>
        <p:nvSpPr>
          <p:cNvPr id="216" name="Shape 216"/>
          <p:cNvSpPr>
            <a:spLocks noGrp="1"/>
          </p:cNvSpPr>
          <p:nvPr>
            <p:ph type="body" sz="quarter" idx="1"/>
          </p:nvPr>
        </p:nvSpPr>
        <p:spPr>
          <a:xfrm>
            <a:off x="3494484" y="3330774"/>
            <a:ext cx="5417344" cy="139303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0"/>
              </a:spcBef>
              <a:buSzTx/>
              <a:buNone/>
              <a:defRPr sz="1300"/>
            </a:lvl1pPr>
            <a:lvl2pPr marL="0" indent="0">
              <a:lnSpc>
                <a:spcPct val="120000"/>
              </a:lnSpc>
              <a:spcBef>
                <a:spcPts val="0"/>
              </a:spcBef>
              <a:buSzTx/>
              <a:buNone/>
              <a:defRPr sz="1300"/>
            </a:lvl2pPr>
            <a:lvl3pPr marL="0" indent="0">
              <a:lnSpc>
                <a:spcPct val="120000"/>
              </a:lnSpc>
              <a:spcBef>
                <a:spcPts val="0"/>
              </a:spcBef>
              <a:buSzTx/>
              <a:buNone/>
              <a:defRPr sz="1300"/>
            </a:lvl3pPr>
            <a:lvl4pPr marL="0" indent="0">
              <a:lnSpc>
                <a:spcPct val="120000"/>
              </a:lnSpc>
              <a:spcBef>
                <a:spcPts val="0"/>
              </a:spcBef>
              <a:buSzTx/>
              <a:buNone/>
              <a:defRPr sz="1300"/>
            </a:lvl4pPr>
            <a:lvl5pPr marL="0" indent="0">
              <a:lnSpc>
                <a:spcPct val="120000"/>
              </a:lnSpc>
              <a:spcBef>
                <a:spcPts val="0"/>
              </a:spcBef>
              <a:buSzTx/>
              <a:buNone/>
              <a:defRPr sz="13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17" name="Shape 217"/>
          <p:cNvSpPr>
            <a:spLocks noGrp="1"/>
          </p:cNvSpPr>
          <p:nvPr>
            <p:ph type="sldNum" sz="quarter" idx="2"/>
          </p:nvPr>
        </p:nvSpPr>
        <p:spPr>
          <a:xfrm>
            <a:off x="5935265" y="6527601"/>
            <a:ext cx="297656" cy="241102"/>
          </a:xfrm>
          <a:prstGeom prst="rect">
            <a:avLst/>
          </a:prstGeom>
        </p:spPr>
        <p:txBody>
          <a:bodyPr/>
          <a:lstStyle>
            <a:lvl1pPr algn="ctr">
              <a:defRPr sz="1100"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50379749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2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5420" y="914401"/>
            <a:ext cx="9012621" cy="1470025"/>
          </a:xfrm>
        </p:spPr>
        <p:txBody>
          <a:bodyPr>
            <a:normAutofit/>
          </a:bodyPr>
          <a:lstStyle/>
          <a:p>
            <a:pPr algn="l"/>
            <a:r>
              <a:rPr lang="en-IE" sz="4000" dirty="0"/>
              <a:t>Test Driven Development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38300" y="3810000"/>
            <a:ext cx="1866900" cy="1066800"/>
          </a:xfrm>
        </p:spPr>
        <p:txBody>
          <a:bodyPr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Produced </a:t>
            </a:r>
          </a:p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by:</a:t>
            </a:r>
          </a:p>
        </p:txBody>
      </p:sp>
      <p:cxnSp>
        <p:nvCxnSpPr>
          <p:cNvPr id="6" name="Straight Connector 5"/>
          <p:cNvCxnSpPr>
            <a:cxnSpLocks/>
          </p:cNvCxnSpPr>
          <p:nvPr/>
        </p:nvCxnSpPr>
        <p:spPr>
          <a:xfrm>
            <a:off x="935420" y="3056115"/>
            <a:ext cx="1002424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810000" y="3817204"/>
            <a:ext cx="29718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Dr. Siobhán Drohan</a:t>
            </a: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Mairead Meagher</a:t>
            </a: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Eamonn de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Leastar</a:t>
            </a:r>
            <a:endParaRPr lang="en-IE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IE" sz="2400">
                <a:solidFill>
                  <a:schemeClr val="tx1">
                    <a:lumMod val="75000"/>
                    <a:lumOff val="25000"/>
                  </a:schemeClr>
                </a:solidFill>
              </a:rPr>
              <a:t>Siobhan Roche</a:t>
            </a:r>
            <a:endParaRPr lang="en-IE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935420" y="2133601"/>
            <a:ext cx="9012621" cy="936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E" sz="3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Introduction to TDD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BD99C9-748E-DFD9-02EC-50101C0B4CCD}"/>
              </a:ext>
            </a:extLst>
          </p:cNvPr>
          <p:cNvSpPr txBox="1"/>
          <p:nvPr/>
        </p:nvSpPr>
        <p:spPr>
          <a:xfrm>
            <a:off x="7336971" y="5849826"/>
            <a:ext cx="40727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600" dirty="0"/>
              <a:t>Department of Computing and Mathematics</a:t>
            </a:r>
          </a:p>
          <a:p>
            <a:r>
              <a:rPr lang="en-IE" sz="1600" dirty="0"/>
              <a:t>http://www.setu.ie/</a:t>
            </a:r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B3D5DE96-E1B6-670A-D8B4-5A0336AA7C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41" y="5501441"/>
            <a:ext cx="2286000" cy="128154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42371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Topic List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IE" dirty="0"/>
              <a:t>Types of Testing </a:t>
            </a:r>
          </a:p>
          <a:p>
            <a:pPr lvl="1"/>
            <a:endParaRPr lang="en-IE" dirty="0"/>
          </a:p>
          <a:p>
            <a:pPr lvl="1"/>
            <a:r>
              <a:rPr lang="en-IE" dirty="0"/>
              <a:t>What is Test Driven Development?</a:t>
            </a:r>
          </a:p>
          <a:p>
            <a:pPr marL="457200" lvl="1" indent="0">
              <a:buNone/>
            </a:pPr>
            <a:endParaRPr lang="en-IE" dirty="0"/>
          </a:p>
          <a:p>
            <a:pPr lvl="1"/>
            <a:r>
              <a:rPr lang="en-IE" dirty="0"/>
              <a:t>What is Unit Testing?</a:t>
            </a:r>
          </a:p>
          <a:p>
            <a:pPr lvl="1"/>
            <a:endParaRPr lang="en-IE" dirty="0"/>
          </a:p>
          <a:p>
            <a:pPr lvl="1"/>
            <a:r>
              <a:rPr lang="en-IE" dirty="0"/>
              <a:t>The JUnit Framework.</a:t>
            </a:r>
          </a:p>
          <a:p>
            <a:pPr lvl="1"/>
            <a:endParaRPr lang="en-IE" dirty="0"/>
          </a:p>
          <a:p>
            <a:endParaRPr lang="en-IE" dirty="0"/>
          </a:p>
          <a:p>
            <a:endParaRPr lang="en-IE" dirty="0"/>
          </a:p>
        </p:txBody>
      </p:sp>
      <p:sp>
        <p:nvSpPr>
          <p:cNvPr id="4" name="Rectangle 3"/>
          <p:cNvSpPr/>
          <p:nvPr/>
        </p:nvSpPr>
        <p:spPr>
          <a:xfrm>
            <a:off x="990600" y="1597379"/>
            <a:ext cx="6096000" cy="533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558390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74210-2528-0C05-80E4-070E341A9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Software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079E74-3323-AA47-6196-A2F25DCD91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Software testing is categorized into different levels based on scope and purpose: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	</a:t>
            </a:r>
            <a:r>
              <a:rPr lang="en-US" b="1" dirty="0"/>
              <a:t>Unit Testing</a:t>
            </a:r>
            <a:endParaRPr lang="en-US" dirty="0"/>
          </a:p>
          <a:p>
            <a:pPr lvl="2"/>
            <a:r>
              <a:rPr lang="en-US" dirty="0"/>
              <a:t>Tests individual components (methods/classes) in isolation.</a:t>
            </a:r>
          </a:p>
          <a:p>
            <a:pPr lvl="2"/>
            <a:r>
              <a:rPr lang="en-US" dirty="0"/>
              <a:t>Typically automated using frameworks like JUnit.</a:t>
            </a:r>
          </a:p>
          <a:p>
            <a:pPr lvl="2"/>
            <a:r>
              <a:rPr lang="en-US" dirty="0"/>
              <a:t>Ensures correctness of small, self-contained code units.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Integration Testing</a:t>
            </a:r>
            <a:endParaRPr lang="en-US" dirty="0"/>
          </a:p>
          <a:p>
            <a:pPr lvl="2"/>
            <a:r>
              <a:rPr lang="en-US" dirty="0"/>
              <a:t>Tests interactions between integrated components (e.g., multiple classes or modules).</a:t>
            </a:r>
          </a:p>
          <a:p>
            <a:pPr lvl="2"/>
            <a:r>
              <a:rPr lang="en-US" dirty="0"/>
              <a:t>Ensures data flows correctly between units.</a:t>
            </a:r>
          </a:p>
          <a:p>
            <a:pPr lvl="2"/>
            <a:r>
              <a:rPr lang="en-US" dirty="0"/>
              <a:t>May involve database connections, APIs, or third-party services.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2024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74210-2528-0C05-80E4-070E341A9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Software Testing contd.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079E74-3323-AA47-6196-A2F25DCD91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en-US" b="1" dirty="0"/>
              <a:t>System Testing</a:t>
            </a:r>
            <a:endParaRPr lang="en-US" dirty="0"/>
          </a:p>
          <a:p>
            <a:pPr lvl="2"/>
            <a:r>
              <a:rPr lang="en-US" dirty="0"/>
              <a:t>Tests the entire application as a whole.</a:t>
            </a:r>
          </a:p>
          <a:p>
            <a:pPr lvl="2"/>
            <a:r>
              <a:rPr lang="en-US" dirty="0"/>
              <a:t>Verifies that the complete system meets requirements.</a:t>
            </a:r>
          </a:p>
          <a:p>
            <a:pPr lvl="2"/>
            <a:r>
              <a:rPr lang="en-US" dirty="0"/>
              <a:t>Often includes performance, security, and usability testing.</a:t>
            </a:r>
          </a:p>
          <a:p>
            <a:pPr lvl="2"/>
            <a:endParaRPr lang="en-US" dirty="0"/>
          </a:p>
          <a:p>
            <a:pPr marL="514350" indent="-514350">
              <a:buFont typeface="+mj-lt"/>
              <a:buAutoNum type="arabicPeriod" startAt="4"/>
            </a:pPr>
            <a:r>
              <a:rPr lang="en-US" b="1" dirty="0"/>
              <a:t>Acceptance Testing</a:t>
            </a:r>
            <a:endParaRPr lang="en-US" dirty="0"/>
          </a:p>
          <a:p>
            <a:pPr lvl="2"/>
            <a:r>
              <a:rPr lang="en-US" dirty="0"/>
              <a:t>Validates the software against business requirements.</a:t>
            </a:r>
          </a:p>
          <a:p>
            <a:pPr lvl="2"/>
            <a:r>
              <a:rPr lang="en-US" dirty="0"/>
              <a:t>Ensures it meets user expectations.</a:t>
            </a:r>
          </a:p>
          <a:p>
            <a:pPr lvl="2"/>
            <a:r>
              <a:rPr lang="en-US" dirty="0"/>
              <a:t>Can be manual (user acceptance testing) or automated.</a:t>
            </a:r>
          </a:p>
          <a:p>
            <a:endParaRPr lang="en-US" dirty="0"/>
          </a:p>
          <a:p>
            <a:pPr marL="514350" indent="-514350">
              <a:buFont typeface="+mj-lt"/>
              <a:buAutoNum type="arabicPeriod" startAt="3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6137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Topic List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IE" dirty="0"/>
              <a:t>Types of Testing </a:t>
            </a:r>
          </a:p>
          <a:p>
            <a:pPr lvl="1"/>
            <a:endParaRPr lang="en-IE" dirty="0"/>
          </a:p>
          <a:p>
            <a:pPr lvl="1"/>
            <a:r>
              <a:rPr lang="en-IE" dirty="0"/>
              <a:t>What is Test Driven Development?</a:t>
            </a:r>
          </a:p>
          <a:p>
            <a:pPr marL="457200" lvl="1" indent="0">
              <a:buNone/>
            </a:pPr>
            <a:endParaRPr lang="en-IE" dirty="0"/>
          </a:p>
          <a:p>
            <a:pPr lvl="1"/>
            <a:r>
              <a:rPr lang="en-IE" dirty="0"/>
              <a:t>What is Unit Testing?</a:t>
            </a:r>
          </a:p>
          <a:p>
            <a:pPr lvl="1"/>
            <a:endParaRPr lang="en-IE" dirty="0"/>
          </a:p>
          <a:p>
            <a:pPr lvl="1"/>
            <a:r>
              <a:rPr lang="en-IE" dirty="0"/>
              <a:t>The JUnit Framework.</a:t>
            </a:r>
          </a:p>
          <a:p>
            <a:pPr lvl="1"/>
            <a:endParaRPr lang="en-IE" dirty="0"/>
          </a:p>
          <a:p>
            <a:endParaRPr lang="en-IE" dirty="0"/>
          </a:p>
          <a:p>
            <a:endParaRPr lang="en-IE" dirty="0"/>
          </a:p>
        </p:txBody>
      </p:sp>
      <p:sp>
        <p:nvSpPr>
          <p:cNvPr id="4" name="Rectangle 3"/>
          <p:cNvSpPr/>
          <p:nvPr/>
        </p:nvSpPr>
        <p:spPr>
          <a:xfrm>
            <a:off x="990600" y="2590800"/>
            <a:ext cx="6096000" cy="533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257877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Shape 147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3000" dirty="0"/>
              <a:t>Test </a:t>
            </a:r>
            <a:r>
              <a:rPr lang="en-IE" sz="3000" dirty="0"/>
              <a:t>D</a:t>
            </a:r>
            <a:r>
              <a:rPr sz="3000" dirty="0"/>
              <a:t>riven </a:t>
            </a:r>
            <a:r>
              <a:rPr lang="en-IE" sz="3000" dirty="0"/>
              <a:t>D</a:t>
            </a:r>
            <a:r>
              <a:rPr sz="3000" dirty="0" err="1"/>
              <a:t>evelopment</a:t>
            </a:r>
            <a:endParaRPr sz="3000" dirty="0"/>
          </a:p>
        </p:txBody>
      </p:sp>
      <p:sp>
        <p:nvSpPr>
          <p:cNvPr id="148" name="Shape 148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>
              <a:spcBef>
                <a:spcPts val="1125"/>
              </a:spcBef>
              <a:defRPr sz="1800"/>
            </a:pPr>
            <a:r>
              <a:rPr sz="2800" dirty="0"/>
              <a:t>Tests are written </a:t>
            </a:r>
            <a:r>
              <a:rPr sz="2800" u="sng" dirty="0"/>
              <a:t>before</a:t>
            </a:r>
            <a:r>
              <a:rPr sz="2800" dirty="0"/>
              <a:t> </a:t>
            </a:r>
            <a:r>
              <a:rPr lang="en-IE" sz="2800" dirty="0"/>
              <a:t>you write the program code</a:t>
            </a:r>
            <a:r>
              <a:rPr sz="2800" dirty="0"/>
              <a:t>.</a:t>
            </a:r>
            <a:endParaRPr lang="en-IE" sz="2800" dirty="0"/>
          </a:p>
          <a:p>
            <a:pPr>
              <a:spcBef>
                <a:spcPts val="1125"/>
              </a:spcBef>
              <a:defRPr sz="1800"/>
            </a:pPr>
            <a:endParaRPr sz="2800" dirty="0"/>
          </a:p>
          <a:p>
            <a:pPr>
              <a:spcBef>
                <a:spcPts val="1125"/>
              </a:spcBef>
              <a:defRPr sz="1800"/>
            </a:pPr>
            <a:r>
              <a:rPr sz="2800" dirty="0"/>
              <a:t>A </a:t>
            </a:r>
            <a:r>
              <a:rPr sz="2800" dirty="0">
                <a:uFill>
                  <a:solidFill/>
                </a:uFill>
              </a:rPr>
              <a:t>test framework</a:t>
            </a:r>
            <a:r>
              <a:rPr sz="2800" dirty="0"/>
              <a:t> is used so that </a:t>
            </a:r>
            <a:r>
              <a:rPr sz="2800" u="sng" dirty="0"/>
              <a:t>automated</a:t>
            </a:r>
            <a:r>
              <a:rPr sz="2800" dirty="0"/>
              <a:t> testing can be done after every small change to the code.</a:t>
            </a:r>
          </a:p>
          <a:p>
            <a:pPr lvl="2">
              <a:spcBef>
                <a:spcPts val="1125"/>
              </a:spcBef>
              <a:defRPr sz="1800"/>
            </a:pPr>
            <a:r>
              <a:rPr sz="2000" dirty="0"/>
              <a:t>This may be as often as every 5 or 10 minutes.</a:t>
            </a:r>
          </a:p>
          <a:p>
            <a:pPr>
              <a:spcBef>
                <a:spcPts val="1125"/>
              </a:spcBef>
              <a:defRPr sz="1800"/>
            </a:pPr>
            <a:endParaRPr lang="en-IE" sz="2800" dirty="0"/>
          </a:p>
          <a:p>
            <a:pPr>
              <a:spcBef>
                <a:spcPts val="1125"/>
              </a:spcBef>
              <a:defRPr sz="1800"/>
            </a:pPr>
            <a:r>
              <a:rPr lang="en-IE" sz="2800" dirty="0"/>
              <a:t>This approach must be learned and practiced. 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01958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Shape 164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3000" dirty="0"/>
              <a:t>Why </a:t>
            </a:r>
            <a:r>
              <a:rPr lang="en-IE" sz="3000" dirty="0"/>
              <a:t>b</a:t>
            </a:r>
            <a:r>
              <a:rPr sz="3000" dirty="0"/>
              <a:t>other with </a:t>
            </a:r>
            <a:r>
              <a:rPr lang="en-IE" sz="3000" dirty="0"/>
              <a:t>Test Driven Development?</a:t>
            </a:r>
            <a:endParaRPr sz="3000" dirty="0"/>
          </a:p>
        </p:txBody>
      </p:sp>
      <p:sp>
        <p:nvSpPr>
          <p:cNvPr id="165" name="Shape 165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75615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 sz="1800"/>
            </a:pPr>
            <a:r>
              <a:rPr lang="en-IE" sz="2800" dirty="0"/>
              <a:t>It makes your </a:t>
            </a:r>
            <a:r>
              <a:rPr sz="2800" dirty="0"/>
              <a:t>designs better</a:t>
            </a:r>
            <a:r>
              <a:rPr lang="en-IE" sz="2800" dirty="0"/>
              <a:t>.</a:t>
            </a:r>
            <a:endParaRPr sz="2800" dirty="0"/>
          </a:p>
          <a:p>
            <a:pPr>
              <a:defRPr sz="1800"/>
            </a:pPr>
            <a:r>
              <a:rPr lang="en-IE" sz="2800" dirty="0"/>
              <a:t>Fewer bugs; d</a:t>
            </a:r>
            <a:r>
              <a:rPr sz="2800" dirty="0" err="1"/>
              <a:t>rastically</a:t>
            </a:r>
            <a:r>
              <a:rPr sz="2800" dirty="0"/>
              <a:t> reduce</a:t>
            </a:r>
            <a:r>
              <a:rPr lang="en-IE" sz="2800" dirty="0"/>
              <a:t>s</a:t>
            </a:r>
            <a:r>
              <a:rPr sz="2800" dirty="0"/>
              <a:t> the amount of time spent debugging</a:t>
            </a:r>
            <a:r>
              <a:rPr lang="en-IE" sz="2800" dirty="0"/>
              <a:t> code.</a:t>
            </a:r>
          </a:p>
          <a:p>
            <a:pPr>
              <a:defRPr sz="1800"/>
            </a:pPr>
            <a:r>
              <a:rPr lang="en-IE" sz="2800" dirty="0"/>
              <a:t>More maintainable code.</a:t>
            </a:r>
          </a:p>
          <a:p>
            <a:pPr>
              <a:defRPr sz="1800"/>
            </a:pPr>
            <a:r>
              <a:rPr lang="en-IE" sz="2800" dirty="0"/>
              <a:t>During development, the program always works—it may not do everything required, but what it does, it does right.</a:t>
            </a:r>
          </a:p>
          <a:p>
            <a:pPr>
              <a:defRPr sz="1800"/>
            </a:pPr>
            <a:endParaRPr lang="en-IE" sz="2400" dirty="0"/>
          </a:p>
          <a:p>
            <a:pPr>
              <a:spcBef>
                <a:spcPts val="1125"/>
              </a:spcBef>
              <a:defRPr sz="1800"/>
            </a:pPr>
            <a:r>
              <a:rPr lang="en-IE" sz="2800" dirty="0"/>
              <a:t>Your new philosophy (axiom):</a:t>
            </a:r>
          </a:p>
          <a:p>
            <a:pPr lvl="1">
              <a:spcBef>
                <a:spcPts val="1125"/>
              </a:spcBef>
              <a:defRPr sz="1800"/>
            </a:pPr>
            <a:r>
              <a:rPr lang="en-IE" i="1" dirty="0">
                <a:solidFill>
                  <a:srgbClr val="FF0000"/>
                </a:solidFill>
              </a:rPr>
              <a:t>‘</a:t>
            </a:r>
            <a:r>
              <a:rPr lang="en-IE" sz="2400" i="1" dirty="0">
                <a:solidFill>
                  <a:srgbClr val="FF0000"/>
                </a:solidFill>
              </a:rPr>
              <a:t>Code that isn’t tested doesn’t work’</a:t>
            </a:r>
            <a:endParaRPr lang="en-IE" i="1" dirty="0">
              <a:solidFill>
                <a:srgbClr val="FF0000"/>
              </a:solidFill>
            </a:endParaRPr>
          </a:p>
        </p:txBody>
      </p:sp>
      <p:sp>
        <p:nvSpPr>
          <p:cNvPr id="166" name="Shape 166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vert="horz" lIns="64291" tIns="32146" rIns="64291" bIns="32146" rtlCol="0" anchor="ctr"/>
          <a:lstStyle/>
          <a:p>
            <a:pPr lvl="0">
              <a:defRPr sz="1800"/>
            </a:pPr>
            <a:fld id="{86CB4B4D-7CA3-9044-876B-883B54F8677D}" type="slidenum">
              <a:rPr sz="1000"/>
              <a:t>7</a:t>
            </a:fld>
            <a:endParaRPr sz="100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022535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Shape 13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>
                <a:uFillTx/>
              </a:defRPr>
            </a:pPr>
            <a:r>
              <a:rPr sz="3100">
                <a:uFill>
                  <a:solidFill/>
                </a:uFill>
              </a:rPr>
              <a:t>Test-driven development.</a:t>
            </a:r>
          </a:p>
        </p:txBody>
      </p:sp>
      <p:pic>
        <p:nvPicPr>
          <p:cNvPr id="137" name="image.png"/>
          <p:cNvPicPr/>
          <p:nvPr/>
        </p:nvPicPr>
        <p:blipFill>
          <a:blip r:embed="rId4"/>
          <a:stretch>
            <a:fillRect/>
          </a:stretch>
        </p:blipFill>
        <p:spPr>
          <a:xfrm>
            <a:off x="1066800" y="1828800"/>
            <a:ext cx="5722144" cy="3581400"/>
          </a:xfrm>
          <a:prstGeom prst="rect">
            <a:avLst/>
          </a:prstGeom>
          <a:ln w="12700">
            <a:solidFill>
              <a:schemeClr val="accent1"/>
            </a:solidFill>
            <a:miter lim="400000"/>
          </a:ln>
        </p:spPr>
      </p:pic>
      <p:pic>
        <p:nvPicPr>
          <p:cNvPr id="5" name="droppedImage.png"/>
          <p:cNvPicPr/>
          <p:nvPr/>
        </p:nvPicPr>
        <p:blipFill>
          <a:blip r:embed="rId5"/>
          <a:stretch>
            <a:fillRect/>
          </a:stretch>
        </p:blipFill>
        <p:spPr>
          <a:xfrm>
            <a:off x="7543800" y="2743200"/>
            <a:ext cx="3810000" cy="3581400"/>
          </a:xfrm>
          <a:prstGeom prst="rect">
            <a:avLst/>
          </a:prstGeom>
          <a:ln w="12700">
            <a:solidFill>
              <a:schemeClr val="accent1"/>
            </a:solidFill>
            <a:miter lim="400000"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30553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Topic List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IE" dirty="0"/>
              <a:t>Types of Testing </a:t>
            </a:r>
          </a:p>
          <a:p>
            <a:pPr lvl="1"/>
            <a:endParaRPr lang="en-IE" dirty="0"/>
          </a:p>
          <a:p>
            <a:pPr lvl="1"/>
            <a:r>
              <a:rPr lang="en-IE" dirty="0"/>
              <a:t>What is Test Driven Development?</a:t>
            </a:r>
          </a:p>
          <a:p>
            <a:pPr marL="457200" lvl="1" indent="0">
              <a:buNone/>
            </a:pPr>
            <a:endParaRPr lang="en-IE" dirty="0"/>
          </a:p>
          <a:p>
            <a:pPr lvl="1"/>
            <a:r>
              <a:rPr lang="en-IE" dirty="0"/>
              <a:t>What is Unit Testing?</a:t>
            </a:r>
          </a:p>
          <a:p>
            <a:pPr lvl="1"/>
            <a:endParaRPr lang="en-IE" dirty="0"/>
          </a:p>
          <a:p>
            <a:pPr lvl="1"/>
            <a:r>
              <a:rPr lang="en-IE" dirty="0"/>
              <a:t>The JUnit Framework.</a:t>
            </a:r>
          </a:p>
          <a:p>
            <a:pPr lvl="1"/>
            <a:endParaRPr lang="en-IE" dirty="0"/>
          </a:p>
          <a:p>
            <a:endParaRPr lang="en-IE" dirty="0"/>
          </a:p>
          <a:p>
            <a:endParaRPr lang="en-IE" dirty="0"/>
          </a:p>
        </p:txBody>
      </p:sp>
      <p:sp>
        <p:nvSpPr>
          <p:cNvPr id="4" name="Rectangle 3"/>
          <p:cNvSpPr/>
          <p:nvPr/>
        </p:nvSpPr>
        <p:spPr>
          <a:xfrm>
            <a:off x="914400" y="3596482"/>
            <a:ext cx="6096000" cy="533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70439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hape 15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3000"/>
              <a:t>What is Unit Testing?</a:t>
            </a:r>
          </a:p>
        </p:txBody>
      </p:sp>
      <p:sp>
        <p:nvSpPr>
          <p:cNvPr id="157" name="Shape 157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 sz="1800"/>
            </a:pPr>
            <a:r>
              <a:rPr sz="2400" dirty="0"/>
              <a:t>A unit test is a piece of code written by a developer that </a:t>
            </a:r>
            <a:r>
              <a:rPr lang="en-IE" sz="2400" dirty="0"/>
              <a:t>tests (</a:t>
            </a:r>
            <a:r>
              <a:rPr sz="2400" dirty="0"/>
              <a:t>exercises</a:t>
            </a:r>
            <a:r>
              <a:rPr lang="en-IE" sz="2400" dirty="0"/>
              <a:t>)</a:t>
            </a:r>
            <a:r>
              <a:rPr sz="2400" dirty="0"/>
              <a:t> a very small, specific area of functionality of the code being tested.</a:t>
            </a:r>
          </a:p>
          <a:p>
            <a:pPr lvl="1">
              <a:defRPr sz="1800"/>
            </a:pPr>
            <a:r>
              <a:rPr sz="2400" dirty="0"/>
              <a:t>Usually a unit test exercises some particular method in a particular context</a:t>
            </a:r>
            <a:r>
              <a:rPr lang="en-IE" sz="2400" dirty="0"/>
              <a:t>.</a:t>
            </a:r>
            <a:endParaRPr sz="2400" dirty="0"/>
          </a:p>
          <a:p>
            <a:pPr lvl="0">
              <a:defRPr sz="1800"/>
            </a:pPr>
            <a:endParaRPr lang="en-IE" sz="2400" dirty="0"/>
          </a:p>
        </p:txBody>
      </p:sp>
      <p:sp>
        <p:nvSpPr>
          <p:cNvPr id="158" name="Shape 158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vert="horz" lIns="64291" tIns="32146" rIns="64291" bIns="32146" rtlCol="0" anchor="ctr"/>
          <a:lstStyle/>
          <a:p>
            <a:pPr lvl="0">
              <a:defRPr sz="1800"/>
            </a:pPr>
            <a:fld id="{86CB4B4D-7CA3-9044-876B-883B54F8677D}" type="slidenum">
              <a:rPr sz="1000"/>
              <a:t>10</a:t>
            </a:fld>
            <a:endParaRPr sz="100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65995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hape 15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3000"/>
              <a:t>What is Unit Testing?</a:t>
            </a:r>
          </a:p>
        </p:txBody>
      </p:sp>
      <p:sp>
        <p:nvSpPr>
          <p:cNvPr id="157" name="Shape 157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 sz="1800"/>
            </a:pPr>
            <a:r>
              <a:rPr sz="2400" dirty="0"/>
              <a:t>A unit test is a piece of code written by a developer that </a:t>
            </a:r>
            <a:r>
              <a:rPr lang="en-IE" sz="2400" dirty="0"/>
              <a:t>tests (</a:t>
            </a:r>
            <a:r>
              <a:rPr sz="2400" dirty="0"/>
              <a:t>exercises</a:t>
            </a:r>
            <a:r>
              <a:rPr lang="en-IE" sz="2400" dirty="0"/>
              <a:t>)</a:t>
            </a:r>
            <a:r>
              <a:rPr sz="2400" dirty="0"/>
              <a:t> a very small, specific area of functionality of the code being tested.</a:t>
            </a:r>
          </a:p>
          <a:p>
            <a:pPr lvl="1">
              <a:defRPr sz="1800"/>
            </a:pPr>
            <a:r>
              <a:rPr sz="2400" dirty="0"/>
              <a:t>Usually a unit test exercises some particular method in a particular context</a:t>
            </a:r>
            <a:r>
              <a:rPr lang="en-IE" sz="2400" dirty="0"/>
              <a:t>.</a:t>
            </a:r>
            <a:endParaRPr sz="2400" dirty="0"/>
          </a:p>
          <a:p>
            <a:pPr lvl="0">
              <a:defRPr sz="1800"/>
            </a:pPr>
            <a:endParaRPr lang="en-IE" sz="2400" dirty="0"/>
          </a:p>
          <a:p>
            <a:pPr lvl="0">
              <a:defRPr sz="1800"/>
            </a:pPr>
            <a:r>
              <a:rPr sz="2400" dirty="0"/>
              <a:t>Unit tests are performed to prove that a piece of code does what the developer thinks it should do.</a:t>
            </a:r>
          </a:p>
          <a:p>
            <a:pPr lvl="0">
              <a:defRPr sz="1800"/>
            </a:pPr>
            <a:r>
              <a:rPr sz="2400" dirty="0"/>
              <a:t>The question remains open as to whether that's the right thing to do according to the customer or end-user: </a:t>
            </a:r>
          </a:p>
          <a:p>
            <a:pPr lvl="1">
              <a:defRPr sz="1800"/>
            </a:pPr>
            <a:r>
              <a:rPr sz="2400" dirty="0"/>
              <a:t>that is acceptance testing</a:t>
            </a:r>
          </a:p>
        </p:txBody>
      </p:sp>
      <p:sp>
        <p:nvSpPr>
          <p:cNvPr id="158" name="Shape 158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vert="horz" lIns="64291" tIns="32146" rIns="64291" bIns="32146" rtlCol="0" anchor="ctr"/>
          <a:lstStyle/>
          <a:p>
            <a:pPr lvl="0">
              <a:defRPr sz="1800"/>
            </a:pPr>
            <a:fld id="{86CB4B4D-7CA3-9044-876B-883B54F8677D}" type="slidenum">
              <a:rPr sz="1000"/>
              <a:t>11</a:t>
            </a:fld>
            <a:endParaRPr sz="100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333019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Shape 16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3000"/>
              <a:t>What does Unit Testing Accomplish ?</a:t>
            </a:r>
          </a:p>
        </p:txBody>
      </p:sp>
      <p:sp>
        <p:nvSpPr>
          <p:cNvPr id="161" name="Shape 161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pPr>
              <a:spcBef>
                <a:spcPts val="2109"/>
              </a:spcBef>
              <a:defRPr sz="1800"/>
            </a:pPr>
            <a:r>
              <a:rPr sz="2400" i="1" dirty="0">
                <a:solidFill>
                  <a:srgbClr val="FF0000"/>
                </a:solidFill>
              </a:rPr>
              <a:t>Does the </a:t>
            </a:r>
            <a:r>
              <a:rPr sz="2400" b="1" i="1" dirty="0">
                <a:solidFill>
                  <a:srgbClr val="FF0000"/>
                </a:solidFill>
              </a:rPr>
              <a:t>code</a:t>
            </a:r>
            <a:r>
              <a:rPr sz="2400" i="1" dirty="0">
                <a:solidFill>
                  <a:srgbClr val="FF0000"/>
                </a:solidFill>
              </a:rPr>
              <a:t> do what was expected?</a:t>
            </a:r>
          </a:p>
          <a:p>
            <a:pPr lvl="1">
              <a:spcBef>
                <a:spcPts val="2109"/>
              </a:spcBef>
              <a:defRPr sz="1800"/>
            </a:pPr>
            <a:r>
              <a:rPr sz="2400" dirty="0"/>
              <a:t>i.e. </a:t>
            </a:r>
            <a:r>
              <a:rPr lang="en-IE" sz="2400" dirty="0" err="1"/>
              <a:t>i</a:t>
            </a:r>
            <a:r>
              <a:rPr sz="2400" dirty="0"/>
              <a:t>s the code fulfilling the intent of the developer?</a:t>
            </a:r>
          </a:p>
          <a:p>
            <a:pPr>
              <a:spcBef>
                <a:spcPts val="2109"/>
              </a:spcBef>
              <a:defRPr sz="1800"/>
            </a:pPr>
            <a:r>
              <a:rPr sz="2400" i="1" dirty="0">
                <a:solidFill>
                  <a:srgbClr val="FF0000"/>
                </a:solidFill>
              </a:rPr>
              <a:t>Does the </a:t>
            </a:r>
            <a:r>
              <a:rPr sz="2400" b="1" i="1" dirty="0">
                <a:solidFill>
                  <a:srgbClr val="FF0000"/>
                </a:solidFill>
              </a:rPr>
              <a:t>code</a:t>
            </a:r>
            <a:r>
              <a:rPr sz="2400" i="1" dirty="0">
                <a:solidFill>
                  <a:srgbClr val="FF0000"/>
                </a:solidFill>
              </a:rPr>
              <a:t> do what was expected all the time</a:t>
            </a:r>
            <a:r>
              <a:rPr sz="2400" dirty="0">
                <a:solidFill>
                  <a:srgbClr val="FF0000"/>
                </a:solidFill>
              </a:rPr>
              <a:t>?</a:t>
            </a:r>
          </a:p>
          <a:p>
            <a:pPr lvl="1">
              <a:spcBef>
                <a:spcPts val="2109"/>
              </a:spcBef>
              <a:defRPr sz="1800"/>
            </a:pPr>
            <a:r>
              <a:rPr sz="2400" dirty="0"/>
              <a:t>exceptions get thrown, disks get full, network lines drop, buffers overflow - is the code still perform</a:t>
            </a:r>
            <a:r>
              <a:rPr lang="en-IE" sz="2400" dirty="0" err="1"/>
              <a:t>ing</a:t>
            </a:r>
            <a:r>
              <a:rPr sz="2400" dirty="0"/>
              <a:t> as expected?</a:t>
            </a:r>
          </a:p>
          <a:p>
            <a:pPr>
              <a:spcBef>
                <a:spcPts val="2109"/>
              </a:spcBef>
              <a:defRPr sz="1800"/>
            </a:pPr>
            <a:r>
              <a:rPr sz="2400" i="1" dirty="0">
                <a:solidFill>
                  <a:srgbClr val="FF0000"/>
                </a:solidFill>
              </a:rPr>
              <a:t>Can the </a:t>
            </a:r>
            <a:r>
              <a:rPr sz="2400" b="1" i="1" dirty="0">
                <a:solidFill>
                  <a:srgbClr val="FF0000"/>
                </a:solidFill>
              </a:rPr>
              <a:t>code </a:t>
            </a:r>
            <a:r>
              <a:rPr sz="2400" i="1" dirty="0">
                <a:solidFill>
                  <a:srgbClr val="FF0000"/>
                </a:solidFill>
              </a:rPr>
              <a:t>be depended upon?</a:t>
            </a:r>
            <a:endParaRPr sz="2400" dirty="0">
              <a:solidFill>
                <a:srgbClr val="FF0000"/>
              </a:solidFill>
            </a:endParaRPr>
          </a:p>
          <a:p>
            <a:pPr lvl="1">
              <a:spcBef>
                <a:spcPts val="2109"/>
              </a:spcBef>
              <a:defRPr sz="1800"/>
            </a:pPr>
            <a:r>
              <a:rPr sz="2400" dirty="0"/>
              <a:t>Need to know for certain both its strengths and its limitations.</a:t>
            </a:r>
          </a:p>
        </p:txBody>
      </p:sp>
      <p:sp>
        <p:nvSpPr>
          <p:cNvPr id="162" name="Shape 162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vert="horz" lIns="64291" tIns="32146" rIns="64291" bIns="32146" rtlCol="0" anchor="ctr"/>
          <a:lstStyle/>
          <a:p>
            <a:pPr lvl="0">
              <a:defRPr sz="1800"/>
            </a:pPr>
            <a:fld id="{86CB4B4D-7CA3-9044-876B-883B54F8677D}" type="slidenum">
              <a:rPr sz="1000"/>
              <a:t>12</a:t>
            </a:fld>
            <a:endParaRPr sz="100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757551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3000" dirty="0"/>
              <a:t>How is Unit Testing </a:t>
            </a:r>
            <a:r>
              <a:rPr lang="en-IE" sz="3000" dirty="0"/>
              <a:t>c</a:t>
            </a:r>
            <a:r>
              <a:rPr sz="3000" dirty="0" err="1"/>
              <a:t>arried</a:t>
            </a:r>
            <a:r>
              <a:rPr sz="3000" dirty="0"/>
              <a:t> </a:t>
            </a:r>
            <a:r>
              <a:rPr lang="en-IE" sz="3000" dirty="0" err="1"/>
              <a:t>ou</a:t>
            </a:r>
            <a:r>
              <a:rPr sz="3000" dirty="0"/>
              <a:t>t?</a:t>
            </a:r>
          </a:p>
        </p:txBody>
      </p:sp>
      <p:sp>
        <p:nvSpPr>
          <p:cNvPr id="169" name="Shape 169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>
            <a:noAutofit/>
          </a:bodyPr>
          <a:lstStyle/>
          <a:p>
            <a:pPr lvl="0">
              <a:defRPr sz="1800"/>
            </a:pPr>
            <a:r>
              <a:rPr sz="2400" b="1" dirty="0"/>
              <a:t>Step 1</a:t>
            </a:r>
            <a:r>
              <a:rPr sz="2400" dirty="0"/>
              <a:t>: Decide how to test the method in question before writing the code itself</a:t>
            </a:r>
            <a:r>
              <a:rPr lang="en-IE" sz="2400" dirty="0"/>
              <a:t>.</a:t>
            </a:r>
            <a:endParaRPr sz="2400" dirty="0"/>
          </a:p>
          <a:p>
            <a:pPr lvl="0">
              <a:defRPr sz="1800"/>
            </a:pPr>
            <a:endParaRPr lang="en-IE" sz="2400" b="1" dirty="0"/>
          </a:p>
          <a:p>
            <a:pPr lvl="0">
              <a:defRPr sz="1800"/>
            </a:pPr>
            <a:r>
              <a:rPr sz="2400" b="1" dirty="0"/>
              <a:t>Step 2</a:t>
            </a:r>
            <a:r>
              <a:rPr sz="2400" dirty="0"/>
              <a:t>: Write the test code itself, either before or concurrently with the implementation code.</a:t>
            </a:r>
          </a:p>
          <a:p>
            <a:pPr lvl="0">
              <a:defRPr sz="1800"/>
            </a:pPr>
            <a:endParaRPr lang="en-IE" sz="2400" b="1" dirty="0"/>
          </a:p>
          <a:p>
            <a:pPr lvl="0">
              <a:defRPr sz="1800"/>
            </a:pPr>
            <a:r>
              <a:rPr sz="2400" b="1" dirty="0"/>
              <a:t>Step 3</a:t>
            </a:r>
            <a:r>
              <a:rPr sz="2400" dirty="0"/>
              <a:t>: Run the test itself, and probably all the other tests in that part of the system</a:t>
            </a:r>
            <a:r>
              <a:rPr lang="en-IE" sz="2400" dirty="0"/>
              <a:t>.</a:t>
            </a:r>
            <a:endParaRPr sz="2400" dirty="0"/>
          </a:p>
          <a:p>
            <a:pPr lvl="0">
              <a:defRPr sz="1800"/>
            </a:pPr>
            <a:endParaRPr lang="en-IE" sz="2400" i="1" dirty="0"/>
          </a:p>
          <a:p>
            <a:pPr marL="0" indent="0">
              <a:buNone/>
              <a:defRPr sz="1800"/>
            </a:pPr>
            <a:r>
              <a:rPr sz="2400" i="1" dirty="0"/>
              <a:t>Key Feature of executing tests: need to be able to determine at a glance whether all tests are succeeding/failing</a:t>
            </a:r>
            <a:r>
              <a:rPr lang="en-IE" sz="2400" i="1" dirty="0"/>
              <a:t>.</a:t>
            </a:r>
            <a:endParaRPr sz="2400" i="1" dirty="0"/>
          </a:p>
        </p:txBody>
      </p:sp>
      <p:sp>
        <p:nvSpPr>
          <p:cNvPr id="170" name="Shape 170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vert="horz" lIns="64291" tIns="32146" rIns="64291" bIns="32146" rtlCol="0" anchor="ctr"/>
          <a:lstStyle/>
          <a:p>
            <a:pPr lvl="0">
              <a:defRPr sz="1800"/>
            </a:pPr>
            <a:fld id="{86CB4B4D-7CA3-9044-876B-883B54F8677D}" type="slidenum">
              <a:rPr sz="1000"/>
              <a:t>13</a:t>
            </a:fld>
            <a:endParaRPr sz="100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296640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Topic List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IE" dirty="0"/>
              <a:t>Types of Testing </a:t>
            </a:r>
          </a:p>
          <a:p>
            <a:pPr lvl="1"/>
            <a:endParaRPr lang="en-IE" dirty="0"/>
          </a:p>
          <a:p>
            <a:pPr lvl="1"/>
            <a:r>
              <a:rPr lang="en-IE" dirty="0"/>
              <a:t>What is Test Driven Development?</a:t>
            </a:r>
          </a:p>
          <a:p>
            <a:pPr marL="457200" lvl="1" indent="0">
              <a:buNone/>
            </a:pPr>
            <a:endParaRPr lang="en-IE" dirty="0"/>
          </a:p>
          <a:p>
            <a:pPr lvl="1"/>
            <a:r>
              <a:rPr lang="en-IE" dirty="0"/>
              <a:t>What is Unit Testing?</a:t>
            </a:r>
          </a:p>
          <a:p>
            <a:pPr lvl="1"/>
            <a:endParaRPr lang="en-IE" dirty="0"/>
          </a:p>
          <a:p>
            <a:pPr lvl="1"/>
            <a:r>
              <a:rPr lang="en-IE" dirty="0"/>
              <a:t>The JUnit Framework.</a:t>
            </a:r>
          </a:p>
          <a:p>
            <a:pPr lvl="1"/>
            <a:endParaRPr lang="en-IE" dirty="0"/>
          </a:p>
          <a:p>
            <a:endParaRPr lang="en-IE" dirty="0"/>
          </a:p>
          <a:p>
            <a:endParaRPr lang="en-IE" dirty="0"/>
          </a:p>
        </p:txBody>
      </p:sp>
      <p:sp>
        <p:nvSpPr>
          <p:cNvPr id="4" name="Rectangle 3"/>
          <p:cNvSpPr/>
          <p:nvPr/>
        </p:nvSpPr>
        <p:spPr>
          <a:xfrm>
            <a:off x="914400" y="4648200"/>
            <a:ext cx="6096000" cy="533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835826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JUnit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dirty="0"/>
              <a:t>JUnit is a unit testing framework for the Java programming language. </a:t>
            </a:r>
          </a:p>
          <a:p>
            <a:endParaRPr lang="en-IE" dirty="0"/>
          </a:p>
          <a:p>
            <a:r>
              <a:rPr lang="en-IE" dirty="0"/>
              <a:t>JUnit has been important in the development of test-driven development, and is one of a family of unit testing frameworks collectively known as </a:t>
            </a:r>
            <a:r>
              <a:rPr lang="en-IE" dirty="0" err="1"/>
              <a:t>xUnit</a:t>
            </a:r>
            <a:r>
              <a:rPr lang="en-IE" dirty="0"/>
              <a:t>. </a:t>
            </a:r>
          </a:p>
        </p:txBody>
      </p:sp>
      <p:sp>
        <p:nvSpPr>
          <p:cNvPr id="4" name="Rectangle 3"/>
          <p:cNvSpPr/>
          <p:nvPr/>
        </p:nvSpPr>
        <p:spPr>
          <a:xfrm>
            <a:off x="4953000" y="6514011"/>
            <a:ext cx="57248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IE" dirty="0"/>
              <a:t>http://www.tutorialspoint.com/junit/junit_overview.htm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114918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JUnit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E" dirty="0"/>
              <a:t>Open source framework used for writing &amp; running tests.</a:t>
            </a:r>
          </a:p>
          <a:p>
            <a:r>
              <a:rPr lang="en-IE" dirty="0"/>
              <a:t>Provides </a:t>
            </a:r>
            <a:r>
              <a:rPr lang="en-IE" i="1" dirty="0">
                <a:solidFill>
                  <a:srgbClr val="FF0000"/>
                </a:solidFill>
              </a:rPr>
              <a:t>Annotations</a:t>
            </a:r>
            <a:r>
              <a:rPr lang="en-IE" dirty="0"/>
              <a:t> to identify the test methods.</a:t>
            </a:r>
          </a:p>
          <a:p>
            <a:r>
              <a:rPr lang="en-IE" dirty="0"/>
              <a:t>Provides </a:t>
            </a:r>
            <a:r>
              <a:rPr lang="en-IE" i="1" dirty="0">
                <a:solidFill>
                  <a:srgbClr val="FF0000"/>
                </a:solidFill>
              </a:rPr>
              <a:t>Assertions </a:t>
            </a:r>
            <a:r>
              <a:rPr lang="en-IE" dirty="0"/>
              <a:t>for testing expected results.</a:t>
            </a:r>
          </a:p>
          <a:p>
            <a:r>
              <a:rPr lang="en-IE" dirty="0"/>
              <a:t>Provides Test runners for running tests.</a:t>
            </a:r>
          </a:p>
          <a:p>
            <a:r>
              <a:rPr lang="en-IE" dirty="0"/>
              <a:t>JUnit tests can be run automatically and they check their own results and provide immediate feedback. There's no need to manually comb through a report of test results.</a:t>
            </a:r>
          </a:p>
          <a:p>
            <a:r>
              <a:rPr lang="en-IE" dirty="0"/>
              <a:t>Junit shows test progress in a bar that is green if test is going fine and it turns red when a test fails.</a:t>
            </a:r>
          </a:p>
        </p:txBody>
      </p:sp>
      <p:sp>
        <p:nvSpPr>
          <p:cNvPr id="4" name="Rectangle 3"/>
          <p:cNvSpPr/>
          <p:nvPr/>
        </p:nvSpPr>
        <p:spPr>
          <a:xfrm>
            <a:off x="4953000" y="6514011"/>
            <a:ext cx="57248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IE" dirty="0"/>
              <a:t>http://www.tutorialspoint.com/junit/junit_overview.htm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059981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113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vert="horz" lIns="64291" tIns="32146" rIns="64291" bIns="32146" rtlCol="0" anchor="ctr"/>
          <a:lstStyle/>
          <a:p>
            <a:pPr lvl="0">
              <a:defRPr sz="1800"/>
            </a:pPr>
            <a:fld id="{86CB4B4D-7CA3-9044-876B-883B54F8677D}" type="slidenum">
              <a:rPr sz="1000"/>
              <a:t>17</a:t>
            </a:fld>
            <a:endParaRPr sz="1000"/>
          </a:p>
        </p:txBody>
      </p:sp>
      <p:sp>
        <p:nvSpPr>
          <p:cNvPr id="112" name="Shape 112"/>
          <p:cNvSpPr>
            <a:spLocks noGrp="1"/>
          </p:cNvSpPr>
          <p:nvPr>
            <p:ph idx="4294967295"/>
          </p:nvPr>
        </p:nvSpPr>
        <p:spPr>
          <a:xfrm>
            <a:off x="914400" y="1166018"/>
            <a:ext cx="9906000" cy="4853782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buNone/>
              <a:defRPr sz="1800"/>
            </a:pPr>
            <a:endParaRPr lang="en-IE" sz="2400" i="1" dirty="0"/>
          </a:p>
          <a:p>
            <a:pPr marL="0" indent="0">
              <a:buNone/>
              <a:defRPr sz="1800"/>
            </a:pPr>
            <a:r>
              <a:rPr sz="2800" i="1" dirty="0"/>
              <a:t>“Good programmers write code, great programmers write tests”</a:t>
            </a:r>
          </a:p>
          <a:p>
            <a:pPr marL="0" indent="0">
              <a:buNone/>
              <a:defRPr sz="1800"/>
            </a:pPr>
            <a:endParaRPr lang="en-IE" sz="2400" i="1" dirty="0"/>
          </a:p>
          <a:p>
            <a:pPr marL="0" indent="0">
              <a:buNone/>
              <a:defRPr sz="1800"/>
            </a:pPr>
            <a:endParaRPr lang="en-IE" sz="2400" i="1" dirty="0"/>
          </a:p>
          <a:p>
            <a:pPr marL="0" indent="0">
              <a:buNone/>
              <a:defRPr sz="1800"/>
            </a:pPr>
            <a:r>
              <a:rPr sz="2800" i="1" dirty="0"/>
              <a:t>“Never, in the field of programming, have so many owed so much to so few”</a:t>
            </a:r>
          </a:p>
          <a:p>
            <a:pPr marL="0" indent="0" algn="r">
              <a:buNone/>
              <a:defRPr sz="1800"/>
            </a:pPr>
            <a:r>
              <a:rPr sz="2400" i="1" dirty="0"/>
              <a:t>- Martin Fowler on the developers behind JU</a:t>
            </a:r>
            <a:r>
              <a:rPr lang="en-IE" sz="2400" i="1" dirty="0" err="1"/>
              <a:t>ni</a:t>
            </a:r>
            <a:r>
              <a:rPr sz="2400" i="1" dirty="0"/>
              <a:t>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744115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028700" y="1967266"/>
            <a:ext cx="2628900" cy="254725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 dirty="0">
                <a:ln w="11430"/>
                <a:solidFill>
                  <a:srgbClr val="FFFFFF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+mj-lt"/>
                <a:ea typeface="+mj-ea"/>
                <a:cs typeface="+mj-cs"/>
              </a:rPr>
              <a:t>Any Questions?</a:t>
            </a:r>
          </a:p>
        </p:txBody>
      </p:sp>
      <p:pic>
        <p:nvPicPr>
          <p:cNvPr id="3" name="Picture 2" descr="A green question mark in a circle&#10;&#10;AI-generated content may be incorrect.">
            <a:extLst>
              <a:ext uri="{FF2B5EF4-FFF2-40B4-BE49-F238E27FC236}">
                <a16:creationId xmlns:a16="http://schemas.microsoft.com/office/drawing/2014/main" id="{F360E93B-14E8-AB11-D47D-B997B15797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3296" y="643466"/>
            <a:ext cx="5568739" cy="5568739"/>
          </a:xfrm>
          <a:prstGeom prst="rect">
            <a:avLst/>
          </a:prstGeom>
          <a:noFill/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5038132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1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904</Words>
  <Application>Microsoft Office PowerPoint</Application>
  <PresentationFormat>Widescreen</PresentationFormat>
  <Paragraphs>134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Gill Sans</vt:lpstr>
      <vt:lpstr>Office Theme</vt:lpstr>
      <vt:lpstr>Test Driven Development</vt:lpstr>
      <vt:lpstr>Topic List </vt:lpstr>
      <vt:lpstr>Types of Software Testing</vt:lpstr>
      <vt:lpstr>Types of Software Testing contd.</vt:lpstr>
      <vt:lpstr>Topic List </vt:lpstr>
      <vt:lpstr>Test Driven Development</vt:lpstr>
      <vt:lpstr>Why bother with Test Driven Development?</vt:lpstr>
      <vt:lpstr>Test-driven development.</vt:lpstr>
      <vt:lpstr>Topic List </vt:lpstr>
      <vt:lpstr>What is Unit Testing?</vt:lpstr>
      <vt:lpstr>What is Unit Testing?</vt:lpstr>
      <vt:lpstr>What does Unit Testing Accomplish ?</vt:lpstr>
      <vt:lpstr>How is Unit Testing carried out?</vt:lpstr>
      <vt:lpstr>Topic List </vt:lpstr>
      <vt:lpstr>JUnit</vt:lpstr>
      <vt:lpstr>JUnit Features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Introduction to Processing</dc:title>
  <dc:creator>Siobhan Drohan</dc:creator>
  <cp:lastModifiedBy>Siobhan Roche</cp:lastModifiedBy>
  <cp:revision>135</cp:revision>
  <dcterms:created xsi:type="dcterms:W3CDTF">2006-08-16T00:00:00Z</dcterms:created>
  <dcterms:modified xsi:type="dcterms:W3CDTF">2026-03-03T12:16:29Z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FF5A7D80-6C30-434A-9D59-15D7BAD30DD1</vt:lpwstr>
  </property>
  <property fmtid="{D5CDD505-2E9C-101B-9397-08002B2CF9AE}" pid="3" name="ArticulatePath">
    <vt:lpwstr>a-prog-fund-2-TDD</vt:lpwstr>
  </property>
</Properties>
</file>