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396" r:id="rId3"/>
    <p:sldId id="500" r:id="rId4"/>
    <p:sldId id="509" r:id="rId5"/>
    <p:sldId id="543" r:id="rId6"/>
    <p:sldId id="542" r:id="rId7"/>
    <p:sldId id="551" r:id="rId8"/>
    <p:sldId id="515" r:id="rId9"/>
    <p:sldId id="533" r:id="rId10"/>
    <p:sldId id="534" r:id="rId11"/>
    <p:sldId id="535" r:id="rId12"/>
    <p:sldId id="555" r:id="rId13"/>
    <p:sldId id="544" r:id="rId14"/>
    <p:sldId id="556" r:id="rId15"/>
    <p:sldId id="546" r:id="rId16"/>
    <p:sldId id="488" r:id="rId17"/>
    <p:sldId id="547" r:id="rId18"/>
    <p:sldId id="553" r:id="rId19"/>
    <p:sldId id="549" r:id="rId20"/>
    <p:sldId id="548" r:id="rId21"/>
    <p:sldId id="532" r:id="rId22"/>
    <p:sldId id="392" r:id="rId23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4" autoAdjust="0"/>
    <p:restoredTop sz="94658"/>
  </p:normalViewPr>
  <p:slideViewPr>
    <p:cSldViewPr>
      <p:cViewPr varScale="1">
        <p:scale>
          <a:sx n="120" d="100"/>
          <a:sy n="120" d="100"/>
        </p:scale>
        <p:origin x="416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28/02/2024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93884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497421" y="3128069"/>
            <a:ext cx="2646554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48"/>
            <a:ext cx="3751796" cy="1110389"/>
            <a:chOff x="0" y="-174328"/>
            <a:chExt cx="4001913" cy="1579217"/>
          </a:xfrm>
        </p:grpSpPr>
        <p:sp>
          <p:nvSpPr>
            <p:cNvPr id="210" name="Shape 210"/>
            <p:cNvSpPr/>
            <p:nvPr/>
          </p:nvSpPr>
          <p:spPr>
            <a:xfrm>
              <a:off x="0" y="-174328"/>
              <a:ext cx="4001913" cy="958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r>
              <a:t>Subtitle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Title Text</a:t>
            </a:r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7974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unit.org/junit5/docs/current/api/org.junit.jupiter.api/org/junit/jupiter/api/Assertions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junit.org/javadoc/latest/org/junit/Assert.html#assertNotEquals(java.lang.Object, java.lang.Object)" TargetMode="External"/><Relationship Id="rId3" Type="http://schemas.openxmlformats.org/officeDocument/2006/relationships/hyperlink" Target="http://junit.org/javadoc/latest/org/junit/Assert.html#assertEquals(double, double, double)" TargetMode="External"/><Relationship Id="rId7" Type="http://schemas.openxmlformats.org/officeDocument/2006/relationships/hyperlink" Target="http://junit.org/javadoc/latest/org/junit/Assert.html#assertNotEquals(double, double, double)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hyperlink" Target="http://docs.oracle.com/javase/1.5.0/docs/api/java/lang/Object.html" TargetMode="External"/><Relationship Id="rId11" Type="http://schemas.openxmlformats.org/officeDocument/2006/relationships/hyperlink" Target="https://junit.org/junit5/docs/current/api/org.junit.jupiter.api/org/junit/jupiter/api/Assertions.html" TargetMode="External"/><Relationship Id="rId5" Type="http://schemas.openxmlformats.org/officeDocument/2006/relationships/hyperlink" Target="http://junit.org/javadoc/latest/org/junit/Assert.html#assertEquals(java.lang.Object, java.lang.Object)" TargetMode="External"/><Relationship Id="rId10" Type="http://schemas.openxmlformats.org/officeDocument/2006/relationships/hyperlink" Target="http://junit.org/javadoc/latest/org/junit/Assert.html#assertSame(java.lang.Object, java.lang.Object)" TargetMode="External"/><Relationship Id="rId4" Type="http://schemas.openxmlformats.org/officeDocument/2006/relationships/hyperlink" Target="http://junit.org/javadoc/latest/org/junit/Assert.html#assertEquals(long, long)" TargetMode="External"/><Relationship Id="rId9" Type="http://schemas.openxmlformats.org/officeDocument/2006/relationships/hyperlink" Target="http://junit.org/javadoc/latest/org/junit/Assert.html#assertNotSame(java.lang.Object, java.lang.Object)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junit.org/javadoc/latest/org/junit/Assert.html#assertFalse(boolean)" TargetMode="External"/><Relationship Id="rId3" Type="http://schemas.openxmlformats.org/officeDocument/2006/relationships/hyperlink" Target="http://junit.org/javadoc/latest/org/junit/Assert.html#assertNotNull(java.lang.Object)" TargetMode="External"/><Relationship Id="rId7" Type="http://schemas.openxmlformats.org/officeDocument/2006/relationships/hyperlink" Target="http://junit.org/javadoc/latest/org/junit/Assert.html#assertNull(java.lang.Object)" TargetMode="External"/><Relationship Id="rId12" Type="http://schemas.openxmlformats.org/officeDocument/2006/relationships/hyperlink" Target="https://junit.org/junit5/docs/current/api/org.junit.jupiter.api/org/junit/jupiter/api/Assertions.ht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hyperlink" Target="http://docs.oracle.com/javase/1.5.0/docs/api/java/lang/String.html" TargetMode="External"/><Relationship Id="rId11" Type="http://schemas.openxmlformats.org/officeDocument/2006/relationships/hyperlink" Target="http://junit.org/javadoc/latest/org/junit/Assert.html#fail(java.lang.String)" TargetMode="External"/><Relationship Id="rId5" Type="http://schemas.openxmlformats.org/officeDocument/2006/relationships/hyperlink" Target="http://junit.org/javadoc/latest/org/junit/Assert.html#assertNotNull(java.lang.String, java.lang.Object)" TargetMode="External"/><Relationship Id="rId10" Type="http://schemas.openxmlformats.org/officeDocument/2006/relationships/hyperlink" Target="http://junit.org/javadoc/latest/org/junit/Assert.html#fail()" TargetMode="External"/><Relationship Id="rId4" Type="http://schemas.openxmlformats.org/officeDocument/2006/relationships/hyperlink" Target="http://docs.oracle.com/javase/1.5.0/docs/api/java/lang/Object.html" TargetMode="External"/><Relationship Id="rId9" Type="http://schemas.openxmlformats.org/officeDocument/2006/relationships/hyperlink" Target="http://junit.org/javadoc/latest/org/junit/Assert.html#assertTrue(java.lang.String, boolean)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junit/junit_test_framework.htm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JUnit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685800" y="3070226"/>
            <a:ext cx="11049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3817204"/>
            <a:ext cx="29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Siobhán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58922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http://www.wit.ie/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Terminology: assertions, annotations, fixtures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2A863623-F7E9-83C0-64D2-77A5DDFAD9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General Terminology</a:t>
            </a:r>
            <a:br>
              <a:rPr lang="en-IE" sz="3600" dirty="0"/>
            </a:br>
            <a:endParaRPr lang="en-IE" sz="3600" dirty="0"/>
          </a:p>
          <a:p>
            <a:r>
              <a:rPr lang="en-IE" sz="3600" dirty="0"/>
              <a:t>Assertions</a:t>
            </a:r>
          </a:p>
          <a:p>
            <a:endParaRPr lang="en-IE" sz="3600" dirty="0"/>
          </a:p>
          <a:p>
            <a:r>
              <a:rPr lang="en-IE" sz="3600" dirty="0"/>
              <a:t>Annotations</a:t>
            </a:r>
          </a:p>
          <a:p>
            <a:endParaRPr lang="en-IE" sz="3600" dirty="0"/>
          </a:p>
          <a:p>
            <a:r>
              <a:rPr lang="en-IE" sz="3600" dirty="0"/>
              <a:t>Fixtures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578556" y="1600200"/>
            <a:ext cx="4679244" cy="609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583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12510" y="4343401"/>
            <a:ext cx="26928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E" sz="2800" dirty="0"/>
              <a:t>JUnit Test Class / Test Case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06247D-16F3-404D-8D8E-CCAE5E10A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32008"/>
            <a:ext cx="3936510" cy="63939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4" name="Straight Arrow Connector 3"/>
          <p:cNvCxnSpPr>
            <a:cxnSpLocks/>
          </p:cNvCxnSpPr>
          <p:nvPr/>
        </p:nvCxnSpPr>
        <p:spPr>
          <a:xfrm>
            <a:off x="5105400" y="4820454"/>
            <a:ext cx="3200400" cy="20874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E4F631-5142-4BAF-BB2D-BC5FE18F02C7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105400" y="4552147"/>
            <a:ext cx="3200400" cy="26830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279587-064E-4A43-A993-F938ACFAD4A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105400" y="4820455"/>
            <a:ext cx="3200400" cy="68579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1525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B6770-C0A0-4E3A-99A2-9D291B950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091" y="146039"/>
            <a:ext cx="8991590" cy="65080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Straight Arrow Connector 8"/>
          <p:cNvCxnSpPr>
            <a:cxnSpLocks/>
            <a:stCxn id="10" idx="3"/>
          </p:cNvCxnSpPr>
          <p:nvPr/>
        </p:nvCxnSpPr>
        <p:spPr>
          <a:xfrm>
            <a:off x="2090493" y="5845507"/>
            <a:ext cx="1828802" cy="620557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1691" y="5399231"/>
            <a:ext cx="1828802" cy="8925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Test Methods</a:t>
            </a:r>
          </a:p>
        </p:txBody>
      </p:sp>
      <p:cxnSp>
        <p:nvCxnSpPr>
          <p:cNvPr id="15" name="Straight Arrow Connector 14"/>
          <p:cNvCxnSpPr>
            <a:cxnSpLocks/>
            <a:stCxn id="10" idx="3"/>
          </p:cNvCxnSpPr>
          <p:nvPr/>
        </p:nvCxnSpPr>
        <p:spPr>
          <a:xfrm>
            <a:off x="2090493" y="5845507"/>
            <a:ext cx="1828802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  <a:stCxn id="18" idx="3"/>
          </p:cNvCxnSpPr>
          <p:nvPr/>
        </p:nvCxnSpPr>
        <p:spPr>
          <a:xfrm>
            <a:off x="2047384" y="2605650"/>
            <a:ext cx="1761551" cy="136680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833" y="1959319"/>
            <a:ext cx="1761551" cy="12926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Tearing down the </a:t>
            </a:r>
            <a:r>
              <a:rPr lang="en-IE" sz="2600" b="1" dirty="0">
                <a:solidFill>
                  <a:srgbClr val="FF0000"/>
                </a:solidFill>
              </a:rPr>
              <a:t>test fixture</a:t>
            </a:r>
          </a:p>
        </p:txBody>
      </p:sp>
      <p:cxnSp>
        <p:nvCxnSpPr>
          <p:cNvPr id="19" name="Straight Arrow Connector 18"/>
          <p:cNvCxnSpPr>
            <a:cxnSpLocks/>
            <a:stCxn id="20" idx="3"/>
          </p:cNvCxnSpPr>
          <p:nvPr/>
        </p:nvCxnSpPr>
        <p:spPr>
          <a:xfrm>
            <a:off x="2047384" y="1157850"/>
            <a:ext cx="1915016" cy="1445351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1691" y="511519"/>
            <a:ext cx="1785693" cy="12926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Setting up the </a:t>
            </a:r>
            <a:r>
              <a:rPr lang="en-IE" sz="2600" b="1" dirty="0">
                <a:solidFill>
                  <a:srgbClr val="FF0000"/>
                </a:solidFill>
              </a:rPr>
              <a:t>test fixture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060C92-19F4-4FA9-BCAA-6E30B250E70B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090493" y="5399231"/>
            <a:ext cx="1828802" cy="44627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9EB7A6D-81D6-4BB2-BDB4-07A02870C209}"/>
              </a:ext>
            </a:extLst>
          </p:cNvPr>
          <p:cNvSpPr txBox="1"/>
          <p:nvPr/>
        </p:nvSpPr>
        <p:spPr>
          <a:xfrm>
            <a:off x="10136636" y="146039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189883-DC98-45CC-929C-6C5B044A6B15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2047384" y="4360219"/>
            <a:ext cx="1761551" cy="27064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BF4FC1D-9AD1-4BCA-BC7B-F971C803A5BE}"/>
              </a:ext>
            </a:extLst>
          </p:cNvPr>
          <p:cNvSpPr txBox="1"/>
          <p:nvPr/>
        </p:nvSpPr>
        <p:spPr>
          <a:xfrm>
            <a:off x="261691" y="3513833"/>
            <a:ext cx="1785693" cy="169277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Nesting similar tests together</a:t>
            </a:r>
            <a:endParaRPr lang="en-IE" sz="2600" b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4301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General Terminology</a:t>
            </a:r>
            <a:br>
              <a:rPr lang="en-IE" sz="3600" dirty="0"/>
            </a:br>
            <a:endParaRPr lang="en-IE" sz="3600" dirty="0"/>
          </a:p>
          <a:p>
            <a:r>
              <a:rPr lang="en-IE" sz="3600" dirty="0"/>
              <a:t>Assertions</a:t>
            </a:r>
          </a:p>
          <a:p>
            <a:endParaRPr lang="en-IE" sz="3600" dirty="0"/>
          </a:p>
          <a:p>
            <a:r>
              <a:rPr lang="en-IE" sz="3600" dirty="0"/>
              <a:t>Annotations</a:t>
            </a:r>
          </a:p>
          <a:p>
            <a:endParaRPr lang="en-IE" sz="3600" dirty="0"/>
          </a:p>
          <a:p>
            <a:r>
              <a:rPr lang="en-IE" sz="3600" dirty="0"/>
              <a:t>Fixtures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ED2EBF-AE34-4D17-A6A6-DF5A63A2E530}"/>
              </a:ext>
            </a:extLst>
          </p:cNvPr>
          <p:cNvSpPr/>
          <p:nvPr/>
        </p:nvSpPr>
        <p:spPr>
          <a:xfrm>
            <a:off x="578556" y="2819401"/>
            <a:ext cx="4679244" cy="609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5048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09600" y="3810000"/>
            <a:ext cx="2514600" cy="12926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Test Methods then contain assertions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1"/>
            <a:ext cx="2971802" cy="12926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First you import the </a:t>
            </a:r>
            <a:r>
              <a:rPr lang="en-IE" sz="2600" b="1" dirty="0">
                <a:solidFill>
                  <a:srgbClr val="FF0000"/>
                </a:solidFill>
              </a:rPr>
              <a:t>Assertions</a:t>
            </a:r>
            <a:r>
              <a:rPr lang="en-IE" sz="2600" dirty="0"/>
              <a:t> class from </a:t>
            </a:r>
            <a:r>
              <a:rPr lang="en-IE" sz="2600" b="1" dirty="0" err="1">
                <a:solidFill>
                  <a:srgbClr val="FF0000"/>
                </a:solidFill>
              </a:rPr>
              <a:t>org.junit</a:t>
            </a:r>
            <a:r>
              <a:rPr lang="en-IE" sz="2600" b="1" dirty="0">
                <a:solidFill>
                  <a:srgbClr val="FF0000"/>
                </a:solidFill>
              </a:rPr>
              <a:t>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84A403-7EAB-4EBF-A6D4-71B287129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372" y="103361"/>
            <a:ext cx="6798628" cy="6654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11AB85-9291-45B2-BD9C-AEC4C1CD6FF3}"/>
              </a:ext>
            </a:extLst>
          </p:cNvPr>
          <p:cNvSpPr txBox="1"/>
          <p:nvPr/>
        </p:nvSpPr>
        <p:spPr>
          <a:xfrm>
            <a:off x="9906000" y="76200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V="1">
            <a:off x="3429002" y="599420"/>
            <a:ext cx="1676398" cy="69795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  <a:stCxn id="10" idx="3"/>
          </p:cNvCxnSpPr>
          <p:nvPr/>
        </p:nvCxnSpPr>
        <p:spPr>
          <a:xfrm>
            <a:off x="3124200" y="4456331"/>
            <a:ext cx="2743200" cy="180224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0320D1-A9DB-4140-BB97-5B00B8D30F33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124200" y="3657601"/>
            <a:ext cx="2667000" cy="79873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69622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FB723C-9873-4461-A00A-2E33BE972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4865"/>
            <a:ext cx="9682300" cy="62923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1E72B3-187F-467E-A1CE-75BE730A7242}"/>
              </a:ext>
            </a:extLst>
          </p:cNvPr>
          <p:cNvSpPr txBox="1"/>
          <p:nvPr/>
        </p:nvSpPr>
        <p:spPr>
          <a:xfrm>
            <a:off x="9906000" y="76200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1FB2A5-97BE-404C-B6FD-EF4C181B3BB7}"/>
              </a:ext>
            </a:extLst>
          </p:cNvPr>
          <p:cNvSpPr txBox="1"/>
          <p:nvPr/>
        </p:nvSpPr>
        <p:spPr>
          <a:xfrm>
            <a:off x="9372600" y="65324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Assertions (JUnit 5.8.1 API)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3798608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Assertions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 sz="1800"/>
            </a:pPr>
            <a:r>
              <a:rPr lang="en-IE" sz="2400" dirty="0"/>
              <a:t>To check if code is behaving as you expect, you use an assertion.</a:t>
            </a:r>
          </a:p>
          <a:p>
            <a:pPr lvl="0">
              <a:defRPr sz="1800"/>
            </a:pPr>
            <a:endParaRPr lang="en-IE" sz="2400" dirty="0"/>
          </a:p>
          <a:p>
            <a:pPr lvl="0">
              <a:defRPr sz="1800"/>
            </a:pPr>
            <a:r>
              <a:rPr lang="en-IE" sz="2400" dirty="0"/>
              <a:t>An assertion is a simple method call that verifies that something is true.</a:t>
            </a:r>
          </a:p>
          <a:p>
            <a:endParaRPr lang="en-IE" sz="2400" dirty="0"/>
          </a:p>
          <a:p>
            <a:r>
              <a:rPr lang="en-IE" sz="2400" dirty="0"/>
              <a:t>The Assertions class Contains a set of assertion methods useful for writing JUnit tests. </a:t>
            </a:r>
          </a:p>
          <a:p>
            <a:endParaRPr lang="en-IE" sz="2400" dirty="0"/>
          </a:p>
          <a:p>
            <a:r>
              <a:rPr lang="en-IE" sz="2400" dirty="0"/>
              <a:t>Only failed assertions are recorded i.e. an </a:t>
            </a:r>
            <a:r>
              <a:rPr lang="en-IE" sz="2400" b="1" dirty="0" err="1"/>
              <a:t>AssertionFailedError</a:t>
            </a:r>
            <a:r>
              <a:rPr lang="en-IE" sz="2400" b="1" dirty="0"/>
              <a:t> </a:t>
            </a:r>
            <a:r>
              <a:rPr lang="en-IE" sz="2400" dirty="0"/>
              <a:t> is thrown and handled by JUnit.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2ECB56-6D59-47CE-994D-6DFBA818702A}"/>
              </a:ext>
            </a:extLst>
          </p:cNvPr>
          <p:cNvSpPr txBox="1"/>
          <p:nvPr/>
        </p:nvSpPr>
        <p:spPr>
          <a:xfrm>
            <a:off x="9906000" y="76200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5516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Assertions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1"/>
            <a:ext cx="9677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These methods can be used directly: </a:t>
            </a:r>
          </a:p>
          <a:p>
            <a:pPr marL="0" indent="0">
              <a:buNone/>
            </a:pP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E" sz="24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Assertions.assertEquals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</a:p>
          <a:p>
            <a:endParaRPr lang="en-IE" dirty="0"/>
          </a:p>
          <a:p>
            <a:pPr marL="0" indent="0">
              <a:buNone/>
            </a:pPr>
            <a:r>
              <a:rPr lang="en-IE" dirty="0"/>
              <a:t>However, they read better if they are referenced through a static import:</a:t>
            </a: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altLang="en-US" sz="21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import static </a:t>
            </a:r>
            <a:r>
              <a:rPr lang="en-US" altLang="en-US" sz="2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org.junit.jupiter.api.Assertions</a:t>
            </a:r>
            <a:r>
              <a:rPr lang="en-US" altLang="en-US" sz="2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  <a:endParaRPr lang="en-US" altLang="en-US" sz="21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E" sz="2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//some code </a:t>
            </a:r>
          </a:p>
          <a:p>
            <a:pPr marL="0" indent="0">
              <a:buNone/>
            </a:pPr>
            <a:r>
              <a:rPr lang="en-IE" sz="21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E" sz="21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IE" sz="21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0" y="4285455"/>
            <a:ext cx="1902372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 We will use this approach.</a:t>
            </a: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D53A4F0B-BC32-40B5-8FEF-D81783384054}"/>
              </a:ext>
            </a:extLst>
          </p:cNvPr>
          <p:cNvSpPr/>
          <p:nvPr/>
        </p:nvSpPr>
        <p:spPr>
          <a:xfrm>
            <a:off x="9144000" y="4645131"/>
            <a:ext cx="762000" cy="519182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955A68-42CE-4BFC-82A9-C6BD851F6AB4}"/>
              </a:ext>
            </a:extLst>
          </p:cNvPr>
          <p:cNvSpPr txBox="1"/>
          <p:nvPr/>
        </p:nvSpPr>
        <p:spPr>
          <a:xfrm>
            <a:off x="9906000" y="76200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002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common Assert methods (1)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25318"/>
              </p:ext>
            </p:extLst>
          </p:nvPr>
        </p:nvGraphicFramePr>
        <p:xfrm>
          <a:off x="1143000" y="1524000"/>
          <a:ext cx="10058400" cy="4998720"/>
        </p:xfrm>
        <a:graphic>
          <a:graphicData uri="http://schemas.openxmlformats.org/drawingml/2006/table">
            <a:tbl>
              <a:tblPr/>
              <a:tblGrid>
                <a:gridCol w="1731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7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/>
                      <a:r>
                        <a:rPr lang="en-IE" b="1" dirty="0"/>
                        <a:t>Method Summary</a:t>
                      </a:r>
                      <a:endParaRPr lang="en-IE" dirty="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A35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3"/>
                        </a:rPr>
                        <a:t>assertEquals</a:t>
                      </a:r>
                      <a:r>
                        <a:rPr lang="en-IE" sz="2000" dirty="0"/>
                        <a:t>(double expected, double actual, double delta)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two doubles are equal to within a positive delta.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4"/>
                        </a:rPr>
                        <a:t>assertEquals</a:t>
                      </a:r>
                      <a:r>
                        <a:rPr lang="en-IE" sz="2000" dirty="0"/>
                        <a:t>(long expected, long actual)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two longs are equal.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5"/>
                        </a:rPr>
                        <a:t>assertEquals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expected, 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actual)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two objects are equal.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7"/>
                        </a:rPr>
                        <a:t>assertNotEquals</a:t>
                      </a:r>
                      <a:r>
                        <a:rPr lang="en-IE" sz="2000" dirty="0"/>
                        <a:t>(double unexpected, double actual, double delta)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two doubles are </a:t>
                      </a:r>
                      <a:r>
                        <a:rPr lang="en-IE" sz="2000" b="1" dirty="0"/>
                        <a:t>not</a:t>
                      </a:r>
                      <a:r>
                        <a:rPr lang="en-IE" sz="2000" dirty="0"/>
                        <a:t> equal to within a positive delta.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8"/>
                        </a:rPr>
                        <a:t>assertNotEquals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unexpected, 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actual)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two objects are </a:t>
                      </a:r>
                      <a:r>
                        <a:rPr lang="en-IE" sz="2000" b="1" dirty="0"/>
                        <a:t>not</a:t>
                      </a:r>
                      <a:r>
                        <a:rPr lang="en-IE" sz="2000" dirty="0"/>
                        <a:t> equals.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9"/>
                        </a:rPr>
                        <a:t>assertNotSame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unexpected, 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actual)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two objects do not refer to the same object.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10"/>
                        </a:rPr>
                        <a:t>assertSame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expected, 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actual)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two objects refer to the same object.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51C9196-BB32-45DE-BC45-7169BFF3C40A}"/>
              </a:ext>
            </a:extLst>
          </p:cNvPr>
          <p:cNvSpPr txBox="1"/>
          <p:nvPr/>
        </p:nvSpPr>
        <p:spPr>
          <a:xfrm>
            <a:off x="9372600" y="65324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11"/>
              </a:rPr>
              <a:t>Assertions (JUnit 5.8.1 API)</a:t>
            </a:r>
            <a:endParaRPr lang="en-VI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2567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common Assert methods (2)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929142"/>
              </p:ext>
            </p:extLst>
          </p:nvPr>
        </p:nvGraphicFramePr>
        <p:xfrm>
          <a:off x="1981200" y="1522480"/>
          <a:ext cx="7543800" cy="4998720"/>
        </p:xfrm>
        <a:graphic>
          <a:graphicData uri="http://schemas.openxmlformats.org/drawingml/2006/table">
            <a:tbl>
              <a:tblPr/>
              <a:tblGrid>
                <a:gridCol w="1495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/>
                      <a:r>
                        <a:rPr lang="en-IE" b="1" dirty="0"/>
                        <a:t>Method Summary</a:t>
                      </a:r>
                      <a:endParaRPr lang="en-IE" dirty="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A35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3"/>
                        </a:rPr>
                        <a:t>assertNotNull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4" tooltip="class or interface in java.lang"/>
                        </a:rPr>
                        <a:t>Object</a:t>
                      </a:r>
                      <a:r>
                        <a:rPr lang="en-IE" sz="2000" dirty="0"/>
                        <a:t> object)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an object isn't null.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5"/>
                        </a:rPr>
                        <a:t>assertNotNull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String</a:t>
                      </a:r>
                      <a:r>
                        <a:rPr lang="en-IE" sz="2000" dirty="0"/>
                        <a:t> message, 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4" tooltip="class or interface in java.lang"/>
                        </a:rPr>
                        <a:t>Object</a:t>
                      </a:r>
                      <a:r>
                        <a:rPr lang="en-IE" sz="2000" dirty="0"/>
                        <a:t> object)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an object isn't null.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7"/>
                        </a:rPr>
                        <a:t>assertNull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4" tooltip="class or interface in java.lang"/>
                        </a:rPr>
                        <a:t>Object</a:t>
                      </a:r>
                      <a:r>
                        <a:rPr lang="en-IE" sz="2000" dirty="0"/>
                        <a:t> object)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an object is null.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8"/>
                        </a:rPr>
                        <a:t>assertFalse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 err="1"/>
                        <a:t>boolean</a:t>
                      </a:r>
                      <a:r>
                        <a:rPr lang="en-IE" sz="2000" dirty="0"/>
                        <a:t> condition)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a condition is false.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9"/>
                        </a:rPr>
                        <a:t>assertTrue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String</a:t>
                      </a:r>
                      <a:r>
                        <a:rPr lang="en-IE" sz="2000" dirty="0"/>
                        <a:t> message, </a:t>
                      </a:r>
                      <a:r>
                        <a:rPr lang="en-IE" sz="2000" dirty="0" err="1"/>
                        <a:t>boolean</a:t>
                      </a:r>
                      <a:r>
                        <a:rPr lang="en-IE" sz="2000" dirty="0"/>
                        <a:t> condition)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a condition is true.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>
                          <a:solidFill>
                            <a:srgbClr val="03A35D"/>
                          </a:solidFill>
                          <a:effectLst/>
                          <a:hlinkClick r:id="rId10"/>
                        </a:rPr>
                        <a:t>fail</a:t>
                      </a:r>
                      <a:r>
                        <a:rPr lang="en-IE" sz="2000" dirty="0"/>
                        <a:t>()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Fails a test with no message.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>
                          <a:solidFill>
                            <a:srgbClr val="03A35D"/>
                          </a:solidFill>
                          <a:effectLst/>
                          <a:hlinkClick r:id="rId11"/>
                        </a:rPr>
                        <a:t>fail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String</a:t>
                      </a:r>
                      <a:r>
                        <a:rPr lang="en-IE" sz="2000" dirty="0"/>
                        <a:t> message)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Fails a test with the given message.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2039839-5B46-4D4C-92A9-EC739B32A369}"/>
              </a:ext>
            </a:extLst>
          </p:cNvPr>
          <p:cNvSpPr txBox="1"/>
          <p:nvPr/>
        </p:nvSpPr>
        <p:spPr>
          <a:xfrm>
            <a:off x="9372600" y="65324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12"/>
              </a:rPr>
              <a:t>Assertions (JUnit 5.8.1 API)</a:t>
            </a:r>
            <a:endParaRPr lang="en-VI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3911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990600" y="4912006"/>
            <a:ext cx="1967089" cy="4924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 err="1"/>
              <a:t>assertTrue</a:t>
            </a:r>
            <a:endParaRPr lang="en-IE" sz="2600" dirty="0"/>
          </a:p>
        </p:txBody>
      </p:sp>
      <p:sp>
        <p:nvSpPr>
          <p:cNvPr id="11" name="TextBox 10"/>
          <p:cNvSpPr txBox="1"/>
          <p:nvPr/>
        </p:nvSpPr>
        <p:spPr>
          <a:xfrm>
            <a:off x="990598" y="2331072"/>
            <a:ext cx="1967089" cy="4924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 err="1"/>
              <a:t>assertEquals</a:t>
            </a:r>
            <a:endParaRPr lang="en-IE" sz="26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84A403-7EAB-4EBF-A6D4-71B287129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2" y="76200"/>
            <a:ext cx="6798628" cy="6654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11AB85-9291-45B2-BD9C-AEC4C1CD6FF3}"/>
              </a:ext>
            </a:extLst>
          </p:cNvPr>
          <p:cNvSpPr txBox="1"/>
          <p:nvPr/>
        </p:nvSpPr>
        <p:spPr>
          <a:xfrm>
            <a:off x="9906000" y="76200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  <p:cxnSp>
        <p:nvCxnSpPr>
          <p:cNvPr id="12" name="Straight Arrow Connector 11"/>
          <p:cNvCxnSpPr>
            <a:cxnSpLocks/>
            <a:stCxn id="10" idx="3"/>
          </p:cNvCxnSpPr>
          <p:nvPr/>
        </p:nvCxnSpPr>
        <p:spPr>
          <a:xfrm>
            <a:off x="2957689" y="5158228"/>
            <a:ext cx="2909711" cy="86157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  <a:stCxn id="14" idx="3"/>
          </p:cNvCxnSpPr>
          <p:nvPr/>
        </p:nvCxnSpPr>
        <p:spPr>
          <a:xfrm>
            <a:off x="2957688" y="5849779"/>
            <a:ext cx="2833512" cy="58786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0320D1-A9DB-4140-BB97-5B00B8D30F33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957687" y="2577294"/>
            <a:ext cx="2833513" cy="1080307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593BD2B-E637-4BDD-95B1-3FF0177D7735}"/>
              </a:ext>
            </a:extLst>
          </p:cNvPr>
          <p:cNvSpPr txBox="1"/>
          <p:nvPr/>
        </p:nvSpPr>
        <p:spPr>
          <a:xfrm>
            <a:off x="990600" y="5603557"/>
            <a:ext cx="1967088" cy="4924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 err="1"/>
              <a:t>assertFalse</a:t>
            </a:r>
            <a:endParaRPr lang="en-IE" sz="2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381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General Terminology</a:t>
            </a:r>
            <a:br>
              <a:rPr lang="en-IE" sz="3600" dirty="0"/>
            </a:br>
            <a:endParaRPr lang="en-IE" sz="3600" dirty="0"/>
          </a:p>
          <a:p>
            <a:r>
              <a:rPr lang="en-IE" sz="3600" dirty="0"/>
              <a:t>Assertions</a:t>
            </a:r>
          </a:p>
          <a:p>
            <a:endParaRPr lang="en-IE" sz="3600" dirty="0"/>
          </a:p>
          <a:p>
            <a:r>
              <a:rPr lang="en-IE" sz="3600" dirty="0"/>
              <a:t>Annotations</a:t>
            </a:r>
          </a:p>
          <a:p>
            <a:endParaRPr lang="en-IE" sz="3600" dirty="0"/>
          </a:p>
          <a:p>
            <a:r>
              <a:rPr lang="en-IE" sz="3600" dirty="0"/>
              <a:t>Fixtures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B3F9D5-EF90-4D1D-AED3-CED349C7D586}"/>
              </a:ext>
            </a:extLst>
          </p:cNvPr>
          <p:cNvSpPr/>
          <p:nvPr/>
        </p:nvSpPr>
        <p:spPr>
          <a:xfrm>
            <a:off x="578556" y="4114800"/>
            <a:ext cx="4679244" cy="609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5048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84A403-7EAB-4EBF-A6D4-71B287129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2" y="76200"/>
            <a:ext cx="6798628" cy="6654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11AB85-9291-45B2-BD9C-AEC4C1CD6FF3}"/>
              </a:ext>
            </a:extLst>
          </p:cNvPr>
          <p:cNvSpPr txBox="1"/>
          <p:nvPr/>
        </p:nvSpPr>
        <p:spPr>
          <a:xfrm>
            <a:off x="9906000" y="76200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V="1">
            <a:off x="2603834" y="2133600"/>
            <a:ext cx="2730166" cy="138276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  <a:stCxn id="16" idx="3"/>
          </p:cNvCxnSpPr>
          <p:nvPr/>
        </p:nvCxnSpPr>
        <p:spPr>
          <a:xfrm flipV="1">
            <a:off x="2603834" y="2632803"/>
            <a:ext cx="2730166" cy="88355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0320D1-A9DB-4140-BB97-5B00B8D30F33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2603834" y="1600202"/>
            <a:ext cx="2730166" cy="191616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3E6E237-F570-40EA-8193-C53C4F06BF9C}"/>
              </a:ext>
            </a:extLst>
          </p:cNvPr>
          <p:cNvSpPr txBox="1"/>
          <p:nvPr/>
        </p:nvSpPr>
        <p:spPr>
          <a:xfrm>
            <a:off x="783270" y="2362200"/>
            <a:ext cx="1820564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These methods have </a:t>
            </a:r>
            <a:r>
              <a:rPr lang="en-IE" sz="2400" b="1" dirty="0"/>
              <a:t>Annotations</a:t>
            </a:r>
          </a:p>
          <a:p>
            <a:pPr algn="ctr"/>
            <a:endParaRPr lang="en-IE" sz="2400" dirty="0"/>
          </a:p>
          <a:p>
            <a:pPr algn="ctr"/>
            <a:r>
              <a:rPr lang="en-IE" sz="2400" b="1" dirty="0">
                <a:solidFill>
                  <a:srgbClr val="0070C0"/>
                </a:solidFill>
              </a:rPr>
              <a:t>@</a:t>
            </a:r>
            <a:r>
              <a:rPr lang="en-IE" sz="2400" b="1" dirty="0" err="1">
                <a:solidFill>
                  <a:srgbClr val="0070C0"/>
                </a:solidFill>
              </a:rPr>
              <a:t>someword</a:t>
            </a:r>
            <a:endParaRPr lang="en-IE" sz="2400" b="1" dirty="0">
              <a:solidFill>
                <a:srgbClr val="0070C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10025C-7A0F-48B1-AB05-899B36B1875C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2603834" y="3516362"/>
            <a:ext cx="2958766" cy="105563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16856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IE" sz="4000" dirty="0"/>
              <a:t>What are Annotations?</a:t>
            </a:r>
            <a:endParaRPr sz="4000" dirty="0"/>
          </a:p>
        </p:txBody>
      </p:sp>
      <p:sp>
        <p:nvSpPr>
          <p:cNvPr id="104" name="Shape 10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1969"/>
              </a:spcBef>
              <a:defRPr sz="1800"/>
            </a:pPr>
            <a:endParaRPr lang="en-IE" sz="1050" dirty="0"/>
          </a:p>
          <a:p>
            <a:pPr>
              <a:spcBef>
                <a:spcPts val="1969"/>
              </a:spcBef>
              <a:defRPr sz="1800"/>
            </a:pPr>
            <a:r>
              <a:rPr sz="2800" dirty="0"/>
              <a:t>Annotations provide data about a program that is not part of the program itself. They have no direct effect on the operation of the code they annotate.</a:t>
            </a:r>
            <a:endParaRPr lang="en-IE" sz="2800" dirty="0"/>
          </a:p>
          <a:p>
            <a:pPr>
              <a:spcBef>
                <a:spcPts val="1969"/>
              </a:spcBef>
              <a:defRPr sz="1800"/>
            </a:pPr>
            <a:endParaRPr sz="2800" dirty="0"/>
          </a:p>
          <a:p>
            <a:pPr>
              <a:spcBef>
                <a:spcPts val="1969"/>
              </a:spcBef>
              <a:defRPr sz="1800"/>
            </a:pPr>
            <a:r>
              <a:rPr sz="2800" dirty="0"/>
              <a:t>Annotations can be applied to a program's declarations of classes, fields, methods, and other program elements</a:t>
            </a:r>
            <a:r>
              <a:rPr lang="en-IE" sz="2800" dirty="0"/>
              <a:t>.</a:t>
            </a:r>
            <a:endParaRPr sz="2800" dirty="0"/>
          </a:p>
        </p:txBody>
      </p:sp>
      <p:sp>
        <p:nvSpPr>
          <p:cNvPr id="105" name="Shape 10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15</a:t>
            </a:fld>
            <a:endParaRPr sz="1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1009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IE" sz="4000" dirty="0"/>
              <a:t>What are Annotations?</a:t>
            </a:r>
            <a:endParaRPr sz="4000" dirty="0"/>
          </a:p>
        </p:txBody>
      </p:sp>
      <p:sp>
        <p:nvSpPr>
          <p:cNvPr id="104" name="Shape 10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1969"/>
              </a:spcBef>
              <a:defRPr sz="1800"/>
            </a:pPr>
            <a:endParaRPr lang="en-IE" sz="300" dirty="0"/>
          </a:p>
          <a:p>
            <a:pPr>
              <a:spcBef>
                <a:spcPts val="1969"/>
              </a:spcBef>
              <a:defRPr sz="1800"/>
            </a:pPr>
            <a:r>
              <a:rPr sz="2400" dirty="0"/>
              <a:t>Annotations have a number of uses, among them:</a:t>
            </a:r>
          </a:p>
          <a:p>
            <a:pPr lvl="1">
              <a:spcBef>
                <a:spcPts val="1969"/>
              </a:spcBef>
              <a:defRPr sz="1800"/>
            </a:pPr>
            <a:r>
              <a:rPr sz="2400" dirty="0"/>
              <a:t>Information for the compiler — Annotations can be used by the compiler to detect errors or suppress warnings. </a:t>
            </a:r>
          </a:p>
          <a:p>
            <a:pPr lvl="1">
              <a:spcBef>
                <a:spcPts val="1969"/>
              </a:spcBef>
              <a:defRPr sz="1800"/>
            </a:pPr>
            <a:r>
              <a:rPr sz="2400" dirty="0"/>
              <a:t>Compiler-time and deployment-time processing — Software tools can process annotation information to generate code, XML files, and so forth. </a:t>
            </a:r>
          </a:p>
          <a:p>
            <a:pPr lvl="1">
              <a:spcBef>
                <a:spcPts val="1969"/>
              </a:spcBef>
              <a:defRPr sz="1800"/>
            </a:pPr>
            <a:r>
              <a:rPr sz="2400" dirty="0"/>
              <a:t>Runtime processing — Some annotations are available to be examined at runtime.</a:t>
            </a:r>
          </a:p>
        </p:txBody>
      </p:sp>
      <p:sp>
        <p:nvSpPr>
          <p:cNvPr id="105" name="Shape 10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16</a:t>
            </a:fld>
            <a:endParaRPr sz="1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7127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8F1335-505C-48F4-A986-0CB99C8ED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1" y="117999"/>
            <a:ext cx="7036546" cy="6629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Straight Arrow Connector 8"/>
          <p:cNvCxnSpPr>
            <a:cxnSpLocks/>
            <a:stCxn id="10" idx="3"/>
          </p:cNvCxnSpPr>
          <p:nvPr/>
        </p:nvCxnSpPr>
        <p:spPr>
          <a:xfrm>
            <a:off x="3962400" y="6079362"/>
            <a:ext cx="1524000" cy="169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4978" y="5525364"/>
            <a:ext cx="3787422" cy="11079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b="1" dirty="0">
                <a:solidFill>
                  <a:srgbClr val="0070C0"/>
                </a:solidFill>
              </a:rPr>
              <a:t>@Test </a:t>
            </a:r>
          </a:p>
          <a:p>
            <a:r>
              <a:rPr lang="en-IE" sz="2200" dirty="0"/>
              <a:t>identifies  that a method is a test method.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978" y="457200"/>
            <a:ext cx="3863621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200" dirty="0"/>
              <a:t>Import the required Annotation class(</a:t>
            </a:r>
            <a:r>
              <a:rPr lang="en-IE" sz="2200" dirty="0" err="1"/>
              <a:t>es</a:t>
            </a:r>
            <a:r>
              <a:rPr lang="en-IE" sz="2200" dirty="0"/>
              <a:t>) from </a:t>
            </a:r>
            <a:r>
              <a:rPr lang="en-IE" sz="2200" dirty="0" err="1"/>
              <a:t>org.junit</a:t>
            </a:r>
            <a:r>
              <a:rPr lang="en-IE" sz="2200" dirty="0"/>
              <a:t>.</a:t>
            </a:r>
          </a:p>
        </p:txBody>
      </p:sp>
      <p:sp>
        <p:nvSpPr>
          <p:cNvPr id="2" name="Left Brace 1"/>
          <p:cNvSpPr/>
          <p:nvPr/>
        </p:nvSpPr>
        <p:spPr>
          <a:xfrm>
            <a:off x="4038598" y="457199"/>
            <a:ext cx="914401" cy="769441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4" name="Straight Arrow Connector 13"/>
          <p:cNvCxnSpPr>
            <a:cxnSpLocks/>
            <a:stCxn id="10" idx="3"/>
          </p:cNvCxnSpPr>
          <p:nvPr/>
        </p:nvCxnSpPr>
        <p:spPr>
          <a:xfrm flipV="1">
            <a:off x="3962400" y="5618202"/>
            <a:ext cx="1600200" cy="46116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4978" y="1598259"/>
            <a:ext cx="3863621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b="1" dirty="0">
                <a:solidFill>
                  <a:srgbClr val="0070C0"/>
                </a:solidFill>
              </a:rPr>
              <a:t>@BeforeEach </a:t>
            </a:r>
            <a:r>
              <a:rPr lang="en-IE" sz="2200" dirty="0"/>
              <a:t>runs the method before each test.</a:t>
            </a:r>
          </a:p>
        </p:txBody>
      </p:sp>
      <p:cxnSp>
        <p:nvCxnSpPr>
          <p:cNvPr id="18" name="Straight Arrow Connector 17"/>
          <p:cNvCxnSpPr>
            <a:cxnSpLocks/>
            <a:stCxn id="17" idx="3"/>
          </p:cNvCxnSpPr>
          <p:nvPr/>
        </p:nvCxnSpPr>
        <p:spPr>
          <a:xfrm>
            <a:off x="4038599" y="1982980"/>
            <a:ext cx="1219201" cy="65807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4976" y="2590139"/>
            <a:ext cx="3863622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b="1" dirty="0">
                <a:solidFill>
                  <a:srgbClr val="0070C0"/>
                </a:solidFill>
              </a:rPr>
              <a:t>@</a:t>
            </a:r>
            <a:r>
              <a:rPr lang="en-IE" sz="2200" b="1" dirty="0" err="1">
                <a:solidFill>
                  <a:srgbClr val="0070C0"/>
                </a:solidFill>
              </a:rPr>
              <a:t>AfterEach</a:t>
            </a:r>
            <a:r>
              <a:rPr lang="en-IE" sz="2200" b="1" dirty="0">
                <a:solidFill>
                  <a:srgbClr val="0070C0"/>
                </a:solidFill>
              </a:rPr>
              <a:t> </a:t>
            </a:r>
          </a:p>
          <a:p>
            <a:r>
              <a:rPr lang="en-IE" sz="2200" dirty="0"/>
              <a:t>runs the method after each test.</a:t>
            </a:r>
          </a:p>
        </p:txBody>
      </p:sp>
      <p:cxnSp>
        <p:nvCxnSpPr>
          <p:cNvPr id="20" name="Straight Arrow Connector 19"/>
          <p:cNvCxnSpPr>
            <a:cxnSpLocks/>
            <a:stCxn id="19" idx="3"/>
          </p:cNvCxnSpPr>
          <p:nvPr/>
        </p:nvCxnSpPr>
        <p:spPr>
          <a:xfrm>
            <a:off x="4038598" y="2974860"/>
            <a:ext cx="1219202" cy="39211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2F1A045-624C-4A97-9FED-4F8CEC0A3B6C}"/>
              </a:ext>
            </a:extLst>
          </p:cNvPr>
          <p:cNvSpPr txBox="1"/>
          <p:nvPr/>
        </p:nvSpPr>
        <p:spPr>
          <a:xfrm>
            <a:off x="10058400" y="110601"/>
            <a:ext cx="1981200" cy="95410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r>
              <a:rPr lang="en-IE" sz="2800" dirty="0"/>
              <a:t> Annotations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C06A5C-C0EF-49F1-AE29-A408B8453981}"/>
              </a:ext>
            </a:extLst>
          </p:cNvPr>
          <p:cNvSpPr txBox="1"/>
          <p:nvPr/>
        </p:nvSpPr>
        <p:spPr>
          <a:xfrm>
            <a:off x="152400" y="3733800"/>
            <a:ext cx="3787422" cy="11079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b="1" dirty="0">
                <a:solidFill>
                  <a:srgbClr val="0070C0"/>
                </a:solidFill>
              </a:rPr>
              <a:t>@Nested</a:t>
            </a:r>
          </a:p>
          <a:p>
            <a:r>
              <a:rPr lang="en-IE" sz="2200" dirty="0"/>
              <a:t>Groups together a series of methods into a nested class.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B6A1318-FCD0-45EF-AE68-19025875CB0D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3939822" y="3962400"/>
            <a:ext cx="1317978" cy="32539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528045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Other Useful </a:t>
            </a:r>
            <a:r>
              <a:rPr lang="en-IE" b="1" dirty="0">
                <a:solidFill>
                  <a:srgbClr val="0070C0"/>
                </a:solidFill>
              </a:rPr>
              <a:t>JUnit5 </a:t>
            </a:r>
            <a:r>
              <a:rPr lang="en-IE" dirty="0"/>
              <a:t>Annotations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368935"/>
              </p:ext>
            </p:extLst>
          </p:nvPr>
        </p:nvGraphicFramePr>
        <p:xfrm>
          <a:off x="685800" y="1905001"/>
          <a:ext cx="10744200" cy="3657601"/>
        </p:xfrm>
        <a:graphic>
          <a:graphicData uri="http://schemas.openxmlformats.org/drawingml/2006/table">
            <a:tbl>
              <a:tblPr/>
              <a:tblGrid>
                <a:gridCol w="285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4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3142">
                <a:tc>
                  <a:txBody>
                    <a:bodyPr/>
                    <a:lstStyle/>
                    <a:p>
                      <a:pPr algn="l"/>
                      <a:r>
                        <a:rPr lang="en-IE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@</a:t>
                      </a:r>
                      <a:r>
                        <a:rPr lang="en-IE" sz="20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BeforeAll</a:t>
                      </a:r>
                      <a:endParaRPr lang="en-IE" sz="20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</a:endParaRPr>
                    </a:p>
                    <a:p>
                      <a:pPr algn="l"/>
                      <a:r>
                        <a:rPr lang="en-IE" sz="2000" b="1" dirty="0">
                          <a:effectLst/>
                        </a:rPr>
                        <a:t>public void method()</a:t>
                      </a:r>
                    </a:p>
                  </a:txBody>
                  <a:tcPr marL="46183" marR="46183" marT="23092" marB="230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E" sz="2000" dirty="0">
                          <a:effectLst/>
                        </a:rPr>
                        <a:t>Will execute the method once, before the start of all tests in the current class.</a:t>
                      </a:r>
                    </a:p>
                  </a:txBody>
                  <a:tcPr marL="46183" marR="46183" marT="23092" marB="230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3142">
                <a:tc>
                  <a:txBody>
                    <a:bodyPr/>
                    <a:lstStyle/>
                    <a:p>
                      <a:pPr algn="l"/>
                      <a:r>
                        <a:rPr lang="en-IE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@</a:t>
                      </a:r>
                      <a:r>
                        <a:rPr lang="en-IE" sz="20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AfterAll</a:t>
                      </a:r>
                      <a:r>
                        <a:rPr lang="en-IE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</a:p>
                    <a:p>
                      <a:pPr algn="l"/>
                      <a:r>
                        <a:rPr lang="en-IE" sz="2000" b="1" dirty="0">
                          <a:effectLst/>
                        </a:rPr>
                        <a:t>public void method()</a:t>
                      </a:r>
                    </a:p>
                  </a:txBody>
                  <a:tcPr marL="46183" marR="46183" marT="23092" marB="230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E" sz="2000" dirty="0">
                          <a:effectLst/>
                        </a:rPr>
                        <a:t>Will execute the method once, after all tests in the current class have finished.  </a:t>
                      </a:r>
                    </a:p>
                  </a:txBody>
                  <a:tcPr marL="46183" marR="46183" marT="23092" marB="230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1317">
                <a:tc>
                  <a:txBody>
                    <a:bodyPr/>
                    <a:lstStyle/>
                    <a:p>
                      <a:pPr algn="l"/>
                      <a:r>
                        <a:rPr lang="en-IE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@Disabled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000" b="1" dirty="0">
                          <a:effectLst/>
                        </a:rPr>
                        <a:t>public void method()</a:t>
                      </a:r>
                    </a:p>
                  </a:txBody>
                  <a:tcPr marL="46183" marR="46183" marT="23092" marB="230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E" sz="2000" dirty="0">
                          <a:effectLst/>
                        </a:rPr>
                        <a:t>Used to disable a test class or test method.  </a:t>
                      </a:r>
                    </a:p>
                  </a:txBody>
                  <a:tcPr marL="46183" marR="46183" marT="23092" marB="230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644005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General Terminology</a:t>
            </a:r>
            <a:br>
              <a:rPr lang="en-IE" sz="3600" dirty="0"/>
            </a:br>
            <a:endParaRPr lang="en-IE" sz="3600" dirty="0"/>
          </a:p>
          <a:p>
            <a:r>
              <a:rPr lang="en-IE" sz="3600" dirty="0"/>
              <a:t>Assertions</a:t>
            </a:r>
          </a:p>
          <a:p>
            <a:endParaRPr lang="en-IE" sz="3600" dirty="0"/>
          </a:p>
          <a:p>
            <a:r>
              <a:rPr lang="en-IE" sz="3600" dirty="0"/>
              <a:t>Annotations</a:t>
            </a:r>
          </a:p>
          <a:p>
            <a:endParaRPr lang="en-IE" sz="3600" dirty="0"/>
          </a:p>
          <a:p>
            <a:r>
              <a:rPr lang="en-IE" sz="3600" dirty="0"/>
              <a:t>Fixtures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533400" y="5486400"/>
            <a:ext cx="41148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4531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CAEACE-50B5-4583-9185-7A5B7B79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395" y="328827"/>
            <a:ext cx="9630987" cy="5563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Straight Arrow Connector 8"/>
          <p:cNvCxnSpPr>
            <a:cxnSpLocks/>
            <a:stCxn id="10" idx="3"/>
          </p:cNvCxnSpPr>
          <p:nvPr/>
        </p:nvCxnSpPr>
        <p:spPr>
          <a:xfrm>
            <a:off x="2065867" y="5337854"/>
            <a:ext cx="1210733" cy="14854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5166" y="4783856"/>
            <a:ext cx="1790701" cy="11079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Tearing down the test fixture.</a:t>
            </a:r>
          </a:p>
        </p:txBody>
      </p:sp>
      <p:sp>
        <p:nvSpPr>
          <p:cNvPr id="2" name="Left Brace 1"/>
          <p:cNvSpPr/>
          <p:nvPr/>
        </p:nvSpPr>
        <p:spPr>
          <a:xfrm>
            <a:off x="2065868" y="2971800"/>
            <a:ext cx="1096432" cy="1812056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TextBox 16"/>
          <p:cNvSpPr txBox="1"/>
          <p:nvPr/>
        </p:nvSpPr>
        <p:spPr>
          <a:xfrm>
            <a:off x="275166" y="3469538"/>
            <a:ext cx="1823156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Setting up the test fixture.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299" y="1897559"/>
            <a:ext cx="1857024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Test fixture fields.</a:t>
            </a:r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>
            <a:off x="2098322" y="2209800"/>
            <a:ext cx="1178278" cy="2286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BB95A2-2C51-463A-9656-A463F117FBA9}"/>
              </a:ext>
            </a:extLst>
          </p:cNvPr>
          <p:cNvSpPr txBox="1"/>
          <p:nvPr/>
        </p:nvSpPr>
        <p:spPr>
          <a:xfrm>
            <a:off x="10094182" y="110601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7655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Fixtures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A </a:t>
            </a:r>
            <a:r>
              <a:rPr lang="en-IE" b="1" dirty="0"/>
              <a:t>Fixture </a:t>
            </a:r>
            <a:r>
              <a:rPr lang="en-IE" dirty="0"/>
              <a:t>is a fixed state of a set of objects used as a baseline for running tests. </a:t>
            </a:r>
          </a:p>
          <a:p>
            <a:r>
              <a:rPr lang="en-IE" dirty="0"/>
              <a:t>Test fixtures allow tests to share common test data.</a:t>
            </a:r>
          </a:p>
          <a:p>
            <a:r>
              <a:rPr lang="en-IE" dirty="0"/>
              <a:t>The purpose of a test fixture is to ensure that there is a fixed environment in which tests are run so that results are repeatable. </a:t>
            </a:r>
          </a:p>
          <a:p>
            <a:r>
              <a:rPr lang="en-IE" dirty="0"/>
              <a:t>It includes:</a:t>
            </a:r>
          </a:p>
          <a:p>
            <a:pPr lvl="1"/>
            <a:r>
              <a:rPr lang="en-IE" dirty="0" err="1"/>
              <a:t>setUp</a:t>
            </a:r>
            <a:r>
              <a:rPr lang="en-IE" dirty="0"/>
              <a:t>() method which runs before every test method.</a:t>
            </a:r>
          </a:p>
          <a:p>
            <a:pPr lvl="1"/>
            <a:r>
              <a:rPr lang="en-IE" dirty="0" err="1"/>
              <a:t>tearDown</a:t>
            </a:r>
            <a:r>
              <a:rPr lang="en-IE" dirty="0"/>
              <a:t>() method which runs after every test method.</a:t>
            </a:r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4495801" y="6514011"/>
            <a:ext cx="61427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dirty="0">
                <a:hlinkClick r:id="rId3"/>
              </a:rPr>
              <a:t>http://www.tutorialspoint.com/junit/junit_test_framework.htm</a:t>
            </a:r>
            <a:r>
              <a:rPr lang="en-IE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2157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203" y="10668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438401" y="24366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6623</TotalTime>
  <Words>909</Words>
  <Application>Microsoft Macintosh PowerPoint</Application>
  <PresentationFormat>Widescreen</PresentationFormat>
  <Paragraphs>160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Courier New</vt:lpstr>
      <vt:lpstr>Gill Sans</vt:lpstr>
      <vt:lpstr>Helvetica Neue UltraLight</vt:lpstr>
      <vt:lpstr>Office Theme</vt:lpstr>
      <vt:lpstr>JUnit Framework</vt:lpstr>
      <vt:lpstr>Topic List </vt:lpstr>
      <vt:lpstr>PowerPoint Presentation</vt:lpstr>
      <vt:lpstr>PowerPoint Presentation</vt:lpstr>
      <vt:lpstr>Topic List </vt:lpstr>
      <vt:lpstr>PowerPoint Presentation</vt:lpstr>
      <vt:lpstr>PowerPoint Presentation</vt:lpstr>
      <vt:lpstr>The Assertions Class</vt:lpstr>
      <vt:lpstr>The Assertions Class</vt:lpstr>
      <vt:lpstr>Some common Assert methods (1)</vt:lpstr>
      <vt:lpstr>Some common Assert methods (2)</vt:lpstr>
      <vt:lpstr>PowerPoint Presentation</vt:lpstr>
      <vt:lpstr>Topic List </vt:lpstr>
      <vt:lpstr>PowerPoint Presentation</vt:lpstr>
      <vt:lpstr>What are Annotations?</vt:lpstr>
      <vt:lpstr>What are Annotations?</vt:lpstr>
      <vt:lpstr>PowerPoint Presentation</vt:lpstr>
      <vt:lpstr>Other Useful JUnit5 Annotations</vt:lpstr>
      <vt:lpstr>Topic List </vt:lpstr>
      <vt:lpstr>PowerPoint Presentation</vt:lpstr>
      <vt:lpstr>Fixtures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Mairead Meagher</cp:lastModifiedBy>
  <cp:revision>160</cp:revision>
  <dcterms:created xsi:type="dcterms:W3CDTF">2006-08-16T00:00:00Z</dcterms:created>
  <dcterms:modified xsi:type="dcterms:W3CDTF">2024-02-28T15:37:15Z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FF5A7D80-6C30-434A-9D59-15D7BAD30DD1</vt:lpwstr>
  </property>
  <property fmtid="{D5CDD505-2E9C-101B-9397-08002B2CF9AE}" pid="3" name="ArticulatePath">
    <vt:lpwstr>a-prog-fund-2-TDD</vt:lpwstr>
  </property>
</Properties>
</file>