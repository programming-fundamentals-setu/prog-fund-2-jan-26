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2"/>
  </p:notesMasterIdLst>
  <p:sldIdLst>
    <p:sldId id="455" r:id="rId2"/>
    <p:sldId id="477" r:id="rId3"/>
    <p:sldId id="478" r:id="rId4"/>
    <p:sldId id="480" r:id="rId5"/>
    <p:sldId id="481" r:id="rId6"/>
    <p:sldId id="545" r:id="rId7"/>
    <p:sldId id="616" r:id="rId8"/>
    <p:sldId id="483" r:id="rId9"/>
    <p:sldId id="482" r:id="rId10"/>
    <p:sldId id="617" r:id="rId11"/>
    <p:sldId id="618" r:id="rId12"/>
    <p:sldId id="619" r:id="rId13"/>
    <p:sldId id="484" r:id="rId14"/>
    <p:sldId id="485" r:id="rId15"/>
    <p:sldId id="486" r:id="rId16"/>
    <p:sldId id="487" r:id="rId17"/>
    <p:sldId id="607" r:id="rId18"/>
    <p:sldId id="489" r:id="rId19"/>
    <p:sldId id="490" r:id="rId20"/>
    <p:sldId id="491" r:id="rId21"/>
    <p:sldId id="492" r:id="rId22"/>
    <p:sldId id="615" r:id="rId23"/>
    <p:sldId id="608" r:id="rId24"/>
    <p:sldId id="620" r:id="rId25"/>
    <p:sldId id="546" r:id="rId26"/>
    <p:sldId id="547" r:id="rId27"/>
    <p:sldId id="548" r:id="rId28"/>
    <p:sldId id="494" r:id="rId29"/>
    <p:sldId id="609" r:id="rId30"/>
    <p:sldId id="560" r:id="rId31"/>
    <p:sldId id="561" r:id="rId32"/>
    <p:sldId id="611" r:id="rId33"/>
    <p:sldId id="604" r:id="rId34"/>
    <p:sldId id="605" r:id="rId35"/>
    <p:sldId id="606" r:id="rId36"/>
    <p:sldId id="570" r:id="rId37"/>
    <p:sldId id="571" r:id="rId38"/>
    <p:sldId id="610" r:id="rId39"/>
    <p:sldId id="613" r:id="rId40"/>
    <p:sldId id="575" r:id="rId41"/>
    <p:sldId id="574" r:id="rId42"/>
    <p:sldId id="543" r:id="rId43"/>
    <p:sldId id="568" r:id="rId44"/>
    <p:sldId id="612" r:id="rId45"/>
    <p:sldId id="498" r:id="rId46"/>
    <p:sldId id="572" r:id="rId47"/>
    <p:sldId id="576" r:id="rId48"/>
    <p:sldId id="577" r:id="rId49"/>
    <p:sldId id="614" r:id="rId50"/>
    <p:sldId id="603" r:id="rId5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58E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93" autoAdjust="0"/>
    <p:restoredTop sz="92663" autoAdjust="0"/>
  </p:normalViewPr>
  <p:slideViewPr>
    <p:cSldViewPr>
      <p:cViewPr varScale="1">
        <p:scale>
          <a:sx n="114" d="100"/>
          <a:sy n="114" d="100"/>
        </p:scale>
        <p:origin x="608" y="17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1431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90" d="100"/>
        <a:sy n="9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CA051C-64F0-4573-B882-616D757F8DD4}" type="datetimeFigureOut">
              <a:rPr lang="en-IE" smtClean="0"/>
              <a:t>03/02/2025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E81B23-C832-43C5-9B50-044EE2C12CE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2726438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GB"/>
              <a:t>Objects First with Java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GB"/>
              <a:t>© David J. Barnes and Michael Kölling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5968AF7-F4DF-4677-BF8F-E565C7AC98F6}" type="slidenum">
              <a:rPr lang="en-GB"/>
              <a:pPr/>
              <a:t>3</a:t>
            </a:fld>
            <a:endParaRPr lang="en-GB"/>
          </a:p>
        </p:txBody>
      </p:sp>
      <p:sp>
        <p:nvSpPr>
          <p:cNvPr id="1157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157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1195388" cy="27463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0796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GB"/>
              <a:t>Objects First with Java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GB"/>
              <a:t>© David J. Barnes and Michael Kölling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0F5C5C6-F56C-458E-988A-F362FF4B64DB}" type="slidenum">
              <a:rPr lang="en-GB"/>
              <a:pPr/>
              <a:t>4</a:t>
            </a:fld>
            <a:endParaRPr lang="en-GB"/>
          </a:p>
        </p:txBody>
      </p:sp>
      <p:sp>
        <p:nvSpPr>
          <p:cNvPr id="1167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167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1195388" cy="27463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2948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GB"/>
              <a:t>Objects First with Java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GB"/>
              <a:t>© David J. Barnes and Michael Kölling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BB9D579-C9DB-4264-945B-C1209D2E75AC}" type="slidenum">
              <a:rPr lang="en-GB"/>
              <a:pPr/>
              <a:t>5</a:t>
            </a:fld>
            <a:endParaRPr lang="en-GB"/>
          </a:p>
        </p:txBody>
      </p:sp>
      <p:sp>
        <p:nvSpPr>
          <p:cNvPr id="1177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177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1195388" cy="27463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4270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/>
              <a:t>We will look at List, Set and Map in this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E81B23-C832-43C5-9B50-044EE2C12CE3}" type="slidenum">
              <a:rPr lang="en-IE" smtClean="0"/>
              <a:t>6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9484951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/>
              <a:t>We will look at List, Set and Map in this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E81B23-C832-43C5-9B50-044EE2C12CE3}" type="slidenum">
              <a:rPr lang="en-IE" smtClean="0"/>
              <a:t>7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8033012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GB"/>
              <a:t>Objects First with Java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GB"/>
              <a:t>© David J. Barnes and Michael Kölling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B29F07A-AFCF-4475-B3F1-78065FC75E74}" type="slidenum">
              <a:rPr lang="en-GB"/>
              <a:pPr/>
              <a:t>8</a:t>
            </a:fld>
            <a:endParaRPr lang="en-GB"/>
          </a:p>
        </p:txBody>
      </p:sp>
      <p:sp>
        <p:nvSpPr>
          <p:cNvPr id="1198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198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1195388" cy="274638"/>
          </a:xfrm>
        </p:spPr>
        <p:txBody>
          <a:bodyPr/>
          <a:lstStyle/>
          <a:p>
            <a:r>
              <a:rPr lang="en-US" dirty="0"/>
              <a:t>The type must be an object…it cannot store primitive types. </a:t>
            </a:r>
          </a:p>
        </p:txBody>
      </p:sp>
    </p:spTree>
    <p:extLst>
      <p:ext uri="{BB962C8B-B14F-4D97-AF65-F5344CB8AC3E}">
        <p14:creationId xmlns:p14="http://schemas.microsoft.com/office/powerpoint/2010/main" val="10496968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GB"/>
              <a:t>Objects First with Java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GB"/>
              <a:t>© David J. Barnes and Michael Kölling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4A226A5-5824-402C-8B4F-260A788A38E9}" type="slidenum">
              <a:rPr lang="en-GB"/>
              <a:pPr/>
              <a:t>9</a:t>
            </a:fld>
            <a:endParaRPr lang="en-GB"/>
          </a:p>
        </p:txBody>
      </p:sp>
      <p:sp>
        <p:nvSpPr>
          <p:cNvPr id="1187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187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1195388" cy="27463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2223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GB"/>
              <a:t>Objects First with Java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GB"/>
              <a:t>© David J. Barnes and Michael Kölling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4A226A5-5824-402C-8B4F-260A788A38E9}" type="slidenum">
              <a:rPr lang="en-GB"/>
              <a:pPr/>
              <a:t>10</a:t>
            </a:fld>
            <a:endParaRPr lang="en-GB"/>
          </a:p>
        </p:txBody>
      </p:sp>
      <p:sp>
        <p:nvSpPr>
          <p:cNvPr id="1187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187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1195388" cy="27463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3937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GB"/>
              <a:t>Objects First with Java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GB"/>
              <a:t>© David J. Barnes and Michael Kölling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4A226A5-5824-402C-8B4F-260A788A38E9}" type="slidenum">
              <a:rPr lang="en-GB"/>
              <a:pPr/>
              <a:t>11</a:t>
            </a:fld>
            <a:endParaRPr lang="en-GB"/>
          </a:p>
        </p:txBody>
      </p:sp>
      <p:sp>
        <p:nvSpPr>
          <p:cNvPr id="1187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187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1195388" cy="27463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3456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GB"/>
              <a:t>Objects First with Java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GB"/>
              <a:t>© David J. Barnes and Michael Kölling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4A226A5-5824-402C-8B4F-260A788A38E9}" type="slidenum">
              <a:rPr lang="en-GB"/>
              <a:pPr/>
              <a:t>12</a:t>
            </a:fld>
            <a:endParaRPr lang="en-GB"/>
          </a:p>
        </p:txBody>
      </p:sp>
      <p:sp>
        <p:nvSpPr>
          <p:cNvPr id="1187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187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1195388" cy="27463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432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GB"/>
              <a:t>Objects First with Java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GB"/>
              <a:t>© David J. Barnes and Michael Kölling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D2627A2-1406-4140-93E7-A5A4B9E074FE}" type="slidenum">
              <a:rPr lang="en-GB"/>
              <a:pPr/>
              <a:t>13</a:t>
            </a:fld>
            <a:endParaRPr lang="en-GB"/>
          </a:p>
        </p:txBody>
      </p:sp>
      <p:sp>
        <p:nvSpPr>
          <p:cNvPr id="120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208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1195388" cy="27463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1227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GB"/>
              <a:t>Objects First with Java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GB"/>
              <a:t>© David J. Barnes and Michael Kölling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CC97EB5-E582-4061-ABE8-0F706322247C}" type="slidenum">
              <a:rPr lang="en-GB"/>
              <a:pPr/>
              <a:t>14</a:t>
            </a:fld>
            <a:endParaRPr lang="en-GB"/>
          </a:p>
        </p:txBody>
      </p:sp>
      <p:sp>
        <p:nvSpPr>
          <p:cNvPr id="1218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218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1195388" cy="27463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76025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GB"/>
              <a:t>Objects First with Java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GB"/>
              <a:t>© David J. Barnes and Michael Kölling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C29A42F-26BE-4934-A376-6523DF5E3010}" type="slidenum">
              <a:rPr lang="en-GB"/>
              <a:pPr/>
              <a:t>15</a:t>
            </a:fld>
            <a:endParaRPr lang="en-GB"/>
          </a:p>
        </p:txBody>
      </p:sp>
      <p:sp>
        <p:nvSpPr>
          <p:cNvPr id="1228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228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1195388" cy="274638"/>
          </a:xfrm>
        </p:spPr>
        <p:txBody>
          <a:bodyPr/>
          <a:lstStyle/>
          <a:p>
            <a:r>
              <a:rPr lang="en-US" dirty="0"/>
              <a:t>ANSWER = NO</a:t>
            </a:r>
          </a:p>
        </p:txBody>
      </p:sp>
    </p:spTree>
    <p:extLst>
      <p:ext uri="{BB962C8B-B14F-4D97-AF65-F5344CB8AC3E}">
        <p14:creationId xmlns:p14="http://schemas.microsoft.com/office/powerpoint/2010/main" val="8117216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GB"/>
              <a:t>Objects First with Java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GB"/>
              <a:t>© David J. Barnes and Michael Kölling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A5FF95D-9F33-418B-932E-BDB298E0E700}" type="slidenum">
              <a:rPr lang="en-GB"/>
              <a:pPr/>
              <a:t>16</a:t>
            </a:fld>
            <a:endParaRPr lang="en-GB"/>
          </a:p>
        </p:txBody>
      </p:sp>
      <p:sp>
        <p:nvSpPr>
          <p:cNvPr id="1239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239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1195388" cy="27463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45202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GB"/>
              <a:t>Objects First with Java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GB"/>
              <a:t>© David J. Barnes and Michael Kölling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9976E63-9D84-4F22-B96B-56C32D207805}" type="slidenum">
              <a:rPr lang="en-GB"/>
              <a:pPr/>
              <a:t>18</a:t>
            </a:fld>
            <a:endParaRPr lang="en-GB"/>
          </a:p>
        </p:txBody>
      </p:sp>
      <p:sp>
        <p:nvSpPr>
          <p:cNvPr id="1249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249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1195388" cy="27463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73256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GB"/>
              <a:t>Objects First with Java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GB"/>
              <a:t>© David J. Barnes and Michael Kölling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D440085-0C24-4707-AB68-4BC4938116B2}" type="slidenum">
              <a:rPr lang="en-GB"/>
              <a:pPr/>
              <a:t>19</a:t>
            </a:fld>
            <a:endParaRPr lang="en-GB"/>
          </a:p>
        </p:txBody>
      </p:sp>
      <p:sp>
        <p:nvSpPr>
          <p:cNvPr id="1259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259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1195388" cy="27463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49438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GB"/>
              <a:t>Objects First with Java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GB"/>
              <a:t>© David J. Barnes and Michael Kölling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D440085-0C24-4707-AB68-4BC4938116B2}" type="slidenum">
              <a:rPr lang="en-GB"/>
              <a:pPr/>
              <a:t>20</a:t>
            </a:fld>
            <a:endParaRPr lang="en-GB"/>
          </a:p>
        </p:txBody>
      </p:sp>
      <p:sp>
        <p:nvSpPr>
          <p:cNvPr id="1259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259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1195388" cy="27463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54513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GB"/>
              <a:t>Objects First with Java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GB"/>
              <a:t>© David J. Barnes and Michael Kölling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B8D515A-2286-4643-8ED2-8BB8C5F1BEE1}" type="slidenum">
              <a:rPr lang="en-GB"/>
              <a:pPr/>
              <a:t>21</a:t>
            </a:fld>
            <a:endParaRPr lang="en-GB"/>
          </a:p>
        </p:txBody>
      </p:sp>
      <p:sp>
        <p:nvSpPr>
          <p:cNvPr id="1269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269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1195388" cy="27463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44424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GB"/>
              <a:t>Objects First with Java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GB"/>
              <a:t>© David J. Barnes and Michael Kölling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B8D515A-2286-4643-8ED2-8BB8C5F1BEE1}" type="slidenum">
              <a:rPr lang="en-GB"/>
              <a:pPr/>
              <a:t>22</a:t>
            </a:fld>
            <a:endParaRPr lang="en-GB"/>
          </a:p>
        </p:txBody>
      </p:sp>
      <p:sp>
        <p:nvSpPr>
          <p:cNvPr id="1269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269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1195388" cy="27463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24196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E81B23-C832-43C5-9B50-044EE2C12CE3}" type="slidenum">
              <a:rPr lang="en-IE" smtClean="0"/>
              <a:t>27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89190548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GB"/>
              <a:t>Objects First with Java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GB"/>
              <a:t>© David J. Barnes and Michael Kölling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06ACF8C-571F-41C7-9422-79A24E52D4B6}" type="slidenum">
              <a:rPr lang="en-GB"/>
              <a:pPr/>
              <a:t>28</a:t>
            </a:fld>
            <a:endParaRPr lang="en-GB"/>
          </a:p>
        </p:txBody>
      </p:sp>
      <p:sp>
        <p:nvSpPr>
          <p:cNvPr id="1280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280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1195388" cy="27463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61730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GB"/>
              <a:t>Objects First with Java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GB"/>
              <a:t>© David J. Barnes and Michael Kölling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7894B09-ABD4-4EEF-A962-0F0C103FC470}" type="slidenum">
              <a:rPr lang="en-GB"/>
              <a:pPr/>
              <a:t>33</a:t>
            </a:fld>
            <a:endParaRPr lang="en-GB"/>
          </a:p>
        </p:txBody>
      </p:sp>
      <p:sp>
        <p:nvSpPr>
          <p:cNvPr id="163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63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1195388" cy="27463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24726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63DB36-5273-45A5-A77C-FE9BE0779D84}" type="slidenum">
              <a:rPr lang="en-IE" smtClean="0"/>
              <a:t>34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75420483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GB"/>
              <a:t>Objects First with Java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GB"/>
              <a:t>© David J. Barnes and Michael Kölling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F438E75-D771-4949-A2DD-38DCCCFCA310}" type="slidenum">
              <a:rPr lang="en-GB"/>
              <a:pPr/>
              <a:t>36</a:t>
            </a:fld>
            <a:endParaRPr lang="en-GB"/>
          </a:p>
        </p:txBody>
      </p:sp>
      <p:sp>
        <p:nvSpPr>
          <p:cNvPr id="162818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281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052418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GB"/>
              <a:t>Objects First with Java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GB"/>
              <a:t>© David J. Barnes and Michael Kölling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5A24CC0-F47F-4740-B795-DD400BBA9272}" type="slidenum">
              <a:rPr lang="en-GB"/>
              <a:pPr/>
              <a:t>37</a:t>
            </a:fld>
            <a:endParaRPr lang="en-GB"/>
          </a:p>
        </p:txBody>
      </p:sp>
      <p:sp>
        <p:nvSpPr>
          <p:cNvPr id="141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41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1195388" cy="27463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08941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E81B23-C832-43C5-9B50-044EE2C12CE3}" type="slidenum">
              <a:rPr lang="en-IE" smtClean="0"/>
              <a:t>38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73242742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GB"/>
              <a:t>Objects First with Java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GB"/>
              <a:t>© David J. Barnes and Michael Kölling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D00790-568A-44AB-A948-643E31985A48}" type="slidenum">
              <a:rPr lang="en-GB"/>
              <a:pPr/>
              <a:t>39</a:t>
            </a:fld>
            <a:endParaRPr lang="en-GB"/>
          </a:p>
        </p:txBody>
      </p:sp>
      <p:sp>
        <p:nvSpPr>
          <p:cNvPr id="140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40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1195388" cy="274638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285395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GB"/>
              <a:t>Objects First with Java</a:t>
            </a:r>
          </a:p>
        </p:txBody>
      </p:sp>
      <p:sp>
        <p:nvSpPr>
          <p:cNvPr id="2253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GB"/>
              <a:t>© David J. Barnes and Michael Kölling</a:t>
            </a:r>
          </a:p>
        </p:txBody>
      </p:sp>
      <p:sp>
        <p:nvSpPr>
          <p:cNvPr id="2253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5F166F9-0792-42B9-8815-02BB7E11E0C9}" type="slidenum">
              <a:rPr lang="en-GB"/>
              <a:pPr/>
              <a:t>40</a:t>
            </a:fld>
            <a:endParaRPr lang="en-GB"/>
          </a:p>
        </p:txBody>
      </p:sp>
      <p:sp>
        <p:nvSpPr>
          <p:cNvPr id="2253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253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99120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GB"/>
              <a:t>Objects First with Java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GB"/>
              <a:t>© David J. Barnes and Michael Kölling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75206F4-4E20-479E-ABC0-0EB3661565C0}" type="slidenum">
              <a:rPr lang="en-GB"/>
              <a:pPr/>
              <a:t>41</a:t>
            </a:fld>
            <a:endParaRPr lang="en-GB"/>
          </a:p>
        </p:txBody>
      </p:sp>
      <p:sp>
        <p:nvSpPr>
          <p:cNvPr id="160770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07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21722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GB"/>
              <a:t>Objects First with Java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GB"/>
              <a:t>© David J. Barnes and Michael Kölling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5A24CC0-F47F-4740-B795-DD400BBA9272}" type="slidenum">
              <a:rPr lang="en-GB"/>
              <a:pPr/>
              <a:t>42</a:t>
            </a:fld>
            <a:endParaRPr lang="en-GB"/>
          </a:p>
        </p:txBody>
      </p:sp>
      <p:sp>
        <p:nvSpPr>
          <p:cNvPr id="141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41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1195388" cy="27463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20483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GB"/>
              <a:t>Objects First with Java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GB"/>
              <a:t>© David J. Barnes and Michael Kölling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533B383-21AA-4EE0-98C5-A7D5472AAAD6}" type="slidenum">
              <a:rPr lang="en-GB"/>
              <a:pPr/>
              <a:t>45</a:t>
            </a:fld>
            <a:endParaRPr lang="en-GB"/>
          </a:p>
        </p:txBody>
      </p:sp>
      <p:sp>
        <p:nvSpPr>
          <p:cNvPr id="1351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35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1195388" cy="27463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03662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GB"/>
              <a:t>Objects First with Java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GB"/>
              <a:t>© David J. Barnes and Michael Kölling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50E2F9B-3496-4DD5-895B-EABFD45EE4EE}" type="slidenum">
              <a:rPr lang="en-GB"/>
              <a:pPr/>
              <a:t>47</a:t>
            </a:fld>
            <a:endParaRPr lang="en-GB"/>
          </a:p>
        </p:txBody>
      </p:sp>
      <p:sp>
        <p:nvSpPr>
          <p:cNvPr id="142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42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1195388" cy="27463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97224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GB"/>
              <a:t>Objects First with Java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GB"/>
              <a:t>© David J. Barnes and Michael Kölling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50E2F9B-3496-4DD5-895B-EABFD45EE4EE}" type="slidenum">
              <a:rPr lang="en-GB"/>
              <a:pPr/>
              <a:t>48</a:t>
            </a:fld>
            <a:endParaRPr lang="en-GB"/>
          </a:p>
        </p:txBody>
      </p:sp>
      <p:sp>
        <p:nvSpPr>
          <p:cNvPr id="142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42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1195388" cy="27463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8413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646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9600" y="1447800"/>
            <a:ext cx="1097280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55780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7088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0953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7856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9416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067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17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625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6502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3663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7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>
                <a:uFillTx/>
              </a:defRPr>
            </a:pPr>
            <a:r>
              <a:rPr sz="3600">
                <a:uFill>
                  <a:solidFill/>
                </a:uFill>
              </a:rPr>
              <a:t>Title Text</a:t>
            </a:r>
          </a:p>
        </p:txBody>
      </p:sp>
      <p:sp>
        <p:nvSpPr>
          <p:cNvPr id="8" name="Shape 8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2pPr marL="780562" indent="-284162">
              <a:spcBef>
                <a:spcPts val="600"/>
              </a:spcBef>
              <a:defRPr sz="2400"/>
            </a:lvl2pPr>
            <a:lvl3pPr marL="1182200" indent="-228600">
              <a:spcBef>
                <a:spcPts val="500"/>
              </a:spcBef>
              <a:defRPr sz="2000"/>
            </a:lvl3pPr>
            <a:lvl4pPr marL="1639399" indent="-228599">
              <a:spcBef>
                <a:spcPts val="500"/>
              </a:spcBef>
              <a:defRPr sz="2000"/>
            </a:lvl4pPr>
            <a:lvl5pPr marL="2096599" indent="-228600">
              <a:spcBef>
                <a:spcPts val="500"/>
              </a:spcBef>
              <a:defRPr sz="2000"/>
            </a:lvl5pPr>
          </a:lstStyle>
          <a:p>
            <a:pPr lvl="0">
              <a:defRPr sz="1800">
                <a:uFillTx/>
              </a:defRPr>
            </a:pPr>
            <a:r>
              <a:rPr sz="2800" dirty="0">
                <a:uFill>
                  <a:solidFill/>
                </a:uFill>
              </a:rPr>
              <a:t>Body Level One</a:t>
            </a:r>
          </a:p>
          <a:p>
            <a:pPr lvl="1">
              <a:defRPr sz="1800">
                <a:uFillTx/>
              </a:defRPr>
            </a:pPr>
            <a:r>
              <a:rPr sz="2400" dirty="0">
                <a:uFill>
                  <a:solidFill/>
                </a:uFill>
              </a:rPr>
              <a:t>Body Level Two</a:t>
            </a:r>
          </a:p>
          <a:p>
            <a:pPr lvl="2">
              <a:defRPr sz="1800">
                <a:uFillTx/>
              </a:defRPr>
            </a:pPr>
            <a:r>
              <a:rPr sz="2000" dirty="0">
                <a:uFill>
                  <a:solidFill/>
                </a:uFill>
              </a:rPr>
              <a:t>Body Level Three</a:t>
            </a:r>
          </a:p>
          <a:p>
            <a:pPr lvl="3">
              <a:defRPr sz="1800">
                <a:uFillTx/>
              </a:defRPr>
            </a:pPr>
            <a:r>
              <a:rPr sz="2000" dirty="0">
                <a:uFill>
                  <a:solidFill/>
                </a:uFill>
              </a:rPr>
              <a:t>Body Level Four</a:t>
            </a:r>
          </a:p>
          <a:p>
            <a:pPr lvl="4">
              <a:defRPr sz="1800">
                <a:uFillTx/>
              </a:defRPr>
            </a:pPr>
            <a:r>
              <a:rPr sz="2000" dirty="0">
                <a:uFill>
                  <a:solidFill/>
                </a:uFill>
              </a:rPr>
              <a:t>Body Level Five</a:t>
            </a:r>
          </a:p>
        </p:txBody>
      </p:sp>
      <p:sp>
        <p:nvSpPr>
          <p:cNvPr id="9" name="Shape 9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09018529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8959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oracle.com/javase/8/docs/api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tiff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75641" y="914401"/>
            <a:ext cx="7772400" cy="1470025"/>
          </a:xfrm>
        </p:spPr>
        <p:txBody>
          <a:bodyPr>
            <a:normAutofit/>
          </a:bodyPr>
          <a:lstStyle/>
          <a:p>
            <a:pPr algn="l"/>
            <a:r>
              <a:rPr lang="en-IE" sz="4000" dirty="0"/>
              <a:t>Introduction to </a:t>
            </a:r>
            <a:r>
              <a:rPr lang="en-IE" sz="4000" dirty="0" err="1"/>
              <a:t>ArrayLists</a:t>
            </a:r>
            <a:endParaRPr lang="en-IE" sz="4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10456" y="3441413"/>
            <a:ext cx="2019300" cy="1066800"/>
          </a:xfrm>
        </p:spPr>
        <p:txBody>
          <a:bodyPr>
            <a:norm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Produced by: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2251841" y="3200400"/>
            <a:ext cx="762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10200" y="2579088"/>
            <a:ext cx="45763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E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(based on Ch. 4, </a:t>
            </a:r>
            <a:r>
              <a:rPr lang="en-GB" sz="1400" dirty="0">
                <a:solidFill>
                  <a:srgbClr val="685345"/>
                </a:solidFill>
                <a:latin typeface="+mj-lt"/>
              </a:rPr>
              <a:t>Objects First with Java - A Practical Introduction using </a:t>
            </a:r>
            <a:r>
              <a:rPr lang="en-GB" sz="1400" dirty="0" err="1">
                <a:solidFill>
                  <a:srgbClr val="685345"/>
                </a:solidFill>
                <a:latin typeface="+mj-lt"/>
              </a:rPr>
              <a:t>BlueJ</a:t>
            </a:r>
            <a:r>
              <a:rPr lang="en-GB" sz="1400" dirty="0">
                <a:solidFill>
                  <a:srgbClr val="685345"/>
                </a:solidFill>
                <a:latin typeface="+mj-lt"/>
              </a:rPr>
              <a:t>, © David J. Barnes, Michael </a:t>
            </a:r>
            <a:r>
              <a:rPr lang="en-GB" sz="1400" dirty="0" err="1">
                <a:solidFill>
                  <a:srgbClr val="685345"/>
                </a:solidFill>
                <a:latin typeface="+mj-lt"/>
              </a:rPr>
              <a:t>Kölling</a:t>
            </a:r>
            <a:r>
              <a:rPr lang="en-GB" sz="1400" dirty="0">
                <a:solidFill>
                  <a:srgbClr val="685345"/>
                </a:solidFill>
                <a:latin typeface="+mj-lt"/>
              </a:rPr>
              <a:t>)</a:t>
            </a:r>
            <a:endParaRPr lang="en-IE" sz="14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E43A3F-EDEA-4E2F-812F-B9C9A765D6F6}"/>
              </a:ext>
            </a:extLst>
          </p:cNvPr>
          <p:cNvSpPr txBox="1"/>
          <p:nvPr/>
        </p:nvSpPr>
        <p:spPr>
          <a:xfrm>
            <a:off x="4343400" y="3448238"/>
            <a:ext cx="3581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Ms. </a:t>
            </a:r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Mairéad</a:t>
            </a:r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Meagher</a:t>
            </a:r>
          </a:p>
          <a:p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Dr.</a:t>
            </a:r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Siobhán</a:t>
            </a:r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Drohan</a:t>
            </a:r>
          </a:p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Ms Siobhan Roche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93C80F-0085-D56A-AC23-57BFF9220DD7}"/>
              </a:ext>
            </a:extLst>
          </p:cNvPr>
          <p:cNvSpPr txBox="1"/>
          <p:nvPr/>
        </p:nvSpPr>
        <p:spPr>
          <a:xfrm>
            <a:off x="7336971" y="5849826"/>
            <a:ext cx="40727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600" dirty="0"/>
              <a:t>Department of Computing and Mathematics</a:t>
            </a:r>
          </a:p>
          <a:p>
            <a:r>
              <a:rPr lang="en-IE" sz="1600" dirty="0"/>
              <a:t>http://www.setu.ie/</a:t>
            </a:r>
          </a:p>
        </p:txBody>
      </p:sp>
      <p:pic>
        <p:nvPicPr>
          <p:cNvPr id="12" name="Picture 11" descr="Text&#10;&#10;Description automatically generated">
            <a:extLst>
              <a:ext uri="{FF2B5EF4-FFF2-40B4-BE49-F238E27FC236}">
                <a16:creationId xmlns:a16="http://schemas.microsoft.com/office/drawing/2014/main" id="{E63C77A9-2080-91E1-D8A2-618FC5D7B72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41" y="5501441"/>
            <a:ext cx="2286000" cy="1281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13168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Topic list</a:t>
            </a:r>
            <a:endParaRPr lang="en-I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43238" y="1524000"/>
            <a:ext cx="8839200" cy="5105400"/>
          </a:xfrm>
        </p:spPr>
        <p:txBody>
          <a:bodyPr>
            <a:normAutofit fontScale="85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GB" dirty="0"/>
              <a:t>Grouping Objects </a:t>
            </a:r>
          </a:p>
          <a:p>
            <a:pPr lvl="1"/>
            <a:r>
              <a:rPr lang="en-GB" dirty="0"/>
              <a:t>Developing a basic personal notebook project using </a:t>
            </a:r>
            <a:r>
              <a:rPr lang="en-GB" b="1" dirty="0"/>
              <a:t>Collections</a:t>
            </a:r>
            <a:r>
              <a:rPr lang="en-GB" dirty="0"/>
              <a:t> </a:t>
            </a:r>
            <a:br>
              <a:rPr lang="en-GB" dirty="0"/>
            </a:br>
            <a:r>
              <a:rPr lang="en-GB" dirty="0"/>
              <a:t>e.g. </a:t>
            </a:r>
            <a:r>
              <a:rPr lang="en-GB" b="1" dirty="0" err="1"/>
              <a:t>ArrayList</a:t>
            </a:r>
            <a:endParaRPr lang="en-GB" b="1" dirty="0"/>
          </a:p>
          <a:p>
            <a:pPr marL="514350" indent="-514350">
              <a:buFont typeface="+mj-lt"/>
              <a:buAutoNum type="arabicPeriod"/>
            </a:pPr>
            <a:r>
              <a:rPr lang="en-GB" b="1" dirty="0"/>
              <a:t>Indexing</a:t>
            </a:r>
            <a:r>
              <a:rPr lang="en-GB" dirty="0"/>
              <a:t> within Collections</a:t>
            </a:r>
          </a:p>
          <a:p>
            <a:pPr lvl="1"/>
            <a:r>
              <a:rPr lang="en-GB" dirty="0"/>
              <a:t>Retrieval and removal of objects </a:t>
            </a:r>
          </a:p>
          <a:p>
            <a:pPr marL="514350" indent="-514350">
              <a:buFont typeface="+mj-lt"/>
              <a:buAutoNum type="arabicPeriod"/>
            </a:pPr>
            <a:r>
              <a:rPr lang="en-GB" b="1" dirty="0"/>
              <a:t>Generic classes </a:t>
            </a:r>
          </a:p>
          <a:p>
            <a:pPr lvl="1"/>
            <a:r>
              <a:rPr lang="en-GB" dirty="0"/>
              <a:t>e.g. </a:t>
            </a:r>
            <a:r>
              <a:rPr lang="en-GB" dirty="0" err="1"/>
              <a:t>ArrayList</a:t>
            </a:r>
            <a:endParaRPr lang="en-GB" dirty="0"/>
          </a:p>
          <a:p>
            <a:pPr marL="514350" indent="-514350">
              <a:buFont typeface="+mj-lt"/>
              <a:buAutoNum type="arabicPeriod"/>
            </a:pPr>
            <a:r>
              <a:rPr lang="en-GB" b="1" dirty="0"/>
              <a:t>Iteration</a:t>
            </a:r>
          </a:p>
          <a:p>
            <a:pPr lvl="1"/>
            <a:r>
              <a:rPr lang="en-GB" dirty="0"/>
              <a:t>Using the for loop</a:t>
            </a:r>
          </a:p>
          <a:p>
            <a:pPr lvl="1"/>
            <a:r>
              <a:rPr lang="en-GB" dirty="0"/>
              <a:t>Using the while loop</a:t>
            </a:r>
          </a:p>
          <a:p>
            <a:pPr lvl="1"/>
            <a:r>
              <a:rPr lang="en-GB" dirty="0"/>
              <a:t>Using the </a:t>
            </a:r>
            <a:r>
              <a:rPr lang="en-GB" b="1" dirty="0"/>
              <a:t>for each </a:t>
            </a:r>
            <a:r>
              <a:rPr lang="en-GB" dirty="0"/>
              <a:t>loop</a:t>
            </a:r>
          </a:p>
          <a:p>
            <a:r>
              <a:rPr lang="en-IE" dirty="0">
                <a:solidFill>
                  <a:schemeClr val="bg1">
                    <a:lumMod val="50000"/>
                  </a:schemeClr>
                </a:solidFill>
              </a:rPr>
              <a:t>Next </a:t>
            </a:r>
            <a:r>
              <a:rPr lang="en-IE" dirty="0" err="1">
                <a:solidFill>
                  <a:schemeClr val="bg1">
                    <a:lumMod val="50000"/>
                  </a:schemeClr>
                </a:solidFill>
              </a:rPr>
              <a:t>SlideDeck</a:t>
            </a:r>
            <a:r>
              <a:rPr lang="en-IE" dirty="0">
                <a:solidFill>
                  <a:schemeClr val="bg1">
                    <a:lumMod val="50000"/>
                  </a:schemeClr>
                </a:solidFill>
              </a:rPr>
              <a:t>: </a:t>
            </a:r>
            <a:br>
              <a:rPr lang="en-IE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IE" dirty="0">
                <a:solidFill>
                  <a:schemeClr val="bg1">
                    <a:lumMod val="50000"/>
                  </a:schemeClr>
                </a:solidFill>
              </a:rPr>
              <a:t>coding a Shop Project that stores an </a:t>
            </a:r>
            <a:r>
              <a:rPr lang="en-IE" dirty="0" err="1">
                <a:solidFill>
                  <a:schemeClr val="bg1">
                    <a:lumMod val="50000"/>
                  </a:schemeClr>
                </a:solidFill>
              </a:rPr>
              <a:t>ArrayList</a:t>
            </a:r>
            <a:r>
              <a:rPr lang="en-IE" dirty="0">
                <a:solidFill>
                  <a:schemeClr val="bg1">
                    <a:lumMod val="50000"/>
                  </a:schemeClr>
                </a:solidFill>
              </a:rPr>
              <a:t> of Products.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1843238" y="1524000"/>
            <a:ext cx="8748562" cy="1066800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725936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9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requirement to </a:t>
            </a:r>
            <a:r>
              <a:rPr lang="en-US" b="1" dirty="0"/>
              <a:t>group objects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28800" y="1600201"/>
            <a:ext cx="8610600" cy="4525963"/>
          </a:xfrm>
        </p:spPr>
        <p:txBody>
          <a:bodyPr>
            <a:normAutofit/>
          </a:bodyPr>
          <a:lstStyle/>
          <a:p>
            <a:r>
              <a:rPr lang="en-US" dirty="0"/>
              <a:t>Many applications involve </a:t>
            </a:r>
            <a:r>
              <a:rPr lang="en-US" b="1" dirty="0"/>
              <a:t>collections</a:t>
            </a:r>
            <a:r>
              <a:rPr lang="en-US" dirty="0"/>
              <a:t> of objects:</a:t>
            </a:r>
          </a:p>
          <a:p>
            <a:pPr lvl="1"/>
            <a:r>
              <a:rPr lang="en-US" dirty="0"/>
              <a:t>Personal organizers.</a:t>
            </a:r>
          </a:p>
          <a:p>
            <a:pPr lvl="1"/>
            <a:r>
              <a:rPr lang="en-US" dirty="0"/>
              <a:t>Library catalogs.</a:t>
            </a:r>
          </a:p>
          <a:p>
            <a:pPr lvl="1"/>
            <a:r>
              <a:rPr lang="en-US" dirty="0"/>
              <a:t>Student-record system.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The </a:t>
            </a:r>
            <a:r>
              <a:rPr lang="en-US" b="1" dirty="0"/>
              <a:t>number of items </a:t>
            </a:r>
            <a:r>
              <a:rPr lang="en-US" dirty="0"/>
              <a:t>to be stored </a:t>
            </a:r>
            <a:r>
              <a:rPr lang="en-US" b="1" u="sng" dirty="0"/>
              <a:t>varies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Items added.</a:t>
            </a:r>
          </a:p>
          <a:p>
            <a:pPr lvl="1"/>
            <a:r>
              <a:rPr lang="en-US" dirty="0"/>
              <a:t>Items deleted.</a:t>
            </a:r>
          </a:p>
        </p:txBody>
      </p:sp>
    </p:spTree>
    <p:extLst>
      <p:ext uri="{BB962C8B-B14F-4D97-AF65-F5344CB8AC3E}">
        <p14:creationId xmlns:p14="http://schemas.microsoft.com/office/powerpoint/2010/main" val="1675018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9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Example: A personal notebook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05000" y="1600200"/>
            <a:ext cx="3962400" cy="51054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Notes may be </a:t>
            </a:r>
            <a:r>
              <a:rPr lang="en-US" b="1" dirty="0"/>
              <a:t>stored</a:t>
            </a:r>
            <a:r>
              <a:rPr lang="en-US" dirty="0"/>
              <a:t>.</a:t>
            </a:r>
            <a:br>
              <a:rPr lang="en-US" dirty="0"/>
            </a:br>
            <a:endParaRPr lang="en-US" dirty="0"/>
          </a:p>
          <a:p>
            <a:r>
              <a:rPr lang="en-US" dirty="0"/>
              <a:t>Individual notes can be </a:t>
            </a:r>
            <a:r>
              <a:rPr lang="en-US" b="1" dirty="0"/>
              <a:t>viewed</a:t>
            </a:r>
            <a:r>
              <a:rPr lang="en-US" dirty="0"/>
              <a:t>.</a:t>
            </a:r>
            <a:br>
              <a:rPr lang="en-US" dirty="0"/>
            </a:br>
            <a:endParaRPr lang="en-US" dirty="0"/>
          </a:p>
          <a:p>
            <a:r>
              <a:rPr lang="en-US" dirty="0"/>
              <a:t>There is </a:t>
            </a:r>
            <a:r>
              <a:rPr lang="en-US" b="1" dirty="0"/>
              <a:t>no limit </a:t>
            </a:r>
            <a:r>
              <a:rPr lang="en-US" dirty="0"/>
              <a:t>to the number of notes.</a:t>
            </a:r>
            <a:br>
              <a:rPr lang="en-US" dirty="0"/>
            </a:br>
            <a:endParaRPr lang="en-US" dirty="0"/>
          </a:p>
          <a:p>
            <a:r>
              <a:rPr lang="en-US" dirty="0"/>
              <a:t>It generally </a:t>
            </a:r>
            <a:r>
              <a:rPr lang="en-US" b="1" dirty="0"/>
              <a:t>tells you how many</a:t>
            </a:r>
            <a:r>
              <a:rPr lang="en-US" dirty="0"/>
              <a:t> notes are stored.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2254" b="100000" l="1976" r="96285">
                        <a14:foregroundMark x1="71858" y1="3084" x2="86324" y2="3440"/>
                        <a14:foregroundMark x1="87115" y1="3321" x2="88933" y2="486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2562" y="2209801"/>
            <a:ext cx="4576838" cy="304800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59340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Java API</a:t>
            </a:r>
            <a:r>
              <a:rPr lang="en-US" dirty="0"/>
              <a:t>: the class library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600201"/>
            <a:ext cx="8534400" cy="452596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Many useful classes.</a:t>
            </a:r>
          </a:p>
          <a:p>
            <a:r>
              <a:rPr lang="en-US" dirty="0"/>
              <a:t>We don’t have to write everything from scratch.</a:t>
            </a:r>
          </a:p>
          <a:p>
            <a:r>
              <a:rPr lang="en-US" dirty="0"/>
              <a:t>Java calls its libraries, </a:t>
            </a:r>
            <a:r>
              <a:rPr lang="en-US" b="1" i="1" dirty="0"/>
              <a:t>packages</a:t>
            </a:r>
            <a:r>
              <a:rPr lang="en-US" dirty="0"/>
              <a:t>.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Back to the notebook:</a:t>
            </a:r>
          </a:p>
          <a:p>
            <a:r>
              <a:rPr lang="en-US" dirty="0"/>
              <a:t>Grouping objects is a recurring requirement.</a:t>
            </a:r>
          </a:p>
          <a:p>
            <a:pPr lvl="1"/>
            <a:r>
              <a:rPr lang="en-US" dirty="0"/>
              <a:t>The </a:t>
            </a:r>
            <a:r>
              <a:rPr lang="en-US" b="1" dirty="0" err="1">
                <a:latin typeface="Courier New" pitchFamily="-32" charset="0"/>
              </a:rPr>
              <a:t>java.util</a:t>
            </a:r>
            <a:r>
              <a:rPr lang="en-US" dirty="0"/>
              <a:t> package </a:t>
            </a:r>
            <a:br>
              <a:rPr lang="en-US" dirty="0"/>
            </a:br>
            <a:r>
              <a:rPr lang="en-US" dirty="0"/>
              <a:t>contains classes for doing this</a:t>
            </a:r>
            <a:br>
              <a:rPr lang="en-US" dirty="0"/>
            </a:br>
            <a:r>
              <a:rPr lang="en-US" dirty="0"/>
              <a:t>…the </a:t>
            </a:r>
            <a:r>
              <a:rPr lang="en-US" b="1" dirty="0"/>
              <a:t>Collections</a:t>
            </a:r>
            <a:r>
              <a:rPr lang="en-US" dirty="0"/>
              <a:t> </a:t>
            </a:r>
            <a:r>
              <a:rPr lang="en-US" b="1" dirty="0"/>
              <a:t>Framework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08306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Java’s Collections Framework</a:t>
            </a:r>
            <a:endParaRPr lang="en-IE" dirty="0"/>
          </a:p>
        </p:txBody>
      </p:sp>
      <p:pic>
        <p:nvPicPr>
          <p:cNvPr id="1026" name="Picture 2" descr="https://www3.ntu.edu.sg/home/ehchua/programming/java/images/Collection_interfaces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1" y="1600200"/>
            <a:ext cx="8596595" cy="4419600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Donut 5"/>
          <p:cNvSpPr/>
          <p:nvPr/>
        </p:nvSpPr>
        <p:spPr>
          <a:xfrm>
            <a:off x="3505200" y="3276600"/>
            <a:ext cx="1600200" cy="304800"/>
          </a:xfrm>
          <a:prstGeom prst="donut">
            <a:avLst>
              <a:gd name="adj" fmla="val 261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" name="Donut 6"/>
          <p:cNvSpPr/>
          <p:nvPr/>
        </p:nvSpPr>
        <p:spPr>
          <a:xfrm>
            <a:off x="5110213" y="3276600"/>
            <a:ext cx="1600200" cy="304800"/>
          </a:xfrm>
          <a:prstGeom prst="donut">
            <a:avLst>
              <a:gd name="adj" fmla="val 261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8" name="Donut 7"/>
          <p:cNvSpPr/>
          <p:nvPr/>
        </p:nvSpPr>
        <p:spPr>
          <a:xfrm>
            <a:off x="8610600" y="3276600"/>
            <a:ext cx="1600200" cy="304800"/>
          </a:xfrm>
          <a:prstGeom prst="donut">
            <a:avLst>
              <a:gd name="adj" fmla="val 261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364796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Java’s Collections Framework</a:t>
            </a:r>
            <a:endParaRPr lang="en-IE" dirty="0"/>
          </a:p>
        </p:txBody>
      </p:sp>
      <p:pic>
        <p:nvPicPr>
          <p:cNvPr id="1026" name="Picture 2" descr="https://www3.ntu.edu.sg/home/ehchua/programming/java/images/Collection_interfaces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1" y="1600200"/>
            <a:ext cx="8596595" cy="4419600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Donut 4"/>
          <p:cNvSpPr/>
          <p:nvPr/>
        </p:nvSpPr>
        <p:spPr>
          <a:xfrm>
            <a:off x="3505200" y="5029200"/>
            <a:ext cx="1600200" cy="304800"/>
          </a:xfrm>
          <a:prstGeom prst="donut">
            <a:avLst>
              <a:gd name="adj" fmla="val 2615"/>
            </a:avLst>
          </a:prstGeom>
          <a:solidFill>
            <a:srgbClr val="FF000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6" name="Donut 5"/>
          <p:cNvSpPr/>
          <p:nvPr/>
        </p:nvSpPr>
        <p:spPr>
          <a:xfrm>
            <a:off x="3505200" y="3276600"/>
            <a:ext cx="1600200" cy="304800"/>
          </a:xfrm>
          <a:prstGeom prst="donut">
            <a:avLst>
              <a:gd name="adj" fmla="val 261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" name="Donut 6"/>
          <p:cNvSpPr/>
          <p:nvPr/>
        </p:nvSpPr>
        <p:spPr>
          <a:xfrm>
            <a:off x="5110213" y="3276600"/>
            <a:ext cx="1600200" cy="304800"/>
          </a:xfrm>
          <a:prstGeom prst="donut">
            <a:avLst>
              <a:gd name="adj" fmla="val 261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8" name="Donut 7"/>
          <p:cNvSpPr/>
          <p:nvPr/>
        </p:nvSpPr>
        <p:spPr>
          <a:xfrm>
            <a:off x="8610600" y="3276600"/>
            <a:ext cx="1600200" cy="304800"/>
          </a:xfrm>
          <a:prstGeom prst="donut">
            <a:avLst>
              <a:gd name="adj" fmla="val 261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3" name="Arrow: Down 2">
            <a:extLst>
              <a:ext uri="{FF2B5EF4-FFF2-40B4-BE49-F238E27FC236}">
                <a16:creationId xmlns:a16="http://schemas.microsoft.com/office/drawing/2014/main" id="{41199B53-87BA-4A6C-B6F3-113E7D7B20C5}"/>
              </a:ext>
            </a:extLst>
          </p:cNvPr>
          <p:cNvSpPr/>
          <p:nvPr/>
        </p:nvSpPr>
        <p:spPr>
          <a:xfrm rot="18117089">
            <a:off x="2971800" y="4419600"/>
            <a:ext cx="533400" cy="762000"/>
          </a:xfrm>
          <a:prstGeom prst="downArrow">
            <a:avLst/>
          </a:prstGeom>
          <a:solidFill>
            <a:srgbClr val="00B05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47798306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ArrayList</a:t>
            </a:r>
            <a:r>
              <a:rPr lang="en-GB" dirty="0"/>
              <a:t> Collection</a:t>
            </a:r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We specify:</a:t>
            </a:r>
          </a:p>
          <a:p>
            <a:endParaRPr lang="en-GB" dirty="0"/>
          </a:p>
          <a:p>
            <a:pPr lvl="1"/>
            <a:r>
              <a:rPr lang="en-GB" dirty="0"/>
              <a:t> the </a:t>
            </a:r>
            <a:r>
              <a:rPr lang="en-GB" b="1" dirty="0"/>
              <a:t>type of collection</a:t>
            </a:r>
            <a:r>
              <a:rPr lang="en-GB" dirty="0"/>
              <a:t> </a:t>
            </a:r>
          </a:p>
          <a:p>
            <a:pPr lvl="2"/>
            <a:r>
              <a:rPr lang="en-GB" dirty="0"/>
              <a:t>e.g.: </a:t>
            </a:r>
            <a:r>
              <a:rPr lang="en-GB" b="1" dirty="0" err="1">
                <a:solidFill>
                  <a:srgbClr val="FF0000"/>
                </a:solidFill>
                <a:latin typeface="Courier New" pitchFamily="-32" charset="0"/>
              </a:rPr>
              <a:t>ArrayList</a:t>
            </a:r>
            <a:endParaRPr lang="en-GB" b="1" dirty="0">
              <a:solidFill>
                <a:srgbClr val="FF0000"/>
              </a:solidFill>
              <a:latin typeface="Courier New" pitchFamily="-32" charset="0"/>
            </a:endParaRPr>
          </a:p>
          <a:p>
            <a:pPr lvl="1"/>
            <a:endParaRPr lang="en-GB" dirty="0"/>
          </a:p>
          <a:p>
            <a:pPr lvl="1"/>
            <a:r>
              <a:rPr lang="en-GB" dirty="0"/>
              <a:t>the </a:t>
            </a:r>
            <a:r>
              <a:rPr lang="en-GB" b="1" dirty="0"/>
              <a:t>type of objects </a:t>
            </a:r>
            <a:r>
              <a:rPr lang="en-GB" dirty="0"/>
              <a:t>it will contain </a:t>
            </a:r>
          </a:p>
          <a:p>
            <a:pPr lvl="2"/>
            <a:r>
              <a:rPr lang="en-GB" dirty="0"/>
              <a:t>e.g.: </a:t>
            </a:r>
            <a:r>
              <a:rPr lang="en-GB" b="1" dirty="0">
                <a:solidFill>
                  <a:srgbClr val="FF0000"/>
                </a:solidFill>
                <a:latin typeface="Courier New" pitchFamily="-32" charset="0"/>
              </a:rPr>
              <a:t>&lt;String&gt;</a:t>
            </a:r>
          </a:p>
          <a:p>
            <a:endParaRPr lang="en-GB" dirty="0"/>
          </a:p>
          <a:p>
            <a:r>
              <a:rPr lang="en-GB" dirty="0"/>
              <a:t>We say </a:t>
            </a:r>
          </a:p>
          <a:p>
            <a:pPr lvl="1"/>
            <a:r>
              <a:rPr lang="en-GB" b="1" dirty="0">
                <a:solidFill>
                  <a:srgbClr val="FF0000"/>
                </a:solidFill>
              </a:rPr>
              <a:t>“</a:t>
            </a:r>
            <a:r>
              <a:rPr lang="en-GB" b="1" dirty="0" err="1">
                <a:solidFill>
                  <a:srgbClr val="FF0000"/>
                </a:solidFill>
              </a:rPr>
              <a:t>ArrayList</a:t>
            </a:r>
            <a:r>
              <a:rPr lang="en-GB" b="1" dirty="0">
                <a:solidFill>
                  <a:srgbClr val="FF0000"/>
                </a:solidFill>
              </a:rPr>
              <a:t> of String”</a:t>
            </a:r>
          </a:p>
        </p:txBody>
      </p:sp>
    </p:spTree>
    <p:extLst>
      <p:ext uri="{BB962C8B-B14F-4D97-AF65-F5344CB8AC3E}">
        <p14:creationId xmlns:p14="http://schemas.microsoft.com/office/powerpoint/2010/main" val="3784294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6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2"/>
          <p:cNvSpPr txBox="1">
            <a:spLocks noChangeArrowheads="1"/>
          </p:cNvSpPr>
          <p:nvPr/>
        </p:nvSpPr>
        <p:spPr bwMode="auto">
          <a:xfrm>
            <a:off x="1905000" y="381001"/>
            <a:ext cx="8610600" cy="5324535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import </a:t>
            </a:r>
            <a:r>
              <a:rPr lang="en-US" sz="2000" dirty="0" err="1">
                <a:latin typeface="Courier New" charset="0"/>
                <a:ea typeface="Courier New" charset="0"/>
                <a:cs typeface="Courier New" charset="0"/>
              </a:rPr>
              <a:t>java.util.</a:t>
            </a:r>
            <a:r>
              <a:rPr lang="en-US" sz="2000" b="1" dirty="0" err="1">
                <a:latin typeface="Courier New" charset="0"/>
                <a:ea typeface="Courier New" charset="0"/>
                <a:cs typeface="Courier New" charset="0"/>
              </a:rPr>
              <a:t>ArrayList</a:t>
            </a:r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;</a:t>
            </a:r>
          </a:p>
          <a:p>
            <a:endParaRPr lang="en-US" sz="2000" dirty="0">
              <a:latin typeface="Courier New" charset="0"/>
              <a:ea typeface="Courier New" charset="0"/>
              <a:cs typeface="Courier New" charset="0"/>
            </a:endParaRPr>
          </a:p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public class Notebook</a:t>
            </a:r>
          </a:p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{</a:t>
            </a:r>
          </a:p>
          <a:p>
            <a:endParaRPr lang="en-US" sz="2000" dirty="0">
              <a:latin typeface="Courier New" charset="0"/>
              <a:ea typeface="Courier New" charset="0"/>
              <a:cs typeface="Courier New" charset="0"/>
            </a:endParaRPr>
          </a:p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   </a:t>
            </a: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charset="0"/>
                <a:ea typeface="Courier New" charset="0"/>
                <a:cs typeface="Courier New" charset="0"/>
              </a:rPr>
              <a:t> 	// Storage for an arbitrary number of notes.</a:t>
            </a:r>
          </a:p>
          <a:p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charset="0"/>
                <a:ea typeface="Courier New" charset="0"/>
                <a:cs typeface="Courier New" charset="0"/>
              </a:rPr>
              <a:t>   </a:t>
            </a:r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 	private </a:t>
            </a:r>
            <a:r>
              <a:rPr lang="en-US" sz="2000" b="1" dirty="0" err="1">
                <a:solidFill>
                  <a:srgbClr val="FF0000"/>
                </a:solidFill>
                <a:latin typeface="Courier New" charset="0"/>
                <a:ea typeface="Courier New" charset="0"/>
                <a:cs typeface="Courier New" charset="0"/>
              </a:rPr>
              <a:t>ArrayList</a:t>
            </a:r>
            <a:r>
              <a:rPr lang="en-US" sz="2000" b="1" dirty="0">
                <a:solidFill>
                  <a:srgbClr val="FF0000"/>
                </a:solidFill>
                <a:latin typeface="Courier New" charset="0"/>
                <a:ea typeface="Courier New" charset="0"/>
                <a:cs typeface="Courier New" charset="0"/>
              </a:rPr>
              <a:t> &lt;String&gt; </a:t>
            </a:r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notes;</a:t>
            </a:r>
          </a:p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 </a:t>
            </a:r>
          </a:p>
          <a:p>
            <a:endParaRPr lang="en-US" sz="2000" dirty="0">
              <a:latin typeface="Courier New" charset="0"/>
              <a:ea typeface="Courier New" charset="0"/>
              <a:cs typeface="Courier New" charset="0"/>
            </a:endParaRPr>
          </a:p>
          <a:p>
            <a:endParaRPr lang="en-US" sz="2000" dirty="0">
              <a:latin typeface="Courier New" charset="0"/>
              <a:ea typeface="Courier New" charset="0"/>
              <a:cs typeface="Courier New" charset="0"/>
            </a:endParaRPr>
          </a:p>
          <a:p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charset="0"/>
                <a:ea typeface="Courier New" charset="0"/>
                <a:cs typeface="Courier New" charset="0"/>
              </a:rPr>
              <a:t>    	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charset="0"/>
                <a:ea typeface="Courier New" charset="0"/>
                <a:cs typeface="Courier New" charset="0"/>
              </a:rPr>
              <a:t>// Perform any initialization required for the notebook.</a:t>
            </a:r>
          </a:p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	public Notebook()</a:t>
            </a:r>
          </a:p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    	{</a:t>
            </a:r>
          </a:p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        	notes = </a:t>
            </a:r>
            <a:r>
              <a:rPr lang="en-US" sz="2000" b="1" dirty="0">
                <a:latin typeface="Courier New" charset="0"/>
                <a:ea typeface="Courier New" charset="0"/>
                <a:cs typeface="Courier New" charset="0"/>
              </a:rPr>
              <a:t>new</a:t>
            </a:r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Courier New" charset="0"/>
                <a:ea typeface="Courier New" charset="0"/>
                <a:cs typeface="Courier New" charset="0"/>
              </a:rPr>
              <a:t>ArrayList</a:t>
            </a:r>
            <a:r>
              <a:rPr lang="en-US" sz="2000" b="1" dirty="0">
                <a:solidFill>
                  <a:srgbClr val="FF0000"/>
                </a:solidFill>
                <a:latin typeface="Courier New" charset="0"/>
                <a:ea typeface="Courier New" charset="0"/>
                <a:cs typeface="Courier New" charset="0"/>
              </a:rPr>
              <a:t> &lt;String&gt;</a:t>
            </a:r>
            <a:r>
              <a:rPr lang="en-US" sz="2000" b="1" dirty="0">
                <a:latin typeface="Courier New" charset="0"/>
                <a:ea typeface="Courier New" charset="0"/>
                <a:cs typeface="Courier New" charset="0"/>
              </a:rPr>
              <a:t>()</a:t>
            </a:r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;</a:t>
            </a:r>
          </a:p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    	}</a:t>
            </a:r>
          </a:p>
          <a:p>
            <a:endParaRPr lang="en-US" sz="2000" dirty="0">
              <a:latin typeface="Courier New" charset="0"/>
              <a:ea typeface="Courier New" charset="0"/>
              <a:cs typeface="Courier New" charset="0"/>
            </a:endParaRPr>
          </a:p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8912325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2"/>
          <p:cNvSpPr txBox="1">
            <a:spLocks noChangeArrowheads="1"/>
          </p:cNvSpPr>
          <p:nvPr/>
        </p:nvSpPr>
        <p:spPr bwMode="auto">
          <a:xfrm>
            <a:off x="1905000" y="381001"/>
            <a:ext cx="8610600" cy="5324535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import </a:t>
            </a:r>
            <a:r>
              <a:rPr lang="en-US" sz="2000" dirty="0" err="1">
                <a:latin typeface="Courier New" charset="0"/>
                <a:ea typeface="Courier New" charset="0"/>
                <a:cs typeface="Courier New" charset="0"/>
              </a:rPr>
              <a:t>java.util.</a:t>
            </a:r>
            <a:r>
              <a:rPr lang="en-US" sz="2000" b="1" dirty="0" err="1">
                <a:latin typeface="Courier New" charset="0"/>
                <a:ea typeface="Courier New" charset="0"/>
                <a:cs typeface="Courier New" charset="0"/>
              </a:rPr>
              <a:t>ArrayList</a:t>
            </a:r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;</a:t>
            </a:r>
          </a:p>
          <a:p>
            <a:endParaRPr lang="en-US" sz="2000" dirty="0">
              <a:latin typeface="Courier New" charset="0"/>
              <a:ea typeface="Courier New" charset="0"/>
              <a:cs typeface="Courier New" charset="0"/>
            </a:endParaRPr>
          </a:p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public class Notebook</a:t>
            </a:r>
          </a:p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{</a:t>
            </a:r>
          </a:p>
          <a:p>
            <a:endParaRPr lang="en-US" sz="2000" dirty="0">
              <a:latin typeface="Courier New" charset="0"/>
              <a:ea typeface="Courier New" charset="0"/>
              <a:cs typeface="Courier New" charset="0"/>
            </a:endParaRPr>
          </a:p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   </a:t>
            </a: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charset="0"/>
                <a:ea typeface="Courier New" charset="0"/>
                <a:cs typeface="Courier New" charset="0"/>
              </a:rPr>
              <a:t> 	// Storage for an arbitrary number of notes.</a:t>
            </a:r>
          </a:p>
          <a:p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charset="0"/>
                <a:ea typeface="Courier New" charset="0"/>
                <a:cs typeface="Courier New" charset="0"/>
              </a:rPr>
              <a:t>   </a:t>
            </a:r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 	private </a:t>
            </a:r>
            <a:r>
              <a:rPr lang="en-US" sz="2000" b="1" dirty="0" err="1">
                <a:solidFill>
                  <a:srgbClr val="FF0000"/>
                </a:solidFill>
                <a:latin typeface="Courier New" charset="0"/>
                <a:ea typeface="Courier New" charset="0"/>
                <a:cs typeface="Courier New" charset="0"/>
              </a:rPr>
              <a:t>ArrayList</a:t>
            </a:r>
            <a:r>
              <a:rPr lang="en-US" sz="2000" b="1" dirty="0">
                <a:solidFill>
                  <a:srgbClr val="FF0000"/>
                </a:solidFill>
                <a:latin typeface="Courier New" charset="0"/>
                <a:ea typeface="Courier New" charset="0"/>
                <a:cs typeface="Courier New" charset="0"/>
              </a:rPr>
              <a:t> &lt;String&gt; </a:t>
            </a:r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notes;</a:t>
            </a:r>
          </a:p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 </a:t>
            </a:r>
          </a:p>
          <a:p>
            <a:endParaRPr lang="en-US" sz="2000" dirty="0">
              <a:latin typeface="Courier New" charset="0"/>
              <a:ea typeface="Courier New" charset="0"/>
              <a:cs typeface="Courier New" charset="0"/>
            </a:endParaRPr>
          </a:p>
          <a:p>
            <a:endParaRPr lang="en-US" sz="2000" dirty="0">
              <a:latin typeface="Courier New" charset="0"/>
              <a:ea typeface="Courier New" charset="0"/>
              <a:cs typeface="Courier New" charset="0"/>
            </a:endParaRPr>
          </a:p>
          <a:p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charset="0"/>
                <a:ea typeface="Courier New" charset="0"/>
                <a:cs typeface="Courier New" charset="0"/>
              </a:rPr>
              <a:t>    	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charset="0"/>
                <a:ea typeface="Courier New" charset="0"/>
                <a:cs typeface="Courier New" charset="0"/>
              </a:rPr>
              <a:t>// Perform any initialization required for the notebook.</a:t>
            </a:r>
          </a:p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	public Notebook()</a:t>
            </a:r>
          </a:p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    	{</a:t>
            </a:r>
          </a:p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        	notes = </a:t>
            </a:r>
            <a:r>
              <a:rPr lang="en-US" sz="2000" b="1" dirty="0">
                <a:latin typeface="Courier New" charset="0"/>
                <a:ea typeface="Courier New" charset="0"/>
                <a:cs typeface="Courier New" charset="0"/>
              </a:rPr>
              <a:t>new</a:t>
            </a:r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Courier New" charset="0"/>
                <a:ea typeface="Courier New" charset="0"/>
                <a:cs typeface="Courier New" charset="0"/>
              </a:rPr>
              <a:t>ArrayList</a:t>
            </a:r>
            <a:r>
              <a:rPr lang="en-US" sz="2000" b="1" dirty="0">
                <a:solidFill>
                  <a:srgbClr val="FF0000"/>
                </a:solidFill>
                <a:latin typeface="Courier New" charset="0"/>
                <a:ea typeface="Courier New" charset="0"/>
                <a:cs typeface="Courier New" charset="0"/>
              </a:rPr>
              <a:t> &lt;String&gt;</a:t>
            </a:r>
            <a:r>
              <a:rPr lang="en-US" sz="2000" b="1" dirty="0">
                <a:latin typeface="Courier New" charset="0"/>
                <a:ea typeface="Courier New" charset="0"/>
                <a:cs typeface="Courier New" charset="0"/>
              </a:rPr>
              <a:t>()</a:t>
            </a:r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;</a:t>
            </a:r>
          </a:p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    	}</a:t>
            </a:r>
          </a:p>
          <a:p>
            <a:endParaRPr lang="en-US" sz="2000" dirty="0">
              <a:latin typeface="Courier New" charset="0"/>
              <a:ea typeface="Courier New" charset="0"/>
              <a:cs typeface="Courier New" charset="0"/>
            </a:endParaRPr>
          </a:p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}</a:t>
            </a:r>
          </a:p>
        </p:txBody>
      </p:sp>
      <p:sp>
        <p:nvSpPr>
          <p:cNvPr id="4" name="Donut 3"/>
          <p:cNvSpPr/>
          <p:nvPr/>
        </p:nvSpPr>
        <p:spPr>
          <a:xfrm>
            <a:off x="1676400" y="381001"/>
            <a:ext cx="4953000" cy="427663"/>
          </a:xfrm>
          <a:prstGeom prst="donut">
            <a:avLst>
              <a:gd name="adj" fmla="val 102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791201" y="724961"/>
            <a:ext cx="2873415" cy="369332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0070C0"/>
                </a:solidFill>
              </a:rPr>
              <a:t>import the </a:t>
            </a:r>
            <a:r>
              <a:rPr lang="en-GB" dirty="0" err="1">
                <a:solidFill>
                  <a:srgbClr val="0070C0"/>
                </a:solidFill>
              </a:rPr>
              <a:t>ArrayList</a:t>
            </a:r>
            <a:r>
              <a:rPr lang="en-GB" dirty="0">
                <a:solidFill>
                  <a:srgbClr val="0070C0"/>
                </a:solidFill>
              </a:rPr>
              <a:t> package</a:t>
            </a:r>
          </a:p>
        </p:txBody>
      </p:sp>
    </p:spTree>
    <p:extLst>
      <p:ext uri="{BB962C8B-B14F-4D97-AF65-F5344CB8AC3E}">
        <p14:creationId xmlns:p14="http://schemas.microsoft.com/office/powerpoint/2010/main" val="3836218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2"/>
          <p:cNvSpPr txBox="1">
            <a:spLocks noChangeArrowheads="1"/>
          </p:cNvSpPr>
          <p:nvPr/>
        </p:nvSpPr>
        <p:spPr bwMode="auto">
          <a:xfrm>
            <a:off x="1905000" y="381001"/>
            <a:ext cx="8610600" cy="5324535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import </a:t>
            </a:r>
            <a:r>
              <a:rPr lang="en-US" sz="2000" dirty="0" err="1">
                <a:latin typeface="Courier New" charset="0"/>
                <a:ea typeface="Courier New" charset="0"/>
                <a:cs typeface="Courier New" charset="0"/>
              </a:rPr>
              <a:t>java.util.</a:t>
            </a:r>
            <a:r>
              <a:rPr lang="en-US" sz="2000" b="1" dirty="0" err="1">
                <a:latin typeface="Courier New" charset="0"/>
                <a:ea typeface="Courier New" charset="0"/>
                <a:cs typeface="Courier New" charset="0"/>
              </a:rPr>
              <a:t>ArrayList</a:t>
            </a:r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;</a:t>
            </a:r>
          </a:p>
          <a:p>
            <a:endParaRPr lang="en-US" sz="2000" dirty="0">
              <a:latin typeface="Courier New" charset="0"/>
              <a:ea typeface="Courier New" charset="0"/>
              <a:cs typeface="Courier New" charset="0"/>
            </a:endParaRPr>
          </a:p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public class Notebook</a:t>
            </a:r>
          </a:p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{</a:t>
            </a:r>
          </a:p>
          <a:p>
            <a:endParaRPr lang="en-US" sz="2000" dirty="0">
              <a:latin typeface="Courier New" charset="0"/>
              <a:ea typeface="Courier New" charset="0"/>
              <a:cs typeface="Courier New" charset="0"/>
            </a:endParaRPr>
          </a:p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   </a:t>
            </a: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charset="0"/>
                <a:ea typeface="Courier New" charset="0"/>
                <a:cs typeface="Courier New" charset="0"/>
              </a:rPr>
              <a:t> 	// Storage for an arbitrary number of notes.</a:t>
            </a:r>
          </a:p>
          <a:p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charset="0"/>
                <a:ea typeface="Courier New" charset="0"/>
                <a:cs typeface="Courier New" charset="0"/>
              </a:rPr>
              <a:t>   </a:t>
            </a:r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 	private </a:t>
            </a:r>
            <a:r>
              <a:rPr lang="en-US" sz="2000" b="1" dirty="0" err="1">
                <a:solidFill>
                  <a:srgbClr val="FF0000"/>
                </a:solidFill>
                <a:latin typeface="Courier New" charset="0"/>
                <a:ea typeface="Courier New" charset="0"/>
                <a:cs typeface="Courier New" charset="0"/>
              </a:rPr>
              <a:t>ArrayList</a:t>
            </a:r>
            <a:r>
              <a:rPr lang="en-US" sz="2000" b="1" dirty="0">
                <a:solidFill>
                  <a:srgbClr val="FF0000"/>
                </a:solidFill>
                <a:latin typeface="Courier New" charset="0"/>
                <a:ea typeface="Courier New" charset="0"/>
                <a:cs typeface="Courier New" charset="0"/>
              </a:rPr>
              <a:t> &lt;String&gt; </a:t>
            </a:r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notes;</a:t>
            </a:r>
          </a:p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 </a:t>
            </a:r>
          </a:p>
          <a:p>
            <a:endParaRPr lang="en-US" sz="2000" dirty="0">
              <a:latin typeface="Courier New" charset="0"/>
              <a:ea typeface="Courier New" charset="0"/>
              <a:cs typeface="Courier New" charset="0"/>
            </a:endParaRPr>
          </a:p>
          <a:p>
            <a:endParaRPr lang="en-US" sz="2000" dirty="0">
              <a:latin typeface="Courier New" charset="0"/>
              <a:ea typeface="Courier New" charset="0"/>
              <a:cs typeface="Courier New" charset="0"/>
            </a:endParaRPr>
          </a:p>
          <a:p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charset="0"/>
                <a:ea typeface="Courier New" charset="0"/>
                <a:cs typeface="Courier New" charset="0"/>
              </a:rPr>
              <a:t>    	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charset="0"/>
                <a:ea typeface="Courier New" charset="0"/>
                <a:cs typeface="Courier New" charset="0"/>
              </a:rPr>
              <a:t>// Perform any initialization required for the notebook.</a:t>
            </a:r>
          </a:p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	public Notebook()</a:t>
            </a:r>
          </a:p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    	{</a:t>
            </a:r>
          </a:p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        	notes = </a:t>
            </a:r>
            <a:r>
              <a:rPr lang="en-US" sz="2000" b="1" dirty="0">
                <a:latin typeface="Courier New" charset="0"/>
                <a:ea typeface="Courier New" charset="0"/>
                <a:cs typeface="Courier New" charset="0"/>
              </a:rPr>
              <a:t>new</a:t>
            </a:r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Courier New" charset="0"/>
                <a:ea typeface="Courier New" charset="0"/>
                <a:cs typeface="Courier New" charset="0"/>
              </a:rPr>
              <a:t>ArrayList</a:t>
            </a:r>
            <a:r>
              <a:rPr lang="en-US" sz="2000" b="1" dirty="0">
                <a:solidFill>
                  <a:srgbClr val="FF0000"/>
                </a:solidFill>
                <a:latin typeface="Courier New" charset="0"/>
                <a:ea typeface="Courier New" charset="0"/>
                <a:cs typeface="Courier New" charset="0"/>
              </a:rPr>
              <a:t> &lt;String&gt;</a:t>
            </a:r>
            <a:r>
              <a:rPr lang="en-US" sz="2000" b="1" dirty="0">
                <a:latin typeface="Courier New" charset="0"/>
                <a:ea typeface="Courier New" charset="0"/>
                <a:cs typeface="Courier New" charset="0"/>
              </a:rPr>
              <a:t>()</a:t>
            </a:r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;</a:t>
            </a:r>
          </a:p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    	}</a:t>
            </a:r>
          </a:p>
          <a:p>
            <a:endParaRPr lang="en-US" sz="2000" dirty="0">
              <a:latin typeface="Courier New" charset="0"/>
              <a:ea typeface="Courier New" charset="0"/>
              <a:cs typeface="Courier New" charset="0"/>
            </a:endParaRPr>
          </a:p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}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7617340" y="2622658"/>
            <a:ext cx="2820772" cy="646331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0070C0"/>
                </a:solidFill>
              </a:rPr>
              <a:t>declares notes as a private </a:t>
            </a:r>
            <a:br>
              <a:rPr lang="en-GB" dirty="0">
                <a:solidFill>
                  <a:srgbClr val="0070C0"/>
                </a:solidFill>
              </a:rPr>
            </a:br>
            <a:r>
              <a:rPr lang="en-GB" dirty="0">
                <a:solidFill>
                  <a:srgbClr val="0070C0"/>
                </a:solidFill>
              </a:rPr>
              <a:t>“</a:t>
            </a:r>
            <a:r>
              <a:rPr lang="en-GB" dirty="0" err="1">
                <a:solidFill>
                  <a:srgbClr val="0070C0"/>
                </a:solidFill>
              </a:rPr>
              <a:t>ArrayList</a:t>
            </a:r>
            <a:r>
              <a:rPr lang="en-GB" dirty="0">
                <a:solidFill>
                  <a:srgbClr val="0070C0"/>
                </a:solidFill>
              </a:rPr>
              <a:t> of &lt;String&gt;”</a:t>
            </a:r>
          </a:p>
        </p:txBody>
      </p:sp>
      <p:sp>
        <p:nvSpPr>
          <p:cNvPr id="5" name="Donut 4"/>
          <p:cNvSpPr/>
          <p:nvPr/>
        </p:nvSpPr>
        <p:spPr>
          <a:xfrm>
            <a:off x="2362200" y="2233864"/>
            <a:ext cx="6019800" cy="403102"/>
          </a:xfrm>
          <a:prstGeom prst="donut">
            <a:avLst>
              <a:gd name="adj" fmla="val 102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0256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2"/>
          <p:cNvSpPr txBox="1">
            <a:spLocks noChangeArrowheads="1"/>
          </p:cNvSpPr>
          <p:nvPr/>
        </p:nvSpPr>
        <p:spPr bwMode="auto">
          <a:xfrm>
            <a:off x="1905000" y="381001"/>
            <a:ext cx="8610600" cy="5324535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import </a:t>
            </a:r>
            <a:r>
              <a:rPr lang="en-US" sz="2000" dirty="0" err="1">
                <a:latin typeface="Courier New" charset="0"/>
                <a:ea typeface="Courier New" charset="0"/>
                <a:cs typeface="Courier New" charset="0"/>
              </a:rPr>
              <a:t>java.util.</a:t>
            </a:r>
            <a:r>
              <a:rPr lang="en-US" sz="2000" b="1" dirty="0" err="1">
                <a:latin typeface="Courier New" charset="0"/>
                <a:ea typeface="Courier New" charset="0"/>
                <a:cs typeface="Courier New" charset="0"/>
              </a:rPr>
              <a:t>ArrayList</a:t>
            </a:r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;</a:t>
            </a:r>
          </a:p>
          <a:p>
            <a:endParaRPr lang="en-US" sz="2000" dirty="0">
              <a:latin typeface="Courier New" charset="0"/>
              <a:ea typeface="Courier New" charset="0"/>
              <a:cs typeface="Courier New" charset="0"/>
            </a:endParaRPr>
          </a:p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public class Notebook</a:t>
            </a:r>
          </a:p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{</a:t>
            </a:r>
          </a:p>
          <a:p>
            <a:endParaRPr lang="en-US" sz="2000" dirty="0">
              <a:latin typeface="Courier New" charset="0"/>
              <a:ea typeface="Courier New" charset="0"/>
              <a:cs typeface="Courier New" charset="0"/>
            </a:endParaRPr>
          </a:p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   </a:t>
            </a: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charset="0"/>
                <a:ea typeface="Courier New" charset="0"/>
                <a:cs typeface="Courier New" charset="0"/>
              </a:rPr>
              <a:t> 	// Storage for an arbitrary number of notes.</a:t>
            </a:r>
          </a:p>
          <a:p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charset="0"/>
                <a:ea typeface="Courier New" charset="0"/>
                <a:cs typeface="Courier New" charset="0"/>
              </a:rPr>
              <a:t>   </a:t>
            </a:r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 	private </a:t>
            </a:r>
            <a:r>
              <a:rPr lang="en-US" sz="2000" b="1" dirty="0" err="1">
                <a:solidFill>
                  <a:srgbClr val="FF0000"/>
                </a:solidFill>
                <a:latin typeface="Courier New" charset="0"/>
                <a:ea typeface="Courier New" charset="0"/>
                <a:cs typeface="Courier New" charset="0"/>
              </a:rPr>
              <a:t>ArrayList</a:t>
            </a:r>
            <a:r>
              <a:rPr lang="en-US" sz="2000" b="1" dirty="0">
                <a:solidFill>
                  <a:srgbClr val="FF0000"/>
                </a:solidFill>
                <a:latin typeface="Courier New" charset="0"/>
                <a:ea typeface="Courier New" charset="0"/>
                <a:cs typeface="Courier New" charset="0"/>
              </a:rPr>
              <a:t> &lt;String&gt; </a:t>
            </a:r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notes;</a:t>
            </a:r>
          </a:p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 </a:t>
            </a:r>
          </a:p>
          <a:p>
            <a:endParaRPr lang="en-US" sz="2000" dirty="0">
              <a:latin typeface="Courier New" charset="0"/>
              <a:ea typeface="Courier New" charset="0"/>
              <a:cs typeface="Courier New" charset="0"/>
            </a:endParaRPr>
          </a:p>
          <a:p>
            <a:endParaRPr lang="en-US" sz="2000" dirty="0">
              <a:latin typeface="Courier New" charset="0"/>
              <a:ea typeface="Courier New" charset="0"/>
              <a:cs typeface="Courier New" charset="0"/>
            </a:endParaRPr>
          </a:p>
          <a:p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charset="0"/>
                <a:ea typeface="Courier New" charset="0"/>
                <a:cs typeface="Courier New" charset="0"/>
              </a:rPr>
              <a:t>    	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charset="0"/>
                <a:ea typeface="Courier New" charset="0"/>
                <a:cs typeface="Courier New" charset="0"/>
              </a:rPr>
              <a:t>// Perform any initialization required for the notebook.</a:t>
            </a:r>
          </a:p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	public Notebook()</a:t>
            </a:r>
          </a:p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    	{</a:t>
            </a:r>
          </a:p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        	notes = </a:t>
            </a:r>
            <a:r>
              <a:rPr lang="en-US" sz="2000" b="1" dirty="0">
                <a:latin typeface="Courier New" charset="0"/>
                <a:ea typeface="Courier New" charset="0"/>
                <a:cs typeface="Courier New" charset="0"/>
              </a:rPr>
              <a:t>new</a:t>
            </a:r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Courier New" charset="0"/>
                <a:ea typeface="Courier New" charset="0"/>
                <a:cs typeface="Courier New" charset="0"/>
              </a:rPr>
              <a:t>ArrayList</a:t>
            </a:r>
            <a:r>
              <a:rPr lang="en-US" sz="2000" b="1" dirty="0">
                <a:solidFill>
                  <a:srgbClr val="FF0000"/>
                </a:solidFill>
                <a:latin typeface="Courier New" charset="0"/>
                <a:ea typeface="Courier New" charset="0"/>
                <a:cs typeface="Courier New" charset="0"/>
              </a:rPr>
              <a:t> &lt;String&gt;</a:t>
            </a:r>
            <a:r>
              <a:rPr lang="en-US" sz="2000" b="1" dirty="0">
                <a:latin typeface="Courier New" charset="0"/>
                <a:ea typeface="Courier New" charset="0"/>
                <a:cs typeface="Courier New" charset="0"/>
              </a:rPr>
              <a:t>()</a:t>
            </a:r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;</a:t>
            </a:r>
          </a:p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    	}</a:t>
            </a:r>
          </a:p>
          <a:p>
            <a:endParaRPr lang="en-US" sz="2000" dirty="0">
              <a:latin typeface="Courier New" charset="0"/>
              <a:ea typeface="Courier New" charset="0"/>
              <a:cs typeface="Courier New" charset="0"/>
            </a:endParaRPr>
          </a:p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}</a:t>
            </a:r>
          </a:p>
        </p:txBody>
      </p:sp>
      <p:sp>
        <p:nvSpPr>
          <p:cNvPr id="6" name="Donut 5"/>
          <p:cNvSpPr/>
          <p:nvPr/>
        </p:nvSpPr>
        <p:spPr>
          <a:xfrm>
            <a:off x="3277185" y="4361960"/>
            <a:ext cx="6059026" cy="438640"/>
          </a:xfrm>
          <a:prstGeom prst="donut">
            <a:avLst>
              <a:gd name="adj" fmla="val 102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588732" y="4821218"/>
            <a:ext cx="2836867" cy="1200329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0070C0"/>
                </a:solidFill>
              </a:rPr>
              <a:t>notes is initialised by calling </a:t>
            </a:r>
          </a:p>
          <a:p>
            <a:r>
              <a:rPr lang="en-GB" dirty="0">
                <a:solidFill>
                  <a:srgbClr val="0070C0"/>
                </a:solidFill>
              </a:rPr>
              <a:t>the constructor using new</a:t>
            </a:r>
          </a:p>
          <a:p>
            <a:endParaRPr lang="en-GB" dirty="0">
              <a:solidFill>
                <a:srgbClr val="0070C0"/>
              </a:solidFill>
            </a:endParaRPr>
          </a:p>
          <a:p>
            <a:r>
              <a:rPr lang="en-GB" dirty="0">
                <a:solidFill>
                  <a:srgbClr val="0070C0"/>
                </a:solidFill>
              </a:rPr>
              <a:t>Note </a:t>
            </a:r>
            <a:r>
              <a:rPr lang="en-GB" b="1" dirty="0">
                <a:solidFill>
                  <a:srgbClr val="0070C0"/>
                </a:solidFill>
              </a:rPr>
              <a:t>new</a:t>
            </a:r>
            <a:r>
              <a:rPr lang="en-GB" dirty="0">
                <a:solidFill>
                  <a:srgbClr val="0070C0"/>
                </a:solidFill>
              </a:rPr>
              <a:t> and </a:t>
            </a:r>
            <a:r>
              <a:rPr lang="en-GB" b="1" dirty="0">
                <a:solidFill>
                  <a:srgbClr val="0070C0"/>
                </a:solidFill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079942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 structures with </a:t>
            </a:r>
            <a:r>
              <a:rPr lang="en-US" dirty="0" err="1"/>
              <a:t>ArrayList</a:t>
            </a:r>
            <a:endParaRPr lang="en-US" dirty="0"/>
          </a:p>
        </p:txBody>
      </p:sp>
      <p:pic>
        <p:nvPicPr>
          <p:cNvPr id="8198" name="Picture 6" descr="fig4-2-colou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1676400"/>
            <a:ext cx="7340600" cy="4483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73075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Add</a:t>
            </a:r>
            <a:r>
              <a:rPr lang="en-US" dirty="0"/>
              <a:t>ing a third note</a:t>
            </a:r>
          </a:p>
        </p:txBody>
      </p:sp>
      <p:pic>
        <p:nvPicPr>
          <p:cNvPr id="9222" name="Picture 6" descr="fig4-3-colou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1822450"/>
            <a:ext cx="7799388" cy="4121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47805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Features</a:t>
            </a:r>
            <a:r>
              <a:rPr lang="en-US" dirty="0"/>
              <a:t> of the </a:t>
            </a:r>
            <a:r>
              <a:rPr lang="en-US" b="1" dirty="0" err="1"/>
              <a:t>ArrayList</a:t>
            </a:r>
            <a:r>
              <a:rPr lang="en-US" dirty="0"/>
              <a:t> Collection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600201"/>
            <a:ext cx="8229600" cy="2310222"/>
          </a:xfrm>
        </p:spPr>
        <p:txBody>
          <a:bodyPr/>
          <a:lstStyle/>
          <a:p>
            <a:r>
              <a:rPr lang="en-US" b="1" dirty="0"/>
              <a:t>It increases its capacity as necessary</a:t>
            </a:r>
            <a:r>
              <a:rPr lang="en-US" dirty="0"/>
              <a:t>.</a:t>
            </a:r>
          </a:p>
          <a:p>
            <a:r>
              <a:rPr lang="en-US" dirty="0"/>
              <a:t>It keeps a private count </a:t>
            </a:r>
          </a:p>
          <a:p>
            <a:pPr lvl="1"/>
            <a:r>
              <a:rPr lang="en-US" b="1" dirty="0">
                <a:latin typeface="Courier New" pitchFamily="-32" charset="0"/>
              </a:rPr>
              <a:t>size()</a:t>
            </a:r>
            <a:r>
              <a:rPr lang="en-US" b="1" dirty="0"/>
              <a:t> </a:t>
            </a:r>
            <a:r>
              <a:rPr lang="en-US" dirty="0"/>
              <a:t>accessor.</a:t>
            </a:r>
          </a:p>
          <a:p>
            <a:r>
              <a:rPr lang="en-US" dirty="0"/>
              <a:t>It keeps the objects in </a:t>
            </a:r>
            <a:r>
              <a:rPr lang="en-US" b="1" dirty="0"/>
              <a:t>order</a:t>
            </a:r>
            <a:r>
              <a:rPr lang="en-US" dirty="0"/>
              <a:t>.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1981200" y="4572000"/>
            <a:ext cx="8229600" cy="1676400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Details of how all this is done are hidden.</a:t>
            </a:r>
          </a:p>
          <a:p>
            <a:pPr lvl="1"/>
            <a:r>
              <a:rPr lang="en-US" dirty="0"/>
              <a:t>Does that matter? </a:t>
            </a:r>
          </a:p>
          <a:p>
            <a:pPr lvl="1"/>
            <a:r>
              <a:rPr lang="en-US" dirty="0"/>
              <a:t>Does not knowing how, prevent us from using it?</a:t>
            </a:r>
          </a:p>
        </p:txBody>
      </p:sp>
      <p:sp>
        <p:nvSpPr>
          <p:cNvPr id="3" name="Oval 2"/>
          <p:cNvSpPr/>
          <p:nvPr/>
        </p:nvSpPr>
        <p:spPr>
          <a:xfrm>
            <a:off x="9677400" y="4191000"/>
            <a:ext cx="762000" cy="762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b="1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525374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3" grpId="0" build="p"/>
      <p:bldP spid="4" grpId="0" animBg="1"/>
      <p:bldP spid="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Text Box 3"/>
          <p:cNvSpPr txBox="1">
            <a:spLocks noChangeArrowheads="1"/>
          </p:cNvSpPr>
          <p:nvPr/>
        </p:nvSpPr>
        <p:spPr bwMode="auto">
          <a:xfrm>
            <a:off x="1752600" y="76201"/>
            <a:ext cx="5257800" cy="6740307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dirty="0"/>
              <a:t>import </a:t>
            </a:r>
            <a:r>
              <a:rPr lang="en-US" sz="2400" dirty="0" err="1"/>
              <a:t>java.util.</a:t>
            </a:r>
            <a:r>
              <a:rPr lang="en-US" sz="2400" b="1" dirty="0" err="1"/>
              <a:t>ArrayList</a:t>
            </a:r>
            <a:r>
              <a:rPr lang="en-US" sz="2400" dirty="0"/>
              <a:t>;</a:t>
            </a:r>
          </a:p>
          <a:p>
            <a:endParaRPr lang="en-US" sz="2400" dirty="0"/>
          </a:p>
          <a:p>
            <a:r>
              <a:rPr lang="en-US" sz="2400" dirty="0"/>
              <a:t>public class Notebook</a:t>
            </a:r>
          </a:p>
          <a:p>
            <a:r>
              <a:rPr lang="en-US" sz="2400" dirty="0"/>
              <a:t>{</a:t>
            </a:r>
          </a:p>
          <a:p>
            <a:r>
              <a:rPr lang="en-US" sz="2400" dirty="0"/>
              <a:t>    private </a:t>
            </a:r>
            <a:r>
              <a:rPr lang="en-US" sz="2400" b="1" dirty="0" err="1"/>
              <a:t>ArrayList</a:t>
            </a:r>
            <a:r>
              <a:rPr lang="en-US" sz="2400" b="1" dirty="0"/>
              <a:t> &lt;String&gt;</a:t>
            </a:r>
            <a:r>
              <a:rPr lang="en-US" sz="2400" dirty="0"/>
              <a:t> notes;    </a:t>
            </a:r>
          </a:p>
          <a:p>
            <a:endParaRPr lang="en-US" sz="2400" dirty="0"/>
          </a:p>
          <a:p>
            <a:r>
              <a:rPr lang="en-US" sz="2400" dirty="0"/>
              <a:t>    public Notebook(){</a:t>
            </a:r>
          </a:p>
          <a:p>
            <a:r>
              <a:rPr lang="en-US" sz="2400" dirty="0"/>
              <a:t>        	notes = new </a:t>
            </a:r>
            <a:r>
              <a:rPr lang="en-US" sz="2400" b="1" dirty="0" err="1"/>
              <a:t>ArrayList</a:t>
            </a:r>
            <a:r>
              <a:rPr lang="en-US" sz="2400" b="1" dirty="0"/>
              <a:t> &lt;String&gt; </a:t>
            </a:r>
            <a:r>
              <a:rPr lang="en-US" sz="2400" dirty="0"/>
              <a:t>();</a:t>
            </a:r>
          </a:p>
          <a:p>
            <a:r>
              <a:rPr lang="en-US" sz="2400" dirty="0"/>
              <a:t>    }</a:t>
            </a:r>
          </a:p>
          <a:p>
            <a:endParaRPr lang="en-US" sz="2400" dirty="0"/>
          </a:p>
          <a:p>
            <a:r>
              <a:rPr lang="en-US" sz="2400" dirty="0"/>
              <a:t>    public void </a:t>
            </a:r>
            <a:r>
              <a:rPr lang="en-US" sz="2400" b="1" dirty="0" err="1"/>
              <a:t>storeNote</a:t>
            </a:r>
            <a:r>
              <a:rPr lang="en-US" sz="2400" dirty="0"/>
              <a:t>(String note){</a:t>
            </a:r>
          </a:p>
          <a:p>
            <a:r>
              <a:rPr lang="en-US" sz="2400" dirty="0">
                <a:solidFill>
                  <a:srgbClr val="FF0000"/>
                </a:solidFill>
              </a:rPr>
              <a:t>        </a:t>
            </a:r>
            <a:r>
              <a:rPr lang="en-US" sz="2400" dirty="0" err="1">
                <a:solidFill>
                  <a:srgbClr val="FF0000"/>
                </a:solidFill>
              </a:rPr>
              <a:t>notes.add</a:t>
            </a:r>
            <a:r>
              <a:rPr lang="en-US" sz="2400" dirty="0">
                <a:solidFill>
                  <a:srgbClr val="FF0000"/>
                </a:solidFill>
              </a:rPr>
              <a:t>(note);</a:t>
            </a:r>
          </a:p>
          <a:p>
            <a:r>
              <a:rPr lang="en-US" sz="2400" dirty="0"/>
              <a:t>    }</a:t>
            </a:r>
          </a:p>
          <a:p>
            <a:r>
              <a:rPr lang="en-US" sz="2400" dirty="0"/>
              <a:t> </a:t>
            </a:r>
          </a:p>
          <a:p>
            <a:r>
              <a:rPr lang="en-US" sz="2400" dirty="0"/>
              <a:t>    public </a:t>
            </a:r>
            <a:r>
              <a:rPr lang="en-US" sz="2400" dirty="0" err="1"/>
              <a:t>int</a:t>
            </a:r>
            <a:r>
              <a:rPr lang="en-US" sz="2400" dirty="0"/>
              <a:t> </a:t>
            </a:r>
            <a:r>
              <a:rPr lang="en-US" sz="2400" b="1" dirty="0" err="1"/>
              <a:t>numberOfNotes</a:t>
            </a:r>
            <a:r>
              <a:rPr lang="en-US" sz="2400" dirty="0"/>
              <a:t>(){</a:t>
            </a:r>
          </a:p>
          <a:p>
            <a:r>
              <a:rPr lang="en-US" sz="2400" dirty="0">
                <a:solidFill>
                  <a:srgbClr val="FF0000"/>
                </a:solidFill>
              </a:rPr>
              <a:t>        return </a:t>
            </a:r>
            <a:r>
              <a:rPr lang="en-US" sz="2400" dirty="0" err="1">
                <a:solidFill>
                  <a:srgbClr val="FF0000"/>
                </a:solidFill>
              </a:rPr>
              <a:t>notes.size</a:t>
            </a:r>
            <a:r>
              <a:rPr lang="en-US" sz="2400" dirty="0">
                <a:solidFill>
                  <a:srgbClr val="FF0000"/>
                </a:solidFill>
              </a:rPr>
              <a:t>();</a:t>
            </a:r>
          </a:p>
          <a:p>
            <a:r>
              <a:rPr lang="en-US" sz="2400" dirty="0"/>
              <a:t>    }</a:t>
            </a:r>
          </a:p>
          <a:p>
            <a:r>
              <a:rPr lang="en-US" sz="2400" dirty="0"/>
              <a:t>}</a:t>
            </a:r>
          </a:p>
        </p:txBody>
      </p:sp>
      <p:sp>
        <p:nvSpPr>
          <p:cNvPr id="11270" name="AutoShape 6"/>
          <p:cNvSpPr>
            <a:spLocks noChangeArrowheads="1"/>
          </p:cNvSpPr>
          <p:nvPr/>
        </p:nvSpPr>
        <p:spPr bwMode="auto">
          <a:xfrm>
            <a:off x="7467600" y="3890075"/>
            <a:ext cx="2819400" cy="9144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400" dirty="0">
                <a:solidFill>
                  <a:srgbClr val="A57133"/>
                </a:solidFill>
                <a:latin typeface="Trebuchet MS" pitchFamily="-32" charset="0"/>
              </a:rPr>
              <a:t>Adding a new note </a:t>
            </a:r>
          </a:p>
          <a:p>
            <a:pPr algn="ctr"/>
            <a:r>
              <a:rPr lang="en-US" sz="2400" dirty="0">
                <a:solidFill>
                  <a:srgbClr val="A57133"/>
                </a:solidFill>
                <a:latin typeface="Trebuchet MS" pitchFamily="-32" charset="0"/>
              </a:rPr>
              <a:t>of type String</a:t>
            </a:r>
          </a:p>
        </p:txBody>
      </p:sp>
      <p:sp>
        <p:nvSpPr>
          <p:cNvPr id="11271" name="AutoShape 7"/>
          <p:cNvSpPr>
            <a:spLocks noChangeArrowheads="1"/>
          </p:cNvSpPr>
          <p:nvPr/>
        </p:nvSpPr>
        <p:spPr bwMode="auto">
          <a:xfrm>
            <a:off x="7467600" y="5411788"/>
            <a:ext cx="2819400" cy="836612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400" dirty="0">
                <a:solidFill>
                  <a:srgbClr val="A57133"/>
                </a:solidFill>
                <a:latin typeface="Trebuchet MS" pitchFamily="-32" charset="0"/>
              </a:rPr>
              <a:t>Returning the </a:t>
            </a:r>
          </a:p>
          <a:p>
            <a:pPr algn="ctr"/>
            <a:r>
              <a:rPr lang="en-US" sz="2400" dirty="0">
                <a:solidFill>
                  <a:srgbClr val="A57133"/>
                </a:solidFill>
                <a:latin typeface="Trebuchet MS" pitchFamily="-32" charset="0"/>
              </a:rPr>
              <a:t>number of notes</a:t>
            </a:r>
          </a:p>
        </p:txBody>
      </p:sp>
      <p:sp>
        <p:nvSpPr>
          <p:cNvPr id="11272" name="Line 8"/>
          <p:cNvSpPr>
            <a:spLocks noChangeShapeType="1"/>
          </p:cNvSpPr>
          <p:nvPr/>
        </p:nvSpPr>
        <p:spPr bwMode="auto">
          <a:xfrm flipH="1">
            <a:off x="5181600" y="4347275"/>
            <a:ext cx="22860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E"/>
          </a:p>
        </p:txBody>
      </p:sp>
      <p:sp>
        <p:nvSpPr>
          <p:cNvPr id="11273" name="Line 9"/>
          <p:cNvSpPr>
            <a:spLocks noChangeShapeType="1"/>
          </p:cNvSpPr>
          <p:nvPr/>
        </p:nvSpPr>
        <p:spPr bwMode="auto">
          <a:xfrm flipH="1" flipV="1">
            <a:off x="5257800" y="5794376"/>
            <a:ext cx="22098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173068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70" grpId="0" animBg="1"/>
      <p:bldP spid="11271" grpId="0" animBg="1"/>
      <p:bldP spid="11272" grpId="0" animBg="1"/>
      <p:bldP spid="1127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Topic list</a:t>
            </a:r>
            <a:endParaRPr lang="en-I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43238" y="1524000"/>
            <a:ext cx="8839200" cy="5105400"/>
          </a:xfrm>
        </p:spPr>
        <p:txBody>
          <a:bodyPr>
            <a:normAutofit fontScale="85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GB" dirty="0"/>
              <a:t>Grouping Objects </a:t>
            </a:r>
          </a:p>
          <a:p>
            <a:pPr lvl="1"/>
            <a:r>
              <a:rPr lang="en-GB" dirty="0"/>
              <a:t>Developing a basic personal notebook project using </a:t>
            </a:r>
            <a:r>
              <a:rPr lang="en-GB" b="1" dirty="0"/>
              <a:t>Collections</a:t>
            </a:r>
            <a:r>
              <a:rPr lang="en-GB" dirty="0"/>
              <a:t> </a:t>
            </a:r>
            <a:br>
              <a:rPr lang="en-GB" dirty="0"/>
            </a:br>
            <a:r>
              <a:rPr lang="en-GB" dirty="0"/>
              <a:t>e.g. </a:t>
            </a:r>
            <a:r>
              <a:rPr lang="en-GB" b="1" dirty="0" err="1"/>
              <a:t>ArrayList</a:t>
            </a:r>
            <a:endParaRPr lang="en-GB" b="1" dirty="0"/>
          </a:p>
          <a:p>
            <a:pPr marL="514350" indent="-514350">
              <a:buFont typeface="+mj-lt"/>
              <a:buAutoNum type="arabicPeriod"/>
            </a:pPr>
            <a:r>
              <a:rPr lang="en-GB" b="1" dirty="0"/>
              <a:t>Indexing</a:t>
            </a:r>
            <a:r>
              <a:rPr lang="en-GB" dirty="0"/>
              <a:t> within Collections</a:t>
            </a:r>
          </a:p>
          <a:p>
            <a:pPr lvl="1"/>
            <a:r>
              <a:rPr lang="en-GB" dirty="0"/>
              <a:t>Retrieval and removal of objects </a:t>
            </a:r>
          </a:p>
          <a:p>
            <a:pPr marL="514350" indent="-514350">
              <a:buFont typeface="+mj-lt"/>
              <a:buAutoNum type="arabicPeriod"/>
            </a:pPr>
            <a:r>
              <a:rPr lang="en-GB" b="1" dirty="0"/>
              <a:t>Generic classes </a:t>
            </a:r>
          </a:p>
          <a:p>
            <a:pPr lvl="1"/>
            <a:r>
              <a:rPr lang="en-GB" dirty="0"/>
              <a:t>e.g. </a:t>
            </a:r>
            <a:r>
              <a:rPr lang="en-GB" dirty="0" err="1"/>
              <a:t>ArrayList</a:t>
            </a:r>
            <a:endParaRPr lang="en-GB" dirty="0"/>
          </a:p>
          <a:p>
            <a:pPr marL="514350" indent="-514350">
              <a:buFont typeface="+mj-lt"/>
              <a:buAutoNum type="arabicPeriod"/>
            </a:pPr>
            <a:r>
              <a:rPr lang="en-GB" b="1" dirty="0"/>
              <a:t>Iteration</a:t>
            </a:r>
          </a:p>
          <a:p>
            <a:pPr lvl="1"/>
            <a:r>
              <a:rPr lang="en-GB" dirty="0"/>
              <a:t>Using the for loop</a:t>
            </a:r>
          </a:p>
          <a:p>
            <a:pPr lvl="1"/>
            <a:r>
              <a:rPr lang="en-GB" dirty="0"/>
              <a:t>Using the while loop</a:t>
            </a:r>
          </a:p>
          <a:p>
            <a:pPr lvl="1"/>
            <a:r>
              <a:rPr lang="en-GB" dirty="0"/>
              <a:t>Using the </a:t>
            </a:r>
            <a:r>
              <a:rPr lang="en-GB" b="1" dirty="0"/>
              <a:t>for each </a:t>
            </a:r>
            <a:r>
              <a:rPr lang="en-GB" dirty="0"/>
              <a:t>loop</a:t>
            </a:r>
          </a:p>
          <a:p>
            <a:r>
              <a:rPr lang="en-IE" dirty="0">
                <a:solidFill>
                  <a:schemeClr val="bg1">
                    <a:lumMod val="50000"/>
                  </a:schemeClr>
                </a:solidFill>
              </a:rPr>
              <a:t>Next </a:t>
            </a:r>
            <a:r>
              <a:rPr lang="en-IE" dirty="0" err="1">
                <a:solidFill>
                  <a:schemeClr val="bg1">
                    <a:lumMod val="50000"/>
                  </a:schemeClr>
                </a:solidFill>
              </a:rPr>
              <a:t>SlideDeck</a:t>
            </a:r>
            <a:r>
              <a:rPr lang="en-IE" dirty="0">
                <a:solidFill>
                  <a:schemeClr val="bg1">
                    <a:lumMod val="50000"/>
                  </a:schemeClr>
                </a:solidFill>
              </a:rPr>
              <a:t>: </a:t>
            </a:r>
            <a:br>
              <a:rPr lang="en-IE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IE" dirty="0">
                <a:solidFill>
                  <a:schemeClr val="bg1">
                    <a:lumMod val="50000"/>
                  </a:schemeClr>
                </a:solidFill>
              </a:rPr>
              <a:t>coding a Shop Project that stores an </a:t>
            </a:r>
            <a:r>
              <a:rPr lang="en-IE" dirty="0" err="1">
                <a:solidFill>
                  <a:schemeClr val="bg1">
                    <a:lumMod val="50000"/>
                  </a:schemeClr>
                </a:solidFill>
              </a:rPr>
              <a:t>ArrayList</a:t>
            </a:r>
            <a:r>
              <a:rPr lang="en-IE" dirty="0">
                <a:solidFill>
                  <a:schemeClr val="bg1">
                    <a:lumMod val="50000"/>
                  </a:schemeClr>
                </a:solidFill>
              </a:rPr>
              <a:t> of Products.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1843238" y="2590800"/>
            <a:ext cx="8748562" cy="838200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673005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ArrayList</a:t>
            </a:r>
            <a:r>
              <a:rPr lang="en-US" dirty="0"/>
              <a:t>: </a:t>
            </a:r>
            <a:r>
              <a:rPr lang="en-US" b="1" dirty="0"/>
              <a:t>Index numbering</a:t>
            </a:r>
          </a:p>
        </p:txBody>
      </p:sp>
      <p:pic>
        <p:nvPicPr>
          <p:cNvPr id="13318" name="Picture 6" descr="fig4-4-colou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1752600"/>
            <a:ext cx="7848600" cy="4146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93355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Retrieving an object </a:t>
            </a:r>
            <a:r>
              <a:rPr lang="mr-IN" dirty="0"/>
              <a:t>–</a:t>
            </a:r>
            <a:r>
              <a:rPr lang="en-US" dirty="0"/>
              <a:t> </a:t>
            </a:r>
            <a:r>
              <a:rPr lang="en-US" b="1" dirty="0" err="1"/>
              <a:t>showNote</a:t>
            </a:r>
            <a:r>
              <a:rPr lang="en-US" b="1" dirty="0"/>
              <a:t>()</a:t>
            </a:r>
          </a:p>
        </p:txBody>
      </p:sp>
      <p:sp>
        <p:nvSpPr>
          <p:cNvPr id="12291" name="Text Box 3"/>
          <p:cNvSpPr txBox="1">
            <a:spLocks noChangeArrowheads="1"/>
          </p:cNvSpPr>
          <p:nvPr/>
        </p:nvSpPr>
        <p:spPr bwMode="auto">
          <a:xfrm>
            <a:off x="2356769" y="1847235"/>
            <a:ext cx="1841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endParaRPr lang="en-GB" sz="1600"/>
          </a:p>
        </p:txBody>
      </p:sp>
      <p:sp>
        <p:nvSpPr>
          <p:cNvPr id="12294" name="AutoShape 6"/>
          <p:cNvSpPr>
            <a:spLocks noChangeArrowheads="1"/>
          </p:cNvSpPr>
          <p:nvPr/>
        </p:nvSpPr>
        <p:spPr bwMode="auto">
          <a:xfrm>
            <a:off x="1724944" y="3148985"/>
            <a:ext cx="1447800" cy="1125537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2">
                <a:lumMod val="60000"/>
                <a:lumOff val="4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0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rebuchet MS" pitchFamily="-32" charset="0"/>
              </a:rPr>
              <a:t>Index </a:t>
            </a:r>
          </a:p>
          <a:p>
            <a:pPr algn="ctr"/>
            <a:r>
              <a:rPr lang="en-US" sz="20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rebuchet MS" pitchFamily="-32" charset="0"/>
              </a:rPr>
              <a:t>validity </a:t>
            </a:r>
          </a:p>
          <a:p>
            <a:pPr algn="ctr"/>
            <a:r>
              <a:rPr lang="en-US" sz="20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rebuchet MS" pitchFamily="-32" charset="0"/>
              </a:rPr>
              <a:t>checks</a:t>
            </a:r>
          </a:p>
        </p:txBody>
      </p:sp>
      <p:sp>
        <p:nvSpPr>
          <p:cNvPr id="12300" name="Rectangle 12"/>
          <p:cNvSpPr>
            <a:spLocks noChangeArrowheads="1"/>
          </p:cNvSpPr>
          <p:nvPr/>
        </p:nvSpPr>
        <p:spPr bwMode="auto">
          <a:xfrm>
            <a:off x="6030244" y="2350473"/>
            <a:ext cx="1447800" cy="2444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/>
            <a:endParaRPr lang="en-GB" sz="1000"/>
          </a:p>
        </p:txBody>
      </p:sp>
      <p:sp>
        <p:nvSpPr>
          <p:cNvPr id="12301" name="Rectangle 13"/>
          <p:cNvSpPr>
            <a:spLocks noChangeArrowheads="1"/>
          </p:cNvSpPr>
          <p:nvPr/>
        </p:nvSpPr>
        <p:spPr bwMode="auto">
          <a:xfrm>
            <a:off x="7478044" y="3191848"/>
            <a:ext cx="1447800" cy="2444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/>
            <a:endParaRPr lang="en-GB" sz="1000"/>
          </a:p>
        </p:txBody>
      </p:sp>
      <p:sp>
        <p:nvSpPr>
          <p:cNvPr id="12302" name="Rectangle 14"/>
          <p:cNvSpPr>
            <a:spLocks noChangeArrowheads="1"/>
          </p:cNvSpPr>
          <p:nvPr/>
        </p:nvSpPr>
        <p:spPr bwMode="auto">
          <a:xfrm>
            <a:off x="6944644" y="4830148"/>
            <a:ext cx="1447800" cy="2444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/>
            <a:endParaRPr lang="en-GB" sz="1000"/>
          </a:p>
        </p:txBody>
      </p:sp>
      <p:sp>
        <p:nvSpPr>
          <p:cNvPr id="12292" name="Text Box 4"/>
          <p:cNvSpPr txBox="1">
            <a:spLocks noChangeArrowheads="1"/>
          </p:cNvSpPr>
          <p:nvPr/>
        </p:nvSpPr>
        <p:spPr bwMode="auto">
          <a:xfrm>
            <a:off x="3276600" y="1600201"/>
            <a:ext cx="6792244" cy="4893647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IE" sz="2600" noProof="1"/>
              <a:t>public void </a:t>
            </a:r>
            <a:r>
              <a:rPr lang="en-IE" sz="2600" b="1" noProof="1"/>
              <a:t>showNote</a:t>
            </a:r>
            <a:r>
              <a:rPr lang="en-IE" sz="2600" noProof="1"/>
              <a:t> (int noteNumber)</a:t>
            </a:r>
          </a:p>
          <a:p>
            <a:r>
              <a:rPr lang="en-IE" sz="2600" noProof="1"/>
              <a:t>{</a:t>
            </a:r>
          </a:p>
          <a:p>
            <a:r>
              <a:rPr lang="en-IE" sz="2600" noProof="1"/>
              <a:t>    </a:t>
            </a:r>
            <a:r>
              <a:rPr lang="en-IE" sz="2600" noProof="1">
                <a:solidFill>
                  <a:schemeClr val="tx2">
                    <a:lumMod val="60000"/>
                    <a:lumOff val="40000"/>
                  </a:schemeClr>
                </a:solidFill>
              </a:rPr>
              <a:t>if(noteNumber &lt; 0) {</a:t>
            </a:r>
          </a:p>
          <a:p>
            <a:r>
              <a:rPr lang="en-IE" sz="2600" noProof="1"/>
              <a:t>        // This is not a valid note number.</a:t>
            </a:r>
          </a:p>
          <a:p>
            <a:r>
              <a:rPr lang="en-IE" sz="2600" noProof="1"/>
              <a:t>    </a:t>
            </a:r>
            <a:r>
              <a:rPr lang="en-IE" sz="2600" noProof="1">
                <a:solidFill>
                  <a:srgbClr val="558ED6"/>
                </a:solidFill>
              </a:rPr>
              <a:t>}</a:t>
            </a:r>
          </a:p>
          <a:p>
            <a:r>
              <a:rPr lang="en-IE" sz="2600" noProof="1">
                <a:solidFill>
                  <a:schemeClr val="tx2">
                    <a:lumMod val="60000"/>
                    <a:lumOff val="40000"/>
                  </a:schemeClr>
                </a:solidFill>
              </a:rPr>
              <a:t>    else if(noteNumber &lt; numberOfNotes()) {</a:t>
            </a:r>
          </a:p>
          <a:p>
            <a:r>
              <a:rPr lang="en-IE" sz="2600" noProof="1"/>
              <a:t>        </a:t>
            </a:r>
            <a:r>
              <a:rPr lang="en-IE" sz="2600" noProof="1">
                <a:solidFill>
                  <a:srgbClr val="FF0000"/>
                </a:solidFill>
              </a:rPr>
              <a:t>System.out.println(</a:t>
            </a:r>
            <a:r>
              <a:rPr lang="en-IE" sz="2600" b="1" noProof="1">
                <a:solidFill>
                  <a:srgbClr val="FF0000"/>
                </a:solidFill>
              </a:rPr>
              <a:t>notes.get</a:t>
            </a:r>
            <a:r>
              <a:rPr lang="en-IE" sz="2600" noProof="1">
                <a:solidFill>
                  <a:srgbClr val="FF0000"/>
                </a:solidFill>
              </a:rPr>
              <a:t>(noteNumber));</a:t>
            </a:r>
          </a:p>
          <a:p>
            <a:r>
              <a:rPr lang="en-IE" sz="2600" noProof="1"/>
              <a:t>   </a:t>
            </a:r>
            <a:r>
              <a:rPr lang="en-IE" sz="2600" noProof="1">
                <a:solidFill>
                  <a:srgbClr val="0070C0"/>
                </a:solidFill>
              </a:rPr>
              <a:t> }</a:t>
            </a:r>
          </a:p>
          <a:p>
            <a:r>
              <a:rPr lang="en-IE" sz="2600" noProof="1"/>
              <a:t>    </a:t>
            </a:r>
            <a:r>
              <a:rPr lang="en-IE" sz="2600" noProof="1">
                <a:solidFill>
                  <a:schemeClr val="tx2">
                    <a:lumMod val="60000"/>
                    <a:lumOff val="40000"/>
                  </a:schemeClr>
                </a:solidFill>
              </a:rPr>
              <a:t>else {</a:t>
            </a:r>
          </a:p>
          <a:p>
            <a:r>
              <a:rPr lang="en-IE" sz="2600" noProof="1"/>
              <a:t>        // This is not a valid note number.</a:t>
            </a:r>
          </a:p>
          <a:p>
            <a:r>
              <a:rPr lang="en-IE" sz="2600" noProof="1">
                <a:solidFill>
                  <a:srgbClr val="0070C0"/>
                </a:solidFill>
              </a:rPr>
              <a:t>    }</a:t>
            </a:r>
          </a:p>
          <a:p>
            <a:r>
              <a:rPr lang="en-IE" sz="2600" noProof="1"/>
              <a:t>}</a:t>
            </a:r>
          </a:p>
        </p:txBody>
      </p:sp>
      <p:cxnSp>
        <p:nvCxnSpPr>
          <p:cNvPr id="3" name="Straight Arrow Connector 2"/>
          <p:cNvCxnSpPr/>
          <p:nvPr/>
        </p:nvCxnSpPr>
        <p:spPr>
          <a:xfrm flipH="1" flipV="1">
            <a:off x="7478044" y="4495801"/>
            <a:ext cx="1676400" cy="1143059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/>
          <p:nvPr/>
        </p:nvCxnSpPr>
        <p:spPr>
          <a:xfrm flipV="1">
            <a:off x="3066382" y="2760047"/>
            <a:ext cx="525463" cy="4318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3172744" y="3826847"/>
            <a:ext cx="419100" cy="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3066382" y="4274522"/>
            <a:ext cx="525463" cy="677863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98" name="AutoShape 10"/>
          <p:cNvSpPr>
            <a:spLocks noChangeArrowheads="1"/>
          </p:cNvSpPr>
          <p:nvPr/>
        </p:nvSpPr>
        <p:spPr bwMode="auto">
          <a:xfrm>
            <a:off x="8356281" y="5638857"/>
            <a:ext cx="1676400" cy="7620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Trebuchet MS" pitchFamily="-32" charset="0"/>
              </a:rPr>
              <a:t>Retrieve and</a:t>
            </a:r>
          </a:p>
          <a:p>
            <a:pPr algn="ctr"/>
            <a:r>
              <a:rPr lang="en-US" b="1" dirty="0">
                <a:solidFill>
                  <a:srgbClr val="FF0000"/>
                </a:solidFill>
                <a:latin typeface="Trebuchet MS" pitchFamily="-32" charset="0"/>
              </a:rPr>
              <a:t>print the note</a:t>
            </a:r>
          </a:p>
        </p:txBody>
      </p:sp>
    </p:spTree>
    <p:extLst>
      <p:ext uri="{BB962C8B-B14F-4D97-AF65-F5344CB8AC3E}">
        <p14:creationId xmlns:p14="http://schemas.microsoft.com/office/powerpoint/2010/main" val="2790023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4" grpId="0" animBg="1"/>
      <p:bldP spid="1229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Removing an object</a:t>
            </a:r>
          </a:p>
        </p:txBody>
      </p:sp>
      <p:sp>
        <p:nvSpPr>
          <p:cNvPr id="12291" name="Text Box 3"/>
          <p:cNvSpPr txBox="1">
            <a:spLocks noChangeArrowheads="1"/>
          </p:cNvSpPr>
          <p:nvPr/>
        </p:nvSpPr>
        <p:spPr bwMode="auto">
          <a:xfrm>
            <a:off x="2270125" y="1830388"/>
            <a:ext cx="1841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endParaRPr lang="en-GB" sz="1600"/>
          </a:p>
        </p:txBody>
      </p:sp>
      <p:sp>
        <p:nvSpPr>
          <p:cNvPr id="12300" name="Rectangle 12"/>
          <p:cNvSpPr>
            <a:spLocks noChangeArrowheads="1"/>
          </p:cNvSpPr>
          <p:nvPr/>
        </p:nvSpPr>
        <p:spPr bwMode="auto">
          <a:xfrm>
            <a:off x="5943600" y="2333626"/>
            <a:ext cx="1447800" cy="2444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/>
            <a:endParaRPr lang="en-GB" sz="1000"/>
          </a:p>
        </p:txBody>
      </p:sp>
      <p:sp>
        <p:nvSpPr>
          <p:cNvPr id="12301" name="Rectangle 13"/>
          <p:cNvSpPr>
            <a:spLocks noChangeArrowheads="1"/>
          </p:cNvSpPr>
          <p:nvPr/>
        </p:nvSpPr>
        <p:spPr bwMode="auto">
          <a:xfrm>
            <a:off x="7391400" y="3175001"/>
            <a:ext cx="1447800" cy="2444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/>
            <a:endParaRPr lang="en-GB" sz="1000"/>
          </a:p>
        </p:txBody>
      </p:sp>
      <p:sp>
        <p:nvSpPr>
          <p:cNvPr id="12302" name="Rectangle 14"/>
          <p:cNvSpPr>
            <a:spLocks noChangeArrowheads="1"/>
          </p:cNvSpPr>
          <p:nvPr/>
        </p:nvSpPr>
        <p:spPr bwMode="auto">
          <a:xfrm>
            <a:off x="6858000" y="4813301"/>
            <a:ext cx="1447800" cy="2444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/>
            <a:endParaRPr lang="en-GB" sz="1000"/>
          </a:p>
        </p:txBody>
      </p:sp>
      <p:sp>
        <p:nvSpPr>
          <p:cNvPr id="12292" name="Text Box 4"/>
          <p:cNvSpPr txBox="1">
            <a:spLocks noChangeArrowheads="1"/>
          </p:cNvSpPr>
          <p:nvPr/>
        </p:nvSpPr>
        <p:spPr bwMode="auto">
          <a:xfrm>
            <a:off x="2946394" y="1524001"/>
            <a:ext cx="7645407" cy="5293757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600" noProof="1"/>
              <a:t> public void removeNote(int noteNumber)</a:t>
            </a:r>
          </a:p>
          <a:p>
            <a:r>
              <a:rPr lang="en-US" sz="2600" noProof="1"/>
              <a:t>    {</a:t>
            </a:r>
          </a:p>
          <a:p>
            <a:r>
              <a:rPr lang="en-US" sz="2600" noProof="1">
                <a:solidFill>
                  <a:schemeClr val="tx2">
                    <a:lumMod val="60000"/>
                    <a:lumOff val="40000"/>
                  </a:schemeClr>
                </a:solidFill>
              </a:rPr>
              <a:t>        if(noteNumber &lt; 0) {</a:t>
            </a:r>
          </a:p>
          <a:p>
            <a:r>
              <a:rPr lang="en-US" sz="2600" noProof="1"/>
              <a:t>            // This is not a valid note number, so do nothing.</a:t>
            </a:r>
          </a:p>
          <a:p>
            <a:r>
              <a:rPr lang="en-US" sz="2600" noProof="1"/>
              <a:t>        }</a:t>
            </a:r>
          </a:p>
          <a:p>
            <a:r>
              <a:rPr lang="en-US" sz="2600" noProof="1"/>
              <a:t>        </a:t>
            </a:r>
            <a:r>
              <a:rPr lang="en-US" sz="2600" noProof="1">
                <a:solidFill>
                  <a:schemeClr val="tx2">
                    <a:lumMod val="60000"/>
                    <a:lumOff val="40000"/>
                  </a:schemeClr>
                </a:solidFill>
              </a:rPr>
              <a:t>else if(noteNumber &lt; numberOfNotes()) {</a:t>
            </a:r>
          </a:p>
          <a:p>
            <a:r>
              <a:rPr lang="en-US" sz="2600" noProof="1"/>
              <a:t>            // This is a valid note number.</a:t>
            </a:r>
          </a:p>
          <a:p>
            <a:r>
              <a:rPr lang="en-US" sz="2600" noProof="1"/>
              <a:t>            </a:t>
            </a:r>
            <a:r>
              <a:rPr lang="en-US" sz="2600" b="1" noProof="1">
                <a:solidFill>
                  <a:srgbClr val="FF0000"/>
                </a:solidFill>
              </a:rPr>
              <a:t>notes.remove</a:t>
            </a:r>
            <a:r>
              <a:rPr lang="en-US" sz="2600" noProof="1">
                <a:solidFill>
                  <a:srgbClr val="FF0000"/>
                </a:solidFill>
              </a:rPr>
              <a:t>(noteNumber);</a:t>
            </a:r>
          </a:p>
          <a:p>
            <a:r>
              <a:rPr lang="en-US" sz="2600" noProof="1"/>
              <a:t>        }</a:t>
            </a:r>
          </a:p>
          <a:p>
            <a:r>
              <a:rPr lang="en-US" sz="2600" noProof="1"/>
              <a:t>       </a:t>
            </a:r>
            <a:r>
              <a:rPr lang="en-US" sz="2600" noProof="1">
                <a:solidFill>
                  <a:schemeClr val="tx2">
                    <a:lumMod val="60000"/>
                    <a:lumOff val="40000"/>
                  </a:schemeClr>
                </a:solidFill>
              </a:rPr>
              <a:t> else </a:t>
            </a:r>
            <a:r>
              <a:rPr lang="en-US" sz="2600" noProof="1"/>
              <a:t>{</a:t>
            </a:r>
          </a:p>
          <a:p>
            <a:r>
              <a:rPr lang="en-US" sz="2600" noProof="1"/>
              <a:t>            // This is not a valid note number, so do nothing.</a:t>
            </a:r>
          </a:p>
          <a:p>
            <a:r>
              <a:rPr lang="en-US" sz="2600" noProof="1"/>
              <a:t>        }</a:t>
            </a:r>
          </a:p>
          <a:p>
            <a:r>
              <a:rPr lang="en-US" sz="2600" noProof="1"/>
              <a:t>    }</a:t>
            </a:r>
            <a:endParaRPr lang="en-IE" sz="2600" noProof="1"/>
          </a:p>
        </p:txBody>
      </p:sp>
      <p:cxnSp>
        <p:nvCxnSpPr>
          <p:cNvPr id="3" name="Straight Arrow Connector 2"/>
          <p:cNvCxnSpPr/>
          <p:nvPr/>
        </p:nvCxnSpPr>
        <p:spPr>
          <a:xfrm flipH="1" flipV="1">
            <a:off x="7825355" y="4617229"/>
            <a:ext cx="442217" cy="6111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/>
          <p:nvPr/>
        </p:nvCxnSpPr>
        <p:spPr>
          <a:xfrm flipV="1">
            <a:off x="2819876" y="2578100"/>
            <a:ext cx="685325" cy="5969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12294" idx="3"/>
          </p:cNvCxnSpPr>
          <p:nvPr/>
        </p:nvCxnSpPr>
        <p:spPr>
          <a:xfrm>
            <a:off x="2865028" y="3694906"/>
            <a:ext cx="640173" cy="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2819876" y="4094679"/>
            <a:ext cx="685325" cy="1058293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94" name="AutoShape 6"/>
          <p:cNvSpPr>
            <a:spLocks noChangeArrowheads="1"/>
          </p:cNvSpPr>
          <p:nvPr/>
        </p:nvSpPr>
        <p:spPr bwMode="auto">
          <a:xfrm>
            <a:off x="1638301" y="3132138"/>
            <a:ext cx="1226727" cy="1125537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2">
                <a:lumMod val="60000"/>
                <a:lumOff val="4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0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rebuchet MS" pitchFamily="-32" charset="0"/>
              </a:rPr>
              <a:t>Index </a:t>
            </a:r>
          </a:p>
          <a:p>
            <a:pPr algn="ctr"/>
            <a:r>
              <a:rPr lang="en-US" sz="20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rebuchet MS" pitchFamily="-32" charset="0"/>
              </a:rPr>
              <a:t>validity </a:t>
            </a:r>
          </a:p>
          <a:p>
            <a:pPr algn="ctr"/>
            <a:r>
              <a:rPr lang="en-US" sz="20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rebuchet MS" pitchFamily="-32" charset="0"/>
              </a:rPr>
              <a:t>checks</a:t>
            </a:r>
          </a:p>
        </p:txBody>
      </p:sp>
      <p:sp>
        <p:nvSpPr>
          <p:cNvPr id="12298" name="AutoShape 10"/>
          <p:cNvSpPr>
            <a:spLocks noChangeArrowheads="1"/>
          </p:cNvSpPr>
          <p:nvPr/>
        </p:nvSpPr>
        <p:spPr bwMode="auto">
          <a:xfrm>
            <a:off x="8229601" y="4617229"/>
            <a:ext cx="2196885" cy="7620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 dirty="0">
                <a:solidFill>
                  <a:srgbClr val="FF0000"/>
                </a:solidFill>
                <a:latin typeface="Trebuchet MS" pitchFamily="-32" charset="0"/>
              </a:rPr>
              <a:t>Delete the note at</a:t>
            </a:r>
          </a:p>
          <a:p>
            <a:pPr algn="ctr"/>
            <a:r>
              <a:rPr lang="en-US" sz="2000" dirty="0">
                <a:solidFill>
                  <a:srgbClr val="FF0000"/>
                </a:solidFill>
                <a:latin typeface="Trebuchet MS" pitchFamily="-32" charset="0"/>
              </a:rPr>
              <a:t>the specific index</a:t>
            </a:r>
          </a:p>
        </p:txBody>
      </p:sp>
    </p:spTree>
    <p:extLst>
      <p:ext uri="{BB962C8B-B14F-4D97-AF65-F5344CB8AC3E}">
        <p14:creationId xmlns:p14="http://schemas.microsoft.com/office/powerpoint/2010/main" val="18861628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Removal</a:t>
            </a:r>
            <a:r>
              <a:rPr lang="en-US" dirty="0"/>
              <a:t> may </a:t>
            </a:r>
            <a:r>
              <a:rPr lang="en-US" b="1" dirty="0"/>
              <a:t>affect numbering</a:t>
            </a:r>
          </a:p>
        </p:txBody>
      </p:sp>
      <p:pic>
        <p:nvPicPr>
          <p:cNvPr id="14343" name="Picture 7" descr="fig4-6-colou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8100" y="1689100"/>
            <a:ext cx="7632700" cy="4483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47999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Removal</a:t>
            </a:r>
            <a:r>
              <a:rPr lang="en-US" dirty="0"/>
              <a:t> may </a:t>
            </a:r>
            <a:r>
              <a:rPr lang="en-US" b="1" dirty="0"/>
              <a:t>affect numbering</a:t>
            </a:r>
          </a:p>
        </p:txBody>
      </p:sp>
      <p:pic>
        <p:nvPicPr>
          <p:cNvPr id="14343" name="Picture 7" descr="fig4-6-colou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2806480"/>
            <a:ext cx="3296900" cy="1936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fig4-4-colour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2819401"/>
            <a:ext cx="3665316" cy="1936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2843515" y="2199190"/>
            <a:ext cx="9153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/>
              <a:t>BEFORE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53401" y="2209800"/>
            <a:ext cx="772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AFTER</a:t>
            </a:r>
          </a:p>
        </p:txBody>
      </p:sp>
      <p:sp>
        <p:nvSpPr>
          <p:cNvPr id="4" name="Donut 3"/>
          <p:cNvSpPr/>
          <p:nvPr/>
        </p:nvSpPr>
        <p:spPr>
          <a:xfrm>
            <a:off x="3352800" y="3045274"/>
            <a:ext cx="1371600" cy="925010"/>
          </a:xfrm>
          <a:prstGeom prst="donut">
            <a:avLst>
              <a:gd name="adj" fmla="val 261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0" name="Donut 9"/>
          <p:cNvSpPr/>
          <p:nvPr/>
        </p:nvSpPr>
        <p:spPr>
          <a:xfrm>
            <a:off x="8305800" y="3045274"/>
            <a:ext cx="1371600" cy="925010"/>
          </a:xfrm>
          <a:prstGeom prst="donut">
            <a:avLst>
              <a:gd name="adj" fmla="val 261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529289" y="47880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21481" y="47880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47880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3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6400800" y="1644986"/>
            <a:ext cx="0" cy="4755815"/>
          </a:xfrm>
          <a:prstGeom prst="line">
            <a:avLst/>
          </a:prstGeom>
          <a:ln w="698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745158" y="475584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4314" y="475584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02685" y="6119230"/>
            <a:ext cx="31086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NOTE </a:t>
            </a:r>
            <a:r>
              <a:rPr lang="en-GB"/>
              <a:t>the change in numbering</a:t>
            </a:r>
          </a:p>
        </p:txBody>
      </p:sp>
      <p:cxnSp>
        <p:nvCxnSpPr>
          <p:cNvPr id="21" name="Straight Arrow Connector 20"/>
          <p:cNvCxnSpPr>
            <a:endCxn id="11" idx="2"/>
          </p:cNvCxnSpPr>
          <p:nvPr/>
        </p:nvCxnSpPr>
        <p:spPr>
          <a:xfrm flipH="1" flipV="1">
            <a:off x="5180044" y="5157332"/>
            <a:ext cx="2058957" cy="961898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V="1">
            <a:off x="7389843" y="5091683"/>
            <a:ext cx="2287558" cy="1040086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7466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0" grpId="0" animBg="1"/>
      <p:bldP spid="3" grpId="0"/>
      <p:bldP spid="5" grpId="0"/>
      <p:bldP spid="11" grpId="0"/>
      <p:bldP spid="18" grpId="0"/>
      <p:bldP spid="19" grpId="0"/>
      <p:bldP spid="1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Topic list</a:t>
            </a:r>
            <a:endParaRPr lang="en-I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43238" y="1524000"/>
            <a:ext cx="8839200" cy="5105400"/>
          </a:xfrm>
        </p:spPr>
        <p:txBody>
          <a:bodyPr>
            <a:normAutofit fontScale="85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GB" dirty="0"/>
              <a:t>Grouping Objects </a:t>
            </a:r>
          </a:p>
          <a:p>
            <a:pPr lvl="1"/>
            <a:r>
              <a:rPr lang="en-GB" dirty="0"/>
              <a:t>Developing a basic personal notebook project using </a:t>
            </a:r>
            <a:r>
              <a:rPr lang="en-GB" b="1" dirty="0"/>
              <a:t>Collections</a:t>
            </a:r>
            <a:r>
              <a:rPr lang="en-GB" dirty="0"/>
              <a:t> </a:t>
            </a:r>
            <a:br>
              <a:rPr lang="en-GB" dirty="0"/>
            </a:br>
            <a:r>
              <a:rPr lang="en-GB" dirty="0"/>
              <a:t>e.g. </a:t>
            </a:r>
            <a:r>
              <a:rPr lang="en-GB" b="1" dirty="0" err="1"/>
              <a:t>ArrayList</a:t>
            </a:r>
            <a:endParaRPr lang="en-GB" b="1" dirty="0"/>
          </a:p>
          <a:p>
            <a:pPr marL="514350" indent="-514350">
              <a:buFont typeface="+mj-lt"/>
              <a:buAutoNum type="arabicPeriod"/>
            </a:pPr>
            <a:r>
              <a:rPr lang="en-GB" b="1" dirty="0"/>
              <a:t>Indexing</a:t>
            </a:r>
            <a:r>
              <a:rPr lang="en-GB" dirty="0"/>
              <a:t> within Collections</a:t>
            </a:r>
          </a:p>
          <a:p>
            <a:pPr lvl="1"/>
            <a:r>
              <a:rPr lang="en-GB" dirty="0"/>
              <a:t>Retrieval and removal of objects </a:t>
            </a:r>
          </a:p>
          <a:p>
            <a:pPr marL="514350" indent="-514350">
              <a:buFont typeface="+mj-lt"/>
              <a:buAutoNum type="arabicPeriod"/>
            </a:pPr>
            <a:r>
              <a:rPr lang="en-GB" b="1" dirty="0"/>
              <a:t>Generic / Parameterized classes </a:t>
            </a:r>
          </a:p>
          <a:p>
            <a:pPr lvl="1"/>
            <a:r>
              <a:rPr lang="en-GB" dirty="0"/>
              <a:t>e.g. </a:t>
            </a:r>
            <a:r>
              <a:rPr lang="en-GB" dirty="0" err="1"/>
              <a:t>ArrayList</a:t>
            </a:r>
            <a:endParaRPr lang="en-GB" dirty="0"/>
          </a:p>
          <a:p>
            <a:pPr marL="514350" indent="-514350">
              <a:buFont typeface="+mj-lt"/>
              <a:buAutoNum type="arabicPeriod"/>
            </a:pPr>
            <a:r>
              <a:rPr lang="en-GB" b="1" dirty="0"/>
              <a:t>Iteration</a:t>
            </a:r>
          </a:p>
          <a:p>
            <a:pPr lvl="1"/>
            <a:r>
              <a:rPr lang="en-GB" dirty="0"/>
              <a:t>Using the for loop</a:t>
            </a:r>
          </a:p>
          <a:p>
            <a:pPr lvl="1"/>
            <a:r>
              <a:rPr lang="en-GB" dirty="0"/>
              <a:t>Using the while loop</a:t>
            </a:r>
          </a:p>
          <a:p>
            <a:pPr lvl="1"/>
            <a:r>
              <a:rPr lang="en-GB" dirty="0"/>
              <a:t>Using the </a:t>
            </a:r>
            <a:r>
              <a:rPr lang="en-GB" b="1" dirty="0"/>
              <a:t>for each </a:t>
            </a:r>
            <a:r>
              <a:rPr lang="en-GB" dirty="0"/>
              <a:t>loop</a:t>
            </a:r>
          </a:p>
          <a:p>
            <a:r>
              <a:rPr lang="en-IE" dirty="0">
                <a:solidFill>
                  <a:schemeClr val="bg1">
                    <a:lumMod val="50000"/>
                  </a:schemeClr>
                </a:solidFill>
              </a:rPr>
              <a:t>Next </a:t>
            </a:r>
            <a:r>
              <a:rPr lang="en-IE" dirty="0" err="1">
                <a:solidFill>
                  <a:schemeClr val="bg1">
                    <a:lumMod val="50000"/>
                  </a:schemeClr>
                </a:solidFill>
              </a:rPr>
              <a:t>SlideDeck</a:t>
            </a:r>
            <a:r>
              <a:rPr lang="en-IE" dirty="0">
                <a:solidFill>
                  <a:schemeClr val="bg1">
                    <a:lumMod val="50000"/>
                  </a:schemeClr>
                </a:solidFill>
              </a:rPr>
              <a:t>: </a:t>
            </a:r>
            <a:br>
              <a:rPr lang="en-IE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IE" dirty="0">
                <a:solidFill>
                  <a:schemeClr val="bg1">
                    <a:lumMod val="50000"/>
                  </a:schemeClr>
                </a:solidFill>
              </a:rPr>
              <a:t>coding a Shop Project that stores an </a:t>
            </a:r>
            <a:r>
              <a:rPr lang="en-IE" dirty="0" err="1">
                <a:solidFill>
                  <a:schemeClr val="bg1">
                    <a:lumMod val="50000"/>
                  </a:schemeClr>
                </a:solidFill>
              </a:rPr>
              <a:t>ArrayList</a:t>
            </a:r>
            <a:r>
              <a:rPr lang="en-IE" dirty="0">
                <a:solidFill>
                  <a:schemeClr val="bg1">
                    <a:lumMod val="50000"/>
                  </a:schemeClr>
                </a:solidFill>
              </a:rPr>
              <a:t> of Products.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1843238" y="3352800"/>
            <a:ext cx="8748562" cy="838200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731211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Generic/Parameterized Classes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r="35405"/>
          <a:stretch/>
        </p:blipFill>
        <p:spPr>
          <a:xfrm>
            <a:off x="5627146" y="1243572"/>
            <a:ext cx="4572000" cy="3500599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0557703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Generic/Parameterized Classes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r="35405"/>
          <a:stretch/>
        </p:blipFill>
        <p:spPr>
          <a:xfrm>
            <a:off x="5627146" y="1243572"/>
            <a:ext cx="4572000" cy="350059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6" name="Rectangle 5"/>
          <p:cNvSpPr/>
          <p:nvPr/>
        </p:nvSpPr>
        <p:spPr>
          <a:xfrm>
            <a:off x="1676400" y="4820370"/>
            <a:ext cx="7391400" cy="193899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2400" b="1" dirty="0"/>
              <a:t>Collections</a:t>
            </a:r>
            <a:r>
              <a:rPr lang="en-GB" sz="2400" dirty="0"/>
              <a:t> are known as </a:t>
            </a:r>
            <a:r>
              <a:rPr lang="en-GB" sz="2400" b="1" i="1" dirty="0"/>
              <a:t>parameterized</a:t>
            </a:r>
            <a:r>
              <a:rPr lang="en-GB" sz="2400" dirty="0"/>
              <a:t> or </a:t>
            </a:r>
            <a:r>
              <a:rPr lang="en-GB" sz="2400" b="1" i="1" dirty="0"/>
              <a:t>generic</a:t>
            </a:r>
            <a:r>
              <a:rPr lang="en-GB" sz="2400" dirty="0"/>
              <a:t> types.</a:t>
            </a:r>
            <a:br>
              <a:rPr lang="en-GB" sz="2400" dirty="0"/>
            </a:br>
            <a:endParaRPr lang="en-GB" sz="2400" dirty="0"/>
          </a:p>
          <a:p>
            <a:r>
              <a:rPr lang="en-GB" sz="2400" dirty="0"/>
              <a:t>Note </a:t>
            </a:r>
            <a:r>
              <a:rPr lang="en-GB" sz="2400" b="1" dirty="0"/>
              <a:t>&lt;E&gt;</a:t>
            </a:r>
            <a:r>
              <a:rPr lang="en-GB" sz="2400" dirty="0"/>
              <a:t> is the parameter.</a:t>
            </a:r>
            <a:br>
              <a:rPr lang="en-GB" sz="2400" dirty="0"/>
            </a:br>
            <a:br>
              <a:rPr lang="en-GB" sz="2400" dirty="0"/>
            </a:br>
            <a:r>
              <a:rPr lang="en-GB" sz="2400" dirty="0"/>
              <a:t>E gets replaced with some Class or Type</a:t>
            </a:r>
          </a:p>
        </p:txBody>
      </p:sp>
      <p:cxnSp>
        <p:nvCxnSpPr>
          <p:cNvPr id="11" name="Straight Arrow Connector 10"/>
          <p:cNvCxnSpPr/>
          <p:nvPr/>
        </p:nvCxnSpPr>
        <p:spPr>
          <a:xfrm flipH="1" flipV="1">
            <a:off x="8153400" y="3393580"/>
            <a:ext cx="58468" cy="142679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848600" y="3402544"/>
            <a:ext cx="609600" cy="0"/>
          </a:xfrm>
          <a:prstGeom prst="line">
            <a:avLst/>
          </a:prstGeom>
          <a:ln w="571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Donut 7"/>
          <p:cNvSpPr/>
          <p:nvPr/>
        </p:nvSpPr>
        <p:spPr>
          <a:xfrm>
            <a:off x="5627147" y="3032300"/>
            <a:ext cx="3252789" cy="533400"/>
          </a:xfrm>
          <a:prstGeom prst="donut">
            <a:avLst>
              <a:gd name="adj" fmla="val 261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7702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1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r="47438" b="-1161"/>
          <a:stretch/>
        </p:blipFill>
        <p:spPr>
          <a:xfrm>
            <a:off x="1944445" y="1201812"/>
            <a:ext cx="3810000" cy="323517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6" name="Rectangle 5"/>
          <p:cNvSpPr/>
          <p:nvPr/>
        </p:nvSpPr>
        <p:spPr>
          <a:xfrm>
            <a:off x="4114800" y="5133330"/>
            <a:ext cx="3657600" cy="46166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GB" sz="2400" b="1" dirty="0"/>
              <a:t>String</a:t>
            </a:r>
            <a:r>
              <a:rPr lang="en-GB" sz="2400" dirty="0"/>
              <a:t> is not parameterized.</a:t>
            </a:r>
          </a:p>
        </p:txBody>
      </p:sp>
      <p:cxnSp>
        <p:nvCxnSpPr>
          <p:cNvPr id="11" name="Straight Arrow Connector 10"/>
          <p:cNvCxnSpPr/>
          <p:nvPr/>
        </p:nvCxnSpPr>
        <p:spPr>
          <a:xfrm flipH="1" flipV="1">
            <a:off x="3849446" y="3429000"/>
            <a:ext cx="798754" cy="16764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06867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Generic/Parameterized Classes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r="49733" b="4060"/>
          <a:stretch/>
        </p:blipFill>
        <p:spPr>
          <a:xfrm>
            <a:off x="1805100" y="1122800"/>
            <a:ext cx="3643649" cy="30682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4"/>
          <a:srcRect l="1" r="48361"/>
          <a:stretch/>
        </p:blipFill>
        <p:spPr>
          <a:xfrm>
            <a:off x="6327290" y="1122801"/>
            <a:ext cx="3654911" cy="350059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6" name="Rectangle 5"/>
          <p:cNvSpPr/>
          <p:nvPr/>
        </p:nvSpPr>
        <p:spPr>
          <a:xfrm>
            <a:off x="6324600" y="5226784"/>
            <a:ext cx="3657600" cy="163121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dirty="0"/>
              <a:t>The </a:t>
            </a:r>
            <a:r>
              <a:rPr lang="en-GB" b="1" dirty="0">
                <a:solidFill>
                  <a:srgbClr val="C00000"/>
                </a:solidFill>
              </a:rPr>
              <a:t>type parameter </a:t>
            </a:r>
            <a:r>
              <a:rPr lang="en-GB" b="1" dirty="0"/>
              <a:t>&lt;E&gt; </a:t>
            </a:r>
            <a:br>
              <a:rPr lang="en-GB" dirty="0"/>
            </a:br>
            <a:r>
              <a:rPr lang="en-GB" dirty="0"/>
              <a:t>says what we want a list of e.g.:</a:t>
            </a:r>
          </a:p>
          <a:p>
            <a:pPr lvl="1"/>
            <a:r>
              <a:rPr lang="en-GB" sz="1600" b="1" dirty="0" err="1">
                <a:latin typeface="Courier New" pitchFamily="-32" charset="0"/>
              </a:rPr>
              <a:t>ArrayList</a:t>
            </a:r>
            <a:r>
              <a:rPr lang="en-GB" sz="1600" b="1" dirty="0">
                <a:latin typeface="Courier New" pitchFamily="-32" charset="0"/>
              </a:rPr>
              <a:t>&lt;</a:t>
            </a:r>
            <a:r>
              <a:rPr lang="en-GB" sz="1600" dirty="0">
                <a:solidFill>
                  <a:srgbClr val="C00000"/>
                </a:solidFill>
                <a:latin typeface="Courier New" pitchFamily="-32" charset="0"/>
              </a:rPr>
              <a:t>Person</a:t>
            </a:r>
            <a:r>
              <a:rPr lang="en-GB" sz="1600" b="1" dirty="0">
                <a:latin typeface="Courier New" pitchFamily="-32" charset="0"/>
              </a:rPr>
              <a:t>&gt;</a:t>
            </a:r>
          </a:p>
          <a:p>
            <a:pPr lvl="1"/>
            <a:r>
              <a:rPr lang="en-GB" sz="1600" b="1" dirty="0" err="1">
                <a:latin typeface="Courier New" pitchFamily="-32" charset="0"/>
              </a:rPr>
              <a:t>ArrayList</a:t>
            </a:r>
            <a:r>
              <a:rPr lang="en-GB" sz="1600" b="1" dirty="0">
                <a:latin typeface="Courier New" pitchFamily="-32" charset="0"/>
              </a:rPr>
              <a:t>&lt;</a:t>
            </a:r>
            <a:r>
              <a:rPr lang="en-GB" sz="1600" dirty="0" err="1">
                <a:solidFill>
                  <a:srgbClr val="C00000"/>
                </a:solidFill>
                <a:latin typeface="Courier New" pitchFamily="-32" charset="0"/>
              </a:rPr>
              <a:t>TicketMachine</a:t>
            </a:r>
            <a:r>
              <a:rPr lang="en-GB" sz="1600" b="1" dirty="0">
                <a:latin typeface="Courier New" pitchFamily="-32" charset="0"/>
              </a:rPr>
              <a:t>&gt;</a:t>
            </a:r>
          </a:p>
          <a:p>
            <a:pPr lvl="1"/>
            <a:r>
              <a:rPr lang="en-GB" sz="1600" b="1" dirty="0" err="1">
                <a:latin typeface="Courier New" pitchFamily="-32" charset="0"/>
              </a:rPr>
              <a:t>ArrayList</a:t>
            </a:r>
            <a:r>
              <a:rPr lang="en-GB" sz="1600" b="1" dirty="0">
                <a:latin typeface="Courier New" pitchFamily="-32" charset="0"/>
              </a:rPr>
              <a:t>&lt;</a:t>
            </a:r>
            <a:r>
              <a:rPr lang="en-GB" sz="1600" dirty="0">
                <a:solidFill>
                  <a:srgbClr val="C00000"/>
                </a:solidFill>
                <a:latin typeface="Courier New" pitchFamily="-32" charset="0"/>
              </a:rPr>
              <a:t>String</a:t>
            </a:r>
            <a:r>
              <a:rPr lang="en-GB" sz="1600" b="1" dirty="0">
                <a:latin typeface="Courier New" pitchFamily="-32" charset="0"/>
              </a:rPr>
              <a:t>&gt;</a:t>
            </a:r>
          </a:p>
          <a:p>
            <a:pPr lvl="1"/>
            <a:r>
              <a:rPr lang="en-GB" sz="1600" dirty="0"/>
              <a:t>etc.</a:t>
            </a:r>
          </a:p>
        </p:txBody>
      </p:sp>
      <p:cxnSp>
        <p:nvCxnSpPr>
          <p:cNvPr id="11" name="Straight Arrow Connector 10"/>
          <p:cNvCxnSpPr/>
          <p:nvPr/>
        </p:nvCxnSpPr>
        <p:spPr>
          <a:xfrm flipV="1">
            <a:off x="8382000" y="3316944"/>
            <a:ext cx="381000" cy="148365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8534400" y="3316943"/>
            <a:ext cx="609600" cy="0"/>
          </a:xfrm>
          <a:prstGeom prst="line">
            <a:avLst/>
          </a:prstGeom>
          <a:ln w="571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324600" y="4724401"/>
            <a:ext cx="3657600" cy="46166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GB" sz="2400" b="1" dirty="0" err="1"/>
              <a:t>ArrayList</a:t>
            </a:r>
            <a:r>
              <a:rPr lang="en-GB" sz="2400" b="1" dirty="0"/>
              <a:t> </a:t>
            </a:r>
            <a:r>
              <a:rPr lang="en-GB" sz="2400" dirty="0"/>
              <a:t>is parameterized.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791148" y="4722768"/>
            <a:ext cx="3657600" cy="46166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GB" sz="2400" b="1" dirty="0"/>
              <a:t>String </a:t>
            </a:r>
            <a:r>
              <a:rPr lang="en-GB" sz="2400" dirty="0"/>
              <a:t>is not parameterized.</a:t>
            </a:r>
          </a:p>
        </p:txBody>
      </p:sp>
    </p:spTree>
    <p:extLst>
      <p:ext uri="{BB962C8B-B14F-4D97-AF65-F5344CB8AC3E}">
        <p14:creationId xmlns:p14="http://schemas.microsoft.com/office/powerpoint/2010/main" val="534147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Generic/Parameterized </a:t>
            </a:r>
            <a:r>
              <a:rPr lang="en-GB" dirty="0"/>
              <a:t>classes</a:t>
            </a:r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2800" b="1" dirty="0" err="1">
                <a:latin typeface="Courier New" pitchFamily="-32" charset="0"/>
              </a:rPr>
              <a:t>ArrayList</a:t>
            </a:r>
            <a:r>
              <a:rPr lang="en-GB" sz="2800" dirty="0"/>
              <a:t> implements </a:t>
            </a:r>
            <a:r>
              <a:rPr lang="en-GB" sz="2800" u="sng" dirty="0"/>
              <a:t>list functionality</a:t>
            </a:r>
            <a:r>
              <a:rPr lang="en-GB" sz="2800" dirty="0"/>
              <a:t>: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1176" y="2209800"/>
            <a:ext cx="8658225" cy="78592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1176" y="3060157"/>
            <a:ext cx="7657147" cy="8204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5001" y="3945003"/>
            <a:ext cx="8658225" cy="75636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05000" y="4765805"/>
            <a:ext cx="8658225" cy="72768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81176" y="5562739"/>
            <a:ext cx="7758113" cy="793224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247241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Topic list</a:t>
            </a:r>
            <a:endParaRPr lang="en-I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43238" y="1524000"/>
            <a:ext cx="8839200" cy="5105400"/>
          </a:xfrm>
        </p:spPr>
        <p:txBody>
          <a:bodyPr>
            <a:normAutofit fontScale="85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GB" dirty="0"/>
              <a:t>Grouping Objects </a:t>
            </a:r>
          </a:p>
          <a:p>
            <a:pPr lvl="1"/>
            <a:r>
              <a:rPr lang="en-GB" dirty="0"/>
              <a:t>Developing a basic personal notebook project using </a:t>
            </a:r>
            <a:r>
              <a:rPr lang="en-GB" b="1" dirty="0"/>
              <a:t>Collections</a:t>
            </a:r>
            <a:r>
              <a:rPr lang="en-GB" dirty="0"/>
              <a:t> </a:t>
            </a:r>
            <a:br>
              <a:rPr lang="en-GB" dirty="0"/>
            </a:br>
            <a:r>
              <a:rPr lang="en-GB" dirty="0"/>
              <a:t>e.g. </a:t>
            </a:r>
            <a:r>
              <a:rPr lang="en-GB" b="1" dirty="0" err="1"/>
              <a:t>ArrayList</a:t>
            </a:r>
            <a:endParaRPr lang="en-GB" b="1" dirty="0"/>
          </a:p>
          <a:p>
            <a:pPr marL="514350" indent="-514350">
              <a:buFont typeface="+mj-lt"/>
              <a:buAutoNum type="arabicPeriod"/>
            </a:pPr>
            <a:r>
              <a:rPr lang="en-GB" b="1" dirty="0"/>
              <a:t>Indexing</a:t>
            </a:r>
            <a:r>
              <a:rPr lang="en-GB" dirty="0"/>
              <a:t> within Collections</a:t>
            </a:r>
          </a:p>
          <a:p>
            <a:pPr lvl="1"/>
            <a:r>
              <a:rPr lang="en-GB" dirty="0"/>
              <a:t>Retrieval and removal of objects </a:t>
            </a:r>
          </a:p>
          <a:p>
            <a:pPr marL="514350" indent="-514350">
              <a:buFont typeface="+mj-lt"/>
              <a:buAutoNum type="arabicPeriod"/>
            </a:pPr>
            <a:r>
              <a:rPr lang="en-GB" b="1" dirty="0"/>
              <a:t>Generic classes </a:t>
            </a:r>
          </a:p>
          <a:p>
            <a:pPr lvl="1"/>
            <a:r>
              <a:rPr lang="en-GB" dirty="0"/>
              <a:t>e.g. </a:t>
            </a:r>
            <a:r>
              <a:rPr lang="en-GB" dirty="0" err="1"/>
              <a:t>ArrayList</a:t>
            </a:r>
            <a:endParaRPr lang="en-GB" dirty="0"/>
          </a:p>
          <a:p>
            <a:pPr marL="514350" indent="-514350">
              <a:buFont typeface="+mj-lt"/>
              <a:buAutoNum type="arabicPeriod"/>
            </a:pPr>
            <a:r>
              <a:rPr lang="en-GB" b="1" dirty="0"/>
              <a:t>Iteration</a:t>
            </a:r>
          </a:p>
          <a:p>
            <a:pPr lvl="1"/>
            <a:r>
              <a:rPr lang="en-GB" dirty="0"/>
              <a:t>Using the for loop</a:t>
            </a:r>
          </a:p>
          <a:p>
            <a:pPr lvl="1"/>
            <a:r>
              <a:rPr lang="en-GB" dirty="0"/>
              <a:t>Using the while loop</a:t>
            </a:r>
          </a:p>
          <a:p>
            <a:pPr lvl="1"/>
            <a:r>
              <a:rPr lang="en-GB" dirty="0"/>
              <a:t>Using the </a:t>
            </a:r>
            <a:r>
              <a:rPr lang="en-GB" b="1" dirty="0"/>
              <a:t>for each </a:t>
            </a:r>
            <a:r>
              <a:rPr lang="en-GB" dirty="0"/>
              <a:t>loop</a:t>
            </a:r>
          </a:p>
          <a:p>
            <a:r>
              <a:rPr lang="en-IE" dirty="0">
                <a:solidFill>
                  <a:schemeClr val="bg1">
                    <a:lumMod val="50000"/>
                  </a:schemeClr>
                </a:solidFill>
              </a:rPr>
              <a:t>Next </a:t>
            </a:r>
            <a:r>
              <a:rPr lang="en-IE" dirty="0" err="1">
                <a:solidFill>
                  <a:schemeClr val="bg1">
                    <a:lumMod val="50000"/>
                  </a:schemeClr>
                </a:solidFill>
              </a:rPr>
              <a:t>SlideDeck</a:t>
            </a:r>
            <a:r>
              <a:rPr lang="en-IE" dirty="0">
                <a:solidFill>
                  <a:schemeClr val="bg1">
                    <a:lumMod val="50000"/>
                  </a:schemeClr>
                </a:solidFill>
              </a:rPr>
              <a:t>: </a:t>
            </a:r>
            <a:br>
              <a:rPr lang="en-IE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IE" dirty="0">
                <a:solidFill>
                  <a:schemeClr val="bg1">
                    <a:lumMod val="50000"/>
                  </a:schemeClr>
                </a:solidFill>
              </a:rPr>
              <a:t>coding a Shop Project that stores an </a:t>
            </a:r>
            <a:r>
              <a:rPr lang="en-IE" dirty="0" err="1">
                <a:solidFill>
                  <a:schemeClr val="bg1">
                    <a:lumMod val="50000"/>
                  </a:schemeClr>
                </a:solidFill>
              </a:rPr>
              <a:t>ArrayList</a:t>
            </a:r>
            <a:r>
              <a:rPr lang="en-IE" dirty="0">
                <a:solidFill>
                  <a:schemeClr val="bg1">
                    <a:lumMod val="50000"/>
                  </a:schemeClr>
                </a:solidFill>
              </a:rPr>
              <a:t> of Products.</a:t>
            </a:r>
          </a:p>
          <a:p>
            <a:endParaRPr lang="en-IE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832811" y="4191000"/>
            <a:ext cx="8748562" cy="1447800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60791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sz="3600" dirty="0"/>
              <a:t>Processing a whole collection (</a:t>
            </a:r>
            <a:r>
              <a:rPr lang="en-IE" sz="3600" b="1" dirty="0"/>
              <a:t>iteration</a:t>
            </a:r>
            <a:r>
              <a:rPr lang="en-IE" sz="3600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0"/>
            <a:ext cx="8610600" cy="5105400"/>
          </a:xfrm>
        </p:spPr>
        <p:txBody>
          <a:bodyPr>
            <a:normAutofit lnSpcReduction="10000"/>
          </a:bodyPr>
          <a:lstStyle/>
          <a:p>
            <a:r>
              <a:rPr lang="en-US" sz="2800" dirty="0"/>
              <a:t>We often want to perform some actions </a:t>
            </a:r>
            <a:br>
              <a:rPr lang="en-US" sz="2800" dirty="0"/>
            </a:br>
            <a:r>
              <a:rPr lang="en-US" sz="2800" dirty="0"/>
              <a:t>an </a:t>
            </a:r>
            <a:r>
              <a:rPr lang="en-US" sz="2800" b="1" dirty="0"/>
              <a:t>arbitrary</a:t>
            </a:r>
            <a:r>
              <a:rPr lang="en-US" sz="2800" dirty="0"/>
              <a:t> number of times.</a:t>
            </a:r>
          </a:p>
          <a:p>
            <a:pPr lvl="1"/>
            <a:r>
              <a:rPr lang="en-US" sz="2400" dirty="0"/>
              <a:t>E.g., </a:t>
            </a:r>
            <a:br>
              <a:rPr lang="en-US" sz="2400" dirty="0"/>
            </a:br>
            <a:r>
              <a:rPr lang="en-US" sz="2400" dirty="0"/>
              <a:t>Print all the notes in the notebook. </a:t>
            </a:r>
            <a:br>
              <a:rPr lang="en-US" sz="2400" dirty="0"/>
            </a:br>
            <a:r>
              <a:rPr lang="en-US" sz="2400" dirty="0"/>
              <a:t>How many are there?  </a:t>
            </a:r>
            <a:br>
              <a:rPr lang="en-US" sz="2400" dirty="0"/>
            </a:br>
            <a:r>
              <a:rPr lang="en-US" sz="2400" dirty="0"/>
              <a:t>Does the amount of notes in our notebook vary?</a:t>
            </a:r>
          </a:p>
          <a:p>
            <a:endParaRPr lang="en-US" sz="2800" dirty="0"/>
          </a:p>
          <a:p>
            <a:r>
              <a:rPr lang="en-US" sz="2800" dirty="0"/>
              <a:t>Most programming languages include </a:t>
            </a:r>
            <a:r>
              <a:rPr lang="en-US" sz="2800" b="1" i="1" dirty="0"/>
              <a:t>loop statements</a:t>
            </a:r>
            <a:r>
              <a:rPr lang="en-US" sz="2800" b="1" dirty="0"/>
              <a:t> </a:t>
            </a:r>
            <a:r>
              <a:rPr lang="en-US" sz="2800" dirty="0"/>
              <a:t>to make this possible.</a:t>
            </a:r>
          </a:p>
          <a:p>
            <a:endParaRPr lang="en-GB" sz="2800" dirty="0"/>
          </a:p>
          <a:p>
            <a:r>
              <a:rPr lang="en-GB" sz="2800" b="1" dirty="0"/>
              <a:t>Loops</a:t>
            </a:r>
            <a:r>
              <a:rPr lang="en-GB" sz="2800" dirty="0"/>
              <a:t> enable us to </a:t>
            </a:r>
            <a:r>
              <a:rPr lang="en-GB" sz="2800" b="1" dirty="0"/>
              <a:t>control how many times we repeat </a:t>
            </a:r>
            <a:r>
              <a:rPr lang="en-GB" sz="2800" dirty="0"/>
              <a:t>certain actions.</a:t>
            </a:r>
          </a:p>
        </p:txBody>
      </p:sp>
    </p:spTree>
    <p:extLst>
      <p:ext uri="{BB962C8B-B14F-4D97-AF65-F5344CB8AC3E}">
        <p14:creationId xmlns:p14="http://schemas.microsoft.com/office/powerpoint/2010/main" val="3881372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b="1" dirty="0"/>
              <a:t>Loops</a:t>
            </a:r>
            <a:r>
              <a:rPr lang="en-IE" dirty="0"/>
              <a:t> in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0"/>
            <a:ext cx="8229600" cy="5105400"/>
          </a:xfrm>
        </p:spPr>
        <p:txBody>
          <a:bodyPr>
            <a:normAutofit fontScale="77500" lnSpcReduction="20000"/>
          </a:bodyPr>
          <a:lstStyle/>
          <a:p>
            <a:r>
              <a:rPr lang="en-IE" dirty="0"/>
              <a:t>There are three types of standard loops in (Java) programming:</a:t>
            </a:r>
          </a:p>
          <a:p>
            <a:pPr lvl="1"/>
            <a:r>
              <a:rPr lang="en-IE" b="1" dirty="0"/>
              <a:t>while</a:t>
            </a:r>
          </a:p>
          <a:p>
            <a:pPr lvl="1"/>
            <a:r>
              <a:rPr lang="en-IE" b="1" dirty="0"/>
              <a:t>for</a:t>
            </a:r>
          </a:p>
          <a:p>
            <a:pPr lvl="1"/>
            <a:r>
              <a:rPr lang="en-IE" b="1" dirty="0"/>
              <a:t>do while</a:t>
            </a:r>
          </a:p>
          <a:p>
            <a:pPr lvl="1"/>
            <a:endParaRPr lang="en-IE" dirty="0"/>
          </a:p>
          <a:p>
            <a:r>
              <a:rPr lang="en-IE" dirty="0"/>
              <a:t>You typically use </a:t>
            </a:r>
            <a:r>
              <a:rPr lang="en-IE" b="1" dirty="0"/>
              <a:t>for </a:t>
            </a:r>
            <a:r>
              <a:rPr lang="en-IE" dirty="0"/>
              <a:t>and </a:t>
            </a:r>
            <a:r>
              <a:rPr lang="en-IE" b="1" dirty="0"/>
              <a:t>while </a:t>
            </a:r>
            <a:r>
              <a:rPr lang="en-IE" dirty="0"/>
              <a:t>loops to iterate over your </a:t>
            </a:r>
            <a:r>
              <a:rPr lang="en-IE" dirty="0" err="1"/>
              <a:t>ArrayList</a:t>
            </a:r>
            <a:r>
              <a:rPr lang="en-IE" dirty="0"/>
              <a:t> collection, </a:t>
            </a:r>
            <a:br>
              <a:rPr lang="en-IE" dirty="0"/>
            </a:br>
            <a:endParaRPr lang="en-IE" dirty="0"/>
          </a:p>
          <a:p>
            <a:pPr marL="0" indent="0">
              <a:buNone/>
            </a:pPr>
            <a:r>
              <a:rPr lang="en-IE" dirty="0"/>
              <a:t>OR</a:t>
            </a:r>
          </a:p>
          <a:p>
            <a:endParaRPr lang="en-IE" dirty="0"/>
          </a:p>
          <a:p>
            <a:r>
              <a:rPr lang="en-IE" dirty="0"/>
              <a:t>you can use another special construct associated with Collections:</a:t>
            </a:r>
          </a:p>
          <a:p>
            <a:pPr lvl="1"/>
            <a:r>
              <a:rPr lang="en-IE" b="1" dirty="0"/>
              <a:t>for each</a:t>
            </a:r>
          </a:p>
        </p:txBody>
      </p:sp>
      <p:sp>
        <p:nvSpPr>
          <p:cNvPr id="4" name="Donut 3"/>
          <p:cNvSpPr/>
          <p:nvPr/>
        </p:nvSpPr>
        <p:spPr>
          <a:xfrm>
            <a:off x="2362201" y="6019800"/>
            <a:ext cx="1828799" cy="474384"/>
          </a:xfrm>
          <a:prstGeom prst="donut">
            <a:avLst>
              <a:gd name="adj" fmla="val 261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5" name="5-Point Star 4"/>
          <p:cNvSpPr/>
          <p:nvPr/>
        </p:nvSpPr>
        <p:spPr>
          <a:xfrm>
            <a:off x="4284445" y="5945083"/>
            <a:ext cx="575109" cy="575109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178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Topic list</a:t>
            </a:r>
            <a:endParaRPr lang="en-I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43238" y="1524000"/>
            <a:ext cx="8839200" cy="5105400"/>
          </a:xfrm>
        </p:spPr>
        <p:txBody>
          <a:bodyPr>
            <a:normAutofit fontScale="85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GB" dirty="0"/>
              <a:t>Grouping Objects </a:t>
            </a:r>
          </a:p>
          <a:p>
            <a:pPr lvl="1"/>
            <a:r>
              <a:rPr lang="en-GB" dirty="0"/>
              <a:t>Developing a basic personal notebook project using </a:t>
            </a:r>
            <a:r>
              <a:rPr lang="en-GB" b="1" dirty="0"/>
              <a:t>Collections</a:t>
            </a:r>
            <a:r>
              <a:rPr lang="en-GB" dirty="0"/>
              <a:t> </a:t>
            </a:r>
            <a:br>
              <a:rPr lang="en-GB" dirty="0"/>
            </a:br>
            <a:r>
              <a:rPr lang="en-GB" dirty="0"/>
              <a:t>e.g. </a:t>
            </a:r>
            <a:r>
              <a:rPr lang="en-GB" b="1" dirty="0" err="1"/>
              <a:t>ArrayList</a:t>
            </a:r>
            <a:endParaRPr lang="en-GB" b="1" dirty="0"/>
          </a:p>
          <a:p>
            <a:pPr marL="514350" indent="-514350">
              <a:buFont typeface="+mj-lt"/>
              <a:buAutoNum type="arabicPeriod"/>
            </a:pPr>
            <a:r>
              <a:rPr lang="en-GB" b="1" dirty="0"/>
              <a:t>Indexing</a:t>
            </a:r>
            <a:r>
              <a:rPr lang="en-GB" dirty="0"/>
              <a:t> within Collections</a:t>
            </a:r>
          </a:p>
          <a:p>
            <a:pPr lvl="1"/>
            <a:r>
              <a:rPr lang="en-GB" dirty="0"/>
              <a:t>Retrieval and removal of objects </a:t>
            </a:r>
          </a:p>
          <a:p>
            <a:pPr marL="514350" indent="-514350">
              <a:buFont typeface="+mj-lt"/>
              <a:buAutoNum type="arabicPeriod"/>
            </a:pPr>
            <a:r>
              <a:rPr lang="en-GB" b="1" dirty="0"/>
              <a:t>Generic classes </a:t>
            </a:r>
          </a:p>
          <a:p>
            <a:pPr lvl="1"/>
            <a:r>
              <a:rPr lang="en-GB" dirty="0"/>
              <a:t>e.g. </a:t>
            </a:r>
            <a:r>
              <a:rPr lang="en-GB" dirty="0" err="1"/>
              <a:t>ArrayList</a:t>
            </a:r>
            <a:endParaRPr lang="en-GB" dirty="0"/>
          </a:p>
          <a:p>
            <a:pPr marL="514350" indent="-514350">
              <a:buFont typeface="+mj-lt"/>
              <a:buAutoNum type="arabicPeriod"/>
            </a:pPr>
            <a:r>
              <a:rPr lang="en-GB" b="1" dirty="0"/>
              <a:t>Iteration</a:t>
            </a:r>
          </a:p>
          <a:p>
            <a:pPr lvl="1"/>
            <a:r>
              <a:rPr lang="en-GB" dirty="0"/>
              <a:t>Using the for loop</a:t>
            </a:r>
          </a:p>
          <a:p>
            <a:pPr lvl="1"/>
            <a:r>
              <a:rPr lang="en-GB" dirty="0"/>
              <a:t>Using the while loop</a:t>
            </a:r>
          </a:p>
          <a:p>
            <a:pPr lvl="1"/>
            <a:r>
              <a:rPr lang="en-GB" dirty="0"/>
              <a:t>Using the </a:t>
            </a:r>
            <a:r>
              <a:rPr lang="en-GB" b="1" dirty="0"/>
              <a:t>for each </a:t>
            </a:r>
            <a:r>
              <a:rPr lang="en-GB" dirty="0"/>
              <a:t>loop</a:t>
            </a:r>
          </a:p>
          <a:p>
            <a:r>
              <a:rPr lang="en-IE" dirty="0">
                <a:solidFill>
                  <a:schemeClr val="bg1">
                    <a:lumMod val="50000"/>
                  </a:schemeClr>
                </a:solidFill>
              </a:rPr>
              <a:t>Next </a:t>
            </a:r>
            <a:r>
              <a:rPr lang="en-IE" dirty="0" err="1">
                <a:solidFill>
                  <a:schemeClr val="bg1">
                    <a:lumMod val="50000"/>
                  </a:schemeClr>
                </a:solidFill>
              </a:rPr>
              <a:t>SlideDeck</a:t>
            </a:r>
            <a:r>
              <a:rPr lang="en-IE" dirty="0">
                <a:solidFill>
                  <a:schemeClr val="bg1">
                    <a:lumMod val="50000"/>
                  </a:schemeClr>
                </a:solidFill>
              </a:rPr>
              <a:t>: </a:t>
            </a:r>
            <a:br>
              <a:rPr lang="en-IE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IE" dirty="0">
                <a:solidFill>
                  <a:schemeClr val="bg1">
                    <a:lumMod val="50000"/>
                  </a:schemeClr>
                </a:solidFill>
              </a:rPr>
              <a:t>coding a Shop Project that stores an </a:t>
            </a:r>
            <a:r>
              <a:rPr lang="en-IE" dirty="0" err="1">
                <a:solidFill>
                  <a:schemeClr val="bg1">
                    <a:lumMod val="50000"/>
                  </a:schemeClr>
                </a:solidFill>
              </a:rPr>
              <a:t>ArrayList</a:t>
            </a:r>
            <a:r>
              <a:rPr lang="en-IE" dirty="0">
                <a:solidFill>
                  <a:schemeClr val="bg1">
                    <a:lumMod val="50000"/>
                  </a:schemeClr>
                </a:solidFill>
              </a:rPr>
              <a:t> of Products.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1832811" y="4191000"/>
            <a:ext cx="8748562" cy="1447800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6" name="Right Arrow 5"/>
          <p:cNvSpPr/>
          <p:nvPr/>
        </p:nvSpPr>
        <p:spPr>
          <a:xfrm>
            <a:off x="1332298" y="4572000"/>
            <a:ext cx="990600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6668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Recap: </a:t>
            </a:r>
            <a:r>
              <a:rPr lang="en-US" b="1" dirty="0"/>
              <a:t>for loop </a:t>
            </a:r>
            <a:r>
              <a:rPr lang="en-US" dirty="0"/>
              <a:t>pseudo-code</a:t>
            </a:r>
          </a:p>
        </p:txBody>
      </p:sp>
      <p:sp>
        <p:nvSpPr>
          <p:cNvPr id="31748" name="Text Box 4"/>
          <p:cNvSpPr txBox="1">
            <a:spLocks noChangeArrowheads="1"/>
          </p:cNvSpPr>
          <p:nvPr/>
        </p:nvSpPr>
        <p:spPr bwMode="auto">
          <a:xfrm>
            <a:off x="2590800" y="3124200"/>
            <a:ext cx="6971332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 dirty="0"/>
              <a:t>for(</a:t>
            </a:r>
            <a:r>
              <a:rPr lang="en-US" sz="2400" i="1" dirty="0">
                <a:solidFill>
                  <a:srgbClr val="FF0000"/>
                </a:solidFill>
              </a:rPr>
              <a:t>initialization</a:t>
            </a:r>
            <a:r>
              <a:rPr lang="en-US" sz="2400" dirty="0"/>
              <a:t>; </a:t>
            </a:r>
            <a:r>
              <a:rPr lang="en-US" sz="2400" i="1" dirty="0" err="1">
                <a:solidFill>
                  <a:srgbClr val="00B050"/>
                </a:solidFill>
              </a:rPr>
              <a:t>boolean</a:t>
            </a:r>
            <a:r>
              <a:rPr lang="en-US" sz="2400" i="1" dirty="0">
                <a:solidFill>
                  <a:srgbClr val="00B050"/>
                </a:solidFill>
              </a:rPr>
              <a:t> condition</a:t>
            </a:r>
            <a:r>
              <a:rPr lang="en-US" sz="2400" dirty="0"/>
              <a:t>; </a:t>
            </a:r>
            <a:r>
              <a:rPr lang="en-US" sz="2400" i="1" dirty="0">
                <a:solidFill>
                  <a:srgbClr val="0070C0"/>
                </a:solidFill>
              </a:rPr>
              <a:t>post-body action</a:t>
            </a:r>
            <a:r>
              <a:rPr lang="en-US" sz="2400" dirty="0"/>
              <a:t>) </a:t>
            </a:r>
          </a:p>
          <a:p>
            <a:r>
              <a:rPr lang="en-US" sz="2400" dirty="0"/>
              <a:t>{</a:t>
            </a:r>
          </a:p>
          <a:p>
            <a:r>
              <a:rPr lang="en-US" sz="2400" dirty="0"/>
              <a:t>      </a:t>
            </a:r>
            <a:r>
              <a:rPr lang="en-US" sz="2400" i="1" dirty="0"/>
              <a:t>statements to be repeated</a:t>
            </a:r>
            <a:endParaRPr lang="en-US" sz="2400" dirty="0"/>
          </a:p>
          <a:p>
            <a:r>
              <a:rPr lang="en-US" sz="2400" dirty="0"/>
              <a:t>}</a:t>
            </a:r>
          </a:p>
        </p:txBody>
      </p:sp>
      <p:sp>
        <p:nvSpPr>
          <p:cNvPr id="31749" name="AutoShape 5"/>
          <p:cNvSpPr>
            <a:spLocks noChangeArrowheads="1"/>
          </p:cNvSpPr>
          <p:nvPr/>
        </p:nvSpPr>
        <p:spPr bwMode="auto">
          <a:xfrm>
            <a:off x="4572001" y="2590800"/>
            <a:ext cx="2930525" cy="407988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>
                    <a:alpha val="50000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>
                <a:solidFill>
                  <a:srgbClr val="A57133"/>
                </a:solidFill>
                <a:latin typeface="Trebuchet MS" pitchFamily="-32" charset="0"/>
              </a:rPr>
              <a:t>General form of a for loop</a:t>
            </a:r>
          </a:p>
        </p:txBody>
      </p:sp>
      <p:sp>
        <p:nvSpPr>
          <p:cNvPr id="31754" name="Rectangle 10"/>
          <p:cNvSpPr>
            <a:spLocks noChangeArrowheads="1"/>
          </p:cNvSpPr>
          <p:nvPr/>
        </p:nvSpPr>
        <p:spPr bwMode="auto">
          <a:xfrm>
            <a:off x="2057400" y="2209800"/>
            <a:ext cx="8153400" cy="286232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en-IE" dirty="0"/>
          </a:p>
          <a:p>
            <a:endParaRPr lang="en-IE" dirty="0"/>
          </a:p>
          <a:p>
            <a:endParaRPr lang="en-IE" dirty="0"/>
          </a:p>
          <a:p>
            <a:endParaRPr lang="en-IE" dirty="0"/>
          </a:p>
          <a:p>
            <a:endParaRPr lang="en-IE" dirty="0"/>
          </a:p>
          <a:p>
            <a:endParaRPr lang="en-IE" dirty="0"/>
          </a:p>
          <a:p>
            <a:endParaRPr lang="en-IE" dirty="0"/>
          </a:p>
          <a:p>
            <a:endParaRPr lang="en-IE" dirty="0"/>
          </a:p>
          <a:p>
            <a:endParaRPr lang="en-IE" dirty="0"/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33695508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Recap: </a:t>
            </a:r>
            <a:r>
              <a:rPr lang="en-US" b="1" dirty="0"/>
              <a:t>for loop </a:t>
            </a:r>
            <a:r>
              <a:rPr lang="en-US" dirty="0"/>
              <a:t>syntax</a:t>
            </a:r>
            <a:endParaRPr lang="en-IE" dirty="0"/>
          </a:p>
        </p:txBody>
      </p:sp>
      <p:cxnSp>
        <p:nvCxnSpPr>
          <p:cNvPr id="9" name="Straight Arrow Connector 8"/>
          <p:cNvCxnSpPr/>
          <p:nvPr/>
        </p:nvCxnSpPr>
        <p:spPr>
          <a:xfrm flipV="1">
            <a:off x="3962400" y="3087929"/>
            <a:ext cx="1066800" cy="84263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V="1">
            <a:off x="5867400" y="3109637"/>
            <a:ext cx="838200" cy="8382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 flipV="1">
            <a:off x="7772400" y="3075081"/>
            <a:ext cx="381000" cy="8382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1288856E-74B5-4878-A7EE-6CE14FB9F03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776" t="40770" r="59610" b="53072"/>
          <a:stretch/>
        </p:blipFill>
        <p:spPr>
          <a:xfrm>
            <a:off x="3048001" y="2133600"/>
            <a:ext cx="5701287" cy="90115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Text Box 4">
            <a:extLst>
              <a:ext uri="{FF2B5EF4-FFF2-40B4-BE49-F238E27FC236}">
                <a16:creationId xmlns:a16="http://schemas.microsoft.com/office/drawing/2014/main" id="{F39CAD09-FDD5-4141-A04C-C1F10DA8B2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0" y="3947837"/>
            <a:ext cx="6971332" cy="156966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 dirty="0"/>
              <a:t>for(</a:t>
            </a:r>
            <a:r>
              <a:rPr lang="en-US" sz="2400" i="1" dirty="0">
                <a:solidFill>
                  <a:srgbClr val="FF0000"/>
                </a:solidFill>
              </a:rPr>
              <a:t>initialization</a:t>
            </a:r>
            <a:r>
              <a:rPr lang="en-US" sz="2400" dirty="0"/>
              <a:t>; </a:t>
            </a:r>
            <a:r>
              <a:rPr lang="en-US" sz="2400" i="1" dirty="0" err="1">
                <a:solidFill>
                  <a:srgbClr val="00B050"/>
                </a:solidFill>
              </a:rPr>
              <a:t>boolean</a:t>
            </a:r>
            <a:r>
              <a:rPr lang="en-US" sz="2400" i="1" dirty="0">
                <a:solidFill>
                  <a:srgbClr val="00B050"/>
                </a:solidFill>
              </a:rPr>
              <a:t> condition</a:t>
            </a:r>
            <a:r>
              <a:rPr lang="en-US" sz="2400" dirty="0"/>
              <a:t>; </a:t>
            </a:r>
            <a:r>
              <a:rPr lang="en-US" sz="2400" i="1" dirty="0">
                <a:solidFill>
                  <a:srgbClr val="0070C0"/>
                </a:solidFill>
              </a:rPr>
              <a:t>post-body action</a:t>
            </a:r>
            <a:r>
              <a:rPr lang="en-US" sz="2400" dirty="0"/>
              <a:t>) </a:t>
            </a:r>
          </a:p>
          <a:p>
            <a:r>
              <a:rPr lang="en-US" sz="2400" dirty="0"/>
              <a:t>{</a:t>
            </a:r>
          </a:p>
          <a:p>
            <a:r>
              <a:rPr lang="en-US" sz="2400" dirty="0"/>
              <a:t>      </a:t>
            </a:r>
            <a:r>
              <a:rPr lang="en-US" sz="2400" i="1" dirty="0"/>
              <a:t>statements to be repeated</a:t>
            </a:r>
            <a:endParaRPr lang="en-US" sz="2400" dirty="0"/>
          </a:p>
          <a:p>
            <a:r>
              <a:rPr lang="en-US" sz="2400" dirty="0"/>
              <a:t>}</a:t>
            </a:r>
          </a:p>
        </p:txBody>
      </p:sp>
      <p:sp>
        <p:nvSpPr>
          <p:cNvPr id="3" name="Freeform 2"/>
          <p:cNvSpPr/>
          <p:nvPr/>
        </p:nvSpPr>
        <p:spPr>
          <a:xfrm>
            <a:off x="3162301" y="2400152"/>
            <a:ext cx="2628900" cy="2070248"/>
          </a:xfrm>
          <a:custGeom>
            <a:avLst/>
            <a:gdLst>
              <a:gd name="connsiteX0" fmla="*/ 2692400 w 2717469"/>
              <a:gd name="connsiteY0" fmla="*/ 25548 h 2070248"/>
              <a:gd name="connsiteX1" fmla="*/ 2679700 w 2717469"/>
              <a:gd name="connsiteY1" fmla="*/ 76348 h 2070248"/>
              <a:gd name="connsiteX2" fmla="*/ 2692400 w 2717469"/>
              <a:gd name="connsiteY2" fmla="*/ 368448 h 2070248"/>
              <a:gd name="connsiteX3" fmla="*/ 2667000 w 2717469"/>
              <a:gd name="connsiteY3" fmla="*/ 444648 h 2070248"/>
              <a:gd name="connsiteX4" fmla="*/ 2628900 w 2717469"/>
              <a:gd name="connsiteY4" fmla="*/ 470048 h 2070248"/>
              <a:gd name="connsiteX5" fmla="*/ 2590800 w 2717469"/>
              <a:gd name="connsiteY5" fmla="*/ 609748 h 2070248"/>
              <a:gd name="connsiteX6" fmla="*/ 2552700 w 2717469"/>
              <a:gd name="connsiteY6" fmla="*/ 635148 h 2070248"/>
              <a:gd name="connsiteX7" fmla="*/ 2527300 w 2717469"/>
              <a:gd name="connsiteY7" fmla="*/ 711348 h 2070248"/>
              <a:gd name="connsiteX8" fmla="*/ 2514600 w 2717469"/>
              <a:gd name="connsiteY8" fmla="*/ 749448 h 2070248"/>
              <a:gd name="connsiteX9" fmla="*/ 2501900 w 2717469"/>
              <a:gd name="connsiteY9" fmla="*/ 800248 h 2070248"/>
              <a:gd name="connsiteX10" fmla="*/ 2324100 w 2717469"/>
              <a:gd name="connsiteY10" fmla="*/ 952648 h 2070248"/>
              <a:gd name="connsiteX11" fmla="*/ 2273300 w 2717469"/>
              <a:gd name="connsiteY11" fmla="*/ 978048 h 2070248"/>
              <a:gd name="connsiteX12" fmla="*/ 2222500 w 2717469"/>
              <a:gd name="connsiteY12" fmla="*/ 1016148 h 2070248"/>
              <a:gd name="connsiteX13" fmla="*/ 2146300 w 2717469"/>
              <a:gd name="connsiteY13" fmla="*/ 1041548 h 2070248"/>
              <a:gd name="connsiteX14" fmla="*/ 2108200 w 2717469"/>
              <a:gd name="connsiteY14" fmla="*/ 1054248 h 2070248"/>
              <a:gd name="connsiteX15" fmla="*/ 1955800 w 2717469"/>
              <a:gd name="connsiteY15" fmla="*/ 1117748 h 2070248"/>
              <a:gd name="connsiteX16" fmla="*/ 1917700 w 2717469"/>
              <a:gd name="connsiteY16" fmla="*/ 1143148 h 2070248"/>
              <a:gd name="connsiteX17" fmla="*/ 1879600 w 2717469"/>
              <a:gd name="connsiteY17" fmla="*/ 1155848 h 2070248"/>
              <a:gd name="connsiteX18" fmla="*/ 1752600 w 2717469"/>
              <a:gd name="connsiteY18" fmla="*/ 1257448 h 2070248"/>
              <a:gd name="connsiteX19" fmla="*/ 1714500 w 2717469"/>
              <a:gd name="connsiteY19" fmla="*/ 1320948 h 2070248"/>
              <a:gd name="connsiteX20" fmla="*/ 1701800 w 2717469"/>
              <a:gd name="connsiteY20" fmla="*/ 1359048 h 2070248"/>
              <a:gd name="connsiteX21" fmla="*/ 1663700 w 2717469"/>
              <a:gd name="connsiteY21" fmla="*/ 1371748 h 2070248"/>
              <a:gd name="connsiteX22" fmla="*/ 1651000 w 2717469"/>
              <a:gd name="connsiteY22" fmla="*/ 1409848 h 2070248"/>
              <a:gd name="connsiteX23" fmla="*/ 1625600 w 2717469"/>
              <a:gd name="connsiteY23" fmla="*/ 1460648 h 2070248"/>
              <a:gd name="connsiteX24" fmla="*/ 1600200 w 2717469"/>
              <a:gd name="connsiteY24" fmla="*/ 1663848 h 2070248"/>
              <a:gd name="connsiteX25" fmla="*/ 1524000 w 2717469"/>
              <a:gd name="connsiteY25" fmla="*/ 2044848 h 2070248"/>
              <a:gd name="connsiteX26" fmla="*/ 1460500 w 2717469"/>
              <a:gd name="connsiteY26" fmla="*/ 2057548 h 2070248"/>
              <a:gd name="connsiteX27" fmla="*/ 1371600 w 2717469"/>
              <a:gd name="connsiteY27" fmla="*/ 2070248 h 2070248"/>
              <a:gd name="connsiteX28" fmla="*/ 647700 w 2717469"/>
              <a:gd name="connsiteY28" fmla="*/ 2044848 h 2070248"/>
              <a:gd name="connsiteX29" fmla="*/ 317500 w 2717469"/>
              <a:gd name="connsiteY29" fmla="*/ 1994048 h 2070248"/>
              <a:gd name="connsiteX30" fmla="*/ 63500 w 2717469"/>
              <a:gd name="connsiteY30" fmla="*/ 1968648 h 2070248"/>
              <a:gd name="connsiteX31" fmla="*/ 25400 w 2717469"/>
              <a:gd name="connsiteY31" fmla="*/ 1955948 h 2070248"/>
              <a:gd name="connsiteX32" fmla="*/ 0 w 2717469"/>
              <a:gd name="connsiteY32" fmla="*/ 1879748 h 2070248"/>
              <a:gd name="connsiteX33" fmla="*/ 25400 w 2717469"/>
              <a:gd name="connsiteY33" fmla="*/ 1790848 h 2070248"/>
              <a:gd name="connsiteX34" fmla="*/ 50800 w 2717469"/>
              <a:gd name="connsiteY34" fmla="*/ 1752748 h 2070248"/>
              <a:gd name="connsiteX35" fmla="*/ 101600 w 2717469"/>
              <a:gd name="connsiteY35" fmla="*/ 1638448 h 2070248"/>
              <a:gd name="connsiteX36" fmla="*/ 139700 w 2717469"/>
              <a:gd name="connsiteY36" fmla="*/ 1613048 h 2070248"/>
              <a:gd name="connsiteX37" fmla="*/ 177800 w 2717469"/>
              <a:gd name="connsiteY37" fmla="*/ 1524148 h 2070248"/>
              <a:gd name="connsiteX38" fmla="*/ 215900 w 2717469"/>
              <a:gd name="connsiteY38" fmla="*/ 1511448 h 2070248"/>
              <a:gd name="connsiteX39" fmla="*/ 355600 w 2717469"/>
              <a:gd name="connsiteY39" fmla="*/ 1409848 h 2070248"/>
              <a:gd name="connsiteX40" fmla="*/ 431800 w 2717469"/>
              <a:gd name="connsiteY40" fmla="*/ 1371748 h 2070248"/>
              <a:gd name="connsiteX41" fmla="*/ 546100 w 2717469"/>
              <a:gd name="connsiteY41" fmla="*/ 1282848 h 2070248"/>
              <a:gd name="connsiteX42" fmla="*/ 609600 w 2717469"/>
              <a:gd name="connsiteY42" fmla="*/ 1270148 h 2070248"/>
              <a:gd name="connsiteX43" fmla="*/ 800100 w 2717469"/>
              <a:gd name="connsiteY43" fmla="*/ 1130448 h 2070248"/>
              <a:gd name="connsiteX44" fmla="*/ 850900 w 2717469"/>
              <a:gd name="connsiteY44" fmla="*/ 1092348 h 2070248"/>
              <a:gd name="connsiteX45" fmla="*/ 889000 w 2717469"/>
              <a:gd name="connsiteY45" fmla="*/ 1079648 h 2070248"/>
              <a:gd name="connsiteX46" fmla="*/ 990600 w 2717469"/>
              <a:gd name="connsiteY46" fmla="*/ 1041548 h 2070248"/>
              <a:gd name="connsiteX47" fmla="*/ 1028700 w 2717469"/>
              <a:gd name="connsiteY47" fmla="*/ 1003448 h 2070248"/>
              <a:gd name="connsiteX48" fmla="*/ 1003300 w 2717469"/>
              <a:gd name="connsiteY48" fmla="*/ 774848 h 2070248"/>
              <a:gd name="connsiteX49" fmla="*/ 965200 w 2717469"/>
              <a:gd name="connsiteY49" fmla="*/ 635148 h 2070248"/>
              <a:gd name="connsiteX50" fmla="*/ 952500 w 2717469"/>
              <a:gd name="connsiteY50" fmla="*/ 584348 h 2070248"/>
              <a:gd name="connsiteX51" fmla="*/ 927100 w 2717469"/>
              <a:gd name="connsiteY51" fmla="*/ 533548 h 2070248"/>
              <a:gd name="connsiteX52" fmla="*/ 876300 w 2717469"/>
              <a:gd name="connsiteY52" fmla="*/ 508148 h 2070248"/>
              <a:gd name="connsiteX53" fmla="*/ 850900 w 2717469"/>
              <a:gd name="connsiteY53" fmla="*/ 470048 h 2070248"/>
              <a:gd name="connsiteX54" fmla="*/ 812800 w 2717469"/>
              <a:gd name="connsiteY54" fmla="*/ 444648 h 2070248"/>
              <a:gd name="connsiteX55" fmla="*/ 774700 w 2717469"/>
              <a:gd name="connsiteY55" fmla="*/ 292248 h 2070248"/>
              <a:gd name="connsiteX56" fmla="*/ 800100 w 2717469"/>
              <a:gd name="connsiteY56" fmla="*/ 127148 h 2070248"/>
              <a:gd name="connsiteX57" fmla="*/ 838200 w 2717469"/>
              <a:gd name="connsiteY57" fmla="*/ 101748 h 2070248"/>
              <a:gd name="connsiteX58" fmla="*/ 990600 w 2717469"/>
              <a:gd name="connsiteY58" fmla="*/ 38248 h 2070248"/>
              <a:gd name="connsiteX59" fmla="*/ 1206500 w 2717469"/>
              <a:gd name="connsiteY59" fmla="*/ 25548 h 2070248"/>
              <a:gd name="connsiteX60" fmla="*/ 2298700 w 2717469"/>
              <a:gd name="connsiteY60" fmla="*/ 148 h 2070248"/>
              <a:gd name="connsiteX61" fmla="*/ 2692400 w 2717469"/>
              <a:gd name="connsiteY61" fmla="*/ 25548 h 20702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</a:cxnLst>
            <a:rect l="l" t="t" r="r" b="b"/>
            <a:pathLst>
              <a:path w="2717469" h="2070248">
                <a:moveTo>
                  <a:pt x="2692400" y="25548"/>
                </a:moveTo>
                <a:cubicBezTo>
                  <a:pt x="2755900" y="38248"/>
                  <a:pt x="2678611" y="58928"/>
                  <a:pt x="2679700" y="76348"/>
                </a:cubicBezTo>
                <a:cubicBezTo>
                  <a:pt x="2692809" y="286089"/>
                  <a:pt x="2727901" y="167273"/>
                  <a:pt x="2692400" y="368448"/>
                </a:cubicBezTo>
                <a:cubicBezTo>
                  <a:pt x="2687747" y="394815"/>
                  <a:pt x="2689277" y="429796"/>
                  <a:pt x="2667000" y="444648"/>
                </a:cubicBezTo>
                <a:lnTo>
                  <a:pt x="2628900" y="470048"/>
                </a:lnTo>
                <a:cubicBezTo>
                  <a:pt x="2624939" y="489852"/>
                  <a:pt x="2605674" y="599832"/>
                  <a:pt x="2590800" y="609748"/>
                </a:cubicBezTo>
                <a:lnTo>
                  <a:pt x="2552700" y="635148"/>
                </a:lnTo>
                <a:lnTo>
                  <a:pt x="2527300" y="711348"/>
                </a:lnTo>
                <a:cubicBezTo>
                  <a:pt x="2523067" y="724048"/>
                  <a:pt x="2517847" y="736461"/>
                  <a:pt x="2514600" y="749448"/>
                </a:cubicBezTo>
                <a:cubicBezTo>
                  <a:pt x="2510367" y="766381"/>
                  <a:pt x="2512373" y="786284"/>
                  <a:pt x="2501900" y="800248"/>
                </a:cubicBezTo>
                <a:cubicBezTo>
                  <a:pt x="2464404" y="850243"/>
                  <a:pt x="2385534" y="921931"/>
                  <a:pt x="2324100" y="952648"/>
                </a:cubicBezTo>
                <a:cubicBezTo>
                  <a:pt x="2307167" y="961115"/>
                  <a:pt x="2289354" y="968014"/>
                  <a:pt x="2273300" y="978048"/>
                </a:cubicBezTo>
                <a:cubicBezTo>
                  <a:pt x="2255351" y="989266"/>
                  <a:pt x="2241432" y="1006682"/>
                  <a:pt x="2222500" y="1016148"/>
                </a:cubicBezTo>
                <a:cubicBezTo>
                  <a:pt x="2198553" y="1028122"/>
                  <a:pt x="2171700" y="1033081"/>
                  <a:pt x="2146300" y="1041548"/>
                </a:cubicBezTo>
                <a:cubicBezTo>
                  <a:pt x="2133600" y="1045781"/>
                  <a:pt x="2119339" y="1046822"/>
                  <a:pt x="2108200" y="1054248"/>
                </a:cubicBezTo>
                <a:cubicBezTo>
                  <a:pt x="2010574" y="1119332"/>
                  <a:pt x="2062112" y="1100029"/>
                  <a:pt x="1955800" y="1117748"/>
                </a:cubicBezTo>
                <a:cubicBezTo>
                  <a:pt x="1943100" y="1126215"/>
                  <a:pt x="1931352" y="1136322"/>
                  <a:pt x="1917700" y="1143148"/>
                </a:cubicBezTo>
                <a:cubicBezTo>
                  <a:pt x="1905726" y="1149135"/>
                  <a:pt x="1890607" y="1148228"/>
                  <a:pt x="1879600" y="1155848"/>
                </a:cubicBezTo>
                <a:cubicBezTo>
                  <a:pt x="1835026" y="1186707"/>
                  <a:pt x="1752600" y="1257448"/>
                  <a:pt x="1752600" y="1257448"/>
                </a:cubicBezTo>
                <a:cubicBezTo>
                  <a:pt x="1739900" y="1278615"/>
                  <a:pt x="1725539" y="1298870"/>
                  <a:pt x="1714500" y="1320948"/>
                </a:cubicBezTo>
                <a:cubicBezTo>
                  <a:pt x="1708513" y="1332922"/>
                  <a:pt x="1711266" y="1349582"/>
                  <a:pt x="1701800" y="1359048"/>
                </a:cubicBezTo>
                <a:cubicBezTo>
                  <a:pt x="1692334" y="1368514"/>
                  <a:pt x="1676400" y="1367515"/>
                  <a:pt x="1663700" y="1371748"/>
                </a:cubicBezTo>
                <a:cubicBezTo>
                  <a:pt x="1659467" y="1384448"/>
                  <a:pt x="1656273" y="1397543"/>
                  <a:pt x="1651000" y="1409848"/>
                </a:cubicBezTo>
                <a:cubicBezTo>
                  <a:pt x="1643542" y="1427249"/>
                  <a:pt x="1630581" y="1442383"/>
                  <a:pt x="1625600" y="1460648"/>
                </a:cubicBezTo>
                <a:cubicBezTo>
                  <a:pt x="1618805" y="1485565"/>
                  <a:pt x="1601702" y="1650334"/>
                  <a:pt x="1600200" y="1663848"/>
                </a:cubicBezTo>
                <a:cubicBezTo>
                  <a:pt x="1598400" y="1708843"/>
                  <a:pt x="1657514" y="1994780"/>
                  <a:pt x="1524000" y="2044848"/>
                </a:cubicBezTo>
                <a:cubicBezTo>
                  <a:pt x="1503789" y="2052427"/>
                  <a:pt x="1481792" y="2053999"/>
                  <a:pt x="1460500" y="2057548"/>
                </a:cubicBezTo>
                <a:cubicBezTo>
                  <a:pt x="1430973" y="2062469"/>
                  <a:pt x="1401233" y="2066015"/>
                  <a:pt x="1371600" y="2070248"/>
                </a:cubicBezTo>
                <a:cubicBezTo>
                  <a:pt x="1362068" y="2070004"/>
                  <a:pt x="781473" y="2060049"/>
                  <a:pt x="647700" y="2044848"/>
                </a:cubicBezTo>
                <a:cubicBezTo>
                  <a:pt x="537051" y="2032274"/>
                  <a:pt x="428534" y="2002589"/>
                  <a:pt x="317500" y="1994048"/>
                </a:cubicBezTo>
                <a:cubicBezTo>
                  <a:pt x="122554" y="1979052"/>
                  <a:pt x="207041" y="1989154"/>
                  <a:pt x="63500" y="1968648"/>
                </a:cubicBezTo>
                <a:cubicBezTo>
                  <a:pt x="50800" y="1964415"/>
                  <a:pt x="33181" y="1966841"/>
                  <a:pt x="25400" y="1955948"/>
                </a:cubicBezTo>
                <a:cubicBezTo>
                  <a:pt x="9838" y="1934161"/>
                  <a:pt x="0" y="1879748"/>
                  <a:pt x="0" y="1879748"/>
                </a:cubicBezTo>
                <a:cubicBezTo>
                  <a:pt x="4069" y="1863472"/>
                  <a:pt x="16290" y="1809068"/>
                  <a:pt x="25400" y="1790848"/>
                </a:cubicBezTo>
                <a:cubicBezTo>
                  <a:pt x="32226" y="1777196"/>
                  <a:pt x="44601" y="1766696"/>
                  <a:pt x="50800" y="1752748"/>
                </a:cubicBezTo>
                <a:cubicBezTo>
                  <a:pt x="70920" y="1707477"/>
                  <a:pt x="67110" y="1672938"/>
                  <a:pt x="101600" y="1638448"/>
                </a:cubicBezTo>
                <a:cubicBezTo>
                  <a:pt x="112393" y="1627655"/>
                  <a:pt x="127000" y="1621515"/>
                  <a:pt x="139700" y="1613048"/>
                </a:cubicBezTo>
                <a:cubicBezTo>
                  <a:pt x="147290" y="1590278"/>
                  <a:pt x="162107" y="1539841"/>
                  <a:pt x="177800" y="1524148"/>
                </a:cubicBezTo>
                <a:cubicBezTo>
                  <a:pt x="187266" y="1514682"/>
                  <a:pt x="203200" y="1515681"/>
                  <a:pt x="215900" y="1511448"/>
                </a:cubicBezTo>
                <a:cubicBezTo>
                  <a:pt x="288807" y="1438541"/>
                  <a:pt x="224166" y="1497471"/>
                  <a:pt x="355600" y="1409848"/>
                </a:cubicBezTo>
                <a:cubicBezTo>
                  <a:pt x="404839" y="1377022"/>
                  <a:pt x="379220" y="1389275"/>
                  <a:pt x="431800" y="1371748"/>
                </a:cubicBezTo>
                <a:cubicBezTo>
                  <a:pt x="460205" y="1343343"/>
                  <a:pt x="508123" y="1290443"/>
                  <a:pt x="546100" y="1282848"/>
                </a:cubicBezTo>
                <a:lnTo>
                  <a:pt x="609600" y="1270148"/>
                </a:lnTo>
                <a:cubicBezTo>
                  <a:pt x="763550" y="1116198"/>
                  <a:pt x="555831" y="1313650"/>
                  <a:pt x="800100" y="1130448"/>
                </a:cubicBezTo>
                <a:cubicBezTo>
                  <a:pt x="817033" y="1117748"/>
                  <a:pt x="832522" y="1102850"/>
                  <a:pt x="850900" y="1092348"/>
                </a:cubicBezTo>
                <a:cubicBezTo>
                  <a:pt x="862523" y="1085706"/>
                  <a:pt x="876695" y="1084921"/>
                  <a:pt x="889000" y="1079648"/>
                </a:cubicBezTo>
                <a:cubicBezTo>
                  <a:pt x="981976" y="1039801"/>
                  <a:pt x="896942" y="1064963"/>
                  <a:pt x="990600" y="1041548"/>
                </a:cubicBezTo>
                <a:cubicBezTo>
                  <a:pt x="1003300" y="1028848"/>
                  <a:pt x="1027846" y="1021388"/>
                  <a:pt x="1028700" y="1003448"/>
                </a:cubicBezTo>
                <a:cubicBezTo>
                  <a:pt x="1032347" y="926866"/>
                  <a:pt x="1014958" y="850625"/>
                  <a:pt x="1003300" y="774848"/>
                </a:cubicBezTo>
                <a:cubicBezTo>
                  <a:pt x="988208" y="676751"/>
                  <a:pt x="983741" y="700042"/>
                  <a:pt x="965200" y="635148"/>
                </a:cubicBezTo>
                <a:cubicBezTo>
                  <a:pt x="960405" y="618365"/>
                  <a:pt x="958629" y="600691"/>
                  <a:pt x="952500" y="584348"/>
                </a:cubicBezTo>
                <a:cubicBezTo>
                  <a:pt x="945853" y="566621"/>
                  <a:pt x="940487" y="546935"/>
                  <a:pt x="927100" y="533548"/>
                </a:cubicBezTo>
                <a:cubicBezTo>
                  <a:pt x="913713" y="520161"/>
                  <a:pt x="893233" y="516615"/>
                  <a:pt x="876300" y="508148"/>
                </a:cubicBezTo>
                <a:cubicBezTo>
                  <a:pt x="867833" y="495448"/>
                  <a:pt x="861693" y="480841"/>
                  <a:pt x="850900" y="470048"/>
                </a:cubicBezTo>
                <a:cubicBezTo>
                  <a:pt x="840107" y="459255"/>
                  <a:pt x="820890" y="457591"/>
                  <a:pt x="812800" y="444648"/>
                </a:cubicBezTo>
                <a:cubicBezTo>
                  <a:pt x="789930" y="408056"/>
                  <a:pt x="781537" y="333269"/>
                  <a:pt x="774700" y="292248"/>
                </a:cubicBezTo>
                <a:cubicBezTo>
                  <a:pt x="783167" y="237215"/>
                  <a:pt x="782492" y="179971"/>
                  <a:pt x="800100" y="127148"/>
                </a:cubicBezTo>
                <a:cubicBezTo>
                  <a:pt x="804927" y="112668"/>
                  <a:pt x="824800" y="109057"/>
                  <a:pt x="838200" y="101748"/>
                </a:cubicBezTo>
                <a:cubicBezTo>
                  <a:pt x="878304" y="79873"/>
                  <a:pt x="938611" y="43199"/>
                  <a:pt x="990600" y="38248"/>
                </a:cubicBezTo>
                <a:cubicBezTo>
                  <a:pt x="1062366" y="31413"/>
                  <a:pt x="1134455" y="28121"/>
                  <a:pt x="1206500" y="25548"/>
                </a:cubicBezTo>
                <a:cubicBezTo>
                  <a:pt x="1359806" y="20073"/>
                  <a:pt x="2188519" y="1508"/>
                  <a:pt x="2298700" y="148"/>
                </a:cubicBezTo>
                <a:cubicBezTo>
                  <a:pt x="2442622" y="-1629"/>
                  <a:pt x="2628900" y="12848"/>
                  <a:pt x="2692400" y="25548"/>
                </a:cubicBezTo>
                <a:close/>
              </a:path>
            </a:pathLst>
          </a:cu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Freeform 3"/>
          <p:cNvSpPr/>
          <p:nvPr/>
        </p:nvSpPr>
        <p:spPr>
          <a:xfrm>
            <a:off x="4832070" y="2413000"/>
            <a:ext cx="2521231" cy="2032000"/>
          </a:xfrm>
          <a:custGeom>
            <a:avLst/>
            <a:gdLst>
              <a:gd name="connsiteX0" fmla="*/ 1467131 w 2521231"/>
              <a:gd name="connsiteY0" fmla="*/ 101600 h 2032000"/>
              <a:gd name="connsiteX1" fmla="*/ 1390931 w 2521231"/>
              <a:gd name="connsiteY1" fmla="*/ 190500 h 2032000"/>
              <a:gd name="connsiteX2" fmla="*/ 1378231 w 2521231"/>
              <a:gd name="connsiteY2" fmla="*/ 228600 h 2032000"/>
              <a:gd name="connsiteX3" fmla="*/ 1327431 w 2521231"/>
              <a:gd name="connsiteY3" fmla="*/ 304800 h 2032000"/>
              <a:gd name="connsiteX4" fmla="*/ 1302031 w 2521231"/>
              <a:gd name="connsiteY4" fmla="*/ 342900 h 2032000"/>
              <a:gd name="connsiteX5" fmla="*/ 1263931 w 2521231"/>
              <a:gd name="connsiteY5" fmla="*/ 419100 h 2032000"/>
              <a:gd name="connsiteX6" fmla="*/ 1238531 w 2521231"/>
              <a:gd name="connsiteY6" fmla="*/ 469900 h 2032000"/>
              <a:gd name="connsiteX7" fmla="*/ 1225831 w 2521231"/>
              <a:gd name="connsiteY7" fmla="*/ 508000 h 2032000"/>
              <a:gd name="connsiteX8" fmla="*/ 1200431 w 2521231"/>
              <a:gd name="connsiteY8" fmla="*/ 546100 h 2032000"/>
              <a:gd name="connsiteX9" fmla="*/ 1162331 w 2521231"/>
              <a:gd name="connsiteY9" fmla="*/ 635000 h 2032000"/>
              <a:gd name="connsiteX10" fmla="*/ 1136931 w 2521231"/>
              <a:gd name="connsiteY10" fmla="*/ 711200 h 2032000"/>
              <a:gd name="connsiteX11" fmla="*/ 1111531 w 2521231"/>
              <a:gd name="connsiteY11" fmla="*/ 749300 h 2032000"/>
              <a:gd name="connsiteX12" fmla="*/ 1048031 w 2521231"/>
              <a:gd name="connsiteY12" fmla="*/ 863600 h 2032000"/>
              <a:gd name="connsiteX13" fmla="*/ 1009931 w 2521231"/>
              <a:gd name="connsiteY13" fmla="*/ 889000 h 2032000"/>
              <a:gd name="connsiteX14" fmla="*/ 971831 w 2521231"/>
              <a:gd name="connsiteY14" fmla="*/ 927100 h 2032000"/>
              <a:gd name="connsiteX15" fmla="*/ 921031 w 2521231"/>
              <a:gd name="connsiteY15" fmla="*/ 939800 h 2032000"/>
              <a:gd name="connsiteX16" fmla="*/ 870231 w 2521231"/>
              <a:gd name="connsiteY16" fmla="*/ 965200 h 2032000"/>
              <a:gd name="connsiteX17" fmla="*/ 819431 w 2521231"/>
              <a:gd name="connsiteY17" fmla="*/ 1003300 h 2032000"/>
              <a:gd name="connsiteX18" fmla="*/ 781331 w 2521231"/>
              <a:gd name="connsiteY18" fmla="*/ 1041400 h 2032000"/>
              <a:gd name="connsiteX19" fmla="*/ 743231 w 2521231"/>
              <a:gd name="connsiteY19" fmla="*/ 1054100 h 2032000"/>
              <a:gd name="connsiteX20" fmla="*/ 679731 w 2521231"/>
              <a:gd name="connsiteY20" fmla="*/ 1104900 h 2032000"/>
              <a:gd name="connsiteX21" fmla="*/ 616231 w 2521231"/>
              <a:gd name="connsiteY21" fmla="*/ 1130300 h 2032000"/>
              <a:gd name="connsiteX22" fmla="*/ 552731 w 2521231"/>
              <a:gd name="connsiteY22" fmla="*/ 1168400 h 2032000"/>
              <a:gd name="connsiteX23" fmla="*/ 489231 w 2521231"/>
              <a:gd name="connsiteY23" fmla="*/ 1193800 h 2032000"/>
              <a:gd name="connsiteX24" fmla="*/ 400331 w 2521231"/>
              <a:gd name="connsiteY24" fmla="*/ 1244600 h 2032000"/>
              <a:gd name="connsiteX25" fmla="*/ 349531 w 2521231"/>
              <a:gd name="connsiteY25" fmla="*/ 1257300 h 2032000"/>
              <a:gd name="connsiteX26" fmla="*/ 311431 w 2521231"/>
              <a:gd name="connsiteY26" fmla="*/ 1270000 h 2032000"/>
              <a:gd name="connsiteX27" fmla="*/ 273331 w 2521231"/>
              <a:gd name="connsiteY27" fmla="*/ 1308100 h 2032000"/>
              <a:gd name="connsiteX28" fmla="*/ 235231 w 2521231"/>
              <a:gd name="connsiteY28" fmla="*/ 1320800 h 2032000"/>
              <a:gd name="connsiteX29" fmla="*/ 171731 w 2521231"/>
              <a:gd name="connsiteY29" fmla="*/ 1397000 h 2032000"/>
              <a:gd name="connsiteX30" fmla="*/ 159031 w 2521231"/>
              <a:gd name="connsiteY30" fmla="*/ 1435100 h 2032000"/>
              <a:gd name="connsiteX31" fmla="*/ 70131 w 2521231"/>
              <a:gd name="connsiteY31" fmla="*/ 1498600 h 2032000"/>
              <a:gd name="connsiteX32" fmla="*/ 19331 w 2521231"/>
              <a:gd name="connsiteY32" fmla="*/ 1625600 h 2032000"/>
              <a:gd name="connsiteX33" fmla="*/ 19331 w 2521231"/>
              <a:gd name="connsiteY33" fmla="*/ 1968500 h 2032000"/>
              <a:gd name="connsiteX34" fmla="*/ 95531 w 2521231"/>
              <a:gd name="connsiteY34" fmla="*/ 1993900 h 2032000"/>
              <a:gd name="connsiteX35" fmla="*/ 184431 w 2521231"/>
              <a:gd name="connsiteY35" fmla="*/ 2019300 h 2032000"/>
              <a:gd name="connsiteX36" fmla="*/ 489231 w 2521231"/>
              <a:gd name="connsiteY36" fmla="*/ 2032000 h 2032000"/>
              <a:gd name="connsiteX37" fmla="*/ 2076731 w 2521231"/>
              <a:gd name="connsiteY37" fmla="*/ 2019300 h 2032000"/>
              <a:gd name="connsiteX38" fmla="*/ 2203731 w 2521231"/>
              <a:gd name="connsiteY38" fmla="*/ 1993900 h 2032000"/>
              <a:gd name="connsiteX39" fmla="*/ 2241831 w 2521231"/>
              <a:gd name="connsiteY39" fmla="*/ 1955800 h 2032000"/>
              <a:gd name="connsiteX40" fmla="*/ 2254531 w 2521231"/>
              <a:gd name="connsiteY40" fmla="*/ 1917700 h 2032000"/>
              <a:gd name="connsiteX41" fmla="*/ 2279931 w 2521231"/>
              <a:gd name="connsiteY41" fmla="*/ 1689100 h 2032000"/>
              <a:gd name="connsiteX42" fmla="*/ 2318031 w 2521231"/>
              <a:gd name="connsiteY42" fmla="*/ 1384300 h 2032000"/>
              <a:gd name="connsiteX43" fmla="*/ 2356131 w 2521231"/>
              <a:gd name="connsiteY43" fmla="*/ 1231900 h 2032000"/>
              <a:gd name="connsiteX44" fmla="*/ 2368831 w 2521231"/>
              <a:gd name="connsiteY44" fmla="*/ 685800 h 2032000"/>
              <a:gd name="connsiteX45" fmla="*/ 2394231 w 2521231"/>
              <a:gd name="connsiteY45" fmla="*/ 571500 h 2032000"/>
              <a:gd name="connsiteX46" fmla="*/ 2432331 w 2521231"/>
              <a:gd name="connsiteY46" fmla="*/ 393700 h 2032000"/>
              <a:gd name="connsiteX47" fmla="*/ 2445031 w 2521231"/>
              <a:gd name="connsiteY47" fmla="*/ 342900 h 2032000"/>
              <a:gd name="connsiteX48" fmla="*/ 2495831 w 2521231"/>
              <a:gd name="connsiteY48" fmla="*/ 228600 h 2032000"/>
              <a:gd name="connsiteX49" fmla="*/ 2508531 w 2521231"/>
              <a:gd name="connsiteY49" fmla="*/ 177800 h 2032000"/>
              <a:gd name="connsiteX50" fmla="*/ 2521231 w 2521231"/>
              <a:gd name="connsiteY50" fmla="*/ 139700 h 2032000"/>
              <a:gd name="connsiteX51" fmla="*/ 2508531 w 2521231"/>
              <a:gd name="connsiteY51" fmla="*/ 63500 h 2032000"/>
              <a:gd name="connsiteX52" fmla="*/ 2406931 w 2521231"/>
              <a:gd name="connsiteY52" fmla="*/ 0 h 2032000"/>
              <a:gd name="connsiteX53" fmla="*/ 1949731 w 2521231"/>
              <a:gd name="connsiteY53" fmla="*/ 25400 h 2032000"/>
              <a:gd name="connsiteX54" fmla="*/ 1632231 w 2521231"/>
              <a:gd name="connsiteY54" fmla="*/ 38100 h 2032000"/>
              <a:gd name="connsiteX55" fmla="*/ 1556031 w 2521231"/>
              <a:gd name="connsiteY55" fmla="*/ 50800 h 2032000"/>
              <a:gd name="connsiteX56" fmla="*/ 1467131 w 2521231"/>
              <a:gd name="connsiteY56" fmla="*/ 76200 h 2032000"/>
              <a:gd name="connsiteX57" fmla="*/ 1467131 w 2521231"/>
              <a:gd name="connsiteY57" fmla="*/ 101600 h 203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</a:cxnLst>
            <a:rect l="l" t="t" r="r" b="b"/>
            <a:pathLst>
              <a:path w="2521231" h="2032000">
                <a:moveTo>
                  <a:pt x="1467131" y="101600"/>
                </a:moveTo>
                <a:cubicBezTo>
                  <a:pt x="1454431" y="120650"/>
                  <a:pt x="1410273" y="151816"/>
                  <a:pt x="1390931" y="190500"/>
                </a:cubicBezTo>
                <a:cubicBezTo>
                  <a:pt x="1384944" y="202474"/>
                  <a:pt x="1384732" y="216898"/>
                  <a:pt x="1378231" y="228600"/>
                </a:cubicBezTo>
                <a:cubicBezTo>
                  <a:pt x="1363406" y="255285"/>
                  <a:pt x="1344364" y="279400"/>
                  <a:pt x="1327431" y="304800"/>
                </a:cubicBezTo>
                <a:cubicBezTo>
                  <a:pt x="1318964" y="317500"/>
                  <a:pt x="1306858" y="328420"/>
                  <a:pt x="1302031" y="342900"/>
                </a:cubicBezTo>
                <a:cubicBezTo>
                  <a:pt x="1278746" y="412754"/>
                  <a:pt x="1303322" y="350166"/>
                  <a:pt x="1263931" y="419100"/>
                </a:cubicBezTo>
                <a:cubicBezTo>
                  <a:pt x="1254538" y="435538"/>
                  <a:pt x="1245989" y="452499"/>
                  <a:pt x="1238531" y="469900"/>
                </a:cubicBezTo>
                <a:cubicBezTo>
                  <a:pt x="1233258" y="482205"/>
                  <a:pt x="1231818" y="496026"/>
                  <a:pt x="1225831" y="508000"/>
                </a:cubicBezTo>
                <a:cubicBezTo>
                  <a:pt x="1219005" y="521652"/>
                  <a:pt x="1208898" y="533400"/>
                  <a:pt x="1200431" y="546100"/>
                </a:cubicBezTo>
                <a:cubicBezTo>
                  <a:pt x="1166836" y="680481"/>
                  <a:pt x="1212448" y="522236"/>
                  <a:pt x="1162331" y="635000"/>
                </a:cubicBezTo>
                <a:cubicBezTo>
                  <a:pt x="1151457" y="659466"/>
                  <a:pt x="1145398" y="685800"/>
                  <a:pt x="1136931" y="711200"/>
                </a:cubicBezTo>
                <a:cubicBezTo>
                  <a:pt x="1132104" y="725680"/>
                  <a:pt x="1118357" y="735648"/>
                  <a:pt x="1111531" y="749300"/>
                </a:cubicBezTo>
                <a:cubicBezTo>
                  <a:pt x="1088371" y="795620"/>
                  <a:pt x="1108096" y="823557"/>
                  <a:pt x="1048031" y="863600"/>
                </a:cubicBezTo>
                <a:cubicBezTo>
                  <a:pt x="1035331" y="872067"/>
                  <a:pt x="1021657" y="879229"/>
                  <a:pt x="1009931" y="889000"/>
                </a:cubicBezTo>
                <a:cubicBezTo>
                  <a:pt x="996133" y="900498"/>
                  <a:pt x="987425" y="918189"/>
                  <a:pt x="971831" y="927100"/>
                </a:cubicBezTo>
                <a:cubicBezTo>
                  <a:pt x="956676" y="935760"/>
                  <a:pt x="937374" y="933671"/>
                  <a:pt x="921031" y="939800"/>
                </a:cubicBezTo>
                <a:cubicBezTo>
                  <a:pt x="903304" y="946447"/>
                  <a:pt x="886285" y="955166"/>
                  <a:pt x="870231" y="965200"/>
                </a:cubicBezTo>
                <a:cubicBezTo>
                  <a:pt x="852282" y="976418"/>
                  <a:pt x="835502" y="989525"/>
                  <a:pt x="819431" y="1003300"/>
                </a:cubicBezTo>
                <a:cubicBezTo>
                  <a:pt x="805794" y="1014989"/>
                  <a:pt x="796275" y="1031437"/>
                  <a:pt x="781331" y="1041400"/>
                </a:cubicBezTo>
                <a:cubicBezTo>
                  <a:pt x="770192" y="1048826"/>
                  <a:pt x="755931" y="1049867"/>
                  <a:pt x="743231" y="1054100"/>
                </a:cubicBezTo>
                <a:cubicBezTo>
                  <a:pt x="722064" y="1071033"/>
                  <a:pt x="702975" y="1090954"/>
                  <a:pt x="679731" y="1104900"/>
                </a:cubicBezTo>
                <a:cubicBezTo>
                  <a:pt x="660183" y="1116629"/>
                  <a:pt x="636621" y="1120105"/>
                  <a:pt x="616231" y="1130300"/>
                </a:cubicBezTo>
                <a:cubicBezTo>
                  <a:pt x="594153" y="1141339"/>
                  <a:pt x="574809" y="1157361"/>
                  <a:pt x="552731" y="1168400"/>
                </a:cubicBezTo>
                <a:cubicBezTo>
                  <a:pt x="532341" y="1178595"/>
                  <a:pt x="509621" y="1183605"/>
                  <a:pt x="489231" y="1193800"/>
                </a:cubicBezTo>
                <a:cubicBezTo>
                  <a:pt x="415538" y="1230646"/>
                  <a:pt x="489392" y="1211202"/>
                  <a:pt x="400331" y="1244600"/>
                </a:cubicBezTo>
                <a:cubicBezTo>
                  <a:pt x="383988" y="1250729"/>
                  <a:pt x="366314" y="1252505"/>
                  <a:pt x="349531" y="1257300"/>
                </a:cubicBezTo>
                <a:cubicBezTo>
                  <a:pt x="336659" y="1260978"/>
                  <a:pt x="324131" y="1265767"/>
                  <a:pt x="311431" y="1270000"/>
                </a:cubicBezTo>
                <a:cubicBezTo>
                  <a:pt x="298731" y="1282700"/>
                  <a:pt x="288275" y="1298137"/>
                  <a:pt x="273331" y="1308100"/>
                </a:cubicBezTo>
                <a:cubicBezTo>
                  <a:pt x="262192" y="1315526"/>
                  <a:pt x="244697" y="1311334"/>
                  <a:pt x="235231" y="1320800"/>
                </a:cubicBezTo>
                <a:cubicBezTo>
                  <a:pt x="106327" y="1449704"/>
                  <a:pt x="303528" y="1309135"/>
                  <a:pt x="171731" y="1397000"/>
                </a:cubicBezTo>
                <a:cubicBezTo>
                  <a:pt x="167498" y="1409700"/>
                  <a:pt x="167601" y="1424816"/>
                  <a:pt x="159031" y="1435100"/>
                </a:cubicBezTo>
                <a:cubicBezTo>
                  <a:pt x="149186" y="1446915"/>
                  <a:pt x="87505" y="1487018"/>
                  <a:pt x="70131" y="1498600"/>
                </a:cubicBezTo>
                <a:cubicBezTo>
                  <a:pt x="38744" y="1592761"/>
                  <a:pt x="56705" y="1550853"/>
                  <a:pt x="19331" y="1625600"/>
                </a:cubicBezTo>
                <a:cubicBezTo>
                  <a:pt x="5574" y="1735656"/>
                  <a:pt x="-16245" y="1861773"/>
                  <a:pt x="19331" y="1968500"/>
                </a:cubicBezTo>
                <a:cubicBezTo>
                  <a:pt x="27798" y="1993900"/>
                  <a:pt x="70131" y="1985433"/>
                  <a:pt x="95531" y="1993900"/>
                </a:cubicBezTo>
                <a:cubicBezTo>
                  <a:pt x="116833" y="2001001"/>
                  <a:pt x="164135" y="2017850"/>
                  <a:pt x="184431" y="2019300"/>
                </a:cubicBezTo>
                <a:cubicBezTo>
                  <a:pt x="285861" y="2026545"/>
                  <a:pt x="387631" y="2027767"/>
                  <a:pt x="489231" y="2032000"/>
                </a:cubicBezTo>
                <a:lnTo>
                  <a:pt x="2076731" y="2019300"/>
                </a:lnTo>
                <a:cubicBezTo>
                  <a:pt x="2137883" y="2018373"/>
                  <a:pt x="2155569" y="2009954"/>
                  <a:pt x="2203731" y="1993900"/>
                </a:cubicBezTo>
                <a:cubicBezTo>
                  <a:pt x="2216431" y="1981200"/>
                  <a:pt x="2231868" y="1970744"/>
                  <a:pt x="2241831" y="1955800"/>
                </a:cubicBezTo>
                <a:cubicBezTo>
                  <a:pt x="2249257" y="1944661"/>
                  <a:pt x="2252638" y="1930952"/>
                  <a:pt x="2254531" y="1917700"/>
                </a:cubicBezTo>
                <a:cubicBezTo>
                  <a:pt x="2265374" y="1841802"/>
                  <a:pt x="2272990" y="1765454"/>
                  <a:pt x="2279931" y="1689100"/>
                </a:cubicBezTo>
                <a:cubicBezTo>
                  <a:pt x="2315426" y="1298658"/>
                  <a:pt x="2266438" y="1659462"/>
                  <a:pt x="2318031" y="1384300"/>
                </a:cubicBezTo>
                <a:cubicBezTo>
                  <a:pt x="2343322" y="1249414"/>
                  <a:pt x="2312480" y="1341028"/>
                  <a:pt x="2356131" y="1231900"/>
                </a:cubicBezTo>
                <a:cubicBezTo>
                  <a:pt x="2360364" y="1049867"/>
                  <a:pt x="2358344" y="867580"/>
                  <a:pt x="2368831" y="685800"/>
                </a:cubicBezTo>
                <a:cubicBezTo>
                  <a:pt x="2371079" y="646835"/>
                  <a:pt x="2385940" y="609639"/>
                  <a:pt x="2394231" y="571500"/>
                </a:cubicBezTo>
                <a:cubicBezTo>
                  <a:pt x="2407107" y="512271"/>
                  <a:pt x="2417630" y="452502"/>
                  <a:pt x="2432331" y="393700"/>
                </a:cubicBezTo>
                <a:cubicBezTo>
                  <a:pt x="2436564" y="376767"/>
                  <a:pt x="2439511" y="359459"/>
                  <a:pt x="2445031" y="342900"/>
                </a:cubicBezTo>
                <a:cubicBezTo>
                  <a:pt x="2514540" y="134373"/>
                  <a:pt x="2429444" y="405631"/>
                  <a:pt x="2495831" y="228600"/>
                </a:cubicBezTo>
                <a:cubicBezTo>
                  <a:pt x="2501960" y="212257"/>
                  <a:pt x="2503736" y="194583"/>
                  <a:pt x="2508531" y="177800"/>
                </a:cubicBezTo>
                <a:cubicBezTo>
                  <a:pt x="2512209" y="164928"/>
                  <a:pt x="2516998" y="152400"/>
                  <a:pt x="2521231" y="139700"/>
                </a:cubicBezTo>
                <a:cubicBezTo>
                  <a:pt x="2516998" y="114300"/>
                  <a:pt x="2518989" y="87031"/>
                  <a:pt x="2508531" y="63500"/>
                </a:cubicBezTo>
                <a:cubicBezTo>
                  <a:pt x="2490946" y="23934"/>
                  <a:pt x="2440606" y="13470"/>
                  <a:pt x="2406931" y="0"/>
                </a:cubicBezTo>
                <a:lnTo>
                  <a:pt x="1949731" y="25400"/>
                </a:lnTo>
                <a:cubicBezTo>
                  <a:pt x="1843941" y="30603"/>
                  <a:pt x="1737929" y="31281"/>
                  <a:pt x="1632231" y="38100"/>
                </a:cubicBezTo>
                <a:cubicBezTo>
                  <a:pt x="1606534" y="39758"/>
                  <a:pt x="1581281" y="45750"/>
                  <a:pt x="1556031" y="50800"/>
                </a:cubicBezTo>
                <a:cubicBezTo>
                  <a:pt x="1516164" y="58773"/>
                  <a:pt x="1503444" y="64096"/>
                  <a:pt x="1467131" y="76200"/>
                </a:cubicBezTo>
                <a:cubicBezTo>
                  <a:pt x="1438410" y="119281"/>
                  <a:pt x="1479831" y="82550"/>
                  <a:pt x="1467131" y="101600"/>
                </a:cubicBezTo>
                <a:close/>
              </a:path>
            </a:pathLst>
          </a:custGeom>
          <a:noFill/>
          <a:ln w="317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92D050"/>
              </a:solidFill>
            </a:endParaRPr>
          </a:p>
        </p:txBody>
      </p:sp>
      <p:sp>
        <p:nvSpPr>
          <p:cNvPr id="5" name="Freeform 4"/>
          <p:cNvSpPr/>
          <p:nvPr/>
        </p:nvSpPr>
        <p:spPr>
          <a:xfrm>
            <a:off x="7200900" y="2362201"/>
            <a:ext cx="2349500" cy="2057299"/>
          </a:xfrm>
          <a:custGeom>
            <a:avLst/>
            <a:gdLst>
              <a:gd name="connsiteX0" fmla="*/ 558800 w 2349500"/>
              <a:gd name="connsiteY0" fmla="*/ 101600 h 2057299"/>
              <a:gd name="connsiteX1" fmla="*/ 508000 w 2349500"/>
              <a:gd name="connsiteY1" fmla="*/ 139700 h 2057299"/>
              <a:gd name="connsiteX2" fmla="*/ 469900 w 2349500"/>
              <a:gd name="connsiteY2" fmla="*/ 165100 h 2057299"/>
              <a:gd name="connsiteX3" fmla="*/ 406400 w 2349500"/>
              <a:gd name="connsiteY3" fmla="*/ 241300 h 2057299"/>
              <a:gd name="connsiteX4" fmla="*/ 381000 w 2349500"/>
              <a:gd name="connsiteY4" fmla="*/ 292100 h 2057299"/>
              <a:gd name="connsiteX5" fmla="*/ 368300 w 2349500"/>
              <a:gd name="connsiteY5" fmla="*/ 342900 h 2057299"/>
              <a:gd name="connsiteX6" fmla="*/ 355600 w 2349500"/>
              <a:gd name="connsiteY6" fmla="*/ 1016000 h 2057299"/>
              <a:gd name="connsiteX7" fmla="*/ 330200 w 2349500"/>
              <a:gd name="connsiteY7" fmla="*/ 1066800 h 2057299"/>
              <a:gd name="connsiteX8" fmla="*/ 317500 w 2349500"/>
              <a:gd name="connsiteY8" fmla="*/ 1130300 h 2057299"/>
              <a:gd name="connsiteX9" fmla="*/ 292100 w 2349500"/>
              <a:gd name="connsiteY9" fmla="*/ 1206500 h 2057299"/>
              <a:gd name="connsiteX10" fmla="*/ 266700 w 2349500"/>
              <a:gd name="connsiteY10" fmla="*/ 1308100 h 2057299"/>
              <a:gd name="connsiteX11" fmla="*/ 254000 w 2349500"/>
              <a:gd name="connsiteY11" fmla="*/ 1346200 h 2057299"/>
              <a:gd name="connsiteX12" fmla="*/ 203200 w 2349500"/>
              <a:gd name="connsiteY12" fmla="*/ 1422400 h 2057299"/>
              <a:gd name="connsiteX13" fmla="*/ 165100 w 2349500"/>
              <a:gd name="connsiteY13" fmla="*/ 1447800 h 2057299"/>
              <a:gd name="connsiteX14" fmla="*/ 139700 w 2349500"/>
              <a:gd name="connsiteY14" fmla="*/ 1485900 h 2057299"/>
              <a:gd name="connsiteX15" fmla="*/ 101600 w 2349500"/>
              <a:gd name="connsiteY15" fmla="*/ 1498600 h 2057299"/>
              <a:gd name="connsiteX16" fmla="*/ 88900 w 2349500"/>
              <a:gd name="connsiteY16" fmla="*/ 1536700 h 2057299"/>
              <a:gd name="connsiteX17" fmla="*/ 50800 w 2349500"/>
              <a:gd name="connsiteY17" fmla="*/ 1574800 h 2057299"/>
              <a:gd name="connsiteX18" fmla="*/ 25400 w 2349500"/>
              <a:gd name="connsiteY18" fmla="*/ 1701800 h 2057299"/>
              <a:gd name="connsiteX19" fmla="*/ 0 w 2349500"/>
              <a:gd name="connsiteY19" fmla="*/ 1892300 h 2057299"/>
              <a:gd name="connsiteX20" fmla="*/ 12700 w 2349500"/>
              <a:gd name="connsiteY20" fmla="*/ 1981200 h 2057299"/>
              <a:gd name="connsiteX21" fmla="*/ 76200 w 2349500"/>
              <a:gd name="connsiteY21" fmla="*/ 2006600 h 2057299"/>
              <a:gd name="connsiteX22" fmla="*/ 203200 w 2349500"/>
              <a:gd name="connsiteY22" fmla="*/ 2019300 h 2057299"/>
              <a:gd name="connsiteX23" fmla="*/ 1384300 w 2349500"/>
              <a:gd name="connsiteY23" fmla="*/ 2032000 h 2057299"/>
              <a:gd name="connsiteX24" fmla="*/ 1714500 w 2349500"/>
              <a:gd name="connsiteY24" fmla="*/ 2044700 h 2057299"/>
              <a:gd name="connsiteX25" fmla="*/ 2273300 w 2349500"/>
              <a:gd name="connsiteY25" fmla="*/ 2019300 h 2057299"/>
              <a:gd name="connsiteX26" fmla="*/ 2336800 w 2349500"/>
              <a:gd name="connsiteY26" fmla="*/ 1943100 h 2057299"/>
              <a:gd name="connsiteX27" fmla="*/ 2349500 w 2349500"/>
              <a:gd name="connsiteY27" fmla="*/ 1905000 h 2057299"/>
              <a:gd name="connsiteX28" fmla="*/ 2324100 w 2349500"/>
              <a:gd name="connsiteY28" fmla="*/ 1752600 h 2057299"/>
              <a:gd name="connsiteX29" fmla="*/ 2247900 w 2349500"/>
              <a:gd name="connsiteY29" fmla="*/ 1676400 h 2057299"/>
              <a:gd name="connsiteX30" fmla="*/ 2171700 w 2349500"/>
              <a:gd name="connsiteY30" fmla="*/ 1612900 h 2057299"/>
              <a:gd name="connsiteX31" fmla="*/ 2095500 w 2349500"/>
              <a:gd name="connsiteY31" fmla="*/ 1536700 h 2057299"/>
              <a:gd name="connsiteX32" fmla="*/ 2006600 w 2349500"/>
              <a:gd name="connsiteY32" fmla="*/ 1460500 h 2057299"/>
              <a:gd name="connsiteX33" fmla="*/ 1968500 w 2349500"/>
              <a:gd name="connsiteY33" fmla="*/ 1397000 h 2057299"/>
              <a:gd name="connsiteX34" fmla="*/ 1917700 w 2349500"/>
              <a:gd name="connsiteY34" fmla="*/ 1320800 h 2057299"/>
              <a:gd name="connsiteX35" fmla="*/ 1879600 w 2349500"/>
              <a:gd name="connsiteY35" fmla="*/ 1257300 h 2057299"/>
              <a:gd name="connsiteX36" fmla="*/ 1803400 w 2349500"/>
              <a:gd name="connsiteY36" fmla="*/ 1181100 h 2057299"/>
              <a:gd name="connsiteX37" fmla="*/ 1790700 w 2349500"/>
              <a:gd name="connsiteY37" fmla="*/ 1143000 h 2057299"/>
              <a:gd name="connsiteX38" fmla="*/ 1765300 w 2349500"/>
              <a:gd name="connsiteY38" fmla="*/ 1104900 h 2057299"/>
              <a:gd name="connsiteX39" fmla="*/ 1727200 w 2349500"/>
              <a:gd name="connsiteY39" fmla="*/ 1041400 h 2057299"/>
              <a:gd name="connsiteX40" fmla="*/ 1701800 w 2349500"/>
              <a:gd name="connsiteY40" fmla="*/ 1003300 h 2057299"/>
              <a:gd name="connsiteX41" fmla="*/ 1625600 w 2349500"/>
              <a:gd name="connsiteY41" fmla="*/ 876300 h 2057299"/>
              <a:gd name="connsiteX42" fmla="*/ 1600200 w 2349500"/>
              <a:gd name="connsiteY42" fmla="*/ 774700 h 2057299"/>
              <a:gd name="connsiteX43" fmla="*/ 1549400 w 2349500"/>
              <a:gd name="connsiteY43" fmla="*/ 660400 h 2057299"/>
              <a:gd name="connsiteX44" fmla="*/ 1511300 w 2349500"/>
              <a:gd name="connsiteY44" fmla="*/ 558800 h 2057299"/>
              <a:gd name="connsiteX45" fmla="*/ 1473200 w 2349500"/>
              <a:gd name="connsiteY45" fmla="*/ 520700 h 2057299"/>
              <a:gd name="connsiteX46" fmla="*/ 1447800 w 2349500"/>
              <a:gd name="connsiteY46" fmla="*/ 381000 h 2057299"/>
              <a:gd name="connsiteX47" fmla="*/ 1435100 w 2349500"/>
              <a:gd name="connsiteY47" fmla="*/ 317500 h 2057299"/>
              <a:gd name="connsiteX48" fmla="*/ 1409700 w 2349500"/>
              <a:gd name="connsiteY48" fmla="*/ 241300 h 2057299"/>
              <a:gd name="connsiteX49" fmla="*/ 1397000 w 2349500"/>
              <a:gd name="connsiteY49" fmla="*/ 177800 h 2057299"/>
              <a:gd name="connsiteX50" fmla="*/ 1358900 w 2349500"/>
              <a:gd name="connsiteY50" fmla="*/ 88900 h 2057299"/>
              <a:gd name="connsiteX51" fmla="*/ 1295400 w 2349500"/>
              <a:gd name="connsiteY51" fmla="*/ 12700 h 2057299"/>
              <a:gd name="connsiteX52" fmla="*/ 1257300 w 2349500"/>
              <a:gd name="connsiteY52" fmla="*/ 0 h 2057299"/>
              <a:gd name="connsiteX53" fmla="*/ 927100 w 2349500"/>
              <a:gd name="connsiteY53" fmla="*/ 12700 h 2057299"/>
              <a:gd name="connsiteX54" fmla="*/ 723900 w 2349500"/>
              <a:gd name="connsiteY54" fmla="*/ 25400 h 2057299"/>
              <a:gd name="connsiteX55" fmla="*/ 685800 w 2349500"/>
              <a:gd name="connsiteY55" fmla="*/ 50800 h 2057299"/>
              <a:gd name="connsiteX56" fmla="*/ 609600 w 2349500"/>
              <a:gd name="connsiteY56" fmla="*/ 76200 h 2057299"/>
              <a:gd name="connsiteX57" fmla="*/ 558800 w 2349500"/>
              <a:gd name="connsiteY57" fmla="*/ 101600 h 2057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</a:cxnLst>
            <a:rect l="l" t="t" r="r" b="b"/>
            <a:pathLst>
              <a:path w="2349500" h="2057299">
                <a:moveTo>
                  <a:pt x="558800" y="101600"/>
                </a:moveTo>
                <a:cubicBezTo>
                  <a:pt x="541867" y="112183"/>
                  <a:pt x="525224" y="127397"/>
                  <a:pt x="508000" y="139700"/>
                </a:cubicBezTo>
                <a:cubicBezTo>
                  <a:pt x="495580" y="148572"/>
                  <a:pt x="481626" y="155329"/>
                  <a:pt x="469900" y="165100"/>
                </a:cubicBezTo>
                <a:cubicBezTo>
                  <a:pt x="441245" y="188979"/>
                  <a:pt x="424564" y="209514"/>
                  <a:pt x="406400" y="241300"/>
                </a:cubicBezTo>
                <a:cubicBezTo>
                  <a:pt x="397007" y="257738"/>
                  <a:pt x="387647" y="274373"/>
                  <a:pt x="381000" y="292100"/>
                </a:cubicBezTo>
                <a:cubicBezTo>
                  <a:pt x="374871" y="308443"/>
                  <a:pt x="372533" y="325967"/>
                  <a:pt x="368300" y="342900"/>
                </a:cubicBezTo>
                <a:cubicBezTo>
                  <a:pt x="364067" y="567267"/>
                  <a:pt x="367395" y="791904"/>
                  <a:pt x="355600" y="1016000"/>
                </a:cubicBezTo>
                <a:cubicBezTo>
                  <a:pt x="354605" y="1034906"/>
                  <a:pt x="336187" y="1048839"/>
                  <a:pt x="330200" y="1066800"/>
                </a:cubicBezTo>
                <a:cubicBezTo>
                  <a:pt x="323374" y="1087278"/>
                  <a:pt x="323180" y="1109475"/>
                  <a:pt x="317500" y="1130300"/>
                </a:cubicBezTo>
                <a:cubicBezTo>
                  <a:pt x="310455" y="1156131"/>
                  <a:pt x="298594" y="1180525"/>
                  <a:pt x="292100" y="1206500"/>
                </a:cubicBezTo>
                <a:cubicBezTo>
                  <a:pt x="283633" y="1240367"/>
                  <a:pt x="277739" y="1274982"/>
                  <a:pt x="266700" y="1308100"/>
                </a:cubicBezTo>
                <a:cubicBezTo>
                  <a:pt x="262467" y="1320800"/>
                  <a:pt x="260501" y="1334498"/>
                  <a:pt x="254000" y="1346200"/>
                </a:cubicBezTo>
                <a:cubicBezTo>
                  <a:pt x="239175" y="1372885"/>
                  <a:pt x="228600" y="1405467"/>
                  <a:pt x="203200" y="1422400"/>
                </a:cubicBezTo>
                <a:lnTo>
                  <a:pt x="165100" y="1447800"/>
                </a:lnTo>
                <a:cubicBezTo>
                  <a:pt x="156633" y="1460500"/>
                  <a:pt x="151619" y="1476365"/>
                  <a:pt x="139700" y="1485900"/>
                </a:cubicBezTo>
                <a:cubicBezTo>
                  <a:pt x="129247" y="1494263"/>
                  <a:pt x="111066" y="1489134"/>
                  <a:pt x="101600" y="1498600"/>
                </a:cubicBezTo>
                <a:cubicBezTo>
                  <a:pt x="92134" y="1508066"/>
                  <a:pt x="96326" y="1525561"/>
                  <a:pt x="88900" y="1536700"/>
                </a:cubicBezTo>
                <a:cubicBezTo>
                  <a:pt x="78937" y="1551644"/>
                  <a:pt x="63500" y="1562100"/>
                  <a:pt x="50800" y="1574800"/>
                </a:cubicBezTo>
                <a:cubicBezTo>
                  <a:pt x="27702" y="1644095"/>
                  <a:pt x="42078" y="1593393"/>
                  <a:pt x="25400" y="1701800"/>
                </a:cubicBezTo>
                <a:cubicBezTo>
                  <a:pt x="2597" y="1850017"/>
                  <a:pt x="21201" y="1701488"/>
                  <a:pt x="0" y="1892300"/>
                </a:cubicBezTo>
                <a:cubicBezTo>
                  <a:pt x="4233" y="1921933"/>
                  <a:pt x="-3904" y="1956293"/>
                  <a:pt x="12700" y="1981200"/>
                </a:cubicBezTo>
                <a:cubicBezTo>
                  <a:pt x="25346" y="2000168"/>
                  <a:pt x="53846" y="2002129"/>
                  <a:pt x="76200" y="2006600"/>
                </a:cubicBezTo>
                <a:cubicBezTo>
                  <a:pt x="117918" y="2014944"/>
                  <a:pt x="160664" y="2018474"/>
                  <a:pt x="203200" y="2019300"/>
                </a:cubicBezTo>
                <a:lnTo>
                  <a:pt x="1384300" y="2032000"/>
                </a:lnTo>
                <a:cubicBezTo>
                  <a:pt x="1494367" y="2036233"/>
                  <a:pt x="1604352" y="2044700"/>
                  <a:pt x="1714500" y="2044700"/>
                </a:cubicBezTo>
                <a:cubicBezTo>
                  <a:pt x="2209504" y="2044700"/>
                  <a:pt x="2073504" y="2085899"/>
                  <a:pt x="2273300" y="2019300"/>
                </a:cubicBezTo>
                <a:cubicBezTo>
                  <a:pt x="2301387" y="1991213"/>
                  <a:pt x="2319119" y="1978463"/>
                  <a:pt x="2336800" y="1943100"/>
                </a:cubicBezTo>
                <a:cubicBezTo>
                  <a:pt x="2342787" y="1931126"/>
                  <a:pt x="2345267" y="1917700"/>
                  <a:pt x="2349500" y="1905000"/>
                </a:cubicBezTo>
                <a:cubicBezTo>
                  <a:pt x="2341033" y="1854200"/>
                  <a:pt x="2345016" y="1799662"/>
                  <a:pt x="2324100" y="1752600"/>
                </a:cubicBezTo>
                <a:cubicBezTo>
                  <a:pt x="2309511" y="1719775"/>
                  <a:pt x="2273300" y="1701800"/>
                  <a:pt x="2247900" y="1676400"/>
                </a:cubicBezTo>
                <a:cubicBezTo>
                  <a:pt x="2199007" y="1627507"/>
                  <a:pt x="2224744" y="1648263"/>
                  <a:pt x="2171700" y="1612900"/>
                </a:cubicBezTo>
                <a:cubicBezTo>
                  <a:pt x="2126986" y="1545829"/>
                  <a:pt x="2169013" y="1599711"/>
                  <a:pt x="2095500" y="1536700"/>
                </a:cubicBezTo>
                <a:cubicBezTo>
                  <a:pt x="1971677" y="1430566"/>
                  <a:pt x="2155155" y="1571916"/>
                  <a:pt x="2006600" y="1460500"/>
                </a:cubicBezTo>
                <a:cubicBezTo>
                  <a:pt x="1993900" y="1439333"/>
                  <a:pt x="1981752" y="1417825"/>
                  <a:pt x="1968500" y="1397000"/>
                </a:cubicBezTo>
                <a:cubicBezTo>
                  <a:pt x="1952111" y="1371246"/>
                  <a:pt x="1933406" y="1346977"/>
                  <a:pt x="1917700" y="1320800"/>
                </a:cubicBezTo>
                <a:cubicBezTo>
                  <a:pt x="1905000" y="1299633"/>
                  <a:pt x="1895231" y="1276405"/>
                  <a:pt x="1879600" y="1257300"/>
                </a:cubicBezTo>
                <a:cubicBezTo>
                  <a:pt x="1856853" y="1229499"/>
                  <a:pt x="1803400" y="1181100"/>
                  <a:pt x="1803400" y="1181100"/>
                </a:cubicBezTo>
                <a:cubicBezTo>
                  <a:pt x="1799167" y="1168400"/>
                  <a:pt x="1796687" y="1154974"/>
                  <a:pt x="1790700" y="1143000"/>
                </a:cubicBezTo>
                <a:cubicBezTo>
                  <a:pt x="1783874" y="1129348"/>
                  <a:pt x="1773390" y="1117843"/>
                  <a:pt x="1765300" y="1104900"/>
                </a:cubicBezTo>
                <a:cubicBezTo>
                  <a:pt x="1752217" y="1083968"/>
                  <a:pt x="1740283" y="1062332"/>
                  <a:pt x="1727200" y="1041400"/>
                </a:cubicBezTo>
                <a:cubicBezTo>
                  <a:pt x="1719110" y="1028457"/>
                  <a:pt x="1709800" y="1016299"/>
                  <a:pt x="1701800" y="1003300"/>
                </a:cubicBezTo>
                <a:cubicBezTo>
                  <a:pt x="1675926" y="961255"/>
                  <a:pt x="1625600" y="876300"/>
                  <a:pt x="1625600" y="876300"/>
                </a:cubicBezTo>
                <a:cubicBezTo>
                  <a:pt x="1618146" y="839029"/>
                  <a:pt x="1614845" y="808871"/>
                  <a:pt x="1600200" y="774700"/>
                </a:cubicBezTo>
                <a:cubicBezTo>
                  <a:pt x="1542476" y="640010"/>
                  <a:pt x="1608478" y="817941"/>
                  <a:pt x="1549400" y="660400"/>
                </a:cubicBezTo>
                <a:cubicBezTo>
                  <a:pt x="1538318" y="630847"/>
                  <a:pt x="1526641" y="583345"/>
                  <a:pt x="1511300" y="558800"/>
                </a:cubicBezTo>
                <a:cubicBezTo>
                  <a:pt x="1501781" y="543570"/>
                  <a:pt x="1485900" y="533400"/>
                  <a:pt x="1473200" y="520700"/>
                </a:cubicBezTo>
                <a:cubicBezTo>
                  <a:pt x="1443866" y="286026"/>
                  <a:pt x="1477166" y="498465"/>
                  <a:pt x="1447800" y="381000"/>
                </a:cubicBezTo>
                <a:cubicBezTo>
                  <a:pt x="1442565" y="360059"/>
                  <a:pt x="1440780" y="338325"/>
                  <a:pt x="1435100" y="317500"/>
                </a:cubicBezTo>
                <a:cubicBezTo>
                  <a:pt x="1428055" y="291669"/>
                  <a:pt x="1414951" y="267554"/>
                  <a:pt x="1409700" y="241300"/>
                </a:cubicBezTo>
                <a:cubicBezTo>
                  <a:pt x="1405467" y="220133"/>
                  <a:pt x="1402235" y="198741"/>
                  <a:pt x="1397000" y="177800"/>
                </a:cubicBezTo>
                <a:cubicBezTo>
                  <a:pt x="1389084" y="146138"/>
                  <a:pt x="1375054" y="117169"/>
                  <a:pt x="1358900" y="88900"/>
                </a:cubicBezTo>
                <a:cubicBezTo>
                  <a:pt x="1344483" y="63670"/>
                  <a:pt x="1319646" y="28864"/>
                  <a:pt x="1295400" y="12700"/>
                </a:cubicBezTo>
                <a:cubicBezTo>
                  <a:pt x="1284261" y="5274"/>
                  <a:pt x="1270000" y="4233"/>
                  <a:pt x="1257300" y="0"/>
                </a:cubicBezTo>
                <a:lnTo>
                  <a:pt x="927100" y="12700"/>
                </a:lnTo>
                <a:cubicBezTo>
                  <a:pt x="859311" y="15928"/>
                  <a:pt x="790935" y="14816"/>
                  <a:pt x="723900" y="25400"/>
                </a:cubicBezTo>
                <a:cubicBezTo>
                  <a:pt x="708823" y="27781"/>
                  <a:pt x="699748" y="44601"/>
                  <a:pt x="685800" y="50800"/>
                </a:cubicBezTo>
                <a:cubicBezTo>
                  <a:pt x="661334" y="61674"/>
                  <a:pt x="609600" y="76200"/>
                  <a:pt x="609600" y="76200"/>
                </a:cubicBezTo>
                <a:cubicBezTo>
                  <a:pt x="579504" y="121345"/>
                  <a:pt x="575733" y="91017"/>
                  <a:pt x="558800" y="101600"/>
                </a:cubicBezTo>
                <a:close/>
              </a:path>
            </a:pathLst>
          </a:custGeom>
          <a:noFill/>
          <a:ln w="317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92D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6960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Recap: for loop syntax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790700" y="3581400"/>
          <a:ext cx="8610600" cy="23469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5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FF0000"/>
                          </a:solidFill>
                        </a:rPr>
                        <a:t>initialization</a:t>
                      </a:r>
                      <a:endParaRPr lang="en-IE" sz="24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3200" b="0" dirty="0" err="1"/>
                        <a:t>int</a:t>
                      </a:r>
                      <a:r>
                        <a:rPr lang="en-IE" sz="3200" b="0" dirty="0"/>
                        <a:t> </a:t>
                      </a:r>
                      <a:r>
                        <a:rPr lang="en-IE" sz="3200" b="0" dirty="0" err="1"/>
                        <a:t>i</a:t>
                      </a:r>
                      <a:r>
                        <a:rPr lang="en-IE" sz="3200" b="0" dirty="0"/>
                        <a:t> = 0;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dirty="0" err="1"/>
                        <a:t>Initialise</a:t>
                      </a:r>
                      <a:r>
                        <a:rPr lang="en-US" sz="2000" b="0" dirty="0"/>
                        <a:t> a loop control variable</a:t>
                      </a:r>
                      <a:r>
                        <a:rPr lang="en-US" sz="2000" b="0" baseline="0" dirty="0"/>
                        <a:t> (LCV) e.g. </a:t>
                      </a:r>
                      <a:r>
                        <a:rPr lang="en-US" sz="2000" b="0" baseline="0" dirty="0" err="1"/>
                        <a:t>i</a:t>
                      </a:r>
                      <a:r>
                        <a:rPr lang="en-US" sz="2000" b="0" baseline="0" dirty="0"/>
                        <a:t>.</a:t>
                      </a:r>
                    </a:p>
                    <a:p>
                      <a:r>
                        <a:rPr lang="en-US" sz="2000" b="0" dirty="0"/>
                        <a:t>It can include a variable declaration.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err="1">
                          <a:solidFill>
                            <a:srgbClr val="00B050"/>
                          </a:solidFill>
                        </a:rPr>
                        <a:t>boolean</a:t>
                      </a:r>
                      <a:r>
                        <a:rPr lang="en-US" sz="2400" b="1" dirty="0">
                          <a:solidFill>
                            <a:srgbClr val="00B050"/>
                          </a:solidFill>
                        </a:rPr>
                        <a:t> condition</a:t>
                      </a:r>
                      <a:endParaRPr lang="en-IE" sz="2400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3200" b="0" dirty="0" err="1"/>
                        <a:t>i</a:t>
                      </a:r>
                      <a:r>
                        <a:rPr lang="en-IE" sz="3200" b="0" dirty="0"/>
                        <a:t> &lt; 4;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/>
                        <a:t>Is a valid </a:t>
                      </a:r>
                      <a:r>
                        <a:rPr lang="en-US" sz="2000" b="0" dirty="0" err="1"/>
                        <a:t>boolean</a:t>
                      </a:r>
                      <a:r>
                        <a:rPr lang="en-US" sz="2000" b="0" dirty="0"/>
                        <a:t> condition</a:t>
                      </a:r>
                      <a:r>
                        <a:rPr lang="en-US" sz="2000" b="0" baseline="0" dirty="0"/>
                        <a:t> that typically tests the loop control variable (LCV).</a:t>
                      </a:r>
                      <a:endParaRPr lang="en-US" sz="20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rgbClr val="0070C0"/>
                          </a:solidFill>
                        </a:rPr>
                        <a:t>post-body 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3200" b="0" dirty="0" err="1"/>
                        <a:t>i</a:t>
                      </a:r>
                      <a:r>
                        <a:rPr lang="en-IE" sz="3200" b="0" dirty="0"/>
                        <a:t>++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/>
                        <a:t>A change to the loop control variable (LCV).</a:t>
                      </a:r>
                    </a:p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/>
                        <a:t>Contains</a:t>
                      </a:r>
                      <a:r>
                        <a:rPr lang="en-US" sz="2000" b="0" baseline="0" dirty="0"/>
                        <a:t> an assignment statement.</a:t>
                      </a:r>
                      <a:endParaRPr lang="en-US" sz="20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52A92FC2-2504-453E-9EEB-B56CCDBE477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776" t="40770" r="59610" b="53072"/>
          <a:stretch/>
        </p:blipFill>
        <p:spPr>
          <a:xfrm>
            <a:off x="3048001" y="2133600"/>
            <a:ext cx="5701287" cy="90115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14756010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Recap: </a:t>
            </a:r>
            <a:r>
              <a:rPr lang="en-US" b="1" dirty="0"/>
              <a:t>for loop </a:t>
            </a:r>
            <a:r>
              <a:rPr lang="en-US" dirty="0"/>
              <a:t>flowchart</a:t>
            </a:r>
          </a:p>
        </p:txBody>
      </p:sp>
      <p:sp>
        <p:nvSpPr>
          <p:cNvPr id="161807" name="Text Box 15"/>
          <p:cNvSpPr txBox="1">
            <a:spLocks noChangeArrowheads="1"/>
          </p:cNvSpPr>
          <p:nvPr/>
        </p:nvSpPr>
        <p:spPr bwMode="auto">
          <a:xfrm>
            <a:off x="3810000" y="4227621"/>
            <a:ext cx="3810000" cy="1815882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r>
              <a:rPr lang="en-IE" sz="2800" dirty="0"/>
              <a:t>for(</a:t>
            </a:r>
            <a:r>
              <a:rPr lang="en-IE" sz="2800" dirty="0" err="1"/>
              <a:t>int</a:t>
            </a:r>
            <a:r>
              <a:rPr lang="en-IE" sz="2800" dirty="0"/>
              <a:t> </a:t>
            </a:r>
            <a:r>
              <a:rPr lang="en-IE" sz="2800" dirty="0" err="1"/>
              <a:t>i</a:t>
            </a:r>
            <a:r>
              <a:rPr lang="en-IE" sz="2800" dirty="0"/>
              <a:t> = 0; </a:t>
            </a:r>
            <a:r>
              <a:rPr lang="en-IE" sz="2800" dirty="0" err="1"/>
              <a:t>i</a:t>
            </a:r>
            <a:r>
              <a:rPr lang="en-IE" sz="2800" dirty="0"/>
              <a:t> &lt; 4; </a:t>
            </a:r>
            <a:r>
              <a:rPr lang="en-IE" sz="2800" dirty="0" err="1"/>
              <a:t>i</a:t>
            </a:r>
            <a:r>
              <a:rPr lang="en-IE" sz="2800" dirty="0"/>
              <a:t>++) </a:t>
            </a:r>
          </a:p>
          <a:p>
            <a:r>
              <a:rPr lang="en-IE" sz="2800" dirty="0"/>
              <a:t>{</a:t>
            </a:r>
          </a:p>
          <a:p>
            <a:r>
              <a:rPr lang="en-IE" sz="2800" dirty="0"/>
              <a:t>    </a:t>
            </a:r>
            <a:r>
              <a:rPr lang="en-IE" sz="2800" dirty="0" err="1"/>
              <a:t>System.out.println</a:t>
            </a:r>
            <a:r>
              <a:rPr lang="en-IE" sz="2800" dirty="0"/>
              <a:t>(</a:t>
            </a:r>
            <a:r>
              <a:rPr lang="en-IE" sz="2800" dirty="0" err="1"/>
              <a:t>i</a:t>
            </a:r>
            <a:r>
              <a:rPr lang="en-IE" sz="2800" dirty="0"/>
              <a:t>);</a:t>
            </a:r>
          </a:p>
          <a:p>
            <a:r>
              <a:rPr lang="en-IE" sz="2800" dirty="0"/>
              <a:t>}</a:t>
            </a:r>
          </a:p>
        </p:txBody>
      </p:sp>
      <p:grpSp>
        <p:nvGrpSpPr>
          <p:cNvPr id="17" name="Group 3">
            <a:extLst>
              <a:ext uri="{FF2B5EF4-FFF2-40B4-BE49-F238E27FC236}">
                <a16:creationId xmlns:a16="http://schemas.microsoft.com/office/drawing/2014/main" id="{ADCE00E6-BEA1-4EEE-8237-9E385A113057}"/>
              </a:ext>
            </a:extLst>
          </p:cNvPr>
          <p:cNvGrpSpPr>
            <a:grpSpLocks/>
          </p:cNvGrpSpPr>
          <p:nvPr/>
        </p:nvGrpSpPr>
        <p:grpSpPr bwMode="auto">
          <a:xfrm>
            <a:off x="2133600" y="1752600"/>
            <a:ext cx="6483350" cy="4038600"/>
            <a:chOff x="1148" y="1008"/>
            <a:chExt cx="4084" cy="2544"/>
          </a:xfrm>
        </p:grpSpPr>
        <p:sp>
          <p:nvSpPr>
            <p:cNvPr id="18" name="Rectangle 4">
              <a:extLst>
                <a:ext uri="{FF2B5EF4-FFF2-40B4-BE49-F238E27FC236}">
                  <a16:creationId xmlns:a16="http://schemas.microsoft.com/office/drawing/2014/main" id="{ACC7E831-C623-49FB-8D4D-0DC6DBF5099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701371">
              <a:off x="1152" y="1728"/>
              <a:ext cx="720" cy="72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10800000" vert="eaVert" wrap="none" anchor="ctr"/>
            <a:lstStyle/>
            <a:p>
              <a:pPr eaLnBrk="1" hangingPunct="1"/>
              <a:endParaRPr lang="en-US">
                <a:solidFill>
                  <a:schemeClr val="tx1"/>
                </a:solidFill>
                <a:latin typeface="Times New Roman" pitchFamily="28" charset="0"/>
              </a:endParaRPr>
            </a:p>
          </p:txBody>
        </p:sp>
        <p:sp>
          <p:nvSpPr>
            <p:cNvPr id="19" name="Rectangle 5">
              <a:extLst>
                <a:ext uri="{FF2B5EF4-FFF2-40B4-BE49-F238E27FC236}">
                  <a16:creationId xmlns:a16="http://schemas.microsoft.com/office/drawing/2014/main" id="{AD652A24-8661-4EB7-80CD-C69F3C9725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1968"/>
              <a:ext cx="1200" cy="24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eaLnBrk="1" hangingPunct="1"/>
              <a:r>
                <a:rPr lang="en-US" dirty="0">
                  <a:solidFill>
                    <a:schemeClr val="tx1"/>
                  </a:solidFill>
                  <a:latin typeface="Times New Roman" pitchFamily="28" charset="0"/>
                </a:rPr>
                <a:t>statement(s)</a:t>
              </a:r>
            </a:p>
          </p:txBody>
        </p:sp>
        <p:sp>
          <p:nvSpPr>
            <p:cNvPr id="20" name="Text Box 6">
              <a:extLst>
                <a:ext uri="{FF2B5EF4-FFF2-40B4-BE49-F238E27FC236}">
                  <a16:creationId xmlns:a16="http://schemas.microsoft.com/office/drawing/2014/main" id="{56E99615-2C1B-4C51-9A0D-EE08868E24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64" y="1881"/>
              <a:ext cx="34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dirty="0">
                  <a:latin typeface="Times New Roman" pitchFamily="28" charset="0"/>
                </a:rPr>
                <a:t>true</a:t>
              </a:r>
            </a:p>
          </p:txBody>
        </p:sp>
        <p:sp>
          <p:nvSpPr>
            <p:cNvPr id="21" name="Line 7">
              <a:extLst>
                <a:ext uri="{FF2B5EF4-FFF2-40B4-BE49-F238E27FC236}">
                  <a16:creationId xmlns:a16="http://schemas.microsoft.com/office/drawing/2014/main" id="{5B859636-564D-46BA-BCA8-2371192B3D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06" y="2640"/>
              <a:ext cx="0" cy="9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cxnSp>
          <p:nvCxnSpPr>
            <p:cNvPr id="22" name="AutoShape 8">
              <a:extLst>
                <a:ext uri="{FF2B5EF4-FFF2-40B4-BE49-F238E27FC236}">
                  <a16:creationId xmlns:a16="http://schemas.microsoft.com/office/drawing/2014/main" id="{72556D51-7580-4A0F-B662-A652677428AE}"/>
                </a:ext>
              </a:extLst>
            </p:cNvPr>
            <p:cNvCxnSpPr>
              <a:cxnSpLocks noChangeShapeType="1"/>
              <a:stCxn id="27" idx="0"/>
            </p:cNvCxnSpPr>
            <p:nvPr/>
          </p:nvCxnSpPr>
          <p:spPr bwMode="auto">
            <a:xfrm rot="5400000" flipH="1">
              <a:off x="2628" y="-36"/>
              <a:ext cx="960" cy="3048"/>
            </a:xfrm>
            <a:prstGeom prst="bentConnector2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</p:cxnSp>
        <p:sp>
          <p:nvSpPr>
            <p:cNvPr id="23" name="Line 9">
              <a:extLst>
                <a:ext uri="{FF2B5EF4-FFF2-40B4-BE49-F238E27FC236}">
                  <a16:creationId xmlns:a16="http://schemas.microsoft.com/office/drawing/2014/main" id="{A43E6AC7-ED92-4C5E-B289-FE7F1376F6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1008"/>
              <a:ext cx="0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4" name="Text Box 10">
              <a:extLst>
                <a:ext uri="{FF2B5EF4-FFF2-40B4-BE49-F238E27FC236}">
                  <a16:creationId xmlns:a16="http://schemas.microsoft.com/office/drawing/2014/main" id="{F4A117FD-D1CE-43FC-812E-64040DB7BB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48" y="1884"/>
              <a:ext cx="724" cy="4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dirty="0" err="1">
                  <a:latin typeface="Courier New" pitchFamily="28" charset="0"/>
                </a:rPr>
                <a:t>boolean</a:t>
              </a:r>
              <a:endParaRPr lang="en-US" dirty="0">
                <a:latin typeface="Courier New" pitchFamily="28" charset="0"/>
              </a:endParaRPr>
            </a:p>
            <a:p>
              <a:pPr eaLnBrk="1" hangingPunct="1"/>
              <a:r>
                <a:rPr lang="en-US" dirty="0">
                  <a:latin typeface="Times New Roman" pitchFamily="28" charset="0"/>
                </a:rPr>
                <a:t>condition?</a:t>
              </a:r>
            </a:p>
          </p:txBody>
        </p:sp>
        <p:sp>
          <p:nvSpPr>
            <p:cNvPr id="25" name="Text Box 11">
              <a:extLst>
                <a:ext uri="{FF2B5EF4-FFF2-40B4-BE49-F238E27FC236}">
                  <a16:creationId xmlns:a16="http://schemas.microsoft.com/office/drawing/2014/main" id="{C14C77EF-B1C4-4CE0-B71C-876F31695A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2880"/>
              <a:ext cx="388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dirty="0">
                  <a:latin typeface="Times New Roman" pitchFamily="28" charset="0"/>
                </a:rPr>
                <a:t>false</a:t>
              </a:r>
            </a:p>
          </p:txBody>
        </p:sp>
        <p:sp>
          <p:nvSpPr>
            <p:cNvPr id="26" name="Line 12">
              <a:extLst>
                <a:ext uri="{FF2B5EF4-FFF2-40B4-BE49-F238E27FC236}">
                  <a16:creationId xmlns:a16="http://schemas.microsoft.com/office/drawing/2014/main" id="{94DD1DB7-8C80-4BFD-8473-A11CB53B441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64" y="2112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7" name="Rectangle 13">
              <a:extLst>
                <a:ext uri="{FF2B5EF4-FFF2-40B4-BE49-F238E27FC236}">
                  <a16:creationId xmlns:a16="http://schemas.microsoft.com/office/drawing/2014/main" id="{C504208C-29D1-4A94-9F42-EA42F6E3E9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2" y="1968"/>
              <a:ext cx="1200" cy="24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eaLnBrk="1" hangingPunct="1"/>
              <a:r>
                <a:rPr lang="en-US" dirty="0">
                  <a:solidFill>
                    <a:schemeClr val="tx1"/>
                  </a:solidFill>
                  <a:latin typeface="Times New Roman" pitchFamily="28" charset="0"/>
                </a:rPr>
                <a:t>update</a:t>
              </a:r>
            </a:p>
          </p:txBody>
        </p:sp>
        <p:sp>
          <p:nvSpPr>
            <p:cNvPr id="28" name="Line 14">
              <a:extLst>
                <a:ext uri="{FF2B5EF4-FFF2-40B4-BE49-F238E27FC236}">
                  <a16:creationId xmlns:a16="http://schemas.microsoft.com/office/drawing/2014/main" id="{AF187490-5657-4B40-BF34-986D675B4E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2" y="2112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52DF51B-B6B2-4063-B572-F9F74D34F8E8}"/>
              </a:ext>
            </a:extLst>
          </p:cNvPr>
          <p:cNvSpPr/>
          <p:nvPr/>
        </p:nvSpPr>
        <p:spPr>
          <a:xfrm>
            <a:off x="8298563" y="4760731"/>
            <a:ext cx="1524000" cy="1674810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E" sz="2400" b="1" dirty="0"/>
              <a:t>0</a:t>
            </a:r>
          </a:p>
          <a:p>
            <a:r>
              <a:rPr lang="en-IE" sz="2400" b="1" dirty="0"/>
              <a:t>1</a:t>
            </a:r>
          </a:p>
          <a:p>
            <a:r>
              <a:rPr lang="en-IE" sz="2400" b="1" dirty="0"/>
              <a:t>2</a:t>
            </a:r>
          </a:p>
          <a:p>
            <a:r>
              <a:rPr lang="en-IE" sz="2400" b="1" dirty="0"/>
              <a:t>3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C549C73-08E9-459F-AADA-0C0F05729971}"/>
              </a:ext>
            </a:extLst>
          </p:cNvPr>
          <p:cNvSpPr/>
          <p:nvPr/>
        </p:nvSpPr>
        <p:spPr>
          <a:xfrm>
            <a:off x="7910328" y="4275323"/>
            <a:ext cx="2300473" cy="533400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sz="2000" b="1" dirty="0"/>
              <a:t>Console Output:</a:t>
            </a:r>
          </a:p>
        </p:txBody>
      </p:sp>
    </p:spTree>
    <p:extLst>
      <p:ext uri="{BB962C8B-B14F-4D97-AF65-F5344CB8AC3E}">
        <p14:creationId xmlns:p14="http://schemas.microsoft.com/office/powerpoint/2010/main" val="3468062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1807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1" y="2145176"/>
            <a:ext cx="6391275" cy="3341225"/>
          </a:xfrm>
          <a:prstGeom prst="rect">
            <a:avLst/>
          </a:prstGeom>
          <a:ln>
            <a:solidFill>
              <a:schemeClr val="tx2"/>
            </a:solidFill>
          </a:ln>
        </p:spPr>
      </p:pic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for loop</a:t>
            </a:r>
            <a:r>
              <a:rPr lang="en-US" sz="3600" dirty="0"/>
              <a:t>: for </a:t>
            </a:r>
            <a:r>
              <a:rPr lang="en-US" sz="3600" b="1" dirty="0"/>
              <a:t>iterating </a:t>
            </a:r>
            <a:r>
              <a:rPr lang="en-US" sz="3600" dirty="0"/>
              <a:t>over </a:t>
            </a:r>
            <a:r>
              <a:rPr lang="en-US" sz="3600" b="1" dirty="0"/>
              <a:t>a</a:t>
            </a:r>
            <a:r>
              <a:rPr lang="en-US" sz="3600" dirty="0"/>
              <a:t> </a:t>
            </a:r>
            <a:r>
              <a:rPr lang="en-US" sz="3600" b="1" dirty="0"/>
              <a:t>collection</a:t>
            </a:r>
          </a:p>
        </p:txBody>
      </p:sp>
      <p:sp>
        <p:nvSpPr>
          <p:cNvPr id="71684" name="AutoShape 4"/>
          <p:cNvSpPr>
            <a:spLocks noChangeArrowheads="1"/>
          </p:cNvSpPr>
          <p:nvPr/>
        </p:nvSpPr>
        <p:spPr bwMode="auto">
          <a:xfrm>
            <a:off x="8686800" y="2286001"/>
            <a:ext cx="1752600" cy="715089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/>
            <a:r>
              <a:rPr lang="en-GB" dirty="0">
                <a:solidFill>
                  <a:srgbClr val="A57133"/>
                </a:solidFill>
                <a:latin typeface="Trebuchet MS" pitchFamily="-32" charset="0"/>
              </a:rPr>
              <a:t>Increment </a:t>
            </a:r>
            <a:r>
              <a:rPr lang="en-GB" i="1" dirty="0">
                <a:solidFill>
                  <a:srgbClr val="A57133"/>
                </a:solidFill>
                <a:latin typeface="Trebuchet MS" pitchFamily="-32" charset="0"/>
              </a:rPr>
              <a:t>index</a:t>
            </a:r>
            <a:r>
              <a:rPr lang="en-GB" dirty="0">
                <a:solidFill>
                  <a:srgbClr val="A57133"/>
                </a:solidFill>
                <a:latin typeface="Trebuchet MS" pitchFamily="-32" charset="0"/>
              </a:rPr>
              <a:t> by 1</a:t>
            </a:r>
            <a:endParaRPr lang="en-GB" i="1" dirty="0">
              <a:solidFill>
                <a:srgbClr val="A57133"/>
              </a:solidFill>
              <a:latin typeface="Trebuchet MS" pitchFamily="-32" charset="0"/>
            </a:endParaRPr>
          </a:p>
        </p:txBody>
      </p:sp>
      <p:sp>
        <p:nvSpPr>
          <p:cNvPr id="71685" name="Line 5"/>
          <p:cNvSpPr>
            <a:spLocks noChangeShapeType="1"/>
          </p:cNvSpPr>
          <p:nvPr/>
        </p:nvSpPr>
        <p:spPr bwMode="auto">
          <a:xfrm flipH="1">
            <a:off x="7543800" y="2590800"/>
            <a:ext cx="1143000" cy="120201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en-IE"/>
          </a:p>
        </p:txBody>
      </p:sp>
      <p:sp>
        <p:nvSpPr>
          <p:cNvPr id="71688" name="AutoShape 8"/>
          <p:cNvSpPr>
            <a:spLocks noChangeArrowheads="1"/>
          </p:cNvSpPr>
          <p:nvPr/>
        </p:nvSpPr>
        <p:spPr bwMode="auto">
          <a:xfrm>
            <a:off x="2590800" y="5858337"/>
            <a:ext cx="5867400" cy="7112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r>
              <a:rPr lang="en-GB" dirty="0">
                <a:solidFill>
                  <a:srgbClr val="A57133"/>
                </a:solidFill>
                <a:latin typeface="Trebuchet MS" pitchFamily="-32" charset="0"/>
              </a:rPr>
              <a:t>for each value of </a:t>
            </a:r>
            <a:r>
              <a:rPr lang="en-GB" i="1" dirty="0" err="1">
                <a:solidFill>
                  <a:srgbClr val="A57133"/>
                </a:solidFill>
                <a:latin typeface="Trebuchet MS" pitchFamily="-32" charset="0"/>
              </a:rPr>
              <a:t>i</a:t>
            </a:r>
            <a:r>
              <a:rPr lang="en-GB" dirty="0">
                <a:solidFill>
                  <a:srgbClr val="A57133"/>
                </a:solidFill>
                <a:latin typeface="Trebuchet MS" pitchFamily="-32" charset="0"/>
              </a:rPr>
              <a:t> less than the size of the collection, </a:t>
            </a:r>
            <a:br>
              <a:rPr lang="en-GB" dirty="0">
                <a:solidFill>
                  <a:srgbClr val="A57133"/>
                </a:solidFill>
                <a:latin typeface="Trebuchet MS" pitchFamily="-32" charset="0"/>
              </a:rPr>
            </a:br>
            <a:r>
              <a:rPr lang="en-GB" dirty="0">
                <a:solidFill>
                  <a:srgbClr val="A57133"/>
                </a:solidFill>
                <a:latin typeface="Trebuchet MS" pitchFamily="-32" charset="0"/>
              </a:rPr>
              <a:t>print the next note, and then increment </a:t>
            </a:r>
            <a:r>
              <a:rPr lang="en-GB" i="1" dirty="0" err="1">
                <a:solidFill>
                  <a:srgbClr val="A57133"/>
                </a:solidFill>
                <a:latin typeface="Trebuchet MS" pitchFamily="-32" charset="0"/>
              </a:rPr>
              <a:t>i</a:t>
            </a:r>
            <a:endParaRPr lang="en-GB" i="1" dirty="0">
              <a:solidFill>
                <a:srgbClr val="A57133"/>
              </a:solidFill>
              <a:latin typeface="Trebuchet MS" pitchFamily="-3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6478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71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71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684" grpId="0" animBg="1"/>
      <p:bldP spid="71685" grpId="0" animBg="1"/>
      <p:bldP spid="71688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Topic list</a:t>
            </a:r>
            <a:endParaRPr lang="en-I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43238" y="1524000"/>
            <a:ext cx="8839200" cy="5105400"/>
          </a:xfrm>
        </p:spPr>
        <p:txBody>
          <a:bodyPr>
            <a:normAutofit fontScale="85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GB" dirty="0"/>
              <a:t>Grouping Objects </a:t>
            </a:r>
          </a:p>
          <a:p>
            <a:pPr lvl="1"/>
            <a:r>
              <a:rPr lang="en-GB" dirty="0"/>
              <a:t>Developing a basic personal notebook project using </a:t>
            </a:r>
            <a:r>
              <a:rPr lang="en-GB" b="1" dirty="0"/>
              <a:t>Collections</a:t>
            </a:r>
            <a:r>
              <a:rPr lang="en-GB" dirty="0"/>
              <a:t> </a:t>
            </a:r>
            <a:br>
              <a:rPr lang="en-GB" dirty="0"/>
            </a:br>
            <a:r>
              <a:rPr lang="en-GB" dirty="0"/>
              <a:t>e.g. </a:t>
            </a:r>
            <a:r>
              <a:rPr lang="en-GB" b="1" dirty="0" err="1"/>
              <a:t>ArrayList</a:t>
            </a:r>
            <a:endParaRPr lang="en-GB" b="1" dirty="0"/>
          </a:p>
          <a:p>
            <a:pPr marL="514350" indent="-514350">
              <a:buFont typeface="+mj-lt"/>
              <a:buAutoNum type="arabicPeriod"/>
            </a:pPr>
            <a:r>
              <a:rPr lang="en-GB" b="1" dirty="0"/>
              <a:t>Indexing</a:t>
            </a:r>
            <a:r>
              <a:rPr lang="en-GB" dirty="0"/>
              <a:t> within Collections</a:t>
            </a:r>
          </a:p>
          <a:p>
            <a:pPr lvl="1"/>
            <a:r>
              <a:rPr lang="en-GB" dirty="0"/>
              <a:t>Retrieval and removal of objects </a:t>
            </a:r>
          </a:p>
          <a:p>
            <a:pPr marL="514350" indent="-514350">
              <a:buFont typeface="+mj-lt"/>
              <a:buAutoNum type="arabicPeriod"/>
            </a:pPr>
            <a:r>
              <a:rPr lang="en-GB" b="1" dirty="0"/>
              <a:t>Generic classes </a:t>
            </a:r>
          </a:p>
          <a:p>
            <a:pPr lvl="1"/>
            <a:r>
              <a:rPr lang="en-GB" dirty="0"/>
              <a:t>e.g. </a:t>
            </a:r>
            <a:r>
              <a:rPr lang="en-GB" dirty="0" err="1"/>
              <a:t>ArrayList</a:t>
            </a:r>
            <a:endParaRPr lang="en-GB" dirty="0"/>
          </a:p>
          <a:p>
            <a:pPr marL="514350" indent="-514350">
              <a:buFont typeface="+mj-lt"/>
              <a:buAutoNum type="arabicPeriod"/>
            </a:pPr>
            <a:r>
              <a:rPr lang="en-GB" b="1" dirty="0"/>
              <a:t>Iteration</a:t>
            </a:r>
          </a:p>
          <a:p>
            <a:pPr lvl="1"/>
            <a:r>
              <a:rPr lang="en-GB" dirty="0"/>
              <a:t>Using the for loop</a:t>
            </a:r>
          </a:p>
          <a:p>
            <a:pPr lvl="1"/>
            <a:r>
              <a:rPr lang="en-GB" dirty="0"/>
              <a:t>Using the while loop</a:t>
            </a:r>
          </a:p>
          <a:p>
            <a:pPr lvl="1"/>
            <a:r>
              <a:rPr lang="en-GB" dirty="0"/>
              <a:t>Using the </a:t>
            </a:r>
            <a:r>
              <a:rPr lang="en-GB" b="1" dirty="0"/>
              <a:t>for each </a:t>
            </a:r>
            <a:r>
              <a:rPr lang="en-GB" dirty="0"/>
              <a:t>loop</a:t>
            </a:r>
          </a:p>
          <a:p>
            <a:r>
              <a:rPr lang="en-IE" dirty="0">
                <a:solidFill>
                  <a:schemeClr val="bg1">
                    <a:lumMod val="50000"/>
                  </a:schemeClr>
                </a:solidFill>
              </a:rPr>
              <a:t>Next </a:t>
            </a:r>
            <a:r>
              <a:rPr lang="en-IE" dirty="0" err="1">
                <a:solidFill>
                  <a:schemeClr val="bg1">
                    <a:lumMod val="50000"/>
                  </a:schemeClr>
                </a:solidFill>
              </a:rPr>
              <a:t>SlideDeck</a:t>
            </a:r>
            <a:r>
              <a:rPr lang="en-IE" dirty="0">
                <a:solidFill>
                  <a:schemeClr val="bg1">
                    <a:lumMod val="50000"/>
                  </a:schemeClr>
                </a:solidFill>
              </a:rPr>
              <a:t>: </a:t>
            </a:r>
            <a:br>
              <a:rPr lang="en-IE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IE" dirty="0">
                <a:solidFill>
                  <a:schemeClr val="bg1">
                    <a:lumMod val="50000"/>
                  </a:schemeClr>
                </a:solidFill>
              </a:rPr>
              <a:t>coding a Shop Project that stores an </a:t>
            </a:r>
            <a:r>
              <a:rPr lang="en-IE" dirty="0" err="1">
                <a:solidFill>
                  <a:schemeClr val="bg1">
                    <a:lumMod val="50000"/>
                  </a:schemeClr>
                </a:solidFill>
              </a:rPr>
              <a:t>ArrayList</a:t>
            </a:r>
            <a:r>
              <a:rPr lang="en-IE" dirty="0">
                <a:solidFill>
                  <a:schemeClr val="bg1">
                    <a:lumMod val="50000"/>
                  </a:schemeClr>
                </a:solidFill>
              </a:rPr>
              <a:t> of Products.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1843238" y="4191000"/>
            <a:ext cx="8748562" cy="1447800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6" name="Right Arrow 5"/>
          <p:cNvSpPr/>
          <p:nvPr/>
        </p:nvSpPr>
        <p:spPr>
          <a:xfrm>
            <a:off x="1295400" y="4953000"/>
            <a:ext cx="990600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6625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Recap: </a:t>
            </a:r>
            <a:r>
              <a:rPr lang="en-US" b="1" dirty="0"/>
              <a:t>while loop </a:t>
            </a:r>
            <a:r>
              <a:rPr lang="en-US" dirty="0"/>
              <a:t>pseudo code</a:t>
            </a:r>
          </a:p>
        </p:txBody>
      </p:sp>
      <p:sp>
        <p:nvSpPr>
          <p:cNvPr id="18436" name="Text Box 4"/>
          <p:cNvSpPr txBox="1">
            <a:spLocks noChangeArrowheads="1"/>
          </p:cNvSpPr>
          <p:nvPr/>
        </p:nvSpPr>
        <p:spPr bwMode="auto">
          <a:xfrm>
            <a:off x="4038600" y="3124200"/>
            <a:ext cx="3200400" cy="82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en-US" sz="1600" dirty="0"/>
              <a:t>while(</a:t>
            </a:r>
            <a:r>
              <a:rPr lang="en-US" sz="1600" i="1" dirty="0"/>
              <a:t>loop condition</a:t>
            </a:r>
            <a:r>
              <a:rPr lang="en-US" sz="1600" dirty="0"/>
              <a:t>) {</a:t>
            </a:r>
          </a:p>
          <a:p>
            <a:r>
              <a:rPr lang="en-US" sz="1600" dirty="0"/>
              <a:t>    </a:t>
            </a:r>
            <a:r>
              <a:rPr lang="en-US" sz="1600" i="1" dirty="0"/>
              <a:t>loop body</a:t>
            </a:r>
            <a:endParaRPr lang="en-US" sz="1600" dirty="0"/>
          </a:p>
          <a:p>
            <a:r>
              <a:rPr lang="en-US" sz="1600" dirty="0"/>
              <a:t>} </a:t>
            </a:r>
          </a:p>
        </p:txBody>
      </p:sp>
      <p:sp>
        <p:nvSpPr>
          <p:cNvPr id="18437" name="Text Box 5"/>
          <p:cNvSpPr txBox="1">
            <a:spLocks noChangeArrowheads="1"/>
          </p:cNvSpPr>
          <p:nvPr/>
        </p:nvSpPr>
        <p:spPr bwMode="auto">
          <a:xfrm>
            <a:off x="3024189" y="5500688"/>
            <a:ext cx="63595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dirty="0">
                <a:latin typeface="Trebuchet MS" pitchFamily="-32" charset="0"/>
              </a:rPr>
              <a:t>while we wish to continue, do the things in the loop body</a:t>
            </a:r>
          </a:p>
        </p:txBody>
      </p:sp>
      <p:sp>
        <p:nvSpPr>
          <p:cNvPr id="18439" name="AutoShape 7"/>
          <p:cNvSpPr>
            <a:spLocks noChangeArrowheads="1"/>
          </p:cNvSpPr>
          <p:nvPr/>
        </p:nvSpPr>
        <p:spPr bwMode="auto">
          <a:xfrm>
            <a:off x="6553200" y="2590800"/>
            <a:ext cx="2133600" cy="4572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dirty="0" err="1">
                <a:solidFill>
                  <a:srgbClr val="A57133"/>
                </a:solidFill>
                <a:latin typeface="Trebuchet MS" pitchFamily="-32" charset="0"/>
              </a:rPr>
              <a:t>boolean</a:t>
            </a:r>
            <a:r>
              <a:rPr lang="en-US" dirty="0">
                <a:solidFill>
                  <a:srgbClr val="A57133"/>
                </a:solidFill>
                <a:latin typeface="Trebuchet MS" pitchFamily="-32" charset="0"/>
              </a:rPr>
              <a:t> condition</a:t>
            </a:r>
          </a:p>
        </p:txBody>
      </p:sp>
      <p:sp>
        <p:nvSpPr>
          <p:cNvPr id="18440" name="Line 8"/>
          <p:cNvSpPr>
            <a:spLocks noChangeShapeType="1"/>
          </p:cNvSpPr>
          <p:nvPr/>
        </p:nvSpPr>
        <p:spPr bwMode="auto">
          <a:xfrm flipH="1">
            <a:off x="5638800" y="2819400"/>
            <a:ext cx="914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E"/>
          </a:p>
        </p:txBody>
      </p:sp>
      <p:sp>
        <p:nvSpPr>
          <p:cNvPr id="18442" name="AutoShape 10"/>
          <p:cNvSpPr>
            <a:spLocks noChangeArrowheads="1"/>
          </p:cNvSpPr>
          <p:nvPr/>
        </p:nvSpPr>
        <p:spPr bwMode="auto">
          <a:xfrm>
            <a:off x="2438400" y="2286000"/>
            <a:ext cx="1905000" cy="4572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A57133"/>
                </a:solidFill>
              </a:rPr>
              <a:t>while</a:t>
            </a:r>
            <a:r>
              <a:rPr lang="en-US">
                <a:solidFill>
                  <a:srgbClr val="A57133"/>
                </a:solidFill>
                <a:latin typeface="Times New Roman" pitchFamily="-32" charset="0"/>
              </a:rPr>
              <a:t> </a:t>
            </a:r>
            <a:r>
              <a:rPr lang="en-US">
                <a:solidFill>
                  <a:srgbClr val="A57133"/>
                </a:solidFill>
                <a:latin typeface="Trebuchet MS" pitchFamily="-32" charset="0"/>
              </a:rPr>
              <a:t>keyword</a:t>
            </a:r>
          </a:p>
        </p:txBody>
      </p:sp>
      <p:sp>
        <p:nvSpPr>
          <p:cNvPr id="18443" name="Line 11"/>
          <p:cNvSpPr>
            <a:spLocks noChangeShapeType="1"/>
          </p:cNvSpPr>
          <p:nvPr/>
        </p:nvSpPr>
        <p:spPr bwMode="auto">
          <a:xfrm>
            <a:off x="3352800" y="2743200"/>
            <a:ext cx="914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E"/>
          </a:p>
        </p:txBody>
      </p:sp>
      <p:sp>
        <p:nvSpPr>
          <p:cNvPr id="18445" name="AutoShape 13"/>
          <p:cNvSpPr>
            <a:spLocks noChangeArrowheads="1"/>
          </p:cNvSpPr>
          <p:nvPr/>
        </p:nvSpPr>
        <p:spPr bwMode="auto">
          <a:xfrm>
            <a:off x="7010400" y="3276600"/>
            <a:ext cx="2971800" cy="4572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dirty="0">
                <a:solidFill>
                  <a:srgbClr val="A57133"/>
                </a:solidFill>
                <a:latin typeface="Trebuchet MS" pitchFamily="-32" charset="0"/>
              </a:rPr>
              <a:t>Statements to be repeated</a:t>
            </a:r>
          </a:p>
        </p:txBody>
      </p:sp>
      <p:sp>
        <p:nvSpPr>
          <p:cNvPr id="18446" name="Line 14"/>
          <p:cNvSpPr>
            <a:spLocks noChangeShapeType="1"/>
          </p:cNvSpPr>
          <p:nvPr/>
        </p:nvSpPr>
        <p:spPr bwMode="auto">
          <a:xfrm flipH="1">
            <a:off x="6019800" y="3505200"/>
            <a:ext cx="990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E"/>
          </a:p>
        </p:txBody>
      </p:sp>
      <p:sp>
        <p:nvSpPr>
          <p:cNvPr id="18448" name="AutoShape 16"/>
          <p:cNvSpPr>
            <a:spLocks noChangeArrowheads="1"/>
          </p:cNvSpPr>
          <p:nvPr/>
        </p:nvSpPr>
        <p:spPr bwMode="auto">
          <a:xfrm>
            <a:off x="3862389" y="4495800"/>
            <a:ext cx="4467225" cy="7112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>
                    <a:alpha val="50000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/>
            <a:r>
              <a:rPr lang="en-US" dirty="0">
                <a:solidFill>
                  <a:srgbClr val="A57133"/>
                </a:solidFill>
                <a:latin typeface="Trebuchet MS" pitchFamily="-32" charset="0"/>
              </a:rPr>
              <a:t>Pseudo-code expression of the actions of a while loop</a:t>
            </a:r>
          </a:p>
        </p:txBody>
      </p:sp>
      <p:sp>
        <p:nvSpPr>
          <p:cNvPr id="18450" name="AutoShape 18"/>
          <p:cNvSpPr>
            <a:spLocks noChangeArrowheads="1"/>
          </p:cNvSpPr>
          <p:nvPr/>
        </p:nvSpPr>
        <p:spPr bwMode="auto">
          <a:xfrm>
            <a:off x="4419600" y="1828800"/>
            <a:ext cx="3200400" cy="3810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>
                    <a:alpha val="50000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45791" dir="2021404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A57133"/>
                </a:solidFill>
                <a:latin typeface="Trebuchet MS" pitchFamily="-32" charset="0"/>
              </a:rPr>
              <a:t>General form of a while loop</a:t>
            </a:r>
          </a:p>
        </p:txBody>
      </p:sp>
      <p:sp>
        <p:nvSpPr>
          <p:cNvPr id="18455" name="Rectangle 23"/>
          <p:cNvSpPr>
            <a:spLocks noChangeArrowheads="1"/>
          </p:cNvSpPr>
          <p:nvPr/>
        </p:nvSpPr>
        <p:spPr bwMode="auto">
          <a:xfrm>
            <a:off x="2286000" y="2787134"/>
            <a:ext cx="7772400" cy="36933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IE"/>
          </a:p>
        </p:txBody>
      </p:sp>
      <p:sp>
        <p:nvSpPr>
          <p:cNvPr id="18456" name="Rectangle 24"/>
          <p:cNvSpPr>
            <a:spLocks noChangeArrowheads="1"/>
          </p:cNvSpPr>
          <p:nvPr/>
        </p:nvSpPr>
        <p:spPr bwMode="auto">
          <a:xfrm>
            <a:off x="2286001" y="5149334"/>
            <a:ext cx="184731" cy="36933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IE"/>
          </a:p>
        </p:txBody>
      </p:sp>
      <p:sp>
        <p:nvSpPr>
          <p:cNvPr id="18457" name="AutoShape 25"/>
          <p:cNvSpPr>
            <a:spLocks noChangeArrowheads="1"/>
          </p:cNvSpPr>
          <p:nvPr/>
        </p:nvSpPr>
        <p:spPr bwMode="auto">
          <a:xfrm flipH="1" flipV="1">
            <a:off x="2819400" y="3320534"/>
            <a:ext cx="990600" cy="369332"/>
          </a:xfrm>
          <a:prstGeom prst="curvedLeftArrow">
            <a:avLst>
              <a:gd name="adj1" fmla="val 20000"/>
              <a:gd name="adj2" fmla="val 40000"/>
              <a:gd name="adj3" fmla="val 43333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772500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7" grpId="0"/>
      <p:bldP spid="18439" grpId="0" animBg="1"/>
      <p:bldP spid="18440" grpId="0" animBg="1"/>
      <p:bldP spid="18442" grpId="0" animBg="1"/>
      <p:bldP spid="18443" grpId="0" animBg="1"/>
      <p:bldP spid="18445" grpId="0" animBg="1"/>
      <p:bldP spid="18446" grpId="0" animBg="1"/>
      <p:bldP spid="18448" grpId="0" animBg="1"/>
      <p:bldP spid="18456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Recap: </a:t>
            </a:r>
            <a:r>
              <a:rPr lang="en-US" b="1" dirty="0"/>
              <a:t>while loop </a:t>
            </a:r>
            <a:r>
              <a:rPr lang="en-US" dirty="0"/>
              <a:t>construction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600201"/>
            <a:ext cx="8382000" cy="3733800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  Declare and </a:t>
            </a:r>
            <a:r>
              <a:rPr lang="en-US" dirty="0" err="1"/>
              <a:t>initialise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loop control variable (LCV)</a:t>
            </a:r>
          </a:p>
          <a:p>
            <a:pPr marL="0" indent="0">
              <a:buNone/>
            </a:pPr>
            <a:r>
              <a:rPr lang="en-US" dirty="0"/>
              <a:t>  while(condition based on </a:t>
            </a:r>
            <a:r>
              <a:rPr lang="en-US" dirty="0">
                <a:solidFill>
                  <a:srgbClr val="FF0000"/>
                </a:solidFill>
              </a:rPr>
              <a:t>LCV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  {</a:t>
            </a:r>
          </a:p>
          <a:p>
            <a:pPr marL="0" indent="0">
              <a:buNone/>
            </a:pPr>
            <a:r>
              <a:rPr lang="en-US" dirty="0"/>
              <a:t>         “do the job to be repeated”</a:t>
            </a:r>
          </a:p>
          <a:p>
            <a:pPr marL="0" indent="0">
              <a:buNone/>
            </a:pPr>
            <a:r>
              <a:rPr lang="en-US" dirty="0"/>
              <a:t>         “update the </a:t>
            </a:r>
            <a:r>
              <a:rPr lang="en-US" dirty="0">
                <a:solidFill>
                  <a:srgbClr val="FF0000"/>
                </a:solidFill>
              </a:rPr>
              <a:t>LCV</a:t>
            </a:r>
            <a:r>
              <a:rPr lang="en-US" dirty="0"/>
              <a:t>”</a:t>
            </a:r>
          </a:p>
          <a:p>
            <a:pPr marL="0" indent="0">
              <a:buNone/>
            </a:pPr>
            <a:r>
              <a:rPr lang="en-US" dirty="0"/>
              <a:t>  }</a:t>
            </a:r>
          </a:p>
        </p:txBody>
      </p:sp>
      <p:sp>
        <p:nvSpPr>
          <p:cNvPr id="9220" name="Rectangle 4"/>
          <p:cNvSpPr>
            <a:spLocks noChangeArrowheads="1"/>
          </p:cNvSpPr>
          <p:nvPr/>
        </p:nvSpPr>
        <p:spPr bwMode="auto">
          <a:xfrm>
            <a:off x="10639426" y="5885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2057400" y="5638801"/>
            <a:ext cx="7772400" cy="58477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This structure should always be used</a:t>
            </a:r>
          </a:p>
        </p:txBody>
      </p:sp>
    </p:spTree>
    <p:extLst>
      <p:ext uri="{BB962C8B-B14F-4D97-AF65-F5344CB8AC3E}">
        <p14:creationId xmlns:p14="http://schemas.microsoft.com/office/powerpoint/2010/main" val="334488729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Recap: </a:t>
            </a:r>
            <a:r>
              <a:rPr lang="en-US" b="1" dirty="0"/>
              <a:t>while loop </a:t>
            </a:r>
            <a:r>
              <a:rPr lang="en-US" dirty="0"/>
              <a:t>flowchart</a:t>
            </a:r>
          </a:p>
        </p:txBody>
      </p:sp>
      <p:sp>
        <p:nvSpPr>
          <p:cNvPr id="159757" name="Text Box 13"/>
          <p:cNvSpPr txBox="1">
            <a:spLocks noChangeArrowheads="1"/>
          </p:cNvSpPr>
          <p:nvPr/>
        </p:nvSpPr>
        <p:spPr bwMode="auto">
          <a:xfrm>
            <a:off x="6255906" y="4230637"/>
            <a:ext cx="3954894" cy="2308324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pPr algn="l"/>
            <a:r>
              <a:rPr lang="en-US" sz="2400" dirty="0" err="1"/>
              <a:t>int</a:t>
            </a:r>
            <a:r>
              <a:rPr lang="en-US" sz="2400" dirty="0"/>
              <a:t> </a:t>
            </a:r>
            <a:r>
              <a:rPr lang="en-US" sz="2400" dirty="0" err="1"/>
              <a:t>i</a:t>
            </a:r>
            <a:r>
              <a:rPr lang="en-US" sz="2400" dirty="0"/>
              <a:t> = 1;</a:t>
            </a:r>
          </a:p>
          <a:p>
            <a:pPr algn="l"/>
            <a:r>
              <a:rPr lang="en-US" sz="2400" dirty="0"/>
              <a:t>while (</a:t>
            </a:r>
            <a:r>
              <a:rPr lang="en-US" sz="2400" dirty="0" err="1"/>
              <a:t>i</a:t>
            </a:r>
            <a:r>
              <a:rPr lang="en-US" sz="2400" dirty="0"/>
              <a:t> &lt;= 10)</a:t>
            </a:r>
          </a:p>
          <a:p>
            <a:pPr algn="l"/>
            <a:r>
              <a:rPr lang="en-US" sz="2400" dirty="0"/>
              <a:t>{</a:t>
            </a:r>
          </a:p>
          <a:p>
            <a:pPr algn="l"/>
            <a:r>
              <a:rPr lang="en-US" sz="2400" dirty="0"/>
              <a:t>      </a:t>
            </a:r>
            <a:r>
              <a:rPr lang="en-US" sz="2400" dirty="0" err="1"/>
              <a:t>System.out.println</a:t>
            </a:r>
            <a:r>
              <a:rPr lang="en-US" sz="2400" dirty="0"/>
              <a:t>(</a:t>
            </a:r>
            <a:r>
              <a:rPr lang="en-US" sz="2400" dirty="0" err="1"/>
              <a:t>i</a:t>
            </a:r>
            <a:r>
              <a:rPr lang="en-US" sz="2400" dirty="0"/>
              <a:t>);</a:t>
            </a:r>
          </a:p>
          <a:p>
            <a:pPr algn="l"/>
            <a:r>
              <a:rPr lang="en-US" sz="2400" dirty="0"/>
              <a:t>      </a:t>
            </a:r>
            <a:r>
              <a:rPr lang="en-US" sz="2400" dirty="0" err="1"/>
              <a:t>i</a:t>
            </a:r>
            <a:r>
              <a:rPr lang="en-US" sz="2400" dirty="0"/>
              <a:t>++;</a:t>
            </a:r>
          </a:p>
          <a:p>
            <a:pPr algn="l"/>
            <a:r>
              <a:rPr lang="en-US" sz="2400" dirty="0"/>
              <a:t>}</a:t>
            </a:r>
          </a:p>
        </p:txBody>
      </p:sp>
      <p:grpSp>
        <p:nvGrpSpPr>
          <p:cNvPr id="14" name="Group 3">
            <a:extLst>
              <a:ext uri="{FF2B5EF4-FFF2-40B4-BE49-F238E27FC236}">
                <a16:creationId xmlns:a16="http://schemas.microsoft.com/office/drawing/2014/main" id="{EBB4C553-90BB-40B7-9272-D82BA0700570}"/>
              </a:ext>
            </a:extLst>
          </p:cNvPr>
          <p:cNvGrpSpPr>
            <a:grpSpLocks/>
          </p:cNvGrpSpPr>
          <p:nvPr/>
        </p:nvGrpSpPr>
        <p:grpSpPr bwMode="auto">
          <a:xfrm>
            <a:off x="2057400" y="1595440"/>
            <a:ext cx="3810000" cy="3967163"/>
            <a:chOff x="1968" y="1005"/>
            <a:chExt cx="2400" cy="2499"/>
          </a:xfrm>
        </p:grpSpPr>
        <p:sp>
          <p:nvSpPr>
            <p:cNvPr id="15" name="Rectangle 4">
              <a:extLst>
                <a:ext uri="{FF2B5EF4-FFF2-40B4-BE49-F238E27FC236}">
                  <a16:creationId xmlns:a16="http://schemas.microsoft.com/office/drawing/2014/main" id="{930D70F2-9E7C-4211-ADF1-8B1C72ECE25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701371">
              <a:off x="2016" y="1728"/>
              <a:ext cx="720" cy="72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10800000" vert="eaVert" wrap="none" anchor="ctr"/>
            <a:lstStyle/>
            <a:p>
              <a:pPr eaLnBrk="1" hangingPunct="1"/>
              <a:endParaRPr lang="en-US">
                <a:solidFill>
                  <a:schemeClr val="tx1"/>
                </a:solidFill>
                <a:latin typeface="Times New Roman" pitchFamily="28" charset="0"/>
              </a:endParaRPr>
            </a:p>
          </p:txBody>
        </p:sp>
        <p:sp>
          <p:nvSpPr>
            <p:cNvPr id="16" name="Rectangle 5">
              <a:extLst>
                <a:ext uri="{FF2B5EF4-FFF2-40B4-BE49-F238E27FC236}">
                  <a16:creationId xmlns:a16="http://schemas.microsoft.com/office/drawing/2014/main" id="{9B29B3E0-6E02-4EA5-A031-A0E7435773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2" y="1968"/>
              <a:ext cx="816" cy="24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eaLnBrk="1" hangingPunct="1"/>
              <a:r>
                <a:rPr lang="en-US" dirty="0">
                  <a:solidFill>
                    <a:schemeClr val="tx1"/>
                  </a:solidFill>
                  <a:latin typeface="Times New Roman" pitchFamily="28" charset="0"/>
                </a:rPr>
                <a:t>statement(s)</a:t>
              </a:r>
            </a:p>
          </p:txBody>
        </p:sp>
        <p:sp>
          <p:nvSpPr>
            <p:cNvPr id="17" name="Text Box 6">
              <a:extLst>
                <a:ext uri="{FF2B5EF4-FFF2-40B4-BE49-F238E27FC236}">
                  <a16:creationId xmlns:a16="http://schemas.microsoft.com/office/drawing/2014/main" id="{92783B36-2D88-475C-AC52-A0174FF422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4" y="1776"/>
              <a:ext cx="34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>
                  <a:latin typeface="Times New Roman" pitchFamily="28" charset="0"/>
                </a:rPr>
                <a:t>true</a:t>
              </a:r>
            </a:p>
          </p:txBody>
        </p:sp>
        <p:sp>
          <p:nvSpPr>
            <p:cNvPr id="18" name="Line 7">
              <a:extLst>
                <a:ext uri="{FF2B5EF4-FFF2-40B4-BE49-F238E27FC236}">
                  <a16:creationId xmlns:a16="http://schemas.microsoft.com/office/drawing/2014/main" id="{47ED25A6-F4BC-4097-AA00-AD0B8D266E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76" y="2592"/>
              <a:ext cx="0" cy="9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cxnSp>
          <p:nvCxnSpPr>
            <p:cNvPr id="19" name="AutoShape 8">
              <a:extLst>
                <a:ext uri="{FF2B5EF4-FFF2-40B4-BE49-F238E27FC236}">
                  <a16:creationId xmlns:a16="http://schemas.microsoft.com/office/drawing/2014/main" id="{D60F770D-5017-4A8A-B7AB-99C52A499A1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>
              <a:off x="2352" y="1005"/>
              <a:ext cx="1704" cy="960"/>
            </a:xfrm>
            <a:prstGeom prst="bentConnector3">
              <a:avLst>
                <a:gd name="adj1" fmla="val 56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</p:cxnSp>
        <p:sp>
          <p:nvSpPr>
            <p:cNvPr id="20" name="Line 9">
              <a:extLst>
                <a:ext uri="{FF2B5EF4-FFF2-40B4-BE49-F238E27FC236}">
                  <a16:creationId xmlns:a16="http://schemas.microsoft.com/office/drawing/2014/main" id="{02565C5C-5253-48A9-B15F-71E1B4208B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66" y="1008"/>
              <a:ext cx="0" cy="5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1" name="Text Box 10">
              <a:extLst>
                <a:ext uri="{FF2B5EF4-FFF2-40B4-BE49-F238E27FC236}">
                  <a16:creationId xmlns:a16="http://schemas.microsoft.com/office/drawing/2014/main" id="{C800E8C7-786A-4D84-BC7F-6B19C33C90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68" y="1884"/>
              <a:ext cx="724" cy="4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dirty="0" err="1">
                  <a:latin typeface="Courier New" pitchFamily="28" charset="0"/>
                </a:rPr>
                <a:t>boolean</a:t>
              </a:r>
              <a:endParaRPr lang="en-US" dirty="0">
                <a:latin typeface="Courier New" pitchFamily="28" charset="0"/>
              </a:endParaRPr>
            </a:p>
            <a:p>
              <a:pPr eaLnBrk="1" hangingPunct="1"/>
              <a:r>
                <a:rPr lang="en-US" dirty="0">
                  <a:latin typeface="Times New Roman" pitchFamily="28" charset="0"/>
                </a:rPr>
                <a:t>condition?</a:t>
              </a:r>
            </a:p>
          </p:txBody>
        </p:sp>
        <p:sp>
          <p:nvSpPr>
            <p:cNvPr id="22" name="Text Box 11">
              <a:extLst>
                <a:ext uri="{FF2B5EF4-FFF2-40B4-BE49-F238E27FC236}">
                  <a16:creationId xmlns:a16="http://schemas.microsoft.com/office/drawing/2014/main" id="{1CDB3B46-6C7A-4CDC-8DBC-55438B3EEA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48" y="2880"/>
              <a:ext cx="388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>
                  <a:latin typeface="Times New Roman" pitchFamily="28" charset="0"/>
                </a:rPr>
                <a:t>false</a:t>
              </a:r>
            </a:p>
          </p:txBody>
        </p:sp>
        <p:sp>
          <p:nvSpPr>
            <p:cNvPr id="23" name="Line 12">
              <a:extLst>
                <a:ext uri="{FF2B5EF4-FFF2-40B4-BE49-F238E27FC236}">
                  <a16:creationId xmlns:a16="http://schemas.microsoft.com/office/drawing/2014/main" id="{6A8864B0-2088-4A79-B053-F46EC4052E7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28" y="2112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2304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9757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8401" y="1536596"/>
            <a:ext cx="7038975" cy="4211846"/>
          </a:xfrm>
          <a:prstGeom prst="rect">
            <a:avLst/>
          </a:prstGeom>
          <a:ln>
            <a:solidFill>
              <a:schemeClr val="tx2"/>
            </a:solidFill>
          </a:ln>
        </p:spPr>
      </p:pic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while loop</a:t>
            </a:r>
            <a:r>
              <a:rPr lang="en-US" sz="4000" dirty="0"/>
              <a:t>: </a:t>
            </a:r>
            <a:r>
              <a:rPr lang="en-US" sz="4000" b="1" dirty="0"/>
              <a:t>iterating</a:t>
            </a:r>
            <a:r>
              <a:rPr lang="en-US" sz="4000" dirty="0"/>
              <a:t> over </a:t>
            </a:r>
            <a:r>
              <a:rPr lang="en-US" sz="4000" b="1" dirty="0"/>
              <a:t>a collection</a:t>
            </a:r>
          </a:p>
        </p:txBody>
      </p:sp>
      <p:sp>
        <p:nvSpPr>
          <p:cNvPr id="71684" name="AutoShape 4"/>
          <p:cNvSpPr>
            <a:spLocks noChangeArrowheads="1"/>
          </p:cNvSpPr>
          <p:nvPr/>
        </p:nvSpPr>
        <p:spPr bwMode="auto">
          <a:xfrm>
            <a:off x="6248400" y="5092833"/>
            <a:ext cx="1752600" cy="715089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algn="ctr"/>
            <a:r>
              <a:rPr lang="en-GB" dirty="0">
                <a:solidFill>
                  <a:srgbClr val="A57133"/>
                </a:solidFill>
                <a:latin typeface="Trebuchet MS" pitchFamily="-32" charset="0"/>
              </a:rPr>
              <a:t>Increment </a:t>
            </a:r>
            <a:r>
              <a:rPr lang="en-GB" i="1" dirty="0" err="1">
                <a:solidFill>
                  <a:srgbClr val="A57133"/>
                </a:solidFill>
                <a:latin typeface="Trebuchet MS" pitchFamily="-32" charset="0"/>
              </a:rPr>
              <a:t>i</a:t>
            </a:r>
            <a:r>
              <a:rPr lang="en-GB" dirty="0">
                <a:solidFill>
                  <a:srgbClr val="A57133"/>
                </a:solidFill>
                <a:latin typeface="Trebuchet MS" pitchFamily="-32" charset="0"/>
              </a:rPr>
              <a:t> </a:t>
            </a:r>
          </a:p>
          <a:p>
            <a:pPr algn="ctr"/>
            <a:r>
              <a:rPr lang="en-GB" dirty="0">
                <a:solidFill>
                  <a:srgbClr val="A57133"/>
                </a:solidFill>
                <a:latin typeface="Trebuchet MS" pitchFamily="-32" charset="0"/>
              </a:rPr>
              <a:t>by 1</a:t>
            </a:r>
            <a:endParaRPr lang="en-GB" i="1" dirty="0">
              <a:solidFill>
                <a:srgbClr val="A57133"/>
              </a:solidFill>
              <a:latin typeface="Trebuchet MS" pitchFamily="-32" charset="0"/>
            </a:endParaRPr>
          </a:p>
        </p:txBody>
      </p:sp>
      <p:sp>
        <p:nvSpPr>
          <p:cNvPr id="71685" name="Line 5"/>
          <p:cNvSpPr>
            <a:spLocks noChangeShapeType="1"/>
          </p:cNvSpPr>
          <p:nvPr/>
        </p:nvSpPr>
        <p:spPr bwMode="auto">
          <a:xfrm flipH="1" flipV="1">
            <a:off x="4343400" y="4973874"/>
            <a:ext cx="1905000" cy="51252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en-IE"/>
          </a:p>
        </p:txBody>
      </p:sp>
      <p:sp>
        <p:nvSpPr>
          <p:cNvPr id="71688" name="AutoShape 8"/>
          <p:cNvSpPr>
            <a:spLocks noChangeArrowheads="1"/>
          </p:cNvSpPr>
          <p:nvPr/>
        </p:nvSpPr>
        <p:spPr bwMode="auto">
          <a:xfrm>
            <a:off x="2909889" y="5867400"/>
            <a:ext cx="6567487" cy="7112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r>
              <a:rPr lang="en-GB" dirty="0">
                <a:solidFill>
                  <a:srgbClr val="A57133"/>
                </a:solidFill>
                <a:latin typeface="Trebuchet MS" pitchFamily="-32" charset="0"/>
              </a:rPr>
              <a:t>while the value of </a:t>
            </a:r>
            <a:r>
              <a:rPr lang="en-GB" i="1" dirty="0" err="1">
                <a:solidFill>
                  <a:srgbClr val="A57133"/>
                </a:solidFill>
                <a:latin typeface="Trebuchet MS" pitchFamily="-32" charset="0"/>
              </a:rPr>
              <a:t>i</a:t>
            </a:r>
            <a:r>
              <a:rPr lang="en-GB" dirty="0">
                <a:solidFill>
                  <a:srgbClr val="A57133"/>
                </a:solidFill>
                <a:latin typeface="Trebuchet MS" pitchFamily="-32" charset="0"/>
              </a:rPr>
              <a:t> is less than the size of the collection, </a:t>
            </a:r>
            <a:br>
              <a:rPr lang="en-GB" dirty="0">
                <a:solidFill>
                  <a:srgbClr val="A57133"/>
                </a:solidFill>
                <a:latin typeface="Trebuchet MS" pitchFamily="-32" charset="0"/>
              </a:rPr>
            </a:br>
            <a:r>
              <a:rPr lang="en-GB" dirty="0">
                <a:solidFill>
                  <a:srgbClr val="A57133"/>
                </a:solidFill>
                <a:latin typeface="Trebuchet MS" pitchFamily="-32" charset="0"/>
              </a:rPr>
              <a:t>print the next note, and then increment </a:t>
            </a:r>
            <a:r>
              <a:rPr lang="en-GB" i="1" dirty="0" err="1">
                <a:solidFill>
                  <a:srgbClr val="A57133"/>
                </a:solidFill>
                <a:latin typeface="Trebuchet MS" pitchFamily="-32" charset="0"/>
              </a:rPr>
              <a:t>i</a:t>
            </a:r>
            <a:endParaRPr lang="en-GB" i="1" dirty="0">
              <a:solidFill>
                <a:srgbClr val="A57133"/>
              </a:solidFill>
              <a:latin typeface="Trebuchet MS" pitchFamily="-3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622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71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71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684" grpId="0" animBg="1"/>
      <p:bldP spid="71685" grpId="0" animBg="1"/>
      <p:bldP spid="71688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0"/>
            <a:ext cx="8229600" cy="1143000"/>
          </a:xfrm>
        </p:spPr>
        <p:txBody>
          <a:bodyPr/>
          <a:lstStyle/>
          <a:p>
            <a:pPr algn="ctr"/>
            <a:r>
              <a:rPr lang="en-IE" dirty="0">
                <a:latin typeface="Courier New" pitchFamily="28" charset="0"/>
              </a:rPr>
              <a:t>     for</a:t>
            </a:r>
            <a:r>
              <a:rPr lang="en-IE" dirty="0"/>
              <a:t> versus </a:t>
            </a:r>
            <a:r>
              <a:rPr lang="en-US" dirty="0">
                <a:latin typeface="Courier New" pitchFamily="28" charset="0"/>
              </a:rPr>
              <a:t>while</a:t>
            </a:r>
            <a:r>
              <a:rPr lang="en-US" dirty="0"/>
              <a:t> </a:t>
            </a:r>
            <a:endParaRPr lang="en-IE" dirty="0"/>
          </a:p>
        </p:txBody>
      </p:sp>
      <p:sp>
        <p:nvSpPr>
          <p:cNvPr id="5" name="Rectangle 4"/>
          <p:cNvSpPr/>
          <p:nvPr/>
        </p:nvSpPr>
        <p:spPr>
          <a:xfrm>
            <a:off x="6858000" y="1066801"/>
            <a:ext cx="3753785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E" sz="2400" dirty="0"/>
              <a:t>Variable </a:t>
            </a:r>
            <a:r>
              <a:rPr lang="en-IE" sz="2400" b="1" dirty="0" err="1">
                <a:solidFill>
                  <a:srgbClr val="FF0000"/>
                </a:solidFill>
              </a:rPr>
              <a:t>i</a:t>
            </a:r>
            <a:r>
              <a:rPr lang="en-IE" sz="2400" b="1" dirty="0">
                <a:solidFill>
                  <a:srgbClr val="FF0000"/>
                </a:solidFill>
              </a:rPr>
              <a:t> </a:t>
            </a:r>
            <a:r>
              <a:rPr lang="en-IE" sz="2400" dirty="0"/>
              <a:t>is the </a:t>
            </a:r>
            <a:br>
              <a:rPr lang="en-IE" sz="2400" dirty="0"/>
            </a:br>
            <a:r>
              <a:rPr lang="en-IE" sz="2400" dirty="0"/>
              <a:t>Loop Control Variable (</a:t>
            </a:r>
            <a:r>
              <a:rPr lang="en-IE" sz="2400" b="1" dirty="0"/>
              <a:t>LCV</a:t>
            </a:r>
            <a:r>
              <a:rPr lang="en-IE" sz="2400" dirty="0"/>
              <a:t>).  It must be initialised, tested and changed.</a:t>
            </a:r>
          </a:p>
          <a:p>
            <a:endParaRPr lang="en-IE" sz="2400" dirty="0"/>
          </a:p>
          <a:p>
            <a:endParaRPr lang="en-IE" sz="2400" b="1" dirty="0">
              <a:solidFill>
                <a:srgbClr val="FF0000"/>
              </a:solidFill>
            </a:endParaRPr>
          </a:p>
          <a:p>
            <a:r>
              <a:rPr lang="en-IE" sz="2400" b="1" dirty="0" err="1">
                <a:solidFill>
                  <a:srgbClr val="FF0000"/>
                </a:solidFill>
              </a:rPr>
              <a:t>int</a:t>
            </a:r>
            <a:r>
              <a:rPr lang="en-IE" sz="2400" b="1" dirty="0">
                <a:solidFill>
                  <a:srgbClr val="FF0000"/>
                </a:solidFill>
              </a:rPr>
              <a:t> </a:t>
            </a:r>
            <a:r>
              <a:rPr lang="en-IE" sz="2400" b="1" dirty="0" err="1">
                <a:solidFill>
                  <a:srgbClr val="FF0000"/>
                </a:solidFill>
              </a:rPr>
              <a:t>i</a:t>
            </a:r>
            <a:r>
              <a:rPr lang="en-IE" sz="2400" b="1" dirty="0">
                <a:solidFill>
                  <a:srgbClr val="FF0000"/>
                </a:solidFill>
              </a:rPr>
              <a:t> = 0</a:t>
            </a:r>
            <a:r>
              <a:rPr lang="en-IE" sz="2400" dirty="0"/>
              <a:t> is the </a:t>
            </a:r>
            <a:r>
              <a:rPr lang="en-IE" sz="2400" b="1" dirty="0"/>
              <a:t>initialisation</a:t>
            </a:r>
            <a:r>
              <a:rPr lang="en-IE" sz="2400" dirty="0"/>
              <a:t>.</a:t>
            </a:r>
          </a:p>
          <a:p>
            <a:endParaRPr lang="en-IE" sz="2400" b="1" dirty="0">
              <a:solidFill>
                <a:srgbClr val="00B050"/>
              </a:solidFill>
            </a:endParaRPr>
          </a:p>
          <a:p>
            <a:r>
              <a:rPr lang="en-IE" sz="2400" b="1" dirty="0" err="1">
                <a:solidFill>
                  <a:srgbClr val="00B050"/>
                </a:solidFill>
              </a:rPr>
              <a:t>i</a:t>
            </a:r>
            <a:r>
              <a:rPr lang="en-IE" sz="2400" b="1" dirty="0">
                <a:solidFill>
                  <a:srgbClr val="00B050"/>
                </a:solidFill>
              </a:rPr>
              <a:t> &lt; </a:t>
            </a:r>
            <a:r>
              <a:rPr lang="en-IE" sz="2400" b="1" dirty="0" err="1">
                <a:solidFill>
                  <a:srgbClr val="00B050"/>
                </a:solidFill>
              </a:rPr>
              <a:t>notes.size</a:t>
            </a:r>
            <a:r>
              <a:rPr lang="en-IE" sz="2400" b="1" dirty="0">
                <a:solidFill>
                  <a:srgbClr val="00B050"/>
                </a:solidFill>
              </a:rPr>
              <a:t>() </a:t>
            </a:r>
            <a:r>
              <a:rPr lang="en-IE" sz="2400" dirty="0"/>
              <a:t>is the </a:t>
            </a:r>
            <a:r>
              <a:rPr lang="en-IE" sz="2400" b="1" dirty="0"/>
              <a:t>test</a:t>
            </a:r>
            <a:r>
              <a:rPr lang="en-IE" sz="2400" dirty="0"/>
              <a:t>.</a:t>
            </a:r>
          </a:p>
          <a:p>
            <a:endParaRPr lang="en-IE" sz="2400" b="1" dirty="0">
              <a:solidFill>
                <a:srgbClr val="0070C0"/>
              </a:solidFill>
            </a:endParaRPr>
          </a:p>
          <a:p>
            <a:r>
              <a:rPr lang="en-IE" sz="2400" b="1" dirty="0" err="1">
                <a:solidFill>
                  <a:srgbClr val="0070C0"/>
                </a:solidFill>
              </a:rPr>
              <a:t>i</a:t>
            </a:r>
            <a:r>
              <a:rPr lang="en-IE" sz="2400" b="1" dirty="0">
                <a:solidFill>
                  <a:srgbClr val="0070C0"/>
                </a:solidFill>
              </a:rPr>
              <a:t>++ </a:t>
            </a:r>
            <a:r>
              <a:rPr lang="en-IE" sz="2400" dirty="0"/>
              <a:t>is the post-body action i.e. the </a:t>
            </a:r>
            <a:r>
              <a:rPr lang="en-IE" sz="2400" b="1" dirty="0"/>
              <a:t>change</a:t>
            </a:r>
            <a:r>
              <a:rPr lang="en-IE" sz="2400" dirty="0"/>
              <a:t>.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9283" y="1066801"/>
            <a:ext cx="5026793" cy="2627902"/>
          </a:xfrm>
          <a:prstGeom prst="rect">
            <a:avLst/>
          </a:prstGeom>
          <a:ln>
            <a:solidFill>
              <a:schemeClr val="tx2"/>
            </a:solidFill>
          </a:ln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9283" y="3777540"/>
            <a:ext cx="5029475" cy="3009440"/>
          </a:xfrm>
          <a:prstGeom prst="rect">
            <a:avLst/>
          </a:prstGeom>
          <a:ln>
            <a:solidFill>
              <a:schemeClr val="tx2"/>
            </a:solidFill>
          </a:ln>
        </p:spPr>
      </p:pic>
    </p:spTree>
    <p:extLst>
      <p:ext uri="{BB962C8B-B14F-4D97-AF65-F5344CB8AC3E}">
        <p14:creationId xmlns:p14="http://schemas.microsoft.com/office/powerpoint/2010/main" val="427420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Topic list</a:t>
            </a:r>
            <a:endParaRPr lang="en-I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43238" y="1524000"/>
            <a:ext cx="8839200" cy="5105400"/>
          </a:xfrm>
        </p:spPr>
        <p:txBody>
          <a:bodyPr>
            <a:normAutofit fontScale="85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GB" dirty="0"/>
              <a:t>Grouping Objects </a:t>
            </a:r>
          </a:p>
          <a:p>
            <a:pPr lvl="1"/>
            <a:r>
              <a:rPr lang="en-GB" dirty="0"/>
              <a:t>Developing a basic personal notebook project using </a:t>
            </a:r>
            <a:r>
              <a:rPr lang="en-GB" b="1" dirty="0"/>
              <a:t>Collections</a:t>
            </a:r>
            <a:r>
              <a:rPr lang="en-GB" dirty="0"/>
              <a:t> </a:t>
            </a:r>
            <a:br>
              <a:rPr lang="en-GB" dirty="0"/>
            </a:br>
            <a:r>
              <a:rPr lang="en-GB" dirty="0"/>
              <a:t>e.g. </a:t>
            </a:r>
            <a:r>
              <a:rPr lang="en-GB" b="1" dirty="0" err="1"/>
              <a:t>ArrayList</a:t>
            </a:r>
            <a:endParaRPr lang="en-GB" b="1" dirty="0"/>
          </a:p>
          <a:p>
            <a:pPr marL="514350" indent="-514350">
              <a:buFont typeface="+mj-lt"/>
              <a:buAutoNum type="arabicPeriod"/>
            </a:pPr>
            <a:r>
              <a:rPr lang="en-GB" b="1" dirty="0"/>
              <a:t>Indexing</a:t>
            </a:r>
            <a:r>
              <a:rPr lang="en-GB" dirty="0"/>
              <a:t> within Collections</a:t>
            </a:r>
          </a:p>
          <a:p>
            <a:pPr lvl="1"/>
            <a:r>
              <a:rPr lang="en-GB" dirty="0"/>
              <a:t>Retrieval and removal of objects </a:t>
            </a:r>
          </a:p>
          <a:p>
            <a:pPr marL="514350" indent="-514350">
              <a:buFont typeface="+mj-lt"/>
              <a:buAutoNum type="arabicPeriod"/>
            </a:pPr>
            <a:r>
              <a:rPr lang="en-GB" b="1" dirty="0"/>
              <a:t>Generic classes </a:t>
            </a:r>
          </a:p>
          <a:p>
            <a:pPr lvl="1"/>
            <a:r>
              <a:rPr lang="en-GB" dirty="0"/>
              <a:t>e.g. </a:t>
            </a:r>
            <a:r>
              <a:rPr lang="en-GB" dirty="0" err="1"/>
              <a:t>ArrayList</a:t>
            </a:r>
            <a:endParaRPr lang="en-GB" dirty="0"/>
          </a:p>
          <a:p>
            <a:pPr marL="514350" indent="-514350">
              <a:buFont typeface="+mj-lt"/>
              <a:buAutoNum type="arabicPeriod"/>
            </a:pPr>
            <a:r>
              <a:rPr lang="en-GB" b="1" dirty="0"/>
              <a:t>Iteration</a:t>
            </a:r>
          </a:p>
          <a:p>
            <a:pPr lvl="1"/>
            <a:r>
              <a:rPr lang="en-GB" dirty="0"/>
              <a:t>Using the for loop</a:t>
            </a:r>
          </a:p>
          <a:p>
            <a:pPr lvl="1"/>
            <a:r>
              <a:rPr lang="en-GB" dirty="0"/>
              <a:t>Using the while loop</a:t>
            </a:r>
          </a:p>
          <a:p>
            <a:pPr lvl="1"/>
            <a:r>
              <a:rPr lang="en-GB" dirty="0"/>
              <a:t>Using the </a:t>
            </a:r>
            <a:r>
              <a:rPr lang="en-GB" b="1" dirty="0"/>
              <a:t>for each </a:t>
            </a:r>
            <a:r>
              <a:rPr lang="en-GB" dirty="0"/>
              <a:t>loop</a:t>
            </a:r>
          </a:p>
          <a:p>
            <a:r>
              <a:rPr lang="en-IE" dirty="0">
                <a:solidFill>
                  <a:schemeClr val="bg1">
                    <a:lumMod val="50000"/>
                  </a:schemeClr>
                </a:solidFill>
              </a:rPr>
              <a:t>Next </a:t>
            </a:r>
            <a:r>
              <a:rPr lang="en-IE" dirty="0" err="1">
                <a:solidFill>
                  <a:schemeClr val="bg1">
                    <a:lumMod val="50000"/>
                  </a:schemeClr>
                </a:solidFill>
              </a:rPr>
              <a:t>SlideDeck</a:t>
            </a:r>
            <a:r>
              <a:rPr lang="en-IE" dirty="0">
                <a:solidFill>
                  <a:schemeClr val="bg1">
                    <a:lumMod val="50000"/>
                  </a:schemeClr>
                </a:solidFill>
              </a:rPr>
              <a:t>: </a:t>
            </a:r>
            <a:br>
              <a:rPr lang="en-IE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IE" dirty="0">
                <a:solidFill>
                  <a:schemeClr val="bg1">
                    <a:lumMod val="50000"/>
                  </a:schemeClr>
                </a:solidFill>
              </a:rPr>
              <a:t>coding a Shop Project that stores an </a:t>
            </a:r>
            <a:r>
              <a:rPr lang="en-IE" dirty="0" err="1">
                <a:solidFill>
                  <a:schemeClr val="bg1">
                    <a:lumMod val="50000"/>
                  </a:schemeClr>
                </a:solidFill>
              </a:rPr>
              <a:t>ArrayList</a:t>
            </a:r>
            <a:r>
              <a:rPr lang="en-IE" dirty="0">
                <a:solidFill>
                  <a:schemeClr val="bg1">
                    <a:lumMod val="50000"/>
                  </a:schemeClr>
                </a:solidFill>
              </a:rPr>
              <a:t> of Products.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1843238" y="4191000"/>
            <a:ext cx="8748562" cy="1524000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6" name="Right Arrow 5"/>
          <p:cNvSpPr/>
          <p:nvPr/>
        </p:nvSpPr>
        <p:spPr>
          <a:xfrm>
            <a:off x="1257300" y="5334000"/>
            <a:ext cx="990600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5-Point Star 6"/>
          <p:cNvSpPr/>
          <p:nvPr/>
        </p:nvSpPr>
        <p:spPr>
          <a:xfrm>
            <a:off x="5638800" y="5259658"/>
            <a:ext cx="355834" cy="355834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9355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for each </a:t>
            </a:r>
            <a:r>
              <a:rPr lang="en-US" dirty="0"/>
              <a:t>loop: pseudo code</a:t>
            </a:r>
          </a:p>
        </p:txBody>
      </p:sp>
      <p:sp>
        <p:nvSpPr>
          <p:cNvPr id="69635" name="Text Box 3"/>
          <p:cNvSpPr txBox="1">
            <a:spLocks noChangeArrowheads="1"/>
          </p:cNvSpPr>
          <p:nvPr/>
        </p:nvSpPr>
        <p:spPr bwMode="auto">
          <a:xfrm>
            <a:off x="4267200" y="3124200"/>
            <a:ext cx="4953000" cy="82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en-US" sz="1600"/>
              <a:t>for(</a:t>
            </a:r>
            <a:r>
              <a:rPr lang="en-US" sz="1600" i="1"/>
              <a:t>ElementType element : collection</a:t>
            </a:r>
            <a:r>
              <a:rPr lang="en-US" sz="1600"/>
              <a:t>) {</a:t>
            </a:r>
          </a:p>
          <a:p>
            <a:r>
              <a:rPr lang="en-US" sz="1600"/>
              <a:t>    </a:t>
            </a:r>
            <a:r>
              <a:rPr lang="en-US" sz="1600" i="1"/>
              <a:t>loop body</a:t>
            </a:r>
            <a:endParaRPr lang="en-US" sz="1600"/>
          </a:p>
          <a:p>
            <a:r>
              <a:rPr lang="en-US" sz="1600"/>
              <a:t>} </a:t>
            </a:r>
          </a:p>
        </p:txBody>
      </p:sp>
      <p:sp>
        <p:nvSpPr>
          <p:cNvPr id="69636" name="Text Box 4"/>
          <p:cNvSpPr txBox="1">
            <a:spLocks noChangeArrowheads="1"/>
          </p:cNvSpPr>
          <p:nvPr/>
        </p:nvSpPr>
        <p:spPr bwMode="auto">
          <a:xfrm>
            <a:off x="2917826" y="5500688"/>
            <a:ext cx="69246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latin typeface="Trebuchet MS" pitchFamily="-32" charset="0"/>
              </a:rPr>
              <a:t>For each </a:t>
            </a:r>
            <a:r>
              <a:rPr lang="en-US" i="1">
                <a:latin typeface="Trebuchet MS" pitchFamily="-32" charset="0"/>
              </a:rPr>
              <a:t>element</a:t>
            </a:r>
            <a:r>
              <a:rPr lang="en-US">
                <a:latin typeface="Trebuchet MS" pitchFamily="-32" charset="0"/>
              </a:rPr>
              <a:t> in </a:t>
            </a:r>
            <a:r>
              <a:rPr lang="en-US" i="1">
                <a:latin typeface="Trebuchet MS" pitchFamily="-32" charset="0"/>
              </a:rPr>
              <a:t>collection</a:t>
            </a:r>
            <a:r>
              <a:rPr lang="en-US">
                <a:latin typeface="Trebuchet MS" pitchFamily="-32" charset="0"/>
              </a:rPr>
              <a:t>, do the things in the </a:t>
            </a:r>
            <a:r>
              <a:rPr lang="en-US" i="1">
                <a:latin typeface="Trebuchet MS" pitchFamily="-32" charset="0"/>
              </a:rPr>
              <a:t>loop body</a:t>
            </a:r>
            <a:r>
              <a:rPr lang="en-US" sz="1600">
                <a:latin typeface="Trebuchet MS" pitchFamily="-32" charset="0"/>
              </a:rPr>
              <a:t>.</a:t>
            </a:r>
          </a:p>
        </p:txBody>
      </p:sp>
      <p:sp>
        <p:nvSpPr>
          <p:cNvPr id="69637" name="AutoShape 5"/>
          <p:cNvSpPr>
            <a:spLocks noChangeArrowheads="1"/>
          </p:cNvSpPr>
          <p:nvPr/>
        </p:nvSpPr>
        <p:spPr bwMode="auto">
          <a:xfrm>
            <a:off x="6096000" y="2438400"/>
            <a:ext cx="1447800" cy="4572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A57133"/>
                </a:solidFill>
                <a:latin typeface="Trebuchet MS" pitchFamily="-32" charset="0"/>
              </a:rPr>
              <a:t>loop header</a:t>
            </a:r>
          </a:p>
        </p:txBody>
      </p:sp>
      <p:sp>
        <p:nvSpPr>
          <p:cNvPr id="69638" name="Line 6"/>
          <p:cNvSpPr>
            <a:spLocks noChangeShapeType="1"/>
          </p:cNvSpPr>
          <p:nvPr/>
        </p:nvSpPr>
        <p:spPr bwMode="auto">
          <a:xfrm flipH="1">
            <a:off x="4876800" y="2667000"/>
            <a:ext cx="1219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E"/>
          </a:p>
        </p:txBody>
      </p:sp>
      <p:sp>
        <p:nvSpPr>
          <p:cNvPr id="69639" name="AutoShape 7"/>
          <p:cNvSpPr>
            <a:spLocks noChangeArrowheads="1"/>
          </p:cNvSpPr>
          <p:nvPr/>
        </p:nvSpPr>
        <p:spPr bwMode="auto">
          <a:xfrm>
            <a:off x="2667000" y="2286000"/>
            <a:ext cx="1905000" cy="4572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dirty="0">
                <a:solidFill>
                  <a:srgbClr val="A57133"/>
                </a:solidFill>
              </a:rPr>
              <a:t>for</a:t>
            </a:r>
            <a:r>
              <a:rPr lang="en-US" dirty="0">
                <a:solidFill>
                  <a:srgbClr val="A57133"/>
                </a:solidFill>
                <a:latin typeface="Times New Roman" pitchFamily="-32" charset="0"/>
              </a:rPr>
              <a:t> </a:t>
            </a:r>
            <a:r>
              <a:rPr lang="en-US" dirty="0">
                <a:solidFill>
                  <a:srgbClr val="A57133"/>
                </a:solidFill>
                <a:latin typeface="Trebuchet MS" pitchFamily="-32" charset="0"/>
              </a:rPr>
              <a:t>keyword</a:t>
            </a:r>
          </a:p>
        </p:txBody>
      </p:sp>
      <p:sp>
        <p:nvSpPr>
          <p:cNvPr id="69640" name="Line 8"/>
          <p:cNvSpPr>
            <a:spLocks noChangeShapeType="1"/>
          </p:cNvSpPr>
          <p:nvPr/>
        </p:nvSpPr>
        <p:spPr bwMode="auto">
          <a:xfrm>
            <a:off x="3581400" y="2743200"/>
            <a:ext cx="914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E"/>
          </a:p>
        </p:txBody>
      </p:sp>
      <p:sp>
        <p:nvSpPr>
          <p:cNvPr id="69641" name="AutoShape 9"/>
          <p:cNvSpPr>
            <a:spLocks noChangeArrowheads="1"/>
          </p:cNvSpPr>
          <p:nvPr/>
        </p:nvSpPr>
        <p:spPr bwMode="auto">
          <a:xfrm>
            <a:off x="7086600" y="3733800"/>
            <a:ext cx="3124200" cy="4572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A57133"/>
                </a:solidFill>
                <a:latin typeface="Trebuchet MS" pitchFamily="-32" charset="0"/>
              </a:rPr>
              <a:t>Statement(s) to be repeated</a:t>
            </a:r>
          </a:p>
        </p:txBody>
      </p:sp>
      <p:sp>
        <p:nvSpPr>
          <p:cNvPr id="69642" name="Line 10"/>
          <p:cNvSpPr>
            <a:spLocks noChangeShapeType="1"/>
          </p:cNvSpPr>
          <p:nvPr/>
        </p:nvSpPr>
        <p:spPr bwMode="auto">
          <a:xfrm flipH="1" flipV="1">
            <a:off x="5410200" y="3567112"/>
            <a:ext cx="1676400" cy="3952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E"/>
          </a:p>
        </p:txBody>
      </p:sp>
      <p:sp>
        <p:nvSpPr>
          <p:cNvPr id="69643" name="AutoShape 11"/>
          <p:cNvSpPr>
            <a:spLocks noChangeArrowheads="1"/>
          </p:cNvSpPr>
          <p:nvPr/>
        </p:nvSpPr>
        <p:spPr bwMode="auto">
          <a:xfrm>
            <a:off x="4114800" y="4584700"/>
            <a:ext cx="4419600" cy="7493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>
                    <a:alpha val="50000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dirty="0">
                <a:solidFill>
                  <a:srgbClr val="A57133"/>
                </a:solidFill>
                <a:latin typeface="Trebuchet MS" pitchFamily="-32" charset="0"/>
              </a:rPr>
              <a:t>Pseudo-code expression of the actions of a </a:t>
            </a:r>
            <a:r>
              <a:rPr lang="en-US" b="1" dirty="0">
                <a:solidFill>
                  <a:srgbClr val="A57133"/>
                </a:solidFill>
                <a:latin typeface="Trebuchet MS" pitchFamily="-32" charset="0"/>
              </a:rPr>
              <a:t>for-each</a:t>
            </a:r>
            <a:r>
              <a:rPr lang="en-US" dirty="0">
                <a:solidFill>
                  <a:srgbClr val="A57133"/>
                </a:solidFill>
                <a:latin typeface="Trebuchet MS" pitchFamily="-32" charset="0"/>
              </a:rPr>
              <a:t> loop</a:t>
            </a:r>
          </a:p>
        </p:txBody>
      </p:sp>
      <p:sp>
        <p:nvSpPr>
          <p:cNvPr id="69644" name="AutoShape 12"/>
          <p:cNvSpPr>
            <a:spLocks noChangeArrowheads="1"/>
          </p:cNvSpPr>
          <p:nvPr/>
        </p:nvSpPr>
        <p:spPr bwMode="auto">
          <a:xfrm>
            <a:off x="4648200" y="1828800"/>
            <a:ext cx="3581400" cy="3810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>
                    <a:alpha val="50000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45791" dir="2021404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dirty="0">
                <a:solidFill>
                  <a:srgbClr val="A57133"/>
                </a:solidFill>
                <a:latin typeface="Trebuchet MS" pitchFamily="-32" charset="0"/>
              </a:rPr>
              <a:t>General form of the </a:t>
            </a:r>
            <a:r>
              <a:rPr lang="en-US" b="1" dirty="0">
                <a:solidFill>
                  <a:srgbClr val="A57133"/>
                </a:solidFill>
                <a:latin typeface="Trebuchet MS" pitchFamily="-32" charset="0"/>
              </a:rPr>
              <a:t>for-each</a:t>
            </a:r>
            <a:r>
              <a:rPr lang="en-US" dirty="0">
                <a:solidFill>
                  <a:srgbClr val="A57133"/>
                </a:solidFill>
                <a:latin typeface="Trebuchet MS" pitchFamily="-32" charset="0"/>
              </a:rPr>
              <a:t> loop</a:t>
            </a:r>
          </a:p>
        </p:txBody>
      </p:sp>
      <p:sp>
        <p:nvSpPr>
          <p:cNvPr id="69645" name="Rectangle 13"/>
          <p:cNvSpPr>
            <a:spLocks noChangeArrowheads="1"/>
          </p:cNvSpPr>
          <p:nvPr/>
        </p:nvSpPr>
        <p:spPr bwMode="auto">
          <a:xfrm>
            <a:off x="4267200" y="3220844"/>
            <a:ext cx="3352800" cy="79977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en-IE"/>
          </a:p>
        </p:txBody>
      </p:sp>
      <p:sp>
        <p:nvSpPr>
          <p:cNvPr id="69647" name="AutoShape 15"/>
          <p:cNvSpPr>
            <a:spLocks noChangeArrowheads="1"/>
          </p:cNvSpPr>
          <p:nvPr/>
        </p:nvSpPr>
        <p:spPr bwMode="auto">
          <a:xfrm flipH="1" flipV="1">
            <a:off x="3048000" y="3320534"/>
            <a:ext cx="990600" cy="369332"/>
          </a:xfrm>
          <a:prstGeom prst="curvedLeftArrow">
            <a:avLst>
              <a:gd name="adj1" fmla="val 20000"/>
              <a:gd name="adj2" fmla="val 40000"/>
              <a:gd name="adj3" fmla="val 43333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557699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35" grpId="0"/>
      <p:bldP spid="69636" grpId="0"/>
      <p:bldP spid="69637" grpId="0" animBg="1"/>
      <p:bldP spid="69638" grpId="0" animBg="1"/>
      <p:bldP spid="69639" grpId="0" animBg="1"/>
      <p:bldP spid="69640" grpId="0" animBg="1"/>
      <p:bldP spid="69641" grpId="0" animBg="1"/>
      <p:bldP spid="69642" grpId="0" animBg="1"/>
      <p:bldP spid="69643" grpId="0" animBg="1"/>
      <p:bldP spid="69644" grpId="0" animBg="1"/>
      <p:bldP spid="69645" grpId="0" animBg="1"/>
      <p:bldP spid="69647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for each </a:t>
            </a:r>
            <a:r>
              <a:rPr lang="en-US" sz="3600" dirty="0"/>
              <a:t>loop: </a:t>
            </a:r>
            <a:r>
              <a:rPr lang="en-US" sz="3600" b="1" dirty="0"/>
              <a:t>iterating</a:t>
            </a:r>
            <a:r>
              <a:rPr lang="en-US" sz="3600" dirty="0"/>
              <a:t> over </a:t>
            </a:r>
            <a:r>
              <a:rPr lang="en-US" sz="3600" b="1" dirty="0"/>
              <a:t>a collection</a:t>
            </a:r>
            <a:endParaRPr lang="en-IE" sz="3600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4575" y="1676400"/>
            <a:ext cx="7562850" cy="4057650"/>
          </a:xfrm>
          <a:prstGeom prst="rect">
            <a:avLst/>
          </a:prstGeom>
          <a:ln>
            <a:solidFill>
              <a:schemeClr val="tx2"/>
            </a:solidFill>
          </a:ln>
        </p:spPr>
      </p:pic>
      <p:sp>
        <p:nvSpPr>
          <p:cNvPr id="4" name="AutoShape 17"/>
          <p:cNvSpPr>
            <a:spLocks noChangeArrowheads="1"/>
          </p:cNvSpPr>
          <p:nvPr/>
        </p:nvSpPr>
        <p:spPr bwMode="auto">
          <a:xfrm>
            <a:off x="1653103" y="6019800"/>
            <a:ext cx="8582799" cy="523220"/>
          </a:xfrm>
          <a:prstGeom prst="roundRect">
            <a:avLst>
              <a:gd name="adj" fmla="val 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en-GB" sz="2800" dirty="0">
                <a:solidFill>
                  <a:srgbClr val="A57133"/>
                </a:solidFill>
                <a:latin typeface="Trebuchet MS" pitchFamily="-32" charset="0"/>
              </a:rPr>
              <a:t>for each </a:t>
            </a:r>
            <a:r>
              <a:rPr lang="en-GB" sz="2800" i="1" dirty="0">
                <a:solidFill>
                  <a:srgbClr val="A57133"/>
                </a:solidFill>
                <a:latin typeface="Trebuchet MS" pitchFamily="-32" charset="0"/>
              </a:rPr>
              <a:t>note</a:t>
            </a:r>
            <a:r>
              <a:rPr lang="en-GB" sz="2800" dirty="0">
                <a:solidFill>
                  <a:srgbClr val="A57133"/>
                </a:solidFill>
                <a:latin typeface="Trebuchet MS" pitchFamily="-32" charset="0"/>
              </a:rPr>
              <a:t> in the </a:t>
            </a:r>
            <a:r>
              <a:rPr lang="en-GB" sz="2800" i="1" dirty="0">
                <a:solidFill>
                  <a:srgbClr val="A57133"/>
                </a:solidFill>
                <a:latin typeface="Trebuchet MS" pitchFamily="-32" charset="0"/>
              </a:rPr>
              <a:t>notes </a:t>
            </a:r>
            <a:r>
              <a:rPr lang="en-GB" sz="2800" dirty="0">
                <a:solidFill>
                  <a:srgbClr val="A57133"/>
                </a:solidFill>
                <a:latin typeface="Trebuchet MS" pitchFamily="-32" charset="0"/>
              </a:rPr>
              <a:t>collection, print out </a:t>
            </a:r>
            <a:r>
              <a:rPr lang="en-GB" sz="2800" i="1" dirty="0">
                <a:solidFill>
                  <a:srgbClr val="A57133"/>
                </a:solidFill>
                <a:latin typeface="Trebuchet MS" pitchFamily="-32" charset="0"/>
              </a:rPr>
              <a:t>note</a:t>
            </a:r>
          </a:p>
        </p:txBody>
      </p:sp>
    </p:spTree>
    <p:extLst>
      <p:ext uri="{BB962C8B-B14F-4D97-AF65-F5344CB8AC3E}">
        <p14:creationId xmlns:p14="http://schemas.microsoft.com/office/powerpoint/2010/main" val="428369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for each </a:t>
            </a:r>
            <a:r>
              <a:rPr lang="en-GB" dirty="0"/>
              <a:t>loop</a:t>
            </a:r>
          </a:p>
        </p:txBody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GB" dirty="0"/>
              <a:t>Can only be used for </a:t>
            </a:r>
            <a:r>
              <a:rPr lang="en-GB" b="1" dirty="0"/>
              <a:t>access</a:t>
            </a:r>
            <a:r>
              <a:rPr lang="en-GB" dirty="0"/>
              <a:t>; </a:t>
            </a:r>
          </a:p>
          <a:p>
            <a:pPr lvl="1">
              <a:lnSpc>
                <a:spcPct val="90000"/>
              </a:lnSpc>
            </a:pPr>
            <a:r>
              <a:rPr lang="en-GB" dirty="0"/>
              <a:t>you can’t remove the retrieved elements.</a:t>
            </a:r>
          </a:p>
          <a:p>
            <a:pPr>
              <a:lnSpc>
                <a:spcPct val="90000"/>
              </a:lnSpc>
            </a:pPr>
            <a:endParaRPr lang="en-GB" dirty="0"/>
          </a:p>
          <a:p>
            <a:pPr>
              <a:lnSpc>
                <a:spcPct val="90000"/>
              </a:lnSpc>
            </a:pPr>
            <a:r>
              <a:rPr lang="en-GB" dirty="0"/>
              <a:t>Can only loop forward in single steps.</a:t>
            </a:r>
          </a:p>
          <a:p>
            <a:pPr>
              <a:lnSpc>
                <a:spcPct val="90000"/>
              </a:lnSpc>
            </a:pPr>
            <a:endParaRPr lang="en-GB" dirty="0"/>
          </a:p>
          <a:p>
            <a:pPr>
              <a:lnSpc>
                <a:spcPct val="90000"/>
              </a:lnSpc>
            </a:pPr>
            <a:r>
              <a:rPr lang="en-GB" dirty="0"/>
              <a:t>Cannot use to compare two collections.</a:t>
            </a:r>
          </a:p>
          <a:p>
            <a:pPr>
              <a:lnSpc>
                <a:spcPct val="90000"/>
              </a:lnSpc>
            </a:pPr>
            <a:endParaRPr lang="en-GB" dirty="0"/>
          </a:p>
          <a:p>
            <a:pPr>
              <a:lnSpc>
                <a:spcPct val="90000"/>
              </a:lnSpc>
            </a:pPr>
            <a:endParaRPr lang="en-GB" dirty="0"/>
          </a:p>
          <a:p>
            <a:pPr>
              <a:lnSpc>
                <a:spcPct val="90000"/>
              </a:lnSpc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28204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07" grpId="0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for each </a:t>
            </a:r>
            <a:r>
              <a:rPr lang="en-GB" b="1" dirty="0"/>
              <a:t>versus</a:t>
            </a:r>
            <a:r>
              <a:rPr lang="en-GB" dirty="0"/>
              <a:t> while</a:t>
            </a:r>
          </a:p>
        </p:txBody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GB" dirty="0"/>
              <a:t>for-each:</a:t>
            </a:r>
          </a:p>
          <a:p>
            <a:pPr lvl="1">
              <a:lnSpc>
                <a:spcPct val="90000"/>
              </a:lnSpc>
            </a:pPr>
            <a:r>
              <a:rPr lang="en-GB" b="1" dirty="0"/>
              <a:t>easier to write</a:t>
            </a:r>
            <a:r>
              <a:rPr lang="en-GB" dirty="0"/>
              <a:t>.</a:t>
            </a:r>
          </a:p>
          <a:p>
            <a:pPr lvl="1">
              <a:lnSpc>
                <a:spcPct val="90000"/>
              </a:lnSpc>
            </a:pPr>
            <a:r>
              <a:rPr lang="en-GB" b="1" dirty="0"/>
              <a:t>safer</a:t>
            </a:r>
            <a:r>
              <a:rPr lang="en-GB" dirty="0"/>
              <a:t>: it is guaranteed to stop.</a:t>
            </a:r>
          </a:p>
          <a:p>
            <a:pPr marL="457200" lvl="1" indent="0">
              <a:lnSpc>
                <a:spcPct val="90000"/>
              </a:lnSpc>
              <a:buNone/>
            </a:pPr>
            <a:endParaRPr lang="en-GB" dirty="0"/>
          </a:p>
          <a:p>
            <a:pPr>
              <a:lnSpc>
                <a:spcPct val="90000"/>
              </a:lnSpc>
            </a:pPr>
            <a:r>
              <a:rPr lang="en-GB" dirty="0"/>
              <a:t>while:</a:t>
            </a:r>
          </a:p>
          <a:p>
            <a:pPr lvl="1">
              <a:lnSpc>
                <a:spcPct val="90000"/>
              </a:lnSpc>
            </a:pPr>
            <a:r>
              <a:rPr lang="en-GB" dirty="0"/>
              <a:t>we </a:t>
            </a:r>
            <a:r>
              <a:rPr lang="en-GB" b="1" dirty="0"/>
              <a:t>don’t </a:t>
            </a:r>
            <a:r>
              <a:rPr lang="en-GB" b="1" i="1" dirty="0"/>
              <a:t>have</a:t>
            </a:r>
            <a:r>
              <a:rPr lang="en-GB" b="1" dirty="0"/>
              <a:t> to process the whole collection</a:t>
            </a:r>
            <a:r>
              <a:rPr lang="en-GB" dirty="0"/>
              <a:t>. </a:t>
            </a:r>
          </a:p>
          <a:p>
            <a:pPr lvl="1">
              <a:lnSpc>
                <a:spcPct val="90000"/>
              </a:lnSpc>
            </a:pPr>
            <a:r>
              <a:rPr lang="en-GB" dirty="0"/>
              <a:t>doesn’t even have to be used with a collection.</a:t>
            </a:r>
          </a:p>
          <a:p>
            <a:pPr lvl="1">
              <a:lnSpc>
                <a:spcPct val="90000"/>
              </a:lnSpc>
            </a:pPr>
            <a:r>
              <a:rPr lang="en-GB" dirty="0"/>
              <a:t>take care: could be an </a:t>
            </a:r>
            <a:r>
              <a:rPr lang="en-GB" i="1" dirty="0"/>
              <a:t>infinite loop</a:t>
            </a:r>
            <a:r>
              <a:rPr lang="en-GB" dirty="0"/>
              <a:t>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1752600"/>
            <a:ext cx="1428750" cy="142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106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0"/>
            <a:ext cx="8229600" cy="5181600"/>
          </a:xfrm>
        </p:spPr>
        <p:txBody>
          <a:bodyPr>
            <a:normAutofit lnSpcReduction="10000"/>
          </a:bodyPr>
          <a:lstStyle/>
          <a:p>
            <a:r>
              <a:rPr lang="en-GB" dirty="0"/>
              <a:t>Java </a:t>
            </a:r>
            <a:r>
              <a:rPr lang="en-GB" b="1" dirty="0"/>
              <a:t>Collections</a:t>
            </a:r>
            <a:r>
              <a:rPr lang="en-GB" dirty="0"/>
              <a:t> Framework</a:t>
            </a:r>
          </a:p>
          <a:p>
            <a:pPr lvl="1"/>
            <a:r>
              <a:rPr lang="en-GB" dirty="0" err="1"/>
              <a:t>ArrayList</a:t>
            </a:r>
            <a:endParaRPr lang="en-GB" dirty="0"/>
          </a:p>
          <a:p>
            <a:r>
              <a:rPr lang="en-US" sz="2200" dirty="0">
                <a:latin typeface="Courier New" charset="0"/>
                <a:ea typeface="Courier New" charset="0"/>
                <a:cs typeface="Courier New" charset="0"/>
              </a:rPr>
              <a:t>import </a:t>
            </a:r>
            <a:r>
              <a:rPr lang="en-US" sz="2200" dirty="0" err="1">
                <a:latin typeface="Courier New" charset="0"/>
                <a:ea typeface="Courier New" charset="0"/>
                <a:cs typeface="Courier New" charset="0"/>
              </a:rPr>
              <a:t>java.util.</a:t>
            </a:r>
            <a:r>
              <a:rPr lang="en-US" sz="2200" b="1" dirty="0" err="1">
                <a:latin typeface="Courier New" charset="0"/>
                <a:ea typeface="Courier New" charset="0"/>
                <a:cs typeface="Courier New" charset="0"/>
              </a:rPr>
              <a:t>ArrayList</a:t>
            </a:r>
            <a:r>
              <a:rPr lang="en-US" sz="2200" dirty="0">
                <a:latin typeface="Courier New" charset="0"/>
                <a:ea typeface="Courier New" charset="0"/>
                <a:cs typeface="Courier New" charset="0"/>
              </a:rPr>
              <a:t>;</a:t>
            </a:r>
          </a:p>
          <a:p>
            <a:r>
              <a:rPr lang="en-US" sz="2200" dirty="0">
                <a:latin typeface="Courier New" charset="0"/>
                <a:ea typeface="Courier New" charset="0"/>
                <a:cs typeface="Courier New" charset="0"/>
              </a:rPr>
              <a:t>private </a:t>
            </a:r>
            <a:r>
              <a:rPr lang="en-US" sz="2200" b="1" dirty="0" err="1">
                <a:solidFill>
                  <a:srgbClr val="FF0000"/>
                </a:solidFill>
                <a:latin typeface="Courier New" charset="0"/>
                <a:ea typeface="Courier New" charset="0"/>
                <a:cs typeface="Courier New" charset="0"/>
              </a:rPr>
              <a:t>ArrayList</a:t>
            </a:r>
            <a:r>
              <a:rPr lang="en-US" sz="2200" b="1" dirty="0">
                <a:solidFill>
                  <a:srgbClr val="FF0000"/>
                </a:solidFill>
                <a:latin typeface="Courier New" charset="0"/>
                <a:ea typeface="Courier New" charset="0"/>
                <a:cs typeface="Courier New" charset="0"/>
              </a:rPr>
              <a:t> &lt;String&gt; </a:t>
            </a:r>
            <a:r>
              <a:rPr lang="en-US" sz="2200" dirty="0">
                <a:latin typeface="Courier New" charset="0"/>
                <a:ea typeface="Courier New" charset="0"/>
                <a:cs typeface="Courier New" charset="0"/>
              </a:rPr>
              <a:t>notes;</a:t>
            </a:r>
          </a:p>
          <a:p>
            <a:r>
              <a:rPr lang="en-US" sz="2200" dirty="0">
                <a:latin typeface="Courier New" charset="0"/>
                <a:ea typeface="Courier New" charset="0"/>
                <a:cs typeface="Courier New" charset="0"/>
              </a:rPr>
              <a:t>notes = new </a:t>
            </a:r>
            <a:r>
              <a:rPr lang="en-US" sz="2200" b="1" dirty="0" err="1">
                <a:solidFill>
                  <a:srgbClr val="FF0000"/>
                </a:solidFill>
                <a:latin typeface="Courier New" charset="0"/>
                <a:ea typeface="Courier New" charset="0"/>
                <a:cs typeface="Courier New" charset="0"/>
              </a:rPr>
              <a:t>ArrayList</a:t>
            </a:r>
            <a:r>
              <a:rPr lang="en-US" sz="2200" b="1" dirty="0">
                <a:solidFill>
                  <a:srgbClr val="FF0000"/>
                </a:solidFill>
                <a:latin typeface="Courier New" charset="0"/>
                <a:ea typeface="Courier New" charset="0"/>
                <a:cs typeface="Courier New" charset="0"/>
              </a:rPr>
              <a:t> &lt;String&gt;</a:t>
            </a:r>
            <a:r>
              <a:rPr lang="en-US" sz="2200" dirty="0">
                <a:latin typeface="Courier New" charset="0"/>
                <a:ea typeface="Courier New" charset="0"/>
                <a:cs typeface="Courier New" charset="0"/>
              </a:rPr>
              <a:t>();</a:t>
            </a:r>
          </a:p>
          <a:p>
            <a:r>
              <a:rPr lang="en-US" sz="2200" dirty="0" err="1">
                <a:latin typeface="Courier New" charset="0"/>
                <a:ea typeface="Courier New" charset="0"/>
                <a:cs typeface="Courier New" charset="0"/>
              </a:rPr>
              <a:t>notes.</a:t>
            </a:r>
            <a:r>
              <a:rPr lang="en-US" sz="2200" b="1" dirty="0" err="1">
                <a:latin typeface="Courier New" charset="0"/>
                <a:ea typeface="Courier New" charset="0"/>
                <a:cs typeface="Courier New" charset="0"/>
              </a:rPr>
              <a:t>add</a:t>
            </a:r>
            <a:r>
              <a:rPr lang="en-US" sz="2200" b="1" dirty="0">
                <a:latin typeface="Courier New" charset="0"/>
                <a:ea typeface="Courier New" charset="0"/>
                <a:cs typeface="Courier New" charset="0"/>
              </a:rPr>
              <a:t>(</a:t>
            </a:r>
            <a:r>
              <a:rPr lang="en-US" sz="2200" dirty="0">
                <a:latin typeface="Courier New" charset="0"/>
                <a:ea typeface="Courier New" charset="0"/>
                <a:cs typeface="Courier New" charset="0"/>
              </a:rPr>
              <a:t>note);</a:t>
            </a:r>
          </a:p>
          <a:p>
            <a:r>
              <a:rPr lang="en-US" sz="2200" dirty="0" err="1">
                <a:latin typeface="Courier New" charset="0"/>
                <a:ea typeface="Courier New" charset="0"/>
                <a:cs typeface="Courier New" charset="0"/>
              </a:rPr>
              <a:t>notes.</a:t>
            </a:r>
            <a:r>
              <a:rPr lang="en-US" sz="2200" b="1" dirty="0" err="1">
                <a:latin typeface="Courier New" charset="0"/>
                <a:ea typeface="Courier New" charset="0"/>
                <a:cs typeface="Courier New" charset="0"/>
              </a:rPr>
              <a:t>size</a:t>
            </a:r>
            <a:r>
              <a:rPr lang="en-US" sz="2200" dirty="0">
                <a:latin typeface="Courier New" charset="0"/>
                <a:ea typeface="Courier New" charset="0"/>
                <a:cs typeface="Courier New" charset="0"/>
              </a:rPr>
              <a:t>();</a:t>
            </a:r>
          </a:p>
          <a:p>
            <a:r>
              <a:rPr lang="en-IE" sz="2200" noProof="1">
                <a:latin typeface="Courier New" charset="0"/>
                <a:ea typeface="Courier New" charset="0"/>
                <a:cs typeface="Courier New" charset="0"/>
              </a:rPr>
              <a:t>notes.</a:t>
            </a:r>
            <a:r>
              <a:rPr lang="en-IE" sz="2200" b="1" noProof="1">
                <a:latin typeface="Courier New" charset="0"/>
                <a:ea typeface="Courier New" charset="0"/>
                <a:cs typeface="Courier New" charset="0"/>
              </a:rPr>
              <a:t>get</a:t>
            </a:r>
            <a:r>
              <a:rPr lang="en-IE" sz="2200" noProof="1">
                <a:latin typeface="Courier New" charset="0"/>
                <a:ea typeface="Courier New" charset="0"/>
                <a:cs typeface="Courier New" charset="0"/>
              </a:rPr>
              <a:t>(noteNumber)</a:t>
            </a:r>
          </a:p>
          <a:p>
            <a:r>
              <a:rPr lang="en-US" sz="2200" noProof="1">
                <a:latin typeface="Courier New" charset="0"/>
                <a:ea typeface="Courier New" charset="0"/>
                <a:cs typeface="Courier New" charset="0"/>
              </a:rPr>
              <a:t>notes.</a:t>
            </a:r>
            <a:r>
              <a:rPr lang="en-US" sz="2200" b="1" noProof="1">
                <a:latin typeface="Courier New" charset="0"/>
                <a:ea typeface="Courier New" charset="0"/>
                <a:cs typeface="Courier New" charset="0"/>
              </a:rPr>
              <a:t>remove</a:t>
            </a:r>
            <a:r>
              <a:rPr lang="en-US" sz="2200" noProof="1">
                <a:latin typeface="Courier New" charset="0"/>
                <a:ea typeface="Courier New" charset="0"/>
                <a:cs typeface="Courier New" charset="0"/>
              </a:rPr>
              <a:t>(noteNumber);</a:t>
            </a:r>
          </a:p>
          <a:p>
            <a:r>
              <a:rPr lang="en-US" b="1" noProof="1"/>
              <a:t>Iterating collections</a:t>
            </a:r>
          </a:p>
          <a:p>
            <a:pPr lvl="1"/>
            <a:r>
              <a:rPr lang="en-US" b="1" noProof="1">
                <a:solidFill>
                  <a:srgbClr val="FF0000"/>
                </a:solidFill>
              </a:rPr>
              <a:t>for each</a:t>
            </a:r>
          </a:p>
          <a:p>
            <a:pPr lvl="2"/>
            <a:r>
              <a:rPr lang="en-US" sz="1800" noProof="1">
                <a:latin typeface="Courier New" charset="0"/>
                <a:ea typeface="Courier New" charset="0"/>
                <a:cs typeface="Courier New" charset="0"/>
              </a:rPr>
              <a:t>for (String note : notes) {System.out.println(note);}</a:t>
            </a:r>
            <a:endParaRPr lang="en-US" noProof="1">
              <a:solidFill>
                <a:srgbClr val="FF0000"/>
              </a:solidFill>
            </a:endParaRPr>
          </a:p>
          <a:p>
            <a:endParaRPr lang="en-US" dirty="0">
              <a:solidFill>
                <a:srgbClr val="FF0000"/>
              </a:solidFill>
            </a:endParaRPr>
          </a:p>
          <a:p>
            <a:endParaRPr lang="en-US" dirty="0">
              <a:solidFill>
                <a:srgbClr val="FF0000"/>
              </a:solidFill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60904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Questions?</a:t>
            </a:r>
          </a:p>
        </p:txBody>
      </p:sp>
      <p:pic>
        <p:nvPicPr>
          <p:cNvPr id="3074" name="Picture 2" descr="Image result for question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2057401"/>
            <a:ext cx="4343400" cy="3509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26494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2601</TotalTime>
  <Words>2578</Words>
  <Application>Microsoft Macintosh PowerPoint</Application>
  <PresentationFormat>Widescreen</PresentationFormat>
  <Paragraphs>548</Paragraphs>
  <Slides>50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6" baseType="lpstr">
      <vt:lpstr>Arial</vt:lpstr>
      <vt:lpstr>Calibri</vt:lpstr>
      <vt:lpstr>Courier New</vt:lpstr>
      <vt:lpstr>Times New Roman</vt:lpstr>
      <vt:lpstr>Trebuchet MS</vt:lpstr>
      <vt:lpstr>Office Theme</vt:lpstr>
      <vt:lpstr>Introduction to ArrayLists</vt:lpstr>
      <vt:lpstr>Topic list</vt:lpstr>
      <vt:lpstr>The requirement to group objects</vt:lpstr>
      <vt:lpstr>Example: A personal notebook</vt:lpstr>
      <vt:lpstr>Java API: the class library</vt:lpstr>
      <vt:lpstr>Java’s Collections Framework</vt:lpstr>
      <vt:lpstr>Java’s Collections Framework</vt:lpstr>
      <vt:lpstr>ArrayList Collection</vt:lpstr>
      <vt:lpstr>PowerPoint Presentation</vt:lpstr>
      <vt:lpstr>PowerPoint Presentation</vt:lpstr>
      <vt:lpstr>PowerPoint Presentation</vt:lpstr>
      <vt:lpstr>PowerPoint Presentation</vt:lpstr>
      <vt:lpstr>Object structures with ArrayList</vt:lpstr>
      <vt:lpstr>Adding a third note</vt:lpstr>
      <vt:lpstr>Features of the ArrayList Collection</vt:lpstr>
      <vt:lpstr>PowerPoint Presentation</vt:lpstr>
      <vt:lpstr>Topic list</vt:lpstr>
      <vt:lpstr>ArrayList: Index numbering</vt:lpstr>
      <vt:lpstr>Retrieving an object – showNote()</vt:lpstr>
      <vt:lpstr>Removing an object</vt:lpstr>
      <vt:lpstr>Removal may affect numbering</vt:lpstr>
      <vt:lpstr>Removal may affect numbering</vt:lpstr>
      <vt:lpstr>Topic list</vt:lpstr>
      <vt:lpstr>Generic/Parameterized Classes</vt:lpstr>
      <vt:lpstr>Generic/Parameterized Classes</vt:lpstr>
      <vt:lpstr>PowerPoint Presentation</vt:lpstr>
      <vt:lpstr>Generic/Parameterized Classes</vt:lpstr>
      <vt:lpstr>Generic/Parameterized classes</vt:lpstr>
      <vt:lpstr>Topic list</vt:lpstr>
      <vt:lpstr>Processing a whole collection (iteration)</vt:lpstr>
      <vt:lpstr>Loops in Programming</vt:lpstr>
      <vt:lpstr>Topic list</vt:lpstr>
      <vt:lpstr>Recap: for loop pseudo-code</vt:lpstr>
      <vt:lpstr>Recap: for loop syntax</vt:lpstr>
      <vt:lpstr>Recap: for loop syntax</vt:lpstr>
      <vt:lpstr>Recap: for loop flowchart</vt:lpstr>
      <vt:lpstr>for loop: for iterating over a collection</vt:lpstr>
      <vt:lpstr>Topic list</vt:lpstr>
      <vt:lpstr>Recap: while loop pseudo code</vt:lpstr>
      <vt:lpstr>Recap: while loop construction</vt:lpstr>
      <vt:lpstr>Recap: while loop flowchart</vt:lpstr>
      <vt:lpstr>while loop: iterating over a collection</vt:lpstr>
      <vt:lpstr>     for versus while </vt:lpstr>
      <vt:lpstr>Topic list</vt:lpstr>
      <vt:lpstr>for each loop: pseudo code</vt:lpstr>
      <vt:lpstr>for each loop: iterating over a collection</vt:lpstr>
      <vt:lpstr>for each loop</vt:lpstr>
      <vt:lpstr>for each versus while</vt:lpstr>
      <vt:lpstr>Summary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Abstraction and Modularization</dc:title>
  <dc:creator>Siobhan Drohan</dc:creator>
  <cp:lastModifiedBy>Mairead Meagher</cp:lastModifiedBy>
  <cp:revision>322</cp:revision>
  <cp:lastPrinted>2018-02-23T01:00:05Z</cp:lastPrinted>
  <dcterms:created xsi:type="dcterms:W3CDTF">2006-08-16T00:00:00Z</dcterms:created>
  <dcterms:modified xsi:type="dcterms:W3CDTF">2025-02-03T00:14:26Z</dcterms:modified>
</cp:coreProperties>
</file>