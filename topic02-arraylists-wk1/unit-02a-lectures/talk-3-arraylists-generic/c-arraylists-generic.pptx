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455" r:id="rId2"/>
    <p:sldId id="608" r:id="rId3"/>
    <p:sldId id="620" r:id="rId4"/>
    <p:sldId id="546" r:id="rId5"/>
    <p:sldId id="547" r:id="rId6"/>
    <p:sldId id="548" r:id="rId7"/>
    <p:sldId id="609" r:id="rId8"/>
    <p:sldId id="560" r:id="rId9"/>
    <p:sldId id="561" r:id="rId10"/>
    <p:sldId id="611" r:id="rId11"/>
    <p:sldId id="621" r:id="rId12"/>
    <p:sldId id="622" r:id="rId13"/>
    <p:sldId id="623" r:id="rId14"/>
    <p:sldId id="624" r:id="rId15"/>
    <p:sldId id="625" r:id="rId16"/>
    <p:sldId id="626" r:id="rId17"/>
    <p:sldId id="627" r:id="rId18"/>
    <p:sldId id="628" r:id="rId19"/>
    <p:sldId id="629" r:id="rId20"/>
    <p:sldId id="630" r:id="rId21"/>
    <p:sldId id="631" r:id="rId22"/>
    <p:sldId id="632" r:id="rId23"/>
    <p:sldId id="633" r:id="rId24"/>
    <p:sldId id="634" r:id="rId25"/>
    <p:sldId id="635" r:id="rId26"/>
    <p:sldId id="636" r:id="rId27"/>
    <p:sldId id="637" r:id="rId28"/>
    <p:sldId id="638" r:id="rId29"/>
    <p:sldId id="640" r:id="rId30"/>
    <p:sldId id="639" r:id="rId31"/>
    <p:sldId id="60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8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9" autoAdjust="0"/>
    <p:restoredTop sz="92603" autoAdjust="0"/>
  </p:normalViewPr>
  <p:slideViewPr>
    <p:cSldViewPr>
      <p:cViewPr varScale="1">
        <p:scale>
          <a:sx n="99" d="100"/>
          <a:sy n="99" d="100"/>
        </p:scale>
        <p:origin x="96" y="1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43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A051C-64F0-4573-B882-616D757F8DD4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81B23-C832-43C5-9B50-044EE2C12CE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72643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81B23-C832-43C5-9B50-044EE2C12CE3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1905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31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578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08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9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8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41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6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2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5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66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45881D-2D8D-1975-AB67-071538DA5B41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-2721883" y="422310"/>
            <a:ext cx="5443765" cy="548629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350A5-0F76-7CA1-01EE-0506A29F03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5939" y="2422507"/>
            <a:ext cx="8618538" cy="1485900"/>
          </a:xfrm>
        </p:spPr>
        <p:txBody>
          <a:bodyPr>
            <a:normAutofit/>
          </a:bodyPr>
          <a:lstStyle>
            <a:lvl3pPr marL="914400" indent="0" algn="ctr">
              <a:buNone/>
              <a:defRPr sz="6000">
                <a:latin typeface="DM Sans" pitchFamily="2" charset="77"/>
              </a:defRPr>
            </a:lvl3pPr>
          </a:lstStyle>
          <a:p>
            <a:pPr lvl="2"/>
            <a:r>
              <a:rPr lang="en-US" dirty="0"/>
              <a:t>Title Section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B1747D0-142F-29F0-C111-4CA4BB0024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49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32673" y="433462"/>
            <a:ext cx="5443765" cy="5486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6D9E16-657A-4218-0444-F0A4D4BC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2324554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BFD17A-A184-4C60-C2D7-B6CD6ACBCF9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04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9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javase/11/docs/api/java.base/java/lang/String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programiz.com/java-programming/library/arraylist" TargetMode="External"/><Relationship Id="rId5" Type="http://schemas.openxmlformats.org/officeDocument/2006/relationships/hyperlink" Target="http://www.angelikalanger.com/GenericsFAQ/FAQSections/ParameterizedTypes.html#FAQ001" TargetMode="External"/><Relationship Id="rId4" Type="http://schemas.openxmlformats.org/officeDocument/2006/relationships/hyperlink" Target="https://docs.oracle.com/javase/8/docs/api/java/util/ArrayList.html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Introduction to </a:t>
            </a:r>
            <a:r>
              <a:rPr lang="en-IE" sz="4000" dirty="0" err="1"/>
              <a:t>ArrayLists</a:t>
            </a:r>
            <a:endParaRPr lang="en-IE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0456" y="3441413"/>
            <a:ext cx="20193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2004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10200" y="2579088"/>
            <a:ext cx="4576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(based on Ch. 4, </a:t>
            </a:r>
            <a:r>
              <a:rPr lang="en-GB" sz="1400" dirty="0">
                <a:solidFill>
                  <a:srgbClr val="685345"/>
                </a:solidFill>
                <a:latin typeface="+mj-lt"/>
              </a:rPr>
              <a:t>Objects First with Java - A Practical Introduction using </a:t>
            </a:r>
            <a:r>
              <a:rPr lang="en-GB" sz="1400" dirty="0" err="1">
                <a:solidFill>
                  <a:srgbClr val="685345"/>
                </a:solidFill>
                <a:latin typeface="+mj-lt"/>
              </a:rPr>
              <a:t>BlueJ</a:t>
            </a:r>
            <a:r>
              <a:rPr lang="en-GB" sz="1400" dirty="0">
                <a:solidFill>
                  <a:srgbClr val="685345"/>
                </a:solidFill>
                <a:latin typeface="+mj-lt"/>
              </a:rPr>
              <a:t>, © David J. Barnes, Michael </a:t>
            </a:r>
            <a:r>
              <a:rPr lang="en-GB" sz="1400" dirty="0" err="1">
                <a:solidFill>
                  <a:srgbClr val="685345"/>
                </a:solidFill>
                <a:latin typeface="+mj-lt"/>
              </a:rPr>
              <a:t>Kölling</a:t>
            </a:r>
            <a:r>
              <a:rPr lang="en-GB" sz="1400" dirty="0">
                <a:solidFill>
                  <a:srgbClr val="685345"/>
                </a:solidFill>
                <a:latin typeface="+mj-lt"/>
              </a:rPr>
              <a:t>)</a:t>
            </a:r>
            <a:endParaRPr lang="en-IE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43A3F-EDEA-4E2F-812F-B9C9A765D6F6}"/>
              </a:ext>
            </a:extLst>
          </p:cNvPr>
          <p:cNvSpPr txBox="1"/>
          <p:nvPr/>
        </p:nvSpPr>
        <p:spPr>
          <a:xfrm>
            <a:off x="4343400" y="3448238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93C80F-0085-D56A-AC23-57BFF9220DD7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E63C77A9-2080-91E1-D8A2-618FC5D7B7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16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 list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3238" y="1524000"/>
            <a:ext cx="88392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Grouping Objects </a:t>
            </a:r>
          </a:p>
          <a:p>
            <a:pPr lvl="1"/>
            <a:r>
              <a:rPr lang="en-GB" dirty="0"/>
              <a:t>Developing a basic personal notebook project using </a:t>
            </a:r>
            <a:r>
              <a:rPr lang="en-GB" b="1" dirty="0"/>
              <a:t>Collections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e.g. </a:t>
            </a:r>
            <a:r>
              <a:rPr lang="en-GB" b="1" dirty="0" err="1"/>
              <a:t>ArrayList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Indexing</a:t>
            </a:r>
            <a:r>
              <a:rPr lang="en-GB" dirty="0"/>
              <a:t> within Collections</a:t>
            </a:r>
          </a:p>
          <a:p>
            <a:pPr lvl="1"/>
            <a:r>
              <a:rPr lang="en-GB" dirty="0"/>
              <a:t>Retrieval and removal of objects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Generic / Parameterized classes 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ArrayList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Iteration</a:t>
            </a:r>
          </a:p>
          <a:p>
            <a:pPr lvl="1"/>
            <a:r>
              <a:rPr lang="en-GB" dirty="0"/>
              <a:t>Using the for loop</a:t>
            </a:r>
          </a:p>
          <a:p>
            <a:pPr lvl="1"/>
            <a:r>
              <a:rPr lang="en-GB" dirty="0"/>
              <a:t>Using the while loop</a:t>
            </a:r>
          </a:p>
          <a:p>
            <a:pPr lvl="1"/>
            <a:r>
              <a:rPr lang="en-GB" dirty="0"/>
              <a:t>Using the </a:t>
            </a:r>
            <a:r>
              <a:rPr lang="en-GB" b="1" dirty="0"/>
              <a:t>for each </a:t>
            </a:r>
            <a:r>
              <a:rPr lang="en-GB" dirty="0"/>
              <a:t>loop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Next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SlideDeck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br>
              <a:rPr lang="en-IE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coding a Shop Project that stores an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of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43238" y="3352800"/>
            <a:ext cx="8748562" cy="8382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121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Generic/Parameterized Classes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35405"/>
          <a:stretch/>
        </p:blipFill>
        <p:spPr>
          <a:xfrm>
            <a:off x="5627146" y="1243572"/>
            <a:ext cx="4572000" cy="350059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55770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Generic/Parameterized Classes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35405"/>
          <a:stretch/>
        </p:blipFill>
        <p:spPr>
          <a:xfrm>
            <a:off x="5627146" y="1243572"/>
            <a:ext cx="4572000" cy="35005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676400" y="4820370"/>
            <a:ext cx="739140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b="1" dirty="0"/>
              <a:t>Collections</a:t>
            </a:r>
            <a:r>
              <a:rPr lang="en-GB" sz="2400" dirty="0"/>
              <a:t> are known as </a:t>
            </a:r>
            <a:r>
              <a:rPr lang="en-GB" sz="2400" b="1" i="1" dirty="0"/>
              <a:t>parameterized</a:t>
            </a:r>
            <a:r>
              <a:rPr lang="en-GB" sz="2400" dirty="0"/>
              <a:t> or </a:t>
            </a:r>
            <a:r>
              <a:rPr lang="en-GB" sz="2400" b="1" i="1" dirty="0"/>
              <a:t>generic</a:t>
            </a:r>
            <a:r>
              <a:rPr lang="en-GB" sz="2400" dirty="0"/>
              <a:t> types.</a:t>
            </a:r>
            <a:br>
              <a:rPr lang="en-GB" sz="2400" dirty="0"/>
            </a:br>
            <a:endParaRPr lang="en-GB" sz="2400" dirty="0"/>
          </a:p>
          <a:p>
            <a:r>
              <a:rPr lang="en-GB" sz="2400" dirty="0"/>
              <a:t>Note </a:t>
            </a:r>
            <a:r>
              <a:rPr lang="en-GB" sz="2400" b="1" dirty="0"/>
              <a:t>&lt;E&gt;</a:t>
            </a:r>
            <a:r>
              <a:rPr lang="en-GB" sz="2400" dirty="0"/>
              <a:t> is the parameter.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E gets replaced with some Class or Type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8153400" y="3393580"/>
            <a:ext cx="58468" cy="14267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848600" y="3402544"/>
            <a:ext cx="60960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Donut 7"/>
          <p:cNvSpPr/>
          <p:nvPr/>
        </p:nvSpPr>
        <p:spPr>
          <a:xfrm>
            <a:off x="5627147" y="3032300"/>
            <a:ext cx="3252789" cy="5334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70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47438" b="-1161"/>
          <a:stretch/>
        </p:blipFill>
        <p:spPr>
          <a:xfrm>
            <a:off x="1944445" y="1201812"/>
            <a:ext cx="3810000" cy="32351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4114800" y="5133330"/>
            <a:ext cx="36576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400" b="1" dirty="0"/>
              <a:t>String</a:t>
            </a:r>
            <a:r>
              <a:rPr lang="en-GB" sz="2400" dirty="0"/>
              <a:t> is not parameterized.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3849446" y="3429000"/>
            <a:ext cx="798754" cy="1676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68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Generic/Parameterized Classes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49733" b="4060"/>
          <a:stretch/>
        </p:blipFill>
        <p:spPr>
          <a:xfrm>
            <a:off x="1805100" y="1122800"/>
            <a:ext cx="3643649" cy="3068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1" r="48361"/>
          <a:stretch/>
        </p:blipFill>
        <p:spPr>
          <a:xfrm>
            <a:off x="6327290" y="1122801"/>
            <a:ext cx="3654911" cy="35005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6324600" y="5226784"/>
            <a:ext cx="3657600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/>
              <a:t>The </a:t>
            </a:r>
            <a:r>
              <a:rPr lang="en-GB" b="1" dirty="0">
                <a:solidFill>
                  <a:srgbClr val="C00000"/>
                </a:solidFill>
              </a:rPr>
              <a:t>type parameter </a:t>
            </a:r>
            <a:r>
              <a:rPr lang="en-GB" b="1" dirty="0"/>
              <a:t>&lt;E&gt; </a:t>
            </a:r>
            <a:br>
              <a:rPr lang="en-GB" dirty="0"/>
            </a:br>
            <a:r>
              <a:rPr lang="en-GB" dirty="0"/>
              <a:t>says what we want a list of e.g.:</a:t>
            </a:r>
          </a:p>
          <a:p>
            <a:pPr lvl="1"/>
            <a:r>
              <a:rPr lang="en-GB" sz="1600" b="1" dirty="0" err="1">
                <a:latin typeface="Courier New" pitchFamily="-32" charset="0"/>
              </a:rPr>
              <a:t>ArrayList</a:t>
            </a:r>
            <a:r>
              <a:rPr lang="en-GB" sz="1600" b="1" dirty="0">
                <a:latin typeface="Courier New" pitchFamily="-32" charset="0"/>
              </a:rPr>
              <a:t>&lt;</a:t>
            </a:r>
            <a:r>
              <a:rPr lang="en-GB" sz="1600" dirty="0">
                <a:solidFill>
                  <a:srgbClr val="C00000"/>
                </a:solidFill>
                <a:latin typeface="Courier New" pitchFamily="-32" charset="0"/>
              </a:rPr>
              <a:t>Person</a:t>
            </a:r>
            <a:r>
              <a:rPr lang="en-GB" sz="1600" b="1" dirty="0">
                <a:latin typeface="Courier New" pitchFamily="-32" charset="0"/>
              </a:rPr>
              <a:t>&gt;</a:t>
            </a:r>
          </a:p>
          <a:p>
            <a:pPr lvl="1"/>
            <a:r>
              <a:rPr lang="en-GB" sz="1600" b="1" dirty="0" err="1">
                <a:latin typeface="Courier New" pitchFamily="-32" charset="0"/>
              </a:rPr>
              <a:t>ArrayList</a:t>
            </a:r>
            <a:r>
              <a:rPr lang="en-GB" sz="1600" b="1" dirty="0">
                <a:latin typeface="Courier New" pitchFamily="-32" charset="0"/>
              </a:rPr>
              <a:t>&lt;</a:t>
            </a:r>
            <a:r>
              <a:rPr lang="en-GB" sz="1600" dirty="0" err="1">
                <a:solidFill>
                  <a:srgbClr val="C00000"/>
                </a:solidFill>
                <a:latin typeface="Courier New" pitchFamily="-32" charset="0"/>
              </a:rPr>
              <a:t>TicketMachine</a:t>
            </a:r>
            <a:r>
              <a:rPr lang="en-GB" sz="1600" b="1" dirty="0">
                <a:latin typeface="Courier New" pitchFamily="-32" charset="0"/>
              </a:rPr>
              <a:t>&gt;</a:t>
            </a:r>
          </a:p>
          <a:p>
            <a:pPr lvl="1"/>
            <a:r>
              <a:rPr lang="en-GB" sz="1600" b="1" dirty="0" err="1">
                <a:latin typeface="Courier New" pitchFamily="-32" charset="0"/>
              </a:rPr>
              <a:t>ArrayList</a:t>
            </a:r>
            <a:r>
              <a:rPr lang="en-GB" sz="1600" b="1" dirty="0">
                <a:latin typeface="Courier New" pitchFamily="-32" charset="0"/>
              </a:rPr>
              <a:t>&lt;</a:t>
            </a:r>
            <a:r>
              <a:rPr lang="en-GB" sz="1600" dirty="0">
                <a:solidFill>
                  <a:srgbClr val="C00000"/>
                </a:solidFill>
                <a:latin typeface="Courier New" pitchFamily="-32" charset="0"/>
              </a:rPr>
              <a:t>String</a:t>
            </a:r>
            <a:r>
              <a:rPr lang="en-GB" sz="1600" b="1" dirty="0">
                <a:latin typeface="Courier New" pitchFamily="-32" charset="0"/>
              </a:rPr>
              <a:t>&gt;</a:t>
            </a:r>
          </a:p>
          <a:p>
            <a:pPr lvl="1"/>
            <a:r>
              <a:rPr lang="en-GB" sz="1600" dirty="0"/>
              <a:t>etc.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8382000" y="3316944"/>
            <a:ext cx="381000" cy="14836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534400" y="3316943"/>
            <a:ext cx="609600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324600" y="4724401"/>
            <a:ext cx="36576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400" b="1" dirty="0" err="1"/>
              <a:t>ArrayList</a:t>
            </a:r>
            <a:r>
              <a:rPr lang="en-GB" sz="2400" b="1" dirty="0"/>
              <a:t> </a:t>
            </a:r>
            <a:r>
              <a:rPr lang="en-GB" sz="2400" dirty="0"/>
              <a:t>is parameterized.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91148" y="4722768"/>
            <a:ext cx="36576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400" b="1" dirty="0"/>
              <a:t>String </a:t>
            </a:r>
            <a:r>
              <a:rPr lang="en-GB" sz="2400" dirty="0"/>
              <a:t>is not parameterized.</a:t>
            </a:r>
          </a:p>
        </p:txBody>
      </p:sp>
    </p:spTree>
    <p:extLst>
      <p:ext uri="{BB962C8B-B14F-4D97-AF65-F5344CB8AC3E}">
        <p14:creationId xmlns:p14="http://schemas.microsoft.com/office/powerpoint/2010/main" val="53414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 list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3238" y="1524000"/>
            <a:ext cx="88392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Grouping Objects </a:t>
            </a:r>
          </a:p>
          <a:p>
            <a:pPr lvl="1"/>
            <a:r>
              <a:rPr lang="en-GB" dirty="0"/>
              <a:t>Developing a basic personal notebook project using </a:t>
            </a:r>
            <a:r>
              <a:rPr lang="en-GB" b="1" dirty="0"/>
              <a:t>Collections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e.g. </a:t>
            </a:r>
            <a:r>
              <a:rPr lang="en-GB" b="1" dirty="0" err="1"/>
              <a:t>ArrayList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Indexing</a:t>
            </a:r>
            <a:r>
              <a:rPr lang="en-GB" dirty="0"/>
              <a:t> within Collections</a:t>
            </a:r>
          </a:p>
          <a:p>
            <a:pPr lvl="1"/>
            <a:r>
              <a:rPr lang="en-GB" dirty="0"/>
              <a:t>Retrieval and removal of objects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Generic classes 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ArrayList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Iteration</a:t>
            </a:r>
          </a:p>
          <a:p>
            <a:pPr lvl="1"/>
            <a:r>
              <a:rPr lang="en-GB" dirty="0"/>
              <a:t>Using the for loop</a:t>
            </a:r>
          </a:p>
          <a:p>
            <a:pPr lvl="1"/>
            <a:r>
              <a:rPr lang="en-GB" dirty="0"/>
              <a:t>Using the while loop</a:t>
            </a:r>
          </a:p>
          <a:p>
            <a:pPr lvl="1"/>
            <a:r>
              <a:rPr lang="en-GB" dirty="0"/>
              <a:t>Using the </a:t>
            </a:r>
            <a:r>
              <a:rPr lang="en-GB" b="1" dirty="0"/>
              <a:t>for each </a:t>
            </a:r>
            <a:r>
              <a:rPr lang="en-GB" dirty="0"/>
              <a:t>loop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Next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SlideDeck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br>
              <a:rPr lang="en-IE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coding a Shop Project that stores an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of Products.</a:t>
            </a:r>
          </a:p>
          <a:p>
            <a:endParaRPr lang="en-I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32811" y="4191000"/>
            <a:ext cx="8748562" cy="1447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79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Processing a whole collection (</a:t>
            </a:r>
            <a:r>
              <a:rPr lang="en-IE" sz="3600" b="1" dirty="0"/>
              <a:t>iteration</a:t>
            </a:r>
            <a:r>
              <a:rPr lang="en-IE" sz="36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610600" cy="51054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We often want to perform some actions </a:t>
            </a:r>
            <a:br>
              <a:rPr lang="en-US" sz="2800" dirty="0"/>
            </a:br>
            <a:r>
              <a:rPr lang="en-US" sz="2800" dirty="0"/>
              <a:t>an </a:t>
            </a:r>
            <a:r>
              <a:rPr lang="en-US" sz="2800" b="1" dirty="0"/>
              <a:t>arbitrary</a:t>
            </a:r>
            <a:r>
              <a:rPr lang="en-US" sz="2800" dirty="0"/>
              <a:t> number of times.</a:t>
            </a:r>
          </a:p>
          <a:p>
            <a:pPr lvl="1"/>
            <a:r>
              <a:rPr lang="en-US" sz="2400" dirty="0"/>
              <a:t>E.g., </a:t>
            </a:r>
            <a:br>
              <a:rPr lang="en-US" sz="2400" dirty="0"/>
            </a:br>
            <a:r>
              <a:rPr lang="en-US" sz="2400" dirty="0"/>
              <a:t>Print all the notes in the notebook. </a:t>
            </a:r>
            <a:br>
              <a:rPr lang="en-US" sz="2400" dirty="0"/>
            </a:br>
            <a:r>
              <a:rPr lang="en-US" sz="2400" dirty="0"/>
              <a:t>How many are there?  </a:t>
            </a:r>
            <a:br>
              <a:rPr lang="en-US" sz="2400" dirty="0"/>
            </a:br>
            <a:r>
              <a:rPr lang="en-US" sz="2400" dirty="0"/>
              <a:t>Does the amount of notes in our notebook vary?</a:t>
            </a:r>
          </a:p>
          <a:p>
            <a:endParaRPr lang="en-US" sz="2800" dirty="0"/>
          </a:p>
          <a:p>
            <a:r>
              <a:rPr lang="en-US" sz="2800" dirty="0"/>
              <a:t>Most programming languages include </a:t>
            </a:r>
            <a:r>
              <a:rPr lang="en-US" sz="2800" b="1" i="1" dirty="0"/>
              <a:t>loop statements</a:t>
            </a:r>
            <a:r>
              <a:rPr lang="en-US" sz="2800" b="1" dirty="0"/>
              <a:t> </a:t>
            </a:r>
            <a:r>
              <a:rPr lang="en-US" sz="2800" dirty="0"/>
              <a:t>to make this possible.</a:t>
            </a:r>
          </a:p>
          <a:p>
            <a:endParaRPr lang="en-GB" sz="2800" dirty="0"/>
          </a:p>
          <a:p>
            <a:r>
              <a:rPr lang="en-GB" sz="2800" b="1" dirty="0"/>
              <a:t>Loops</a:t>
            </a:r>
            <a:r>
              <a:rPr lang="en-GB" sz="2800" dirty="0"/>
              <a:t> enable us to </a:t>
            </a:r>
            <a:r>
              <a:rPr lang="en-GB" sz="2800" b="1" dirty="0"/>
              <a:t>control how many times we repeat </a:t>
            </a:r>
            <a:r>
              <a:rPr lang="en-GB" sz="2800" dirty="0"/>
              <a:t>certain actions.</a:t>
            </a:r>
          </a:p>
        </p:txBody>
      </p:sp>
    </p:spTree>
    <p:extLst>
      <p:ext uri="{BB962C8B-B14F-4D97-AF65-F5344CB8AC3E}">
        <p14:creationId xmlns:p14="http://schemas.microsoft.com/office/powerpoint/2010/main" val="388137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Loops</a:t>
            </a:r>
            <a:r>
              <a:rPr lang="en-IE" dirty="0"/>
              <a:t> in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05400"/>
          </a:xfrm>
        </p:spPr>
        <p:txBody>
          <a:bodyPr>
            <a:normAutofit fontScale="77500" lnSpcReduction="20000"/>
          </a:bodyPr>
          <a:lstStyle/>
          <a:p>
            <a:r>
              <a:rPr lang="en-IE" dirty="0"/>
              <a:t>There are three types of standard loops in (Java) programming:</a:t>
            </a:r>
          </a:p>
          <a:p>
            <a:pPr lvl="1"/>
            <a:r>
              <a:rPr lang="en-IE" b="1" dirty="0"/>
              <a:t>while</a:t>
            </a:r>
          </a:p>
          <a:p>
            <a:pPr lvl="1"/>
            <a:r>
              <a:rPr lang="en-IE" b="1" dirty="0"/>
              <a:t>for</a:t>
            </a:r>
          </a:p>
          <a:p>
            <a:pPr lvl="1"/>
            <a:r>
              <a:rPr lang="en-IE" b="1" dirty="0"/>
              <a:t>do while</a:t>
            </a:r>
          </a:p>
          <a:p>
            <a:pPr lvl="1"/>
            <a:endParaRPr lang="en-IE" dirty="0"/>
          </a:p>
          <a:p>
            <a:r>
              <a:rPr lang="en-IE" dirty="0"/>
              <a:t>You typically use </a:t>
            </a:r>
            <a:r>
              <a:rPr lang="en-IE" b="1" dirty="0"/>
              <a:t>for </a:t>
            </a:r>
            <a:r>
              <a:rPr lang="en-IE" dirty="0"/>
              <a:t>and </a:t>
            </a:r>
            <a:r>
              <a:rPr lang="en-IE" b="1" dirty="0"/>
              <a:t>while </a:t>
            </a:r>
            <a:r>
              <a:rPr lang="en-IE" dirty="0"/>
              <a:t>loops to iterate over your </a:t>
            </a:r>
            <a:r>
              <a:rPr lang="en-IE" dirty="0" err="1"/>
              <a:t>ArrayList</a:t>
            </a:r>
            <a:r>
              <a:rPr lang="en-IE" dirty="0"/>
              <a:t> collection, </a:t>
            </a:r>
            <a:br>
              <a:rPr lang="en-IE" dirty="0"/>
            </a:br>
            <a:endParaRPr lang="en-IE" dirty="0"/>
          </a:p>
          <a:p>
            <a:pPr marL="0" indent="0">
              <a:buNone/>
            </a:pPr>
            <a:r>
              <a:rPr lang="en-IE" dirty="0"/>
              <a:t>OR</a:t>
            </a:r>
          </a:p>
          <a:p>
            <a:endParaRPr lang="en-IE" dirty="0"/>
          </a:p>
          <a:p>
            <a:r>
              <a:rPr lang="en-IE" dirty="0"/>
              <a:t>you can use another special construct associated with Collections:</a:t>
            </a:r>
          </a:p>
          <a:p>
            <a:pPr lvl="1"/>
            <a:r>
              <a:rPr lang="en-IE" b="1" dirty="0"/>
              <a:t>for each</a:t>
            </a:r>
          </a:p>
        </p:txBody>
      </p:sp>
      <p:sp>
        <p:nvSpPr>
          <p:cNvPr id="4" name="Donut 3"/>
          <p:cNvSpPr/>
          <p:nvPr/>
        </p:nvSpPr>
        <p:spPr>
          <a:xfrm>
            <a:off x="2362201" y="6019800"/>
            <a:ext cx="1828799" cy="47438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5-Point Star 4"/>
          <p:cNvSpPr/>
          <p:nvPr/>
        </p:nvSpPr>
        <p:spPr>
          <a:xfrm>
            <a:off x="4284445" y="5945083"/>
            <a:ext cx="575109" cy="57510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7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 list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3238" y="1524000"/>
            <a:ext cx="88392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Grouping Objects </a:t>
            </a:r>
          </a:p>
          <a:p>
            <a:pPr lvl="1"/>
            <a:r>
              <a:rPr lang="en-GB" dirty="0"/>
              <a:t>Developing a basic personal notebook project using </a:t>
            </a:r>
            <a:r>
              <a:rPr lang="en-GB" b="1" dirty="0"/>
              <a:t>Collections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e.g. </a:t>
            </a:r>
            <a:r>
              <a:rPr lang="en-GB" b="1" dirty="0" err="1"/>
              <a:t>ArrayList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Indexing</a:t>
            </a:r>
            <a:r>
              <a:rPr lang="en-GB" dirty="0"/>
              <a:t> within Collections</a:t>
            </a:r>
          </a:p>
          <a:p>
            <a:pPr lvl="1"/>
            <a:r>
              <a:rPr lang="en-GB" dirty="0"/>
              <a:t>Retrieval and removal of objects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Generic classes 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ArrayList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Iteration</a:t>
            </a:r>
          </a:p>
          <a:p>
            <a:pPr lvl="1"/>
            <a:r>
              <a:rPr lang="en-GB" dirty="0"/>
              <a:t>Using the for loop</a:t>
            </a:r>
          </a:p>
          <a:p>
            <a:pPr lvl="1"/>
            <a:r>
              <a:rPr lang="en-GB" dirty="0"/>
              <a:t>Using the while loop</a:t>
            </a:r>
          </a:p>
          <a:p>
            <a:pPr lvl="1"/>
            <a:r>
              <a:rPr lang="en-GB" dirty="0"/>
              <a:t>Using the </a:t>
            </a:r>
            <a:r>
              <a:rPr lang="en-GB" b="1" dirty="0"/>
              <a:t>for each </a:t>
            </a:r>
            <a:r>
              <a:rPr lang="en-GB" dirty="0"/>
              <a:t>loop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Next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SlideDeck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br>
              <a:rPr lang="en-IE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coding a Shop Project that stores an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ArrayList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of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2811" y="4191000"/>
            <a:ext cx="8748562" cy="1447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1332298" y="4572000"/>
            <a:ext cx="990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66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44B6-5C70-5FC2-9538-E954B5F8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7989"/>
            <a:ext cx="10515600" cy="1325563"/>
          </a:xfrm>
        </p:spPr>
        <p:txBody>
          <a:bodyPr/>
          <a:lstStyle/>
          <a:p>
            <a:r>
              <a:rPr lang="en-US" dirty="0"/>
              <a:t>Recap: For Loop pseudo-code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13E90-AE9E-9B04-B942-63A1D01B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A8D6B-6B18-04ED-E18E-0331B431D323}"/>
              </a:ext>
            </a:extLst>
          </p:cNvPr>
          <p:cNvSpPr txBox="1"/>
          <p:nvPr/>
        </p:nvSpPr>
        <p:spPr>
          <a:xfrm>
            <a:off x="588736" y="2236349"/>
            <a:ext cx="32421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435765"/>
                </a:solidFill>
                <a:ea typeface="Inter" panose="02000503000000020004" pitchFamily="2" charset="0"/>
              </a:rPr>
              <a:t>General structure of a for loop</a:t>
            </a:r>
          </a:p>
          <a:p>
            <a:endParaRPr lang="en-US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69F4088E-FE68-934F-1F4C-73389FD52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600651"/>
            <a:ext cx="7772400" cy="330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5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44B6-5C70-5FC2-9538-E954B5F8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7989"/>
            <a:ext cx="10515600" cy="1325563"/>
          </a:xfrm>
        </p:spPr>
        <p:txBody>
          <a:bodyPr/>
          <a:lstStyle/>
          <a:p>
            <a:r>
              <a:rPr lang="en-US" dirty="0"/>
              <a:t>Recap: For Loop syntax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13E90-AE9E-9B04-B942-63A1D01B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69F4088E-FE68-934F-1F4C-73389FD52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0870"/>
            <a:ext cx="5884026" cy="2500294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2FA5466-7896-AAC2-5210-2FF811DE2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812" y="976745"/>
            <a:ext cx="5664200" cy="381000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2F98084-1B52-6093-C8A0-AD4A229985BB}"/>
              </a:ext>
            </a:extLst>
          </p:cNvPr>
          <p:cNvSpPr/>
          <p:nvPr/>
        </p:nvSpPr>
        <p:spPr>
          <a:xfrm>
            <a:off x="651164" y="2590800"/>
            <a:ext cx="1399309" cy="290945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1362DC-C369-0088-0D1E-E21B6B300795}"/>
              </a:ext>
            </a:extLst>
          </p:cNvPr>
          <p:cNvGrpSpPr/>
          <p:nvPr/>
        </p:nvGrpSpPr>
        <p:grpSpPr>
          <a:xfrm>
            <a:off x="1350819" y="2016469"/>
            <a:ext cx="7500851" cy="574332"/>
            <a:chOff x="1350819" y="2016469"/>
            <a:chExt cx="7500851" cy="574332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3407837-A691-D907-C739-54C59A90A9F0}"/>
                </a:ext>
              </a:extLst>
            </p:cNvPr>
            <p:cNvSpPr/>
            <p:nvPr/>
          </p:nvSpPr>
          <p:spPr>
            <a:xfrm>
              <a:off x="7356765" y="2016469"/>
              <a:ext cx="1494905" cy="290945"/>
            </a:xfrm>
            <a:prstGeom prst="roundRect">
              <a:avLst/>
            </a:prstGeom>
            <a:noFill/>
            <a:ln w="38100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Curved Connector 18">
              <a:extLst>
                <a:ext uri="{FF2B5EF4-FFF2-40B4-BE49-F238E27FC236}">
                  <a16:creationId xmlns:a16="http://schemas.microsoft.com/office/drawing/2014/main" id="{16B250C0-CD7B-B2D6-E000-BB55EB9776B1}"/>
                </a:ext>
              </a:extLst>
            </p:cNvPr>
            <p:cNvCxnSpPr>
              <a:cxnSpLocks/>
              <a:stCxn id="9" idx="0"/>
              <a:endCxn id="10" idx="0"/>
            </p:cNvCxnSpPr>
            <p:nvPr/>
          </p:nvCxnSpPr>
          <p:spPr>
            <a:xfrm rot="5400000" flipH="1" flipV="1">
              <a:off x="4440353" y="-1073064"/>
              <a:ext cx="574331" cy="6753399"/>
            </a:xfrm>
            <a:prstGeom prst="curvedConnector3">
              <a:avLst>
                <a:gd name="adj1" fmla="val 139803"/>
              </a:avLst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0A927B0-60FB-DF0A-AFEA-9B12B56D5B75}"/>
              </a:ext>
            </a:extLst>
          </p:cNvPr>
          <p:cNvSpPr/>
          <p:nvPr/>
        </p:nvSpPr>
        <p:spPr>
          <a:xfrm>
            <a:off x="2050473" y="2590799"/>
            <a:ext cx="1717963" cy="290945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EBEA18-4327-E022-2994-23D5243D46E1}"/>
              </a:ext>
            </a:extLst>
          </p:cNvPr>
          <p:cNvGrpSpPr/>
          <p:nvPr/>
        </p:nvGrpSpPr>
        <p:grpSpPr>
          <a:xfrm>
            <a:off x="2909455" y="2016469"/>
            <a:ext cx="7245928" cy="574330"/>
            <a:chOff x="1379221" y="2125057"/>
            <a:chExt cx="7245928" cy="574330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105E5B52-0C3F-3B0D-8CC7-BACBD83B25E0}"/>
                </a:ext>
              </a:extLst>
            </p:cNvPr>
            <p:cNvSpPr/>
            <p:nvPr/>
          </p:nvSpPr>
          <p:spPr>
            <a:xfrm>
              <a:off x="7321436" y="2125057"/>
              <a:ext cx="1303713" cy="290945"/>
            </a:xfrm>
            <a:prstGeom prst="roundRect">
              <a:avLst/>
            </a:prstGeom>
            <a:noFill/>
            <a:ln w="38100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6604316E-94EF-9F3F-1C39-18C1A60E36DC}"/>
                </a:ext>
              </a:extLst>
            </p:cNvPr>
            <p:cNvCxnSpPr>
              <a:cxnSpLocks/>
              <a:stCxn id="22" idx="0"/>
              <a:endCxn id="24" idx="0"/>
            </p:cNvCxnSpPr>
            <p:nvPr/>
          </p:nvCxnSpPr>
          <p:spPr>
            <a:xfrm rot="5400000" flipH="1" flipV="1">
              <a:off x="4389092" y="-884814"/>
              <a:ext cx="574330" cy="6594072"/>
            </a:xfrm>
            <a:prstGeom prst="curvedConnector3">
              <a:avLst>
                <a:gd name="adj1" fmla="val 139803"/>
              </a:avLst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8751BB3-034D-2148-266E-213DC3B26C09}"/>
              </a:ext>
            </a:extLst>
          </p:cNvPr>
          <p:cNvSpPr/>
          <p:nvPr/>
        </p:nvSpPr>
        <p:spPr>
          <a:xfrm>
            <a:off x="3736573" y="2590798"/>
            <a:ext cx="1590499" cy="321310"/>
          </a:xfrm>
          <a:prstGeom prst="roundRect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64E7CD3-F424-7B06-3BE9-84718E76D0A0}"/>
              </a:ext>
            </a:extLst>
          </p:cNvPr>
          <p:cNvGrpSpPr/>
          <p:nvPr/>
        </p:nvGrpSpPr>
        <p:grpSpPr>
          <a:xfrm>
            <a:off x="4531823" y="2016467"/>
            <a:ext cx="6123346" cy="895641"/>
            <a:chOff x="1477589" y="2125057"/>
            <a:chExt cx="6123346" cy="917024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C30155C8-DF41-A158-BBB6-3CBB1C82877B}"/>
                </a:ext>
              </a:extLst>
            </p:cNvPr>
            <p:cNvSpPr/>
            <p:nvPr/>
          </p:nvSpPr>
          <p:spPr>
            <a:xfrm>
              <a:off x="7156565" y="2125057"/>
              <a:ext cx="444370" cy="292665"/>
            </a:xfrm>
            <a:prstGeom prst="roundRect">
              <a:avLst/>
            </a:prstGeom>
            <a:noFill/>
            <a:ln w="38100">
              <a:solidFill>
                <a:srgbClr val="FCCA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FDB6FB0A-490E-4EAB-6C16-2547BF307842}"/>
                </a:ext>
              </a:extLst>
            </p:cNvPr>
            <p:cNvCxnSpPr>
              <a:cxnSpLocks/>
              <a:stCxn id="29" idx="2"/>
              <a:endCxn id="31" idx="2"/>
            </p:cNvCxnSpPr>
            <p:nvPr/>
          </p:nvCxnSpPr>
          <p:spPr>
            <a:xfrm rot="5400000" flipH="1" flipV="1">
              <a:off x="4115990" y="-220679"/>
              <a:ext cx="624359" cy="5901161"/>
            </a:xfrm>
            <a:prstGeom prst="curvedConnector3">
              <a:avLst>
                <a:gd name="adj1" fmla="val -37488"/>
              </a:avLst>
            </a:prstGeom>
            <a:ln w="38100">
              <a:solidFill>
                <a:srgbClr val="FCCA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625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2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A06F-0D1E-454A-3CDC-E05B7E538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9"/>
            <a:ext cx="10515600" cy="860425"/>
          </a:xfrm>
        </p:spPr>
        <p:txBody>
          <a:bodyPr/>
          <a:lstStyle/>
          <a:p>
            <a:r>
              <a:rPr lang="en-US" dirty="0"/>
              <a:t>Recap: For Loop syntax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D9A95-A8B1-1EAA-3D00-87EA4CAB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D1F931F-C5B9-6EA2-98AF-7421171DF0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7354618"/>
              </p:ext>
            </p:extLst>
          </p:nvPr>
        </p:nvGraphicFramePr>
        <p:xfrm>
          <a:off x="143988" y="1152797"/>
          <a:ext cx="6482443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807">
                  <a:extLst>
                    <a:ext uri="{9D8B030D-6E8A-4147-A177-3AD203B41FA5}">
                      <a16:colId xmlns:a16="http://schemas.microsoft.com/office/drawing/2014/main" val="4081051920"/>
                    </a:ext>
                  </a:extLst>
                </a:gridCol>
                <a:gridCol w="1454727">
                  <a:extLst>
                    <a:ext uri="{9D8B030D-6E8A-4147-A177-3AD203B41FA5}">
                      <a16:colId xmlns:a16="http://schemas.microsoft.com/office/drawing/2014/main" val="793050573"/>
                    </a:ext>
                  </a:extLst>
                </a:gridCol>
                <a:gridCol w="3532909">
                  <a:extLst>
                    <a:ext uri="{9D8B030D-6E8A-4147-A177-3AD203B41FA5}">
                      <a16:colId xmlns:a16="http://schemas.microsoft.com/office/drawing/2014/main" val="2224687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>
                          <a:latin typeface="+mn-lt"/>
                          <a:ea typeface="Inter" panose="02000503000000020004" pitchFamily="2" charset="0"/>
                        </a:rPr>
                        <a:t>stage</a:t>
                      </a:r>
                    </a:p>
                  </a:txBody>
                  <a:tcPr>
                    <a:solidFill>
                      <a:srgbClr val="4357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>
                          <a:latin typeface="+mn-lt"/>
                          <a:ea typeface="Inter" panose="02000503000000020004" pitchFamily="2" charset="0"/>
                        </a:rPr>
                        <a:t>code</a:t>
                      </a:r>
                    </a:p>
                  </a:txBody>
                  <a:tcPr>
                    <a:solidFill>
                      <a:srgbClr val="4357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>
                          <a:latin typeface="+mn-lt"/>
                          <a:ea typeface="Inter" panose="02000503000000020004" pitchFamily="2" charset="0"/>
                        </a:rPr>
                        <a:t>Description</a:t>
                      </a:r>
                    </a:p>
                  </a:txBody>
                  <a:tcPr>
                    <a:solidFill>
                      <a:srgbClr val="4357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296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>
                          <a:solidFill>
                            <a:schemeClr val="bg1"/>
                          </a:solidFill>
                          <a:latin typeface="+mn-lt"/>
                          <a:ea typeface="Inter" panose="02000503000000020004" pitchFamily="2" charset="0"/>
                        </a:rPr>
                        <a:t>initialization</a:t>
                      </a:r>
                    </a:p>
                  </a:txBody>
                  <a:tcPr>
                    <a:solidFill>
                      <a:srgbClr val="435765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sz="1600" b="1" dirty="0">
                          <a:solidFill>
                            <a:schemeClr val="bg1"/>
                          </a:solidFill>
                          <a:latin typeface="+mn-lt"/>
                          <a:ea typeface="Inter" panose="02000503000000020004" pitchFamily="2" charset="0"/>
                          <a:cs typeface="Courier New" panose="02070309020205020404" pitchFamily="49" charset="0"/>
                        </a:rPr>
                        <a:t>int </a:t>
                      </a:r>
                      <a:r>
                        <a:rPr lang="en-IE" sz="1600" b="1" dirty="0" err="1">
                          <a:solidFill>
                            <a:schemeClr val="bg1"/>
                          </a:solidFill>
                          <a:latin typeface="+mn-lt"/>
                          <a:ea typeface="Inter" panose="02000503000000020004" pitchFamily="2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IE" sz="1600" b="1" dirty="0">
                          <a:solidFill>
                            <a:schemeClr val="bg1"/>
                          </a:solidFill>
                          <a:latin typeface="+mn-lt"/>
                          <a:ea typeface="Inter" panose="02000503000000020004" pitchFamily="2" charset="0"/>
                          <a:cs typeface="Courier New" panose="02070309020205020404" pitchFamily="49" charset="0"/>
                        </a:rPr>
                        <a:t> = 0 </a:t>
                      </a:r>
                      <a:endParaRPr lang="en-IE" sz="1600" dirty="0">
                        <a:solidFill>
                          <a:schemeClr val="bg1"/>
                        </a:solidFill>
                        <a:latin typeface="+mn-lt"/>
                        <a:ea typeface="Inter" panose="02000503000000020004" pitchFamily="2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435765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>
                          <a:solidFill>
                            <a:schemeClr val="bg1"/>
                          </a:solidFill>
                          <a:latin typeface="+mn-lt"/>
                          <a:ea typeface="Inter" panose="02000503000000020004" pitchFamily="2" charset="0"/>
                        </a:rPr>
                        <a:t>Initialise a loop control variable (LCV) e.g. </a:t>
                      </a:r>
                      <a:r>
                        <a:rPr lang="en-IE" sz="1600" dirty="0" err="1">
                          <a:solidFill>
                            <a:schemeClr val="bg1"/>
                          </a:solidFill>
                          <a:latin typeface="+mn-lt"/>
                          <a:ea typeface="Inter" panose="02000503000000020004" pitchFamily="2" charset="0"/>
                        </a:rPr>
                        <a:t>i</a:t>
                      </a:r>
                      <a:endParaRPr lang="en-IE" sz="1600" dirty="0">
                        <a:solidFill>
                          <a:schemeClr val="bg1"/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  <a:p>
                      <a:pPr algn="ctr"/>
                      <a:r>
                        <a:rPr lang="en-IE" sz="1600" dirty="0">
                          <a:solidFill>
                            <a:schemeClr val="bg1"/>
                          </a:solidFill>
                          <a:latin typeface="+mn-lt"/>
                          <a:ea typeface="Inter" panose="02000503000000020004" pitchFamily="2" charset="0"/>
                        </a:rPr>
                        <a:t>It can include a variable declaration.</a:t>
                      </a:r>
                    </a:p>
                    <a:p>
                      <a:pPr algn="ctr"/>
                      <a:endParaRPr lang="en-IE" sz="1600" dirty="0">
                        <a:solidFill>
                          <a:schemeClr val="bg1"/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>
                    <a:solidFill>
                      <a:srgbClr val="435765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39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>
                          <a:solidFill>
                            <a:srgbClr val="435664"/>
                          </a:solidFill>
                          <a:latin typeface="+mn-lt"/>
                          <a:ea typeface="Inter" panose="02000503000000020004" pitchFamily="2" charset="0"/>
                        </a:rPr>
                        <a:t>Boolean condition</a:t>
                      </a:r>
                    </a:p>
                  </a:txBody>
                  <a:tcPr>
                    <a:solidFill>
                      <a:srgbClr val="43566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b="1" dirty="0" err="1">
                          <a:solidFill>
                            <a:srgbClr val="435765"/>
                          </a:solidFill>
                          <a:latin typeface="+mn-lt"/>
                          <a:ea typeface="Inter" panose="02000503000000020004" pitchFamily="2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IE" sz="1600" b="1" dirty="0">
                          <a:solidFill>
                            <a:srgbClr val="435765"/>
                          </a:solidFill>
                          <a:latin typeface="+mn-lt"/>
                          <a:ea typeface="Inter" panose="02000503000000020004" pitchFamily="2" charset="0"/>
                          <a:cs typeface="Courier New" panose="02070309020205020404" pitchFamily="49" charset="0"/>
                        </a:rPr>
                        <a:t> &lt; 100</a:t>
                      </a:r>
                      <a:endParaRPr lang="en-IE" sz="1600" dirty="0">
                        <a:solidFill>
                          <a:srgbClr val="435765"/>
                        </a:solidFill>
                        <a:latin typeface="+mn-lt"/>
                        <a:ea typeface="Inter" panose="02000503000000020004" pitchFamily="2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43566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sz="1600" dirty="0">
                          <a:solidFill>
                            <a:srgbClr val="435765"/>
                          </a:solidFill>
                          <a:latin typeface="+mn-lt"/>
                          <a:ea typeface="Inter" panose="02000503000000020004" pitchFamily="2" charset="0"/>
                        </a:rPr>
                        <a:t>Is a valid </a:t>
                      </a:r>
                      <a:r>
                        <a:rPr lang="en-IE" sz="1600" dirty="0" err="1">
                          <a:solidFill>
                            <a:srgbClr val="435765"/>
                          </a:solidFill>
                          <a:latin typeface="+mn-lt"/>
                          <a:ea typeface="Inter" panose="02000503000000020004" pitchFamily="2" charset="0"/>
                        </a:rPr>
                        <a:t>boolean</a:t>
                      </a:r>
                      <a:r>
                        <a:rPr lang="en-IE" sz="1600" dirty="0">
                          <a:solidFill>
                            <a:srgbClr val="435765"/>
                          </a:solidFill>
                          <a:latin typeface="+mn-lt"/>
                          <a:ea typeface="Inter" panose="02000503000000020004" pitchFamily="2" charset="0"/>
                        </a:rPr>
                        <a:t> condition that typically tests the loop control variable (LCV).</a:t>
                      </a:r>
                    </a:p>
                  </a:txBody>
                  <a:tcPr>
                    <a:solidFill>
                      <a:srgbClr val="43566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87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>
                          <a:solidFill>
                            <a:schemeClr val="bg1"/>
                          </a:solidFill>
                          <a:latin typeface="+mn-lt"/>
                          <a:ea typeface="Inter" panose="02000503000000020004" pitchFamily="2" charset="0"/>
                        </a:rPr>
                        <a:t>Post body action</a:t>
                      </a:r>
                    </a:p>
                  </a:txBody>
                  <a:tcPr>
                    <a:solidFill>
                      <a:srgbClr val="435664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b="1" dirty="0" err="1">
                          <a:solidFill>
                            <a:schemeClr val="bg1"/>
                          </a:solidFill>
                          <a:latin typeface="+mn-lt"/>
                          <a:ea typeface="Inter" panose="02000503000000020004" pitchFamily="2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IE" sz="1600" b="1" dirty="0">
                          <a:solidFill>
                            <a:schemeClr val="bg1"/>
                          </a:solidFill>
                          <a:latin typeface="+mn-lt"/>
                          <a:ea typeface="Inter" panose="02000503000000020004" pitchFamily="2" charset="0"/>
                          <a:cs typeface="Courier New" panose="02070309020205020404" pitchFamily="49" charset="0"/>
                        </a:rPr>
                        <a:t>++</a:t>
                      </a:r>
                      <a:endParaRPr lang="en-IE" sz="1600" b="0" dirty="0">
                        <a:latin typeface="+mn-lt"/>
                        <a:ea typeface="Inter" panose="02000503000000020004" pitchFamily="2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rgbClr val="435664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b="0" dirty="0">
                          <a:solidFill>
                            <a:schemeClr val="bg1"/>
                          </a:solidFill>
                          <a:latin typeface="+mn-lt"/>
                          <a:ea typeface="Inter" panose="02000503000000020004" pitchFamily="2" charset="0"/>
                        </a:rPr>
                        <a:t>A change to the loop control variable (LCV).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600" b="0" dirty="0">
                        <a:solidFill>
                          <a:schemeClr val="bg1"/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b="0" dirty="0">
                          <a:solidFill>
                            <a:schemeClr val="bg1"/>
                          </a:solidFill>
                          <a:latin typeface="+mn-lt"/>
                          <a:ea typeface="Inter" panose="02000503000000020004" pitchFamily="2" charset="0"/>
                        </a:rPr>
                        <a:t>Contains an assignment statement.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E" sz="1600" b="0" dirty="0">
                        <a:solidFill>
                          <a:schemeClr val="bg1"/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>
                    <a:solidFill>
                      <a:srgbClr val="435664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73895"/>
                  </a:ext>
                </a:extLst>
              </a:tr>
            </a:tbl>
          </a:graphicData>
        </a:graphic>
      </p:graphicFrame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B1E34D1E-5E4E-BAB6-6183-619616711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431" y="1277257"/>
            <a:ext cx="56642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44B6-5C70-5FC2-9538-E954B5F8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04" y="0"/>
            <a:ext cx="8245096" cy="1325563"/>
          </a:xfrm>
        </p:spPr>
        <p:txBody>
          <a:bodyPr/>
          <a:lstStyle/>
          <a:p>
            <a:r>
              <a:rPr lang="en-US" dirty="0"/>
              <a:t>For Loop Flowchart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13E90-AE9E-9B04-B942-63A1D01B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Alternative Process 8">
            <a:extLst>
              <a:ext uri="{FF2B5EF4-FFF2-40B4-BE49-F238E27FC236}">
                <a16:creationId xmlns:a16="http://schemas.microsoft.com/office/drawing/2014/main" id="{930E2FBC-7E03-30EC-1F00-B710C9EF609A}"/>
              </a:ext>
            </a:extLst>
          </p:cNvPr>
          <p:cNvSpPr/>
          <p:nvPr/>
        </p:nvSpPr>
        <p:spPr>
          <a:xfrm>
            <a:off x="1627910" y="1238184"/>
            <a:ext cx="1925782" cy="946582"/>
          </a:xfrm>
          <a:prstGeom prst="flowChartAlternateProcess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11" name="Decision 10">
            <a:extLst>
              <a:ext uri="{FF2B5EF4-FFF2-40B4-BE49-F238E27FC236}">
                <a16:creationId xmlns:a16="http://schemas.microsoft.com/office/drawing/2014/main" id="{9A34F2FE-EDE1-EA93-FDC2-990CD7F51094}"/>
              </a:ext>
            </a:extLst>
          </p:cNvPr>
          <p:cNvSpPr/>
          <p:nvPr/>
        </p:nvSpPr>
        <p:spPr>
          <a:xfrm>
            <a:off x="1593273" y="2669455"/>
            <a:ext cx="1995055" cy="1579418"/>
          </a:xfrm>
          <a:prstGeom prst="flowChartDecision">
            <a:avLst/>
          </a:prstGeom>
          <a:solidFill>
            <a:srgbClr val="FCCA3A"/>
          </a:solidFill>
          <a:ln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35765"/>
                </a:solidFill>
              </a:rPr>
              <a:t>Last item?</a:t>
            </a:r>
          </a:p>
        </p:txBody>
      </p:sp>
      <p:sp>
        <p:nvSpPr>
          <p:cNvPr id="12" name="Data 11">
            <a:extLst>
              <a:ext uri="{FF2B5EF4-FFF2-40B4-BE49-F238E27FC236}">
                <a16:creationId xmlns:a16="http://schemas.microsoft.com/office/drawing/2014/main" id="{E50B8B19-A579-D8A1-DFF8-CB743286EBD8}"/>
              </a:ext>
            </a:extLst>
          </p:cNvPr>
          <p:cNvSpPr/>
          <p:nvPr/>
        </p:nvSpPr>
        <p:spPr>
          <a:xfrm>
            <a:off x="4279542" y="2967328"/>
            <a:ext cx="2382723" cy="983672"/>
          </a:xfrm>
          <a:prstGeom prst="flowChartInputOutput">
            <a:avLst/>
          </a:prstGeom>
          <a:solidFill>
            <a:srgbClr val="0062A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Execute statements</a:t>
            </a:r>
          </a:p>
        </p:txBody>
      </p:sp>
      <p:sp>
        <p:nvSpPr>
          <p:cNvPr id="13" name="Alternative Process 12">
            <a:extLst>
              <a:ext uri="{FF2B5EF4-FFF2-40B4-BE49-F238E27FC236}">
                <a16:creationId xmlns:a16="http://schemas.microsoft.com/office/drawing/2014/main" id="{272CE419-87EA-5A9A-3E07-FBCFC7725F4A}"/>
              </a:ext>
            </a:extLst>
          </p:cNvPr>
          <p:cNvSpPr/>
          <p:nvPr/>
        </p:nvSpPr>
        <p:spPr>
          <a:xfrm>
            <a:off x="1627910" y="4733562"/>
            <a:ext cx="1925782" cy="946582"/>
          </a:xfrm>
          <a:prstGeom prst="flowChartAlternateProcess">
            <a:avLst/>
          </a:prstGeom>
          <a:solidFill>
            <a:srgbClr val="E7475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EAB7D5-F0FE-3F9E-B3E9-8469550D876A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2590801" y="2184766"/>
            <a:ext cx="0" cy="484689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BC64BA-4E68-60BF-B637-01F5C3734A95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2590801" y="4248873"/>
            <a:ext cx="0" cy="484689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FCDA536-35AF-FD8C-AB10-021484D0DF24}"/>
              </a:ext>
            </a:extLst>
          </p:cNvPr>
          <p:cNvCxnSpPr>
            <a:stCxn id="11" idx="3"/>
            <a:endCxn id="12" idx="2"/>
          </p:cNvCxnSpPr>
          <p:nvPr/>
        </p:nvCxnSpPr>
        <p:spPr>
          <a:xfrm>
            <a:off x="3588328" y="3459164"/>
            <a:ext cx="929486" cy="0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E94E35C2-26DD-CC03-8A7E-ADC0E4DB27B8}"/>
              </a:ext>
            </a:extLst>
          </p:cNvPr>
          <p:cNvCxnSpPr>
            <a:stCxn id="12" idx="1"/>
            <a:endCxn id="9" idx="3"/>
          </p:cNvCxnSpPr>
          <p:nvPr/>
        </p:nvCxnSpPr>
        <p:spPr>
          <a:xfrm rot="16200000" flipV="1">
            <a:off x="3884372" y="1380796"/>
            <a:ext cx="1255853" cy="1917212"/>
          </a:xfrm>
          <a:prstGeom prst="bentConnector2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23C60BD-3018-E396-00E6-B5CB8AFF8A4F}"/>
              </a:ext>
            </a:extLst>
          </p:cNvPr>
          <p:cNvSpPr txBox="1"/>
          <p:nvPr/>
        </p:nvSpPr>
        <p:spPr>
          <a:xfrm>
            <a:off x="2639997" y="4257349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yes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24EE0D-513B-D9D4-FBBF-6481CB473252}"/>
              </a:ext>
            </a:extLst>
          </p:cNvPr>
          <p:cNvSpPr txBox="1"/>
          <p:nvPr/>
        </p:nvSpPr>
        <p:spPr>
          <a:xfrm>
            <a:off x="3740457" y="3060282"/>
            <a:ext cx="4267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no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318E19-432C-2509-6E1B-2146F43B4598}"/>
              </a:ext>
            </a:extLst>
          </p:cNvPr>
          <p:cNvSpPr txBox="1"/>
          <p:nvPr/>
        </p:nvSpPr>
        <p:spPr>
          <a:xfrm>
            <a:off x="3758726" y="1372920"/>
            <a:ext cx="1507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Update count</a:t>
            </a:r>
          </a:p>
        </p:txBody>
      </p:sp>
      <p:pic>
        <p:nvPicPr>
          <p:cNvPr id="29" name="Picture 28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7F0443ED-B37C-9163-2CA0-EB9EBC528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49" y="141000"/>
            <a:ext cx="4838700" cy="3810000"/>
          </a:xfrm>
          <a:prstGeom prst="rect">
            <a:avLst/>
          </a:prstGeom>
        </p:spPr>
      </p:pic>
      <p:pic>
        <p:nvPicPr>
          <p:cNvPr id="31" name="Picture 30" descr="Text&#10;&#10;Description automatically generated">
            <a:extLst>
              <a:ext uri="{FF2B5EF4-FFF2-40B4-BE49-F238E27FC236}">
                <a16:creationId xmlns:a16="http://schemas.microsoft.com/office/drawing/2014/main" id="{1F995FDD-3B8F-AD2D-D55A-513149B50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884" y="3769023"/>
            <a:ext cx="47879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1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1CC6D-BBC5-C4B6-0520-7BB7BACA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0"/>
            <a:ext cx="10515600" cy="1325563"/>
          </a:xfrm>
        </p:spPr>
        <p:txBody>
          <a:bodyPr/>
          <a:lstStyle/>
          <a:p>
            <a:r>
              <a:rPr lang="en-US" dirty="0"/>
              <a:t>For Loop with </a:t>
            </a:r>
            <a:r>
              <a:rPr lang="en-US" dirty="0" err="1"/>
              <a:t>ArrayLists</a:t>
            </a:r>
            <a:r>
              <a:rPr lang="en-US" dirty="0"/>
              <a:t> (Collections)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5FDD87-5A98-EF37-B309-ED35BFDB3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183E2-7B20-08C7-6243-AE23CF40A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728" y="798247"/>
            <a:ext cx="6310871" cy="53678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5DB673-5E5D-AFE2-414C-198E41F3CD01}"/>
              </a:ext>
            </a:extLst>
          </p:cNvPr>
          <p:cNvSpPr txBox="1"/>
          <p:nvPr/>
        </p:nvSpPr>
        <p:spPr>
          <a:xfrm>
            <a:off x="639536" y="2328018"/>
            <a:ext cx="48976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for each value of </a:t>
            </a:r>
            <a:r>
              <a:rPr lang="en-GB" dirty="0" err="1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i</a:t>
            </a:r>
            <a: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 less than the </a:t>
            </a:r>
            <a:r>
              <a:rPr lang="en-GB" dirty="0">
                <a:solidFill>
                  <a:srgbClr val="435765"/>
                </a:solidFill>
                <a:highlight>
                  <a:srgbClr val="FCCA3A"/>
                </a:highlight>
                <a:latin typeface="+mj-lt"/>
                <a:ea typeface="Inter" panose="02000503000000020004" pitchFamily="2" charset="0"/>
              </a:rPr>
              <a:t>size </a:t>
            </a:r>
            <a:br>
              <a:rPr lang="en-GB" dirty="0">
                <a:solidFill>
                  <a:srgbClr val="435765"/>
                </a:solidFill>
                <a:highlight>
                  <a:srgbClr val="FCCA3A"/>
                </a:highlight>
                <a:latin typeface="+mj-lt"/>
                <a:ea typeface="Inter" panose="02000503000000020004" pitchFamily="2" charset="0"/>
              </a:rPr>
            </a:br>
            <a: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of the collection;</a:t>
            </a:r>
            <a:b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</a:br>
            <a:endParaRPr lang="en-GB" dirty="0">
              <a:solidFill>
                <a:srgbClr val="435765"/>
              </a:solidFill>
              <a:latin typeface="+mj-lt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print the next note; </a:t>
            </a:r>
            <a:b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</a:br>
            <a:endParaRPr lang="en-GB" dirty="0">
              <a:solidFill>
                <a:srgbClr val="435765"/>
              </a:solidFill>
              <a:latin typeface="+mj-lt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and then increment </a:t>
            </a:r>
            <a:r>
              <a:rPr lang="en-GB" dirty="0" err="1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i</a:t>
            </a:r>
            <a: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US" dirty="0"/>
          </a:p>
        </p:txBody>
      </p:sp>
      <p:sp>
        <p:nvSpPr>
          <p:cNvPr id="8" name="Alternative Process 7">
            <a:extLst>
              <a:ext uri="{FF2B5EF4-FFF2-40B4-BE49-F238E27FC236}">
                <a16:creationId xmlns:a16="http://schemas.microsoft.com/office/drawing/2014/main" id="{68B75C38-B872-2950-2F4B-E43EEF91BCAA}"/>
              </a:ext>
            </a:extLst>
          </p:cNvPr>
          <p:cNvSpPr/>
          <p:nvPr/>
        </p:nvSpPr>
        <p:spPr>
          <a:xfrm>
            <a:off x="9177868" y="3429000"/>
            <a:ext cx="1693334" cy="448733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lternative Process 8">
            <a:extLst>
              <a:ext uri="{FF2B5EF4-FFF2-40B4-BE49-F238E27FC236}">
                <a16:creationId xmlns:a16="http://schemas.microsoft.com/office/drawing/2014/main" id="{616695DB-AFBB-76B8-3DB1-2B081FEE3729}"/>
              </a:ext>
            </a:extLst>
          </p:cNvPr>
          <p:cNvSpPr/>
          <p:nvPr/>
        </p:nvSpPr>
        <p:spPr>
          <a:xfrm>
            <a:off x="6807200" y="3852333"/>
            <a:ext cx="4301067" cy="448733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lternative Process 9">
            <a:extLst>
              <a:ext uri="{FF2B5EF4-FFF2-40B4-BE49-F238E27FC236}">
                <a16:creationId xmlns:a16="http://schemas.microsoft.com/office/drawing/2014/main" id="{704A45F3-E283-1418-1B50-1425018D4A0C}"/>
              </a:ext>
            </a:extLst>
          </p:cNvPr>
          <p:cNvSpPr/>
          <p:nvPr/>
        </p:nvSpPr>
        <p:spPr>
          <a:xfrm>
            <a:off x="10871202" y="3395133"/>
            <a:ext cx="681262" cy="448733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3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74E686-92B6-B500-FA56-7914F945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3FA45-2719-6A60-31D5-C3DF62B893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86731" y="2422507"/>
            <a:ext cx="8618538" cy="14859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DM Sans" pitchFamily="2" charset="77"/>
              </a:rPr>
              <a:t>While Loop</a:t>
            </a:r>
          </a:p>
        </p:txBody>
      </p:sp>
    </p:spTree>
    <p:extLst>
      <p:ext uri="{BB962C8B-B14F-4D97-AF65-F5344CB8AC3E}">
        <p14:creationId xmlns:p14="http://schemas.microsoft.com/office/powerpoint/2010/main" val="1246110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0C06-3D82-EA22-00D4-4985F0BC1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0"/>
            <a:ext cx="10515600" cy="1325563"/>
          </a:xfrm>
        </p:spPr>
        <p:txBody>
          <a:bodyPr/>
          <a:lstStyle/>
          <a:p>
            <a:r>
              <a:rPr lang="en-US" dirty="0"/>
              <a:t>Recap: While Loop pseudo-code</a:t>
            </a:r>
          </a:p>
        </p:txBody>
      </p:sp>
      <p:pic>
        <p:nvPicPr>
          <p:cNvPr id="9" name="Content Placeholder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D7CD670-12D7-9F31-5620-17667DDE82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772400" y="1704710"/>
            <a:ext cx="4419600" cy="28956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7793E-E56E-11F1-7D60-193F0657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AutoShape 25">
            <a:extLst>
              <a:ext uri="{FF2B5EF4-FFF2-40B4-BE49-F238E27FC236}">
                <a16:creationId xmlns:a16="http://schemas.microsoft.com/office/drawing/2014/main" id="{A4778692-AE12-1D63-5B83-E872949DEC6F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6938004" y="2839703"/>
            <a:ext cx="1048305" cy="862682"/>
          </a:xfrm>
          <a:prstGeom prst="curvedLeftArrow">
            <a:avLst>
              <a:gd name="adj1" fmla="val 20000"/>
              <a:gd name="adj2" fmla="val 40000"/>
              <a:gd name="adj3" fmla="val 43333"/>
            </a:avLst>
          </a:prstGeom>
          <a:solidFill>
            <a:srgbClr val="435765"/>
          </a:solidFill>
          <a:ln w="9525">
            <a:solidFill>
              <a:srgbClr val="435765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I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066E75-E0A8-80BB-60D9-5B2BC92E18E9}"/>
              </a:ext>
            </a:extLst>
          </p:cNvPr>
          <p:cNvSpPr txBox="1"/>
          <p:nvPr/>
        </p:nvSpPr>
        <p:spPr>
          <a:xfrm>
            <a:off x="622601" y="1680155"/>
            <a:ext cx="61168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ea typeface="Inter" panose="02000503000000020004" pitchFamily="2" charset="0"/>
              </a:rPr>
              <a:t>General form of a while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435765"/>
              </a:solidFill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ea typeface="Inter" panose="02000503000000020004" pitchFamily="2" charset="0"/>
              </a:rPr>
              <a:t>while we wish to continue, do the things in the loop body</a:t>
            </a:r>
            <a:br>
              <a:rPr lang="en-GB" dirty="0">
                <a:solidFill>
                  <a:srgbClr val="435765"/>
                </a:solidFill>
                <a:ea typeface="Inter" panose="02000503000000020004" pitchFamily="2" charset="0"/>
              </a:rPr>
            </a:br>
            <a:endParaRPr lang="en-GB" dirty="0">
              <a:solidFill>
                <a:srgbClr val="435765"/>
              </a:solidFill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ea typeface="Inter" panose="02000503000000020004" pitchFamily="2" charset="0"/>
              </a:rPr>
              <a:t>while keyword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435765"/>
              </a:solidFill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ea typeface="Inter" panose="02000503000000020004" pitchFamily="2" charset="0"/>
              </a:rPr>
              <a:t>Boolean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435765"/>
              </a:solidFill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ea typeface="Inter" panose="02000503000000020004" pitchFamily="2" charset="0"/>
              </a:rPr>
              <a:t>Statements to be repeated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US" dirty="0"/>
          </a:p>
        </p:txBody>
      </p:sp>
      <p:sp>
        <p:nvSpPr>
          <p:cNvPr id="12" name="Alternative Process 11">
            <a:extLst>
              <a:ext uri="{FF2B5EF4-FFF2-40B4-BE49-F238E27FC236}">
                <a16:creationId xmlns:a16="http://schemas.microsoft.com/office/drawing/2014/main" id="{EACCF0AE-68F8-6386-6232-C540431701FC}"/>
              </a:ext>
            </a:extLst>
          </p:cNvPr>
          <p:cNvSpPr/>
          <p:nvPr/>
        </p:nvSpPr>
        <p:spPr>
          <a:xfrm>
            <a:off x="8184848" y="2615336"/>
            <a:ext cx="834396" cy="483464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lternative Process 12">
            <a:extLst>
              <a:ext uri="{FF2B5EF4-FFF2-40B4-BE49-F238E27FC236}">
                <a16:creationId xmlns:a16="http://schemas.microsoft.com/office/drawing/2014/main" id="{E8E9F289-0943-154B-391F-2B2604A9D040}"/>
              </a:ext>
            </a:extLst>
          </p:cNvPr>
          <p:cNvSpPr/>
          <p:nvPr/>
        </p:nvSpPr>
        <p:spPr>
          <a:xfrm>
            <a:off x="9254758" y="2597970"/>
            <a:ext cx="1972042" cy="500829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lternative Process 13">
            <a:extLst>
              <a:ext uri="{FF2B5EF4-FFF2-40B4-BE49-F238E27FC236}">
                <a16:creationId xmlns:a16="http://schemas.microsoft.com/office/drawing/2014/main" id="{371C22DE-AEC2-9408-A0F0-6E75F60FDCB0}"/>
              </a:ext>
            </a:extLst>
          </p:cNvPr>
          <p:cNvSpPr/>
          <p:nvPr/>
        </p:nvSpPr>
        <p:spPr>
          <a:xfrm>
            <a:off x="8602046" y="3137900"/>
            <a:ext cx="1972042" cy="500829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6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AF3F7-951C-7659-AB7F-201E50AE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26458"/>
            <a:ext cx="10515600" cy="1325563"/>
          </a:xfrm>
        </p:spPr>
        <p:txBody>
          <a:bodyPr/>
          <a:lstStyle/>
          <a:p>
            <a:r>
              <a:rPr lang="en-US" dirty="0"/>
              <a:t>Recap: While Loop Construction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7CF1DF-2F7D-2C06-7575-1B30EDD8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C096209C-5E91-C272-A5BB-99BA1DDAA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716" y="1352021"/>
            <a:ext cx="7772400" cy="4510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1D3F9E-0532-5149-4C0C-9E68A5F447A4}"/>
              </a:ext>
            </a:extLst>
          </p:cNvPr>
          <p:cNvSpPr txBox="1"/>
          <p:nvPr/>
        </p:nvSpPr>
        <p:spPr>
          <a:xfrm>
            <a:off x="316790" y="3284185"/>
            <a:ext cx="3683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435765"/>
                </a:solidFill>
                <a:ea typeface="Inter" panose="02000503000000020004" pitchFamily="2" charset="0"/>
              </a:rPr>
              <a:t>This structure should always be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15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44B6-5C70-5FC2-9538-E954B5F8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04" y="0"/>
            <a:ext cx="10515600" cy="1325563"/>
          </a:xfrm>
        </p:spPr>
        <p:txBody>
          <a:bodyPr/>
          <a:lstStyle/>
          <a:p>
            <a:r>
              <a:rPr lang="en-US" dirty="0"/>
              <a:t>While Loop Flowchart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13E90-AE9E-9B04-B942-63A1D01B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Alternative Process 8">
            <a:extLst>
              <a:ext uri="{FF2B5EF4-FFF2-40B4-BE49-F238E27FC236}">
                <a16:creationId xmlns:a16="http://schemas.microsoft.com/office/drawing/2014/main" id="{930E2FBC-7E03-30EC-1F00-B710C9EF609A}"/>
              </a:ext>
            </a:extLst>
          </p:cNvPr>
          <p:cNvSpPr/>
          <p:nvPr/>
        </p:nvSpPr>
        <p:spPr>
          <a:xfrm>
            <a:off x="1627909" y="1059243"/>
            <a:ext cx="1538193" cy="756070"/>
          </a:xfrm>
          <a:prstGeom prst="flowChartAlternateProcess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Start</a:t>
            </a:r>
          </a:p>
        </p:txBody>
      </p:sp>
      <p:sp>
        <p:nvSpPr>
          <p:cNvPr id="11" name="Decision 10">
            <a:extLst>
              <a:ext uri="{FF2B5EF4-FFF2-40B4-BE49-F238E27FC236}">
                <a16:creationId xmlns:a16="http://schemas.microsoft.com/office/drawing/2014/main" id="{9A34F2FE-EDE1-EA93-FDC2-990CD7F51094}"/>
              </a:ext>
            </a:extLst>
          </p:cNvPr>
          <p:cNvSpPr/>
          <p:nvPr/>
        </p:nvSpPr>
        <p:spPr>
          <a:xfrm>
            <a:off x="1317494" y="2295007"/>
            <a:ext cx="2165452" cy="1261539"/>
          </a:xfrm>
          <a:prstGeom prst="flowChartDecision">
            <a:avLst/>
          </a:prstGeom>
          <a:solidFill>
            <a:srgbClr val="FCCA3A"/>
          </a:solidFill>
          <a:ln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While Condition</a:t>
            </a:r>
          </a:p>
        </p:txBody>
      </p:sp>
      <p:sp>
        <p:nvSpPr>
          <p:cNvPr id="12" name="Data 11">
            <a:extLst>
              <a:ext uri="{FF2B5EF4-FFF2-40B4-BE49-F238E27FC236}">
                <a16:creationId xmlns:a16="http://schemas.microsoft.com/office/drawing/2014/main" id="{E50B8B19-A579-D8A1-DFF8-CB743286EBD8}"/>
              </a:ext>
            </a:extLst>
          </p:cNvPr>
          <p:cNvSpPr/>
          <p:nvPr/>
        </p:nvSpPr>
        <p:spPr>
          <a:xfrm>
            <a:off x="1448635" y="3944698"/>
            <a:ext cx="1903169" cy="785695"/>
          </a:xfrm>
          <a:prstGeom prst="flowChartInputOutput">
            <a:avLst/>
          </a:prstGeom>
          <a:solidFill>
            <a:srgbClr val="0062A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Execute statements</a:t>
            </a:r>
          </a:p>
        </p:txBody>
      </p:sp>
      <p:sp>
        <p:nvSpPr>
          <p:cNvPr id="13" name="Alternative Process 12">
            <a:extLst>
              <a:ext uri="{FF2B5EF4-FFF2-40B4-BE49-F238E27FC236}">
                <a16:creationId xmlns:a16="http://schemas.microsoft.com/office/drawing/2014/main" id="{272CE419-87EA-5A9A-3E07-FBCFC7725F4A}"/>
              </a:ext>
            </a:extLst>
          </p:cNvPr>
          <p:cNvSpPr/>
          <p:nvPr/>
        </p:nvSpPr>
        <p:spPr>
          <a:xfrm>
            <a:off x="1627910" y="5159239"/>
            <a:ext cx="1538193" cy="756070"/>
          </a:xfrm>
          <a:prstGeom prst="flowChartAlternateProcess">
            <a:avLst/>
          </a:prstGeom>
          <a:solidFill>
            <a:srgbClr val="E7475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End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EAB7D5-F0FE-3F9E-B3E9-8469550D876A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2397006" y="1815313"/>
            <a:ext cx="3214" cy="479694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E94E35C2-26DD-CC03-8A7E-ADC0E4DB27B8}"/>
              </a:ext>
            </a:extLst>
          </p:cNvPr>
          <p:cNvCxnSpPr>
            <a:cxnSpLocks/>
            <a:stCxn id="12" idx="5"/>
            <a:endCxn id="11" idx="3"/>
          </p:cNvCxnSpPr>
          <p:nvPr/>
        </p:nvCxnSpPr>
        <p:spPr>
          <a:xfrm flipV="1">
            <a:off x="3161487" y="2925777"/>
            <a:ext cx="321459" cy="1411769"/>
          </a:xfrm>
          <a:prstGeom prst="bentConnector3">
            <a:avLst>
              <a:gd name="adj1" fmla="val 171113"/>
            </a:avLst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23C60BD-3018-E396-00E6-B5CB8AFF8A4F}"/>
              </a:ext>
            </a:extLst>
          </p:cNvPr>
          <p:cNvSpPr txBox="1"/>
          <p:nvPr/>
        </p:nvSpPr>
        <p:spPr>
          <a:xfrm>
            <a:off x="2639997" y="4358947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yes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24EE0D-513B-D9D4-FBBF-6481CB473252}"/>
              </a:ext>
            </a:extLst>
          </p:cNvPr>
          <p:cNvSpPr txBox="1"/>
          <p:nvPr/>
        </p:nvSpPr>
        <p:spPr>
          <a:xfrm>
            <a:off x="2505609" y="3439199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true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318E19-432C-2509-6E1B-2146F43B4598}"/>
              </a:ext>
            </a:extLst>
          </p:cNvPr>
          <p:cNvSpPr txBox="1"/>
          <p:nvPr/>
        </p:nvSpPr>
        <p:spPr>
          <a:xfrm>
            <a:off x="406073" y="3852921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False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5CF3A5-F9EA-C377-6F7B-7C0016AB6088}"/>
              </a:ext>
            </a:extLst>
          </p:cNvPr>
          <p:cNvCxnSpPr>
            <a:cxnSpLocks/>
            <a:stCxn id="11" idx="2"/>
            <a:endCxn id="12" idx="1"/>
          </p:cNvCxnSpPr>
          <p:nvPr/>
        </p:nvCxnSpPr>
        <p:spPr>
          <a:xfrm>
            <a:off x="2400220" y="3556546"/>
            <a:ext cx="0" cy="388152"/>
          </a:xfrm>
          <a:prstGeom prst="straightConnector1">
            <a:avLst/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47208767-9785-B367-2136-5B7AC4809ECB}"/>
              </a:ext>
            </a:extLst>
          </p:cNvPr>
          <p:cNvCxnSpPr>
            <a:cxnSpLocks/>
            <a:stCxn id="11" idx="1"/>
            <a:endCxn id="13" idx="1"/>
          </p:cNvCxnSpPr>
          <p:nvPr/>
        </p:nvCxnSpPr>
        <p:spPr>
          <a:xfrm rot="10800000" flipH="1" flipV="1">
            <a:off x="1317494" y="2925776"/>
            <a:ext cx="310416" cy="2611497"/>
          </a:xfrm>
          <a:prstGeom prst="bentConnector3">
            <a:avLst>
              <a:gd name="adj1" fmla="val -73643"/>
            </a:avLst>
          </a:prstGeom>
          <a:ln w="38100">
            <a:solidFill>
              <a:srgbClr val="FCCA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BDCC89C8-1BD6-688B-E1D9-7951A15A3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559" y="790078"/>
            <a:ext cx="6057912" cy="574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61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1CC6D-BBC5-C4B6-0520-7BB7BACA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0"/>
            <a:ext cx="10515600" cy="1325563"/>
          </a:xfrm>
        </p:spPr>
        <p:txBody>
          <a:bodyPr/>
          <a:lstStyle/>
          <a:p>
            <a:r>
              <a:rPr lang="en-US" dirty="0"/>
              <a:t>While Loop with </a:t>
            </a:r>
            <a:r>
              <a:rPr lang="en-US" dirty="0" err="1"/>
              <a:t>ArrayLists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5FDD87-5A98-EF37-B309-ED35BFDB3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183E2-7B20-08C7-6243-AE23CF40A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53199" y="662783"/>
            <a:ext cx="5809319" cy="5634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5DB673-5E5D-AFE2-414C-198E41F3CD01}"/>
              </a:ext>
            </a:extLst>
          </p:cNvPr>
          <p:cNvSpPr txBox="1"/>
          <p:nvPr/>
        </p:nvSpPr>
        <p:spPr>
          <a:xfrm>
            <a:off x="639536" y="2328018"/>
            <a:ext cx="48976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while the value of </a:t>
            </a:r>
            <a:r>
              <a:rPr lang="en-GB" b="1" dirty="0" err="1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i</a:t>
            </a:r>
            <a: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 is less than the size of the collection;</a:t>
            </a:r>
            <a:b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</a:br>
            <a:endParaRPr lang="en-GB" dirty="0">
              <a:solidFill>
                <a:srgbClr val="435765"/>
              </a:solidFill>
              <a:latin typeface="+mj-lt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print the next note; </a:t>
            </a:r>
            <a:b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</a:br>
            <a:endParaRPr lang="en-GB" dirty="0">
              <a:solidFill>
                <a:srgbClr val="435765"/>
              </a:solidFill>
              <a:latin typeface="+mj-lt"/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and then increment </a:t>
            </a:r>
            <a:r>
              <a:rPr lang="en-GB" b="1" dirty="0" err="1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i</a:t>
            </a:r>
            <a:r>
              <a:rPr lang="en-GB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 by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US" dirty="0"/>
          </a:p>
        </p:txBody>
      </p:sp>
      <p:sp>
        <p:nvSpPr>
          <p:cNvPr id="8" name="Alternative Process 7">
            <a:extLst>
              <a:ext uri="{FF2B5EF4-FFF2-40B4-BE49-F238E27FC236}">
                <a16:creationId xmlns:a16="http://schemas.microsoft.com/office/drawing/2014/main" id="{68B75C38-B872-2950-2F4B-E43EEF91BCAA}"/>
              </a:ext>
            </a:extLst>
          </p:cNvPr>
          <p:cNvSpPr/>
          <p:nvPr/>
        </p:nvSpPr>
        <p:spPr>
          <a:xfrm>
            <a:off x="8686803" y="3429000"/>
            <a:ext cx="1507064" cy="448733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lternative Process 8">
            <a:extLst>
              <a:ext uri="{FF2B5EF4-FFF2-40B4-BE49-F238E27FC236}">
                <a16:creationId xmlns:a16="http://schemas.microsoft.com/office/drawing/2014/main" id="{616695DB-AFBB-76B8-3DB1-2B081FEE3729}"/>
              </a:ext>
            </a:extLst>
          </p:cNvPr>
          <p:cNvSpPr/>
          <p:nvPr/>
        </p:nvSpPr>
        <p:spPr>
          <a:xfrm>
            <a:off x="7687733" y="4187609"/>
            <a:ext cx="4301067" cy="448733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lternative Process 9">
            <a:extLst>
              <a:ext uri="{FF2B5EF4-FFF2-40B4-BE49-F238E27FC236}">
                <a16:creationId xmlns:a16="http://schemas.microsoft.com/office/drawing/2014/main" id="{704A45F3-E283-1418-1B50-1425018D4A0C}"/>
              </a:ext>
            </a:extLst>
          </p:cNvPr>
          <p:cNvSpPr/>
          <p:nvPr/>
        </p:nvSpPr>
        <p:spPr>
          <a:xfrm>
            <a:off x="7806268" y="4651580"/>
            <a:ext cx="681262" cy="448733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DAA9D-EF2A-3837-FC71-8F55BC79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0"/>
            <a:ext cx="10515600" cy="1325563"/>
          </a:xfrm>
        </p:spPr>
        <p:txBody>
          <a:bodyPr/>
          <a:lstStyle/>
          <a:p>
            <a:r>
              <a:rPr lang="en-US" dirty="0"/>
              <a:t>For vs While - LCV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C6B51D-B0D1-3A9D-91AE-6FB37C83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6FDFB145-0D97-6C46-E1D5-4EFA36C7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581" y="1086106"/>
            <a:ext cx="5036751" cy="42841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5B7EDC-B787-1F30-5A0E-0E1833F7CC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2923" y="245136"/>
            <a:ext cx="5424461" cy="526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08F41E-01FD-8FD5-9629-0A25C46F1C63}"/>
              </a:ext>
            </a:extLst>
          </p:cNvPr>
          <p:cNvSpPr txBox="1"/>
          <p:nvPr/>
        </p:nvSpPr>
        <p:spPr>
          <a:xfrm>
            <a:off x="189294" y="1253595"/>
            <a:ext cx="214750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Variable </a:t>
            </a:r>
            <a:r>
              <a:rPr lang="en-US" dirty="0" err="1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i</a:t>
            </a:r>
            <a:r>
              <a:rPr lang="en-US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 is the </a:t>
            </a:r>
            <a:br>
              <a:rPr lang="en-US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</a:br>
            <a:r>
              <a:rPr lang="en-US" dirty="0">
                <a:solidFill>
                  <a:srgbClr val="435765"/>
                </a:solidFill>
                <a:highlight>
                  <a:srgbClr val="FCCA3A"/>
                </a:highlight>
                <a:latin typeface="+mj-lt"/>
                <a:ea typeface="Inter" panose="02000503000000020004" pitchFamily="2" charset="0"/>
              </a:rPr>
              <a:t>Loop Control Variable (LCV). </a:t>
            </a:r>
          </a:p>
          <a:p>
            <a:r>
              <a:rPr lang="en-US" dirty="0">
                <a:solidFill>
                  <a:srgbClr val="435765"/>
                </a:solidFill>
                <a:highlight>
                  <a:srgbClr val="FCCA3A"/>
                </a:highlight>
                <a:latin typeface="+mj-lt"/>
                <a:ea typeface="Inter" panose="02000503000000020004" pitchFamily="2" charset="0"/>
              </a:rPr>
              <a:t> </a:t>
            </a:r>
          </a:p>
          <a:p>
            <a:r>
              <a:rPr lang="en-US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It must be </a:t>
            </a:r>
            <a:r>
              <a:rPr lang="en-US" dirty="0" err="1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initialised</a:t>
            </a:r>
            <a:r>
              <a:rPr lang="en-US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, tested and changed</a:t>
            </a:r>
          </a:p>
          <a:p>
            <a:endParaRPr lang="en-US" dirty="0">
              <a:solidFill>
                <a:srgbClr val="435765"/>
              </a:solidFill>
              <a:latin typeface="+mj-lt"/>
              <a:ea typeface="Inter" panose="02000503000000020004" pitchFamily="2" charset="0"/>
            </a:endParaRPr>
          </a:p>
          <a:p>
            <a:r>
              <a:rPr lang="en-US" dirty="0">
                <a:solidFill>
                  <a:srgbClr val="435765"/>
                </a:solidFill>
                <a:highlight>
                  <a:srgbClr val="FCCA3A"/>
                </a:highlight>
                <a:latin typeface="+mj-lt"/>
                <a:ea typeface="Inter" panose="02000503000000020004" pitchFamily="2" charset="0"/>
              </a:rPr>
              <a:t>int </a:t>
            </a:r>
            <a:r>
              <a:rPr lang="en-US" dirty="0" err="1">
                <a:solidFill>
                  <a:srgbClr val="435765"/>
                </a:solidFill>
                <a:highlight>
                  <a:srgbClr val="FCCA3A"/>
                </a:highlight>
                <a:latin typeface="+mj-lt"/>
                <a:ea typeface="Inter" panose="02000503000000020004" pitchFamily="2" charset="0"/>
              </a:rPr>
              <a:t>i</a:t>
            </a:r>
            <a:r>
              <a:rPr lang="en-US" dirty="0">
                <a:solidFill>
                  <a:srgbClr val="435765"/>
                </a:solidFill>
                <a:highlight>
                  <a:srgbClr val="FCCA3A"/>
                </a:highlight>
                <a:latin typeface="+mj-lt"/>
                <a:ea typeface="Inter" panose="02000503000000020004" pitchFamily="2" charset="0"/>
              </a:rPr>
              <a:t> = 0 </a:t>
            </a:r>
            <a:r>
              <a:rPr lang="en-US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is the </a:t>
            </a:r>
            <a:r>
              <a:rPr lang="en-US" b="1" dirty="0" err="1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initialisation</a:t>
            </a:r>
            <a:r>
              <a:rPr lang="en-US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.</a:t>
            </a:r>
          </a:p>
          <a:p>
            <a:endParaRPr lang="en-US" dirty="0">
              <a:solidFill>
                <a:srgbClr val="435765"/>
              </a:solidFill>
              <a:latin typeface="+mj-lt"/>
              <a:ea typeface="Inter" panose="02000503000000020004" pitchFamily="2" charset="0"/>
            </a:endParaRPr>
          </a:p>
          <a:p>
            <a:r>
              <a:rPr lang="en-IE" dirty="0" err="1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i</a:t>
            </a:r>
            <a:r>
              <a:rPr lang="en-IE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 &lt; </a:t>
            </a:r>
            <a:r>
              <a:rPr lang="en-IE" dirty="0" err="1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notes.size</a:t>
            </a:r>
            <a:r>
              <a:rPr lang="en-IE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() is the </a:t>
            </a:r>
            <a:r>
              <a:rPr lang="en-IE" b="1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test</a:t>
            </a:r>
            <a:r>
              <a:rPr lang="en-IE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.</a:t>
            </a:r>
          </a:p>
          <a:p>
            <a:endParaRPr lang="en-IE" dirty="0">
              <a:solidFill>
                <a:srgbClr val="435765"/>
              </a:solidFill>
              <a:latin typeface="+mj-lt"/>
              <a:ea typeface="Inter" panose="02000503000000020004" pitchFamily="2" charset="0"/>
            </a:endParaRPr>
          </a:p>
          <a:p>
            <a:r>
              <a:rPr lang="en-IE" dirty="0" err="1">
                <a:solidFill>
                  <a:srgbClr val="435765"/>
                </a:solidFill>
                <a:highlight>
                  <a:srgbClr val="FCCA3A"/>
                </a:highlight>
                <a:latin typeface="+mj-lt"/>
                <a:ea typeface="Inter" panose="02000503000000020004" pitchFamily="2" charset="0"/>
              </a:rPr>
              <a:t>i</a:t>
            </a:r>
            <a:r>
              <a:rPr lang="en-IE" dirty="0">
                <a:solidFill>
                  <a:srgbClr val="435765"/>
                </a:solidFill>
                <a:highlight>
                  <a:srgbClr val="FCCA3A"/>
                </a:highlight>
                <a:latin typeface="+mj-lt"/>
                <a:ea typeface="Inter" panose="02000503000000020004" pitchFamily="2" charset="0"/>
              </a:rPr>
              <a:t>++ </a:t>
            </a:r>
            <a:r>
              <a:rPr lang="en-IE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is the post-body action i.e. the </a:t>
            </a:r>
            <a:r>
              <a:rPr lang="en-IE" b="1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change</a:t>
            </a:r>
            <a:r>
              <a:rPr lang="en-IE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.</a:t>
            </a:r>
          </a:p>
          <a:p>
            <a:endParaRPr lang="en-US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US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Alternative Process 5">
            <a:extLst>
              <a:ext uri="{FF2B5EF4-FFF2-40B4-BE49-F238E27FC236}">
                <a16:creationId xmlns:a16="http://schemas.microsoft.com/office/drawing/2014/main" id="{D6D7DED7-1D28-80BE-31B3-A31E8E405E33}"/>
              </a:ext>
            </a:extLst>
          </p:cNvPr>
          <p:cNvSpPr/>
          <p:nvPr/>
        </p:nvSpPr>
        <p:spPr>
          <a:xfrm>
            <a:off x="3213622" y="3195871"/>
            <a:ext cx="982003" cy="343187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lternative Process 8">
            <a:extLst>
              <a:ext uri="{FF2B5EF4-FFF2-40B4-BE49-F238E27FC236}">
                <a16:creationId xmlns:a16="http://schemas.microsoft.com/office/drawing/2014/main" id="{CD840A0A-AA8C-978B-3C00-A60CD1F49B84}"/>
              </a:ext>
            </a:extLst>
          </p:cNvPr>
          <p:cNvSpPr/>
          <p:nvPr/>
        </p:nvSpPr>
        <p:spPr>
          <a:xfrm>
            <a:off x="7764779" y="2478801"/>
            <a:ext cx="1277622" cy="349059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lternative Process 10">
            <a:extLst>
              <a:ext uri="{FF2B5EF4-FFF2-40B4-BE49-F238E27FC236}">
                <a16:creationId xmlns:a16="http://schemas.microsoft.com/office/drawing/2014/main" id="{D4C7E7AA-BCAE-5415-6579-B10AA63CEFB6}"/>
              </a:ext>
            </a:extLst>
          </p:cNvPr>
          <p:cNvSpPr/>
          <p:nvPr/>
        </p:nvSpPr>
        <p:spPr>
          <a:xfrm>
            <a:off x="4348087" y="3162004"/>
            <a:ext cx="1858825" cy="377054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lternative Process 11">
            <a:extLst>
              <a:ext uri="{FF2B5EF4-FFF2-40B4-BE49-F238E27FC236}">
                <a16:creationId xmlns:a16="http://schemas.microsoft.com/office/drawing/2014/main" id="{526FEB39-000C-D157-665C-151E80E9BC04}"/>
              </a:ext>
            </a:extLst>
          </p:cNvPr>
          <p:cNvSpPr/>
          <p:nvPr/>
        </p:nvSpPr>
        <p:spPr>
          <a:xfrm>
            <a:off x="8446966" y="2851118"/>
            <a:ext cx="1858825" cy="344753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lternative Process 12">
            <a:extLst>
              <a:ext uri="{FF2B5EF4-FFF2-40B4-BE49-F238E27FC236}">
                <a16:creationId xmlns:a16="http://schemas.microsoft.com/office/drawing/2014/main" id="{A8CBA0EE-A4F8-9405-D2B1-AB98B6FC0613}"/>
              </a:ext>
            </a:extLst>
          </p:cNvPr>
          <p:cNvSpPr/>
          <p:nvPr/>
        </p:nvSpPr>
        <p:spPr>
          <a:xfrm>
            <a:off x="6228913" y="3195871"/>
            <a:ext cx="483445" cy="377054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lternative Process 13">
            <a:extLst>
              <a:ext uri="{FF2B5EF4-FFF2-40B4-BE49-F238E27FC236}">
                <a16:creationId xmlns:a16="http://schemas.microsoft.com/office/drawing/2014/main" id="{C0DCE33A-C7A9-C11D-5691-D5E68E5D410A}"/>
              </a:ext>
            </a:extLst>
          </p:cNvPr>
          <p:cNvSpPr/>
          <p:nvPr/>
        </p:nvSpPr>
        <p:spPr>
          <a:xfrm>
            <a:off x="8205243" y="3935046"/>
            <a:ext cx="483445" cy="377054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3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74E686-92B6-B500-FA56-7914F945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3FA45-2719-6A60-31D5-C3DF62B893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86731" y="2422507"/>
            <a:ext cx="8618538" cy="14859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DM Sans" pitchFamily="2" charset="77"/>
              </a:rPr>
              <a:t>For Each Loop</a:t>
            </a:r>
          </a:p>
        </p:txBody>
      </p:sp>
    </p:spTree>
    <p:extLst>
      <p:ext uri="{BB962C8B-B14F-4D97-AF65-F5344CB8AC3E}">
        <p14:creationId xmlns:p14="http://schemas.microsoft.com/office/powerpoint/2010/main" val="1680726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9854-7809-0613-D0C7-2F5BBE4A6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43"/>
            <a:ext cx="10515600" cy="860425"/>
          </a:xfrm>
        </p:spPr>
        <p:txBody>
          <a:bodyPr/>
          <a:lstStyle/>
          <a:p>
            <a:r>
              <a:rPr lang="en-US" dirty="0"/>
              <a:t>For each loop: pseudo-code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61FE9-D4AE-34F3-F32C-0014951B9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2B5317A-7EF2-E4E6-FE6E-2ACBE1587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981200"/>
            <a:ext cx="6629400" cy="2895600"/>
          </a:xfrm>
          <a:prstGeom prst="rect">
            <a:avLst/>
          </a:prstGeom>
        </p:spPr>
      </p:pic>
      <p:sp>
        <p:nvSpPr>
          <p:cNvPr id="7" name="AutoShape 25">
            <a:extLst>
              <a:ext uri="{FF2B5EF4-FFF2-40B4-BE49-F238E27FC236}">
                <a16:creationId xmlns:a16="http://schemas.microsoft.com/office/drawing/2014/main" id="{286FAEB8-CD9A-2467-AF77-D96DF729266D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718957" y="3186043"/>
            <a:ext cx="1048305" cy="862682"/>
          </a:xfrm>
          <a:prstGeom prst="curvedLeftArrow">
            <a:avLst>
              <a:gd name="adj1" fmla="val 20000"/>
              <a:gd name="adj2" fmla="val 40000"/>
              <a:gd name="adj3" fmla="val 43333"/>
            </a:avLst>
          </a:prstGeom>
          <a:solidFill>
            <a:srgbClr val="435765"/>
          </a:solidFill>
          <a:ln w="9525">
            <a:solidFill>
              <a:srgbClr val="435765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I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A53907-232C-6231-901A-4989E9CBF3E7}"/>
              </a:ext>
            </a:extLst>
          </p:cNvPr>
          <p:cNvSpPr txBox="1"/>
          <p:nvPr/>
        </p:nvSpPr>
        <p:spPr>
          <a:xfrm>
            <a:off x="216201" y="1790693"/>
            <a:ext cx="47621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ea typeface="Inter" panose="02000503000000020004" pitchFamily="2" charset="0"/>
              </a:rPr>
              <a:t>General form of a for-each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435765"/>
              </a:solidFill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ea typeface="Inter" panose="02000503000000020004" pitchFamily="2" charset="0"/>
              </a:rPr>
              <a:t>For each element in collection, do the things in the loop body.</a:t>
            </a:r>
          </a:p>
          <a:p>
            <a:pPr lvl="1"/>
            <a:br>
              <a:rPr lang="en-GB" dirty="0">
                <a:solidFill>
                  <a:srgbClr val="435765"/>
                </a:solidFill>
                <a:ea typeface="Inter" panose="02000503000000020004" pitchFamily="2" charset="0"/>
              </a:rPr>
            </a:br>
            <a:endParaRPr lang="en-GB" dirty="0">
              <a:solidFill>
                <a:srgbClr val="435765"/>
              </a:solidFill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ea typeface="Inter" panose="02000503000000020004" pitchFamily="2" charset="0"/>
              </a:rPr>
              <a:t>for keyword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435765"/>
              </a:solidFill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ea typeface="Inter" panose="02000503000000020004" pitchFamily="2" charset="0"/>
              </a:rPr>
              <a:t>Loop header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435765"/>
              </a:solidFill>
              <a:ea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35765"/>
                </a:solidFill>
                <a:ea typeface="Inter" panose="02000503000000020004" pitchFamily="2" charset="0"/>
              </a:rPr>
              <a:t>Statements to be repeated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US" dirty="0"/>
          </a:p>
        </p:txBody>
      </p:sp>
      <p:sp>
        <p:nvSpPr>
          <p:cNvPr id="9" name="Alternative Process 8">
            <a:extLst>
              <a:ext uri="{FF2B5EF4-FFF2-40B4-BE49-F238E27FC236}">
                <a16:creationId xmlns:a16="http://schemas.microsoft.com/office/drawing/2014/main" id="{45E3F11D-85EF-56D5-8083-48AB9777723A}"/>
              </a:ext>
            </a:extLst>
          </p:cNvPr>
          <p:cNvSpPr/>
          <p:nvPr/>
        </p:nvSpPr>
        <p:spPr>
          <a:xfrm>
            <a:off x="5977467" y="2895601"/>
            <a:ext cx="604091" cy="533400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lternative Process 9">
            <a:extLst>
              <a:ext uri="{FF2B5EF4-FFF2-40B4-BE49-F238E27FC236}">
                <a16:creationId xmlns:a16="http://schemas.microsoft.com/office/drawing/2014/main" id="{8868766F-BE53-010F-A3E2-4188A3E955D9}"/>
              </a:ext>
            </a:extLst>
          </p:cNvPr>
          <p:cNvSpPr/>
          <p:nvPr/>
        </p:nvSpPr>
        <p:spPr>
          <a:xfrm>
            <a:off x="6791763" y="2895600"/>
            <a:ext cx="4401170" cy="533400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lternative Process 10">
            <a:extLst>
              <a:ext uri="{FF2B5EF4-FFF2-40B4-BE49-F238E27FC236}">
                <a16:creationId xmlns:a16="http://schemas.microsoft.com/office/drawing/2014/main" id="{5B68295E-E1BB-35C1-C33A-65B3A3537F20}"/>
              </a:ext>
            </a:extLst>
          </p:cNvPr>
          <p:cNvSpPr/>
          <p:nvPr/>
        </p:nvSpPr>
        <p:spPr>
          <a:xfrm>
            <a:off x="6490963" y="3481459"/>
            <a:ext cx="1907970" cy="345475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3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3373-0998-E4DC-F1FF-49D00C9FA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0"/>
            <a:ext cx="10515600" cy="1325563"/>
          </a:xfrm>
        </p:spPr>
        <p:txBody>
          <a:bodyPr/>
          <a:lstStyle/>
          <a:p>
            <a:r>
              <a:rPr lang="en-US" dirty="0"/>
              <a:t>For each loop with </a:t>
            </a:r>
            <a:r>
              <a:rPr lang="en-US" dirty="0" err="1"/>
              <a:t>Arraylists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B6967B-6691-264E-280C-D01E70E4B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E411FC-CC5E-7CA7-2EB1-76CA2A38D504}"/>
              </a:ext>
            </a:extLst>
          </p:cNvPr>
          <p:cNvSpPr txBox="1"/>
          <p:nvPr/>
        </p:nvSpPr>
        <p:spPr>
          <a:xfrm>
            <a:off x="664633" y="2505670"/>
            <a:ext cx="65447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for each note (of type String) </a:t>
            </a:r>
            <a:br>
              <a:rPr lang="en-GB" sz="2400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</a:br>
            <a:r>
              <a:rPr lang="en-GB" sz="2400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in the notes collection;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435765"/>
                </a:solidFill>
                <a:latin typeface="+mj-lt"/>
                <a:ea typeface="Inter" panose="02000503000000020004" pitchFamily="2" charset="0"/>
              </a:rPr>
              <a:t>print out note</a:t>
            </a:r>
          </a:p>
        </p:txBody>
      </p:sp>
      <p:sp>
        <p:nvSpPr>
          <p:cNvPr id="8" name="Alternative Process 7">
            <a:extLst>
              <a:ext uri="{FF2B5EF4-FFF2-40B4-BE49-F238E27FC236}">
                <a16:creationId xmlns:a16="http://schemas.microsoft.com/office/drawing/2014/main" id="{9D82D59F-6513-368D-A048-48F01D9F6722}"/>
              </a:ext>
            </a:extLst>
          </p:cNvPr>
          <p:cNvSpPr/>
          <p:nvPr/>
        </p:nvSpPr>
        <p:spPr>
          <a:xfrm>
            <a:off x="7462157" y="3653071"/>
            <a:ext cx="3886200" cy="393996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lternative Process 8">
            <a:extLst>
              <a:ext uri="{FF2B5EF4-FFF2-40B4-BE49-F238E27FC236}">
                <a16:creationId xmlns:a16="http://schemas.microsoft.com/office/drawing/2014/main" id="{3962740D-FD24-80AA-29BB-7527CD512694}"/>
              </a:ext>
            </a:extLst>
          </p:cNvPr>
          <p:cNvSpPr/>
          <p:nvPr/>
        </p:nvSpPr>
        <p:spPr>
          <a:xfrm>
            <a:off x="7883979" y="4047067"/>
            <a:ext cx="3886200" cy="393996"/>
          </a:xfrm>
          <a:prstGeom prst="flowChartAlternateProcess">
            <a:avLst/>
          </a:prstGeom>
          <a:noFill/>
          <a:ln w="38100">
            <a:solidFill>
              <a:srgbClr val="FCCA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667500" y="902099"/>
            <a:ext cx="5524500" cy="5053802"/>
            <a:chOff x="6667500" y="902099"/>
            <a:chExt cx="5524500" cy="50538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4A4EACC-0FC0-887F-E471-C2D1DDBB0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667500" y="902099"/>
              <a:ext cx="5524500" cy="505380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53400" y="4148481"/>
              <a:ext cx="200025" cy="2571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926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0532-0965-B00D-F40F-FB44BB4A4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1"/>
            <a:ext cx="10515600" cy="1325563"/>
          </a:xfrm>
        </p:spPr>
        <p:txBody>
          <a:bodyPr/>
          <a:lstStyle/>
          <a:p>
            <a:r>
              <a:rPr lang="en-US" dirty="0"/>
              <a:t>For each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1077-112D-286E-3031-185372F29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only be used for access</a:t>
            </a:r>
          </a:p>
          <a:p>
            <a:pPr lvl="1"/>
            <a:r>
              <a:rPr lang="en-US" dirty="0"/>
              <a:t>you can’t remove the retrieved elements.</a:t>
            </a:r>
          </a:p>
          <a:p>
            <a:r>
              <a:rPr lang="en-US" dirty="0"/>
              <a:t>Can only loop forward in single steps.</a:t>
            </a:r>
          </a:p>
          <a:p>
            <a:r>
              <a:rPr lang="en-US" dirty="0"/>
              <a:t>Cannot use to compare two collections.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E55E4-D62A-7115-9036-7F53361D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83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0532-0965-B00D-F40F-FB44BB4A4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3461"/>
            <a:ext cx="10515600" cy="1325563"/>
          </a:xfrm>
        </p:spPr>
        <p:txBody>
          <a:bodyPr/>
          <a:lstStyle/>
          <a:p>
            <a:r>
              <a:rPr lang="en-US" dirty="0"/>
              <a:t>For each vs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1077-112D-286E-3031-185372F29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for-each:</a:t>
            </a:r>
          </a:p>
          <a:p>
            <a:pPr lvl="1">
              <a:lnSpc>
                <a:spcPct val="90000"/>
              </a:lnSpc>
            </a:pPr>
            <a:r>
              <a:rPr lang="en-GB" b="1" dirty="0"/>
              <a:t>easier to write</a:t>
            </a:r>
            <a:r>
              <a:rPr lang="en-GB" dirty="0"/>
              <a:t>.</a:t>
            </a:r>
          </a:p>
          <a:p>
            <a:pPr lvl="1">
              <a:lnSpc>
                <a:spcPct val="90000"/>
              </a:lnSpc>
            </a:pPr>
            <a:r>
              <a:rPr lang="en-GB" b="1" dirty="0"/>
              <a:t>safer</a:t>
            </a:r>
            <a:r>
              <a:rPr lang="en-GB" dirty="0"/>
              <a:t>: it is guaranteed to stop.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while: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we </a:t>
            </a:r>
            <a:r>
              <a:rPr lang="en-GB" b="1" dirty="0"/>
              <a:t>don’t </a:t>
            </a:r>
            <a:r>
              <a:rPr lang="en-GB" b="1" i="1" dirty="0"/>
              <a:t>have</a:t>
            </a:r>
            <a:r>
              <a:rPr lang="en-GB" b="1" dirty="0"/>
              <a:t> to process the whole collection</a:t>
            </a:r>
            <a:r>
              <a:rPr lang="en-GB" dirty="0"/>
              <a:t>.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doesn’t even have to be used with a collection.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take care: could be an </a:t>
            </a:r>
            <a:r>
              <a:rPr lang="en-GB" i="1" dirty="0"/>
              <a:t>infinite loop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E55E4-D62A-7115-9036-7F53361D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55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0532-0965-B00D-F40F-FB44BB4A4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1"/>
            <a:ext cx="10515600" cy="1325563"/>
          </a:xfrm>
        </p:spPr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1077-112D-286E-3031-185372F29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We specify: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 the type of collection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e.g.: notes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the type of objects it will contain </a:t>
            </a:r>
          </a:p>
          <a:p>
            <a:pPr lvl="2">
              <a:lnSpc>
                <a:spcPct val="90000"/>
              </a:lnSpc>
            </a:pPr>
            <a:r>
              <a:rPr lang="en-GB" dirty="0"/>
              <a:t>e.g.: &lt;String&gt;</a:t>
            </a:r>
          </a:p>
          <a:p>
            <a:pPr>
              <a:lnSpc>
                <a:spcPct val="90000"/>
              </a:lnSpc>
            </a:pPr>
            <a:r>
              <a:rPr lang="en-GB" dirty="0"/>
              <a:t>We say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“notes is an </a:t>
            </a:r>
            <a:r>
              <a:rPr lang="en-GB" dirty="0" err="1"/>
              <a:t>ArrayList</a:t>
            </a:r>
            <a:r>
              <a:rPr lang="en-GB" dirty="0"/>
              <a:t> of String”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E55E4-D62A-7115-9036-7F53361D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0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0532-0965-B00D-F40F-FB44BB4A4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3461"/>
            <a:ext cx="10515600" cy="1325563"/>
          </a:xfrm>
        </p:spPr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E1077-112D-286E-3031-185372F29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0667"/>
            <a:ext cx="10515600" cy="427143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Java </a:t>
            </a:r>
            <a:r>
              <a:rPr lang="en-GB" b="1" dirty="0"/>
              <a:t>Collections</a:t>
            </a:r>
            <a:r>
              <a:rPr lang="en-GB" dirty="0"/>
              <a:t> Framework </a:t>
            </a:r>
          </a:p>
          <a:p>
            <a:pPr lvl="1"/>
            <a:r>
              <a:rPr lang="en-GB" b="1" dirty="0" err="1"/>
              <a:t>ArrayList</a:t>
            </a:r>
            <a:endParaRPr lang="en-GB" b="1" dirty="0"/>
          </a:p>
          <a:p>
            <a:pPr lvl="1"/>
            <a:r>
              <a:rPr lang="en-GB" dirty="0"/>
              <a:t>(part of the </a:t>
            </a:r>
            <a:r>
              <a:rPr lang="en-GB" b="1" i="1" dirty="0"/>
              <a:t>Java</a:t>
            </a:r>
            <a:r>
              <a:rPr lang="en-GB" dirty="0"/>
              <a:t> </a:t>
            </a:r>
            <a:r>
              <a:rPr lang="en-GB" b="1" i="1" dirty="0"/>
              <a:t>util package</a:t>
            </a:r>
            <a:r>
              <a:rPr lang="en-GB" dirty="0"/>
              <a:t>)</a:t>
            </a:r>
          </a:p>
          <a:p>
            <a:pPr lvl="1"/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import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java.util.</a:t>
            </a:r>
            <a:r>
              <a:rPr lang="en-US" sz="1400" b="1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;	</a:t>
            </a:r>
          </a:p>
          <a:p>
            <a:pPr lvl="1"/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private </a:t>
            </a:r>
            <a:r>
              <a:rPr lang="en-US" sz="1400" b="1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1400" b="1" dirty="0">
                <a:latin typeface="Courier New" charset="0"/>
                <a:ea typeface="Courier New" charset="0"/>
                <a:cs typeface="Courier New" charset="0"/>
              </a:rPr>
              <a:t> &lt;String&gt; 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notes;	// declares notes as an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of Strings </a:t>
            </a:r>
          </a:p>
          <a:p>
            <a:pPr lvl="1"/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notes = </a:t>
            </a:r>
            <a:r>
              <a:rPr lang="en-US" sz="1400" b="1" dirty="0">
                <a:latin typeface="Courier New" charset="0"/>
                <a:ea typeface="Courier New" charset="0"/>
                <a:cs typeface="Courier New" charset="0"/>
              </a:rPr>
              <a:t>new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b="1" dirty="0" err="1">
                <a:latin typeface="Courier New" charset="0"/>
                <a:ea typeface="Courier New" charset="0"/>
                <a:cs typeface="Courier New" charset="0"/>
              </a:rPr>
              <a:t>ArrayList</a:t>
            </a:r>
            <a:r>
              <a:rPr lang="en-US" sz="1400" b="1" dirty="0">
                <a:latin typeface="Courier New" charset="0"/>
                <a:ea typeface="Courier New" charset="0"/>
                <a:cs typeface="Courier New" charset="0"/>
              </a:rPr>
              <a:t> &lt;String&gt;()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;	// 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Initialises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 notes </a:t>
            </a:r>
          </a:p>
          <a:p>
            <a:pPr lvl="1"/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notes.</a:t>
            </a:r>
            <a:r>
              <a:rPr lang="en-US" sz="1400" b="1" dirty="0" err="1">
                <a:latin typeface="Courier New" charset="0"/>
                <a:ea typeface="Courier New" charset="0"/>
                <a:cs typeface="Courier New" charset="0"/>
              </a:rPr>
              <a:t>add</a:t>
            </a:r>
            <a:r>
              <a:rPr lang="en-US" sz="1400" b="1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note);				// add a note to the list</a:t>
            </a:r>
          </a:p>
          <a:p>
            <a:pPr lvl="1"/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notes.</a:t>
            </a:r>
            <a:r>
              <a:rPr lang="en-US" sz="1400" b="1" dirty="0" err="1">
                <a:latin typeface="Courier New" charset="0"/>
                <a:ea typeface="Courier New" charset="0"/>
                <a:cs typeface="Courier New" charset="0"/>
              </a:rPr>
              <a:t>size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();				// returns how notes in collection</a:t>
            </a:r>
          </a:p>
          <a:p>
            <a:pPr lvl="1"/>
            <a:r>
              <a:rPr lang="en-IE" sz="1400" noProof="1">
                <a:latin typeface="Courier New" charset="0"/>
                <a:ea typeface="Courier New" charset="0"/>
                <a:cs typeface="Courier New" charset="0"/>
              </a:rPr>
              <a:t>notes.</a:t>
            </a:r>
            <a:r>
              <a:rPr lang="en-IE" sz="1400" b="1" noProof="1">
                <a:latin typeface="Courier New" charset="0"/>
                <a:ea typeface="Courier New" charset="0"/>
                <a:cs typeface="Courier New" charset="0"/>
              </a:rPr>
              <a:t>get</a:t>
            </a:r>
            <a:r>
              <a:rPr lang="en-IE" sz="1400" noProof="1">
                <a:latin typeface="Courier New" charset="0"/>
                <a:ea typeface="Courier New" charset="0"/>
                <a:cs typeface="Courier New" charset="0"/>
              </a:rPr>
              <a:t>(noteNumber)			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// returns specific element of collection</a:t>
            </a:r>
            <a:endParaRPr lang="en-IE" sz="1400" noProof="1">
              <a:latin typeface="Courier New" charset="0"/>
              <a:ea typeface="Courier New" charset="0"/>
              <a:cs typeface="Courier New" charset="0"/>
            </a:endParaRPr>
          </a:p>
          <a:p>
            <a:pPr lvl="1"/>
            <a:r>
              <a:rPr lang="en-US" sz="1400" noProof="1">
                <a:latin typeface="Courier New" charset="0"/>
                <a:ea typeface="Courier New" charset="0"/>
                <a:cs typeface="Courier New" charset="0"/>
              </a:rPr>
              <a:t>notes.</a:t>
            </a:r>
            <a:r>
              <a:rPr lang="en-US" sz="1400" b="1" noProof="1">
                <a:latin typeface="Courier New" charset="0"/>
                <a:ea typeface="Courier New" charset="0"/>
                <a:cs typeface="Courier New" charset="0"/>
              </a:rPr>
              <a:t>remove</a:t>
            </a:r>
            <a:r>
              <a:rPr lang="en-US" sz="1400" noProof="1">
                <a:latin typeface="Courier New" charset="0"/>
                <a:ea typeface="Courier New" charset="0"/>
                <a:cs typeface="Courier New" charset="0"/>
              </a:rPr>
              <a:t>(noteNumber);		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// deletes specific element from collection</a:t>
            </a:r>
            <a:endParaRPr lang="en-US" sz="1400" noProof="1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b="1" noProof="1"/>
              <a:t>Iterating collections</a:t>
            </a:r>
          </a:p>
          <a:p>
            <a:pPr lvl="1"/>
            <a:r>
              <a:rPr lang="en-US" b="1" noProof="1"/>
              <a:t>for each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E55E4-D62A-7115-9036-7F53361D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45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09600" y="1067594"/>
            <a:ext cx="5386917" cy="639762"/>
          </a:xfrm>
        </p:spPr>
        <p:txBody>
          <a:bodyPr/>
          <a:lstStyle/>
          <a:p>
            <a:r>
              <a:rPr lang="en-GB" dirty="0"/>
              <a:t>Array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0887" y="1740579"/>
            <a:ext cx="5856514" cy="4965021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Initialisation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String[] names= new String[5];</a:t>
            </a:r>
          </a:p>
          <a:p>
            <a:pPr marL="400050"/>
            <a:r>
              <a:rPr lang="en-GB" b="1" dirty="0"/>
              <a:t>Adding an element</a:t>
            </a:r>
          </a:p>
          <a:p>
            <a:pPr marL="800100" lvl="1"/>
            <a:r>
              <a:rPr lang="en-GB" dirty="0"/>
              <a:t>names[0] = “Siobhan”;</a:t>
            </a:r>
          </a:p>
          <a:p>
            <a:pPr marL="400050"/>
            <a:r>
              <a:rPr lang="en-GB" b="1" dirty="0"/>
              <a:t>Accessing an element</a:t>
            </a:r>
          </a:p>
          <a:p>
            <a:pPr marL="800100" lvl="1"/>
            <a:r>
              <a:rPr lang="en-GB" dirty="0" err="1"/>
              <a:t>System.out.println</a:t>
            </a:r>
            <a:r>
              <a:rPr lang="en-GB" dirty="0"/>
              <a:t>(names[0]);</a:t>
            </a:r>
          </a:p>
          <a:p>
            <a:pPr marL="400050"/>
            <a:r>
              <a:rPr lang="en-GB" b="1" dirty="0"/>
              <a:t>Modifying an Element</a:t>
            </a:r>
          </a:p>
          <a:p>
            <a:pPr marL="800100" lvl="1"/>
            <a:r>
              <a:rPr lang="en-GB" dirty="0"/>
              <a:t>names[0] = “Mary”;</a:t>
            </a:r>
          </a:p>
          <a:p>
            <a:pPr marL="400050"/>
            <a:r>
              <a:rPr lang="en-GB" b="1" dirty="0"/>
              <a:t>Number of elements</a:t>
            </a:r>
          </a:p>
          <a:p>
            <a:pPr marL="800100" lvl="1"/>
            <a:r>
              <a:rPr lang="en-GB" dirty="0" err="1"/>
              <a:t>names.length</a:t>
            </a:r>
            <a:r>
              <a:rPr lang="en-GB" dirty="0"/>
              <a:t>; //returns how many elements 				//array can store</a:t>
            </a:r>
          </a:p>
          <a:p>
            <a:pPr marL="400050"/>
            <a:r>
              <a:rPr lang="en-GB" b="1" dirty="0"/>
              <a:t>Remove an element</a:t>
            </a:r>
          </a:p>
          <a:p>
            <a:pPr marL="800100" lvl="1"/>
            <a:r>
              <a:rPr lang="en-GB" dirty="0"/>
              <a:t>names[0] = “”; //delete of element in array can 				//mean moving elements</a:t>
            </a:r>
            <a:endParaRPr lang="en-GB" b="1" dirty="0"/>
          </a:p>
          <a:p>
            <a:pPr marL="800100" lvl="1"/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196996" y="1052514"/>
            <a:ext cx="5389033" cy="639762"/>
          </a:xfrm>
        </p:spPr>
        <p:txBody>
          <a:bodyPr/>
          <a:lstStyle/>
          <a:p>
            <a:r>
              <a:rPr lang="en-GB" dirty="0" err="1"/>
              <a:t>ArrayList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5867400" y="1707356"/>
            <a:ext cx="6324600" cy="4998244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Initialisation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ArrayList</a:t>
            </a:r>
            <a:r>
              <a:rPr lang="en-GB" dirty="0"/>
              <a:t>&lt;String&gt; names = new </a:t>
            </a:r>
            <a:r>
              <a:rPr lang="en-GB" dirty="0" err="1"/>
              <a:t>ArrayList</a:t>
            </a:r>
            <a:r>
              <a:rPr lang="en-GB" dirty="0"/>
              <a:t>&lt;&gt;();</a:t>
            </a:r>
          </a:p>
          <a:p>
            <a:r>
              <a:rPr lang="en-GB" b="1" dirty="0"/>
              <a:t>Adding an element</a:t>
            </a:r>
          </a:p>
          <a:p>
            <a:pPr lvl="1"/>
            <a:r>
              <a:rPr lang="en-GB" dirty="0" err="1"/>
              <a:t>names.add</a:t>
            </a:r>
            <a:r>
              <a:rPr lang="en-GB" dirty="0"/>
              <a:t>(“Siobhan”);</a:t>
            </a:r>
          </a:p>
          <a:p>
            <a:pPr marL="400050"/>
            <a:r>
              <a:rPr lang="en-GB" b="1" dirty="0"/>
              <a:t>Accessing an element</a:t>
            </a:r>
          </a:p>
          <a:p>
            <a:pPr marL="800100" lvl="1"/>
            <a:r>
              <a:rPr lang="en-GB" dirty="0" err="1"/>
              <a:t>System.out.println</a:t>
            </a:r>
            <a:r>
              <a:rPr lang="en-GB" dirty="0"/>
              <a:t>(</a:t>
            </a:r>
            <a:r>
              <a:rPr lang="en-GB" dirty="0" err="1"/>
              <a:t>names.get</a:t>
            </a:r>
            <a:r>
              <a:rPr lang="en-GB" dirty="0"/>
              <a:t>(0));</a:t>
            </a:r>
          </a:p>
          <a:p>
            <a:pPr marL="400050"/>
            <a:r>
              <a:rPr lang="en-GB" b="1" dirty="0"/>
              <a:t>Modifying an Element</a:t>
            </a:r>
          </a:p>
          <a:p>
            <a:pPr marL="800100" lvl="1"/>
            <a:r>
              <a:rPr lang="en-GB" dirty="0" err="1"/>
              <a:t>names.set</a:t>
            </a:r>
            <a:r>
              <a:rPr lang="en-GB" dirty="0"/>
              <a:t>(0, “Mary");</a:t>
            </a:r>
          </a:p>
          <a:p>
            <a:pPr marL="400050"/>
            <a:r>
              <a:rPr lang="en-GB" b="1" dirty="0"/>
              <a:t>Number of elements</a:t>
            </a:r>
          </a:p>
          <a:p>
            <a:pPr marL="800100" lvl="1"/>
            <a:r>
              <a:rPr lang="en-GB" dirty="0" err="1"/>
              <a:t>names.size</a:t>
            </a:r>
            <a:r>
              <a:rPr lang="en-GB" dirty="0"/>
              <a:t>(); //returns how many elements </a:t>
            </a:r>
            <a:r>
              <a:rPr lang="en-GB"/>
              <a:t>are 			//stored</a:t>
            </a:r>
            <a:endParaRPr lang="en-GB" dirty="0"/>
          </a:p>
          <a:p>
            <a:pPr marL="400050"/>
            <a:r>
              <a:rPr lang="en-GB" b="1" dirty="0"/>
              <a:t>Remove an element</a:t>
            </a:r>
          </a:p>
          <a:p>
            <a:pPr marL="800100" lvl="1"/>
            <a:r>
              <a:rPr lang="en-GB" dirty="0" err="1"/>
              <a:t>names.remove</a:t>
            </a:r>
            <a:r>
              <a:rPr lang="en-GB" dirty="0"/>
              <a:t>(“Mary"); // Remove by value</a:t>
            </a:r>
            <a:br>
              <a:rPr lang="en-GB" dirty="0"/>
            </a:br>
            <a:r>
              <a:rPr lang="en-GB" dirty="0" err="1"/>
              <a:t>names.remove</a:t>
            </a:r>
            <a:r>
              <a:rPr lang="en-GB" dirty="0"/>
              <a:t>(0); // Remove by index</a:t>
            </a:r>
          </a:p>
          <a:p>
            <a:endParaRPr lang="en-GB" dirty="0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3366"/>
                </a:solidFill>
                <a:effectLst/>
                <a:latin typeface="Courier New" panose="02070309020205020404" pitchFamily="49" charset="0"/>
              </a:rPr>
              <a:t>myArray.length;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55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1CADA-C324-9C57-4A0F-F66C29E2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961F37-97A0-7CB2-E7D5-30919C6E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29981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68E01-3AE8-0A46-CB26-0A6E9ACB4B1E}"/>
              </a:ext>
            </a:extLst>
          </p:cNvPr>
          <p:cNvSpPr txBox="1"/>
          <p:nvPr/>
        </p:nvSpPr>
        <p:spPr>
          <a:xfrm>
            <a:off x="914400" y="1443841"/>
            <a:ext cx="1028007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FCCA3A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FCCA3A"/>
                </a:solidFill>
                <a:ea typeface="Inter" panose="020005030000000200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https://docs.oracle.com/en/java/javase/11/docs/api/java.base/java/lang/String.html</a:t>
            </a:r>
            <a:br>
              <a:rPr lang="en-IE" sz="1600" dirty="0">
                <a:solidFill>
                  <a:srgbClr val="FCCA3A"/>
                </a:solidFill>
                <a:ea typeface="Inter" panose="02000503000000020004" pitchFamily="2" charset="0"/>
              </a:rPr>
            </a:br>
            <a:endParaRPr lang="en-IE" sz="1600" dirty="0">
              <a:solidFill>
                <a:srgbClr val="FCCA3A"/>
              </a:solidFill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FCCA3A"/>
                </a:solidFill>
                <a:ea typeface="Inter" panose="02000503000000020004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https://docs.oracle.com/javase/8/docs/api/java/util/ArrayList.html</a:t>
            </a:r>
            <a:br>
              <a:rPr lang="en-IE" sz="1600" dirty="0">
                <a:solidFill>
                  <a:srgbClr val="FCCA3A"/>
                </a:solidFill>
                <a:ea typeface="Inter" panose="02000503000000020004" pitchFamily="2" charset="0"/>
              </a:rPr>
            </a:br>
            <a:endParaRPr lang="en-IE" sz="1600" dirty="0">
              <a:solidFill>
                <a:srgbClr val="FCCA3A"/>
              </a:solidFill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FCCA3A"/>
                </a:solidFill>
                <a:ea typeface="Inter" panose="02000503000000020004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http://www.angelikalanger.com/GenericsFAQ/FAQSections/ParameterizedTypes.html#FAQ001</a:t>
            </a:r>
            <a:br>
              <a:rPr lang="en-IE" sz="1600" dirty="0">
                <a:solidFill>
                  <a:srgbClr val="FCCA3A"/>
                </a:solidFill>
                <a:ea typeface="Inter" panose="02000503000000020004" pitchFamily="2" charset="0"/>
              </a:rPr>
            </a:br>
            <a:endParaRPr lang="en-IE" sz="1600" dirty="0">
              <a:solidFill>
                <a:srgbClr val="FCCA3A"/>
              </a:solidFill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E" sz="1600" dirty="0">
                <a:solidFill>
                  <a:srgbClr val="FCCA3A"/>
                </a:solidFill>
                <a:ea typeface="Inter" panose="02000503000000020004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https://www.programiz.com/java-programming/library/arraylist</a:t>
            </a:r>
            <a:endParaRPr lang="en-IE" sz="1600" dirty="0">
              <a:solidFill>
                <a:srgbClr val="FCCA3A"/>
              </a:solidFill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E" sz="1600" dirty="0">
              <a:solidFill>
                <a:srgbClr val="FCCA3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E" sz="1600" dirty="0">
              <a:solidFill>
                <a:srgbClr val="FCCA3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E" sz="1600" dirty="0">
              <a:solidFill>
                <a:srgbClr val="FCCA3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E" sz="1600" dirty="0">
              <a:solidFill>
                <a:srgbClr val="FCCA3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CCA3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CCA3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FCCA3A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CCA3A"/>
              </a:solidFill>
            </a:endParaRPr>
          </a:p>
          <a:p>
            <a:endParaRPr lang="en-US" dirty="0">
              <a:solidFill>
                <a:srgbClr val="FCCA3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CCA3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CCA3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CCA3A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2400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868719E-2980-90AE-6EC3-B538BB68E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18" y="1417638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22649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1302</Words>
  <Application>Microsoft Office PowerPoint</Application>
  <PresentationFormat>Widescreen</PresentationFormat>
  <Paragraphs>237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Courier New</vt:lpstr>
      <vt:lpstr>DM Sans</vt:lpstr>
      <vt:lpstr>Inter</vt:lpstr>
      <vt:lpstr>Inter Medium</vt:lpstr>
      <vt:lpstr>Office Theme</vt:lpstr>
      <vt:lpstr>Introduction to ArrayLists</vt:lpstr>
      <vt:lpstr>Topic list</vt:lpstr>
      <vt:lpstr>Generic/Parameterized Classes</vt:lpstr>
      <vt:lpstr>Generic/Parameterized Classes</vt:lpstr>
      <vt:lpstr>PowerPoint Presentation</vt:lpstr>
      <vt:lpstr>Generic/Parameterized Classes</vt:lpstr>
      <vt:lpstr>Topic list</vt:lpstr>
      <vt:lpstr>Processing a whole collection (iteration)</vt:lpstr>
      <vt:lpstr>Loops in Programming</vt:lpstr>
      <vt:lpstr>Topic list</vt:lpstr>
      <vt:lpstr>Recap: For Loop pseudo-code</vt:lpstr>
      <vt:lpstr>Recap: For Loop syntax</vt:lpstr>
      <vt:lpstr>Recap: For Loop syntax</vt:lpstr>
      <vt:lpstr>For Loop Flowchart</vt:lpstr>
      <vt:lpstr>For Loop with ArrayLists (Collections)</vt:lpstr>
      <vt:lpstr>PowerPoint Presentation</vt:lpstr>
      <vt:lpstr>Recap: While Loop pseudo-code</vt:lpstr>
      <vt:lpstr>Recap: While Loop Construction</vt:lpstr>
      <vt:lpstr>While Loop Flowchart</vt:lpstr>
      <vt:lpstr>While Loop with ArrayLists</vt:lpstr>
      <vt:lpstr>For vs While - LCV</vt:lpstr>
      <vt:lpstr>PowerPoint Presentation</vt:lpstr>
      <vt:lpstr>For each loop: pseudo-code</vt:lpstr>
      <vt:lpstr>For each loop with Arraylists </vt:lpstr>
      <vt:lpstr>For each loop</vt:lpstr>
      <vt:lpstr>For each vs while</vt:lpstr>
      <vt:lpstr>ArrayList Collection</vt:lpstr>
      <vt:lpstr>ArrayList Summary</vt:lpstr>
      <vt:lpstr>Comparison</vt:lpstr>
      <vt:lpstr>References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Abstraction and Modularization</dc:title>
  <dc:creator>Siobhan Drohan</dc:creator>
  <cp:lastModifiedBy>Siobhan Roche</cp:lastModifiedBy>
  <cp:revision>329</cp:revision>
  <cp:lastPrinted>2018-02-23T01:00:05Z</cp:lastPrinted>
  <dcterms:created xsi:type="dcterms:W3CDTF">2006-08-16T00:00:00Z</dcterms:created>
  <dcterms:modified xsi:type="dcterms:W3CDTF">2025-11-20T11:16:49Z</dcterms:modified>
</cp:coreProperties>
</file>