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25" r:id="rId2"/>
    <p:sldId id="373" r:id="rId3"/>
    <p:sldId id="415" r:id="rId4"/>
    <p:sldId id="416" r:id="rId5"/>
    <p:sldId id="417" r:id="rId6"/>
    <p:sldId id="418" r:id="rId7"/>
    <p:sldId id="414" r:id="rId8"/>
    <p:sldId id="349" r:id="rId9"/>
    <p:sldId id="398" r:id="rId10"/>
    <p:sldId id="400" r:id="rId11"/>
    <p:sldId id="399" r:id="rId12"/>
    <p:sldId id="407" r:id="rId13"/>
    <p:sldId id="402" r:id="rId14"/>
    <p:sldId id="403" r:id="rId15"/>
    <p:sldId id="404" r:id="rId16"/>
    <p:sldId id="405" r:id="rId17"/>
    <p:sldId id="350" r:id="rId18"/>
    <p:sldId id="406" r:id="rId19"/>
    <p:sldId id="389" r:id="rId20"/>
    <p:sldId id="408" r:id="rId21"/>
    <p:sldId id="409" r:id="rId22"/>
    <p:sldId id="410" r:id="rId23"/>
    <p:sldId id="411" r:id="rId24"/>
    <p:sldId id="412" r:id="rId25"/>
    <p:sldId id="413" r:id="rId26"/>
    <p:sldId id="347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iread Meagher" initials="MM" lastIdx="1" clrIdx="0">
    <p:extLst>
      <p:ext uri="{19B8F6BF-5375-455C-9EA6-DF929625EA0E}">
        <p15:presenceInfo xmlns:p15="http://schemas.microsoft.com/office/powerpoint/2012/main" userId="S::mmeagher@wit.ie::1cd013a5-0381-46e7-812e-6710bafa917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85" autoAdjust="0"/>
    <p:restoredTop sz="89046" autoAdjust="0"/>
  </p:normalViewPr>
  <p:slideViewPr>
    <p:cSldViewPr>
      <p:cViewPr varScale="1">
        <p:scale>
          <a:sx n="81" d="100"/>
          <a:sy n="81" d="100"/>
        </p:scale>
        <p:origin x="10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12/12/2020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17699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gular-expressions.info/numericranges.html" TargetMode="External"/><Relationship Id="rId2" Type="http://schemas.openxmlformats.org/officeDocument/2006/relationships/hyperlink" Target="https://regexone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heatography.com/davechild/cheat-sheets/regular-expressions/" TargetMode="External"/><Relationship Id="rId4" Type="http://schemas.openxmlformats.org/officeDocument/2006/relationships/hyperlink" Target="https://www.w3schools.com/jsref/jsref_obj_regexp.asp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1641" y="91440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Boolean methods and the use of the Utilities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715000"/>
            <a:ext cx="3771900" cy="84772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727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53000" y="5892225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http://www.wit.ie/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651641" y="2133600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use of Boolean methods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2B9C0C-FB1E-41E0-9281-3F67413B6C9E}"/>
              </a:ext>
            </a:extLst>
          </p:cNvPr>
          <p:cNvSpPr txBox="1"/>
          <p:nvPr/>
        </p:nvSpPr>
        <p:spPr>
          <a:xfrm>
            <a:off x="2286000" y="3817203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Siobhán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</a:t>
            </a:r>
          </a:p>
        </p:txBody>
      </p:sp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7630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E" sz="4400" dirty="0"/>
          </a:p>
          <a:p>
            <a:pPr marL="1030288" indent="-747713">
              <a:buFont typeface="+mj-lt"/>
              <a:buAutoNum type="arabicPeriod"/>
            </a:pPr>
            <a:r>
              <a:rPr lang="en-IE" sz="4400" dirty="0"/>
              <a:t>Regular expressions </a:t>
            </a:r>
          </a:p>
          <a:p>
            <a:pPr marL="1030288" indent="-747713">
              <a:buFont typeface="+mj-lt"/>
              <a:buAutoNum type="arabicPeriod"/>
            </a:pPr>
            <a:r>
              <a:rPr lang="en-IE" sz="4400" dirty="0"/>
              <a:t>Methods with int return type</a:t>
            </a:r>
          </a:p>
          <a:p>
            <a:pPr marL="1030288" indent="-747713">
              <a:buFont typeface="+mj-lt"/>
              <a:buAutoNum type="arabicPeriod"/>
            </a:pPr>
            <a:r>
              <a:rPr lang="en-IE" sz="4400" dirty="0"/>
              <a:t>Boolean methods</a:t>
            </a:r>
            <a:endParaRPr lang="en-IE" sz="4400" b="1" dirty="0"/>
          </a:p>
          <a:p>
            <a:pPr marL="1030288" indent="-747713">
              <a:buFont typeface="+mj-lt"/>
              <a:buAutoNum type="arabicPeriod"/>
            </a:pPr>
            <a:r>
              <a:rPr lang="en-IE" sz="4400" b="1" dirty="0"/>
              <a:t>Utilities </a:t>
            </a:r>
            <a:r>
              <a:rPr lang="en-IE" sz="4400" dirty="0"/>
              <a:t>class</a:t>
            </a:r>
          </a:p>
          <a:p>
            <a:pPr marL="1030288" indent="-747713">
              <a:buFont typeface="+mj-lt"/>
              <a:buAutoNum type="arabicPeriod"/>
            </a:pPr>
            <a:r>
              <a:rPr lang="en-IE" sz="4400" b="1" dirty="0"/>
              <a:t>equals() </a:t>
            </a:r>
            <a:r>
              <a:rPr lang="en-IE" sz="4400" dirty="0"/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2286000"/>
            <a:ext cx="7924800" cy="685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9131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8C185-FFEB-4740-97EE-87255BF6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85340-FFF4-8D4E-BBBF-7594E0DA1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353D35B-81B4-DD4E-AE75-92BF2A0B91D8}"/>
              </a:ext>
            </a:extLst>
          </p:cNvPr>
          <p:cNvGrpSpPr/>
          <p:nvPr/>
        </p:nvGrpSpPr>
        <p:grpSpPr>
          <a:xfrm>
            <a:off x="609600" y="2362200"/>
            <a:ext cx="5181600" cy="914400"/>
            <a:chOff x="609600" y="2362200"/>
            <a:chExt cx="5181600" cy="91440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31AA607-5AD0-0E43-81D7-4087F45EE2F5}"/>
                </a:ext>
              </a:extLst>
            </p:cNvPr>
            <p:cNvSpPr/>
            <p:nvPr/>
          </p:nvSpPr>
          <p:spPr>
            <a:xfrm>
              <a:off x="609600" y="2362200"/>
              <a:ext cx="4038600" cy="914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9FF5B9B-D25B-AB4F-B692-404BC4C54D18}"/>
                </a:ext>
              </a:extLst>
            </p:cNvPr>
            <p:cNvSpPr txBox="1"/>
            <p:nvPr/>
          </p:nvSpPr>
          <p:spPr>
            <a:xfrm>
              <a:off x="914400" y="2514600"/>
              <a:ext cx="4876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Regular Expression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059810-54B9-A247-A7A3-B6A80DEF09A3}"/>
              </a:ext>
            </a:extLst>
          </p:cNvPr>
          <p:cNvGrpSpPr/>
          <p:nvPr/>
        </p:nvGrpSpPr>
        <p:grpSpPr>
          <a:xfrm>
            <a:off x="4038600" y="3810000"/>
            <a:ext cx="4419600" cy="1752600"/>
            <a:chOff x="4038600" y="3810000"/>
            <a:chExt cx="4419600" cy="175260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872E98BB-34C5-1E46-9ED5-045CAA472D0C}"/>
                </a:ext>
              </a:extLst>
            </p:cNvPr>
            <p:cNvSpPr/>
            <p:nvPr/>
          </p:nvSpPr>
          <p:spPr>
            <a:xfrm>
              <a:off x="4038600" y="3810000"/>
              <a:ext cx="4419600" cy="17526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1C5BE4-0001-B241-87E4-CE273A7065ED}"/>
                </a:ext>
              </a:extLst>
            </p:cNvPr>
            <p:cNvSpPr txBox="1"/>
            <p:nvPr/>
          </p:nvSpPr>
          <p:spPr>
            <a:xfrm>
              <a:off x="4038600" y="3886200"/>
              <a:ext cx="43434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2400" dirty="0"/>
                <a:t>‘A sequence of symbols and characters expressing a string or pattern to be searched for within a longer piece of text.’</a:t>
              </a:r>
              <a:endParaRPr lang="en-US" sz="2400" dirty="0"/>
            </a:p>
          </p:txBody>
        </p:sp>
      </p:grpSp>
      <p:sp>
        <p:nvSpPr>
          <p:cNvPr id="14" name="Right Arrow 13">
            <a:extLst>
              <a:ext uri="{FF2B5EF4-FFF2-40B4-BE49-F238E27FC236}">
                <a16:creationId xmlns:a16="http://schemas.microsoft.com/office/drawing/2014/main" id="{4F8E7265-C680-B047-B186-57DC4F6BF2A9}"/>
              </a:ext>
            </a:extLst>
          </p:cNvPr>
          <p:cNvSpPr/>
          <p:nvPr/>
        </p:nvSpPr>
        <p:spPr>
          <a:xfrm rot="2099641">
            <a:off x="3124200" y="3352800"/>
            <a:ext cx="1295400" cy="60960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4488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ECBBD-0279-374C-8A04-54B30C5E0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ACCE3-0392-0C47-84B6-8240C1219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hlinkClick r:id="rId2"/>
              </a:rPr>
              <a:t>https://regexone.com/</a:t>
            </a:r>
            <a:r>
              <a:rPr lang="en-US" sz="2400" dirty="0"/>
              <a:t>  (good interactive site)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This site has what you need but looks a bit busy:</a:t>
            </a:r>
            <a:endParaRPr lang="en-US" sz="2400" dirty="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1"/>
            <a:r>
              <a:rPr lang="en-US" sz="2000" dirty="0">
                <a:hlinkClick r:id="rId3"/>
              </a:rPr>
              <a:t>https://www.regular-expressions.info/numericranges.html</a:t>
            </a:r>
            <a:r>
              <a:rPr lang="en-US" sz="2000" dirty="0"/>
              <a:t>  </a:t>
            </a:r>
          </a:p>
          <a:p>
            <a:endParaRPr lang="en-US" sz="2400" dirty="0"/>
          </a:p>
          <a:p>
            <a:r>
              <a:rPr lang="en-US" sz="2400" dirty="0"/>
              <a:t>This site has a nice chart of what all the symbols need.</a:t>
            </a:r>
            <a:endParaRPr lang="en-US" sz="2400" dirty="0"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1"/>
            <a:r>
              <a:rPr lang="en-US" sz="2000" dirty="0">
                <a:hlinkClick r:id="rId4"/>
              </a:rPr>
              <a:t>https://www.w3schools.com/jsref/jsref_obj_regexp.asp</a:t>
            </a:r>
            <a:r>
              <a:rPr lang="en-US" sz="2000" dirty="0"/>
              <a:t> </a:t>
            </a:r>
          </a:p>
          <a:p>
            <a:pPr marL="57150" indent="0">
              <a:buNone/>
            </a:pPr>
            <a:endParaRPr lang="en-US" sz="2400" dirty="0"/>
          </a:p>
          <a:p>
            <a:pPr marL="400050"/>
            <a:r>
              <a:rPr lang="en-US" sz="2400" dirty="0"/>
              <a:t>CHEATSHEET</a:t>
            </a:r>
          </a:p>
          <a:p>
            <a:pPr marL="800100" lvl="1"/>
            <a:r>
              <a:rPr lang="en-US" sz="2000" dirty="0">
                <a:hlinkClick r:id="rId5"/>
              </a:rPr>
              <a:t>https://</a:t>
            </a:r>
            <a:r>
              <a:rPr lang="en-US" sz="2000" dirty="0" err="1">
                <a:hlinkClick r:id="rId5"/>
              </a:rPr>
              <a:t>cheatography.com</a:t>
            </a:r>
            <a:r>
              <a:rPr lang="en-US" sz="2000" dirty="0">
                <a:hlinkClick r:id="rId5"/>
              </a:rPr>
              <a:t>/</a:t>
            </a:r>
            <a:r>
              <a:rPr lang="en-US" sz="2000" dirty="0" err="1">
                <a:hlinkClick r:id="rId5"/>
              </a:rPr>
              <a:t>davechild</a:t>
            </a:r>
            <a:r>
              <a:rPr lang="en-US" sz="2000" dirty="0">
                <a:hlinkClick r:id="rId5"/>
              </a:rPr>
              <a:t>/cheat-sheets/regular-expressions/</a:t>
            </a:r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77297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31B0D-BA80-4C44-B021-30F68C2F0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CheatSheet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296CC2-7F6E-4B41-BB59-21F960E91F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676400"/>
            <a:ext cx="3429000" cy="4850892"/>
          </a:xfrm>
          <a:ln w="31750">
            <a:solidFill>
              <a:schemeClr val="accent2"/>
            </a:solidFill>
          </a:ln>
          <a:effectLst>
            <a:outerShdw blurRad="50800" dist="50800" dir="5400000" algn="ctr" rotWithShape="0">
              <a:schemeClr val="accent2">
                <a:lumMod val="40000"/>
                <a:lumOff val="60000"/>
                <a:alpha val="42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6547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D9234-03C2-234D-8220-0786DE3F1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use Regular Expressions in Utilities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F468D-8962-9240-BA96-BB2205A23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IE" dirty="0"/>
            </a:br>
            <a:br>
              <a:rPr lang="en-IE" dirty="0"/>
            </a:br>
            <a:r>
              <a:rPr lang="en-IE" dirty="0"/>
              <a:t>}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7F0CBD-BE89-5F4A-9A05-C40C9FDE8244}"/>
              </a:ext>
            </a:extLst>
          </p:cNvPr>
          <p:cNvSpPr txBox="1">
            <a:spLocks/>
          </p:cNvSpPr>
          <p:nvPr/>
        </p:nvSpPr>
        <p:spPr>
          <a:xfrm>
            <a:off x="381000" y="1600200"/>
            <a:ext cx="8305800" cy="2209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dirty="0"/>
              <a:t>static </a:t>
            </a:r>
            <a:r>
              <a:rPr lang="en-IE" dirty="0" err="1"/>
              <a:t>boolean</a:t>
            </a:r>
            <a:r>
              <a:rPr lang="en-IE" dirty="0"/>
              <a:t> </a:t>
            </a:r>
            <a:r>
              <a:rPr lang="en-IE" dirty="0" err="1"/>
              <a:t>onlyContainsNumbers</a:t>
            </a:r>
            <a:r>
              <a:rPr lang="en-IE" dirty="0"/>
              <a:t>(String text) </a:t>
            </a:r>
            <a:r>
              <a:rPr lang="en-IE" sz="2000" dirty="0"/>
              <a:t>{</a:t>
            </a:r>
            <a:br>
              <a:rPr lang="en-IE" sz="2000" dirty="0"/>
            </a:br>
            <a:r>
              <a:rPr lang="en-IE" sz="2000" dirty="0"/>
              <a:t>      </a:t>
            </a:r>
            <a:r>
              <a:rPr lang="en-IE" dirty="0"/>
              <a:t>return (</a:t>
            </a:r>
            <a:r>
              <a:rPr lang="en-IE" dirty="0" err="1"/>
              <a:t>text.matches</a:t>
            </a:r>
            <a:r>
              <a:rPr lang="en-IE" dirty="0"/>
              <a:t>("[0-9]+"));</a:t>
            </a:r>
            <a:br>
              <a:rPr lang="en-IE" sz="2000" dirty="0"/>
            </a:br>
            <a:br>
              <a:rPr lang="en-IE" sz="2000" dirty="0"/>
            </a:br>
            <a:r>
              <a:rPr lang="en-IE" sz="2000" dirty="0"/>
              <a:t>}</a:t>
            </a:r>
            <a:endParaRPr lang="en-IE" sz="19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5720D79-0B18-1040-A18F-0CEE8EECE60F}"/>
              </a:ext>
            </a:extLst>
          </p:cNvPr>
          <p:cNvCxnSpPr/>
          <p:nvPr/>
        </p:nvCxnSpPr>
        <p:spPr>
          <a:xfrm flipH="1" flipV="1">
            <a:off x="4953000" y="2819400"/>
            <a:ext cx="685800" cy="2209800"/>
          </a:xfrm>
          <a:prstGeom prst="straightConnector1">
            <a:avLst/>
          </a:prstGeom>
          <a:ln w="476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2C619F-15C8-264F-B1D9-F03AC8A491B0}"/>
              </a:ext>
            </a:extLst>
          </p:cNvPr>
          <p:cNvSpPr txBox="1"/>
          <p:nvPr/>
        </p:nvSpPr>
        <p:spPr>
          <a:xfrm>
            <a:off x="5105400" y="5105400"/>
            <a:ext cx="2667000" cy="92333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Regular expression pattern – this means </a:t>
            </a:r>
          </a:p>
          <a:p>
            <a:r>
              <a:rPr lang="en-US" dirty="0"/>
              <a:t>‘any number of digits’</a:t>
            </a:r>
          </a:p>
        </p:txBody>
      </p:sp>
    </p:spTree>
    <p:extLst>
      <p:ext uri="{BB962C8B-B14F-4D97-AF65-F5344CB8AC3E}">
        <p14:creationId xmlns:p14="http://schemas.microsoft.com/office/powerpoint/2010/main" val="1499355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7630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E" sz="4400" dirty="0"/>
          </a:p>
          <a:p>
            <a:pPr marL="1030288" indent="-747713">
              <a:buFont typeface="+mj-lt"/>
              <a:buAutoNum type="arabicPeriod"/>
            </a:pPr>
            <a:r>
              <a:rPr lang="en-IE" sz="4400" dirty="0"/>
              <a:t>Regular expressions </a:t>
            </a:r>
          </a:p>
          <a:p>
            <a:pPr marL="1030288" indent="-747713">
              <a:buFont typeface="+mj-lt"/>
              <a:buAutoNum type="arabicPeriod"/>
            </a:pPr>
            <a:r>
              <a:rPr lang="en-IE" sz="4400" dirty="0"/>
              <a:t>Methods with int return type</a:t>
            </a:r>
          </a:p>
          <a:p>
            <a:pPr marL="1030288" indent="-747713">
              <a:buFont typeface="+mj-lt"/>
              <a:buAutoNum type="arabicPeriod"/>
            </a:pPr>
            <a:r>
              <a:rPr lang="en-IE" sz="4400" dirty="0"/>
              <a:t>Boolean methods</a:t>
            </a:r>
            <a:endParaRPr lang="en-IE" sz="4400" b="1" dirty="0"/>
          </a:p>
          <a:p>
            <a:pPr marL="1030288" indent="-747713">
              <a:buFont typeface="+mj-lt"/>
              <a:buAutoNum type="arabicPeriod"/>
            </a:pPr>
            <a:r>
              <a:rPr lang="en-IE" sz="4400" b="1" dirty="0"/>
              <a:t>Utilities </a:t>
            </a:r>
            <a:r>
              <a:rPr lang="en-IE" sz="4400" dirty="0"/>
              <a:t>class</a:t>
            </a:r>
          </a:p>
          <a:p>
            <a:pPr marL="1030288" indent="-747713">
              <a:buFont typeface="+mj-lt"/>
              <a:buAutoNum type="arabicPeriod"/>
            </a:pPr>
            <a:r>
              <a:rPr lang="en-IE" sz="4400" b="1" dirty="0"/>
              <a:t>equals() </a:t>
            </a:r>
            <a:r>
              <a:rPr lang="en-IE" sz="4400" dirty="0"/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124200"/>
            <a:ext cx="7924800" cy="685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1145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Example 1. Methods with </a:t>
            </a:r>
            <a:r>
              <a:rPr lang="en-IE" b="1" dirty="0"/>
              <a:t>int</a:t>
            </a:r>
            <a:r>
              <a:rPr lang="en-IE" dirty="0"/>
              <a:t> return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7800" y="4343400"/>
            <a:ext cx="6248400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int </a:t>
            </a:r>
            <a:r>
              <a:rPr lang="en-IE" sz="2400" dirty="0" err="1"/>
              <a:t>myVar</a:t>
            </a:r>
            <a:r>
              <a:rPr lang="en-IE" sz="2400" dirty="0"/>
              <a:t> = </a:t>
            </a:r>
            <a:r>
              <a:rPr lang="en-IE" sz="2400" i="1" dirty="0"/>
              <a:t>addTwoNumbers1</a:t>
            </a:r>
            <a:r>
              <a:rPr lang="en-IE" sz="2400" dirty="0"/>
              <a:t>(4,5);</a:t>
            </a:r>
            <a:br>
              <a:rPr lang="en-IE" sz="2400" dirty="0"/>
            </a:br>
            <a:r>
              <a:rPr lang="en-IE" sz="2400" dirty="0" err="1"/>
              <a:t>System.</a:t>
            </a:r>
            <a:r>
              <a:rPr lang="en-IE" sz="2400" i="1" dirty="0" err="1"/>
              <a:t>out</a:t>
            </a:r>
            <a:r>
              <a:rPr lang="en-IE" sz="2400" dirty="0" err="1"/>
              <a:t>.println</a:t>
            </a:r>
            <a:r>
              <a:rPr lang="en-IE" sz="2400" dirty="0"/>
              <a:t>("The result is " + </a:t>
            </a:r>
            <a:r>
              <a:rPr lang="en-IE" sz="2400" dirty="0" err="1"/>
              <a:t>myVar</a:t>
            </a:r>
            <a:r>
              <a:rPr lang="en-IE" sz="2400" dirty="0"/>
              <a:t>);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1752600"/>
            <a:ext cx="6629400" cy="193899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public int addTwoNumbers1(int num1, int num2) {</a:t>
            </a:r>
            <a:br>
              <a:rPr lang="en-IE" sz="2400" dirty="0"/>
            </a:br>
            <a:r>
              <a:rPr lang="en-IE" sz="2400" dirty="0"/>
              <a:t>       int total;</a:t>
            </a:r>
            <a:br>
              <a:rPr lang="en-IE" sz="2400" dirty="0"/>
            </a:br>
            <a:r>
              <a:rPr lang="en-IE" sz="2400" dirty="0"/>
              <a:t>       total = num1 + num2;</a:t>
            </a:r>
            <a:br>
              <a:rPr lang="en-IE" sz="2400" dirty="0"/>
            </a:br>
            <a:r>
              <a:rPr lang="en-IE" sz="2400" dirty="0"/>
              <a:t>       return total;</a:t>
            </a:r>
            <a:br>
              <a:rPr lang="en-IE" sz="2400" dirty="0"/>
            </a:br>
            <a:r>
              <a:rPr lang="en-IE" sz="2400" dirty="0"/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4EC2E2-BD09-E24F-B2AD-1DD063454F27}"/>
              </a:ext>
            </a:extLst>
          </p:cNvPr>
          <p:cNvSpPr/>
          <p:nvPr/>
        </p:nvSpPr>
        <p:spPr>
          <a:xfrm>
            <a:off x="5181600" y="6096000"/>
            <a:ext cx="3200400" cy="58477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3200" dirty="0"/>
              <a:t>The result is 9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2FD3F9-21DA-9C40-9608-7FA31A53448B}"/>
              </a:ext>
            </a:extLst>
          </p:cNvPr>
          <p:cNvCxnSpPr/>
          <p:nvPr/>
        </p:nvCxnSpPr>
        <p:spPr>
          <a:xfrm>
            <a:off x="2438400" y="3581400"/>
            <a:ext cx="762000" cy="990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AABF7A7-7BEF-BA44-B9F5-A0C72F8FF14C}"/>
              </a:ext>
            </a:extLst>
          </p:cNvPr>
          <p:cNvSpPr txBox="1"/>
          <p:nvPr/>
        </p:nvSpPr>
        <p:spPr>
          <a:xfrm>
            <a:off x="3200400" y="38100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Called as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4A58F5-0086-A248-A902-C7F39D79BC05}"/>
              </a:ext>
            </a:extLst>
          </p:cNvPr>
          <p:cNvCxnSpPr/>
          <p:nvPr/>
        </p:nvCxnSpPr>
        <p:spPr>
          <a:xfrm>
            <a:off x="5181600" y="5105400"/>
            <a:ext cx="762000" cy="990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0A35A4E-010C-694F-918F-F08A15BFAC6F}"/>
              </a:ext>
            </a:extLst>
          </p:cNvPr>
          <p:cNvSpPr txBox="1"/>
          <p:nvPr/>
        </p:nvSpPr>
        <p:spPr>
          <a:xfrm>
            <a:off x="5791200" y="541020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this is  printed to the console</a:t>
            </a:r>
          </a:p>
        </p:txBody>
      </p:sp>
    </p:spTree>
    <p:extLst>
      <p:ext uri="{BB962C8B-B14F-4D97-AF65-F5344CB8AC3E}">
        <p14:creationId xmlns:p14="http://schemas.microsoft.com/office/powerpoint/2010/main" val="145768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11" grpId="0" animBg="1"/>
      <p:bldP spid="13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Example 2. Methods with </a:t>
            </a:r>
            <a:r>
              <a:rPr lang="en-IE" b="1" dirty="0"/>
              <a:t>int</a:t>
            </a:r>
            <a:r>
              <a:rPr lang="en-IE" dirty="0"/>
              <a:t> return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7800" y="4343400"/>
            <a:ext cx="6248400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int </a:t>
            </a:r>
            <a:r>
              <a:rPr lang="en-IE" sz="2400" dirty="0" err="1"/>
              <a:t>myVar</a:t>
            </a:r>
            <a:r>
              <a:rPr lang="en-IE" sz="2400" dirty="0"/>
              <a:t> = </a:t>
            </a:r>
            <a:r>
              <a:rPr lang="en-IE" sz="2400" i="1" dirty="0"/>
              <a:t>addTwoNumbers1</a:t>
            </a:r>
            <a:r>
              <a:rPr lang="en-IE" sz="2400" dirty="0"/>
              <a:t>(4,5);</a:t>
            </a:r>
            <a:br>
              <a:rPr lang="en-IE" sz="2400" dirty="0"/>
            </a:br>
            <a:r>
              <a:rPr lang="en-IE" sz="2400" dirty="0" err="1"/>
              <a:t>System.</a:t>
            </a:r>
            <a:r>
              <a:rPr lang="en-IE" sz="2400" i="1" dirty="0" err="1"/>
              <a:t>out</a:t>
            </a:r>
            <a:r>
              <a:rPr lang="en-IE" sz="2400" dirty="0" err="1"/>
              <a:t>.println</a:t>
            </a:r>
            <a:r>
              <a:rPr lang="en-IE" sz="2400" dirty="0"/>
              <a:t>("The result is " + </a:t>
            </a:r>
            <a:r>
              <a:rPr lang="en-IE" sz="2400" dirty="0" err="1"/>
              <a:t>myVar</a:t>
            </a:r>
            <a:r>
              <a:rPr lang="en-IE" sz="2400" dirty="0"/>
              <a:t>);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1752600"/>
            <a:ext cx="6629400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public int addTwoNumbers1(int num1, int num2) {</a:t>
            </a:r>
            <a:br>
              <a:rPr lang="en-IE" sz="2400" dirty="0"/>
            </a:br>
            <a:r>
              <a:rPr lang="en-IE" sz="2400" dirty="0"/>
              <a:t>      return (num1 + num2);</a:t>
            </a:r>
            <a:br>
              <a:rPr lang="en-IE" sz="2400" dirty="0"/>
            </a:br>
            <a:r>
              <a:rPr lang="en-IE" sz="2400" dirty="0"/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4EC2E2-BD09-E24F-B2AD-1DD063454F27}"/>
              </a:ext>
            </a:extLst>
          </p:cNvPr>
          <p:cNvSpPr/>
          <p:nvPr/>
        </p:nvSpPr>
        <p:spPr>
          <a:xfrm>
            <a:off x="5181600" y="6096000"/>
            <a:ext cx="3200400" cy="58477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3200" dirty="0"/>
              <a:t>The result is 9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2FD3F9-21DA-9C40-9608-7FA31A53448B}"/>
              </a:ext>
            </a:extLst>
          </p:cNvPr>
          <p:cNvCxnSpPr/>
          <p:nvPr/>
        </p:nvCxnSpPr>
        <p:spPr>
          <a:xfrm>
            <a:off x="2209800" y="3200400"/>
            <a:ext cx="762000" cy="990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AABF7A7-7BEF-BA44-B9F5-A0C72F8FF14C}"/>
              </a:ext>
            </a:extLst>
          </p:cNvPr>
          <p:cNvSpPr txBox="1"/>
          <p:nvPr/>
        </p:nvSpPr>
        <p:spPr>
          <a:xfrm>
            <a:off x="3200400" y="3810000"/>
            <a:ext cx="13716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Called as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4A58F5-0086-A248-A902-C7F39D79BC05}"/>
              </a:ext>
            </a:extLst>
          </p:cNvPr>
          <p:cNvCxnSpPr/>
          <p:nvPr/>
        </p:nvCxnSpPr>
        <p:spPr>
          <a:xfrm>
            <a:off x="5181600" y="5105400"/>
            <a:ext cx="762000" cy="990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0A35A4E-010C-694F-918F-F08A15BFAC6F}"/>
              </a:ext>
            </a:extLst>
          </p:cNvPr>
          <p:cNvSpPr txBox="1"/>
          <p:nvPr/>
        </p:nvSpPr>
        <p:spPr>
          <a:xfrm>
            <a:off x="5791200" y="5410200"/>
            <a:ext cx="24384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And this is  printed to the console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87B919E-987C-5648-B347-8452DB62A42C}"/>
              </a:ext>
            </a:extLst>
          </p:cNvPr>
          <p:cNvCxnSpPr>
            <a:cxnSpLocks/>
          </p:cNvCxnSpPr>
          <p:nvPr/>
        </p:nvCxnSpPr>
        <p:spPr>
          <a:xfrm flipH="1" flipV="1">
            <a:off x="3962400" y="2362200"/>
            <a:ext cx="3048000" cy="68580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5747FF6-F0D5-B74B-BEEA-FE23AE367CA6}"/>
              </a:ext>
            </a:extLst>
          </p:cNvPr>
          <p:cNvSpPr txBox="1"/>
          <p:nvPr/>
        </p:nvSpPr>
        <p:spPr>
          <a:xfrm>
            <a:off x="5715000" y="3124200"/>
            <a:ext cx="35814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Returns the value directly without use of temporary variable </a:t>
            </a:r>
          </a:p>
        </p:txBody>
      </p:sp>
    </p:spTree>
    <p:extLst>
      <p:ext uri="{BB962C8B-B14F-4D97-AF65-F5344CB8AC3E}">
        <p14:creationId xmlns:p14="http://schemas.microsoft.com/office/powerpoint/2010/main" val="299920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11" grpId="0" animBg="1"/>
      <p:bldP spid="13" grpId="0" animBg="1"/>
      <p:bldP spid="18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Example 3. Methods with </a:t>
            </a:r>
            <a:r>
              <a:rPr lang="en-IE" b="1" dirty="0"/>
              <a:t>int</a:t>
            </a:r>
            <a:r>
              <a:rPr lang="en-IE" dirty="0"/>
              <a:t> return type – calling  the function directly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495800"/>
            <a:ext cx="7924800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 err="1"/>
              <a:t>System.</a:t>
            </a:r>
            <a:r>
              <a:rPr lang="en-IE" sz="2400" i="1" dirty="0" err="1"/>
              <a:t>out</a:t>
            </a:r>
            <a:r>
              <a:rPr lang="en-IE" sz="2400" dirty="0" err="1"/>
              <a:t>.println</a:t>
            </a:r>
            <a:r>
              <a:rPr lang="en-IE" sz="2400" dirty="0"/>
              <a:t>("The result is " + </a:t>
            </a:r>
            <a:r>
              <a:rPr lang="en-IE" sz="2400" i="1" dirty="0"/>
              <a:t>addTwoNumbers1</a:t>
            </a:r>
            <a:r>
              <a:rPr lang="en-IE" sz="2400" dirty="0"/>
              <a:t>(4,5));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1752600"/>
            <a:ext cx="6629400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public int addTwoNumbers1(int num1, int num2) {</a:t>
            </a:r>
            <a:br>
              <a:rPr lang="en-IE" sz="2400" dirty="0"/>
            </a:br>
            <a:r>
              <a:rPr lang="en-IE" sz="2400" dirty="0"/>
              <a:t>      return (num1 + num2);</a:t>
            </a:r>
            <a:br>
              <a:rPr lang="en-IE" sz="2400" dirty="0"/>
            </a:br>
            <a:r>
              <a:rPr lang="en-IE" sz="2400" dirty="0"/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4EC2E2-BD09-E24F-B2AD-1DD063454F27}"/>
              </a:ext>
            </a:extLst>
          </p:cNvPr>
          <p:cNvSpPr/>
          <p:nvPr/>
        </p:nvSpPr>
        <p:spPr>
          <a:xfrm>
            <a:off x="5181600" y="6096000"/>
            <a:ext cx="3200400" cy="58477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3200" dirty="0"/>
              <a:t>The result is 9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2FD3F9-21DA-9C40-9608-7FA31A53448B}"/>
              </a:ext>
            </a:extLst>
          </p:cNvPr>
          <p:cNvCxnSpPr>
            <a:cxnSpLocks/>
          </p:cNvCxnSpPr>
          <p:nvPr/>
        </p:nvCxnSpPr>
        <p:spPr>
          <a:xfrm>
            <a:off x="1905000" y="2819400"/>
            <a:ext cx="1447800" cy="1676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AABF7A7-7BEF-BA44-B9F5-A0C72F8FF14C}"/>
              </a:ext>
            </a:extLst>
          </p:cNvPr>
          <p:cNvSpPr txBox="1"/>
          <p:nvPr/>
        </p:nvSpPr>
        <p:spPr>
          <a:xfrm>
            <a:off x="2819400" y="3276600"/>
            <a:ext cx="40386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Call the method directly in the print statement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4A58F5-0086-A248-A902-C7F39D79BC05}"/>
              </a:ext>
            </a:extLst>
          </p:cNvPr>
          <p:cNvCxnSpPr/>
          <p:nvPr/>
        </p:nvCxnSpPr>
        <p:spPr>
          <a:xfrm>
            <a:off x="5181600" y="5105400"/>
            <a:ext cx="762000" cy="990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0A35A4E-010C-694F-918F-F08A15BFAC6F}"/>
              </a:ext>
            </a:extLst>
          </p:cNvPr>
          <p:cNvSpPr txBox="1"/>
          <p:nvPr/>
        </p:nvSpPr>
        <p:spPr>
          <a:xfrm>
            <a:off x="5791200" y="5410200"/>
            <a:ext cx="24384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And this is  printed to the console</a:t>
            </a:r>
          </a:p>
        </p:txBody>
      </p:sp>
    </p:spTree>
    <p:extLst>
      <p:ext uri="{BB962C8B-B14F-4D97-AF65-F5344CB8AC3E}">
        <p14:creationId xmlns:p14="http://schemas.microsoft.com/office/powerpoint/2010/main" val="3908549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11" grpId="0" animBg="1"/>
      <p:bldP spid="13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Exercise 1 . Methods with </a:t>
            </a:r>
            <a:r>
              <a:rPr lang="en-IE" b="1" dirty="0"/>
              <a:t>int</a:t>
            </a:r>
            <a:r>
              <a:rPr lang="en-IE" dirty="0"/>
              <a:t> return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3733800"/>
            <a:ext cx="7924800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public int </a:t>
            </a:r>
            <a:r>
              <a:rPr lang="en-IE" sz="2400" dirty="0" err="1"/>
              <a:t>addThreeNumbers</a:t>
            </a:r>
            <a:r>
              <a:rPr lang="en-IE" sz="2400" dirty="0"/>
              <a:t>(int num1, int num2 ,int num3) {</a:t>
            </a:r>
            <a:br>
              <a:rPr lang="en-IE" sz="2400" dirty="0"/>
            </a:br>
            <a:r>
              <a:rPr lang="en-IE" sz="2400" dirty="0"/>
              <a:t>      return (num1 + num2 + num3);</a:t>
            </a:r>
          </a:p>
          <a:p>
            <a:r>
              <a:rPr lang="en-IE" sz="2400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F323C-F5D5-2A40-A0F1-43842EE8C75D}"/>
              </a:ext>
            </a:extLst>
          </p:cNvPr>
          <p:cNvSpPr txBox="1"/>
          <p:nvPr/>
        </p:nvSpPr>
        <p:spPr>
          <a:xfrm>
            <a:off x="381000" y="1524000"/>
            <a:ext cx="8153400" cy="95410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Exercise 1. Write a method that takes in three integer parameters and returns the sum of those values. </a:t>
            </a:r>
          </a:p>
        </p:txBody>
      </p:sp>
    </p:spTree>
    <p:extLst>
      <p:ext uri="{BB962C8B-B14F-4D97-AF65-F5344CB8AC3E}">
        <p14:creationId xmlns:p14="http://schemas.microsoft.com/office/powerpoint/2010/main" val="50092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7630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E" sz="4400" dirty="0"/>
          </a:p>
          <a:p>
            <a:pPr marL="1030288" indent="-747713">
              <a:buFont typeface="+mj-lt"/>
              <a:buAutoNum type="arabicPeriod"/>
            </a:pPr>
            <a:r>
              <a:rPr lang="en-IE" sz="4400" dirty="0"/>
              <a:t> Regular expressions </a:t>
            </a:r>
          </a:p>
          <a:p>
            <a:pPr marL="1030288" indent="-747713">
              <a:buFont typeface="+mj-lt"/>
              <a:buAutoNum type="arabicPeriod"/>
            </a:pPr>
            <a:r>
              <a:rPr lang="en-IE" sz="4400" dirty="0"/>
              <a:t>Methods with int return type</a:t>
            </a:r>
          </a:p>
          <a:p>
            <a:pPr marL="1030288" indent="-747713">
              <a:buFont typeface="+mj-lt"/>
              <a:buAutoNum type="arabicPeriod"/>
            </a:pPr>
            <a:r>
              <a:rPr lang="en-IE" sz="4400" dirty="0"/>
              <a:t>Boolean methods</a:t>
            </a:r>
            <a:endParaRPr lang="en-IE" sz="4400" b="1" dirty="0"/>
          </a:p>
          <a:p>
            <a:pPr marL="1030288" indent="-747713">
              <a:buFont typeface="+mj-lt"/>
              <a:buAutoNum type="arabicPeriod"/>
            </a:pPr>
            <a:r>
              <a:rPr lang="en-IE" sz="4400" b="1" dirty="0"/>
              <a:t>Utilities </a:t>
            </a:r>
            <a:r>
              <a:rPr lang="en-IE" sz="4400" dirty="0"/>
              <a:t>class</a:t>
            </a:r>
          </a:p>
          <a:p>
            <a:pPr marL="1030288" indent="-747713">
              <a:buFont typeface="+mj-lt"/>
              <a:buAutoNum type="arabicPeriod"/>
            </a:pPr>
            <a:r>
              <a:rPr lang="en-IE" sz="4400" b="1" dirty="0"/>
              <a:t>equals() </a:t>
            </a:r>
            <a:r>
              <a:rPr lang="en-IE" sz="4400" dirty="0"/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4000" y="3733800"/>
            <a:ext cx="5867400" cy="685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6136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Example 4. Methods with </a:t>
            </a:r>
            <a:r>
              <a:rPr lang="en-IE" b="1" dirty="0" err="1"/>
              <a:t>boolean</a:t>
            </a:r>
            <a:r>
              <a:rPr lang="en-IE" dirty="0"/>
              <a:t> return type. 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4522782"/>
            <a:ext cx="8153400" cy="23083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int x = 17;</a:t>
            </a:r>
            <a:br>
              <a:rPr lang="en-IE" sz="2400" dirty="0"/>
            </a:br>
            <a:r>
              <a:rPr lang="en-IE" sz="2400" dirty="0"/>
              <a:t>if (</a:t>
            </a:r>
            <a:r>
              <a:rPr lang="en-IE" sz="2400" i="1" dirty="0"/>
              <a:t>overTen1</a:t>
            </a:r>
            <a:r>
              <a:rPr lang="en-IE" sz="2400" dirty="0"/>
              <a:t>(x) == true )</a:t>
            </a:r>
            <a:br>
              <a:rPr lang="en-IE" sz="2400" dirty="0"/>
            </a:br>
            <a:r>
              <a:rPr lang="en-IE" sz="2400" dirty="0"/>
              <a:t>   </a:t>
            </a:r>
            <a:r>
              <a:rPr lang="en-IE" sz="2400" dirty="0" err="1"/>
              <a:t>System.</a:t>
            </a:r>
            <a:r>
              <a:rPr lang="en-IE" sz="2400" i="1" dirty="0" err="1"/>
              <a:t>out</a:t>
            </a:r>
            <a:r>
              <a:rPr lang="en-IE" sz="2400" dirty="0" err="1"/>
              <a:t>.println</a:t>
            </a:r>
            <a:r>
              <a:rPr lang="en-IE" sz="2400" dirty="0"/>
              <a:t>("This value : " + x + "is greater than 10" );</a:t>
            </a:r>
            <a:br>
              <a:rPr lang="en-IE" sz="2400" dirty="0"/>
            </a:br>
            <a:r>
              <a:rPr lang="en-IE" sz="2400" dirty="0"/>
              <a:t>else</a:t>
            </a:r>
            <a:br>
              <a:rPr lang="en-IE" sz="2400" dirty="0"/>
            </a:br>
            <a:r>
              <a:rPr lang="en-IE" sz="2400" dirty="0"/>
              <a:t>   </a:t>
            </a:r>
            <a:r>
              <a:rPr lang="en-IE" sz="2400" dirty="0" err="1"/>
              <a:t>System.</a:t>
            </a:r>
            <a:r>
              <a:rPr lang="en-IE" sz="2400" i="1" dirty="0" err="1"/>
              <a:t>out</a:t>
            </a:r>
            <a:r>
              <a:rPr lang="en-IE" sz="2400" dirty="0" err="1"/>
              <a:t>.println</a:t>
            </a:r>
            <a:r>
              <a:rPr lang="en-IE" sz="2400" dirty="0"/>
              <a:t>("This value : " + x + "is not greater than 10" );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514600"/>
            <a:ext cx="6629400" cy="18158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/>
              <a:t>public </a:t>
            </a:r>
            <a:r>
              <a:rPr lang="en-IE" sz="2800" dirty="0" err="1"/>
              <a:t>boolean</a:t>
            </a:r>
            <a:r>
              <a:rPr lang="en-IE" sz="2800" dirty="0"/>
              <a:t> overTen1(int </a:t>
            </a:r>
            <a:r>
              <a:rPr lang="en-IE" sz="2800" dirty="0" err="1"/>
              <a:t>i</a:t>
            </a:r>
            <a:r>
              <a:rPr lang="en-IE" sz="2800" dirty="0"/>
              <a:t>) {</a:t>
            </a:r>
            <a:br>
              <a:rPr lang="en-IE" sz="2800" dirty="0"/>
            </a:br>
            <a:r>
              <a:rPr lang="en-IE" sz="2800" dirty="0"/>
              <a:t>       if (</a:t>
            </a:r>
            <a:r>
              <a:rPr lang="en-IE" sz="2800" dirty="0" err="1"/>
              <a:t>i</a:t>
            </a:r>
            <a:r>
              <a:rPr lang="en-IE" sz="2800" dirty="0"/>
              <a:t>&gt;10) return true;</a:t>
            </a:r>
            <a:br>
              <a:rPr lang="en-IE" sz="2800" dirty="0"/>
            </a:br>
            <a:r>
              <a:rPr lang="en-IE" sz="2800" dirty="0"/>
              <a:t>       else return false;</a:t>
            </a:r>
            <a:br>
              <a:rPr lang="en-IE" sz="2800" dirty="0"/>
            </a:br>
            <a:r>
              <a:rPr lang="en-IE" sz="2800" dirty="0"/>
              <a:t>}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2FD3F9-21DA-9C40-9608-7FA31A53448B}"/>
              </a:ext>
            </a:extLst>
          </p:cNvPr>
          <p:cNvCxnSpPr/>
          <p:nvPr/>
        </p:nvCxnSpPr>
        <p:spPr>
          <a:xfrm>
            <a:off x="4419600" y="4038600"/>
            <a:ext cx="762000" cy="990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AABF7A7-7BEF-BA44-B9F5-A0C72F8FF14C}"/>
              </a:ext>
            </a:extLst>
          </p:cNvPr>
          <p:cNvSpPr txBox="1"/>
          <p:nvPr/>
        </p:nvSpPr>
        <p:spPr>
          <a:xfrm>
            <a:off x="5410200" y="43434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Called as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5FB1D4-63F0-0B4B-B1BC-E1D295AE79C0}"/>
              </a:ext>
            </a:extLst>
          </p:cNvPr>
          <p:cNvSpPr txBox="1"/>
          <p:nvPr/>
        </p:nvSpPr>
        <p:spPr>
          <a:xfrm>
            <a:off x="685800" y="1524000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Write a method that returns true if t (integer ) parameter value is greater than 10 and false otherwise. </a:t>
            </a:r>
          </a:p>
        </p:txBody>
      </p:sp>
    </p:spTree>
    <p:extLst>
      <p:ext uri="{BB962C8B-B14F-4D97-AF65-F5344CB8AC3E}">
        <p14:creationId xmlns:p14="http://schemas.microsoft.com/office/powerpoint/2010/main" val="447982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Example 5. Methods with </a:t>
            </a:r>
            <a:r>
              <a:rPr lang="en-IE" b="1" dirty="0" err="1"/>
              <a:t>boolean</a:t>
            </a:r>
            <a:r>
              <a:rPr lang="en-IE" dirty="0"/>
              <a:t> return type. (Direct use of condition)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4522782"/>
            <a:ext cx="8153400" cy="23083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int x = 17;</a:t>
            </a:r>
            <a:br>
              <a:rPr lang="en-IE" sz="2400" dirty="0"/>
            </a:br>
            <a:r>
              <a:rPr lang="en-IE" sz="2400" dirty="0"/>
              <a:t>if (</a:t>
            </a:r>
            <a:r>
              <a:rPr lang="en-IE" sz="2400" i="1" dirty="0"/>
              <a:t>overTen1</a:t>
            </a:r>
            <a:r>
              <a:rPr lang="en-IE" sz="2400" dirty="0"/>
              <a:t>(x) == true )</a:t>
            </a:r>
            <a:br>
              <a:rPr lang="en-IE" sz="2400" dirty="0"/>
            </a:br>
            <a:r>
              <a:rPr lang="en-IE" sz="2400" dirty="0"/>
              <a:t>   </a:t>
            </a:r>
            <a:r>
              <a:rPr lang="en-IE" sz="2400" dirty="0" err="1"/>
              <a:t>System.</a:t>
            </a:r>
            <a:r>
              <a:rPr lang="en-IE" sz="2400" i="1" dirty="0" err="1"/>
              <a:t>out</a:t>
            </a:r>
            <a:r>
              <a:rPr lang="en-IE" sz="2400" dirty="0" err="1"/>
              <a:t>.println</a:t>
            </a:r>
            <a:r>
              <a:rPr lang="en-IE" sz="2400" dirty="0"/>
              <a:t>("This value : " + x + "is greater than 10" );</a:t>
            </a:r>
            <a:br>
              <a:rPr lang="en-IE" sz="2400" dirty="0"/>
            </a:br>
            <a:r>
              <a:rPr lang="en-IE" sz="2400" dirty="0"/>
              <a:t>else</a:t>
            </a:r>
            <a:br>
              <a:rPr lang="en-IE" sz="2400" dirty="0"/>
            </a:br>
            <a:r>
              <a:rPr lang="en-IE" sz="2400" dirty="0"/>
              <a:t>   </a:t>
            </a:r>
            <a:r>
              <a:rPr lang="en-IE" sz="2400" dirty="0" err="1"/>
              <a:t>System.</a:t>
            </a:r>
            <a:r>
              <a:rPr lang="en-IE" sz="2400" i="1" dirty="0" err="1"/>
              <a:t>out</a:t>
            </a:r>
            <a:r>
              <a:rPr lang="en-IE" sz="2400" dirty="0" err="1"/>
              <a:t>.println</a:t>
            </a:r>
            <a:r>
              <a:rPr lang="en-IE" sz="2400" dirty="0"/>
              <a:t>("This value : " + x + "is not greater than 10" );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2590800"/>
            <a:ext cx="8610600" cy="129266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600" dirty="0"/>
              <a:t>public static </a:t>
            </a:r>
            <a:r>
              <a:rPr lang="en-IE" sz="2600" dirty="0" err="1"/>
              <a:t>boolean</a:t>
            </a:r>
            <a:r>
              <a:rPr lang="en-IE" sz="2600" dirty="0"/>
              <a:t> overTen2(int </a:t>
            </a:r>
            <a:r>
              <a:rPr lang="en-IE" sz="2600" dirty="0" err="1"/>
              <a:t>i</a:t>
            </a:r>
            <a:r>
              <a:rPr lang="en-IE" sz="2600" dirty="0"/>
              <a:t>) {</a:t>
            </a:r>
            <a:br>
              <a:rPr lang="en-IE" sz="2600" dirty="0"/>
            </a:br>
            <a:r>
              <a:rPr lang="en-IE" sz="2600" dirty="0"/>
              <a:t>   return (</a:t>
            </a:r>
            <a:r>
              <a:rPr lang="en-IE" sz="2600" dirty="0" err="1"/>
              <a:t>i</a:t>
            </a:r>
            <a:r>
              <a:rPr lang="en-IE" sz="2600" dirty="0"/>
              <a:t>&gt;10);    // returns the value of the condition directly </a:t>
            </a:r>
            <a:br>
              <a:rPr lang="en-IE" sz="2600" dirty="0"/>
            </a:br>
            <a:r>
              <a:rPr lang="en-IE" sz="2600" dirty="0"/>
              <a:t>}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2FD3F9-21DA-9C40-9608-7FA31A53448B}"/>
              </a:ext>
            </a:extLst>
          </p:cNvPr>
          <p:cNvCxnSpPr/>
          <p:nvPr/>
        </p:nvCxnSpPr>
        <p:spPr>
          <a:xfrm>
            <a:off x="4419600" y="4038600"/>
            <a:ext cx="762000" cy="990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AABF7A7-7BEF-BA44-B9F5-A0C72F8FF14C}"/>
              </a:ext>
            </a:extLst>
          </p:cNvPr>
          <p:cNvSpPr txBox="1"/>
          <p:nvPr/>
        </p:nvSpPr>
        <p:spPr>
          <a:xfrm>
            <a:off x="5410200" y="43434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Called as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5FB1D4-63F0-0B4B-B1BC-E1D295AE79C0}"/>
              </a:ext>
            </a:extLst>
          </p:cNvPr>
          <p:cNvSpPr txBox="1"/>
          <p:nvPr/>
        </p:nvSpPr>
        <p:spPr>
          <a:xfrm>
            <a:off x="685800" y="1524000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Write a method that returns true if an (integer ) parameter value is greater than 10 and false otherwise. </a:t>
            </a:r>
          </a:p>
        </p:txBody>
      </p:sp>
    </p:spTree>
    <p:extLst>
      <p:ext uri="{BB962C8B-B14F-4D97-AF65-F5344CB8AC3E}">
        <p14:creationId xmlns:p14="http://schemas.microsoft.com/office/powerpoint/2010/main" val="394452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Example 6. Methods with </a:t>
            </a:r>
            <a:r>
              <a:rPr lang="en-IE" sz="2800" b="1" dirty="0" err="1"/>
              <a:t>boolean</a:t>
            </a:r>
            <a:r>
              <a:rPr lang="en-IE" sz="2800" dirty="0"/>
              <a:t> return type. (Direct use of condition in call of method)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4365010"/>
            <a:ext cx="8534400" cy="2492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600" dirty="0"/>
              <a:t>if (</a:t>
            </a:r>
            <a:r>
              <a:rPr lang="en-IE" sz="2600" i="1" dirty="0"/>
              <a:t>overTen1</a:t>
            </a:r>
            <a:r>
              <a:rPr lang="en-IE" sz="2600" dirty="0"/>
              <a:t>(x))   </a:t>
            </a:r>
            <a:r>
              <a:rPr lang="en-IE" sz="2600" i="1" dirty="0"/>
              <a:t>//calling method directly in condition</a:t>
            </a:r>
            <a:br>
              <a:rPr lang="en-IE" sz="2600" i="1" dirty="0"/>
            </a:br>
            <a:r>
              <a:rPr lang="en-IE" sz="2600" i="1" dirty="0"/>
              <a:t>   </a:t>
            </a:r>
            <a:r>
              <a:rPr lang="en-IE" sz="2600" dirty="0" err="1"/>
              <a:t>System.</a:t>
            </a:r>
            <a:r>
              <a:rPr lang="en-IE" sz="2600" i="1" dirty="0" err="1"/>
              <a:t>out</a:t>
            </a:r>
            <a:r>
              <a:rPr lang="en-IE" sz="2600" dirty="0" err="1"/>
              <a:t>.println</a:t>
            </a:r>
            <a:r>
              <a:rPr lang="en-IE" sz="2600" dirty="0"/>
              <a:t>("This value : " + x + "is greater than 10" );</a:t>
            </a:r>
            <a:br>
              <a:rPr lang="en-IE" sz="2600" dirty="0"/>
            </a:br>
            <a:r>
              <a:rPr lang="en-IE" sz="2600" dirty="0"/>
              <a:t>else</a:t>
            </a:r>
            <a:br>
              <a:rPr lang="en-IE" sz="2600" dirty="0"/>
            </a:br>
            <a:r>
              <a:rPr lang="en-IE" sz="2600" dirty="0"/>
              <a:t>   </a:t>
            </a:r>
            <a:r>
              <a:rPr lang="en-IE" sz="2600" dirty="0" err="1"/>
              <a:t>System.</a:t>
            </a:r>
            <a:r>
              <a:rPr lang="en-IE" sz="2600" i="1" dirty="0" err="1"/>
              <a:t>out</a:t>
            </a:r>
            <a:r>
              <a:rPr lang="en-IE" sz="2600" dirty="0" err="1"/>
              <a:t>.println</a:t>
            </a:r>
            <a:r>
              <a:rPr lang="en-IE" sz="2600" dirty="0"/>
              <a:t>("This value : " + x + "is not greater than 10" );</a:t>
            </a:r>
          </a:p>
          <a:p>
            <a:r>
              <a:rPr lang="en-IE" sz="2600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2590800"/>
            <a:ext cx="8610600" cy="129266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600" dirty="0"/>
              <a:t>public static </a:t>
            </a:r>
            <a:r>
              <a:rPr lang="en-IE" sz="2600" dirty="0" err="1"/>
              <a:t>boolean</a:t>
            </a:r>
            <a:r>
              <a:rPr lang="en-IE" sz="2600" dirty="0"/>
              <a:t> overTen2(int </a:t>
            </a:r>
            <a:r>
              <a:rPr lang="en-IE" sz="2600" dirty="0" err="1"/>
              <a:t>i</a:t>
            </a:r>
            <a:r>
              <a:rPr lang="en-IE" sz="2600" dirty="0"/>
              <a:t>) {</a:t>
            </a:r>
            <a:br>
              <a:rPr lang="en-IE" sz="2600" dirty="0"/>
            </a:br>
            <a:r>
              <a:rPr lang="en-IE" sz="2600" dirty="0"/>
              <a:t>   return (</a:t>
            </a:r>
            <a:r>
              <a:rPr lang="en-IE" sz="2600" dirty="0" err="1"/>
              <a:t>i</a:t>
            </a:r>
            <a:r>
              <a:rPr lang="en-IE" sz="2600" dirty="0"/>
              <a:t>&gt;10);    // returns the value of the condition directly </a:t>
            </a:r>
            <a:br>
              <a:rPr lang="en-IE" sz="2600" dirty="0"/>
            </a:br>
            <a:r>
              <a:rPr lang="en-IE" sz="2600" dirty="0"/>
              <a:t>}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2FD3F9-21DA-9C40-9608-7FA31A53448B}"/>
              </a:ext>
            </a:extLst>
          </p:cNvPr>
          <p:cNvCxnSpPr>
            <a:cxnSpLocks/>
          </p:cNvCxnSpPr>
          <p:nvPr/>
        </p:nvCxnSpPr>
        <p:spPr>
          <a:xfrm flipH="1">
            <a:off x="1981200" y="3733800"/>
            <a:ext cx="2514600" cy="609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AABF7A7-7BEF-BA44-B9F5-A0C72F8FF14C}"/>
              </a:ext>
            </a:extLst>
          </p:cNvPr>
          <p:cNvSpPr txBox="1"/>
          <p:nvPr/>
        </p:nvSpPr>
        <p:spPr>
          <a:xfrm>
            <a:off x="3276600" y="4038600"/>
            <a:ext cx="13716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Called as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5FB1D4-63F0-0B4B-B1BC-E1D295AE79C0}"/>
              </a:ext>
            </a:extLst>
          </p:cNvPr>
          <p:cNvSpPr txBox="1"/>
          <p:nvPr/>
        </p:nvSpPr>
        <p:spPr>
          <a:xfrm>
            <a:off x="685800" y="1524000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Write a method that returns true if an (integer ) parameter value is greater than 10 and false otherwise. </a:t>
            </a:r>
          </a:p>
        </p:txBody>
      </p:sp>
    </p:spTree>
    <p:extLst>
      <p:ext uri="{BB962C8B-B14F-4D97-AF65-F5344CB8AC3E}">
        <p14:creationId xmlns:p14="http://schemas.microsoft.com/office/powerpoint/2010/main" val="104219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Example 7. Methods with </a:t>
            </a:r>
            <a:r>
              <a:rPr lang="en-IE" sz="2800" b="1" dirty="0" err="1"/>
              <a:t>boolean</a:t>
            </a:r>
            <a:r>
              <a:rPr lang="en-IE" sz="2800" dirty="0"/>
              <a:t> return type. (Use of NOT in call)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4365010"/>
            <a:ext cx="8534400" cy="2492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600" dirty="0"/>
              <a:t>if (!</a:t>
            </a:r>
            <a:r>
              <a:rPr lang="en-IE" sz="2600" i="1" dirty="0"/>
              <a:t>overTen1</a:t>
            </a:r>
            <a:r>
              <a:rPr lang="en-IE" sz="2600" dirty="0"/>
              <a:t>(x))   </a:t>
            </a:r>
            <a:r>
              <a:rPr lang="en-IE" sz="2600" i="1" dirty="0"/>
              <a:t>//calling method directly in condition</a:t>
            </a:r>
            <a:br>
              <a:rPr lang="en-IE" sz="2600" i="1" dirty="0"/>
            </a:br>
            <a:r>
              <a:rPr lang="en-IE" sz="2600" i="1" dirty="0"/>
              <a:t>   </a:t>
            </a:r>
            <a:r>
              <a:rPr lang="en-IE" sz="2600" dirty="0" err="1"/>
              <a:t>System.</a:t>
            </a:r>
            <a:r>
              <a:rPr lang="en-IE" sz="2600" i="1" dirty="0" err="1"/>
              <a:t>out</a:t>
            </a:r>
            <a:r>
              <a:rPr lang="en-IE" sz="2600" dirty="0" err="1"/>
              <a:t>.println</a:t>
            </a:r>
            <a:r>
              <a:rPr lang="en-IE" sz="2600" dirty="0"/>
              <a:t>("This value : " + x + "is NOT greater than 10" );</a:t>
            </a:r>
            <a:br>
              <a:rPr lang="en-IE" sz="2600" dirty="0"/>
            </a:br>
            <a:r>
              <a:rPr lang="en-IE" sz="2600" dirty="0"/>
              <a:t>else</a:t>
            </a:r>
            <a:br>
              <a:rPr lang="en-IE" sz="2600" dirty="0"/>
            </a:br>
            <a:r>
              <a:rPr lang="en-IE" sz="2600" dirty="0"/>
              <a:t>   </a:t>
            </a:r>
            <a:r>
              <a:rPr lang="en-IE" sz="2600" dirty="0" err="1"/>
              <a:t>System.</a:t>
            </a:r>
            <a:r>
              <a:rPr lang="en-IE" sz="2600" i="1" dirty="0" err="1"/>
              <a:t>out</a:t>
            </a:r>
            <a:r>
              <a:rPr lang="en-IE" sz="2600" dirty="0" err="1"/>
              <a:t>.println</a:t>
            </a:r>
            <a:r>
              <a:rPr lang="en-IE" sz="2600" dirty="0"/>
              <a:t>("This value : " + x + "is greater than 10" );</a:t>
            </a:r>
          </a:p>
          <a:p>
            <a:r>
              <a:rPr lang="en-IE" sz="2600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2590800"/>
            <a:ext cx="8610600" cy="129266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600" dirty="0"/>
              <a:t>public static </a:t>
            </a:r>
            <a:r>
              <a:rPr lang="en-IE" sz="2600" dirty="0" err="1"/>
              <a:t>boolean</a:t>
            </a:r>
            <a:r>
              <a:rPr lang="en-IE" sz="2600" dirty="0"/>
              <a:t> overTen2(int </a:t>
            </a:r>
            <a:r>
              <a:rPr lang="en-IE" sz="2600" dirty="0" err="1"/>
              <a:t>i</a:t>
            </a:r>
            <a:r>
              <a:rPr lang="en-IE" sz="2600" dirty="0"/>
              <a:t>) {</a:t>
            </a:r>
            <a:br>
              <a:rPr lang="en-IE" sz="2600" dirty="0"/>
            </a:br>
            <a:r>
              <a:rPr lang="en-IE" sz="2600" dirty="0"/>
              <a:t>   return (</a:t>
            </a:r>
            <a:r>
              <a:rPr lang="en-IE" sz="2600" dirty="0" err="1"/>
              <a:t>i</a:t>
            </a:r>
            <a:r>
              <a:rPr lang="en-IE" sz="2600" dirty="0"/>
              <a:t>&gt;10);    // returns the value of the condition directly </a:t>
            </a:r>
            <a:br>
              <a:rPr lang="en-IE" sz="2600" dirty="0"/>
            </a:br>
            <a:r>
              <a:rPr lang="en-IE" sz="2600" dirty="0"/>
              <a:t>}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2FD3F9-21DA-9C40-9608-7FA31A53448B}"/>
              </a:ext>
            </a:extLst>
          </p:cNvPr>
          <p:cNvCxnSpPr>
            <a:cxnSpLocks/>
          </p:cNvCxnSpPr>
          <p:nvPr/>
        </p:nvCxnSpPr>
        <p:spPr>
          <a:xfrm flipH="1">
            <a:off x="1981200" y="3733800"/>
            <a:ext cx="2514600" cy="609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AABF7A7-7BEF-BA44-B9F5-A0C72F8FF14C}"/>
              </a:ext>
            </a:extLst>
          </p:cNvPr>
          <p:cNvSpPr txBox="1"/>
          <p:nvPr/>
        </p:nvSpPr>
        <p:spPr>
          <a:xfrm>
            <a:off x="3276600" y="4038600"/>
            <a:ext cx="13716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Called as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5FB1D4-63F0-0B4B-B1BC-E1D295AE79C0}"/>
              </a:ext>
            </a:extLst>
          </p:cNvPr>
          <p:cNvSpPr txBox="1"/>
          <p:nvPr/>
        </p:nvSpPr>
        <p:spPr>
          <a:xfrm>
            <a:off x="685800" y="1524000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Write a method that returns true if an (integer ) parameter value is greater than 10 and false otherwise. </a:t>
            </a:r>
          </a:p>
        </p:txBody>
      </p:sp>
    </p:spTree>
    <p:extLst>
      <p:ext uri="{BB962C8B-B14F-4D97-AF65-F5344CB8AC3E}">
        <p14:creationId xmlns:p14="http://schemas.microsoft.com/office/powerpoint/2010/main" val="106132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If you are testing this code..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4267200"/>
            <a:ext cx="8382000" cy="138499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/>
              <a:t>public </a:t>
            </a:r>
            <a:r>
              <a:rPr lang="en-IE" sz="2800" dirty="0">
                <a:solidFill>
                  <a:srgbClr val="FF0000"/>
                </a:solidFill>
              </a:rPr>
              <a:t>static</a:t>
            </a:r>
            <a:r>
              <a:rPr lang="en-IE" sz="2800" dirty="0"/>
              <a:t> int addTwoNumbers2(int num1, int num2) {</a:t>
            </a:r>
            <a:br>
              <a:rPr lang="en-IE" sz="2800" dirty="0"/>
            </a:br>
            <a:r>
              <a:rPr lang="en-IE" sz="2800" dirty="0"/>
              <a:t>   return (num1 + num2);</a:t>
            </a:r>
            <a:br>
              <a:rPr lang="en-IE" sz="2800" dirty="0"/>
            </a:br>
            <a:r>
              <a:rPr lang="en-IE" sz="2800" dirty="0"/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00200"/>
            <a:ext cx="6324600" cy="13849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/>
              <a:t>public static void main(String[] </a:t>
            </a:r>
            <a:r>
              <a:rPr lang="en-IE" sz="2800" dirty="0" err="1"/>
              <a:t>args</a:t>
            </a:r>
            <a:r>
              <a:rPr lang="en-IE" sz="2800" dirty="0"/>
              <a:t>) {</a:t>
            </a:r>
          </a:p>
          <a:p>
            <a:r>
              <a:rPr lang="en-IE" sz="2800" dirty="0"/>
              <a:t>//   call the methods</a:t>
            </a:r>
          </a:p>
          <a:p>
            <a:r>
              <a:rPr lang="en-IE" sz="2800" dirty="0"/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1400" y="6581001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DDA881-ACBD-6A40-85E5-5E62862CFCA4}"/>
              </a:ext>
            </a:extLst>
          </p:cNvPr>
          <p:cNvSpPr txBox="1"/>
          <p:nvPr/>
        </p:nvSpPr>
        <p:spPr>
          <a:xfrm>
            <a:off x="2895600" y="3352800"/>
            <a:ext cx="50292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Add the </a:t>
            </a:r>
            <a:r>
              <a:rPr lang="en-US" dirty="0">
                <a:solidFill>
                  <a:srgbClr val="FF0000"/>
                </a:solidFill>
              </a:rPr>
              <a:t>static</a:t>
            </a:r>
            <a:r>
              <a:rPr lang="en-US" dirty="0"/>
              <a:t> modifier to all the methods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DC5A933-673F-254E-926B-2AB4E2BD52EB}"/>
              </a:ext>
            </a:extLst>
          </p:cNvPr>
          <p:cNvCxnSpPr/>
          <p:nvPr/>
        </p:nvCxnSpPr>
        <p:spPr>
          <a:xfrm flipH="1">
            <a:off x="1828800" y="3810000"/>
            <a:ext cx="2438400" cy="45720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31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7630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E" sz="4400" dirty="0"/>
          </a:p>
          <a:p>
            <a:pPr marL="1030288" indent="-747713">
              <a:buFont typeface="+mj-lt"/>
              <a:buAutoNum type="arabicPeriod"/>
            </a:pPr>
            <a:r>
              <a:rPr lang="en-IE" sz="4400" dirty="0"/>
              <a:t>Regular expressions </a:t>
            </a:r>
          </a:p>
          <a:p>
            <a:pPr marL="1030288" indent="-747713">
              <a:buFont typeface="+mj-lt"/>
              <a:buAutoNum type="arabicPeriod"/>
            </a:pPr>
            <a:r>
              <a:rPr lang="en-IE" sz="4400" dirty="0"/>
              <a:t>Methods with int return type</a:t>
            </a:r>
          </a:p>
          <a:p>
            <a:pPr marL="1030288" indent="-747713">
              <a:buFont typeface="+mj-lt"/>
              <a:buAutoNum type="arabicPeriod"/>
            </a:pPr>
            <a:r>
              <a:rPr lang="en-IE" sz="4400" dirty="0"/>
              <a:t>Boolean methods</a:t>
            </a:r>
            <a:endParaRPr lang="en-IE" sz="4400" b="1" dirty="0"/>
          </a:p>
          <a:p>
            <a:pPr marL="1030288" indent="-747713">
              <a:buFont typeface="+mj-lt"/>
              <a:buAutoNum type="arabicPeriod"/>
            </a:pPr>
            <a:r>
              <a:rPr lang="en-IE" sz="4400" b="1" dirty="0"/>
              <a:t>Utilities </a:t>
            </a:r>
            <a:r>
              <a:rPr lang="en-IE" sz="4400" dirty="0"/>
              <a:t>class</a:t>
            </a:r>
          </a:p>
          <a:p>
            <a:pPr marL="1030288" indent="-747713">
              <a:buFont typeface="+mj-lt"/>
              <a:buAutoNum type="arabicPeriod"/>
            </a:pPr>
            <a:r>
              <a:rPr lang="en-IE" sz="4400" b="1" dirty="0"/>
              <a:t>equals() </a:t>
            </a:r>
            <a:r>
              <a:rPr lang="en-IE" sz="4400" dirty="0"/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572000"/>
            <a:ext cx="5410200" cy="685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7321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Utilities Class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lnSpcReduction="10000"/>
          </a:bodyPr>
          <a:lstStyle/>
          <a:p>
            <a:r>
              <a:rPr lang="en-IE" sz="2800" dirty="0"/>
              <a:t>Utilities Class will contain a collection of ‘useful’, reusable methods. </a:t>
            </a:r>
          </a:p>
          <a:p>
            <a:r>
              <a:rPr lang="en-IE" sz="2800" dirty="0"/>
              <a:t>These methods will not depend on any fields of the class, and solely on the parameters of the methods.</a:t>
            </a:r>
          </a:p>
          <a:p>
            <a:r>
              <a:rPr lang="en-IE" sz="2800" dirty="0"/>
              <a:t>Because there are no fields, there is no need to have objects of this class. We use the methods directly from the class</a:t>
            </a:r>
          </a:p>
          <a:p>
            <a:r>
              <a:rPr lang="en-IE" sz="2800" dirty="0"/>
              <a:t>To do this, we </a:t>
            </a:r>
          </a:p>
          <a:p>
            <a:pPr lvl="1"/>
            <a:r>
              <a:rPr lang="en-IE" sz="2400" dirty="0"/>
              <a:t>Add the static modifier to the methods</a:t>
            </a:r>
          </a:p>
          <a:p>
            <a:pPr lvl="1"/>
            <a:r>
              <a:rPr lang="en-IE" sz="2400" dirty="0"/>
              <a:t>Call the methods using the Class name, not the object name. </a:t>
            </a:r>
          </a:p>
        </p:txBody>
      </p:sp>
    </p:spTree>
    <p:extLst>
      <p:ext uri="{BB962C8B-B14F-4D97-AF65-F5344CB8AC3E}">
        <p14:creationId xmlns:p14="http://schemas.microsoft.com/office/powerpoint/2010/main" val="1207781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Utilities Class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IE" sz="2800" dirty="0"/>
              <a:t>To do this, we </a:t>
            </a:r>
          </a:p>
          <a:p>
            <a:pPr lvl="1"/>
            <a:r>
              <a:rPr lang="en-IE" sz="2400" dirty="0"/>
              <a:t>Add the static modifier to the methods</a:t>
            </a:r>
          </a:p>
          <a:p>
            <a:pPr lvl="1"/>
            <a:endParaRPr lang="en-IE" sz="2400" dirty="0"/>
          </a:p>
          <a:p>
            <a:pPr lvl="1"/>
            <a:endParaRPr lang="en-IE" sz="2400" dirty="0"/>
          </a:p>
          <a:p>
            <a:pPr marL="457200" lvl="1" indent="0">
              <a:buNone/>
            </a:pPr>
            <a:endParaRPr lang="en-IE" sz="2400" dirty="0"/>
          </a:p>
          <a:p>
            <a:pPr lvl="1"/>
            <a:r>
              <a:rPr lang="en-IE" sz="2400" dirty="0"/>
              <a:t>Call the methods using the Class name, not the object name.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9D8248-8986-1C46-B603-3D076DF776B8}"/>
              </a:ext>
            </a:extLst>
          </p:cNvPr>
          <p:cNvSpPr/>
          <p:nvPr/>
        </p:nvSpPr>
        <p:spPr>
          <a:xfrm>
            <a:off x="1371600" y="2667000"/>
            <a:ext cx="5638800" cy="1200329"/>
          </a:xfrm>
          <a:prstGeom prst="rect">
            <a:avLst/>
          </a:prstGeom>
          <a:gradFill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E" sz="2400" dirty="0">
                <a:solidFill>
                  <a:srgbClr val="0033B3"/>
                </a:solidFill>
              </a:rPr>
              <a:t>public static </a:t>
            </a:r>
            <a:r>
              <a:rPr lang="en-IE" sz="2400" dirty="0" err="1">
                <a:solidFill>
                  <a:srgbClr val="0033B3"/>
                </a:solidFill>
              </a:rPr>
              <a:t>boolean</a:t>
            </a:r>
            <a:r>
              <a:rPr lang="en-IE" sz="2400" dirty="0">
                <a:solidFill>
                  <a:srgbClr val="0033B3"/>
                </a:solidFill>
              </a:rPr>
              <a:t> </a:t>
            </a:r>
            <a:r>
              <a:rPr lang="en-IE" sz="2400" dirty="0">
                <a:solidFill>
                  <a:srgbClr val="00627A"/>
                </a:solidFill>
              </a:rPr>
              <a:t>overTen2</a:t>
            </a:r>
            <a:r>
              <a:rPr lang="en-IE" sz="2400" dirty="0"/>
              <a:t>(</a:t>
            </a:r>
            <a:r>
              <a:rPr lang="en-IE" sz="2400" dirty="0">
                <a:solidFill>
                  <a:srgbClr val="0033B3"/>
                </a:solidFill>
              </a:rPr>
              <a:t>int </a:t>
            </a:r>
            <a:r>
              <a:rPr lang="en-IE" sz="2400" dirty="0" err="1"/>
              <a:t>i</a:t>
            </a:r>
            <a:r>
              <a:rPr lang="en-IE" sz="2400" dirty="0"/>
              <a:t>) {</a:t>
            </a:r>
            <a:br>
              <a:rPr lang="en-IE" sz="2400" dirty="0"/>
            </a:br>
            <a:r>
              <a:rPr lang="en-IE" sz="2400" dirty="0"/>
              <a:t>   </a:t>
            </a:r>
            <a:r>
              <a:rPr lang="en-IE" sz="2400" dirty="0">
                <a:solidFill>
                  <a:srgbClr val="0033B3"/>
                </a:solidFill>
              </a:rPr>
              <a:t>return </a:t>
            </a:r>
            <a:r>
              <a:rPr lang="en-IE" sz="2400" dirty="0"/>
              <a:t>(</a:t>
            </a:r>
            <a:r>
              <a:rPr lang="en-IE" sz="2400" dirty="0" err="1"/>
              <a:t>i</a:t>
            </a:r>
            <a:r>
              <a:rPr lang="en-IE" sz="2400" dirty="0"/>
              <a:t>&gt;</a:t>
            </a:r>
            <a:r>
              <a:rPr lang="en-IE" sz="2400" dirty="0">
                <a:solidFill>
                  <a:srgbClr val="1750EB"/>
                </a:solidFill>
              </a:rPr>
              <a:t>10</a:t>
            </a:r>
            <a:r>
              <a:rPr lang="en-IE" sz="2400" dirty="0"/>
              <a:t>);</a:t>
            </a:r>
            <a:br>
              <a:rPr lang="en-IE" sz="2400" dirty="0"/>
            </a:br>
            <a:r>
              <a:rPr lang="en-IE" sz="2400" dirty="0"/>
              <a:t>}</a:t>
            </a: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525739-3966-9B4B-991A-9345FB2D84C8}"/>
              </a:ext>
            </a:extLst>
          </p:cNvPr>
          <p:cNvSpPr/>
          <p:nvPr/>
        </p:nvSpPr>
        <p:spPr>
          <a:xfrm>
            <a:off x="1371600" y="4495800"/>
            <a:ext cx="5638800" cy="15696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E" sz="2400" dirty="0">
                <a:solidFill>
                  <a:srgbClr val="0033B3"/>
                </a:solidFill>
              </a:rPr>
              <a:t>If (Utilities.overTen2(6) ) </a:t>
            </a:r>
            <a:r>
              <a:rPr lang="en-US" sz="2400" dirty="0">
                <a:solidFill>
                  <a:srgbClr val="0033B3"/>
                </a:solidFill>
              </a:rPr>
              <a:t> {</a:t>
            </a:r>
          </a:p>
          <a:p>
            <a:r>
              <a:rPr lang="en-US" sz="2400" dirty="0">
                <a:solidFill>
                  <a:srgbClr val="0033B3"/>
                </a:solidFill>
              </a:rPr>
              <a:t>      </a:t>
            </a:r>
            <a:r>
              <a:rPr lang="en-US" sz="2400" dirty="0" err="1">
                <a:solidFill>
                  <a:srgbClr val="0033B3"/>
                </a:solidFill>
              </a:rPr>
              <a:t>System.out.println</a:t>
            </a:r>
            <a:r>
              <a:rPr lang="en-US" sz="2400" dirty="0">
                <a:solidFill>
                  <a:srgbClr val="0033B3"/>
                </a:solidFill>
              </a:rPr>
              <a:t> (“Over ten”);</a:t>
            </a:r>
          </a:p>
          <a:p>
            <a:r>
              <a:rPr lang="en-US" sz="2400" dirty="0">
                <a:solidFill>
                  <a:srgbClr val="0033B3"/>
                </a:solidFill>
              </a:rPr>
              <a:t>else </a:t>
            </a:r>
          </a:p>
          <a:p>
            <a:r>
              <a:rPr lang="en-US" sz="2400" dirty="0">
                <a:solidFill>
                  <a:srgbClr val="0033B3"/>
                </a:solidFill>
              </a:rPr>
              <a:t>      </a:t>
            </a:r>
            <a:r>
              <a:rPr lang="en-US" sz="2400" dirty="0" err="1">
                <a:solidFill>
                  <a:srgbClr val="0033B3"/>
                </a:solidFill>
              </a:rPr>
              <a:t>System.out.println</a:t>
            </a:r>
            <a:r>
              <a:rPr lang="en-US" sz="2400" dirty="0">
                <a:solidFill>
                  <a:srgbClr val="0033B3"/>
                </a:solidFill>
              </a:rPr>
              <a:t> (“Not over ten”);</a:t>
            </a:r>
            <a:endParaRPr lang="en-IE" sz="2400" dirty="0">
              <a:solidFill>
                <a:srgbClr val="0033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600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7630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E" sz="4400" dirty="0"/>
          </a:p>
          <a:p>
            <a:pPr marL="1030288" indent="-747713">
              <a:buFont typeface="+mj-lt"/>
              <a:buAutoNum type="arabicPeriod"/>
            </a:pPr>
            <a:r>
              <a:rPr lang="en-IE" sz="4400" dirty="0"/>
              <a:t> Regular expressions </a:t>
            </a:r>
          </a:p>
          <a:p>
            <a:pPr marL="1030288" indent="-747713">
              <a:buFont typeface="+mj-lt"/>
              <a:buAutoNum type="arabicPeriod"/>
            </a:pPr>
            <a:r>
              <a:rPr lang="en-IE" sz="4400" dirty="0"/>
              <a:t>Methods with int return type</a:t>
            </a:r>
          </a:p>
          <a:p>
            <a:pPr marL="1030288" indent="-747713">
              <a:buFont typeface="+mj-lt"/>
              <a:buAutoNum type="arabicPeriod"/>
            </a:pPr>
            <a:r>
              <a:rPr lang="en-IE" sz="4400" dirty="0"/>
              <a:t>Boolean methods</a:t>
            </a:r>
            <a:endParaRPr lang="en-IE" sz="4400" b="1" dirty="0"/>
          </a:p>
          <a:p>
            <a:pPr marL="1030288" indent="-747713">
              <a:buFont typeface="+mj-lt"/>
              <a:buAutoNum type="arabicPeriod"/>
            </a:pPr>
            <a:r>
              <a:rPr lang="en-IE" sz="4400" b="1" dirty="0"/>
              <a:t>Utilities </a:t>
            </a:r>
            <a:r>
              <a:rPr lang="en-IE" sz="4400" dirty="0"/>
              <a:t>class</a:t>
            </a:r>
          </a:p>
          <a:p>
            <a:pPr marL="1030288" indent="-747713">
              <a:buFont typeface="+mj-lt"/>
              <a:buAutoNum type="arabicPeriod"/>
            </a:pPr>
            <a:r>
              <a:rPr lang="en-IE" sz="4400" b="1" dirty="0"/>
              <a:t>equals() </a:t>
            </a:r>
            <a:r>
              <a:rPr lang="en-IE" sz="4400" dirty="0"/>
              <a:t>method</a:t>
            </a:r>
          </a:p>
          <a:p>
            <a:pPr marL="1030288" indent="-747713">
              <a:buFont typeface="+mj-lt"/>
              <a:buAutoNum type="arabicPeriod"/>
            </a:pPr>
            <a:endParaRPr lang="en-IE" sz="4400" dirty="0"/>
          </a:p>
        </p:txBody>
      </p:sp>
      <p:sp>
        <p:nvSpPr>
          <p:cNvPr id="7" name="Rectangle 6"/>
          <p:cNvSpPr/>
          <p:nvPr/>
        </p:nvSpPr>
        <p:spPr>
          <a:xfrm>
            <a:off x="1295400" y="5410200"/>
            <a:ext cx="5410200" cy="685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93554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equals() method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IE" sz="2400" dirty="0"/>
              <a:t>What do we mean by two objects being equal? </a:t>
            </a:r>
          </a:p>
          <a:p>
            <a:endParaRPr lang="en-IE" sz="2400" dirty="0"/>
          </a:p>
          <a:p>
            <a:r>
              <a:rPr lang="en-IE" sz="2400" dirty="0"/>
              <a:t>If we wish to check that two objects contain the same values (as opposed to being stored at the same address), we can use the equals() method.</a:t>
            </a:r>
          </a:p>
          <a:p>
            <a:r>
              <a:rPr lang="en-IE" sz="2400" dirty="0"/>
              <a:t>Similar to </a:t>
            </a:r>
            <a:r>
              <a:rPr lang="en-IE" sz="2400" dirty="0" err="1"/>
              <a:t>toString</a:t>
            </a:r>
            <a:r>
              <a:rPr lang="en-IE" sz="2400" dirty="0"/>
              <a:t>(), there is a high-level version of equals() written, but we can make this more specific by writing this more locally in the class (thus overloading the method). </a:t>
            </a:r>
          </a:p>
          <a:p>
            <a:endParaRPr lang="en-IE" sz="2400" dirty="0"/>
          </a:p>
          <a:p>
            <a:r>
              <a:rPr lang="en-IE" sz="2400" dirty="0"/>
              <a:t>So you an decide exactly what it means for two objects to be equal.</a:t>
            </a:r>
          </a:p>
        </p:txBody>
      </p:sp>
    </p:spTree>
    <p:extLst>
      <p:ext uri="{BB962C8B-B14F-4D97-AF65-F5344CB8AC3E}">
        <p14:creationId xmlns:p14="http://schemas.microsoft.com/office/powerpoint/2010/main" val="1207443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equals() method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E" sz="2000" dirty="0"/>
              <a:t>public class </a:t>
            </a:r>
            <a:r>
              <a:rPr lang="en-IE" sz="2000" dirty="0" err="1"/>
              <a:t>SimpleClass</a:t>
            </a:r>
            <a:r>
              <a:rPr lang="en-IE" sz="2000" dirty="0"/>
              <a:t> {</a:t>
            </a:r>
            <a:br>
              <a:rPr lang="en-IE" sz="2000" dirty="0"/>
            </a:br>
            <a:r>
              <a:rPr lang="en-IE" sz="2000" dirty="0"/>
              <a:t>    int x;</a:t>
            </a:r>
            <a:br>
              <a:rPr lang="en-IE" sz="2000" dirty="0"/>
            </a:br>
            <a:r>
              <a:rPr lang="en-IE" sz="2000" dirty="0"/>
              <a:t>    int y;    </a:t>
            </a:r>
            <a:br>
              <a:rPr lang="en-IE" sz="2000" dirty="0"/>
            </a:br>
            <a:r>
              <a:rPr lang="en-IE" sz="2000" dirty="0"/>
              <a:t>    </a:t>
            </a:r>
            <a:r>
              <a:rPr lang="en-IE" sz="2000" dirty="0" err="1"/>
              <a:t>SimpleClass</a:t>
            </a:r>
            <a:r>
              <a:rPr lang="en-IE" sz="2000" dirty="0"/>
              <a:t>(int x, int y) {   //constructor </a:t>
            </a:r>
            <a:br>
              <a:rPr lang="en-IE" sz="2000" dirty="0"/>
            </a:br>
            <a:r>
              <a:rPr lang="en-IE" sz="2000" dirty="0"/>
              <a:t>        </a:t>
            </a:r>
            <a:r>
              <a:rPr lang="en-IE" sz="2000" dirty="0" err="1"/>
              <a:t>this.x</a:t>
            </a:r>
            <a:r>
              <a:rPr lang="en-IE" sz="2000" dirty="0"/>
              <a:t> = x;</a:t>
            </a:r>
            <a:br>
              <a:rPr lang="en-IE" sz="2000" dirty="0"/>
            </a:br>
            <a:r>
              <a:rPr lang="en-IE" sz="2000" dirty="0"/>
              <a:t>        </a:t>
            </a:r>
            <a:r>
              <a:rPr lang="en-IE" sz="2000" dirty="0" err="1"/>
              <a:t>this.y</a:t>
            </a:r>
            <a:r>
              <a:rPr lang="en-IE" sz="2000" dirty="0"/>
              <a:t> = y;</a:t>
            </a:r>
            <a:br>
              <a:rPr lang="en-IE" sz="2000" dirty="0"/>
            </a:br>
            <a:r>
              <a:rPr lang="en-IE" sz="2000" dirty="0"/>
              <a:t>    }</a:t>
            </a:r>
            <a:br>
              <a:rPr lang="en-IE" sz="2000" dirty="0"/>
            </a:br>
            <a:r>
              <a:rPr lang="en-IE" sz="2000" dirty="0"/>
              <a:t>    int </a:t>
            </a:r>
            <a:r>
              <a:rPr lang="en-IE" sz="2000" dirty="0" err="1"/>
              <a:t>getX</a:t>
            </a:r>
            <a:r>
              <a:rPr lang="en-IE" sz="2000" dirty="0"/>
              <a:t>(){  return x;}   </a:t>
            </a:r>
            <a:br>
              <a:rPr lang="en-IE" sz="2000" dirty="0"/>
            </a:br>
            <a:r>
              <a:rPr lang="en-IE" sz="2000" dirty="0"/>
              <a:t>    int </a:t>
            </a:r>
            <a:r>
              <a:rPr lang="en-IE" sz="2000" dirty="0" err="1"/>
              <a:t>getY</a:t>
            </a:r>
            <a:r>
              <a:rPr lang="en-IE" sz="2000" dirty="0"/>
              <a:t>(){  return y;}</a:t>
            </a:r>
            <a:br>
              <a:rPr lang="en-IE" sz="2000" dirty="0"/>
            </a:br>
            <a:r>
              <a:rPr lang="en-IE" sz="2000" dirty="0"/>
              <a:t>    </a:t>
            </a:r>
            <a:br>
              <a:rPr lang="en-IE" sz="2000" i="1" dirty="0"/>
            </a:br>
            <a:r>
              <a:rPr lang="en-IE" sz="2000" i="1" dirty="0"/>
              <a:t>    </a:t>
            </a:r>
            <a:r>
              <a:rPr lang="en-IE" sz="2000" dirty="0"/>
              <a:t>public </a:t>
            </a:r>
            <a:r>
              <a:rPr lang="en-IE" sz="2000" dirty="0" err="1"/>
              <a:t>boolean</a:t>
            </a:r>
            <a:r>
              <a:rPr lang="en-IE" sz="2000" dirty="0"/>
              <a:t> equals(</a:t>
            </a:r>
            <a:r>
              <a:rPr lang="en-IE" sz="2000" dirty="0" err="1"/>
              <a:t>SimpleClass</a:t>
            </a:r>
            <a:r>
              <a:rPr lang="en-IE" sz="2000" dirty="0"/>
              <a:t> </a:t>
            </a:r>
            <a:r>
              <a:rPr lang="en-IE" sz="2000" dirty="0" err="1"/>
              <a:t>otherSimpleClassObject</a:t>
            </a:r>
            <a:r>
              <a:rPr lang="en-IE" sz="2000" dirty="0"/>
              <a:t>) {</a:t>
            </a:r>
            <a:br>
              <a:rPr lang="en-IE" sz="2000" dirty="0"/>
            </a:br>
            <a:r>
              <a:rPr lang="en-IE" sz="2000" dirty="0"/>
              <a:t>        return (</a:t>
            </a:r>
            <a:r>
              <a:rPr lang="en-IE" sz="2000" dirty="0" err="1"/>
              <a:t>this.x</a:t>
            </a:r>
            <a:r>
              <a:rPr lang="en-IE" sz="2000" dirty="0"/>
              <a:t> == </a:t>
            </a:r>
            <a:r>
              <a:rPr lang="en-IE" sz="2000" dirty="0" err="1"/>
              <a:t>otherSimpleClassObject.getX</a:t>
            </a:r>
            <a:r>
              <a:rPr lang="en-IE" sz="2000" dirty="0"/>
              <a:t>() &amp;&amp;</a:t>
            </a:r>
            <a:br>
              <a:rPr lang="en-IE" sz="2000" dirty="0"/>
            </a:br>
            <a:r>
              <a:rPr lang="en-IE" sz="2000" dirty="0"/>
              <a:t>                      </a:t>
            </a:r>
            <a:r>
              <a:rPr lang="en-IE" sz="2000" dirty="0" err="1"/>
              <a:t>this.y</a:t>
            </a:r>
            <a:r>
              <a:rPr lang="en-IE" sz="2000" dirty="0"/>
              <a:t> == </a:t>
            </a:r>
            <a:r>
              <a:rPr lang="en-IE" sz="2000" dirty="0" err="1"/>
              <a:t>otherSimpleClassObject.getY</a:t>
            </a:r>
            <a:r>
              <a:rPr lang="en-IE" sz="2000" dirty="0"/>
              <a:t>() );</a:t>
            </a:r>
            <a:br>
              <a:rPr lang="en-IE" sz="2000" dirty="0"/>
            </a:br>
            <a:r>
              <a:rPr lang="en-IE" sz="2000" dirty="0"/>
              <a:t>    }</a:t>
            </a:r>
            <a:br>
              <a:rPr lang="en-IE" sz="2000" dirty="0"/>
            </a:br>
            <a:r>
              <a:rPr lang="en-IE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65694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equals() method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4648200"/>
            <a:ext cx="8686800" cy="1828800"/>
          </a:xfr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br>
              <a:rPr lang="en-IE" sz="2000" i="1" dirty="0"/>
            </a:br>
            <a:r>
              <a:rPr lang="en-IE" sz="2000" i="1" dirty="0"/>
              <a:t>    </a:t>
            </a:r>
            <a:r>
              <a:rPr lang="en-IE" sz="2000" dirty="0"/>
              <a:t>public </a:t>
            </a:r>
            <a:r>
              <a:rPr lang="en-IE" sz="2000" dirty="0" err="1"/>
              <a:t>boolean</a:t>
            </a:r>
            <a:r>
              <a:rPr lang="en-IE" sz="2000" dirty="0"/>
              <a:t> equals(</a:t>
            </a:r>
            <a:r>
              <a:rPr lang="en-IE" sz="2000" dirty="0" err="1"/>
              <a:t>SimpleClass</a:t>
            </a:r>
            <a:r>
              <a:rPr lang="en-IE" sz="2000" dirty="0"/>
              <a:t> </a:t>
            </a:r>
            <a:r>
              <a:rPr lang="en-IE" sz="2000" dirty="0" err="1"/>
              <a:t>otherSimpleClassObject</a:t>
            </a:r>
            <a:r>
              <a:rPr lang="en-IE" sz="2000" dirty="0"/>
              <a:t>) {</a:t>
            </a:r>
            <a:br>
              <a:rPr lang="en-IE" sz="2000" dirty="0"/>
            </a:br>
            <a:r>
              <a:rPr lang="en-IE" sz="2000" dirty="0"/>
              <a:t>        return (</a:t>
            </a:r>
            <a:r>
              <a:rPr lang="en-IE" sz="2000" dirty="0" err="1"/>
              <a:t>this.x</a:t>
            </a:r>
            <a:r>
              <a:rPr lang="en-IE" sz="2000" dirty="0"/>
              <a:t> == </a:t>
            </a:r>
            <a:r>
              <a:rPr lang="en-IE" sz="2000" dirty="0" err="1"/>
              <a:t>otherSimpleClassObject.getX</a:t>
            </a:r>
            <a:r>
              <a:rPr lang="en-IE" sz="2000" dirty="0"/>
              <a:t>() &amp;&amp;</a:t>
            </a:r>
            <a:br>
              <a:rPr lang="en-IE" sz="2000" dirty="0"/>
            </a:br>
            <a:r>
              <a:rPr lang="en-IE" sz="2000" dirty="0"/>
              <a:t>                      </a:t>
            </a:r>
            <a:r>
              <a:rPr lang="en-IE" sz="2000" dirty="0" err="1"/>
              <a:t>this.y</a:t>
            </a:r>
            <a:r>
              <a:rPr lang="en-IE" sz="2000" dirty="0"/>
              <a:t> == </a:t>
            </a:r>
            <a:r>
              <a:rPr lang="en-IE" sz="2000" dirty="0" err="1"/>
              <a:t>otherSimpleClassObject.getY</a:t>
            </a:r>
            <a:r>
              <a:rPr lang="en-IE" sz="2000" dirty="0"/>
              <a:t>() );</a:t>
            </a:r>
            <a:br>
              <a:rPr lang="en-IE" sz="2000" dirty="0"/>
            </a:br>
            <a:r>
              <a:rPr lang="en-IE" sz="2000" dirty="0"/>
              <a:t>    }</a:t>
            </a:r>
            <a:br>
              <a:rPr lang="en-IE" sz="2000" dirty="0"/>
            </a:br>
            <a:r>
              <a:rPr lang="en-IE" sz="2000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3F1483-90BA-D949-BC04-F88FA5FFCAB8}"/>
              </a:ext>
            </a:extLst>
          </p:cNvPr>
          <p:cNvSpPr txBox="1"/>
          <p:nvPr/>
        </p:nvSpPr>
        <p:spPr>
          <a:xfrm>
            <a:off x="4800600" y="6096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A50DDA-B631-B646-AA5E-633157C6167A}"/>
              </a:ext>
            </a:extLst>
          </p:cNvPr>
          <p:cNvSpPr txBox="1"/>
          <p:nvPr/>
        </p:nvSpPr>
        <p:spPr>
          <a:xfrm>
            <a:off x="228600" y="1676400"/>
            <a:ext cx="8077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define equals with one parameter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  - an object of the same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two </a:t>
            </a:r>
            <a:r>
              <a:rPr lang="en-US" sz="2400" dirty="0" err="1"/>
              <a:t>SimpleClass</a:t>
            </a:r>
            <a:r>
              <a:rPr lang="en-US" sz="2400" dirty="0"/>
              <a:t> objects to be equal, each of the their integer fields of the first object must be equal to the other object’s integer fields. </a:t>
            </a:r>
          </a:p>
        </p:txBody>
      </p:sp>
    </p:spTree>
    <p:extLst>
      <p:ext uri="{BB962C8B-B14F-4D97-AF65-F5344CB8AC3E}">
        <p14:creationId xmlns:p14="http://schemas.microsoft.com/office/powerpoint/2010/main" val="684018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equals() method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1676400"/>
            <a:ext cx="8686800" cy="1828800"/>
          </a:xfr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br>
              <a:rPr lang="en-IE" sz="2000" i="1" dirty="0"/>
            </a:br>
            <a:r>
              <a:rPr lang="en-IE" sz="2000" i="1" dirty="0"/>
              <a:t>    </a:t>
            </a:r>
            <a:r>
              <a:rPr lang="en-IE" sz="2000" dirty="0"/>
              <a:t>public </a:t>
            </a:r>
            <a:r>
              <a:rPr lang="en-IE" sz="2000" dirty="0" err="1"/>
              <a:t>boolean</a:t>
            </a:r>
            <a:r>
              <a:rPr lang="en-IE" sz="2000" dirty="0"/>
              <a:t> equals(</a:t>
            </a:r>
            <a:r>
              <a:rPr lang="en-IE" sz="2000" dirty="0" err="1"/>
              <a:t>SimpleClass</a:t>
            </a:r>
            <a:r>
              <a:rPr lang="en-IE" sz="2000" dirty="0"/>
              <a:t> </a:t>
            </a:r>
            <a:r>
              <a:rPr lang="en-IE" sz="2000" dirty="0" err="1"/>
              <a:t>otherSimpleClassObject</a:t>
            </a:r>
            <a:r>
              <a:rPr lang="en-IE" sz="2000" dirty="0"/>
              <a:t>) {</a:t>
            </a:r>
            <a:br>
              <a:rPr lang="en-IE" sz="2000" dirty="0"/>
            </a:br>
            <a:r>
              <a:rPr lang="en-IE" sz="2000" dirty="0"/>
              <a:t>        return (</a:t>
            </a:r>
            <a:r>
              <a:rPr lang="en-IE" sz="2000" dirty="0" err="1"/>
              <a:t>this.x</a:t>
            </a:r>
            <a:r>
              <a:rPr lang="en-IE" sz="2000" dirty="0"/>
              <a:t> == </a:t>
            </a:r>
            <a:r>
              <a:rPr lang="en-IE" sz="2000" dirty="0" err="1"/>
              <a:t>otherSimpleClassObject.getX</a:t>
            </a:r>
            <a:r>
              <a:rPr lang="en-IE" sz="2000" dirty="0"/>
              <a:t>() &amp;&amp;</a:t>
            </a:r>
            <a:br>
              <a:rPr lang="en-IE" sz="2000" dirty="0"/>
            </a:br>
            <a:r>
              <a:rPr lang="en-IE" sz="2000" dirty="0"/>
              <a:t>                      </a:t>
            </a:r>
            <a:r>
              <a:rPr lang="en-IE" sz="2000" dirty="0" err="1"/>
              <a:t>this.y</a:t>
            </a:r>
            <a:r>
              <a:rPr lang="en-IE" sz="2000" dirty="0"/>
              <a:t> == </a:t>
            </a:r>
            <a:r>
              <a:rPr lang="en-IE" sz="2000" dirty="0" err="1"/>
              <a:t>otherSimpleClassObject.getY</a:t>
            </a:r>
            <a:r>
              <a:rPr lang="en-IE" sz="2000" dirty="0"/>
              <a:t>() );</a:t>
            </a:r>
            <a:br>
              <a:rPr lang="en-IE" sz="2000" dirty="0"/>
            </a:br>
            <a:r>
              <a:rPr lang="en-IE" sz="2000" dirty="0"/>
              <a:t>    }</a:t>
            </a:r>
            <a:br>
              <a:rPr lang="en-IE" sz="2000" dirty="0"/>
            </a:br>
            <a:r>
              <a:rPr lang="en-IE" sz="2000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3F1483-90BA-D949-BC04-F88FA5FFCAB8}"/>
              </a:ext>
            </a:extLst>
          </p:cNvPr>
          <p:cNvSpPr txBox="1"/>
          <p:nvPr/>
        </p:nvSpPr>
        <p:spPr>
          <a:xfrm>
            <a:off x="4800600" y="6096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BE95CC88-B930-BE4B-BE0F-4C41BA537EEA}"/>
              </a:ext>
            </a:extLst>
          </p:cNvPr>
          <p:cNvSpPr txBox="1">
            <a:spLocks/>
          </p:cNvSpPr>
          <p:nvPr/>
        </p:nvSpPr>
        <p:spPr>
          <a:xfrm>
            <a:off x="228600" y="3886200"/>
            <a:ext cx="8686800" cy="29718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IE" sz="2000" i="1" dirty="0"/>
              <a:t>{   //code snippet</a:t>
            </a:r>
          </a:p>
          <a:p>
            <a:pPr marL="0" indent="0">
              <a:buFont typeface="Arial" pitchFamily="34" charset="0"/>
              <a:buNone/>
            </a:pPr>
            <a:r>
              <a:rPr lang="en-IE" sz="2000" i="1" dirty="0" err="1"/>
              <a:t>SimpleClass</a:t>
            </a:r>
            <a:r>
              <a:rPr lang="en-IE" sz="2000" i="1" dirty="0"/>
              <a:t> object1, object 2;</a:t>
            </a:r>
          </a:p>
          <a:p>
            <a:pPr marL="0" indent="0">
              <a:buFont typeface="Arial" pitchFamily="34" charset="0"/>
              <a:buNone/>
            </a:pPr>
            <a:r>
              <a:rPr lang="en-IE" sz="2000" i="1" dirty="0"/>
              <a:t>object1 = new </a:t>
            </a:r>
            <a:r>
              <a:rPr lang="en-IE" sz="2000" i="1" dirty="0" err="1"/>
              <a:t>SimpleClass</a:t>
            </a:r>
            <a:r>
              <a:rPr lang="en-IE" sz="2000" i="1" dirty="0"/>
              <a:t>(4,5);  //different objects but the same values</a:t>
            </a:r>
          </a:p>
          <a:p>
            <a:pPr marL="0" indent="0">
              <a:buNone/>
            </a:pPr>
            <a:r>
              <a:rPr lang="en-IE" sz="2000" i="1" dirty="0"/>
              <a:t>object2 =  new </a:t>
            </a:r>
            <a:r>
              <a:rPr lang="en-IE" sz="2000" i="1" dirty="0" err="1"/>
              <a:t>SimpleClass</a:t>
            </a:r>
            <a:r>
              <a:rPr lang="en-IE" sz="2000" i="1" dirty="0"/>
              <a:t>(4,5);</a:t>
            </a:r>
          </a:p>
          <a:p>
            <a:pPr marL="0" indent="0">
              <a:buNone/>
            </a:pPr>
            <a:endParaRPr lang="en-IE" sz="2000" i="1" dirty="0"/>
          </a:p>
          <a:p>
            <a:pPr marL="0" indent="0">
              <a:buNone/>
            </a:pPr>
            <a:r>
              <a:rPr lang="en-IE" sz="2000" i="1" dirty="0"/>
              <a:t>If (object1.equals(object2) ) </a:t>
            </a:r>
          </a:p>
          <a:p>
            <a:pPr marL="0" indent="0">
              <a:buNone/>
            </a:pPr>
            <a:r>
              <a:rPr lang="en-IE" sz="2000" i="1" dirty="0"/>
              <a:t>  </a:t>
            </a:r>
            <a:r>
              <a:rPr lang="en-IE" sz="2000" i="1" dirty="0" err="1"/>
              <a:t>System.out.println</a:t>
            </a:r>
            <a:r>
              <a:rPr lang="en-IE" sz="2000" i="1" dirty="0"/>
              <a:t>(“objects have equal values”);</a:t>
            </a:r>
            <a:br>
              <a:rPr lang="en-IE" sz="2000" dirty="0"/>
            </a:br>
            <a:r>
              <a:rPr lang="en-IE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640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057400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5711</TotalTime>
  <Words>1639</Words>
  <Application>Microsoft Macintosh PowerPoint</Application>
  <PresentationFormat>On-screen Show (4:3)</PresentationFormat>
  <Paragraphs>160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Boolean methods and the use of the Utilities class</vt:lpstr>
      <vt:lpstr>Topics list</vt:lpstr>
      <vt:lpstr>Regular Expressions</vt:lpstr>
      <vt:lpstr>Resources</vt:lpstr>
      <vt:lpstr>CheatSheet</vt:lpstr>
      <vt:lpstr>How to use Regular Expressions in Utilities</vt:lpstr>
      <vt:lpstr>Topics list</vt:lpstr>
      <vt:lpstr>Example 1. Methods with int return type</vt:lpstr>
      <vt:lpstr>Example 2. Methods with int return type</vt:lpstr>
      <vt:lpstr>Example 3. Methods with int return type – calling  the function directly</vt:lpstr>
      <vt:lpstr>Exercise 1 . Methods with int return type</vt:lpstr>
      <vt:lpstr>Topics list</vt:lpstr>
      <vt:lpstr>Example 4. Methods with boolean return type. </vt:lpstr>
      <vt:lpstr>Example 5. Methods with boolean return type. (Direct use of condition)</vt:lpstr>
      <vt:lpstr>Example 6. Methods with boolean return type. (Direct use of condition in call of method)</vt:lpstr>
      <vt:lpstr>Example 7. Methods with boolean return type. (Use of NOT in call)</vt:lpstr>
      <vt:lpstr>If you are testing this code..</vt:lpstr>
      <vt:lpstr>Topics list</vt:lpstr>
      <vt:lpstr>Utilities Class</vt:lpstr>
      <vt:lpstr>Utilities Class</vt:lpstr>
      <vt:lpstr>Topics list</vt:lpstr>
      <vt:lpstr>equals() method</vt:lpstr>
      <vt:lpstr>equals() method</vt:lpstr>
      <vt:lpstr>equals() method</vt:lpstr>
      <vt:lpstr>Using the equals() method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on Methods</dc:title>
  <dc:creator>Siobhan Drohan</dc:creator>
  <cp:lastModifiedBy>Mairead Meagher</cp:lastModifiedBy>
  <cp:revision>266</cp:revision>
  <dcterms:created xsi:type="dcterms:W3CDTF">2006-08-16T00:00:00Z</dcterms:created>
  <dcterms:modified xsi:type="dcterms:W3CDTF">2020-12-12T09:34:16Z</dcterms:modified>
</cp:coreProperties>
</file>