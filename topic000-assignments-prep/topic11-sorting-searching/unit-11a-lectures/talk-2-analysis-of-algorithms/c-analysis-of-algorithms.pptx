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22"/>
  </p:notesMasterIdLst>
  <p:sldIdLst>
    <p:sldId id="656" r:id="rId2"/>
    <p:sldId id="516" r:id="rId3"/>
    <p:sldId id="567" r:id="rId4"/>
    <p:sldId id="617" r:id="rId5"/>
    <p:sldId id="630" r:id="rId6"/>
    <p:sldId id="619" r:id="rId7"/>
    <p:sldId id="643" r:id="rId8"/>
    <p:sldId id="647" r:id="rId9"/>
    <p:sldId id="645" r:id="rId10"/>
    <p:sldId id="646" r:id="rId11"/>
    <p:sldId id="622" r:id="rId12"/>
    <p:sldId id="648" r:id="rId13"/>
    <p:sldId id="650" r:id="rId14"/>
    <p:sldId id="649" r:id="rId15"/>
    <p:sldId id="631" r:id="rId16"/>
    <p:sldId id="651" r:id="rId17"/>
    <p:sldId id="652" r:id="rId18"/>
    <p:sldId id="653" r:id="rId19"/>
    <p:sldId id="654" r:id="rId20"/>
    <p:sldId id="62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83304" autoAdjust="0"/>
  </p:normalViewPr>
  <p:slideViewPr>
    <p:cSldViewPr>
      <p:cViewPr varScale="1">
        <p:scale>
          <a:sx n="62" d="100"/>
          <a:sy n="62" d="100"/>
        </p:scale>
        <p:origin x="135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3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680"/>
    </p:cViewPr>
  </p:sorterViewPr>
  <p:notesViewPr>
    <p:cSldViewPr snapToGrid="0" snapToObjects="1">
      <p:cViewPr varScale="1">
        <p:scale>
          <a:sx n="80" d="100"/>
          <a:sy n="80" d="100"/>
        </p:scale>
        <p:origin x="-2904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051C-64F0-4573-B882-616D757F8DD4}" type="datetimeFigureOut">
              <a:rPr lang="en-IE" smtClean="0"/>
              <a:pPr/>
              <a:t>02/12/2019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81B23-C832-43C5-9B50-044EE2C12CE3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264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5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1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8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8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6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7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0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6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21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15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650875" y="914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IE" altLang="en-US" sz="4000" dirty="0" smtClean="0"/>
              <a:t>Analysis of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 rtlCol="0">
            <a:normAutofit/>
          </a:bodyPr>
          <a:lstStyle/>
          <a:p>
            <a:pPr algn="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/>
              <a:t>Produced </a:t>
            </a:r>
          </a:p>
          <a:p>
            <a:pPr algn="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/>
              <a:t>by:</a:t>
            </a:r>
          </a:p>
        </p:txBody>
      </p:sp>
      <p:pic>
        <p:nvPicPr>
          <p:cNvPr id="1229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5715000"/>
            <a:ext cx="37719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727075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0" y="3817938"/>
            <a:ext cx="2971800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Drohan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Ms. Mairead Meagher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5892800"/>
            <a:ext cx="40735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16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Department of Computing and Mathematics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E" sz="16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50875" y="2133600"/>
            <a:ext cx="7772400" cy="93662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IE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An Introduction</a:t>
            </a:r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30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 smtClean="0"/>
              <a:t>Analysis of Algorithms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73152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3200" dirty="0" smtClean="0"/>
          </a:p>
          <a:p>
            <a:r>
              <a:rPr lang="en-GB" sz="3200" dirty="0" smtClean="0"/>
              <a:t>What is an efficient algorithm?</a:t>
            </a:r>
          </a:p>
          <a:p>
            <a:endParaRPr lang="en-GB" sz="3200" dirty="0" smtClean="0"/>
          </a:p>
          <a:p>
            <a:r>
              <a:rPr lang="en-GB" sz="3200" dirty="0" smtClean="0"/>
              <a:t>Examples of costs.</a:t>
            </a:r>
          </a:p>
          <a:p>
            <a:endParaRPr lang="en-GB" sz="3200" dirty="0" smtClean="0"/>
          </a:p>
          <a:p>
            <a:r>
              <a:rPr lang="en-GB" sz="3200" dirty="0" smtClean="0"/>
              <a:t>Recurrence Relations.</a:t>
            </a:r>
          </a:p>
          <a:p>
            <a:endParaRPr lang="en-GB" sz="3200" dirty="0" smtClean="0"/>
          </a:p>
          <a:p>
            <a:r>
              <a:rPr lang="en-GB" sz="3200" dirty="0" smtClean="0"/>
              <a:t>Looking at comparative numbers.</a:t>
            </a:r>
          </a:p>
          <a:p>
            <a:endParaRPr lang="en-GB" dirty="0" smtClean="0"/>
          </a:p>
          <a:p>
            <a:pPr marL="457200" lvl="1" indent="0">
              <a:buNone/>
            </a:pPr>
            <a:endParaRPr lang="en-GB" dirty="0" smtClean="0"/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13621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 smtClean="0"/>
              <a:t>Analysis of Algorithms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hangingPunct="0"/>
            <a:r>
              <a:rPr lang="en-GB" sz="2800" dirty="0" smtClean="0"/>
              <a:t>What does it mean to be a ‘good’ algorithm? </a:t>
            </a:r>
          </a:p>
          <a:p>
            <a:pPr lvl="1" hangingPunct="0"/>
            <a:r>
              <a:rPr lang="en-GB" sz="2400" dirty="0" smtClean="0"/>
              <a:t>Quick to run ?</a:t>
            </a:r>
          </a:p>
          <a:p>
            <a:pPr lvl="1" hangingPunct="0"/>
            <a:r>
              <a:rPr lang="en-GB" sz="2400" dirty="0" smtClean="0"/>
              <a:t>Needs low memory requirements?</a:t>
            </a:r>
            <a:endParaRPr lang="en-GB" sz="2400" dirty="0"/>
          </a:p>
          <a:p>
            <a:pPr marL="0" indent="0" hangingPunct="0">
              <a:buNone/>
            </a:pPr>
            <a:endParaRPr lang="en-GB" sz="2800" dirty="0"/>
          </a:p>
          <a:p>
            <a:pPr hangingPunct="0"/>
            <a:r>
              <a:rPr lang="en-GB" sz="2800" dirty="0" smtClean="0"/>
              <a:t>Both! </a:t>
            </a:r>
          </a:p>
          <a:p>
            <a:pPr hangingPunct="0"/>
            <a:endParaRPr lang="en-GB" sz="2800" dirty="0" smtClean="0"/>
          </a:p>
          <a:p>
            <a:pPr hangingPunct="0"/>
            <a:r>
              <a:rPr lang="en-GB" sz="2800" dirty="0" smtClean="0"/>
              <a:t>We look at how quick algorithms run, on large data.</a:t>
            </a:r>
            <a:endParaRPr lang="en-GB" sz="2800" dirty="0"/>
          </a:p>
          <a:p>
            <a:pPr marL="0" indent="0" hangingPunct="0">
              <a:buNone/>
            </a:pPr>
            <a:r>
              <a:rPr lang="en-GB" sz="1600" b="1" dirty="0"/>
              <a:t>	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5086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Complexity of Algorithms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complexity of an algorithm underlying a program is usually defined in terms of the program input. </a:t>
            </a:r>
            <a:endParaRPr lang="en-US" dirty="0" smtClean="0"/>
          </a:p>
          <a:p>
            <a:r>
              <a:rPr lang="en-US" dirty="0" smtClean="0"/>
              <a:t>Let </a:t>
            </a:r>
            <a:r>
              <a:rPr lang="en-US" b="1" dirty="0"/>
              <a:t>n</a:t>
            </a:r>
            <a:r>
              <a:rPr lang="en-US" dirty="0"/>
              <a:t> be a measure of the quantity of input data for an algorithm. </a:t>
            </a:r>
            <a:r>
              <a:rPr lang="en-US" b="1" dirty="0"/>
              <a:t>T(n) - time complexity </a:t>
            </a:r>
            <a:r>
              <a:rPr lang="en-US" dirty="0"/>
              <a:t>- is the time needed by an algorithm to complete execution as a function of size of input </a:t>
            </a:r>
            <a:r>
              <a:rPr lang="en-US" b="1" dirty="0"/>
              <a:t>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04903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Complexity of Algorithms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Let us look at the following piece of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How </a:t>
            </a:r>
            <a:r>
              <a:rPr lang="en-US" dirty="0"/>
              <a:t>many times is “hi” written to the screen.</a:t>
            </a:r>
          </a:p>
          <a:p>
            <a:pPr marL="0" indent="0">
              <a:buNone/>
            </a:pPr>
            <a:r>
              <a:rPr lang="en-US" dirty="0"/>
              <a:t>Answer: 80.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1219200" y="2438400"/>
            <a:ext cx="5943600" cy="1876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ÇlÇr ñæí©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charset="0"/>
                <a:ea typeface="ÇlÇr ñæí©" charset="0"/>
              </a:rPr>
              <a:t> 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for (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int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= 0; 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&lt;10; 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for 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(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int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j = 0; j&lt;8; j++)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  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  </a:t>
            </a:r>
            <a:r>
              <a:rPr kumimoji="0" lang="en-US" sz="280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System.out.println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(</a:t>
            </a: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“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hi</a:t>
            </a: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”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53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Complexity of Algorithms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800599"/>
          </a:xfrm>
        </p:spPr>
        <p:txBody>
          <a:bodyPr>
            <a:noAutofit/>
          </a:bodyPr>
          <a:lstStyle/>
          <a:p>
            <a:r>
              <a:rPr lang="en-US" sz="2800" dirty="0"/>
              <a:t>If we replaced the 8 and 10 by </a:t>
            </a:r>
            <a:r>
              <a:rPr lang="en-US" sz="2800" dirty="0" smtClean="0"/>
              <a:t>n</a:t>
            </a:r>
            <a:r>
              <a:rPr lang="en-US" sz="2800" dirty="0"/>
              <a:t>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 </a:t>
            </a:r>
          </a:p>
          <a:p>
            <a:pPr marL="0" indent="0">
              <a:buNone/>
            </a:pPr>
            <a:r>
              <a:rPr lang="en-US" sz="2800" dirty="0"/>
              <a:t>   </a:t>
            </a:r>
          </a:p>
          <a:p>
            <a:pPr marL="0" indent="0">
              <a:buNone/>
            </a:pPr>
            <a:r>
              <a:rPr lang="en-US" sz="2800" dirty="0"/>
              <a:t> 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Then </a:t>
            </a:r>
            <a:r>
              <a:rPr lang="en-US" sz="2800" dirty="0"/>
              <a:t>we say that the cost of the loop is </a:t>
            </a:r>
            <a:r>
              <a:rPr lang="en-US" sz="2800" dirty="0">
                <a:solidFill>
                  <a:srgbClr val="FF0000"/>
                </a:solidFill>
              </a:rPr>
              <a:t>n</a:t>
            </a:r>
            <a:r>
              <a:rPr lang="en-US" sz="2800" baseline="300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endParaRPr lang="en-US" sz="2800" dirty="0" smtClean="0">
              <a:solidFill>
                <a:srgbClr val="FF0000"/>
              </a:solidFill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1219200" y="2743200"/>
            <a:ext cx="5943600" cy="18764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ÇlÇr ñæí©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charset="0"/>
                <a:ea typeface="ÇlÇr ñæí©" charset="0"/>
              </a:rPr>
              <a:t> 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for (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int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= 0; </a:t>
            </a:r>
            <a:r>
              <a:rPr kumimoji="0" lang="en-US" sz="280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&lt;n; 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for 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(</a:t>
            </a:r>
            <a:r>
              <a:rPr kumimoji="0" lang="en-US" sz="28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int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j = 0; 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j&lt;n; 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j++)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  </a:t>
            </a:r>
            <a:r>
              <a:rPr kumimoji="0" 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    </a:t>
            </a:r>
            <a:r>
              <a:rPr kumimoji="0" lang="en-US" sz="280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System.out.println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(</a:t>
            </a: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“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hi</a:t>
            </a:r>
            <a:r>
              <a:rPr kumimoji="0" lang="en-US" alt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”</a:t>
            </a:r>
            <a:r>
              <a:rPr kumimoji="0" 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ÇlÇr ñæí©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2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Complexity of Algorithms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800599"/>
          </a:xfrm>
        </p:spPr>
        <p:txBody>
          <a:bodyPr>
            <a:noAutofit/>
          </a:bodyPr>
          <a:lstStyle/>
          <a:p>
            <a:r>
              <a:rPr lang="en-US" sz="2800" dirty="0" smtClean="0"/>
              <a:t>We calculated the cost of the loop on the previous slides as </a:t>
            </a:r>
            <a:r>
              <a:rPr lang="en-US" sz="2800" dirty="0" smtClean="0">
                <a:solidFill>
                  <a:srgbClr val="FF0000"/>
                </a:solidFill>
              </a:rPr>
              <a:t>n</a:t>
            </a:r>
            <a:r>
              <a:rPr lang="en-US" sz="2800" baseline="30000" dirty="0" smtClean="0">
                <a:solidFill>
                  <a:srgbClr val="FF0000"/>
                </a:solidFill>
              </a:rPr>
              <a:t>2</a:t>
            </a:r>
            <a:r>
              <a:rPr lang="en-US" sz="2800" dirty="0" smtClean="0"/>
              <a:t>. </a:t>
            </a:r>
          </a:p>
          <a:p>
            <a:r>
              <a:rPr lang="en-US" sz="2800" dirty="0" smtClean="0"/>
              <a:t>When discussing algorithms, we call this </a:t>
            </a:r>
            <a:r>
              <a:rPr lang="en-US" sz="2800" dirty="0" smtClean="0">
                <a:solidFill>
                  <a:srgbClr val="FF0000"/>
                </a:solidFill>
              </a:rPr>
              <a:t>O(n</a:t>
            </a:r>
            <a:r>
              <a:rPr lang="en-US" sz="2800" baseline="30000" dirty="0" smtClean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  <a:r>
              <a:rPr lang="en-US" sz="2800" dirty="0"/>
              <a:t>. </a:t>
            </a:r>
          </a:p>
          <a:p>
            <a:r>
              <a:rPr lang="en-US" sz="2800" dirty="0" smtClean="0"/>
              <a:t>This </a:t>
            </a:r>
            <a:r>
              <a:rPr lang="en-US" sz="2800" dirty="0"/>
              <a:t>is called the ‘big O’ notation (short for ‘order of’). In general this means that the cost is </a:t>
            </a:r>
            <a:r>
              <a:rPr lang="en-US" sz="2800" b="1" u="sng" dirty="0"/>
              <a:t>‘roughly’</a:t>
            </a:r>
            <a:r>
              <a:rPr lang="en-US" sz="2800" dirty="0"/>
              <a:t> n</a:t>
            </a:r>
            <a:r>
              <a:rPr lang="en-US" sz="2800" baseline="30000" dirty="0"/>
              <a:t>2</a:t>
            </a:r>
            <a:r>
              <a:rPr lang="en-US" sz="2800" baseline="30000" dirty="0" smtClean="0"/>
              <a:t>.</a:t>
            </a:r>
            <a:endParaRPr lang="en-US" sz="2800" dirty="0"/>
          </a:p>
          <a:p>
            <a:r>
              <a:rPr lang="en-US" sz="2800" dirty="0"/>
              <a:t>If the true cost is, for instance,  5* n</a:t>
            </a:r>
            <a:r>
              <a:rPr lang="en-US" sz="2800" baseline="30000" dirty="0"/>
              <a:t>2  </a:t>
            </a:r>
            <a:r>
              <a:rPr lang="en-US" sz="2800" dirty="0"/>
              <a:t> or ½ n</a:t>
            </a:r>
            <a:r>
              <a:rPr lang="en-US" sz="2800" baseline="30000" dirty="0"/>
              <a:t>2 </a:t>
            </a:r>
            <a:r>
              <a:rPr lang="en-US" sz="2800" dirty="0"/>
              <a:t>, we still call it O(n</a:t>
            </a:r>
            <a:r>
              <a:rPr lang="en-US" sz="2800" baseline="30000" dirty="0"/>
              <a:t>2</a:t>
            </a:r>
            <a:r>
              <a:rPr lang="en-US" sz="2800" dirty="0"/>
              <a:t>). This is because what we are interested is the highest power that  the algorithm takes up. If the full cost was, for instance 1000*n + n</a:t>
            </a:r>
            <a:r>
              <a:rPr lang="en-US" sz="2800" baseline="30000" dirty="0"/>
              <a:t>2, </a:t>
            </a:r>
            <a:r>
              <a:rPr lang="en-US" sz="2800" dirty="0"/>
              <a:t> we would still call it O(n</a:t>
            </a:r>
            <a:r>
              <a:rPr lang="en-US" sz="2800" baseline="30000" dirty="0"/>
              <a:t>2</a:t>
            </a:r>
            <a:r>
              <a:rPr lang="en-US" sz="2800" dirty="0"/>
              <a:t>)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9231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smtClean="0"/>
              <a:t>Cost of Sorting Algorithms</a:t>
            </a:r>
            <a:endParaRPr lang="en-IE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192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Recall Bubble Sort</a:t>
            </a:r>
            <a:endParaRPr lang="en-IE" dirty="0"/>
          </a:p>
        </p:txBody>
      </p:sp>
      <p:pic>
        <p:nvPicPr>
          <p:cNvPr id="11266" name="Picture 2" descr="http://upload.wikimedia.org/wikipedia/commons/c/c8/Bubble-sort-example-300px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3924300" cy="235458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0" y="3734812"/>
            <a:ext cx="8686799" cy="30469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2400" dirty="0" smtClean="0"/>
              <a:t>We will pass through the array n-1 times, where n is the number of elements in the array (outer loop).</a:t>
            </a:r>
          </a:p>
          <a:p>
            <a:pPr lvl="1"/>
            <a:r>
              <a:rPr lang="en-US" sz="2400" dirty="0" smtClean="0"/>
              <a:t>In the example above: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First </a:t>
            </a:r>
            <a:r>
              <a:rPr lang="en-US" sz="2400" dirty="0"/>
              <a:t>pass </a:t>
            </a:r>
            <a:r>
              <a:rPr lang="en-US" sz="2400" dirty="0" smtClean="0"/>
              <a:t>makes </a:t>
            </a:r>
            <a:r>
              <a:rPr lang="en-US" sz="2400" dirty="0">
                <a:sym typeface="Wingdings" panose="05000000000000000000" pitchFamily="2" charset="2"/>
              </a:rPr>
              <a:t>n – 1 </a:t>
            </a:r>
            <a:r>
              <a:rPr lang="en-US" sz="2400" dirty="0" smtClean="0"/>
              <a:t>comparisons </a:t>
            </a:r>
            <a:r>
              <a:rPr lang="en-US" sz="2400" dirty="0" smtClean="0">
                <a:sym typeface="Wingdings" panose="05000000000000000000" pitchFamily="2" charset="2"/>
              </a:rPr>
              <a:t> i.e. 7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Second pass </a:t>
            </a:r>
            <a:r>
              <a:rPr lang="en-US" sz="2400" dirty="0"/>
              <a:t>makes </a:t>
            </a:r>
            <a:r>
              <a:rPr lang="en-US" sz="2400" dirty="0">
                <a:sym typeface="Wingdings" panose="05000000000000000000" pitchFamily="2" charset="2"/>
              </a:rPr>
              <a:t>n – </a:t>
            </a:r>
            <a:r>
              <a:rPr lang="en-US" sz="2400" dirty="0" smtClean="0">
                <a:sym typeface="Wingdings" panose="05000000000000000000" pitchFamily="2" charset="2"/>
              </a:rPr>
              <a:t>2 </a:t>
            </a:r>
            <a:r>
              <a:rPr lang="en-US" sz="2400" dirty="0"/>
              <a:t>comparisons </a:t>
            </a:r>
            <a:r>
              <a:rPr lang="en-US" sz="2400" dirty="0">
                <a:sym typeface="Wingdings" panose="05000000000000000000" pitchFamily="2" charset="2"/>
              </a:rPr>
              <a:t> i.e. </a:t>
            </a:r>
            <a:r>
              <a:rPr lang="en-US" sz="2400" dirty="0" smtClean="0">
                <a:sym typeface="Wingdings" panose="05000000000000000000" pitchFamily="2" charset="2"/>
              </a:rPr>
              <a:t>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Third pass </a:t>
            </a:r>
            <a:r>
              <a:rPr lang="en-US" sz="2400" dirty="0"/>
              <a:t>makes </a:t>
            </a:r>
            <a:r>
              <a:rPr lang="en-US" sz="2400" dirty="0">
                <a:sym typeface="Wingdings" panose="05000000000000000000" pitchFamily="2" charset="2"/>
              </a:rPr>
              <a:t>n – </a:t>
            </a:r>
            <a:r>
              <a:rPr lang="en-US" sz="2400" dirty="0" smtClean="0">
                <a:sym typeface="Wingdings" panose="05000000000000000000" pitchFamily="2" charset="2"/>
              </a:rPr>
              <a:t>3 </a:t>
            </a:r>
            <a:r>
              <a:rPr lang="en-US" sz="2400" dirty="0"/>
              <a:t>comparisons </a:t>
            </a:r>
            <a:r>
              <a:rPr lang="en-US" sz="2400" dirty="0">
                <a:sym typeface="Wingdings" panose="05000000000000000000" pitchFamily="2" charset="2"/>
              </a:rPr>
              <a:t> i.e. </a:t>
            </a:r>
            <a:r>
              <a:rPr lang="en-US" sz="2400" dirty="0" smtClean="0">
                <a:sym typeface="Wingdings" panose="05000000000000000000" pitchFamily="2" charset="2"/>
              </a:rPr>
              <a:t>5</a:t>
            </a:r>
            <a:endParaRPr lang="en-US" sz="2400" dirty="0"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Seventh pass makes n – 7 comparisons  i.e.1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191000" y="1198179"/>
            <a:ext cx="4800600" cy="243840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eaLnBrk="1" hangingPunct="1">
              <a:buFont typeface="Times" charset="0"/>
              <a:buNone/>
            </a:pPr>
            <a:endParaRPr lang="en-IE" altLang="en-US" sz="1800" b="1" dirty="0" smtClean="0">
              <a:latin typeface="Anonymous" pitchFamily="49" charset="0"/>
            </a:endParaRPr>
          </a:p>
          <a:p>
            <a:pPr eaLnBrk="1" hangingPunct="1">
              <a:buFont typeface="Times" charset="0"/>
              <a:buNone/>
            </a:pPr>
            <a:r>
              <a:rPr lang="en-IE" altLang="en-US" sz="1800" b="1" dirty="0" smtClean="0">
                <a:latin typeface="Anonymous" pitchFamily="49" charset="0"/>
              </a:rPr>
              <a:t>for(</a:t>
            </a:r>
            <a:r>
              <a:rPr lang="en-IE" altLang="en-US" sz="1800" b="1" dirty="0" err="1" smtClean="0">
                <a:latin typeface="Anonymous" pitchFamily="49" charset="0"/>
              </a:rPr>
              <a:t>int</a:t>
            </a:r>
            <a:r>
              <a:rPr lang="en-IE" altLang="en-US" sz="1800" b="1" dirty="0" smtClean="0">
                <a:latin typeface="Anonymous" pitchFamily="49" charset="0"/>
              </a:rPr>
              <a:t> j = </a:t>
            </a:r>
            <a:r>
              <a:rPr lang="en-IE" altLang="en-US" sz="1800" b="1" dirty="0">
                <a:latin typeface="Anonymous" pitchFamily="49" charset="0"/>
              </a:rPr>
              <a:t>n</a:t>
            </a:r>
            <a:r>
              <a:rPr lang="en-IE" altLang="en-US" sz="1800" b="1" dirty="0" smtClean="0">
                <a:latin typeface="Anonymous" pitchFamily="49" charset="0"/>
              </a:rPr>
              <a:t> - 1; j &gt;= 0; j--)</a:t>
            </a:r>
          </a:p>
          <a:p>
            <a:pPr eaLnBrk="1" hangingPunct="1">
              <a:buFont typeface="Times" charset="0"/>
              <a:buNone/>
            </a:pPr>
            <a:r>
              <a:rPr lang="en-IE" altLang="en-US" sz="1800" b="1" dirty="0">
                <a:latin typeface="Anonymous" pitchFamily="49" charset="0"/>
              </a:rPr>
              <a:t>{</a:t>
            </a:r>
            <a:endParaRPr lang="en-IE" altLang="en-US" sz="1800" b="1" dirty="0" smtClean="0">
              <a:latin typeface="Anonymous" pitchFamily="49" charset="0"/>
            </a:endParaRPr>
          </a:p>
          <a:p>
            <a:pPr eaLnBrk="1" hangingPunct="1">
              <a:buFont typeface="Times" charset="0"/>
              <a:buNone/>
            </a:pPr>
            <a:r>
              <a:rPr lang="nn-NO" altLang="en-US" sz="1800" b="1" dirty="0" smtClean="0">
                <a:latin typeface="Anonymous" pitchFamily="49" charset="0"/>
              </a:rPr>
              <a:t>    for(int i = 0; i &lt; j; i++)</a:t>
            </a:r>
          </a:p>
          <a:p>
            <a:pPr eaLnBrk="1" hangingPunct="1">
              <a:buFont typeface="Times" charset="0"/>
              <a:buNone/>
            </a:pPr>
            <a:r>
              <a:rPr lang="en-IE" altLang="en-US" sz="1800" b="1" dirty="0" smtClean="0">
                <a:latin typeface="Anonymous" pitchFamily="49" charset="0"/>
              </a:rPr>
              <a:t>    {</a:t>
            </a:r>
          </a:p>
          <a:p>
            <a:pPr eaLnBrk="1" hangingPunct="1">
              <a:buFont typeface="Times" charset="0"/>
              <a:buNone/>
            </a:pPr>
            <a:r>
              <a:rPr lang="en-IE" altLang="en-US" sz="1800" b="1" dirty="0">
                <a:latin typeface="Anonymous" pitchFamily="49" charset="0"/>
              </a:rPr>
              <a:t> </a:t>
            </a:r>
            <a:r>
              <a:rPr lang="en-IE" altLang="en-US" sz="1800" b="1" dirty="0" smtClean="0">
                <a:latin typeface="Anonymous" pitchFamily="49" charset="0"/>
              </a:rPr>
              <a:t>      if (</a:t>
            </a:r>
            <a:r>
              <a:rPr lang="en-IE" altLang="en-US" sz="1800" b="1" dirty="0">
                <a:latin typeface="Anonymous" pitchFamily="49" charset="0"/>
              </a:rPr>
              <a:t>a</a:t>
            </a:r>
            <a:r>
              <a:rPr lang="en-IE" altLang="en-US" sz="1800" b="1" dirty="0" smtClean="0">
                <a:latin typeface="Anonymous" pitchFamily="49" charset="0"/>
              </a:rPr>
              <a:t>rray[</a:t>
            </a:r>
            <a:r>
              <a:rPr lang="en-IE" altLang="en-US" sz="1800" b="1" dirty="0" err="1" smtClean="0">
                <a:latin typeface="Anonymous" pitchFamily="49" charset="0"/>
              </a:rPr>
              <a:t>i</a:t>
            </a:r>
            <a:r>
              <a:rPr lang="en-IE" altLang="en-US" sz="1800" b="1" dirty="0" smtClean="0">
                <a:latin typeface="Anonymous" pitchFamily="49" charset="0"/>
              </a:rPr>
              <a:t>] &gt; </a:t>
            </a:r>
            <a:r>
              <a:rPr lang="en-IE" altLang="en-US" sz="1800" b="1" dirty="0">
                <a:latin typeface="Anonymous" pitchFamily="49" charset="0"/>
              </a:rPr>
              <a:t>a</a:t>
            </a:r>
            <a:r>
              <a:rPr lang="en-IE" altLang="en-US" sz="1800" b="1" dirty="0" smtClean="0">
                <a:latin typeface="Anonymous" pitchFamily="49" charset="0"/>
              </a:rPr>
              <a:t>rray [i+1])</a:t>
            </a:r>
          </a:p>
          <a:p>
            <a:pPr eaLnBrk="1" hangingPunct="1">
              <a:buFont typeface="Times" charset="0"/>
              <a:buNone/>
            </a:pPr>
            <a:r>
              <a:rPr lang="en-IE" altLang="en-US" sz="1800" b="1" dirty="0" smtClean="0">
                <a:latin typeface="Anonymous" pitchFamily="49" charset="0"/>
              </a:rPr>
              <a:t>          swap(array, </a:t>
            </a:r>
            <a:r>
              <a:rPr lang="en-IE" altLang="en-US" sz="1800" b="1" dirty="0" err="1" smtClean="0">
                <a:latin typeface="Anonymous" pitchFamily="49" charset="0"/>
              </a:rPr>
              <a:t>i</a:t>
            </a:r>
            <a:r>
              <a:rPr lang="en-IE" altLang="en-US" sz="1800" b="1" dirty="0" smtClean="0">
                <a:latin typeface="Anonymous" pitchFamily="49" charset="0"/>
              </a:rPr>
              <a:t>, i+1);</a:t>
            </a:r>
          </a:p>
          <a:p>
            <a:pPr eaLnBrk="1" hangingPunct="1">
              <a:buFont typeface="Times" charset="0"/>
              <a:buNone/>
            </a:pPr>
            <a:r>
              <a:rPr lang="en-IE" altLang="en-US" sz="1800" b="1" dirty="0" smtClean="0">
                <a:latin typeface="Anonymous" pitchFamily="49" charset="0"/>
              </a:rPr>
              <a:t>    }</a:t>
            </a:r>
          </a:p>
          <a:p>
            <a:pPr eaLnBrk="1" hangingPunct="1">
              <a:buFont typeface="Times" charset="0"/>
              <a:buNone/>
            </a:pPr>
            <a:r>
              <a:rPr lang="en-IE" altLang="en-US" sz="1800" b="1" dirty="0">
                <a:latin typeface="Anonymous" pitchFamily="49" charset="0"/>
              </a:rPr>
              <a:t>}</a:t>
            </a:r>
            <a:endParaRPr lang="en-IE" altLang="en-US" sz="1800" b="1" dirty="0" smtClean="0">
              <a:latin typeface="Anonymou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33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Calculating the Cost of Bubble Sort</a:t>
            </a: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223345" y="1676400"/>
            <a:ext cx="8686799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 smtClean="0"/>
              <a:t>So, the cost of the algorithm is </a:t>
            </a:r>
            <a:r>
              <a:rPr lang="en-US" sz="2800" dirty="0" smtClean="0">
                <a:solidFill>
                  <a:srgbClr val="FF0000"/>
                </a:solidFill>
              </a:rPr>
              <a:t>7 + 6 + 5 + 4 + 3 + 2+ 1.</a:t>
            </a:r>
          </a:p>
          <a:p>
            <a:r>
              <a:rPr lang="en-US" sz="2800" dirty="0" smtClean="0"/>
              <a:t>Which is the same as </a:t>
            </a:r>
            <a:r>
              <a:rPr lang="en-US" sz="2800" dirty="0" smtClean="0">
                <a:solidFill>
                  <a:srgbClr val="FF0000"/>
                </a:solidFill>
              </a:rPr>
              <a:t>(n – 1) + (n – 2) + (n – 3) + … + (n – 7)</a:t>
            </a:r>
          </a:p>
          <a:p>
            <a:r>
              <a:rPr lang="en-US" sz="2800" dirty="0" smtClean="0"/>
              <a:t>Which is the same as </a:t>
            </a:r>
            <a:r>
              <a:rPr lang="en-US" sz="2800" dirty="0">
                <a:solidFill>
                  <a:srgbClr val="FF0000"/>
                </a:solidFill>
              </a:rPr>
              <a:t>n(n+1)/</a:t>
            </a:r>
            <a:r>
              <a:rPr lang="en-US" sz="2800" dirty="0" smtClean="0">
                <a:solidFill>
                  <a:srgbClr val="FF0000"/>
                </a:solidFill>
              </a:rPr>
              <a:t>2</a:t>
            </a:r>
            <a:endParaRPr lang="en-US" sz="2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228600" y="3734812"/>
            <a:ext cx="8686799" cy="30469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We will pass through the array n-1 times, where n is the number of elements in the array (outer loop).</a:t>
            </a:r>
          </a:p>
          <a:p>
            <a:pPr lvl="1"/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In the example above: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First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pass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makes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n – 1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comparisons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 i.e. 7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Second pass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makes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n –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2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comparisons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 i.e.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Third pass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makes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n –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3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comparisons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 i.e.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5</a:t>
            </a:r>
            <a:endParaRPr lang="en-US" sz="2400" dirty="0">
              <a:solidFill>
                <a:schemeClr val="bg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Seventh pass makes n – 7 comparisons  i.e.1</a:t>
            </a:r>
          </a:p>
        </p:txBody>
      </p:sp>
    </p:spTree>
    <p:extLst>
      <p:ext uri="{BB962C8B-B14F-4D97-AF65-F5344CB8AC3E}">
        <p14:creationId xmlns:p14="http://schemas.microsoft.com/office/powerpoint/2010/main" val="73758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Cost of Simple Sorts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dirty="0" smtClean="0"/>
              <a:t>So Bubble Sort is </a:t>
            </a:r>
            <a:r>
              <a:rPr lang="en-US" sz="2800" dirty="0" smtClean="0">
                <a:solidFill>
                  <a:srgbClr val="FF0000"/>
                </a:solidFill>
              </a:rPr>
              <a:t>n(n+1)/2</a:t>
            </a:r>
            <a:endParaRPr lang="en-US" sz="2800" dirty="0"/>
          </a:p>
          <a:p>
            <a:r>
              <a:rPr lang="en-US" sz="2800" dirty="0" smtClean="0"/>
              <a:t>According </a:t>
            </a:r>
            <a:r>
              <a:rPr lang="en-US" sz="2800" dirty="0"/>
              <a:t>to our ‘big O’ notation (drop constants and just leave highest power</a:t>
            </a:r>
            <a:r>
              <a:rPr lang="en-US" sz="2800" dirty="0" smtClean="0"/>
              <a:t>) we </a:t>
            </a:r>
            <a:r>
              <a:rPr lang="en-US" sz="2800" dirty="0"/>
              <a:t>call this O(n</a:t>
            </a:r>
            <a:r>
              <a:rPr lang="en-US" sz="2800" baseline="30000" dirty="0"/>
              <a:t>2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r>
              <a:rPr lang="en-US" sz="2800" dirty="0"/>
              <a:t>Selection Sort – similarly this is O(n</a:t>
            </a:r>
            <a:r>
              <a:rPr lang="en-US" sz="2800" baseline="30000" dirty="0"/>
              <a:t>2</a:t>
            </a:r>
            <a:r>
              <a:rPr lang="en-US" sz="2800" dirty="0"/>
              <a:t>).</a:t>
            </a:r>
          </a:p>
          <a:p>
            <a:pPr marL="0" indent="0">
              <a:buNone/>
            </a:pPr>
            <a:r>
              <a:rPr lang="en-US" sz="2800" dirty="0"/>
              <a:t> </a:t>
            </a:r>
          </a:p>
          <a:p>
            <a:r>
              <a:rPr lang="en-US" sz="2800" dirty="0"/>
              <a:t>Insertion sort is also O(n</a:t>
            </a:r>
            <a:r>
              <a:rPr lang="en-US" sz="2800" baseline="30000" dirty="0"/>
              <a:t>2</a:t>
            </a:r>
            <a:r>
              <a:rPr lang="en-US" sz="2800" dirty="0" smtClean="0"/>
              <a:t>).</a:t>
            </a:r>
          </a:p>
          <a:p>
            <a:endParaRPr lang="en-US" sz="2800" dirty="0"/>
          </a:p>
          <a:p>
            <a:r>
              <a:rPr lang="en-US" sz="2800" dirty="0" smtClean="0"/>
              <a:t>In fact, most simple sorts are O(n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499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of sorting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dirty="0" smtClean="0"/>
              <a:t>Even </a:t>
            </a:r>
            <a:r>
              <a:rPr lang="en-US" sz="2800" dirty="0"/>
              <a:t>though all three sorts are O(n</a:t>
            </a:r>
            <a:r>
              <a:rPr lang="en-US" sz="2800" baseline="30000" dirty="0"/>
              <a:t>2</a:t>
            </a:r>
            <a:r>
              <a:rPr lang="en-US" sz="2800" dirty="0"/>
              <a:t>), insertion sort and selection sort are more efficient than </a:t>
            </a:r>
            <a:r>
              <a:rPr lang="en-US" sz="2800" dirty="0" err="1"/>
              <a:t>bubblesort</a:t>
            </a:r>
            <a:r>
              <a:rPr lang="en-US" sz="2800" dirty="0"/>
              <a:t>. 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err="1" smtClean="0"/>
              <a:t>Bubblesort</a:t>
            </a:r>
            <a:r>
              <a:rPr lang="en-US" sz="2800" dirty="0" smtClean="0"/>
              <a:t> </a:t>
            </a:r>
            <a:r>
              <a:rPr lang="en-US" sz="2800" dirty="0"/>
              <a:t>is very inefficient because there are so many swaps during each pass. And (in the basic version) the fact that the list may be sorted early, the algorithm ignores this</a:t>
            </a:r>
            <a:r>
              <a:rPr lang="en-US" sz="2800" dirty="0" smtClean="0"/>
              <a:t>.</a:t>
            </a:r>
          </a:p>
          <a:p>
            <a:endParaRPr lang="en-US" sz="2800" i="1" dirty="0" smtClean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562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Some other sorting algorithms</a:t>
            </a:r>
            <a:endParaRPr lang="en-I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253335"/>
              </p:ext>
            </p:extLst>
          </p:nvPr>
        </p:nvGraphicFramePr>
        <p:xfrm>
          <a:off x="304800" y="1600200"/>
          <a:ext cx="8534400" cy="4267199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48178">
                <a:tc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effectLst/>
                        </a:rPr>
                        <a:t>Algorithm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effectLst/>
                        </a:rPr>
                        <a:t>Data Structure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effectLst/>
                        </a:rPr>
                        <a:t>Time Complexity</a:t>
                      </a:r>
                      <a:r>
                        <a:rPr lang="en-IE" b="1" dirty="0" smtClean="0">
                          <a:effectLst/>
                        </a:rPr>
                        <a:t>:</a:t>
                      </a:r>
                    </a:p>
                    <a:p>
                      <a:pPr algn="ctr"/>
                      <a:r>
                        <a:rPr lang="en-IE" b="1" dirty="0" smtClean="0">
                          <a:effectLst/>
                        </a:rPr>
                        <a:t>Best Case</a:t>
                      </a:r>
                      <a:endParaRPr lang="en-IE" b="1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effectLst/>
                        </a:rPr>
                        <a:t>Time Complexity</a:t>
                      </a:r>
                      <a:r>
                        <a:rPr lang="en-IE" b="1" dirty="0" smtClean="0">
                          <a:effectLst/>
                        </a:rPr>
                        <a:t>:</a:t>
                      </a:r>
                    </a:p>
                    <a:p>
                      <a:pPr algn="ctr"/>
                      <a:r>
                        <a:rPr lang="en-IE" b="1" dirty="0" smtClean="0">
                          <a:effectLst/>
                        </a:rPr>
                        <a:t>Average Case</a:t>
                      </a:r>
                      <a:endParaRPr lang="en-IE" b="1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b="1" dirty="0">
                          <a:effectLst/>
                        </a:rPr>
                        <a:t>Time Complexity</a:t>
                      </a:r>
                      <a:r>
                        <a:rPr lang="en-IE" b="1" dirty="0" smtClean="0">
                          <a:effectLst/>
                        </a:rPr>
                        <a:t>:</a:t>
                      </a:r>
                    </a:p>
                    <a:p>
                      <a:pPr algn="ctr"/>
                      <a:r>
                        <a:rPr lang="en-IE" b="1" dirty="0" smtClean="0">
                          <a:effectLst/>
                        </a:rPr>
                        <a:t>Worst Case</a:t>
                      </a:r>
                      <a:endParaRPr lang="en-IE" b="1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003"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Bubble sort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>
                          <a:solidFill>
                            <a:srgbClr val="FF0000"/>
                          </a:solidFill>
                          <a:effectLst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>
                          <a:solidFill>
                            <a:srgbClr val="FF0000"/>
                          </a:solidFill>
                          <a:effectLst/>
                        </a:rPr>
                        <a:t>O(n)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>
                          <a:solidFill>
                            <a:srgbClr val="FF0000"/>
                          </a:solidFill>
                          <a:effectLst/>
                        </a:rPr>
                        <a:t>O(n</a:t>
                      </a:r>
                      <a:r>
                        <a:rPr lang="en-IE" b="1" baseline="3000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IE" b="1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O(n</a:t>
                      </a:r>
                      <a:r>
                        <a:rPr lang="en-IE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003"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Selection sort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O(n</a:t>
                      </a:r>
                      <a:r>
                        <a:rPr lang="en-IE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O(n</a:t>
                      </a:r>
                      <a:r>
                        <a:rPr lang="en-IE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O(n</a:t>
                      </a:r>
                      <a:r>
                        <a:rPr lang="en-IE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003"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Insertion sort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>
                          <a:solidFill>
                            <a:srgbClr val="FF0000"/>
                          </a:solidFill>
                          <a:effectLst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O(n)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>
                          <a:solidFill>
                            <a:srgbClr val="FF0000"/>
                          </a:solidFill>
                          <a:effectLst/>
                        </a:rPr>
                        <a:t>O(n</a:t>
                      </a:r>
                      <a:r>
                        <a:rPr lang="en-IE" b="1" baseline="3000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IE" b="1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O(n</a:t>
                      </a:r>
                      <a:r>
                        <a:rPr lang="en-IE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IE" b="1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003"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Merge sort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>
                          <a:effectLst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003"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Heap sort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003">
                <a:tc>
                  <a:txBody>
                    <a:bodyPr/>
                    <a:lstStyle/>
                    <a:p>
                      <a:r>
                        <a:rPr lang="en-IE" b="1">
                          <a:effectLst/>
                        </a:rPr>
                        <a:t>Smooth sort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003"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Quick Sort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 log(n))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>
                          <a:effectLst/>
                        </a:rPr>
                        <a:t>O(n</a:t>
                      </a:r>
                      <a:r>
                        <a:rPr lang="en-IE" b="1" baseline="30000" dirty="0">
                          <a:effectLst/>
                        </a:rPr>
                        <a:t>2</a:t>
                      </a:r>
                      <a:r>
                        <a:rPr lang="en-IE" b="1" dirty="0"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55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smtClean="0"/>
              <a:t>Cost of Searching Algorithms</a:t>
            </a:r>
            <a:endParaRPr lang="en-IE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644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Binary Search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Algorithm (array already sorted)	</a:t>
            </a:r>
          </a:p>
          <a:p>
            <a:pPr lvl="1"/>
            <a:r>
              <a:rPr lang="en-GB" dirty="0" smtClean="0"/>
              <a:t>Pick middle value, check is it the ‘</a:t>
            </a:r>
            <a:r>
              <a:rPr lang="en-GB" dirty="0" err="1" smtClean="0"/>
              <a:t>lookingFor</a:t>
            </a:r>
            <a:r>
              <a:rPr lang="en-GB" dirty="0" smtClean="0"/>
              <a:t>’ (if it is, terminate)</a:t>
            </a:r>
          </a:p>
          <a:p>
            <a:pPr lvl="1"/>
            <a:r>
              <a:rPr lang="en-GB" dirty="0" smtClean="0"/>
              <a:t>If ‘</a:t>
            </a:r>
            <a:r>
              <a:rPr lang="en-GB" dirty="0" err="1" smtClean="0"/>
              <a:t>lookingFor</a:t>
            </a:r>
            <a:r>
              <a:rPr lang="en-GB" dirty="0" smtClean="0"/>
              <a:t>’ less than the middle value, search through list up to this value (i.e. top half of the list)</a:t>
            </a:r>
          </a:p>
          <a:p>
            <a:pPr lvl="1"/>
            <a:r>
              <a:rPr lang="en-GB" dirty="0" smtClean="0"/>
              <a:t>If ‘</a:t>
            </a:r>
            <a:r>
              <a:rPr lang="en-GB" dirty="0" err="1" smtClean="0"/>
              <a:t>lookingFor</a:t>
            </a:r>
            <a:r>
              <a:rPr lang="en-GB" dirty="0" smtClean="0"/>
              <a:t>’ greater than the middle value, search through list after this value (i.e. bottom  half of the list)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589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Binary Search - Cost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Best case: </a:t>
            </a:r>
          </a:p>
          <a:p>
            <a:pPr lvl="1"/>
            <a:r>
              <a:rPr lang="en-GB" dirty="0" smtClean="0"/>
              <a:t>the ‘</a:t>
            </a:r>
            <a:r>
              <a:rPr lang="en-GB" dirty="0" err="1" smtClean="0"/>
              <a:t>lookingFor</a:t>
            </a:r>
            <a:r>
              <a:rPr lang="en-GB" dirty="0" smtClean="0"/>
              <a:t>’ value is in the middle of the array.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Worst case: </a:t>
            </a:r>
          </a:p>
          <a:p>
            <a:pPr lvl="1"/>
            <a:r>
              <a:rPr lang="en-GB" dirty="0" smtClean="0"/>
              <a:t>‘</a:t>
            </a:r>
            <a:r>
              <a:rPr lang="en-GB" dirty="0" err="1" smtClean="0"/>
              <a:t>lookingFor</a:t>
            </a:r>
            <a:r>
              <a:rPr lang="en-GB" dirty="0" smtClean="0"/>
              <a:t>’  is not in the array at all.  In this case:</a:t>
            </a:r>
          </a:p>
          <a:p>
            <a:pPr lvl="2"/>
            <a:r>
              <a:rPr lang="en-GB" dirty="0" smtClean="0"/>
              <a:t>We start with the full array (n).  </a:t>
            </a:r>
          </a:p>
          <a:p>
            <a:pPr lvl="2"/>
            <a:r>
              <a:rPr lang="en-GB" dirty="0" smtClean="0"/>
              <a:t>On the second pass, we only use half the array (n/2)+1.  </a:t>
            </a:r>
          </a:p>
          <a:p>
            <a:pPr lvl="2"/>
            <a:r>
              <a:rPr lang="en-GB" dirty="0" smtClean="0"/>
              <a:t>On the third pass, we only use half the array (n/2/2)+1.</a:t>
            </a:r>
          </a:p>
          <a:p>
            <a:pPr lvl="2"/>
            <a:r>
              <a:rPr lang="en-GB" dirty="0" smtClean="0"/>
              <a:t>And so on.</a:t>
            </a:r>
          </a:p>
          <a:p>
            <a:pPr lvl="2"/>
            <a:r>
              <a:rPr lang="en-GB" dirty="0" smtClean="0"/>
              <a:t>This pattern evaluates to O(log n) (this is great from a cost perspective).</a:t>
            </a:r>
          </a:p>
        </p:txBody>
      </p:sp>
    </p:spTree>
    <p:extLst>
      <p:ext uri="{BB962C8B-B14F-4D97-AF65-F5344CB8AC3E}">
        <p14:creationId xmlns:p14="http://schemas.microsoft.com/office/powerpoint/2010/main" val="337525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Binary Search - Cost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Average case: </a:t>
            </a:r>
          </a:p>
          <a:p>
            <a:pPr lvl="1"/>
            <a:r>
              <a:rPr lang="en-GB" dirty="0" smtClean="0"/>
              <a:t>‘</a:t>
            </a:r>
            <a:r>
              <a:rPr lang="en-GB" dirty="0" err="1" smtClean="0"/>
              <a:t>lookingFor</a:t>
            </a:r>
            <a:r>
              <a:rPr lang="en-GB" dirty="0" smtClean="0"/>
              <a:t>’  is in the array, but not in the middle on iteration one.</a:t>
            </a:r>
          </a:p>
          <a:p>
            <a:pPr lvl="1"/>
            <a:r>
              <a:rPr lang="en-GB" dirty="0" smtClean="0"/>
              <a:t>The processing for this case is similar to the worst case above:</a:t>
            </a:r>
          </a:p>
          <a:p>
            <a:pPr lvl="2"/>
            <a:r>
              <a:rPr lang="en-GB" dirty="0" smtClean="0"/>
              <a:t>We start with the full array </a:t>
            </a:r>
            <a:r>
              <a:rPr lang="en-GB" dirty="0" smtClean="0">
                <a:solidFill>
                  <a:srgbClr val="FF0000"/>
                </a:solidFill>
              </a:rPr>
              <a:t>(n)</a:t>
            </a:r>
            <a:r>
              <a:rPr lang="en-GB" dirty="0" smtClean="0"/>
              <a:t>.  </a:t>
            </a:r>
          </a:p>
          <a:p>
            <a:pPr lvl="2"/>
            <a:r>
              <a:rPr lang="en-GB" dirty="0" smtClean="0"/>
              <a:t>If not found, on the second pass, use half the array </a:t>
            </a:r>
            <a:r>
              <a:rPr lang="en-GB" dirty="0" smtClean="0">
                <a:solidFill>
                  <a:srgbClr val="FF0000"/>
                </a:solidFill>
              </a:rPr>
              <a:t>(n/2)+1.  </a:t>
            </a:r>
          </a:p>
          <a:p>
            <a:pPr lvl="2"/>
            <a:r>
              <a:rPr lang="en-GB" dirty="0" smtClean="0"/>
              <a:t>If not found, on the third pass, use half the array (n/2/2)+1 +1 which is the same as </a:t>
            </a:r>
            <a:r>
              <a:rPr lang="en-GB" dirty="0" smtClean="0">
                <a:solidFill>
                  <a:srgbClr val="FF0000"/>
                </a:solidFill>
              </a:rPr>
              <a:t>(n/4)+1+1.</a:t>
            </a:r>
          </a:p>
          <a:p>
            <a:pPr lvl="2"/>
            <a:r>
              <a:rPr lang="en-GB" dirty="0" smtClean="0"/>
              <a:t>And so on.</a:t>
            </a:r>
          </a:p>
          <a:p>
            <a:pPr lvl="2"/>
            <a:r>
              <a:rPr lang="en-GB" dirty="0" smtClean="0"/>
              <a:t>This pattern also evaluates to O(log n) (this is great from a cost perspective).</a:t>
            </a:r>
          </a:p>
        </p:txBody>
      </p:sp>
    </p:spTree>
    <p:extLst>
      <p:ext uri="{BB962C8B-B14F-4D97-AF65-F5344CB8AC3E}">
        <p14:creationId xmlns:p14="http://schemas.microsoft.com/office/powerpoint/2010/main" val="79894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dirty="0" smtClean="0"/>
              <a:t>T (n) is the time necessary to process n.</a:t>
            </a:r>
          </a:p>
          <a:p>
            <a:r>
              <a:rPr lang="en-GB" sz="2400" dirty="0" smtClean="0"/>
              <a:t>Recall the formula for Binary Search from the previous slide:</a:t>
            </a:r>
          </a:p>
          <a:p>
            <a:pPr lvl="1"/>
            <a:r>
              <a:rPr lang="en-GB" sz="2000" dirty="0" smtClean="0"/>
              <a:t>If the value is not at the midpoint, half the array </a:t>
            </a:r>
            <a:r>
              <a:rPr lang="en-GB" sz="2000" dirty="0" smtClean="0">
                <a:sym typeface="Wingdings" panose="05000000000000000000" pitchFamily="2" charset="2"/>
              </a:rPr>
              <a:t> </a:t>
            </a:r>
            <a:r>
              <a:rPr lang="en-GB" sz="2000" dirty="0" smtClean="0"/>
              <a:t>T(n) = T </a:t>
            </a:r>
            <a:r>
              <a:rPr lang="en-GB" sz="2000" dirty="0" smtClean="0">
                <a:solidFill>
                  <a:srgbClr val="FF0000"/>
                </a:solidFill>
              </a:rPr>
              <a:t>(n/2) + 1</a:t>
            </a:r>
          </a:p>
          <a:p>
            <a:pPr lvl="1"/>
            <a:r>
              <a:rPr lang="en-GB" sz="2000" dirty="0" smtClean="0"/>
              <a:t>If not found, half the array again 		   </a:t>
            </a:r>
            <a:r>
              <a:rPr lang="en-GB" sz="2000" dirty="0" smtClean="0">
                <a:sym typeface="Wingdings" panose="05000000000000000000" pitchFamily="2" charset="2"/>
              </a:rPr>
              <a:t> </a:t>
            </a:r>
            <a:r>
              <a:rPr lang="en-GB" sz="2000" dirty="0" smtClean="0"/>
              <a:t>T(n) = T</a:t>
            </a:r>
            <a:r>
              <a:rPr lang="en-GB" sz="2000" dirty="0" smtClean="0">
                <a:solidFill>
                  <a:srgbClr val="FF0000"/>
                </a:solidFill>
              </a:rPr>
              <a:t>(n/4) + 1 + 1</a:t>
            </a:r>
            <a:endParaRPr lang="en-GB" sz="2000" dirty="0" smtClean="0"/>
          </a:p>
          <a:p>
            <a:pPr lvl="1"/>
            <a:r>
              <a:rPr lang="en-GB" sz="2000" dirty="0" smtClean="0"/>
              <a:t>And so on.</a:t>
            </a:r>
          </a:p>
          <a:p>
            <a:pPr marL="0" indent="0">
              <a:buNone/>
            </a:pPr>
            <a:endParaRPr lang="en-GB" sz="1400" dirty="0"/>
          </a:p>
          <a:p>
            <a:r>
              <a:rPr lang="en-GB" sz="2400" dirty="0" smtClean="0"/>
              <a:t>This evaluates to a “Recurrence relation” of:</a:t>
            </a:r>
          </a:p>
          <a:p>
            <a:pPr marL="0" indent="0">
              <a:buNone/>
            </a:pPr>
            <a:r>
              <a:rPr lang="en-GB" sz="2400" dirty="0"/>
              <a:t>	</a:t>
            </a:r>
            <a:r>
              <a:rPr lang="en-GB" sz="2400" dirty="0" smtClean="0"/>
              <a:t>T(n) = T(n/2</a:t>
            </a:r>
            <a:r>
              <a:rPr lang="en-GB" sz="2400" baseline="30000" dirty="0" smtClean="0"/>
              <a:t>k</a:t>
            </a:r>
            <a:r>
              <a:rPr lang="en-GB" sz="2400" dirty="0" smtClean="0"/>
              <a:t>) </a:t>
            </a:r>
            <a:r>
              <a:rPr lang="en-GB" sz="2400" dirty="0" smtClean="0">
                <a:solidFill>
                  <a:srgbClr val="00B0F0"/>
                </a:solidFill>
              </a:rPr>
              <a:t>+  1 + 1  + 1  (k times)</a:t>
            </a:r>
            <a:endParaRPr lang="en-GB" sz="2400" dirty="0"/>
          </a:p>
          <a:p>
            <a:endParaRPr lang="en-GB" sz="1400" dirty="0" smtClean="0"/>
          </a:p>
          <a:p>
            <a:r>
              <a:rPr lang="en-GB" sz="2400" dirty="0" smtClean="0"/>
              <a:t>So, what value is k?</a:t>
            </a:r>
          </a:p>
          <a:p>
            <a:r>
              <a:rPr lang="en-GB" sz="2400" dirty="0" smtClean="0"/>
              <a:t>Using substitution etc., we arrive at a big O value for T(n) = O(log n)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Binary Search - Cost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63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Recurrence relations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723505"/>
              </p:ext>
            </p:extLst>
          </p:nvPr>
        </p:nvGraphicFramePr>
        <p:xfrm>
          <a:off x="533400" y="1600200"/>
          <a:ext cx="8000999" cy="419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77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smtClean="0"/>
                        <a:t>Recurrence</a:t>
                      </a:r>
                    </a:p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smtClean="0"/>
                        <a:t>Algorithm</a:t>
                      </a:r>
                    </a:p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smtClean="0"/>
                        <a:t>Big-Oh Solution</a:t>
                      </a:r>
                    </a:p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861"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T(n) = T(n/2) + O(1)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Binary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i="1" dirty="0"/>
                        <a:t>O(log n)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861">
                <a:tc>
                  <a:txBody>
                    <a:bodyPr/>
                    <a:lstStyle/>
                    <a:p>
                      <a:r>
                        <a:rPr lang="en-GB" sz="2400" dirty="0"/>
                        <a:t>T(n) = T(n-1) + 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Sequential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i="1" dirty="0"/>
                        <a:t>O(n)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7760">
                <a:tc>
                  <a:txBody>
                    <a:bodyPr/>
                    <a:lstStyle/>
                    <a:p>
                      <a:r>
                        <a:rPr lang="en-GB" sz="2400" dirty="0"/>
                        <a:t>T(n) = T(n-1) + 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Selection Sort (other n</a:t>
                      </a:r>
                      <a:r>
                        <a:rPr lang="en-US" sz="2400" baseline="30000" dirty="0"/>
                        <a:t>2</a:t>
                      </a:r>
                      <a:r>
                        <a:rPr lang="en-US" sz="2400" dirty="0"/>
                        <a:t> sorts)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i="1" dirty="0"/>
                        <a:t>O(n</a:t>
                      </a:r>
                      <a:r>
                        <a:rPr lang="en-GB" sz="2400" i="1" baseline="30000" dirty="0"/>
                        <a:t>2</a:t>
                      </a:r>
                      <a:r>
                        <a:rPr lang="en-GB" sz="2400" i="1" dirty="0"/>
                        <a:t>)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7760">
                <a:tc>
                  <a:txBody>
                    <a:bodyPr/>
                    <a:lstStyle/>
                    <a:p>
                      <a:r>
                        <a:rPr lang="en-GB" sz="2400" dirty="0"/>
                        <a:t>T(n) = 2 T(n/2) + 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 err="1"/>
                        <a:t>Mergesort</a:t>
                      </a:r>
                      <a:r>
                        <a:rPr lang="en-GB" sz="2400" dirty="0"/>
                        <a:t> (average case Quicksort)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i="1" dirty="0" smtClean="0"/>
                        <a:t>O(n log n)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38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 values of numbers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453475"/>
              </p:ext>
            </p:extLst>
          </p:nvPr>
        </p:nvGraphicFramePr>
        <p:xfrm>
          <a:off x="230294" y="1447800"/>
          <a:ext cx="8754534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Document" r:id="rId3" imgW="5384800" imgH="2425700" progId="Word.Document.12">
                  <p:embed/>
                </p:oleObj>
              </mc:Choice>
              <mc:Fallback>
                <p:oleObj name="Document" r:id="rId3" imgW="5384800" imgH="2425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294" y="1447800"/>
                        <a:ext cx="8754534" cy="419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497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2538</TotalTime>
  <Words>1150</Words>
  <Application>Microsoft Office PowerPoint</Application>
  <PresentationFormat>On-screen Show (4:3)</PresentationFormat>
  <Paragraphs>205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ÇlÇr ñæí©</vt:lpstr>
      <vt:lpstr>MS PGothic</vt:lpstr>
      <vt:lpstr>Anonymous</vt:lpstr>
      <vt:lpstr>Arial</vt:lpstr>
      <vt:lpstr>Bookman Old Style</vt:lpstr>
      <vt:lpstr>Calibri</vt:lpstr>
      <vt:lpstr>Cambria</vt:lpstr>
      <vt:lpstr>Times</vt:lpstr>
      <vt:lpstr>Times New Roman</vt:lpstr>
      <vt:lpstr>Wingdings</vt:lpstr>
      <vt:lpstr>Office Theme</vt:lpstr>
      <vt:lpstr>Document</vt:lpstr>
      <vt:lpstr>Analysis of Algorithms</vt:lpstr>
      <vt:lpstr>Analysis of Algorithms</vt:lpstr>
      <vt:lpstr>Analysis of Algorithms</vt:lpstr>
      <vt:lpstr>Complexity of Algorithms</vt:lpstr>
      <vt:lpstr>Complexity of Algorithms</vt:lpstr>
      <vt:lpstr>Complexity of Algorithms</vt:lpstr>
      <vt:lpstr>Complexity of Algorithms</vt:lpstr>
      <vt:lpstr>Cost of Sorting Algorithms</vt:lpstr>
      <vt:lpstr>Recall Bubble Sort</vt:lpstr>
      <vt:lpstr>Calculating the Cost of Bubble Sort</vt:lpstr>
      <vt:lpstr>Cost of Simple Sorts</vt:lpstr>
      <vt:lpstr>Cost of sorting algorithms</vt:lpstr>
      <vt:lpstr>Some other sorting algorithms</vt:lpstr>
      <vt:lpstr>Cost of Searching Algorithms</vt:lpstr>
      <vt:lpstr>Binary Search</vt:lpstr>
      <vt:lpstr>Binary Search - Cost</vt:lpstr>
      <vt:lpstr>Binary Search - Cost</vt:lpstr>
      <vt:lpstr>Binary Search - Cost</vt:lpstr>
      <vt:lpstr>Recurrence relations</vt:lpstr>
      <vt:lpstr>Relative values of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Siobhan Drohan</dc:creator>
  <cp:lastModifiedBy>Mairead Meagher</cp:lastModifiedBy>
  <cp:revision>285</cp:revision>
  <dcterms:created xsi:type="dcterms:W3CDTF">2006-08-16T00:00:00Z</dcterms:created>
  <dcterms:modified xsi:type="dcterms:W3CDTF">2019-12-02T12:40:30Z</dcterms:modified>
</cp:coreProperties>
</file>