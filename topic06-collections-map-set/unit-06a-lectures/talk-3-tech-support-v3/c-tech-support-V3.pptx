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521" r:id="rId3"/>
    <p:sldId id="472" r:id="rId4"/>
    <p:sldId id="473" r:id="rId5"/>
    <p:sldId id="522" r:id="rId6"/>
    <p:sldId id="476" r:id="rId7"/>
    <p:sldId id="477" r:id="rId8"/>
    <p:sldId id="523" r:id="rId9"/>
    <p:sldId id="475" r:id="rId10"/>
    <p:sldId id="517" r:id="rId11"/>
    <p:sldId id="525" r:id="rId12"/>
    <p:sldId id="532" r:id="rId13"/>
    <p:sldId id="487" r:id="rId14"/>
    <p:sldId id="524" r:id="rId15"/>
    <p:sldId id="479" r:id="rId16"/>
    <p:sldId id="480" r:id="rId17"/>
    <p:sldId id="530" r:id="rId18"/>
    <p:sldId id="519" r:id="rId19"/>
    <p:sldId id="484" r:id="rId20"/>
    <p:sldId id="485" r:id="rId21"/>
    <p:sldId id="499" r:id="rId22"/>
    <p:sldId id="533" r:id="rId23"/>
    <p:sldId id="534" r:id="rId24"/>
    <p:sldId id="535" r:id="rId25"/>
    <p:sldId id="536" r:id="rId26"/>
    <p:sldId id="526" r:id="rId27"/>
    <p:sldId id="504" r:id="rId28"/>
    <p:sldId id="508" r:id="rId29"/>
    <p:sldId id="509" r:id="rId30"/>
    <p:sldId id="510" r:id="rId31"/>
    <p:sldId id="439" r:id="rId32"/>
    <p:sldId id="451" r:id="rId33"/>
    <p:sldId id="489" r:id="rId34"/>
    <p:sldId id="528" r:id="rId35"/>
    <p:sldId id="506" r:id="rId36"/>
    <p:sldId id="502" r:id="rId37"/>
    <p:sldId id="529" r:id="rId38"/>
    <p:sldId id="452" r:id="rId39"/>
    <p:sldId id="490" r:id="rId40"/>
    <p:sldId id="392" r:id="rId41"/>
  </p:sldIdLst>
  <p:sldSz cx="12192000" cy="6858000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8" autoAdjust="0"/>
    <p:restoredTop sz="94626"/>
  </p:normalViewPr>
  <p:slideViewPr>
    <p:cSldViewPr>
      <p:cViewPr varScale="1">
        <p:scale>
          <a:sx n="72" d="100"/>
          <a:sy n="72" d="100"/>
        </p:scale>
        <p:origin x="77" y="46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25/02/2026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looked at List in talk 8, Set and Map in</a:t>
            </a:r>
            <a:r>
              <a:rPr lang="en-IE" baseline="0" dirty="0"/>
              <a:t> this talk, in addition to </a:t>
            </a:r>
            <a:r>
              <a:rPr lang="en-IE" b="1" baseline="0" dirty="0"/>
              <a:t>Iterator</a:t>
            </a:r>
            <a:endParaRPr lang="en-I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81B23-C832-43C5-9B50-044EE2C12CE3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8312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looked at List in talk 8, Set and Map in</a:t>
            </a:r>
            <a:r>
              <a:rPr lang="en-IE" baseline="0" dirty="0"/>
              <a:t> this talk, in addition to </a:t>
            </a:r>
            <a:r>
              <a:rPr lang="en-IE" b="1" baseline="0" dirty="0"/>
              <a:t>Iterator</a:t>
            </a:r>
            <a:endParaRPr lang="en-I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81B23-C832-43C5-9B50-044EE2C12CE3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63371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Objects First with Java</a:t>
            </a: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© David J. Barnes and Michael Kölling</a:t>
            </a:r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D83E07-5369-4CB6-9510-1448E7FF5C62}" type="slidenum">
              <a:rPr lang="en-GB" smtClean="0">
                <a:latin typeface="Times New Roman" pitchFamily="28" charset="0"/>
              </a:rPr>
              <a:pPr/>
              <a:t>15</a:t>
            </a:fld>
            <a:endParaRPr lang="en-GB">
              <a:latin typeface="Times New Roman" pitchFamily="28" charset="0"/>
            </a:endParaRPr>
          </a:p>
        </p:txBody>
      </p:sp>
      <p:sp>
        <p:nvSpPr>
          <p:cNvPr id="23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2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Objects First with Java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© David J. Barnes and Michael Kölling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F9EDA7-4DD5-4698-AD1F-A47694C837E4}" type="slidenum">
              <a:rPr lang="en-GB" smtClean="0">
                <a:latin typeface="Times New Roman" pitchFamily="28" charset="0"/>
              </a:rPr>
              <a:pPr/>
              <a:t>16</a:t>
            </a:fld>
            <a:endParaRPr lang="en-GB">
              <a:latin typeface="Times New Roman" pitchFamily="28" charset="0"/>
            </a:endParaRPr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2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Objects First with Java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© David J. Barnes and Michael Kölling</a:t>
            </a:r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F886FF-6A76-444B-92F3-7B51E3E8AFD7}" type="slidenum">
              <a:rPr lang="en-GB" smtClean="0">
                <a:latin typeface="Times New Roman" pitchFamily="28" charset="0"/>
              </a:rPr>
              <a:pPr/>
              <a:t>20</a:t>
            </a:fld>
            <a:endParaRPr lang="en-GB">
              <a:latin typeface="Times New Roman" pitchFamily="28" charset="0"/>
            </a:endParaRPr>
          </a:p>
        </p:txBody>
      </p:sp>
      <p:sp>
        <p:nvSpPr>
          <p:cNvPr id="25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>
                <a:latin typeface="Times New Roman" pitchFamily="28" charset="0"/>
              </a:rPr>
              <a:t>phoneBook</a:t>
            </a:r>
            <a:r>
              <a:rPr lang="en-US" baseline="0" dirty="0">
                <a:latin typeface="Times New Roman" pitchFamily="28" charset="0"/>
              </a:rPr>
              <a:t> is a </a:t>
            </a:r>
            <a:r>
              <a:rPr lang="en-US" baseline="0" dirty="0" err="1">
                <a:latin typeface="Times New Roman" pitchFamily="28" charset="0"/>
              </a:rPr>
              <a:t>hashmap</a:t>
            </a:r>
            <a:r>
              <a:rPr lang="en-US" baseline="0" dirty="0">
                <a:latin typeface="Times New Roman" pitchFamily="28" charset="0"/>
              </a:rPr>
              <a:t> of pairs of String objects.</a:t>
            </a:r>
            <a:endParaRPr lang="en-US" dirty="0">
              <a:latin typeface="Times New Roman" pitchFamily="2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sz="3600">
                <a:uFill>
                  <a:solidFill/>
                </a:uFill>
              </a:rPr>
              <a:t>Title Text</a:t>
            </a:r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780562" indent="-284162">
              <a:spcBef>
                <a:spcPts val="600"/>
              </a:spcBef>
              <a:defRPr sz="2400"/>
            </a:lvl2pPr>
            <a:lvl3pPr marL="1182200" indent="-228600">
              <a:spcBef>
                <a:spcPts val="500"/>
              </a:spcBef>
              <a:defRPr sz="2000"/>
            </a:lvl3pPr>
            <a:lvl4pPr marL="1639399" indent="-228599">
              <a:spcBef>
                <a:spcPts val="500"/>
              </a:spcBef>
              <a:defRPr sz="2000"/>
            </a:lvl4pPr>
            <a:lvl5pPr marL="2096599" indent="-228600">
              <a:spcBef>
                <a:spcPts val="500"/>
              </a:spcBef>
              <a:defRPr sz="2000"/>
            </a:lvl5pPr>
          </a:lstStyle>
          <a:p>
            <a:pPr lvl="0">
              <a:defRPr sz="1800">
                <a:uFillTx/>
              </a:defRPr>
            </a:pPr>
            <a:r>
              <a:rPr sz="2800" dirty="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400" dirty="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Five</a:t>
            </a:r>
          </a:p>
        </p:txBody>
      </p:sp>
      <p:sp>
        <p:nvSpPr>
          <p:cNvPr id="9" name="Shape 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6528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4.tiff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4.jpeg"/><Relationship Id="rId5" Type="http://schemas.openxmlformats.org/officeDocument/2006/relationships/image" Target="../media/image13.tiff"/><Relationship Id="rId4" Type="http://schemas.openxmlformats.org/officeDocument/2006/relationships/image" Target="../media/image12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4.tif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More Sophisticated Behaviour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Technical Support System V3.0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AD64F-ADCB-44FF-A6D0-AC92838C04FF}"/>
              </a:ext>
            </a:extLst>
          </p:cNvPr>
          <p:cNvSpPr txBox="1"/>
          <p:nvPr/>
        </p:nvSpPr>
        <p:spPr>
          <a:xfrm>
            <a:off x="3657600" y="384054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Roche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103" l="9735" r="89381">
                        <a14:foregroundMark x1="40265" y1="24664" x2="61504" y2="39013"/>
                        <a14:foregroundMark x1="18584" y1="40359" x2="21681" y2="260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0" y="2152593"/>
            <a:ext cx="838200" cy="8270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103" l="9735" r="89381">
                        <a14:foregroundMark x1="40265" y1="24664" x2="61504" y2="39013"/>
                        <a14:foregroundMark x1="18584" y1="40359" x2="21681" y2="260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78538" y="2156882"/>
            <a:ext cx="838200" cy="8270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103" l="9735" r="89381">
                        <a14:foregroundMark x1="40265" y1="24664" x2="61504" y2="39013"/>
                        <a14:foregroundMark x1="18584" y1="40359" x2="21681" y2="260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99878" y="2148304"/>
            <a:ext cx="838200" cy="8270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E3376B-EA65-599E-C569-7C990BF5EA55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40ADBDF0-27CB-7463-845E-F6A8507303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5000" y="1514476"/>
            <a:ext cx="5181600" cy="46672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066800" y="1600200"/>
            <a:ext cx="9144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6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Recap: </a:t>
            </a:r>
            <a:r>
              <a:rPr lang="en-GB" sz="3600" dirty="0"/>
              <a:t>Technical Support System </a:t>
            </a:r>
            <a:r>
              <a:rPr lang="en-GB" sz="3600" b="1" dirty="0"/>
              <a:t>V2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A console based, textual dialog system.</a:t>
            </a:r>
          </a:p>
          <a:p>
            <a:endParaRPr lang="en-GB" dirty="0"/>
          </a:p>
          <a:p>
            <a:r>
              <a:rPr lang="en-GB" dirty="0"/>
              <a:t>In this version, the system provides a </a:t>
            </a:r>
            <a:r>
              <a:rPr lang="en-GB" b="1" u="sng" dirty="0"/>
              <a:t>random</a:t>
            </a:r>
            <a:r>
              <a:rPr lang="en-GB" dirty="0"/>
              <a:t> response from a list of pre-defined responses e.g.:</a:t>
            </a:r>
          </a:p>
          <a:p>
            <a:endParaRPr lang="en-GB" dirty="0"/>
          </a:p>
          <a:p>
            <a:pPr lvl="1"/>
            <a:r>
              <a:rPr lang="en-IE" dirty="0"/>
              <a:t>"That sounds interesting. Tell me more..."</a:t>
            </a:r>
          </a:p>
          <a:p>
            <a:pPr lvl="1"/>
            <a:r>
              <a:rPr lang="en-IE" dirty="0"/>
              <a:t>"I need a bit more information on that."</a:t>
            </a:r>
          </a:p>
          <a:p>
            <a:pPr lvl="1"/>
            <a:r>
              <a:rPr lang="en-IE" dirty="0"/>
              <a:t>"Have you checked that you do not have a </a:t>
            </a:r>
            <a:r>
              <a:rPr lang="en-IE" dirty="0" err="1"/>
              <a:t>dll</a:t>
            </a:r>
            <a:r>
              <a:rPr lang="en-IE" dirty="0"/>
              <a:t> conflict?"</a:t>
            </a:r>
          </a:p>
          <a:p>
            <a:pPr lvl="1"/>
            <a:r>
              <a:rPr lang="en-IE" dirty="0"/>
              <a:t>"That is explained in the manual. Have you read the manual?“</a:t>
            </a:r>
          </a:p>
          <a:p>
            <a:pPr lvl="1"/>
            <a:r>
              <a:rPr lang="en-IE" dirty="0"/>
              <a:t>" That's not a bug, it's a feature!"</a:t>
            </a:r>
          </a:p>
          <a:p>
            <a:pPr lvl="1"/>
            <a:r>
              <a:rPr lang="en-IE" dirty="0"/>
              <a:t>"Could you elaborate on that?“</a:t>
            </a:r>
          </a:p>
          <a:p>
            <a:pPr lvl="1"/>
            <a:r>
              <a:rPr lang="en-IE" dirty="0"/>
              <a:t>etc.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457200"/>
            <a:ext cx="838200" cy="827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457200"/>
            <a:ext cx="838200" cy="8270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8834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16" r="19380"/>
          <a:stretch/>
        </p:blipFill>
        <p:spPr bwMode="auto">
          <a:xfrm>
            <a:off x="1994648" y="1524001"/>
            <a:ext cx="6805739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968DD362-DF97-4701-9EE3-1B826F687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390" y="4191001"/>
            <a:ext cx="3783122" cy="26129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E7B96EB-3546-4B57-ADB8-11AF162638DB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/>
              <a:t>Recap: </a:t>
            </a:r>
            <a:r>
              <a:rPr lang="en-GB" sz="3600"/>
              <a:t>Technical Support System </a:t>
            </a:r>
            <a:r>
              <a:rPr lang="en-GB" sz="3600" b="1"/>
              <a:t>V2</a:t>
            </a:r>
            <a:endParaRPr lang="en-GB" sz="3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310E6C-0699-4040-8066-D58920D49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457200"/>
            <a:ext cx="838200" cy="827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27746B-1F93-449B-A956-DA0D5C6E6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57200"/>
            <a:ext cx="838200" cy="8270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534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1368" y="2048730"/>
            <a:ext cx="5181600" cy="130407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120780" y="2117280"/>
            <a:ext cx="9144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73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Technical Support System </a:t>
            </a:r>
            <a:r>
              <a:rPr lang="en-GB" sz="4000" b="1" dirty="0"/>
              <a:t>V3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98638"/>
            <a:ext cx="8229600" cy="4525963"/>
          </a:xfrm>
        </p:spPr>
        <p:txBody>
          <a:bodyPr>
            <a:normAutofit/>
          </a:bodyPr>
          <a:lstStyle/>
          <a:p>
            <a:r>
              <a:rPr lang="en-GB" dirty="0"/>
              <a:t>A console based, textual dialog system.</a:t>
            </a:r>
          </a:p>
          <a:p>
            <a:endParaRPr lang="en-GB" dirty="0"/>
          </a:p>
          <a:p>
            <a:r>
              <a:rPr lang="en-GB" dirty="0"/>
              <a:t>Based on the user input, </a:t>
            </a:r>
          </a:p>
          <a:p>
            <a:pPr lvl="1"/>
            <a:r>
              <a:rPr lang="en-GB" dirty="0"/>
              <a:t>the system provides a </a:t>
            </a:r>
            <a:r>
              <a:rPr lang="en-GB" b="1" dirty="0"/>
              <a:t>context-sensitive</a:t>
            </a:r>
            <a:r>
              <a:rPr lang="en-GB" dirty="0"/>
              <a:t>, generated response from a list of pre-defined responses.  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If the system cannot find a suitable generated response, it returns a </a:t>
            </a:r>
            <a:r>
              <a:rPr lang="en-GB" b="1" dirty="0"/>
              <a:t>random</a:t>
            </a:r>
            <a:r>
              <a:rPr lang="en-GB" dirty="0"/>
              <a:t> one.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382000" y="457201"/>
            <a:ext cx="1981200" cy="746819"/>
            <a:chOff x="6705600" y="363238"/>
            <a:chExt cx="2216860" cy="83565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387722" y="367527"/>
              <a:ext cx="838200" cy="827074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84260" y="371816"/>
              <a:ext cx="838200" cy="82707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705600" y="363238"/>
              <a:ext cx="838200" cy="82707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96011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Technical Support System </a:t>
            </a:r>
            <a:r>
              <a:rPr lang="en-GB" sz="4000" b="1" dirty="0"/>
              <a:t>V3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95" r="15385"/>
          <a:stretch/>
        </p:blipFill>
        <p:spPr bwMode="auto">
          <a:xfrm>
            <a:off x="2514600" y="1600201"/>
            <a:ext cx="7086600" cy="50265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Donut 3"/>
          <p:cNvSpPr/>
          <p:nvPr/>
        </p:nvSpPr>
        <p:spPr>
          <a:xfrm>
            <a:off x="3886200" y="2667000"/>
            <a:ext cx="914400" cy="2286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Donut 4"/>
          <p:cNvSpPr/>
          <p:nvPr/>
        </p:nvSpPr>
        <p:spPr>
          <a:xfrm>
            <a:off x="4340942" y="3276600"/>
            <a:ext cx="612058" cy="2286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Donut 5"/>
          <p:cNvSpPr/>
          <p:nvPr/>
        </p:nvSpPr>
        <p:spPr>
          <a:xfrm>
            <a:off x="4129548" y="4114800"/>
            <a:ext cx="823452" cy="270387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645918" y="3405649"/>
            <a:ext cx="924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Context </a:t>
            </a:r>
          </a:p>
          <a:p>
            <a:r>
              <a:rPr lang="en-GB" sz="1600" dirty="0">
                <a:solidFill>
                  <a:srgbClr val="FF0000"/>
                </a:solidFill>
              </a:rPr>
              <a:t>Sensitive</a:t>
            </a:r>
          </a:p>
        </p:txBody>
      </p:sp>
      <p:sp>
        <p:nvSpPr>
          <p:cNvPr id="3" name="Right Brace 2"/>
          <p:cNvSpPr/>
          <p:nvPr/>
        </p:nvSpPr>
        <p:spPr>
          <a:xfrm>
            <a:off x="8839200" y="2667000"/>
            <a:ext cx="1066800" cy="2057400"/>
          </a:xfrm>
          <a:prstGeom prst="rightBrac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Brace 8"/>
          <p:cNvSpPr/>
          <p:nvPr/>
        </p:nvSpPr>
        <p:spPr>
          <a:xfrm flipH="1">
            <a:off x="2231923" y="4844534"/>
            <a:ext cx="383458" cy="1480066"/>
          </a:xfrm>
          <a:prstGeom prst="rightBrac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1524001" y="5584567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Random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8382000" y="457201"/>
            <a:ext cx="1981200" cy="746819"/>
            <a:chOff x="6705600" y="363238"/>
            <a:chExt cx="2216860" cy="835652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387722" y="367527"/>
              <a:ext cx="838200" cy="827074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84260" y="371816"/>
              <a:ext cx="838200" cy="82707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705600" y="363238"/>
              <a:ext cx="838200" cy="82707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99917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" grpId="0"/>
      <p:bldP spid="3" grpId="0" animBg="1"/>
      <p:bldP spid="9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8910" y="3398900"/>
            <a:ext cx="5181600" cy="12493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371600" y="4061455"/>
            <a:ext cx="15240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77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200" b="1" dirty="0"/>
              <a:t>How</a:t>
            </a:r>
            <a:r>
              <a:rPr lang="en-IE" sz="3200" dirty="0"/>
              <a:t> do we influence the generated response?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7467600" cy="3962400"/>
          </a:xfrm>
        </p:spPr>
        <p:txBody>
          <a:bodyPr>
            <a:normAutofit/>
          </a:bodyPr>
          <a:lstStyle/>
          <a:p>
            <a:r>
              <a:rPr lang="en-IE" sz="2800" dirty="0"/>
              <a:t>What if we had a </a:t>
            </a:r>
            <a:r>
              <a:rPr lang="en-IE" sz="2800" b="1" dirty="0"/>
              <a:t>set of words</a:t>
            </a:r>
            <a:r>
              <a:rPr lang="en-IE" sz="2800" dirty="0"/>
              <a:t> </a:t>
            </a:r>
          </a:p>
          <a:p>
            <a:pPr lvl="1"/>
            <a:r>
              <a:rPr lang="en-IE" sz="2400" dirty="0"/>
              <a:t>that are likely to occur in a typical question?</a:t>
            </a:r>
          </a:p>
          <a:p>
            <a:endParaRPr lang="en-IE" sz="2800" dirty="0"/>
          </a:p>
          <a:p>
            <a:r>
              <a:rPr lang="en-IE" sz="2800" dirty="0"/>
              <a:t>What if we then </a:t>
            </a:r>
            <a:r>
              <a:rPr lang="en-IE" sz="2800" b="1" dirty="0"/>
              <a:t>associated</a:t>
            </a:r>
            <a:r>
              <a:rPr lang="en-IE" sz="2800" dirty="0"/>
              <a:t> these words </a:t>
            </a:r>
          </a:p>
          <a:p>
            <a:pPr lvl="1"/>
            <a:r>
              <a:rPr lang="en-IE" sz="2400" dirty="0"/>
              <a:t>with particular </a:t>
            </a:r>
            <a:r>
              <a:rPr lang="en-IE" sz="2400" b="1" dirty="0"/>
              <a:t>responses</a:t>
            </a:r>
            <a:r>
              <a:rPr lang="en-IE" sz="2400" dirty="0"/>
              <a:t>?</a:t>
            </a:r>
          </a:p>
          <a:p>
            <a:endParaRPr lang="en-IE" sz="2800" dirty="0"/>
          </a:p>
          <a:p>
            <a:r>
              <a:rPr lang="en-IE" sz="2800" dirty="0"/>
              <a:t>Then, if the user input contains a known word,</a:t>
            </a:r>
          </a:p>
          <a:p>
            <a:pPr lvl="1"/>
            <a:r>
              <a:rPr lang="en-IE" sz="2400" dirty="0"/>
              <a:t>generate a related response!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446888"/>
              </p:ext>
            </p:extLst>
          </p:nvPr>
        </p:nvGraphicFramePr>
        <p:xfrm>
          <a:off x="6172200" y="5624717"/>
          <a:ext cx="304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8060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ArrayList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5555" y="2276701"/>
            <a:ext cx="8011886" cy="1015663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/>
              <a:t>Q: Can we use an </a:t>
            </a:r>
            <a:r>
              <a:rPr lang="en-IE" sz="3200" dirty="0" err="1">
                <a:solidFill>
                  <a:srgbClr val="FF0000"/>
                </a:solidFill>
              </a:rPr>
              <a:t>ArrayList</a:t>
            </a:r>
            <a:r>
              <a:rPr lang="en-IE" sz="3200" dirty="0"/>
              <a:t> for this purpose?</a:t>
            </a:r>
          </a:p>
          <a:p>
            <a:r>
              <a:rPr lang="en-IE" sz="2800" dirty="0"/>
              <a:t>	i.e. Will it let us store “</a:t>
            </a:r>
            <a:r>
              <a:rPr lang="en-IE" sz="2800" b="1" dirty="0"/>
              <a:t>key=value</a:t>
            </a:r>
            <a:r>
              <a:rPr lang="en-IE" sz="2800" dirty="0"/>
              <a:t>” pairs?</a:t>
            </a:r>
          </a:p>
        </p:txBody>
      </p:sp>
      <p:pic>
        <p:nvPicPr>
          <p:cNvPr id="5" name="Picture 4" descr="Image result for questions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5545" l="7600" r="92400">
                        <a14:foregroundMark x1="61600" y1="2475" x2="64000" y2="84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900" y="1541482"/>
            <a:ext cx="1158883" cy="93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60639" y="3571541"/>
            <a:ext cx="8011886" cy="107721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/>
              <a:t>   A: </a:t>
            </a:r>
            <a:r>
              <a:rPr lang="en-IE" sz="3200" b="1" dirty="0"/>
              <a:t>No</a:t>
            </a:r>
            <a:r>
              <a:rPr lang="en-IE" sz="3200" dirty="0"/>
              <a:t>!  </a:t>
            </a:r>
          </a:p>
          <a:p>
            <a:r>
              <a:rPr lang="en-IE" sz="3200" dirty="0"/>
              <a:t>	i.e. </a:t>
            </a:r>
            <a:r>
              <a:rPr lang="en-IE" sz="2800" dirty="0"/>
              <a:t>We need a different data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639" y="5943601"/>
            <a:ext cx="8011886" cy="5847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/>
              <a:t>A </a:t>
            </a:r>
            <a:r>
              <a:rPr lang="en-IE" sz="3200" b="1" dirty="0">
                <a:solidFill>
                  <a:srgbClr val="FF0000"/>
                </a:solidFill>
              </a:rPr>
              <a:t>Map</a:t>
            </a:r>
            <a:r>
              <a:rPr lang="en-IE" sz="3200" dirty="0"/>
              <a:t> stores “</a:t>
            </a:r>
            <a:r>
              <a:rPr lang="en-IE" sz="3200" b="1" dirty="0"/>
              <a:t>key=value</a:t>
            </a:r>
            <a:r>
              <a:rPr lang="en-IE" sz="3200" dirty="0"/>
              <a:t>” pairs</a:t>
            </a:r>
          </a:p>
        </p:txBody>
      </p:sp>
      <p:sp>
        <p:nvSpPr>
          <p:cNvPr id="9" name="5-Point Star 8"/>
          <p:cNvSpPr/>
          <p:nvPr/>
        </p:nvSpPr>
        <p:spPr>
          <a:xfrm>
            <a:off x="9525000" y="6013948"/>
            <a:ext cx="475056" cy="47505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297" b="98828" l="3125" r="98047">
                        <a14:foregroundMark x1="21680" y1="13672" x2="22266" y2="22461"/>
                        <a14:foregroundMark x1="24609" y1="12500" x2="30469" y2="17773"/>
                        <a14:foregroundMark x1="41602" y1="25195" x2="45117" y2="29297"/>
                        <a14:foregroundMark x1="40430" y1="24219" x2="42578" y2="26172"/>
                        <a14:foregroundMark x1="39258" y1="25977" x2="42383" y2="27148"/>
                        <a14:foregroundMark x1="38086" y1="23633" x2="41602" y2="26758"/>
                        <a14:foregroundMark x1="38281" y1="22656" x2="41992" y2="263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0374" y="5240792"/>
            <a:ext cx="931408" cy="931408"/>
          </a:xfrm>
          <a:prstGeom prst="rect">
            <a:avLst/>
          </a:prstGeom>
        </p:spPr>
      </p:pic>
      <p:sp>
        <p:nvSpPr>
          <p:cNvPr id="2" name="Down Arrow 1"/>
          <p:cNvSpPr/>
          <p:nvPr/>
        </p:nvSpPr>
        <p:spPr>
          <a:xfrm>
            <a:off x="5562600" y="4648760"/>
            <a:ext cx="304800" cy="1218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710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3.ntu.edu.sg/home/ehchua/programming/java/images/Collection_interfac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600200"/>
            <a:ext cx="8596595" cy="44196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8416276" y="2976717"/>
            <a:ext cx="1870724" cy="3048000"/>
          </a:xfrm>
          <a:prstGeom prst="rect">
            <a:avLst/>
          </a:prstGeom>
          <a:solidFill>
            <a:srgbClr val="7030A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/>
          <p:cNvSpPr/>
          <p:nvPr/>
        </p:nvSpPr>
        <p:spPr>
          <a:xfrm>
            <a:off x="3643904" y="2981633"/>
            <a:ext cx="1385296" cy="3048000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5048019" y="2976717"/>
            <a:ext cx="1763245" cy="3048000"/>
          </a:xfrm>
          <a:prstGeom prst="rect">
            <a:avLst/>
          </a:prstGeom>
          <a:solidFill>
            <a:srgbClr val="0070C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RECAP</a:t>
            </a:r>
            <a:r>
              <a:rPr lang="en-US" altLang="en-US" dirty="0"/>
              <a:t>: Java’s </a:t>
            </a:r>
            <a:r>
              <a:rPr lang="en-US" altLang="en-US" b="1" dirty="0"/>
              <a:t>Collections</a:t>
            </a:r>
            <a:r>
              <a:rPr lang="en-US" altLang="en-US" dirty="0"/>
              <a:t> Framework</a:t>
            </a:r>
            <a:endParaRPr lang="en-IE" dirty="0"/>
          </a:p>
        </p:txBody>
      </p:sp>
      <p:sp>
        <p:nvSpPr>
          <p:cNvPr id="4" name="TextBox 3"/>
          <p:cNvSpPr txBox="1"/>
          <p:nvPr/>
        </p:nvSpPr>
        <p:spPr>
          <a:xfrm>
            <a:off x="2262335" y="5618202"/>
            <a:ext cx="804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Java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828801" y="5029200"/>
            <a:ext cx="85965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250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3.ntu.edu.sg/home/ehchua/programming/java/images/Collection_interfac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600200"/>
            <a:ext cx="8596595" cy="44196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8416276" y="2976717"/>
            <a:ext cx="1870724" cy="3048000"/>
          </a:xfrm>
          <a:prstGeom prst="rect">
            <a:avLst/>
          </a:prstGeom>
          <a:solidFill>
            <a:srgbClr val="7030A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3643904" y="2981633"/>
            <a:ext cx="1385296" cy="3048000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5048019" y="2976717"/>
            <a:ext cx="1763245" cy="3048000"/>
          </a:xfrm>
          <a:prstGeom prst="rect">
            <a:avLst/>
          </a:prstGeom>
          <a:solidFill>
            <a:srgbClr val="0070C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RECAP</a:t>
            </a:r>
            <a:r>
              <a:rPr lang="en-US" altLang="en-US" dirty="0"/>
              <a:t>: Java’s </a:t>
            </a:r>
            <a:r>
              <a:rPr lang="en-US" altLang="en-US" b="1" dirty="0"/>
              <a:t>Collections</a:t>
            </a:r>
            <a:r>
              <a:rPr lang="en-US" altLang="en-US" dirty="0"/>
              <a:t> Framework</a:t>
            </a:r>
            <a:endParaRPr lang="en-IE" dirty="0"/>
          </a:p>
        </p:txBody>
      </p:sp>
      <p:sp>
        <p:nvSpPr>
          <p:cNvPr id="5" name="Donut 4"/>
          <p:cNvSpPr/>
          <p:nvPr/>
        </p:nvSpPr>
        <p:spPr>
          <a:xfrm>
            <a:off x="3505200" y="50292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Donut 5"/>
          <p:cNvSpPr/>
          <p:nvPr/>
        </p:nvSpPr>
        <p:spPr>
          <a:xfrm>
            <a:off x="3505200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Donut 6"/>
          <p:cNvSpPr/>
          <p:nvPr/>
        </p:nvSpPr>
        <p:spPr>
          <a:xfrm>
            <a:off x="5110213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Donut 7"/>
          <p:cNvSpPr/>
          <p:nvPr/>
        </p:nvSpPr>
        <p:spPr>
          <a:xfrm>
            <a:off x="8610600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Donut 11"/>
          <p:cNvSpPr/>
          <p:nvPr/>
        </p:nvSpPr>
        <p:spPr>
          <a:xfrm>
            <a:off x="5110213" y="50292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Donut 12"/>
          <p:cNvSpPr/>
          <p:nvPr/>
        </p:nvSpPr>
        <p:spPr>
          <a:xfrm>
            <a:off x="8610600" y="50292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2335" y="5618202"/>
            <a:ext cx="804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Java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828801" y="5029200"/>
            <a:ext cx="85965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9093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0" grpId="0" animBg="1"/>
      <p:bldP spid="5" grpId="0" animBg="1"/>
      <p:bldP spid="6" grpId="0" animBg="1"/>
      <p:bldP spid="7" grpId="0" animBg="1"/>
      <p:bldP spid="8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http://www.programcreek.com/wp-content/uploads/2009/02/collection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57201"/>
            <a:ext cx="8991600" cy="6203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600200" y="4648200"/>
            <a:ext cx="8991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600200" y="1295400"/>
            <a:ext cx="8991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/>
          <p:cNvSpPr/>
          <p:nvPr/>
        </p:nvSpPr>
        <p:spPr>
          <a:xfrm>
            <a:off x="1600200" y="3200400"/>
            <a:ext cx="8991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/>
          <p:cNvSpPr/>
          <p:nvPr/>
        </p:nvSpPr>
        <p:spPr>
          <a:xfrm>
            <a:off x="1600200" y="1348972"/>
            <a:ext cx="2971800" cy="1851429"/>
          </a:xfrm>
          <a:prstGeom prst="rect">
            <a:avLst/>
          </a:prstGeom>
          <a:solidFill>
            <a:srgbClr val="7030A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607574" y="3258888"/>
            <a:ext cx="4488426" cy="1389313"/>
          </a:xfrm>
          <a:prstGeom prst="rect">
            <a:avLst/>
          </a:prstGeom>
          <a:solidFill>
            <a:srgbClr val="0070C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607574" y="4706688"/>
            <a:ext cx="5936226" cy="1236913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703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b="1" dirty="0"/>
              <a:t>Responder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b="1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b="1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8910" y="3398900"/>
            <a:ext cx="5181600" cy="12493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371600" y="4305300"/>
            <a:ext cx="15240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" name="Picture 6" descr="Image result for telephone book">
            <a:extLst>
              <a:ext uri="{FF2B5EF4-FFF2-40B4-BE49-F238E27FC236}">
                <a16:creationId xmlns:a16="http://schemas.microsoft.com/office/drawing/2014/main" id="{4BF2DCAD-339D-4342-AE05-31EDCE179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642" y="3512320"/>
            <a:ext cx="1815358" cy="108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38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/>
              <a:t>Maps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686800" cy="5257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GB" dirty="0"/>
              <a:t>Maps are collections </a:t>
            </a:r>
          </a:p>
          <a:p>
            <a:pPr lvl="1"/>
            <a:r>
              <a:rPr lang="en-GB" dirty="0"/>
              <a:t>that contain pairs of values.</a:t>
            </a:r>
            <a:br>
              <a:rPr lang="en-GB" dirty="0"/>
            </a:br>
            <a:endParaRPr lang="en-GB" dirty="0"/>
          </a:p>
          <a:p>
            <a:pPr eaLnBrk="1" hangingPunct="1"/>
            <a:r>
              <a:rPr lang="en-GB" b="1" dirty="0"/>
              <a:t>Pairs</a:t>
            </a:r>
            <a:r>
              <a:rPr lang="en-GB" dirty="0"/>
              <a:t> consist of :</a:t>
            </a:r>
          </a:p>
          <a:p>
            <a:pPr lvl="1"/>
            <a:r>
              <a:rPr lang="en-GB" b="1" dirty="0">
                <a:solidFill>
                  <a:srgbClr val="FF0000"/>
                </a:solidFill>
              </a:rPr>
              <a:t>key</a:t>
            </a:r>
          </a:p>
          <a:p>
            <a:pPr lvl="1"/>
            <a:r>
              <a:rPr lang="en-GB" b="1" dirty="0">
                <a:solidFill>
                  <a:srgbClr val="FF0000"/>
                </a:solidFill>
              </a:rPr>
              <a:t>value</a:t>
            </a:r>
            <a:r>
              <a:rPr lang="en-GB" dirty="0"/>
              <a:t>.</a:t>
            </a:r>
            <a:br>
              <a:rPr lang="en-GB" dirty="0"/>
            </a:br>
            <a:endParaRPr lang="en-GB" dirty="0"/>
          </a:p>
          <a:p>
            <a:pPr eaLnBrk="1" hangingPunct="1"/>
            <a:r>
              <a:rPr lang="en-GB" b="1" dirty="0"/>
              <a:t>Lookup</a:t>
            </a:r>
            <a:r>
              <a:rPr lang="en-GB" dirty="0"/>
              <a:t> works by supplying a key, </a:t>
            </a:r>
            <a:br>
              <a:rPr lang="en-GB" dirty="0"/>
            </a:br>
            <a:r>
              <a:rPr lang="en-GB" dirty="0"/>
              <a:t>and retrieving a value.</a:t>
            </a:r>
          </a:p>
          <a:p>
            <a:pPr lvl="1"/>
            <a:r>
              <a:rPr lang="en-GB" dirty="0"/>
              <a:t>E.g. telephone book</a:t>
            </a:r>
          </a:p>
          <a:p>
            <a:pPr lvl="2"/>
            <a:r>
              <a:rPr lang="en-GB" dirty="0"/>
              <a:t>use the </a:t>
            </a:r>
            <a:r>
              <a:rPr lang="en-GB" b="1" dirty="0"/>
              <a:t>name</a:t>
            </a:r>
            <a:r>
              <a:rPr lang="en-GB" dirty="0"/>
              <a:t> to look up a </a:t>
            </a:r>
            <a:r>
              <a:rPr lang="en-GB" b="1" dirty="0"/>
              <a:t>phone number.</a:t>
            </a:r>
          </a:p>
          <a:p>
            <a:pPr eaLnBrk="1" hangingPunct="1"/>
            <a:endParaRPr lang="en-GB" dirty="0"/>
          </a:p>
          <a:p>
            <a:pPr eaLnBrk="1" hangingPunct="1"/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318967"/>
              </p:ext>
            </p:extLst>
          </p:nvPr>
        </p:nvGraphicFramePr>
        <p:xfrm>
          <a:off x="6677864" y="3684280"/>
          <a:ext cx="304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430" y="3444250"/>
            <a:ext cx="610870" cy="6108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690" y="3989705"/>
            <a:ext cx="514350" cy="514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064" y="3045972"/>
            <a:ext cx="610870" cy="6108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4314" y="3094232"/>
            <a:ext cx="514350" cy="514350"/>
          </a:xfrm>
          <a:prstGeom prst="rect">
            <a:avLst/>
          </a:prstGeom>
        </p:spPr>
      </p:pic>
      <p:pic>
        <p:nvPicPr>
          <p:cNvPr id="12" name="Picture 6" descr="Image result for telephone book">
            <a:extLst>
              <a:ext uri="{FF2B5EF4-FFF2-40B4-BE49-F238E27FC236}">
                <a16:creationId xmlns:a16="http://schemas.microsoft.com/office/drawing/2014/main" id="{4BF2DCAD-339D-4342-AE05-31EDCE179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697" y="5382763"/>
            <a:ext cx="1491635" cy="89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111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Using Maps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1828800"/>
            <a:ext cx="7467600" cy="711200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A </a:t>
            </a:r>
            <a:r>
              <a:rPr lang="en-GB" b="1" dirty="0"/>
              <a:t>MAP</a:t>
            </a:r>
            <a:r>
              <a:rPr lang="en-GB" dirty="0"/>
              <a:t> with String keys &amp; String values.</a:t>
            </a:r>
          </a:p>
        </p:txBody>
      </p:sp>
      <p:sp>
        <p:nvSpPr>
          <p:cNvPr id="8197" name="AutoShape 4"/>
          <p:cNvSpPr>
            <a:spLocks noChangeArrowheads="1"/>
          </p:cNvSpPr>
          <p:nvPr/>
        </p:nvSpPr>
        <p:spPr bwMode="auto">
          <a:xfrm>
            <a:off x="3276600" y="2895600"/>
            <a:ext cx="5638800" cy="2514600"/>
          </a:xfrm>
          <a:prstGeom prst="roundRect">
            <a:avLst>
              <a:gd name="adj" fmla="val 16667"/>
            </a:avLst>
          </a:prstGeom>
          <a:solidFill>
            <a:srgbClr val="CD262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E"/>
          </a:p>
        </p:txBody>
      </p:sp>
      <p:sp>
        <p:nvSpPr>
          <p:cNvPr id="8198" name="Rectangle 5"/>
          <p:cNvSpPr>
            <a:spLocks noChangeArrowheads="1"/>
          </p:cNvSpPr>
          <p:nvPr/>
        </p:nvSpPr>
        <p:spPr bwMode="auto">
          <a:xfrm>
            <a:off x="3886200" y="3573464"/>
            <a:ext cx="2228850" cy="31273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"Charles Nguyen"</a:t>
            </a:r>
          </a:p>
        </p:txBody>
      </p:sp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3276600" y="2971800"/>
            <a:ext cx="56388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ctr"/>
            <a:r>
              <a:rPr lang="en-AU" sz="2000" u="sng">
                <a:solidFill>
                  <a:schemeClr val="bg1"/>
                </a:solidFill>
                <a:latin typeface="Trebuchet MS" pitchFamily="28" charset="0"/>
              </a:rPr>
              <a:t>:HashMap</a:t>
            </a:r>
          </a:p>
        </p:txBody>
      </p:sp>
      <p:sp>
        <p:nvSpPr>
          <p:cNvPr id="8200" name="Rectangle 7"/>
          <p:cNvSpPr>
            <a:spLocks noChangeArrowheads="1"/>
          </p:cNvSpPr>
          <p:nvPr/>
        </p:nvSpPr>
        <p:spPr bwMode="auto">
          <a:xfrm>
            <a:off x="6115050" y="3573464"/>
            <a:ext cx="2228850" cy="31273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"(531) 9392 4587"</a:t>
            </a:r>
          </a:p>
        </p:txBody>
      </p:sp>
      <p:sp>
        <p:nvSpPr>
          <p:cNvPr id="8201" name="Rectangle 8"/>
          <p:cNvSpPr>
            <a:spLocks noChangeArrowheads="1"/>
          </p:cNvSpPr>
          <p:nvPr/>
        </p:nvSpPr>
        <p:spPr bwMode="auto">
          <a:xfrm>
            <a:off x="3886200" y="4030664"/>
            <a:ext cx="2228850" cy="31273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"Lisa Jones"</a:t>
            </a:r>
          </a:p>
        </p:txBody>
      </p:sp>
      <p:sp>
        <p:nvSpPr>
          <p:cNvPr id="8202" name="Rectangle 9"/>
          <p:cNvSpPr>
            <a:spLocks noChangeArrowheads="1"/>
          </p:cNvSpPr>
          <p:nvPr/>
        </p:nvSpPr>
        <p:spPr bwMode="auto">
          <a:xfrm>
            <a:off x="6115050" y="4030664"/>
            <a:ext cx="2228850" cy="31273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"(402) 4536 4674"</a:t>
            </a:r>
          </a:p>
        </p:txBody>
      </p:sp>
      <p:sp>
        <p:nvSpPr>
          <p:cNvPr id="8203" name="Rectangle 10"/>
          <p:cNvSpPr>
            <a:spLocks noChangeArrowheads="1"/>
          </p:cNvSpPr>
          <p:nvPr/>
        </p:nvSpPr>
        <p:spPr bwMode="auto">
          <a:xfrm>
            <a:off x="3886200" y="4479925"/>
            <a:ext cx="2228850" cy="31273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"William H. Smith"</a:t>
            </a:r>
          </a:p>
        </p:txBody>
      </p:sp>
      <p:sp>
        <p:nvSpPr>
          <p:cNvPr id="8204" name="Rectangle 11"/>
          <p:cNvSpPr>
            <a:spLocks noChangeArrowheads="1"/>
          </p:cNvSpPr>
          <p:nvPr/>
        </p:nvSpPr>
        <p:spPr bwMode="auto">
          <a:xfrm>
            <a:off x="6115050" y="4479925"/>
            <a:ext cx="2228850" cy="31273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"(998) 5488 0123"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0828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ArrayList</a:t>
            </a:r>
            <a:r>
              <a:rPr lang="en-IE" dirty="0"/>
              <a:t> </a:t>
            </a:r>
            <a:r>
              <a:rPr lang="en-IE" b="1" dirty="0"/>
              <a:t>Vs</a:t>
            </a:r>
            <a:r>
              <a:rPr lang="en-IE" dirty="0"/>
              <a:t> Map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 err="1"/>
              <a:t>ArrayList</a:t>
            </a:r>
            <a:endParaRPr lang="en-I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E" dirty="0"/>
              <a:t>each entry stores </a:t>
            </a:r>
            <a:br>
              <a:rPr lang="en-IE" dirty="0"/>
            </a:br>
            <a:r>
              <a:rPr lang="en-IE" b="1" dirty="0"/>
              <a:t>one</a:t>
            </a:r>
            <a:r>
              <a:rPr lang="en-IE" dirty="0"/>
              <a:t> object</a:t>
            </a:r>
            <a:br>
              <a:rPr lang="en-IE" dirty="0"/>
            </a:br>
            <a:endParaRPr lang="en-IE" dirty="0"/>
          </a:p>
          <a:p>
            <a:pPr marL="457200" indent="-457200">
              <a:buFont typeface="+mj-lt"/>
              <a:buAutoNum type="arabicPeriod"/>
            </a:pPr>
            <a:r>
              <a:rPr lang="en-IE" dirty="0"/>
              <a:t>you use an </a:t>
            </a:r>
            <a:r>
              <a:rPr lang="en-IE" b="1" dirty="0"/>
              <a:t>integer index </a:t>
            </a:r>
            <a:br>
              <a:rPr lang="en-IE" b="1" dirty="0"/>
            </a:br>
            <a:r>
              <a:rPr lang="en-IE" dirty="0"/>
              <a:t>to </a:t>
            </a:r>
            <a:r>
              <a:rPr lang="en-IE" b="1" dirty="0"/>
              <a:t>lookup</a:t>
            </a:r>
            <a:r>
              <a:rPr lang="en-IE" dirty="0"/>
              <a:t> the object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E" dirty="0"/>
              <a:t>Map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E" dirty="0"/>
              <a:t>each entry has a </a:t>
            </a:r>
            <a:br>
              <a:rPr lang="en-IE" dirty="0"/>
            </a:br>
            <a:r>
              <a:rPr lang="en-IE" b="1" dirty="0"/>
              <a:t>pair</a:t>
            </a:r>
            <a:r>
              <a:rPr lang="en-IE" dirty="0"/>
              <a:t> of objects (key=value).</a:t>
            </a:r>
            <a:br>
              <a:rPr lang="en-IE" dirty="0"/>
            </a:br>
            <a:endParaRPr lang="en-IE" dirty="0"/>
          </a:p>
          <a:p>
            <a:pPr marL="457200" indent="-457200">
              <a:buFont typeface="+mj-lt"/>
              <a:buAutoNum type="arabicPeriod"/>
            </a:pPr>
            <a:r>
              <a:rPr lang="en-IE" dirty="0"/>
              <a:t>you use the </a:t>
            </a:r>
            <a:r>
              <a:rPr lang="en-IE" b="1" dirty="0"/>
              <a:t>key object </a:t>
            </a:r>
            <a:br>
              <a:rPr lang="en-IE" b="1" dirty="0"/>
            </a:br>
            <a:r>
              <a:rPr lang="en-IE" dirty="0"/>
              <a:t>to </a:t>
            </a:r>
            <a:r>
              <a:rPr lang="en-IE" b="1" dirty="0"/>
              <a:t>lookup</a:t>
            </a:r>
            <a:r>
              <a:rPr lang="en-IE" dirty="0"/>
              <a:t> the value object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088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More on </a:t>
            </a:r>
            <a:r>
              <a:rPr lang="en-IE" b="1" dirty="0"/>
              <a:t>Map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610600" cy="5029200"/>
          </a:xfrm>
        </p:spPr>
        <p:txBody>
          <a:bodyPr>
            <a:normAutofit fontScale="92500" lnSpcReduction="10000"/>
          </a:bodyPr>
          <a:lstStyle/>
          <a:p>
            <a:r>
              <a:rPr lang="en-IE" sz="2800" dirty="0"/>
              <a:t>Maps are </a:t>
            </a:r>
            <a:r>
              <a:rPr lang="en-IE" sz="2800" b="1" dirty="0"/>
              <a:t>ideal for one-way lookup using the key</a:t>
            </a:r>
            <a:r>
              <a:rPr lang="en-IE" sz="2800" dirty="0"/>
              <a:t>. </a:t>
            </a:r>
            <a:br>
              <a:rPr lang="en-IE" sz="2800" dirty="0"/>
            </a:br>
            <a:endParaRPr lang="en-IE" sz="2800" dirty="0"/>
          </a:p>
          <a:p>
            <a:r>
              <a:rPr lang="en-IE" sz="2800" dirty="0"/>
              <a:t>Using Maps to Look up a value associated with a key is easy!</a:t>
            </a:r>
          </a:p>
          <a:p>
            <a:pPr lvl="1"/>
            <a:r>
              <a:rPr lang="en-IE" sz="2400" dirty="0"/>
              <a:t>However, </a:t>
            </a:r>
            <a:r>
              <a:rPr lang="en-IE" sz="2400" b="1" dirty="0"/>
              <a:t>reverse lookup </a:t>
            </a:r>
            <a:r>
              <a:rPr lang="en-IE" sz="2400" dirty="0"/>
              <a:t>(finding a key for a value) </a:t>
            </a:r>
            <a:br>
              <a:rPr lang="en-IE" sz="2400" dirty="0"/>
            </a:br>
            <a:r>
              <a:rPr lang="en-IE" sz="2400" dirty="0"/>
              <a:t>is not so easy. </a:t>
            </a:r>
          </a:p>
          <a:p>
            <a:pPr lvl="2"/>
            <a:r>
              <a:rPr lang="en-IE" sz="2000" dirty="0"/>
              <a:t>E.g. looking up a number in the phonebook, to find the persons name</a:t>
            </a:r>
            <a:br>
              <a:rPr lang="en-IE" sz="2000" dirty="0"/>
            </a:br>
            <a:endParaRPr lang="en-IE" sz="2800" dirty="0"/>
          </a:p>
          <a:p>
            <a:r>
              <a:rPr lang="en-IE" sz="2800" dirty="0"/>
              <a:t>A map cannot contain duplicate keys; </a:t>
            </a:r>
          </a:p>
          <a:p>
            <a:pPr lvl="1"/>
            <a:r>
              <a:rPr lang="en-IE" sz="2400" b="1" dirty="0"/>
              <a:t>A key </a:t>
            </a:r>
            <a:r>
              <a:rPr lang="en-IE" sz="2400" dirty="0"/>
              <a:t>can map to </a:t>
            </a:r>
            <a:r>
              <a:rPr lang="en-IE" sz="2400" b="1" dirty="0"/>
              <a:t>at most one value</a:t>
            </a:r>
            <a:r>
              <a:rPr lang="en-IE" sz="2400" dirty="0"/>
              <a:t>.</a:t>
            </a:r>
            <a:br>
              <a:rPr lang="en-IE" sz="2400" dirty="0"/>
            </a:br>
            <a:endParaRPr lang="en-IE" sz="2400" dirty="0"/>
          </a:p>
          <a:p>
            <a:r>
              <a:rPr lang="en-IE" sz="2800" dirty="0"/>
              <a:t>Java provides 4 Map classes: </a:t>
            </a:r>
          </a:p>
          <a:p>
            <a:pPr lvl="1"/>
            <a:r>
              <a:rPr lang="en-IE" sz="2400" dirty="0" err="1"/>
              <a:t>HashMap</a:t>
            </a:r>
            <a:r>
              <a:rPr lang="en-IE" sz="2400" dirty="0"/>
              <a:t>, </a:t>
            </a:r>
            <a:r>
              <a:rPr lang="en-IE" sz="2400" dirty="0" err="1"/>
              <a:t>HashTable</a:t>
            </a:r>
            <a:r>
              <a:rPr lang="en-IE" sz="2400" dirty="0"/>
              <a:t>, </a:t>
            </a:r>
            <a:r>
              <a:rPr lang="en-IE" sz="2400" dirty="0" err="1"/>
              <a:t>TreeMap</a:t>
            </a:r>
            <a:r>
              <a:rPr lang="en-IE" sz="2400" dirty="0"/>
              <a:t> &amp; Linked </a:t>
            </a:r>
            <a:r>
              <a:rPr lang="en-IE" sz="2400" dirty="0" err="1"/>
              <a:t>HashMap</a:t>
            </a:r>
            <a:endParaRPr lang="en-IE" sz="2400" dirty="0"/>
          </a:p>
          <a:p>
            <a:pPr lvl="1"/>
            <a:r>
              <a:rPr lang="en-IE" sz="2400" dirty="0"/>
              <a:t>We will use the </a:t>
            </a:r>
            <a:r>
              <a:rPr lang="en-IE" sz="2400" b="1" u="sng" dirty="0" err="1">
                <a:solidFill>
                  <a:srgbClr val="FF0000"/>
                </a:solidFill>
              </a:rPr>
              <a:t>HashMap</a:t>
            </a:r>
            <a:r>
              <a:rPr lang="en-IE" sz="2400" b="1" u="sng" dirty="0">
                <a:solidFill>
                  <a:srgbClr val="FF0000"/>
                </a:solidFill>
              </a:rPr>
              <a:t> </a:t>
            </a:r>
            <a:r>
              <a:rPr lang="en-IE" sz="2400" dirty="0"/>
              <a:t>class.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335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 err="1"/>
              <a:t>HashMap</a:t>
            </a:r>
            <a:r>
              <a:rPr lang="en-IE" dirty="0"/>
              <a:t> </a:t>
            </a:r>
            <a:r>
              <a:rPr lang="en-IE" b="1" dirty="0"/>
              <a:t>Methods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79"/>
          <a:stretch/>
        </p:blipFill>
        <p:spPr bwMode="auto">
          <a:xfrm>
            <a:off x="2309674" y="1524001"/>
            <a:ext cx="7672526" cy="4952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81000"/>
            <a:ext cx="3238500" cy="819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362200" y="4800600"/>
            <a:ext cx="57150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2362200" y="3810000"/>
            <a:ext cx="7596326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4782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Using </a:t>
            </a:r>
            <a:r>
              <a:rPr lang="en-GB" b="1" dirty="0" err="1"/>
              <a:t>HashMap</a:t>
            </a:r>
            <a:endParaRPr lang="en-GB" b="1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CD40EBB-D12E-4502-BA03-B9EE4C9890B0}"/>
              </a:ext>
            </a:extLst>
          </p:cNvPr>
          <p:cNvSpPr txBox="1">
            <a:spLocks noChangeArrowheads="1"/>
          </p:cNvSpPr>
          <p:nvPr/>
        </p:nvSpPr>
        <p:spPr>
          <a:xfrm>
            <a:off x="1790700" y="1383151"/>
            <a:ext cx="8610601" cy="246610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HashMap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&lt;String, String&gt; </a:t>
            </a:r>
            <a:r>
              <a:rPr lang="en-GB" sz="1600" u="sng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phoneBook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= new </a:t>
            </a: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HashMap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&lt;String, String&gt;();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sz="1600" dirty="0">
              <a:solidFill>
                <a:schemeClr val="tx1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phoneBook</a:t>
            </a:r>
            <a:r>
              <a:rPr lang="en-GB" sz="1600" b="1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.put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("Charles Nguyen", "(531) 9392 4587");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phoneBook.put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("Lisa Jones", "(402) 4536 4674");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phoneBook.put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("William H. Smith", "(998) 5488 0123");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sz="1600" dirty="0">
              <a:solidFill>
                <a:schemeClr val="tx1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String </a:t>
            </a: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phoneNumber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phoneBook</a:t>
            </a:r>
            <a:r>
              <a:rPr lang="en-GB" sz="1600" b="1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.get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("Lisa Jones");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System.out.println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phoneNumber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);</a:t>
            </a:r>
            <a:endParaRPr lang="en-AU" sz="1600" dirty="0">
              <a:solidFill>
                <a:schemeClr val="tx1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562600" y="4343400"/>
            <a:ext cx="4953000" cy="2438400"/>
            <a:chOff x="4038600" y="4343400"/>
            <a:chExt cx="4953000" cy="2438400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410FEF03-4C6F-4513-851B-53F86672B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4343400"/>
              <a:ext cx="4724400" cy="2438400"/>
            </a:xfrm>
            <a:prstGeom prst="roundRect">
              <a:avLst>
                <a:gd name="adj" fmla="val 16667"/>
              </a:avLst>
            </a:prstGeom>
            <a:solidFill>
              <a:srgbClr val="CD262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E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577DA-8AF4-43CB-A350-C984BC036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476" y="4954540"/>
              <a:ext cx="1957773" cy="303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>
                  <a:latin typeface="Trebuchet MS" pitchFamily="28" charset="0"/>
                </a:rPr>
                <a:t>"Charles Nguyen"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84DE767E-5E09-41C1-9BDF-B96932841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600" y="4355330"/>
              <a:ext cx="4953000" cy="3975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 algn="ctr"/>
              <a:r>
                <a:rPr lang="en-AU" sz="2000" u="sng">
                  <a:solidFill>
                    <a:schemeClr val="bg1"/>
                  </a:solidFill>
                  <a:latin typeface="Trebuchet MS" pitchFamily="28" charset="0"/>
                </a:rPr>
                <a:t>:HashMap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58CF16-1ED6-4526-90DC-6B6F173F7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2326" y="4954540"/>
              <a:ext cx="1957773" cy="303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>
                  <a:latin typeface="Trebuchet MS" pitchFamily="28" charset="0"/>
                </a:rPr>
                <a:t>"(531) 9392 4587"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49481F6-7C19-44C6-B8B6-1AB4178D1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476" y="5411740"/>
              <a:ext cx="1957773" cy="303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>
                  <a:latin typeface="Trebuchet MS" pitchFamily="28" charset="0"/>
                </a:rPr>
                <a:t>"Lisa Jones"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17BB17-EB0E-4E01-8A60-8E64299D5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2326" y="5411740"/>
              <a:ext cx="1957773" cy="303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 dirty="0">
                  <a:latin typeface="Trebuchet MS" pitchFamily="28" charset="0"/>
                </a:rPr>
                <a:t>"(402) 4536 4674"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222D43-74CF-4A04-BA4A-4547B9813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476" y="5861001"/>
              <a:ext cx="1957773" cy="30326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>
                  <a:latin typeface="Trebuchet MS" pitchFamily="28" charset="0"/>
                </a:rPr>
                <a:t>"William H. Smith"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4C4E59-8BCA-461C-8824-FCC87A2D3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2326" y="5861001"/>
              <a:ext cx="1957773" cy="30326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>
                  <a:latin typeface="Trebuchet MS" pitchFamily="28" charset="0"/>
                </a:rPr>
                <a:t>"(998) 5488 0123"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1817122" y="4122284"/>
            <a:ext cx="2252540" cy="923330"/>
          </a:xfrm>
          <a:prstGeom prst="rect">
            <a:avLst/>
          </a:prstGeom>
          <a:ln w="34925">
            <a:solidFill>
              <a:schemeClr val="accent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AU" dirty="0">
                <a:latin typeface="Courier" charset="0"/>
                <a:ea typeface="Courier" charset="0"/>
                <a:cs typeface="Courier" charset="0"/>
              </a:rPr>
              <a:t>Console Output:</a:t>
            </a:r>
          </a:p>
          <a:p>
            <a:endParaRPr lang="en-AU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AU" dirty="0">
                <a:latin typeface="Courier" charset="0"/>
                <a:ea typeface="Courier" charset="0"/>
                <a:cs typeface="Courier" charset="0"/>
              </a:rPr>
              <a:t>(402) 4536 4674</a:t>
            </a:r>
            <a:endParaRPr lang="en-GB" dirty="0">
              <a:latin typeface="Courier" charset="0"/>
              <a:ea typeface="Courier" charset="0"/>
              <a:cs typeface="Courier" charset="0"/>
            </a:endParaRPr>
          </a:p>
        </p:txBody>
      </p:sp>
      <p:pic>
        <p:nvPicPr>
          <p:cNvPr id="14" name="Picture 6" descr="Image result for telephone book">
            <a:extLst>
              <a:ext uri="{FF2B5EF4-FFF2-40B4-BE49-F238E27FC236}">
                <a16:creationId xmlns:a16="http://schemas.microsoft.com/office/drawing/2014/main" id="{4BF2DCAD-339D-4342-AE05-31EDCE179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996" y="5318643"/>
            <a:ext cx="2266117" cy="135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053849" y="3062538"/>
            <a:ext cx="1082777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b="1" dirty="0">
                <a:solidFill>
                  <a:srgbClr val="0070C0"/>
                </a:solidFill>
              </a:rPr>
              <a:t>Lookup</a:t>
            </a:r>
          </a:p>
        </p:txBody>
      </p:sp>
      <p:sp>
        <p:nvSpPr>
          <p:cNvPr id="3" name="Right Bracket 2"/>
          <p:cNvSpPr/>
          <p:nvPr/>
        </p:nvSpPr>
        <p:spPr>
          <a:xfrm>
            <a:off x="7848600" y="2971800"/>
            <a:ext cx="137726" cy="609600"/>
          </a:xfrm>
          <a:prstGeom prst="rightBracket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ight Bracket 16"/>
          <p:cNvSpPr/>
          <p:nvPr/>
        </p:nvSpPr>
        <p:spPr>
          <a:xfrm flipH="1">
            <a:off x="1732321" y="3028312"/>
            <a:ext cx="111841" cy="609600"/>
          </a:xfrm>
          <a:prstGeom prst="rightBracket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552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3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b="1" dirty="0" err="1"/>
              <a:t>HashMap</a:t>
            </a:r>
            <a:r>
              <a:rPr lang="en-IE" sz="3200" dirty="0"/>
              <a:t> in Tech Support System </a:t>
            </a:r>
            <a:r>
              <a:rPr lang="en-IE" sz="3200" b="1" dirty="0"/>
              <a:t>V3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00201"/>
            <a:ext cx="8686800" cy="137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400" dirty="0"/>
              <a:t>In the </a:t>
            </a:r>
            <a:r>
              <a:rPr lang="en-IE" sz="2400" b="1" dirty="0"/>
              <a:t>Responder</a:t>
            </a:r>
            <a:r>
              <a:rPr lang="en-IE" sz="2400" dirty="0"/>
              <a:t> class, </a:t>
            </a:r>
            <a:br>
              <a:rPr lang="en-IE" sz="2400" dirty="0"/>
            </a:br>
            <a:r>
              <a:rPr lang="en-IE" sz="2400" dirty="0"/>
              <a:t>	we will now use </a:t>
            </a:r>
            <a:r>
              <a:rPr lang="en-IE" sz="2400" b="1" dirty="0" err="1"/>
              <a:t>HashMap</a:t>
            </a:r>
            <a:r>
              <a:rPr lang="en-IE" sz="2400" dirty="0"/>
              <a:t> to store </a:t>
            </a:r>
            <a:r>
              <a:rPr lang="en-IE" sz="2400" b="1" dirty="0"/>
              <a:t>“Key-Value” pairs </a:t>
            </a:r>
            <a:br>
              <a:rPr lang="en-IE" sz="2400" dirty="0"/>
            </a:br>
            <a:r>
              <a:rPr lang="en-IE" sz="2400" dirty="0"/>
              <a:t>	for context-sensitive responses e.g.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340312"/>
              </p:ext>
            </p:extLst>
          </p:nvPr>
        </p:nvGraphicFramePr>
        <p:xfrm>
          <a:off x="2019300" y="2937388"/>
          <a:ext cx="8153400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1600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600" dirty="0">
                          <a:solidFill>
                            <a:srgbClr val="C00000"/>
                          </a:solidFill>
                        </a:rPr>
                        <a:t>windows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This is a known bug to do with the Windows operating system. Please report it to Microsoft. There is nothing we can do about this.</a:t>
                      </a:r>
                      <a:br>
                        <a:rPr lang="en-IE" sz="1600" dirty="0"/>
                      </a:br>
                      <a:endParaRPr lang="en-I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600" dirty="0">
                          <a:solidFill>
                            <a:srgbClr val="C00000"/>
                          </a:solidFill>
                        </a:rPr>
                        <a:t>slow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I think this has to do with your hardware. Upgrading your processor should solve all performance problems. Have you got a problem with</a:t>
                      </a:r>
                      <a:r>
                        <a:rPr lang="en-IE" sz="1600" baseline="0" dirty="0"/>
                        <a:t> </a:t>
                      </a:r>
                      <a:r>
                        <a:rPr lang="en-IE" sz="1600" dirty="0"/>
                        <a:t>our software?</a:t>
                      </a:r>
                      <a:br>
                        <a:rPr lang="en-IE" sz="1600" dirty="0"/>
                      </a:br>
                      <a:endParaRPr lang="en-I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600" dirty="0">
                          <a:solidFill>
                            <a:srgbClr val="C00000"/>
                          </a:solidFill>
                        </a:rPr>
                        <a:t>bug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Well, you know, all software has some bugs. But our software engineers</a:t>
                      </a:r>
                      <a:r>
                        <a:rPr lang="en-IE" sz="1600" baseline="0" dirty="0"/>
                        <a:t> </a:t>
                      </a:r>
                      <a:r>
                        <a:rPr lang="en-IE" sz="1600" dirty="0"/>
                        <a:t>are working very hard to fix them. Can you describe the problem a bit</a:t>
                      </a:r>
                      <a:r>
                        <a:rPr lang="en-IE" sz="1600" baseline="0" dirty="0"/>
                        <a:t> </a:t>
                      </a:r>
                      <a:r>
                        <a:rPr lang="en-IE" sz="1600" dirty="0"/>
                        <a:t>further?</a:t>
                      </a:r>
                      <a:br>
                        <a:rPr lang="en-IE" sz="1600" dirty="0"/>
                      </a:br>
                      <a:endParaRPr lang="en-I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600" dirty="0">
                          <a:solidFill>
                            <a:srgbClr val="C00000"/>
                          </a:solidFill>
                        </a:rPr>
                        <a:t>performance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Performance was quite adequate in all our tests. Are you running</a:t>
                      </a:r>
                      <a:r>
                        <a:rPr lang="en-IE" sz="1600" baseline="0" dirty="0"/>
                        <a:t> </a:t>
                      </a:r>
                      <a:r>
                        <a:rPr lang="en-IE" sz="1600" dirty="0"/>
                        <a:t>any other processes in the background?</a:t>
                      </a:r>
                      <a:br>
                        <a:rPr lang="en-IE" sz="1600" dirty="0"/>
                      </a:br>
                      <a:endParaRPr lang="en-I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8382000" y="472729"/>
            <a:ext cx="1981200" cy="746819"/>
            <a:chOff x="6705600" y="363238"/>
            <a:chExt cx="2216860" cy="83565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387722" y="367527"/>
              <a:ext cx="838200" cy="82707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84260" y="371816"/>
              <a:ext cx="838200" cy="827074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705600" y="363238"/>
              <a:ext cx="838200" cy="82707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219710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 err="1"/>
              <a:t>HashMap</a:t>
            </a:r>
            <a:r>
              <a:rPr lang="en-IE" dirty="0"/>
              <a:t> in Tech Support System V3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1981200" y="3810001"/>
            <a:ext cx="8229600" cy="2316163"/>
          </a:xfrm>
        </p:spPr>
        <p:txBody>
          <a:bodyPr/>
          <a:lstStyle/>
          <a:p>
            <a:r>
              <a:rPr lang="en-IE" sz="2400" dirty="0"/>
              <a:t>Whenever someone enters the word “crashes”, we can look up and print the attached response.</a:t>
            </a:r>
          </a:p>
          <a:p>
            <a:endParaRPr lang="en-IE" sz="2400" dirty="0"/>
          </a:p>
          <a:p>
            <a:r>
              <a:rPr lang="en-IE" sz="2400" dirty="0"/>
              <a:t>Lets look at the </a:t>
            </a:r>
            <a:r>
              <a:rPr lang="en-IE" sz="2400" dirty="0" err="1"/>
              <a:t>HashMap</a:t>
            </a:r>
            <a:r>
              <a:rPr lang="en-IE" sz="2400" dirty="0"/>
              <a:t> code in the Responder class!</a:t>
            </a:r>
            <a:endParaRPr lang="en-IE" sz="2000" dirty="0"/>
          </a:p>
          <a:p>
            <a:pPr marL="0" indent="0">
              <a:buNone/>
            </a:pPr>
            <a:endParaRPr lang="en-IE" sz="2400" dirty="0"/>
          </a:p>
        </p:txBody>
      </p:sp>
      <p:sp>
        <p:nvSpPr>
          <p:cNvPr id="2" name="Rectangle 1"/>
          <p:cNvSpPr/>
          <p:nvPr/>
        </p:nvSpPr>
        <p:spPr>
          <a:xfrm>
            <a:off x="2286000" y="1981201"/>
            <a:ext cx="78486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 err="1"/>
              <a:t>responseMap.put</a:t>
            </a:r>
            <a:r>
              <a:rPr lang="en-IE" sz="2400" dirty="0"/>
              <a:t>("crashes",  "Well, it never crashes on our system. It must have something\n" + "to do with your system. Tell me more about your configuration.");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1841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1" y="304801"/>
            <a:ext cx="8507235" cy="563231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rgbClr val="FF0000"/>
                </a:solidFill>
              </a:rPr>
              <a:t>import </a:t>
            </a:r>
            <a:r>
              <a:rPr lang="en-IE" dirty="0" err="1">
                <a:solidFill>
                  <a:srgbClr val="FF0000"/>
                </a:solidFill>
              </a:rPr>
              <a:t>java.util.HashMap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/>
              <a:t>import </a:t>
            </a:r>
            <a:r>
              <a:rPr lang="en-IE" dirty="0" err="1"/>
              <a:t>java.util.ArrayList</a:t>
            </a:r>
            <a:r>
              <a:rPr lang="en-IE" dirty="0"/>
              <a:t>;</a:t>
            </a:r>
          </a:p>
          <a:p>
            <a:r>
              <a:rPr lang="en-IE" dirty="0"/>
              <a:t>import </a:t>
            </a:r>
            <a:r>
              <a:rPr lang="en-IE" dirty="0" err="1"/>
              <a:t>java.util.Random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public class Responder</a:t>
            </a:r>
          </a:p>
          <a:p>
            <a:r>
              <a:rPr lang="en-IE" dirty="0"/>
              <a:t>{</a:t>
            </a:r>
          </a:p>
          <a:p>
            <a:r>
              <a:rPr lang="en-IE" dirty="0">
                <a:solidFill>
                  <a:srgbClr val="FF0000"/>
                </a:solidFill>
              </a:rPr>
              <a:t>   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// Used to map key words to responses.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IE" dirty="0">
                <a:solidFill>
                  <a:srgbClr val="FF0000"/>
                </a:solidFill>
              </a:rPr>
              <a:t> private </a:t>
            </a:r>
            <a:r>
              <a:rPr lang="en-IE" dirty="0" err="1">
                <a:solidFill>
                  <a:srgbClr val="FF0000"/>
                </a:solidFill>
              </a:rPr>
              <a:t>HashMap</a:t>
            </a:r>
            <a:r>
              <a:rPr lang="en-IE" dirty="0">
                <a:solidFill>
                  <a:srgbClr val="FF0000"/>
                </a:solidFill>
              </a:rPr>
              <a:t>&lt;String, String&gt; </a:t>
            </a:r>
            <a:r>
              <a:rPr lang="en-IE" dirty="0" err="1">
                <a:solidFill>
                  <a:srgbClr val="FF0000"/>
                </a:solidFill>
              </a:rPr>
              <a:t>responseMap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// Default responses to use if we don't </a:t>
            </a:r>
            <a:r>
              <a:rPr lang="en-IE" u="sng" dirty="0">
                <a:solidFill>
                  <a:schemeClr val="bg1">
                    <a:lumMod val="50000"/>
                  </a:schemeClr>
                </a:solidFill>
              </a:rPr>
              <a:t>recognise a word.</a:t>
            </a:r>
          </a:p>
          <a:p>
            <a:r>
              <a:rPr lang="en-IE" dirty="0">
                <a:solidFill>
                  <a:srgbClr val="FF0000"/>
                </a:solidFill>
              </a:rPr>
              <a:t>    </a:t>
            </a:r>
            <a:r>
              <a:rPr lang="en-IE" dirty="0"/>
              <a:t>private </a:t>
            </a:r>
            <a:r>
              <a:rPr lang="en-IE" dirty="0" err="1"/>
              <a:t>ArrayList</a:t>
            </a:r>
            <a:r>
              <a:rPr lang="en-IE" dirty="0"/>
              <a:t>&lt;String&gt; </a:t>
            </a:r>
            <a:r>
              <a:rPr lang="en-IE" dirty="0" err="1"/>
              <a:t>defaultResponses</a:t>
            </a:r>
            <a:r>
              <a:rPr lang="en-IE" dirty="0"/>
              <a:t>;</a:t>
            </a:r>
          </a:p>
          <a:p>
            <a:r>
              <a:rPr lang="en-IE" dirty="0"/>
              <a:t>    private Random </a:t>
            </a:r>
            <a:r>
              <a:rPr lang="en-IE" dirty="0" err="1"/>
              <a:t>randomGenerator</a:t>
            </a:r>
            <a:r>
              <a:rPr lang="en-IE" dirty="0"/>
              <a:t>;</a:t>
            </a:r>
          </a:p>
          <a:p>
            <a:r>
              <a:rPr lang="en-IE" dirty="0"/>
              <a:t>   </a:t>
            </a:r>
          </a:p>
          <a:p>
            <a:r>
              <a:rPr lang="en-IE" dirty="0"/>
              <a:t>   public Responder()</a:t>
            </a:r>
          </a:p>
          <a:p>
            <a:r>
              <a:rPr lang="en-IE" dirty="0"/>
              <a:t>    {</a:t>
            </a:r>
          </a:p>
          <a:p>
            <a:r>
              <a:rPr lang="en-IE" dirty="0">
                <a:solidFill>
                  <a:srgbClr val="FF0000"/>
                </a:solidFill>
              </a:rPr>
              <a:t>        </a:t>
            </a:r>
            <a:r>
              <a:rPr lang="en-IE" dirty="0" err="1">
                <a:solidFill>
                  <a:srgbClr val="FF0000"/>
                </a:solidFill>
              </a:rPr>
              <a:t>responseMap</a:t>
            </a:r>
            <a:r>
              <a:rPr lang="en-IE" dirty="0">
                <a:solidFill>
                  <a:srgbClr val="FF0000"/>
                </a:solidFill>
              </a:rPr>
              <a:t> = new </a:t>
            </a:r>
            <a:r>
              <a:rPr lang="en-IE" dirty="0" err="1">
                <a:solidFill>
                  <a:srgbClr val="FF0000"/>
                </a:solidFill>
              </a:rPr>
              <a:t>HashMap</a:t>
            </a:r>
            <a:r>
              <a:rPr lang="en-IE" dirty="0">
                <a:solidFill>
                  <a:srgbClr val="FF0000"/>
                </a:solidFill>
              </a:rPr>
              <a:t>&lt;String, String&gt;();</a:t>
            </a:r>
          </a:p>
          <a:p>
            <a:r>
              <a:rPr lang="en-IE" dirty="0">
                <a:solidFill>
                  <a:srgbClr val="FF0000"/>
                </a:solidFill>
              </a:rPr>
              <a:t>        </a:t>
            </a:r>
            <a:r>
              <a:rPr lang="en-IE" dirty="0" err="1">
                <a:solidFill>
                  <a:srgbClr val="FF0000"/>
                </a:solidFill>
              </a:rPr>
              <a:t>fillResponseMap</a:t>
            </a:r>
            <a:r>
              <a:rPr lang="en-IE" dirty="0">
                <a:solidFill>
                  <a:srgbClr val="FF0000"/>
                </a:solidFill>
              </a:rPr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defaultResponses</a:t>
            </a:r>
            <a:r>
              <a:rPr lang="en-IE" dirty="0"/>
              <a:t> = new </a:t>
            </a:r>
            <a:r>
              <a:rPr lang="en-IE" dirty="0" err="1"/>
              <a:t>ArrayList</a:t>
            </a:r>
            <a:r>
              <a:rPr lang="en-IE" dirty="0"/>
              <a:t>&lt;String&gt;();</a:t>
            </a:r>
          </a:p>
          <a:p>
            <a:r>
              <a:rPr lang="en-IE" dirty="0"/>
              <a:t>        </a:t>
            </a:r>
            <a:r>
              <a:rPr lang="en-IE" dirty="0" err="1"/>
              <a:t>fillDefaultResponses</a:t>
            </a:r>
            <a:r>
              <a:rPr lang="en-IE" dirty="0"/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randomGenerator</a:t>
            </a:r>
            <a:r>
              <a:rPr lang="en-IE" dirty="0"/>
              <a:t> = new Random();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15175" y="1524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7543800" y="2057401"/>
            <a:ext cx="3048000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V3.0 Responder changes (in red)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538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90456" y="990601"/>
            <a:ext cx="8915400" cy="560153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b="1" dirty="0"/>
              <a:t>    </a:t>
            </a:r>
            <a:r>
              <a:rPr lang="en-IE" sz="1700" dirty="0"/>
              <a:t>private void </a:t>
            </a:r>
            <a:r>
              <a:rPr lang="en-IE" sz="1700" dirty="0" err="1"/>
              <a:t>fillDefaultResponses</a:t>
            </a:r>
            <a:r>
              <a:rPr lang="en-IE" sz="1700" dirty="0"/>
              <a:t>() {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("That sounds odd. Could you describe that problem in more detail?");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("No other customer has ever complained about this before. \n" +</a:t>
            </a:r>
          </a:p>
          <a:p>
            <a:r>
              <a:rPr lang="en-IE" sz="1700" dirty="0"/>
              <a:t>                                   "What is your system configuration?");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("That sounds interesting. Tell me more...");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("I need a bit more information on that.");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("Have you checked that you do not have a </a:t>
            </a:r>
            <a:r>
              <a:rPr lang="en-IE" sz="1700" dirty="0" err="1"/>
              <a:t>dll</a:t>
            </a:r>
            <a:r>
              <a:rPr lang="en-IE" sz="1700" dirty="0"/>
              <a:t> conflict?");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("That is explained in the manual. Have you read the manual?");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("Your description is a bit wishy-washy. Have you got an expert\n" +</a:t>
            </a:r>
          </a:p>
          <a:p>
            <a:r>
              <a:rPr lang="en-IE" sz="1700" dirty="0"/>
              <a:t>                                   "there with you who could describe this more precisely?");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("That's not a bug, it's a feature!");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("Could you elaborate on that?");</a:t>
            </a:r>
          </a:p>
          <a:p>
            <a:r>
              <a:rPr lang="en-IE" sz="1700" dirty="0"/>
              <a:t>    }</a:t>
            </a:r>
          </a:p>
          <a:p>
            <a:endParaRPr lang="en-IE" sz="1700" dirty="0"/>
          </a:p>
          <a:p>
            <a:r>
              <a:rPr lang="en-IE" sz="1700" dirty="0">
                <a:solidFill>
                  <a:srgbClr val="FF0000"/>
                </a:solidFill>
              </a:rPr>
              <a:t>   private String </a:t>
            </a:r>
            <a:r>
              <a:rPr lang="en-IE" sz="1700" dirty="0" err="1">
                <a:solidFill>
                  <a:srgbClr val="FF0000"/>
                </a:solidFill>
              </a:rPr>
              <a:t>pickDefaultResponse</a:t>
            </a:r>
            <a:r>
              <a:rPr lang="en-IE" sz="1700" dirty="0">
                <a:solidFill>
                  <a:srgbClr val="FF0000"/>
                </a:solidFill>
              </a:rPr>
              <a:t>()</a:t>
            </a:r>
          </a:p>
          <a:p>
            <a:r>
              <a:rPr lang="en-IE" sz="1700" dirty="0">
                <a:solidFill>
                  <a:srgbClr val="FF0000"/>
                </a:solidFill>
              </a:rPr>
              <a:t>    {</a:t>
            </a:r>
          </a:p>
          <a:p>
            <a:r>
              <a:rPr lang="en-IE" sz="1700" dirty="0"/>
              <a:t>  </a:t>
            </a:r>
            <a:r>
              <a:rPr lang="en-IE" sz="1700" dirty="0">
                <a:solidFill>
                  <a:schemeClr val="bg1">
                    <a:lumMod val="50000"/>
                  </a:schemeClr>
                </a:solidFill>
              </a:rPr>
              <a:t>      // Pick a random number for the index in the default response list.</a:t>
            </a:r>
          </a:p>
          <a:p>
            <a:r>
              <a:rPr lang="en-IE" sz="1700" dirty="0">
                <a:solidFill>
                  <a:schemeClr val="bg1">
                    <a:lumMod val="50000"/>
                  </a:schemeClr>
                </a:solidFill>
              </a:rPr>
              <a:t>        // The number will be between 0 (inclusive) and the size of the list (exclusive).</a:t>
            </a:r>
          </a:p>
          <a:p>
            <a:r>
              <a:rPr lang="en-IE" sz="1700" dirty="0">
                <a:solidFill>
                  <a:srgbClr val="FF0000"/>
                </a:solidFill>
              </a:rPr>
              <a:t>        </a:t>
            </a:r>
            <a:r>
              <a:rPr lang="en-IE" sz="1700" dirty="0" err="1">
                <a:solidFill>
                  <a:srgbClr val="FF0000"/>
                </a:solidFill>
              </a:rPr>
              <a:t>int</a:t>
            </a:r>
            <a:r>
              <a:rPr lang="en-IE" sz="1700" dirty="0">
                <a:solidFill>
                  <a:srgbClr val="FF0000"/>
                </a:solidFill>
              </a:rPr>
              <a:t> index = </a:t>
            </a:r>
            <a:r>
              <a:rPr lang="en-IE" sz="1700" dirty="0" err="1">
                <a:solidFill>
                  <a:srgbClr val="FF0000"/>
                </a:solidFill>
              </a:rPr>
              <a:t>randomGenerator.nextInt</a:t>
            </a:r>
            <a:r>
              <a:rPr lang="en-IE" sz="1700" dirty="0">
                <a:solidFill>
                  <a:srgbClr val="FF0000"/>
                </a:solidFill>
              </a:rPr>
              <a:t>(</a:t>
            </a:r>
            <a:r>
              <a:rPr lang="en-IE" sz="1700" dirty="0" err="1">
                <a:solidFill>
                  <a:srgbClr val="FF0000"/>
                </a:solidFill>
              </a:rPr>
              <a:t>defaultResponses.size</a:t>
            </a:r>
            <a:r>
              <a:rPr lang="en-IE" sz="1700" dirty="0">
                <a:solidFill>
                  <a:srgbClr val="FF0000"/>
                </a:solidFill>
              </a:rPr>
              <a:t>());</a:t>
            </a:r>
          </a:p>
          <a:p>
            <a:r>
              <a:rPr lang="en-IE" sz="1700" dirty="0">
                <a:solidFill>
                  <a:srgbClr val="FF0000"/>
                </a:solidFill>
              </a:rPr>
              <a:t>        return </a:t>
            </a:r>
            <a:r>
              <a:rPr lang="en-IE" sz="1700" dirty="0" err="1">
                <a:solidFill>
                  <a:srgbClr val="FF0000"/>
                </a:solidFill>
              </a:rPr>
              <a:t>defaultResponses.get</a:t>
            </a:r>
            <a:r>
              <a:rPr lang="en-IE" sz="1700" dirty="0">
                <a:solidFill>
                  <a:srgbClr val="FF0000"/>
                </a:solidFill>
              </a:rPr>
              <a:t>(index);</a:t>
            </a:r>
          </a:p>
          <a:p>
            <a:r>
              <a:rPr lang="en-IE" sz="1700" dirty="0">
                <a:solidFill>
                  <a:srgbClr val="FF0000"/>
                </a:solidFill>
              </a:rPr>
              <a:t>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676" y="349271"/>
            <a:ext cx="470812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V3.0 Responder changes (in red)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71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5000" y="412314"/>
            <a:ext cx="8444144" cy="62170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1400" b="1" dirty="0">
                <a:solidFill>
                  <a:srgbClr val="FF0000"/>
                </a:solidFill>
              </a:rPr>
              <a:t>   </a:t>
            </a:r>
            <a:r>
              <a:rPr lang="en-IE" sz="1400" dirty="0">
                <a:solidFill>
                  <a:srgbClr val="FF0000"/>
                </a:solidFill>
              </a:rPr>
              <a:t>private void </a:t>
            </a:r>
            <a:r>
              <a:rPr lang="en-IE" sz="1400" dirty="0" err="1">
                <a:solidFill>
                  <a:srgbClr val="FF0000"/>
                </a:solidFill>
              </a:rPr>
              <a:t>fillResponseMap</a:t>
            </a:r>
            <a:r>
              <a:rPr lang="en-IE" sz="1400" dirty="0">
                <a:solidFill>
                  <a:srgbClr val="FF0000"/>
                </a:solidFill>
              </a:rPr>
              <a:t>()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{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("crash",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"Well, it never crashes on our system. It must have something\n"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"to do with your system. Tell me more about your configuration.");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("crashes",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"Well, it never crashes on our system. It must have something\n"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"to do with your system. Tell me more about your configuration.");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("slow",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"I think this has to do with your hardware. Upgrading your processor\n"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"should solve all performance problems. Have you got a problem with\n"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"our software?");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("performance",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"Performance was quite adequate in all our tests. Are you running\n"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"any other processes in the background?");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("bug",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"Well, you know, all software has some bugs. But our software engineers\n"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"are working very hard to fix them. Can you describe the problem a bit\n"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"further?");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("buggy",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"Well, you know, all software has some bugs. But our software engineers\n"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"are working very hard to fix them. Can you describe the problem a bit\n"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"further?");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("windows",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"This is a known bug to do with the Windows operating system. Please\n"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"report it to Microsoft. There is nothing we can do about this.");</a:t>
            </a:r>
          </a:p>
          <a:p>
            <a:r>
              <a:rPr lang="en-IE" sz="1400" dirty="0">
                <a:solidFill>
                  <a:schemeClr val="bg1">
                    <a:lumMod val="50000"/>
                  </a:schemeClr>
                </a:solidFill>
              </a:rPr>
              <a:t>        //  and so on…</a:t>
            </a:r>
          </a:p>
          <a:p>
            <a:r>
              <a:rPr lang="en-IE" sz="1400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7400" y="228601"/>
            <a:ext cx="470812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V3.0 Responder changes (in red)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1931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4161" y="4634869"/>
            <a:ext cx="5181600" cy="72923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295400" y="4999485"/>
            <a:ext cx="15240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1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Tokenizing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534400" cy="4800599"/>
          </a:xfrm>
        </p:spPr>
        <p:txBody>
          <a:bodyPr>
            <a:normAutofit fontScale="77500" lnSpcReduction="20000"/>
          </a:bodyPr>
          <a:lstStyle/>
          <a:p>
            <a:r>
              <a:rPr lang="en-IE" dirty="0"/>
              <a:t>We have a </a:t>
            </a:r>
            <a:r>
              <a:rPr lang="en-IE" dirty="0" err="1"/>
              <a:t>HashMap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containing a series of words with appropriate responses.</a:t>
            </a:r>
          </a:p>
          <a:p>
            <a:endParaRPr lang="en-IE" dirty="0"/>
          </a:p>
          <a:p>
            <a:r>
              <a:rPr lang="en-IE" dirty="0"/>
              <a:t>Now we need to search the String of words </a:t>
            </a:r>
            <a:br>
              <a:rPr lang="en-IE" dirty="0"/>
            </a:br>
            <a:r>
              <a:rPr lang="en-IE" dirty="0"/>
              <a:t>the user entered on the console </a:t>
            </a:r>
          </a:p>
          <a:p>
            <a:pPr lvl="1"/>
            <a:r>
              <a:rPr lang="en-IE" dirty="0"/>
              <a:t>to see if they typed in any of the words stored in the </a:t>
            </a:r>
            <a:r>
              <a:rPr lang="en-IE" dirty="0" err="1"/>
              <a:t>HashMap</a:t>
            </a:r>
            <a:r>
              <a:rPr lang="en-IE" dirty="0"/>
              <a:t>.</a:t>
            </a:r>
          </a:p>
          <a:p>
            <a:endParaRPr lang="en-IE" dirty="0"/>
          </a:p>
          <a:p>
            <a:r>
              <a:rPr lang="en-IE" dirty="0"/>
              <a:t>We need to “split” the String of words entered by the user</a:t>
            </a:r>
          </a:p>
          <a:p>
            <a:pPr lvl="1"/>
            <a:r>
              <a:rPr lang="en-IE" dirty="0"/>
              <a:t>into individual words </a:t>
            </a:r>
          </a:p>
          <a:p>
            <a:pPr lvl="1"/>
            <a:r>
              <a:rPr lang="en-IE" dirty="0"/>
              <a:t>and store them in a collection (e.g. Array) </a:t>
            </a:r>
          </a:p>
          <a:p>
            <a:pPr lvl="2"/>
            <a:r>
              <a:rPr lang="en-IE" b="1" dirty="0">
                <a:sym typeface="Wingdings" panose="05000000000000000000" pitchFamily="2" charset="2"/>
              </a:rPr>
              <a:t>T</a:t>
            </a:r>
            <a:r>
              <a:rPr lang="en-IE" b="1" dirty="0"/>
              <a:t>okenizing Strings</a:t>
            </a:r>
            <a:r>
              <a:rPr lang="en-IE" dirty="0"/>
              <a:t>.</a:t>
            </a:r>
            <a:br>
              <a:rPr lang="en-IE" dirty="0"/>
            </a:br>
            <a:endParaRPr lang="en-IE" dirty="0"/>
          </a:p>
          <a:p>
            <a:r>
              <a:rPr lang="en-IE" dirty="0"/>
              <a:t>We need a new data structure to store these words just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7100" y="6108412"/>
            <a:ext cx="5257800" cy="5847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/>
              <a:t>A </a:t>
            </a:r>
            <a:r>
              <a:rPr lang="en-IE" sz="3200" b="1" dirty="0">
                <a:solidFill>
                  <a:srgbClr val="FF0000"/>
                </a:solidFill>
              </a:rPr>
              <a:t>Set </a:t>
            </a:r>
            <a:r>
              <a:rPr lang="en-IE" sz="3200" dirty="0"/>
              <a:t>stores </a:t>
            </a:r>
            <a:r>
              <a:rPr lang="en-IE" sz="3200" b="1" dirty="0" err="1"/>
              <a:t>uniques</a:t>
            </a:r>
            <a:r>
              <a:rPr lang="en-IE" sz="3200" dirty="0"/>
              <a:t> values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183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Set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A </a:t>
            </a:r>
            <a:r>
              <a:rPr lang="en-IE" b="1" dirty="0">
                <a:solidFill>
                  <a:srgbClr val="FF0000"/>
                </a:solidFill>
              </a:rPr>
              <a:t>Set</a:t>
            </a:r>
            <a:r>
              <a:rPr lang="en-IE" dirty="0"/>
              <a:t> is a collection </a:t>
            </a:r>
          </a:p>
          <a:p>
            <a:pPr lvl="1"/>
            <a:r>
              <a:rPr lang="en-IE" dirty="0"/>
              <a:t>that stores each individual element </a:t>
            </a:r>
            <a:br>
              <a:rPr lang="en-IE" dirty="0"/>
            </a:br>
            <a:r>
              <a:rPr lang="en-IE" u="sng" dirty="0"/>
              <a:t>at most once</a:t>
            </a:r>
            <a:r>
              <a:rPr lang="en-IE" dirty="0"/>
              <a:t> </a:t>
            </a:r>
          </a:p>
          <a:p>
            <a:pPr lvl="2"/>
            <a:r>
              <a:rPr lang="en-IE" dirty="0"/>
              <a:t>(i.e. unique elements).  </a:t>
            </a:r>
          </a:p>
          <a:p>
            <a:endParaRPr lang="en-IE" dirty="0"/>
          </a:p>
          <a:p>
            <a:r>
              <a:rPr lang="en-IE" dirty="0"/>
              <a:t>It does not maintain any specific order.</a:t>
            </a:r>
          </a:p>
          <a:p>
            <a:endParaRPr lang="en-IE" dirty="0"/>
          </a:p>
          <a:p>
            <a:r>
              <a:rPr lang="en-IE" dirty="0"/>
              <a:t>The coding for </a:t>
            </a:r>
            <a:r>
              <a:rPr lang="en-IE" b="1" dirty="0">
                <a:solidFill>
                  <a:srgbClr val="FF0000"/>
                </a:solidFill>
              </a:rPr>
              <a:t>Set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is very similar to </a:t>
            </a:r>
            <a:r>
              <a:rPr lang="en-IE" dirty="0" err="1">
                <a:solidFill>
                  <a:srgbClr val="FF0000"/>
                </a:solidFill>
              </a:rPr>
              <a:t>ArrayList</a:t>
            </a:r>
            <a:r>
              <a:rPr lang="en-IE" dirty="0"/>
              <a:t> coding.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387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sets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077200" cy="46863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98000" tIns="45720" rIns="198000" bIns="45720" rtlCol="0">
            <a:normAutofit/>
          </a:bodyPr>
          <a:lstStyle/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import </a:t>
            </a:r>
            <a:r>
              <a:rPr lang="en-GB" sz="1800" dirty="0" err="1">
                <a:latin typeface="Courier New" charset="0"/>
              </a:rPr>
              <a:t>java.util</a:t>
            </a:r>
            <a:r>
              <a:rPr lang="en-GB" sz="1800" b="1" dirty="0" err="1">
                <a:latin typeface="Courier New" charset="0"/>
              </a:rPr>
              <a:t>.HashSet</a:t>
            </a:r>
            <a:r>
              <a:rPr lang="en-GB" sz="1800" dirty="0">
                <a:latin typeface="Courier New" charset="0"/>
              </a:rPr>
              <a:t>;</a:t>
            </a: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import </a:t>
            </a:r>
            <a:r>
              <a:rPr lang="en-GB" sz="1800" dirty="0" err="1">
                <a:latin typeface="Courier New" charset="0"/>
              </a:rPr>
              <a:t>java.util</a:t>
            </a:r>
            <a:r>
              <a:rPr lang="en-GB" sz="1800" b="1" dirty="0" err="1">
                <a:latin typeface="Courier New" charset="0"/>
              </a:rPr>
              <a:t>.Iterator</a:t>
            </a:r>
            <a:r>
              <a:rPr lang="en-GB" sz="1800" dirty="0">
                <a:latin typeface="Courier New" charset="0"/>
              </a:rPr>
              <a:t>;</a:t>
            </a: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...</a:t>
            </a:r>
          </a:p>
          <a:p>
            <a:pPr>
              <a:buFontTx/>
              <a:buNone/>
            </a:pPr>
            <a:r>
              <a:rPr lang="en-GB" sz="1800" dirty="0" err="1">
                <a:latin typeface="Courier New" charset="0"/>
              </a:rPr>
              <a:t>HashSet</a:t>
            </a:r>
            <a:r>
              <a:rPr lang="en-GB" sz="1800" dirty="0">
                <a:latin typeface="Courier New" charset="0"/>
              </a:rPr>
              <a:t>&lt;String&gt; </a:t>
            </a:r>
            <a:r>
              <a:rPr lang="en-GB" sz="1800" dirty="0" err="1">
                <a:latin typeface="Courier New" charset="0"/>
              </a:rPr>
              <a:t>mySet</a:t>
            </a:r>
            <a:r>
              <a:rPr lang="en-GB" sz="1800" dirty="0">
                <a:latin typeface="Courier New" charset="0"/>
              </a:rPr>
              <a:t> = new </a:t>
            </a:r>
            <a:r>
              <a:rPr lang="en-GB" sz="1800" dirty="0" err="1">
                <a:latin typeface="Courier New" charset="0"/>
              </a:rPr>
              <a:t>HashSet</a:t>
            </a:r>
            <a:r>
              <a:rPr lang="en-GB" sz="1800" dirty="0">
                <a:latin typeface="Courier New" charset="0"/>
              </a:rPr>
              <a:t>&lt;String&gt;();</a:t>
            </a:r>
          </a:p>
          <a:p>
            <a:pPr>
              <a:buFontTx/>
              <a:buNone/>
            </a:pPr>
            <a:endParaRPr lang="en-GB" sz="1800" dirty="0">
              <a:latin typeface="Courier New" charset="0"/>
            </a:endParaRPr>
          </a:p>
          <a:p>
            <a:pPr>
              <a:buFontTx/>
              <a:buNone/>
            </a:pPr>
            <a:r>
              <a:rPr lang="en-GB" sz="1800" dirty="0" err="1">
                <a:latin typeface="Courier New" charset="0"/>
              </a:rPr>
              <a:t>mySet</a:t>
            </a:r>
            <a:r>
              <a:rPr lang="en-GB" sz="1800" b="1" dirty="0" err="1">
                <a:latin typeface="Courier New" charset="0"/>
              </a:rPr>
              <a:t>.add</a:t>
            </a:r>
            <a:r>
              <a:rPr lang="en-GB" sz="1800" dirty="0">
                <a:latin typeface="Courier New" charset="0"/>
              </a:rPr>
              <a:t>("one");</a:t>
            </a:r>
          </a:p>
          <a:p>
            <a:pPr>
              <a:buFontTx/>
              <a:buNone/>
            </a:pPr>
            <a:r>
              <a:rPr lang="en-GB" sz="1800" dirty="0" err="1">
                <a:latin typeface="Courier New" charset="0"/>
              </a:rPr>
              <a:t>mySet.add</a:t>
            </a:r>
            <a:r>
              <a:rPr lang="en-GB" sz="1800" dirty="0">
                <a:latin typeface="Courier New" charset="0"/>
              </a:rPr>
              <a:t>("two");</a:t>
            </a:r>
          </a:p>
          <a:p>
            <a:pPr>
              <a:buFontTx/>
              <a:buNone/>
            </a:pPr>
            <a:r>
              <a:rPr lang="en-GB" sz="1800" dirty="0" err="1">
                <a:latin typeface="Courier New" charset="0"/>
              </a:rPr>
              <a:t>mySet.add</a:t>
            </a:r>
            <a:r>
              <a:rPr lang="en-GB" sz="1800" dirty="0">
                <a:latin typeface="Courier New" charset="0"/>
              </a:rPr>
              <a:t>("three");</a:t>
            </a:r>
          </a:p>
          <a:p>
            <a:pPr>
              <a:buFontTx/>
              <a:buNone/>
            </a:pPr>
            <a:endParaRPr lang="en-GB" sz="1800" dirty="0">
              <a:latin typeface="Courier New" charset="0"/>
            </a:endParaRP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Iterator&lt;String&gt; it = </a:t>
            </a:r>
            <a:r>
              <a:rPr lang="en-GB" sz="1800" dirty="0" err="1">
                <a:latin typeface="Courier New" charset="0"/>
              </a:rPr>
              <a:t>mySet.iterator</a:t>
            </a:r>
            <a:r>
              <a:rPr lang="en-GB" sz="1800" dirty="0">
                <a:latin typeface="Courier New" charset="0"/>
              </a:rPr>
              <a:t>();</a:t>
            </a: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while(</a:t>
            </a:r>
            <a:r>
              <a:rPr lang="en-GB" sz="1800" dirty="0" err="1">
                <a:latin typeface="Courier New" charset="0"/>
              </a:rPr>
              <a:t>it</a:t>
            </a:r>
            <a:r>
              <a:rPr lang="en-GB" sz="1800" b="1" dirty="0" err="1">
                <a:latin typeface="Courier New" charset="0"/>
              </a:rPr>
              <a:t>.hasNext</a:t>
            </a:r>
            <a:r>
              <a:rPr lang="en-GB" sz="1800" b="1" dirty="0">
                <a:latin typeface="Courier New" charset="0"/>
              </a:rPr>
              <a:t>()</a:t>
            </a:r>
            <a:r>
              <a:rPr lang="en-GB" sz="1800" dirty="0">
                <a:latin typeface="Courier New" charset="0"/>
              </a:rPr>
              <a:t>) {</a:t>
            </a: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    </a:t>
            </a:r>
            <a:r>
              <a:rPr lang="en-GB" sz="1800" i="1" dirty="0">
                <a:latin typeface="Courier New" charset="0"/>
              </a:rPr>
              <a:t>call </a:t>
            </a:r>
            <a:r>
              <a:rPr lang="en-GB" sz="1800" dirty="0" err="1">
                <a:latin typeface="Courier New" charset="0"/>
              </a:rPr>
              <a:t>it</a:t>
            </a:r>
            <a:r>
              <a:rPr lang="en-GB" sz="1800" b="1" dirty="0" err="1">
                <a:latin typeface="Courier New" charset="0"/>
              </a:rPr>
              <a:t>.next</a:t>
            </a:r>
            <a:r>
              <a:rPr lang="en-GB" sz="1800" b="1" dirty="0">
                <a:latin typeface="Courier New" charset="0"/>
              </a:rPr>
              <a:t>()</a:t>
            </a:r>
            <a:r>
              <a:rPr lang="en-GB" sz="1800" b="1" i="1" dirty="0">
                <a:latin typeface="Courier New" charset="0"/>
              </a:rPr>
              <a:t> </a:t>
            </a:r>
            <a:r>
              <a:rPr lang="en-GB" sz="1800" i="1" dirty="0">
                <a:latin typeface="Courier New" charset="0"/>
              </a:rPr>
              <a:t>to get the next object</a:t>
            </a:r>
            <a:endParaRPr lang="en-GB" sz="1800" dirty="0">
              <a:latin typeface="Courier New" charset="0"/>
            </a:endParaRP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    </a:t>
            </a:r>
            <a:r>
              <a:rPr lang="en-GB" sz="1800" i="1" dirty="0">
                <a:latin typeface="Courier New" charset="0"/>
              </a:rPr>
              <a:t>do something with that object</a:t>
            </a:r>
            <a:endParaRPr lang="en-GB" sz="1800" dirty="0">
              <a:latin typeface="Courier New" charset="0"/>
            </a:endParaRP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}</a:t>
            </a:r>
          </a:p>
        </p:txBody>
      </p:sp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7848600" y="3222625"/>
            <a:ext cx="2133600" cy="1197764"/>
          </a:xfrm>
          <a:prstGeom prst="rect">
            <a:avLst/>
          </a:prstGeom>
          <a:solidFill>
            <a:srgbClr val="007643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pPr algn="ctr"/>
            <a:r>
              <a:rPr lang="en-AU" sz="2400">
                <a:solidFill>
                  <a:schemeClr val="bg1"/>
                </a:solidFill>
                <a:latin typeface="Trebuchet MS" charset="0"/>
              </a:rPr>
              <a:t>Compare this to ArrayList code!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29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200" dirty="0"/>
              <a:t>What is the </a:t>
            </a:r>
            <a:r>
              <a:rPr lang="en-IE" sz="3200" b="1" dirty="0"/>
              <a:t>Difference</a:t>
            </a:r>
            <a:r>
              <a:rPr lang="en-IE" sz="3200" dirty="0"/>
              <a:t> between </a:t>
            </a:r>
            <a:r>
              <a:rPr lang="en-IE" sz="3200" b="1" dirty="0"/>
              <a:t>Set</a:t>
            </a:r>
            <a:r>
              <a:rPr lang="en-IE" sz="3200" dirty="0"/>
              <a:t> and </a:t>
            </a:r>
            <a:r>
              <a:rPr lang="en-IE" sz="3200" b="1" dirty="0"/>
              <a:t>List</a:t>
            </a:r>
            <a:r>
              <a:rPr lang="en-IE" sz="3200" dirty="0"/>
              <a:t>?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itchFamily="28" charset="0"/>
              <a:buNone/>
            </a:pPr>
            <a:r>
              <a:rPr lang="en-IE" dirty="0"/>
              <a:t>List (e.g. </a:t>
            </a:r>
            <a:r>
              <a:rPr lang="en-IE" dirty="0" err="1"/>
              <a:t>ArrayList</a:t>
            </a:r>
            <a:r>
              <a:rPr lang="en-IE" dirty="0"/>
              <a:t>):</a:t>
            </a:r>
          </a:p>
          <a:p>
            <a:r>
              <a:rPr lang="en-IE" sz="2400" dirty="0"/>
              <a:t>keeps all elements entered in the desired </a:t>
            </a:r>
            <a:r>
              <a:rPr lang="en-IE" sz="2400" b="1" dirty="0"/>
              <a:t>order</a:t>
            </a:r>
            <a:r>
              <a:rPr lang="en-IE" sz="2400" dirty="0"/>
              <a:t>, </a:t>
            </a:r>
          </a:p>
          <a:p>
            <a:r>
              <a:rPr lang="en-IE" sz="2400" dirty="0"/>
              <a:t>provides access to elements by </a:t>
            </a:r>
            <a:r>
              <a:rPr lang="en-IE" sz="2400" b="1" dirty="0"/>
              <a:t>index</a:t>
            </a:r>
          </a:p>
          <a:p>
            <a:r>
              <a:rPr lang="en-IE" sz="2400" dirty="0"/>
              <a:t>can contain the </a:t>
            </a:r>
            <a:r>
              <a:rPr lang="en-IE" sz="2400" b="1" dirty="0"/>
              <a:t>same element multiple times</a:t>
            </a:r>
            <a:r>
              <a:rPr lang="en-IE" sz="2400" dirty="0"/>
              <a:t>.</a:t>
            </a:r>
          </a:p>
          <a:p>
            <a:pPr>
              <a:buFont typeface="Times" pitchFamily="28" charset="0"/>
              <a:buNone/>
            </a:pPr>
            <a:endParaRPr lang="en-IE" dirty="0"/>
          </a:p>
          <a:p>
            <a:pPr>
              <a:buFont typeface="Times" pitchFamily="28" charset="0"/>
              <a:buNone/>
            </a:pPr>
            <a:r>
              <a:rPr lang="en-IE" dirty="0"/>
              <a:t>Set (e.g. </a:t>
            </a:r>
            <a:r>
              <a:rPr lang="en-IE" dirty="0" err="1"/>
              <a:t>HashSet</a:t>
            </a:r>
            <a:r>
              <a:rPr lang="en-IE" dirty="0"/>
              <a:t>):</a:t>
            </a:r>
          </a:p>
          <a:p>
            <a:r>
              <a:rPr lang="en-IE" sz="2400" b="1" dirty="0"/>
              <a:t>No specific order</a:t>
            </a:r>
          </a:p>
          <a:p>
            <a:r>
              <a:rPr lang="en-IE" sz="2400" dirty="0"/>
              <a:t>ensures each element is in the set </a:t>
            </a:r>
            <a:r>
              <a:rPr lang="en-IE" sz="2400" b="1" dirty="0"/>
              <a:t>at most once </a:t>
            </a:r>
          </a:p>
          <a:p>
            <a:pPr lvl="1"/>
            <a:r>
              <a:rPr lang="en-IE" sz="2000" dirty="0"/>
              <a:t>(entering an element a second  time has no effect).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330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Returning to Tokenizing Strings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 err="1"/>
              <a:t>InputReader</a:t>
            </a:r>
            <a:r>
              <a:rPr lang="en-IE" dirty="0"/>
              <a:t> class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757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78633" y="304800"/>
            <a:ext cx="7772400" cy="646330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IE" b="1" dirty="0">
                <a:solidFill>
                  <a:schemeClr val="bg1">
                    <a:lumMod val="50000"/>
                  </a:schemeClr>
                </a:solidFill>
              </a:rPr>
              <a:t>V2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Code</a:t>
            </a:r>
          </a:p>
          <a:p>
            <a:r>
              <a:rPr lang="en-IE" dirty="0"/>
              <a:t>import </a:t>
            </a:r>
            <a:r>
              <a:rPr lang="en-IE" dirty="0" err="1"/>
              <a:t>java.util.Scanner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public class </a:t>
            </a:r>
            <a:r>
              <a:rPr lang="en-IE" b="1" dirty="0" err="1"/>
              <a:t>InputReader</a:t>
            </a:r>
            <a:r>
              <a:rPr lang="en-IE" dirty="0"/>
              <a:t>{</a:t>
            </a:r>
          </a:p>
          <a:p>
            <a:r>
              <a:rPr lang="en-IE" dirty="0"/>
              <a:t>   </a:t>
            </a:r>
          </a:p>
          <a:p>
            <a:r>
              <a:rPr lang="en-IE" dirty="0"/>
              <a:t>    Scanner input;</a:t>
            </a:r>
          </a:p>
          <a:p>
            <a:endParaRPr lang="en-IE" dirty="0"/>
          </a:p>
          <a:p>
            <a:r>
              <a:rPr lang="en-IE" dirty="0"/>
              <a:t>    public </a:t>
            </a:r>
            <a:r>
              <a:rPr lang="en-IE" dirty="0" err="1"/>
              <a:t>InputReader</a:t>
            </a:r>
            <a:r>
              <a:rPr lang="en-IE" dirty="0"/>
              <a:t>(){</a:t>
            </a:r>
          </a:p>
          <a:p>
            <a:r>
              <a:rPr lang="en-IE" dirty="0"/>
              <a:t>        input = new Scanner(System.</a:t>
            </a:r>
            <a:r>
              <a:rPr lang="en-IE" i="1" dirty="0"/>
              <a:t>in); 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* Read a line of text from standard input (the text terminal),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* and return it as a String.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*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* @return  A String typed by the user.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dirty="0">
                <a:solidFill>
                  <a:srgbClr val="FF0000"/>
                </a:solidFill>
              </a:rPr>
              <a:t>    public String </a:t>
            </a:r>
            <a:r>
              <a:rPr lang="en-IE" dirty="0" err="1">
                <a:solidFill>
                  <a:srgbClr val="FF0000"/>
                </a:solidFill>
              </a:rPr>
              <a:t>getInput</a:t>
            </a:r>
            <a:r>
              <a:rPr lang="en-IE" dirty="0">
                <a:solidFill>
                  <a:srgbClr val="FF0000"/>
                </a:solidFill>
              </a:rPr>
              <a:t>() {</a:t>
            </a:r>
          </a:p>
          <a:p>
            <a:r>
              <a:rPr lang="en-IE" dirty="0">
                <a:solidFill>
                  <a:srgbClr val="FF0000"/>
                </a:solidFill>
              </a:rPr>
              <a:t>          </a:t>
            </a:r>
            <a:r>
              <a:rPr lang="en-IE" dirty="0" err="1">
                <a:solidFill>
                  <a:schemeClr val="tx1"/>
                </a:solidFill>
              </a:rPr>
              <a:t>System.</a:t>
            </a:r>
            <a:r>
              <a:rPr lang="en-IE" i="1" dirty="0" err="1">
                <a:solidFill>
                  <a:schemeClr val="tx1"/>
                </a:solidFill>
              </a:rPr>
              <a:t>out.print</a:t>
            </a:r>
            <a:r>
              <a:rPr lang="en-IE" i="1" dirty="0">
                <a:solidFill>
                  <a:schemeClr val="tx1"/>
                </a:solidFill>
              </a:rPr>
              <a:t>("&gt; ");               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// print prompt</a:t>
            </a:r>
          </a:p>
          <a:p>
            <a:r>
              <a:rPr lang="en-IE" dirty="0">
                <a:solidFill>
                  <a:schemeClr val="tx1"/>
                </a:solidFill>
              </a:rPr>
              <a:t>          String </a:t>
            </a:r>
            <a:r>
              <a:rPr lang="en-IE" dirty="0" err="1">
                <a:solidFill>
                  <a:schemeClr val="tx1"/>
                </a:solidFill>
              </a:rPr>
              <a:t>inputLine</a:t>
            </a:r>
            <a:r>
              <a:rPr lang="en-IE" dirty="0">
                <a:solidFill>
                  <a:schemeClr val="tx1"/>
                </a:solidFill>
              </a:rPr>
              <a:t> = </a:t>
            </a:r>
            <a:r>
              <a:rPr lang="en-IE" dirty="0" err="1">
                <a:solidFill>
                  <a:schemeClr val="tx1"/>
                </a:solidFill>
              </a:rPr>
              <a:t>input.nextLine</a:t>
            </a:r>
            <a:r>
              <a:rPr lang="en-IE" dirty="0">
                <a:solidFill>
                  <a:schemeClr val="tx1"/>
                </a:solidFill>
              </a:rPr>
              <a:t>().trim().</a:t>
            </a:r>
            <a:r>
              <a:rPr lang="en-IE" dirty="0" err="1">
                <a:solidFill>
                  <a:schemeClr val="tx1"/>
                </a:solidFill>
              </a:rPr>
              <a:t>toLowerCase</a:t>
            </a:r>
            <a:r>
              <a:rPr lang="en-IE" dirty="0">
                <a:solidFill>
                  <a:schemeClr val="tx1"/>
                </a:solidFill>
              </a:rPr>
              <a:t>(); </a:t>
            </a:r>
          </a:p>
          <a:p>
            <a:r>
              <a:rPr lang="en-IE" dirty="0">
                <a:solidFill>
                  <a:srgbClr val="FF0000"/>
                </a:solidFill>
              </a:rPr>
              <a:t>          return </a:t>
            </a:r>
            <a:r>
              <a:rPr lang="en-IE" dirty="0" err="1">
                <a:solidFill>
                  <a:srgbClr val="FF0000"/>
                </a:solidFill>
              </a:rPr>
              <a:t>inputLine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>
                <a:solidFill>
                  <a:srgbClr val="FF0000"/>
                </a:solidFill>
              </a:rPr>
              <a:t>    }</a:t>
            </a:r>
          </a:p>
          <a:p>
            <a:r>
              <a:rPr lang="en-IE" dirty="0"/>
              <a:t>}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9215175" y="1295400"/>
            <a:ext cx="1066800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extBox 1"/>
          <p:cNvSpPr txBox="1"/>
          <p:nvPr/>
        </p:nvSpPr>
        <p:spPr>
          <a:xfrm>
            <a:off x="5968036" y="4191001"/>
            <a:ext cx="4520399" cy="10156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In V3, we modify this </a:t>
            </a:r>
            <a:r>
              <a:rPr lang="en-IE" sz="2000"/>
              <a:t>code </a:t>
            </a:r>
            <a:br>
              <a:rPr lang="en-IE" sz="2000"/>
            </a:br>
            <a:r>
              <a:rPr lang="en-IE" sz="2000"/>
              <a:t>to </a:t>
            </a:r>
            <a:r>
              <a:rPr lang="en-IE" sz="2000" dirty="0"/>
              <a:t>split out the input (stored in </a:t>
            </a:r>
            <a:r>
              <a:rPr lang="en-IE" sz="2000" b="1" dirty="0" err="1"/>
              <a:t>inputLine</a:t>
            </a:r>
            <a:r>
              <a:rPr lang="en-IE" sz="2000" dirty="0"/>
              <a:t>) </a:t>
            </a:r>
          </a:p>
          <a:p>
            <a:pPr algn="ctr"/>
            <a:r>
              <a:rPr lang="en-IE" sz="2000" dirty="0"/>
              <a:t>into a primitive array of Strings &gt;&gt;&gt;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124200" y="137652"/>
            <a:ext cx="990600" cy="511998"/>
            <a:chOff x="7239000" y="457200"/>
            <a:chExt cx="1600200" cy="82707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9000" y="457200"/>
              <a:ext cx="838200" cy="827074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1000" y="457200"/>
              <a:ext cx="838200" cy="827074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4540226" y="101264"/>
            <a:ext cx="2182634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/>
              <a:t>V2 Code</a:t>
            </a:r>
            <a:endParaRPr lang="en-IE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6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0" y="118693"/>
            <a:ext cx="7772400" cy="65710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1600" b="1" dirty="0">
                <a:solidFill>
                  <a:schemeClr val="bg1">
                    <a:lumMod val="50000"/>
                  </a:schemeClr>
                </a:solidFill>
              </a:rPr>
              <a:t>// V3 </a:t>
            </a:r>
            <a:r>
              <a:rPr lang="en-IE" sz="1600" dirty="0">
                <a:solidFill>
                  <a:schemeClr val="bg1">
                    <a:lumMod val="50000"/>
                  </a:schemeClr>
                </a:solidFill>
              </a:rPr>
              <a:t>Code</a:t>
            </a:r>
          </a:p>
          <a:p>
            <a:r>
              <a:rPr lang="en-IE" sz="1600" dirty="0"/>
              <a:t>import </a:t>
            </a:r>
            <a:r>
              <a:rPr lang="en-IE" sz="1600" dirty="0" err="1"/>
              <a:t>java.util.Scanner</a:t>
            </a:r>
            <a:r>
              <a:rPr lang="en-IE" sz="1600" dirty="0"/>
              <a:t>;</a:t>
            </a:r>
          </a:p>
          <a:p>
            <a:endParaRPr lang="en-IE" sz="1600" dirty="0"/>
          </a:p>
          <a:p>
            <a:r>
              <a:rPr lang="en-IE" sz="1600" dirty="0"/>
              <a:t>public class </a:t>
            </a:r>
            <a:r>
              <a:rPr lang="en-IE" sz="1600" b="1" dirty="0" err="1"/>
              <a:t>InputReader</a:t>
            </a:r>
            <a:r>
              <a:rPr lang="en-IE" sz="1600" dirty="0"/>
              <a:t>{</a:t>
            </a:r>
          </a:p>
          <a:p>
            <a:endParaRPr lang="en-IE" sz="1600" dirty="0"/>
          </a:p>
          <a:p>
            <a:r>
              <a:rPr lang="en-IE" sz="1600" dirty="0"/>
              <a:t>      Scanner input;</a:t>
            </a:r>
          </a:p>
          <a:p>
            <a:endParaRPr lang="en-IE" sz="500" dirty="0"/>
          </a:p>
          <a:p>
            <a:r>
              <a:rPr lang="en-IE" sz="1600" dirty="0"/>
              <a:t>      public </a:t>
            </a:r>
            <a:r>
              <a:rPr lang="en-IE" sz="1600" dirty="0" err="1"/>
              <a:t>InputReader</a:t>
            </a:r>
            <a:r>
              <a:rPr lang="en-IE" sz="1600" dirty="0"/>
              <a:t>(){</a:t>
            </a:r>
          </a:p>
          <a:p>
            <a:r>
              <a:rPr lang="en-IE" sz="1600" dirty="0"/>
              <a:t>        input = new Scanner(System.</a:t>
            </a:r>
            <a:r>
              <a:rPr lang="en-IE" sz="1600" i="1" dirty="0"/>
              <a:t>in); </a:t>
            </a:r>
          </a:p>
          <a:p>
            <a:r>
              <a:rPr lang="en-IE" sz="1600" dirty="0"/>
              <a:t>      }</a:t>
            </a:r>
          </a:p>
          <a:p>
            <a:endParaRPr lang="en-IE" sz="200" dirty="0"/>
          </a:p>
          <a:p>
            <a:r>
              <a:rPr lang="en-IE" sz="1600" dirty="0">
                <a:solidFill>
                  <a:srgbClr val="FF0000"/>
                </a:solidFill>
              </a:rPr>
              <a:t>      public </a:t>
            </a:r>
            <a:r>
              <a:rPr lang="en-IE" sz="1600" dirty="0" err="1">
                <a:solidFill>
                  <a:srgbClr val="FF0000"/>
                </a:solidFill>
              </a:rPr>
              <a:t>HashSet</a:t>
            </a:r>
            <a:r>
              <a:rPr lang="en-IE" sz="1600" dirty="0">
                <a:solidFill>
                  <a:srgbClr val="FF0000"/>
                </a:solidFill>
              </a:rPr>
              <a:t>&lt;String&gt; </a:t>
            </a:r>
            <a:r>
              <a:rPr lang="en-IE" sz="1600" b="1" dirty="0" err="1">
                <a:solidFill>
                  <a:srgbClr val="FF0000"/>
                </a:solidFill>
              </a:rPr>
              <a:t>getInput</a:t>
            </a:r>
            <a:r>
              <a:rPr lang="en-IE" sz="1600" b="1" dirty="0">
                <a:solidFill>
                  <a:srgbClr val="FF0000"/>
                </a:solidFill>
              </a:rPr>
              <a:t>()</a:t>
            </a:r>
            <a:r>
              <a:rPr lang="en-IE" sz="1600" dirty="0">
                <a:solidFill>
                  <a:srgbClr val="FF0000"/>
                </a:solidFill>
              </a:rPr>
              <a:t> 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{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    </a:t>
            </a:r>
            <a:r>
              <a:rPr lang="en-IE" sz="1600" dirty="0" err="1">
                <a:solidFill>
                  <a:schemeClr val="tx1"/>
                </a:solidFill>
              </a:rPr>
              <a:t>System.</a:t>
            </a:r>
            <a:r>
              <a:rPr lang="en-IE" sz="1600" i="1" dirty="0" err="1">
                <a:solidFill>
                  <a:schemeClr val="tx1"/>
                </a:solidFill>
              </a:rPr>
              <a:t>out.print</a:t>
            </a:r>
            <a:r>
              <a:rPr lang="en-IE" sz="1600" i="1" dirty="0">
                <a:solidFill>
                  <a:schemeClr val="tx1"/>
                </a:solidFill>
              </a:rPr>
              <a:t>("&gt; ");                </a:t>
            </a:r>
            <a:r>
              <a:rPr lang="en-IE" sz="1600" i="1" dirty="0">
                <a:solidFill>
                  <a:schemeClr val="bg1">
                    <a:lumMod val="50000"/>
                  </a:schemeClr>
                </a:solidFill>
              </a:rPr>
              <a:t>// print prompt</a:t>
            </a:r>
          </a:p>
          <a:p>
            <a:r>
              <a:rPr lang="en-IE" sz="1600" dirty="0">
                <a:solidFill>
                  <a:schemeClr val="tx1"/>
                </a:solidFill>
              </a:rPr>
              <a:t>          String </a:t>
            </a:r>
            <a:r>
              <a:rPr lang="en-IE" sz="1600" dirty="0" err="1">
                <a:solidFill>
                  <a:schemeClr val="tx1"/>
                </a:solidFill>
              </a:rPr>
              <a:t>inputLine</a:t>
            </a:r>
            <a:r>
              <a:rPr lang="en-IE" sz="1600" dirty="0">
                <a:solidFill>
                  <a:schemeClr val="tx1"/>
                </a:solidFill>
              </a:rPr>
              <a:t> = </a:t>
            </a:r>
            <a:r>
              <a:rPr lang="en-IE" sz="1600" dirty="0" err="1">
                <a:solidFill>
                  <a:schemeClr val="tx1"/>
                </a:solidFill>
              </a:rPr>
              <a:t>input.nextLine</a:t>
            </a:r>
            <a:r>
              <a:rPr lang="en-IE" sz="1600" dirty="0">
                <a:solidFill>
                  <a:schemeClr val="tx1"/>
                </a:solidFill>
              </a:rPr>
              <a:t>().trim().</a:t>
            </a:r>
            <a:r>
              <a:rPr lang="en-IE" sz="1600" dirty="0" err="1">
                <a:solidFill>
                  <a:schemeClr val="tx1"/>
                </a:solidFill>
              </a:rPr>
              <a:t>toLowerCase</a:t>
            </a:r>
            <a:r>
              <a:rPr lang="en-IE" sz="1600" dirty="0">
                <a:solidFill>
                  <a:schemeClr val="tx1"/>
                </a:solidFill>
              </a:rPr>
              <a:t>();</a:t>
            </a:r>
          </a:p>
          <a:p>
            <a:endParaRPr lang="en-IE" sz="1600" dirty="0">
              <a:solidFill>
                <a:schemeClr val="tx1"/>
              </a:solidFill>
            </a:endParaRPr>
          </a:p>
          <a:p>
            <a:r>
              <a:rPr lang="en-IE" sz="1600" dirty="0">
                <a:solidFill>
                  <a:srgbClr val="FF0000"/>
                </a:solidFill>
              </a:rPr>
              <a:t>          String[] </a:t>
            </a:r>
            <a:r>
              <a:rPr lang="en-IE" sz="1600" dirty="0" err="1">
                <a:solidFill>
                  <a:srgbClr val="FF0000"/>
                </a:solidFill>
              </a:rPr>
              <a:t>wordArray</a:t>
            </a:r>
            <a:r>
              <a:rPr lang="en-IE" sz="1600" dirty="0">
                <a:solidFill>
                  <a:srgbClr val="FF0000"/>
                </a:solidFill>
              </a:rPr>
              <a:t> = </a:t>
            </a:r>
            <a:r>
              <a:rPr lang="en-IE" sz="1600" b="1" dirty="0" err="1">
                <a:solidFill>
                  <a:srgbClr val="FF0000"/>
                </a:solidFill>
              </a:rPr>
              <a:t>inputLine.split</a:t>
            </a:r>
            <a:r>
              <a:rPr lang="en-IE" sz="1600" b="1" dirty="0">
                <a:solidFill>
                  <a:srgbClr val="FF0000"/>
                </a:solidFill>
              </a:rPr>
              <a:t>(" ");  </a:t>
            </a:r>
            <a:r>
              <a:rPr lang="en-IE" sz="1600" dirty="0">
                <a:solidFill>
                  <a:schemeClr val="bg1">
                    <a:lumMod val="50000"/>
                  </a:schemeClr>
                </a:solidFill>
              </a:rPr>
              <a:t>// split at spaces</a:t>
            </a:r>
          </a:p>
          <a:p>
            <a:endParaRPr lang="en-IE" sz="1600" dirty="0">
              <a:solidFill>
                <a:srgbClr val="FF0000"/>
              </a:solidFill>
            </a:endParaRPr>
          </a:p>
          <a:p>
            <a:r>
              <a:rPr lang="en-IE" sz="1600" dirty="0">
                <a:solidFill>
                  <a:schemeClr val="bg1">
                    <a:lumMod val="50000"/>
                  </a:schemeClr>
                </a:solidFill>
              </a:rPr>
              <a:t>          // add words from array into </a:t>
            </a:r>
            <a:r>
              <a:rPr lang="en-IE" sz="1600" u="sng" dirty="0" err="1">
                <a:solidFill>
                  <a:schemeClr val="bg1">
                    <a:lumMod val="50000"/>
                  </a:schemeClr>
                </a:solidFill>
              </a:rPr>
              <a:t>hashset</a:t>
            </a:r>
            <a:r>
              <a:rPr lang="en-IE" sz="1600" u="sng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    </a:t>
            </a:r>
            <a:r>
              <a:rPr lang="en-IE" sz="1600" dirty="0" err="1">
                <a:solidFill>
                  <a:srgbClr val="FF0000"/>
                </a:solidFill>
              </a:rPr>
              <a:t>HashSet</a:t>
            </a:r>
            <a:r>
              <a:rPr lang="en-IE" sz="1600" dirty="0">
                <a:solidFill>
                  <a:srgbClr val="FF0000"/>
                </a:solidFill>
              </a:rPr>
              <a:t>&lt;String&gt; </a:t>
            </a:r>
            <a:r>
              <a:rPr lang="en-IE" sz="1600" b="1" dirty="0">
                <a:solidFill>
                  <a:srgbClr val="FF0000"/>
                </a:solidFill>
              </a:rPr>
              <a:t>words</a:t>
            </a:r>
            <a:r>
              <a:rPr lang="en-IE" sz="1600" dirty="0">
                <a:solidFill>
                  <a:srgbClr val="FF0000"/>
                </a:solidFill>
              </a:rPr>
              <a:t> = new </a:t>
            </a:r>
            <a:r>
              <a:rPr lang="en-IE" sz="1600" dirty="0" err="1">
                <a:solidFill>
                  <a:srgbClr val="FF0000"/>
                </a:solidFill>
              </a:rPr>
              <a:t>HashSet</a:t>
            </a:r>
            <a:r>
              <a:rPr lang="en-IE" sz="1600" dirty="0">
                <a:solidFill>
                  <a:srgbClr val="FF0000"/>
                </a:solidFill>
              </a:rPr>
              <a:t>&lt;String&gt;();</a:t>
            </a:r>
          </a:p>
          <a:p>
            <a:endParaRPr lang="en-IE" sz="1600" dirty="0">
              <a:solidFill>
                <a:srgbClr val="FF0000"/>
              </a:solidFill>
            </a:endParaRPr>
          </a:p>
          <a:p>
            <a:r>
              <a:rPr lang="en-IE" sz="1600" dirty="0">
                <a:solidFill>
                  <a:srgbClr val="FF0000"/>
                </a:solidFill>
              </a:rPr>
              <a:t>          for (String word : </a:t>
            </a:r>
            <a:r>
              <a:rPr lang="en-IE" sz="1600" dirty="0" err="1">
                <a:solidFill>
                  <a:srgbClr val="FF0000"/>
                </a:solidFill>
              </a:rPr>
              <a:t>wordArray</a:t>
            </a:r>
            <a:r>
              <a:rPr lang="en-IE" sz="1600" dirty="0">
                <a:solidFill>
                  <a:srgbClr val="FF0000"/>
                </a:solidFill>
              </a:rPr>
              <a:t>) {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        </a:t>
            </a:r>
            <a:r>
              <a:rPr lang="en-IE" sz="1600" dirty="0" err="1">
                <a:solidFill>
                  <a:srgbClr val="FF0000"/>
                </a:solidFill>
              </a:rPr>
              <a:t>words</a:t>
            </a:r>
            <a:r>
              <a:rPr lang="en-IE" sz="1600" b="1" dirty="0" err="1">
                <a:solidFill>
                  <a:srgbClr val="FF0000"/>
                </a:solidFill>
              </a:rPr>
              <a:t>.add</a:t>
            </a:r>
            <a:r>
              <a:rPr lang="en-IE" sz="1600" b="1" dirty="0">
                <a:solidFill>
                  <a:srgbClr val="FF0000"/>
                </a:solidFill>
              </a:rPr>
              <a:t>(</a:t>
            </a:r>
            <a:r>
              <a:rPr lang="en-IE" sz="1600" dirty="0">
                <a:solidFill>
                  <a:srgbClr val="FF0000"/>
                </a:solidFill>
              </a:rPr>
              <a:t>word);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    }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    return words;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}</a:t>
            </a:r>
          </a:p>
          <a:p>
            <a:r>
              <a:rPr lang="en-IE" sz="1600" dirty="0"/>
              <a:t>}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9215175" y="1295400"/>
            <a:ext cx="1066800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extBox 1"/>
          <p:cNvSpPr txBox="1"/>
          <p:nvPr/>
        </p:nvSpPr>
        <p:spPr>
          <a:xfrm>
            <a:off x="4399935" y="7375"/>
            <a:ext cx="2762692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Changes for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2908" y="3049119"/>
            <a:ext cx="3110779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1) Split up the </a:t>
            </a:r>
            <a:r>
              <a:rPr lang="en-IE" b="1" dirty="0" err="1"/>
              <a:t>inputLine</a:t>
            </a:r>
            <a:r>
              <a:rPr lang="en-IE" dirty="0"/>
              <a:t> object at spaces, storing each word in a </a:t>
            </a:r>
            <a:r>
              <a:rPr lang="en-IE" b="1" dirty="0" err="1"/>
              <a:t>wordArray</a:t>
            </a:r>
            <a:r>
              <a:rPr lang="en-IE" dirty="0"/>
              <a:t> of String[]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7824" y="4104051"/>
            <a:ext cx="311077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2) Declare &amp; initialise </a:t>
            </a:r>
            <a:r>
              <a:rPr lang="en-IE" b="1" dirty="0"/>
              <a:t>words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as a </a:t>
            </a:r>
            <a:r>
              <a:rPr lang="en-IE" dirty="0" err="1"/>
              <a:t>HashSet</a:t>
            </a:r>
            <a:r>
              <a:rPr lang="en-IE" dirty="0"/>
              <a:t> of String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3200" y="4887969"/>
            <a:ext cx="3675403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3) For each </a:t>
            </a:r>
            <a:r>
              <a:rPr lang="en-IE" b="1" dirty="0"/>
              <a:t>word</a:t>
            </a:r>
            <a:r>
              <a:rPr lang="en-IE" dirty="0"/>
              <a:t> in the </a:t>
            </a:r>
            <a:r>
              <a:rPr lang="en-IE" b="1" dirty="0" err="1"/>
              <a:t>wordArray</a:t>
            </a:r>
            <a:r>
              <a:rPr lang="en-IE" dirty="0"/>
              <a:t>, </a:t>
            </a:r>
            <a:br>
              <a:rPr lang="en-IE" dirty="0"/>
            </a:br>
            <a:r>
              <a:rPr lang="en-IE" dirty="0"/>
              <a:t>add that </a:t>
            </a:r>
            <a:r>
              <a:rPr lang="en-IE" b="1" dirty="0"/>
              <a:t>word</a:t>
            </a:r>
            <a:r>
              <a:rPr lang="en-IE" dirty="0"/>
              <a:t> to the </a:t>
            </a:r>
            <a:r>
              <a:rPr lang="en-IE" b="1" dirty="0"/>
              <a:t>words</a:t>
            </a:r>
            <a:r>
              <a:rPr lang="en-IE" dirty="0"/>
              <a:t> </a:t>
            </a:r>
            <a:r>
              <a:rPr lang="en-IE" b="1" dirty="0" err="1"/>
              <a:t>HashSet</a:t>
            </a:r>
            <a:endParaRPr lang="en-IE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798284" y="5671886"/>
            <a:ext cx="3675403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4) Return the </a:t>
            </a:r>
            <a:r>
              <a:rPr lang="en-IE" dirty="0" err="1"/>
              <a:t>HashSet</a:t>
            </a:r>
            <a:r>
              <a:rPr lang="en-IE" dirty="0"/>
              <a:t> of </a:t>
            </a:r>
            <a:r>
              <a:rPr lang="en-IE" b="1" dirty="0"/>
              <a:t>words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138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10221" y="5460305"/>
            <a:ext cx="5181600" cy="54667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219200" y="5594511"/>
            <a:ext cx="15240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12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1" y="304801"/>
            <a:ext cx="8507235" cy="67403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tx1"/>
                </a:solidFill>
              </a:rPr>
              <a:t>import </a:t>
            </a:r>
            <a:r>
              <a:rPr lang="en-IE" dirty="0" err="1">
                <a:solidFill>
                  <a:schemeClr val="tx1"/>
                </a:solidFill>
              </a:rPr>
              <a:t>java.util.HashMap</a:t>
            </a:r>
            <a:r>
              <a:rPr lang="en-IE" dirty="0">
                <a:solidFill>
                  <a:schemeClr val="tx1"/>
                </a:solidFill>
              </a:rPr>
              <a:t>;</a:t>
            </a:r>
          </a:p>
          <a:p>
            <a:r>
              <a:rPr lang="en-IE" dirty="0">
                <a:solidFill>
                  <a:srgbClr val="FF0000"/>
                </a:solidFill>
              </a:rPr>
              <a:t>import </a:t>
            </a:r>
            <a:r>
              <a:rPr lang="en-IE" dirty="0" err="1">
                <a:solidFill>
                  <a:srgbClr val="FF0000"/>
                </a:solidFill>
              </a:rPr>
              <a:t>java.util.</a:t>
            </a:r>
            <a:r>
              <a:rPr lang="en-IE" b="1" dirty="0" err="1">
                <a:solidFill>
                  <a:srgbClr val="FF0000"/>
                </a:solidFill>
              </a:rPr>
              <a:t>HashSet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/>
              <a:t>import </a:t>
            </a:r>
            <a:r>
              <a:rPr lang="en-IE" dirty="0" err="1"/>
              <a:t>java.util.ArrayList</a:t>
            </a:r>
            <a:r>
              <a:rPr lang="en-IE" dirty="0"/>
              <a:t>;</a:t>
            </a:r>
          </a:p>
          <a:p>
            <a:r>
              <a:rPr lang="en-IE" dirty="0">
                <a:solidFill>
                  <a:srgbClr val="FF0000"/>
                </a:solidFill>
              </a:rPr>
              <a:t>import </a:t>
            </a:r>
            <a:r>
              <a:rPr lang="en-IE" dirty="0" err="1">
                <a:solidFill>
                  <a:srgbClr val="FF0000"/>
                </a:solidFill>
              </a:rPr>
              <a:t>java.util.</a:t>
            </a:r>
            <a:r>
              <a:rPr lang="en-IE" b="1" dirty="0" err="1">
                <a:solidFill>
                  <a:srgbClr val="FF0000"/>
                </a:solidFill>
              </a:rPr>
              <a:t>Iterator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/>
              <a:t>import </a:t>
            </a:r>
            <a:r>
              <a:rPr lang="en-IE" dirty="0" err="1"/>
              <a:t>java.util.Random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public class </a:t>
            </a:r>
            <a:r>
              <a:rPr lang="en-IE" b="1" dirty="0"/>
              <a:t>Responder</a:t>
            </a:r>
          </a:p>
          <a:p>
            <a:r>
              <a:rPr lang="en-IE" dirty="0"/>
              <a:t>{</a:t>
            </a:r>
          </a:p>
          <a:p>
            <a:r>
              <a:rPr lang="en-IE" dirty="0">
                <a:solidFill>
                  <a:srgbClr val="FF0000"/>
                </a:solidFill>
              </a:rPr>
              <a:t>   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// Used to map key words to responses.</a:t>
            </a:r>
          </a:p>
          <a:p>
            <a:r>
              <a:rPr lang="en-IE" dirty="0">
                <a:solidFill>
                  <a:schemeClr val="tx1"/>
                </a:solidFill>
              </a:rPr>
              <a:t>    private </a:t>
            </a:r>
            <a:r>
              <a:rPr lang="en-IE" dirty="0" err="1">
                <a:solidFill>
                  <a:schemeClr val="tx1"/>
                </a:solidFill>
              </a:rPr>
              <a:t>HashMap</a:t>
            </a:r>
            <a:r>
              <a:rPr lang="en-IE" dirty="0">
                <a:solidFill>
                  <a:schemeClr val="tx1"/>
                </a:solidFill>
              </a:rPr>
              <a:t>&lt;String, String&gt; </a:t>
            </a:r>
            <a:r>
              <a:rPr lang="en-IE" dirty="0" err="1">
                <a:solidFill>
                  <a:schemeClr val="tx1"/>
                </a:solidFill>
              </a:rPr>
              <a:t>responseMap</a:t>
            </a:r>
            <a:r>
              <a:rPr lang="en-IE" dirty="0">
                <a:solidFill>
                  <a:schemeClr val="tx1"/>
                </a:solidFill>
              </a:rPr>
              <a:t>;</a:t>
            </a:r>
          </a:p>
          <a:p>
            <a:endParaRPr lang="en-IE" dirty="0">
              <a:solidFill>
                <a:schemeClr val="tx1"/>
              </a:solidFill>
            </a:endParaRP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// Default responses to use if we don't </a:t>
            </a:r>
            <a:r>
              <a:rPr lang="en-IE" u="sng" dirty="0">
                <a:solidFill>
                  <a:schemeClr val="bg1">
                    <a:lumMod val="50000"/>
                  </a:schemeClr>
                </a:solidFill>
              </a:rPr>
              <a:t>recognise a word.</a:t>
            </a:r>
          </a:p>
          <a:p>
            <a:r>
              <a:rPr lang="en-IE" dirty="0">
                <a:solidFill>
                  <a:srgbClr val="FF0000"/>
                </a:solidFill>
              </a:rPr>
              <a:t>    </a:t>
            </a:r>
            <a:r>
              <a:rPr lang="en-IE" dirty="0"/>
              <a:t>private </a:t>
            </a:r>
            <a:r>
              <a:rPr lang="en-IE" dirty="0" err="1"/>
              <a:t>ArrayList</a:t>
            </a:r>
            <a:r>
              <a:rPr lang="en-IE" dirty="0"/>
              <a:t>&lt;String&gt; </a:t>
            </a:r>
            <a:r>
              <a:rPr lang="en-IE" dirty="0" err="1"/>
              <a:t>defaultResponses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    private Random </a:t>
            </a:r>
            <a:r>
              <a:rPr lang="en-IE" dirty="0" err="1"/>
              <a:t>randomGenerator</a:t>
            </a:r>
            <a:r>
              <a:rPr lang="en-IE" dirty="0"/>
              <a:t>;</a:t>
            </a:r>
          </a:p>
          <a:p>
            <a:r>
              <a:rPr lang="en-IE" dirty="0"/>
              <a:t>   </a:t>
            </a:r>
          </a:p>
          <a:p>
            <a:r>
              <a:rPr lang="en-IE" dirty="0"/>
              <a:t>   public Responder()</a:t>
            </a:r>
          </a:p>
          <a:p>
            <a:r>
              <a:rPr lang="en-IE" dirty="0"/>
              <a:t>    {</a:t>
            </a:r>
          </a:p>
          <a:p>
            <a:r>
              <a:rPr lang="en-IE" dirty="0">
                <a:solidFill>
                  <a:schemeClr val="tx1"/>
                </a:solidFill>
              </a:rPr>
              <a:t>        </a:t>
            </a:r>
            <a:r>
              <a:rPr lang="en-IE" dirty="0" err="1">
                <a:solidFill>
                  <a:schemeClr val="tx1"/>
                </a:solidFill>
              </a:rPr>
              <a:t>responseMap</a:t>
            </a:r>
            <a:r>
              <a:rPr lang="en-IE" dirty="0">
                <a:solidFill>
                  <a:schemeClr val="tx1"/>
                </a:solidFill>
              </a:rPr>
              <a:t> = new </a:t>
            </a:r>
            <a:r>
              <a:rPr lang="en-IE" dirty="0" err="1">
                <a:solidFill>
                  <a:schemeClr val="tx1"/>
                </a:solidFill>
              </a:rPr>
              <a:t>HashMap</a:t>
            </a:r>
            <a:r>
              <a:rPr lang="en-IE" dirty="0">
                <a:solidFill>
                  <a:schemeClr val="tx1"/>
                </a:solidFill>
              </a:rPr>
              <a:t>&lt;String, String&gt;();</a:t>
            </a:r>
          </a:p>
          <a:p>
            <a:r>
              <a:rPr lang="en-IE" dirty="0">
                <a:solidFill>
                  <a:schemeClr val="tx1"/>
                </a:solidFill>
              </a:rPr>
              <a:t>        </a:t>
            </a:r>
            <a:r>
              <a:rPr lang="en-IE" dirty="0" err="1">
                <a:solidFill>
                  <a:schemeClr val="tx1"/>
                </a:solidFill>
              </a:rPr>
              <a:t>fillResponseMap</a:t>
            </a:r>
            <a:r>
              <a:rPr lang="en-IE" dirty="0">
                <a:solidFill>
                  <a:schemeClr val="tx1"/>
                </a:solidFill>
              </a:rPr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defaultResponses</a:t>
            </a:r>
            <a:r>
              <a:rPr lang="en-IE" dirty="0"/>
              <a:t> = new </a:t>
            </a:r>
            <a:r>
              <a:rPr lang="en-IE" dirty="0" err="1"/>
              <a:t>ArrayList</a:t>
            </a:r>
            <a:r>
              <a:rPr lang="en-IE" dirty="0"/>
              <a:t>&lt;String&gt;();</a:t>
            </a:r>
          </a:p>
          <a:p>
            <a:r>
              <a:rPr lang="en-IE" dirty="0"/>
              <a:t>        </a:t>
            </a:r>
            <a:r>
              <a:rPr lang="en-IE" dirty="0" err="1"/>
              <a:t>fillDefaultResponses</a:t>
            </a:r>
            <a:r>
              <a:rPr lang="en-IE" dirty="0"/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randomGenerator</a:t>
            </a:r>
            <a:r>
              <a:rPr lang="en-IE" dirty="0"/>
              <a:t> = new Random();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15175" y="1524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6629400" y="3733800"/>
            <a:ext cx="4038600" cy="20005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V3.0 Responder Class</a:t>
            </a:r>
            <a:br>
              <a:rPr lang="en-IE" sz="2000" dirty="0"/>
            </a:br>
            <a:br>
              <a:rPr lang="en-IE" sz="2000" dirty="0"/>
            </a:br>
            <a:r>
              <a:rPr lang="en-IE" sz="2000" u="sng" dirty="0"/>
              <a:t>MORE</a:t>
            </a:r>
            <a:r>
              <a:rPr lang="en-IE" sz="2000" dirty="0"/>
              <a:t> changes </a:t>
            </a:r>
            <a:r>
              <a:rPr lang="en-IE" sz="2000" dirty="0">
                <a:solidFill>
                  <a:srgbClr val="FF0000"/>
                </a:solidFill>
              </a:rPr>
              <a:t>(in red) </a:t>
            </a:r>
            <a:br>
              <a:rPr lang="en-IE" sz="2000" dirty="0"/>
            </a:br>
            <a:r>
              <a:rPr lang="en-IE" sz="2000" dirty="0"/>
              <a:t>to handle a </a:t>
            </a:r>
            <a:r>
              <a:rPr lang="en-IE" sz="2000" dirty="0" err="1"/>
              <a:t>HashSet</a:t>
            </a:r>
            <a:r>
              <a:rPr lang="en-IE" sz="2000" dirty="0"/>
              <a:t> of Strings passed into the </a:t>
            </a:r>
            <a:r>
              <a:rPr lang="en-IE" sz="2000" b="1" dirty="0" err="1"/>
              <a:t>generateResponse</a:t>
            </a:r>
            <a:r>
              <a:rPr lang="en-IE" sz="2000" b="1" dirty="0"/>
              <a:t>() </a:t>
            </a:r>
            <a:r>
              <a:rPr lang="en-IE" sz="2000" dirty="0"/>
              <a:t>method.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3637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47908" y="1600200"/>
            <a:ext cx="8507235" cy="48013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 public String </a:t>
            </a:r>
            <a:r>
              <a:rPr lang="en-IE" b="1" dirty="0" err="1"/>
              <a:t>generateResponse</a:t>
            </a:r>
            <a:r>
              <a:rPr lang="en-IE" dirty="0"/>
              <a:t> </a:t>
            </a:r>
            <a:r>
              <a:rPr lang="en-IE" dirty="0">
                <a:solidFill>
                  <a:srgbClr val="FF0000"/>
                </a:solidFill>
              </a:rPr>
              <a:t>(</a:t>
            </a:r>
            <a:r>
              <a:rPr lang="en-IE" dirty="0" err="1">
                <a:solidFill>
                  <a:srgbClr val="FF0000"/>
                </a:solidFill>
              </a:rPr>
              <a:t>HashSet</a:t>
            </a:r>
            <a:r>
              <a:rPr lang="en-IE" dirty="0">
                <a:solidFill>
                  <a:srgbClr val="FF0000"/>
                </a:solidFill>
              </a:rPr>
              <a:t>&lt;String&gt; </a:t>
            </a:r>
            <a:r>
              <a:rPr lang="en-IE" b="1" dirty="0">
                <a:solidFill>
                  <a:srgbClr val="FF0000"/>
                </a:solidFill>
              </a:rPr>
              <a:t>words</a:t>
            </a:r>
            <a:r>
              <a:rPr lang="en-IE" dirty="0">
                <a:solidFill>
                  <a:srgbClr val="FF0000"/>
                </a:solidFill>
              </a:rPr>
              <a:t>)</a:t>
            </a:r>
          </a:p>
          <a:p>
            <a:r>
              <a:rPr lang="en-IE" dirty="0">
                <a:solidFill>
                  <a:srgbClr val="FF0000"/>
                </a:solidFill>
              </a:rPr>
              <a:t>    {</a:t>
            </a:r>
          </a:p>
          <a:p>
            <a:r>
              <a:rPr lang="en-IE" dirty="0">
                <a:solidFill>
                  <a:srgbClr val="FF0000"/>
                </a:solidFill>
              </a:rPr>
              <a:t>        Iterator&lt;String&gt; it = </a:t>
            </a:r>
            <a:r>
              <a:rPr lang="en-IE" dirty="0" err="1">
                <a:solidFill>
                  <a:srgbClr val="FF0000"/>
                </a:solidFill>
              </a:rPr>
              <a:t>words.iterator</a:t>
            </a:r>
            <a:r>
              <a:rPr lang="en-IE" dirty="0">
                <a:solidFill>
                  <a:srgbClr val="FF0000"/>
                </a:solidFill>
              </a:rPr>
              <a:t>();</a:t>
            </a:r>
            <a:br>
              <a:rPr lang="en-IE" dirty="0">
                <a:solidFill>
                  <a:srgbClr val="FF0000"/>
                </a:solidFill>
              </a:rPr>
            </a:br>
            <a:endParaRPr lang="en-IE" dirty="0">
              <a:solidFill>
                <a:srgbClr val="FF0000"/>
              </a:solidFill>
            </a:endParaRPr>
          </a:p>
          <a:p>
            <a:r>
              <a:rPr lang="en-IE" dirty="0">
                <a:solidFill>
                  <a:srgbClr val="FF0000"/>
                </a:solidFill>
              </a:rPr>
              <a:t>        while(</a:t>
            </a:r>
            <a:r>
              <a:rPr lang="en-IE" dirty="0" err="1">
                <a:solidFill>
                  <a:srgbClr val="FF0000"/>
                </a:solidFill>
              </a:rPr>
              <a:t>it</a:t>
            </a:r>
            <a:r>
              <a:rPr lang="en-IE" b="1" dirty="0" err="1">
                <a:solidFill>
                  <a:srgbClr val="FF0000"/>
                </a:solidFill>
              </a:rPr>
              <a:t>.hasNext</a:t>
            </a:r>
            <a:r>
              <a:rPr lang="en-IE" b="1" dirty="0">
                <a:solidFill>
                  <a:srgbClr val="FF0000"/>
                </a:solidFill>
              </a:rPr>
              <a:t>()</a:t>
            </a:r>
            <a:r>
              <a:rPr lang="en-IE" dirty="0">
                <a:solidFill>
                  <a:srgbClr val="FF0000"/>
                </a:solidFill>
              </a:rPr>
              <a:t>) {</a:t>
            </a:r>
            <a:br>
              <a:rPr lang="en-IE" dirty="0">
                <a:solidFill>
                  <a:srgbClr val="FF0000"/>
                </a:solidFill>
              </a:rPr>
            </a:br>
            <a:endParaRPr lang="en-IE" dirty="0">
              <a:solidFill>
                <a:srgbClr val="FF0000"/>
              </a:solidFill>
            </a:endParaRPr>
          </a:p>
          <a:p>
            <a:r>
              <a:rPr lang="en-IE" dirty="0">
                <a:solidFill>
                  <a:srgbClr val="FF0000"/>
                </a:solidFill>
              </a:rPr>
              <a:t>            String word = </a:t>
            </a:r>
            <a:r>
              <a:rPr lang="en-IE" dirty="0" err="1">
                <a:solidFill>
                  <a:srgbClr val="FF0000"/>
                </a:solidFill>
              </a:rPr>
              <a:t>it</a:t>
            </a:r>
            <a:r>
              <a:rPr lang="en-IE" b="1" dirty="0" err="1">
                <a:solidFill>
                  <a:srgbClr val="FF0000"/>
                </a:solidFill>
              </a:rPr>
              <a:t>.next</a:t>
            </a:r>
            <a:r>
              <a:rPr lang="en-IE" b="1" dirty="0">
                <a:solidFill>
                  <a:srgbClr val="FF0000"/>
                </a:solidFill>
              </a:rPr>
              <a:t>()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>
                <a:solidFill>
                  <a:srgbClr val="FF0000"/>
                </a:solidFill>
              </a:rPr>
              <a:t>            String response = </a:t>
            </a:r>
            <a:r>
              <a:rPr lang="en-IE" dirty="0" err="1">
                <a:solidFill>
                  <a:srgbClr val="FF0000"/>
                </a:solidFill>
              </a:rPr>
              <a:t>responseMap</a:t>
            </a:r>
            <a:r>
              <a:rPr lang="en-IE" b="1" dirty="0" err="1">
                <a:solidFill>
                  <a:srgbClr val="FF0000"/>
                </a:solidFill>
              </a:rPr>
              <a:t>.get</a:t>
            </a:r>
            <a:r>
              <a:rPr lang="en-IE" b="1" dirty="0">
                <a:solidFill>
                  <a:srgbClr val="FF0000"/>
                </a:solidFill>
              </a:rPr>
              <a:t>(word);</a:t>
            </a:r>
          </a:p>
          <a:p>
            <a:r>
              <a:rPr lang="en-IE" dirty="0">
                <a:solidFill>
                  <a:srgbClr val="FF0000"/>
                </a:solidFill>
              </a:rPr>
              <a:t>            if(response != null) {</a:t>
            </a:r>
          </a:p>
          <a:p>
            <a:r>
              <a:rPr lang="en-IE" dirty="0">
                <a:solidFill>
                  <a:srgbClr val="FF0000"/>
                </a:solidFill>
              </a:rPr>
              <a:t>                return response;</a:t>
            </a:r>
          </a:p>
          <a:p>
            <a:r>
              <a:rPr lang="en-IE" dirty="0">
                <a:solidFill>
                  <a:srgbClr val="FF0000"/>
                </a:solidFill>
              </a:rPr>
              <a:t>            }</a:t>
            </a:r>
          </a:p>
          <a:p>
            <a:r>
              <a:rPr lang="en-IE" dirty="0">
                <a:solidFill>
                  <a:srgbClr val="FF0000"/>
                </a:solidFill>
              </a:rPr>
              <a:t>        }</a:t>
            </a:r>
          </a:p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// If we get here, none of the words from the input line were recognized.</a:t>
            </a:r>
          </a:p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// In this case we pick one of our default responses (what we say when</a:t>
            </a:r>
          </a:p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// we cannot think of anything else to say...)</a:t>
            </a:r>
          </a:p>
          <a:p>
            <a:r>
              <a:rPr lang="en-IE" dirty="0">
                <a:solidFill>
                  <a:srgbClr val="FF0000"/>
                </a:solidFill>
              </a:rPr>
              <a:t>        return </a:t>
            </a:r>
            <a:r>
              <a:rPr lang="en-IE" b="1" dirty="0" err="1">
                <a:solidFill>
                  <a:srgbClr val="FF0000"/>
                </a:solidFill>
              </a:rPr>
              <a:t>pickDefaultResponse</a:t>
            </a:r>
            <a:r>
              <a:rPr lang="en-IE" b="1" dirty="0">
                <a:solidFill>
                  <a:srgbClr val="FF0000"/>
                </a:solidFill>
              </a:rPr>
              <a:t>()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>
                <a:solidFill>
                  <a:srgbClr val="FF0000"/>
                </a:solidFill>
              </a:rPr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15175" y="1524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6629400" y="2281084"/>
            <a:ext cx="4038600" cy="20005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V3.0 Responder Class</a:t>
            </a:r>
            <a:br>
              <a:rPr lang="en-IE" sz="2000" dirty="0"/>
            </a:br>
            <a:br>
              <a:rPr lang="en-IE" sz="2000" dirty="0"/>
            </a:br>
            <a:r>
              <a:rPr lang="en-IE" sz="2000" u="sng" dirty="0"/>
              <a:t>MORE</a:t>
            </a:r>
            <a:r>
              <a:rPr lang="en-IE" sz="2000" dirty="0"/>
              <a:t> changes (in red) </a:t>
            </a:r>
            <a:br>
              <a:rPr lang="en-IE" sz="2000" dirty="0"/>
            </a:br>
            <a:r>
              <a:rPr lang="en-IE" sz="2000" dirty="0"/>
              <a:t>to handle a </a:t>
            </a:r>
            <a:r>
              <a:rPr lang="en-IE" sz="2000" dirty="0" err="1"/>
              <a:t>HashSet</a:t>
            </a:r>
            <a:r>
              <a:rPr lang="en-IE" sz="2000" dirty="0"/>
              <a:t> of Strings passed into the </a:t>
            </a:r>
            <a:r>
              <a:rPr lang="en-IE" sz="2000" b="1" dirty="0" err="1"/>
              <a:t>generateResponse</a:t>
            </a:r>
            <a:r>
              <a:rPr lang="en-IE" sz="2000" b="1" dirty="0"/>
              <a:t>() </a:t>
            </a:r>
            <a:r>
              <a:rPr lang="en-IE" sz="2000" dirty="0"/>
              <a:t>method.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83695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9077" y="6055331"/>
            <a:ext cx="5181600" cy="54667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208139" y="6316369"/>
            <a:ext cx="15240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0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41493"/>
            <a:ext cx="5867400" cy="701730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IE" b="1" dirty="0">
                <a:solidFill>
                  <a:schemeClr val="bg1">
                    <a:lumMod val="50000"/>
                  </a:schemeClr>
                </a:solidFill>
              </a:rPr>
              <a:t>V2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code</a:t>
            </a:r>
          </a:p>
          <a:p>
            <a:r>
              <a:rPr lang="en-IE" dirty="0"/>
              <a:t>public class </a:t>
            </a:r>
            <a:r>
              <a:rPr lang="en-IE" dirty="0" err="1"/>
              <a:t>SupportSystem</a:t>
            </a:r>
            <a:endParaRPr lang="en-IE" dirty="0"/>
          </a:p>
          <a:p>
            <a:r>
              <a:rPr lang="en-IE" dirty="0"/>
              <a:t>{</a:t>
            </a:r>
          </a:p>
          <a:p>
            <a:r>
              <a:rPr lang="en-IE" dirty="0"/>
              <a:t>    private </a:t>
            </a:r>
            <a:r>
              <a:rPr lang="en-IE" dirty="0" err="1"/>
              <a:t>InputReader</a:t>
            </a:r>
            <a:r>
              <a:rPr lang="en-IE" dirty="0"/>
              <a:t> reader;</a:t>
            </a:r>
          </a:p>
          <a:p>
            <a:r>
              <a:rPr lang="en-IE" dirty="0"/>
              <a:t>    private Responder </a:t>
            </a:r>
            <a:r>
              <a:rPr lang="en-IE" dirty="0" err="1"/>
              <a:t>responder</a:t>
            </a:r>
            <a:r>
              <a:rPr lang="en-IE" dirty="0"/>
              <a:t>;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</a:t>
            </a:r>
            <a:r>
              <a:rPr lang="en-IE" dirty="0" err="1"/>
              <a:t>SupportSystem</a:t>
            </a:r>
            <a:r>
              <a:rPr lang="en-IE" dirty="0"/>
              <a:t>() {</a:t>
            </a:r>
          </a:p>
          <a:p>
            <a:r>
              <a:rPr lang="en-IE" dirty="0"/>
              <a:t>         reader = new </a:t>
            </a:r>
            <a:r>
              <a:rPr lang="en-IE" dirty="0" err="1"/>
              <a:t>InputReader</a:t>
            </a:r>
            <a:r>
              <a:rPr lang="en-IE" dirty="0"/>
              <a:t>();</a:t>
            </a:r>
          </a:p>
          <a:p>
            <a:r>
              <a:rPr lang="en-IE" dirty="0"/>
              <a:t>         responder = new Responder();</a:t>
            </a:r>
          </a:p>
          <a:p>
            <a:r>
              <a:rPr lang="en-IE" dirty="0"/>
              <a:t>    }</a:t>
            </a:r>
          </a:p>
          <a:p>
            <a:r>
              <a:rPr lang="en-IE" dirty="0"/>
              <a:t>    public static void main(String[] </a:t>
            </a:r>
            <a:r>
              <a:rPr lang="en-IE" dirty="0" err="1"/>
              <a:t>argvs</a:t>
            </a:r>
            <a:r>
              <a:rPr lang="en-IE" dirty="0"/>
              <a:t>){</a:t>
            </a:r>
          </a:p>
          <a:p>
            <a:r>
              <a:rPr lang="en-IE" dirty="0"/>
              <a:t>         </a:t>
            </a:r>
            <a:r>
              <a:rPr lang="en-IE" dirty="0" err="1"/>
              <a:t>SupportSystem</a:t>
            </a:r>
            <a:r>
              <a:rPr lang="en-IE" dirty="0"/>
              <a:t> app = new </a:t>
            </a:r>
            <a:r>
              <a:rPr lang="en-IE" dirty="0" err="1"/>
              <a:t>SupportSystem</a:t>
            </a:r>
            <a:r>
              <a:rPr lang="en-IE" dirty="0"/>
              <a:t>();</a:t>
            </a:r>
          </a:p>
          <a:p>
            <a:r>
              <a:rPr lang="en-IE" dirty="0"/>
              <a:t>         </a:t>
            </a:r>
            <a:r>
              <a:rPr lang="en-IE" dirty="0" err="1"/>
              <a:t>app</a:t>
            </a:r>
            <a:r>
              <a:rPr lang="en-IE" b="1" dirty="0" err="1"/>
              <a:t>.start</a:t>
            </a:r>
            <a:r>
              <a:rPr lang="en-IE" b="1" dirty="0"/>
              <a:t>();</a:t>
            </a:r>
          </a:p>
          <a:p>
            <a:r>
              <a:rPr lang="en-IE" dirty="0"/>
              <a:t>    }</a:t>
            </a:r>
          </a:p>
          <a:p>
            <a:r>
              <a:rPr lang="en-IE" sz="1000" dirty="0"/>
              <a:t>    </a:t>
            </a:r>
          </a:p>
          <a:p>
            <a:r>
              <a:rPr lang="en-IE" dirty="0"/>
              <a:t>    public void </a:t>
            </a:r>
            <a:r>
              <a:rPr lang="en-IE" b="1" dirty="0"/>
              <a:t>start()</a:t>
            </a:r>
            <a:r>
              <a:rPr lang="en-IE" dirty="0"/>
              <a:t>{</a:t>
            </a:r>
          </a:p>
          <a:p>
            <a:r>
              <a:rPr lang="en-IE" dirty="0"/>
              <a:t>          </a:t>
            </a:r>
            <a:r>
              <a:rPr lang="en-IE" dirty="0" err="1"/>
              <a:t>printWelcome</a:t>
            </a:r>
            <a:r>
              <a:rPr lang="en-IE" dirty="0"/>
              <a:t>();</a:t>
            </a:r>
          </a:p>
          <a:p>
            <a:r>
              <a:rPr lang="en-IE" dirty="0">
                <a:solidFill>
                  <a:schemeClr val="tx1"/>
                </a:solidFill>
              </a:rPr>
              <a:t>          String input = </a:t>
            </a:r>
            <a:r>
              <a:rPr lang="en-IE" dirty="0" err="1">
                <a:solidFill>
                  <a:schemeClr val="tx1"/>
                </a:solidFill>
              </a:rPr>
              <a:t>reader.getInput</a:t>
            </a:r>
            <a:r>
              <a:rPr lang="en-IE" dirty="0">
                <a:solidFill>
                  <a:schemeClr val="tx1"/>
                </a:solidFill>
              </a:rPr>
              <a:t>();</a:t>
            </a:r>
          </a:p>
          <a:p>
            <a:r>
              <a:rPr lang="en-IE" dirty="0">
                <a:solidFill>
                  <a:schemeClr val="tx1"/>
                </a:solidFill>
              </a:rPr>
              <a:t>          while(! </a:t>
            </a:r>
            <a:r>
              <a:rPr lang="en-IE" dirty="0" err="1">
                <a:solidFill>
                  <a:schemeClr val="tx1"/>
                </a:solidFill>
              </a:rPr>
              <a:t>input.startsWith</a:t>
            </a:r>
            <a:r>
              <a:rPr lang="en-IE" dirty="0">
                <a:solidFill>
                  <a:schemeClr val="tx1"/>
                </a:solidFill>
              </a:rPr>
              <a:t>("bye")) {</a:t>
            </a:r>
          </a:p>
          <a:p>
            <a:r>
              <a:rPr lang="en-IE" dirty="0">
                <a:solidFill>
                  <a:schemeClr val="tx1"/>
                </a:solidFill>
              </a:rPr>
              <a:t>               String response = </a:t>
            </a:r>
            <a:r>
              <a:rPr lang="en-IE" dirty="0" err="1">
                <a:solidFill>
                  <a:schemeClr val="tx1"/>
                </a:solidFill>
              </a:rPr>
              <a:t>responder.generateResponse</a:t>
            </a:r>
            <a:r>
              <a:rPr lang="en-IE" dirty="0">
                <a:solidFill>
                  <a:schemeClr val="tx1"/>
                </a:solidFill>
              </a:rPr>
              <a:t>();</a:t>
            </a:r>
          </a:p>
          <a:p>
            <a:r>
              <a:rPr lang="en-IE" dirty="0"/>
              <a:t>       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(response);</a:t>
            </a:r>
            <a:r>
              <a:rPr lang="en-IE" dirty="0"/>
              <a:t>  </a:t>
            </a:r>
          </a:p>
          <a:p>
            <a:r>
              <a:rPr lang="en-IE" dirty="0"/>
              <a:t>              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  }</a:t>
            </a:r>
          </a:p>
          <a:p>
            <a:r>
              <a:rPr lang="en-IE" dirty="0"/>
              <a:t>          </a:t>
            </a:r>
            <a:r>
              <a:rPr lang="en-IE" dirty="0" err="1"/>
              <a:t>printGoodbye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TextBox 4"/>
          <p:cNvSpPr txBox="1"/>
          <p:nvPr/>
        </p:nvSpPr>
        <p:spPr>
          <a:xfrm>
            <a:off x="7162800" y="4191000"/>
            <a:ext cx="3200400" cy="15696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In </a:t>
            </a:r>
            <a:r>
              <a:rPr lang="en-IE" sz="2400"/>
              <a:t>V3 </a:t>
            </a:r>
            <a:br>
              <a:rPr lang="en-IE" sz="2400"/>
            </a:br>
            <a:r>
              <a:rPr lang="en-IE" sz="2400"/>
              <a:t>we change </a:t>
            </a:r>
            <a:r>
              <a:rPr lang="en-IE" sz="2400" dirty="0"/>
              <a:t>this class</a:t>
            </a:r>
            <a:r>
              <a:rPr lang="en-IE" sz="2400"/>
              <a:t>, </a:t>
            </a:r>
            <a:br>
              <a:rPr lang="en-IE" sz="2400"/>
            </a:br>
            <a:r>
              <a:rPr lang="en-IE" sz="2400"/>
              <a:t>mainly </a:t>
            </a:r>
            <a:r>
              <a:rPr lang="en-IE" sz="2400" dirty="0"/>
              <a:t>in the start() method &gt;&gt;&gt;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9263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41494"/>
            <a:ext cx="7086600" cy="68941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rgbClr val="FF0000"/>
                </a:solidFill>
              </a:rPr>
              <a:t>import </a:t>
            </a:r>
            <a:r>
              <a:rPr lang="en-IE" dirty="0" err="1">
                <a:solidFill>
                  <a:srgbClr val="FF0000"/>
                </a:solidFill>
              </a:rPr>
              <a:t>java.util.</a:t>
            </a:r>
            <a:r>
              <a:rPr lang="en-IE" b="1" dirty="0" err="1">
                <a:solidFill>
                  <a:srgbClr val="FF0000"/>
                </a:solidFill>
              </a:rPr>
              <a:t>HashSet</a:t>
            </a:r>
            <a:r>
              <a:rPr lang="en-IE" dirty="0">
                <a:solidFill>
                  <a:srgbClr val="FF0000"/>
                </a:solidFill>
              </a:rPr>
              <a:t>;</a:t>
            </a:r>
            <a:endParaRPr lang="en-IE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E" dirty="0"/>
              <a:t>public class </a:t>
            </a:r>
            <a:r>
              <a:rPr lang="en-IE" dirty="0" err="1"/>
              <a:t>SupportSystem</a:t>
            </a:r>
            <a:endParaRPr lang="en-IE" dirty="0"/>
          </a:p>
          <a:p>
            <a:r>
              <a:rPr lang="en-IE" dirty="0"/>
              <a:t>{</a:t>
            </a:r>
          </a:p>
          <a:p>
            <a:r>
              <a:rPr lang="en-IE" dirty="0"/>
              <a:t>    private </a:t>
            </a:r>
            <a:r>
              <a:rPr lang="en-IE" dirty="0" err="1"/>
              <a:t>InputReader</a:t>
            </a:r>
            <a:r>
              <a:rPr lang="en-IE" dirty="0"/>
              <a:t> reader;</a:t>
            </a:r>
          </a:p>
          <a:p>
            <a:r>
              <a:rPr lang="en-IE" dirty="0"/>
              <a:t>    private Responder </a:t>
            </a:r>
            <a:r>
              <a:rPr lang="en-IE" dirty="0" err="1"/>
              <a:t>responder</a:t>
            </a:r>
            <a:r>
              <a:rPr lang="en-IE" dirty="0"/>
              <a:t>;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</a:t>
            </a:r>
            <a:r>
              <a:rPr lang="en-IE" dirty="0" err="1"/>
              <a:t>SupportSystem</a:t>
            </a:r>
            <a:r>
              <a:rPr lang="en-IE" dirty="0"/>
              <a:t>() {</a:t>
            </a:r>
          </a:p>
          <a:p>
            <a:r>
              <a:rPr lang="en-IE" dirty="0"/>
              <a:t>         reader = new </a:t>
            </a:r>
            <a:r>
              <a:rPr lang="en-IE" dirty="0" err="1"/>
              <a:t>InputReader</a:t>
            </a:r>
            <a:r>
              <a:rPr lang="en-IE" dirty="0"/>
              <a:t>();</a:t>
            </a:r>
          </a:p>
          <a:p>
            <a:r>
              <a:rPr lang="en-IE" dirty="0"/>
              <a:t>         responder = new Responder();</a:t>
            </a:r>
          </a:p>
          <a:p>
            <a:r>
              <a:rPr lang="en-IE" dirty="0"/>
              <a:t>    }</a:t>
            </a:r>
          </a:p>
          <a:p>
            <a:r>
              <a:rPr lang="en-IE" dirty="0"/>
              <a:t>    public static void main(String[] </a:t>
            </a:r>
            <a:r>
              <a:rPr lang="en-IE" dirty="0" err="1"/>
              <a:t>argvs</a:t>
            </a:r>
            <a:r>
              <a:rPr lang="en-IE" dirty="0"/>
              <a:t>){</a:t>
            </a:r>
          </a:p>
          <a:p>
            <a:r>
              <a:rPr lang="en-IE" dirty="0"/>
              <a:t>         </a:t>
            </a:r>
            <a:r>
              <a:rPr lang="en-IE" dirty="0" err="1"/>
              <a:t>SupportSystem</a:t>
            </a:r>
            <a:r>
              <a:rPr lang="en-IE" dirty="0"/>
              <a:t> app = new </a:t>
            </a:r>
            <a:r>
              <a:rPr lang="en-IE" dirty="0" err="1"/>
              <a:t>SupportSystem</a:t>
            </a:r>
            <a:r>
              <a:rPr lang="en-IE" dirty="0"/>
              <a:t>();</a:t>
            </a:r>
          </a:p>
          <a:p>
            <a:r>
              <a:rPr lang="en-IE" dirty="0"/>
              <a:t>         </a:t>
            </a:r>
            <a:r>
              <a:rPr lang="en-IE" dirty="0" err="1"/>
              <a:t>app.</a:t>
            </a:r>
            <a:r>
              <a:rPr lang="en-IE" b="1" dirty="0" err="1"/>
              <a:t>startSupport</a:t>
            </a:r>
            <a:r>
              <a:rPr lang="en-IE" b="1" dirty="0"/>
              <a:t>();</a:t>
            </a:r>
          </a:p>
          <a:p>
            <a:r>
              <a:rPr lang="en-IE" dirty="0"/>
              <a:t>    }</a:t>
            </a:r>
          </a:p>
          <a:p>
            <a:r>
              <a:rPr lang="en-IE" sz="1000" dirty="0"/>
              <a:t>    </a:t>
            </a:r>
          </a:p>
          <a:p>
            <a:r>
              <a:rPr lang="en-IE" dirty="0"/>
              <a:t> public void </a:t>
            </a:r>
            <a:r>
              <a:rPr lang="en-IE" b="1" dirty="0" err="1"/>
              <a:t>startSupport</a:t>
            </a:r>
            <a:r>
              <a:rPr lang="en-IE" b="1" dirty="0"/>
              <a:t>()</a:t>
            </a:r>
            <a:r>
              <a:rPr lang="en-IE" dirty="0"/>
              <a:t>{</a:t>
            </a:r>
          </a:p>
          <a:p>
            <a:r>
              <a:rPr lang="en-IE" dirty="0"/>
              <a:t>        </a:t>
            </a:r>
            <a:r>
              <a:rPr lang="en-IE" dirty="0" err="1"/>
              <a:t>printWelcome</a:t>
            </a:r>
            <a:r>
              <a:rPr lang="en-IE" dirty="0"/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HashSet</a:t>
            </a:r>
            <a:r>
              <a:rPr lang="en-IE" dirty="0"/>
              <a:t>&lt;String&gt; </a:t>
            </a:r>
            <a:r>
              <a:rPr lang="en-IE" b="1" dirty="0"/>
              <a:t>input</a:t>
            </a:r>
            <a:r>
              <a:rPr lang="en-IE" dirty="0"/>
              <a:t>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while(!</a:t>
            </a:r>
            <a:r>
              <a:rPr lang="en-IE" dirty="0" err="1"/>
              <a:t>input</a:t>
            </a:r>
            <a:r>
              <a:rPr lang="en-IE" b="1" dirty="0" err="1"/>
              <a:t>.contains</a:t>
            </a:r>
            <a:r>
              <a:rPr lang="en-IE" dirty="0"/>
              <a:t>("bye")) {</a:t>
            </a:r>
          </a:p>
          <a:p>
            <a:r>
              <a:rPr lang="en-IE" dirty="0"/>
              <a:t>                String response = </a:t>
            </a:r>
            <a:r>
              <a:rPr lang="en-IE" dirty="0" err="1"/>
              <a:t>responder.generateResponse</a:t>
            </a:r>
            <a:r>
              <a:rPr lang="en-IE" dirty="0"/>
              <a:t>(</a:t>
            </a:r>
            <a:r>
              <a:rPr lang="en-IE" b="1" dirty="0"/>
              <a:t>input</a:t>
            </a:r>
            <a:r>
              <a:rPr lang="en-IE" dirty="0"/>
              <a:t>);</a:t>
            </a:r>
          </a:p>
          <a:p>
            <a:r>
              <a:rPr lang="en-IE" dirty="0"/>
              <a:t>                </a:t>
            </a:r>
            <a:r>
              <a:rPr lang="en-IE" dirty="0" err="1"/>
              <a:t>System.out.println</a:t>
            </a:r>
            <a:r>
              <a:rPr lang="en-IE" dirty="0"/>
              <a:t>(response); </a:t>
            </a:r>
          </a:p>
          <a:p>
            <a:r>
              <a:rPr lang="en-IE" dirty="0"/>
              <a:t>               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}</a:t>
            </a:r>
          </a:p>
          <a:p>
            <a:r>
              <a:rPr lang="en-IE" dirty="0"/>
              <a:t>        </a:t>
            </a:r>
            <a:r>
              <a:rPr lang="en-IE" dirty="0" err="1"/>
              <a:t>printGoodbye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TextBox 4"/>
          <p:cNvSpPr txBox="1"/>
          <p:nvPr/>
        </p:nvSpPr>
        <p:spPr>
          <a:xfrm>
            <a:off x="7848600" y="3950110"/>
            <a:ext cx="2743200" cy="19389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 Uses a </a:t>
            </a:r>
          </a:p>
          <a:p>
            <a:pPr algn="ctr"/>
            <a:r>
              <a:rPr lang="en-IE" sz="2400" b="1" dirty="0" err="1"/>
              <a:t>HashSet</a:t>
            </a:r>
            <a:r>
              <a:rPr lang="en-IE" sz="2400" b="1" dirty="0"/>
              <a:t> of String</a:t>
            </a:r>
            <a:r>
              <a:rPr lang="en-IE" sz="2400" dirty="0"/>
              <a:t>s called </a:t>
            </a:r>
            <a:r>
              <a:rPr lang="en-IE" sz="2400" b="1" dirty="0"/>
              <a:t>input</a:t>
            </a:r>
            <a:r>
              <a:rPr lang="en-IE" sz="2400" dirty="0"/>
              <a:t> which is passed to </a:t>
            </a:r>
            <a:r>
              <a:rPr lang="en-IE" sz="2400" dirty="0" err="1"/>
              <a:t>generateResponse</a:t>
            </a:r>
            <a:r>
              <a:rPr lang="en-IE" sz="2400" dirty="0"/>
              <a:t>()</a:t>
            </a:r>
            <a:r>
              <a:rPr lang="en-IE" sz="2400" b="1" dirty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3962400"/>
            <a:ext cx="6019800" cy="2895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TextBox 8"/>
          <p:cNvSpPr txBox="1"/>
          <p:nvPr/>
        </p:nvSpPr>
        <p:spPr>
          <a:xfrm>
            <a:off x="4623683" y="1"/>
            <a:ext cx="2182634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V3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8600" y="5965009"/>
            <a:ext cx="2743200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 err="1"/>
              <a:t>startSupport</a:t>
            </a:r>
            <a:r>
              <a:rPr lang="en-IE" sz="2400" dirty="0"/>
              <a:t>() replaces start()</a:t>
            </a:r>
            <a:endParaRPr lang="en-IE" sz="24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090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CA18E50-A229-D0C5-0998-6A0069FBC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3286</Words>
  <Application>Microsoft Office PowerPoint</Application>
  <PresentationFormat>Widescreen</PresentationFormat>
  <Paragraphs>562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Calibri</vt:lpstr>
      <vt:lpstr>Courier</vt:lpstr>
      <vt:lpstr>Courier New</vt:lpstr>
      <vt:lpstr>Times</vt:lpstr>
      <vt:lpstr>Times New Roman</vt:lpstr>
      <vt:lpstr>Trebuchet MS</vt:lpstr>
      <vt:lpstr>Wingdings</vt:lpstr>
      <vt:lpstr>Office Theme</vt:lpstr>
      <vt:lpstr>More Sophisticated Behaviour</vt:lpstr>
      <vt:lpstr>Topic List</vt:lpstr>
      <vt:lpstr>Recap: Technical Support System V2</vt:lpstr>
      <vt:lpstr>PowerPoint Presentation</vt:lpstr>
      <vt:lpstr>Topic List</vt:lpstr>
      <vt:lpstr>Technical Support System V3</vt:lpstr>
      <vt:lpstr>Technical Support System V3</vt:lpstr>
      <vt:lpstr>Topic List</vt:lpstr>
      <vt:lpstr>How do we influence the generated response?</vt:lpstr>
      <vt:lpstr>ArrayList</vt:lpstr>
      <vt:lpstr>RECAP: Java’s Collections Framework</vt:lpstr>
      <vt:lpstr>RECAP: Java’s Collections Framework</vt:lpstr>
      <vt:lpstr>PowerPoint Presentation</vt:lpstr>
      <vt:lpstr>Topic List</vt:lpstr>
      <vt:lpstr>Maps</vt:lpstr>
      <vt:lpstr>Using Maps</vt:lpstr>
      <vt:lpstr>ArrayList Vs Map</vt:lpstr>
      <vt:lpstr>More on Map</vt:lpstr>
      <vt:lpstr>HashMap Methods</vt:lpstr>
      <vt:lpstr>Using HashMap</vt:lpstr>
      <vt:lpstr>HashMap in Tech Support System V3</vt:lpstr>
      <vt:lpstr>HashMap in Tech Support System V3</vt:lpstr>
      <vt:lpstr>PowerPoint Presentation</vt:lpstr>
      <vt:lpstr>PowerPoint Presentation</vt:lpstr>
      <vt:lpstr>PowerPoint Presentation</vt:lpstr>
      <vt:lpstr>Topic List</vt:lpstr>
      <vt:lpstr>Tokenizing Strings</vt:lpstr>
      <vt:lpstr>Set</vt:lpstr>
      <vt:lpstr>Using sets</vt:lpstr>
      <vt:lpstr>What is the Difference between Set and List?</vt:lpstr>
      <vt:lpstr>Returning to Tokenizing Strings</vt:lpstr>
      <vt:lpstr>PowerPoint Presentation</vt:lpstr>
      <vt:lpstr>PowerPoint Presentation</vt:lpstr>
      <vt:lpstr>Topic List</vt:lpstr>
      <vt:lpstr>PowerPoint Presentation</vt:lpstr>
      <vt:lpstr>PowerPoint Presentation</vt:lpstr>
      <vt:lpstr>Topic List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200</cp:revision>
  <dcterms:created xsi:type="dcterms:W3CDTF">2006-08-16T00:00:00Z</dcterms:created>
  <dcterms:modified xsi:type="dcterms:W3CDTF">2026-02-25T14:31:59Z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17D5A5A6-A4CF-4CE5-A97D-95D1C9FB2A4B</vt:lpwstr>
  </property>
  <property fmtid="{D5CDD505-2E9C-101B-9397-08002B2CF9AE}" pid="3" name="ArticulatePath">
    <vt:lpwstr>a-prog-fund-2-tech-support-V3</vt:lpwstr>
  </property>
</Properties>
</file>