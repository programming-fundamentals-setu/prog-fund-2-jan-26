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455" r:id="rId2"/>
    <p:sldId id="477" r:id="rId3"/>
    <p:sldId id="478" r:id="rId4"/>
    <p:sldId id="622" r:id="rId5"/>
    <p:sldId id="623" r:id="rId6"/>
    <p:sldId id="624" r:id="rId7"/>
    <p:sldId id="625" r:id="rId8"/>
    <p:sldId id="627" r:id="rId9"/>
    <p:sldId id="494" r:id="rId10"/>
    <p:sldId id="483" r:id="rId11"/>
    <p:sldId id="482" r:id="rId12"/>
    <p:sldId id="617" r:id="rId13"/>
    <p:sldId id="618" r:id="rId14"/>
    <p:sldId id="619" r:id="rId15"/>
    <p:sldId id="484" r:id="rId16"/>
    <p:sldId id="485" r:id="rId17"/>
    <p:sldId id="486" r:id="rId18"/>
    <p:sldId id="487" r:id="rId19"/>
    <p:sldId id="607" r:id="rId20"/>
    <p:sldId id="489" r:id="rId21"/>
    <p:sldId id="490" r:id="rId22"/>
    <p:sldId id="491" r:id="rId23"/>
    <p:sldId id="492" r:id="rId24"/>
    <p:sldId id="615" r:id="rId25"/>
    <p:sldId id="62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8E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99" autoAdjust="0"/>
    <p:restoredTop sz="92603" autoAdjust="0"/>
  </p:normalViewPr>
  <p:slideViewPr>
    <p:cSldViewPr>
      <p:cViewPr varScale="1">
        <p:scale>
          <a:sx n="88" d="100"/>
          <a:sy n="88" d="100"/>
        </p:scale>
        <p:origin x="461" y="7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431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CA051C-64F0-4573-B882-616D757F8DD4}" type="datetimeFigureOut">
              <a:rPr lang="en-IE" smtClean="0"/>
              <a:t>20/11/2025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E81B23-C832-43C5-9B50-044EE2C12CE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72643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5968AF7-F4DF-4677-BF8F-E565C7AC98F6}" type="slidenum">
              <a:rPr lang="en-GB"/>
              <a:pPr/>
              <a:t>3</a:t>
            </a:fld>
            <a:endParaRPr lang="en-GB"/>
          </a:p>
        </p:txBody>
      </p:sp>
      <p:sp>
        <p:nvSpPr>
          <p:cNvPr id="11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0796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06ACF8C-571F-41C7-9422-79A24E52D4B6}" type="slidenum">
              <a:rPr lang="en-GB"/>
              <a:pPr/>
              <a:t>9</a:t>
            </a:fld>
            <a:endParaRPr lang="en-GB"/>
          </a:p>
        </p:txBody>
      </p:sp>
      <p:sp>
        <p:nvSpPr>
          <p:cNvPr id="12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6173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29F07A-AFCF-4475-B3F1-78065FC75E74}" type="slidenum">
              <a:rPr lang="en-GB"/>
              <a:pPr/>
              <a:t>10</a:t>
            </a:fld>
            <a:endParaRPr lang="en-GB"/>
          </a:p>
        </p:txBody>
      </p:sp>
      <p:sp>
        <p:nvSpPr>
          <p:cNvPr id="11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r>
              <a:rPr lang="en-US" dirty="0"/>
              <a:t>The type must be an object…it cannot store primitive types. </a:t>
            </a:r>
          </a:p>
        </p:txBody>
      </p:sp>
    </p:spTree>
    <p:extLst>
      <p:ext uri="{BB962C8B-B14F-4D97-AF65-F5344CB8AC3E}">
        <p14:creationId xmlns:p14="http://schemas.microsoft.com/office/powerpoint/2010/main" val="10496968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A226A5-5824-402C-8B4F-260A788A38E9}" type="slidenum">
              <a:rPr lang="en-GB"/>
              <a:pPr/>
              <a:t>11</a:t>
            </a:fld>
            <a:endParaRPr lang="en-GB"/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2223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A226A5-5824-402C-8B4F-260A788A38E9}" type="slidenum">
              <a:rPr lang="en-GB"/>
              <a:pPr/>
              <a:t>12</a:t>
            </a:fld>
            <a:endParaRPr lang="en-GB"/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3937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A226A5-5824-402C-8B4F-260A788A38E9}" type="slidenum">
              <a:rPr lang="en-GB"/>
              <a:pPr/>
              <a:t>13</a:t>
            </a:fld>
            <a:endParaRPr lang="en-GB"/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3456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A226A5-5824-402C-8B4F-260A788A38E9}" type="slidenum">
              <a:rPr lang="en-GB"/>
              <a:pPr/>
              <a:t>14</a:t>
            </a:fld>
            <a:endParaRPr lang="en-GB"/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432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2627A2-1406-4140-93E7-A5A4B9E074FE}" type="slidenum">
              <a:rPr lang="en-GB"/>
              <a:pPr/>
              <a:t>15</a:t>
            </a:fld>
            <a:endParaRPr lang="en-GB"/>
          </a:p>
        </p:txBody>
      </p:sp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1227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C97EB5-E582-4061-ABE8-0F706322247C}" type="slidenum">
              <a:rPr lang="en-GB"/>
              <a:pPr/>
              <a:t>16</a:t>
            </a:fld>
            <a:endParaRPr lang="en-GB"/>
          </a:p>
        </p:txBody>
      </p:sp>
      <p:sp>
        <p:nvSpPr>
          <p:cNvPr id="121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7602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C29A42F-26BE-4934-A376-6523DF5E3010}" type="slidenum">
              <a:rPr lang="en-GB"/>
              <a:pPr/>
              <a:t>17</a:t>
            </a:fld>
            <a:endParaRPr lang="en-GB"/>
          </a:p>
        </p:txBody>
      </p:sp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r>
              <a:rPr lang="en-US" dirty="0"/>
              <a:t>ANSWER = NO</a:t>
            </a:r>
          </a:p>
        </p:txBody>
      </p:sp>
    </p:spTree>
    <p:extLst>
      <p:ext uri="{BB962C8B-B14F-4D97-AF65-F5344CB8AC3E}">
        <p14:creationId xmlns:p14="http://schemas.microsoft.com/office/powerpoint/2010/main" val="8117216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A5FF95D-9F33-418B-932E-BDB298E0E700}" type="slidenum">
              <a:rPr lang="en-GB"/>
              <a:pPr/>
              <a:t>18</a:t>
            </a:fld>
            <a:endParaRPr lang="en-GB"/>
          </a:p>
        </p:txBody>
      </p:sp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4520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9976E63-9D84-4F22-B96B-56C32D207805}" type="slidenum">
              <a:rPr lang="en-GB"/>
              <a:pPr/>
              <a:t>20</a:t>
            </a:fld>
            <a:endParaRPr lang="en-GB"/>
          </a:p>
        </p:txBody>
      </p:sp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7325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D440085-0C24-4707-AB68-4BC4938116B2}" type="slidenum">
              <a:rPr lang="en-GB"/>
              <a:pPr/>
              <a:t>21</a:t>
            </a:fld>
            <a:endParaRPr lang="en-GB"/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4943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D440085-0C24-4707-AB68-4BC4938116B2}" type="slidenum">
              <a:rPr lang="en-GB"/>
              <a:pPr/>
              <a:t>22</a:t>
            </a:fld>
            <a:endParaRPr lang="en-GB"/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5451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8D515A-2286-4643-8ED2-8BB8C5F1BEE1}" type="slidenum">
              <a:rPr lang="en-GB"/>
              <a:pPr/>
              <a:t>23</a:t>
            </a:fld>
            <a:endParaRPr lang="en-GB"/>
          </a:p>
        </p:txBody>
      </p:sp>
      <p:sp>
        <p:nvSpPr>
          <p:cNvPr id="12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4442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8D515A-2286-4643-8ED2-8BB8C5F1BEE1}" type="slidenum">
              <a:rPr lang="en-GB"/>
              <a:pPr/>
              <a:t>24</a:t>
            </a:fld>
            <a:endParaRPr lang="en-GB"/>
          </a:p>
        </p:txBody>
      </p:sp>
      <p:sp>
        <p:nvSpPr>
          <p:cNvPr id="12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241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64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09728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5578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708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095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785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941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06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17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62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650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366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895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Introduction to </a:t>
            </a:r>
            <a:r>
              <a:rPr lang="en-IE" sz="4000" dirty="0" err="1"/>
              <a:t>ArrayLists</a:t>
            </a:r>
            <a:endParaRPr lang="en-IE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10456" y="3441413"/>
            <a:ext cx="20193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2004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10200" y="2579088"/>
            <a:ext cx="4576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E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(based on Ch. 4, </a:t>
            </a:r>
            <a:r>
              <a:rPr lang="en-GB" sz="1400" dirty="0">
                <a:solidFill>
                  <a:srgbClr val="685345"/>
                </a:solidFill>
                <a:latin typeface="+mj-lt"/>
              </a:rPr>
              <a:t>Objects First with Java - A Practical Introduction using </a:t>
            </a:r>
            <a:r>
              <a:rPr lang="en-GB" sz="1400" dirty="0" err="1">
                <a:solidFill>
                  <a:srgbClr val="685345"/>
                </a:solidFill>
                <a:latin typeface="+mj-lt"/>
              </a:rPr>
              <a:t>BlueJ</a:t>
            </a:r>
            <a:r>
              <a:rPr lang="en-GB" sz="1400" dirty="0">
                <a:solidFill>
                  <a:srgbClr val="685345"/>
                </a:solidFill>
                <a:latin typeface="+mj-lt"/>
              </a:rPr>
              <a:t>, © David J. Barnes, Michael </a:t>
            </a:r>
            <a:r>
              <a:rPr lang="en-GB" sz="1400" dirty="0" err="1">
                <a:solidFill>
                  <a:srgbClr val="685345"/>
                </a:solidFill>
                <a:latin typeface="+mj-lt"/>
              </a:rPr>
              <a:t>Kölling</a:t>
            </a:r>
            <a:r>
              <a:rPr lang="en-GB" sz="1400" dirty="0">
                <a:solidFill>
                  <a:srgbClr val="685345"/>
                </a:solidFill>
                <a:latin typeface="+mj-lt"/>
              </a:rPr>
              <a:t>)</a:t>
            </a:r>
            <a:endParaRPr lang="en-IE" sz="14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E43A3F-EDEA-4E2F-812F-B9C9A765D6F6}"/>
              </a:ext>
            </a:extLst>
          </p:cNvPr>
          <p:cNvSpPr txBox="1"/>
          <p:nvPr/>
        </p:nvSpPr>
        <p:spPr>
          <a:xfrm>
            <a:off x="4343400" y="3448238"/>
            <a:ext cx="358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Mairéad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Meagher</a:t>
            </a:r>
          </a:p>
          <a:p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Dr.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Drohan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 Siobhan Roche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93C80F-0085-D56A-AC23-57BFF9220DD7}"/>
              </a:ext>
            </a:extLst>
          </p:cNvPr>
          <p:cNvSpPr txBox="1"/>
          <p:nvPr/>
        </p:nvSpPr>
        <p:spPr>
          <a:xfrm>
            <a:off x="7336971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E63C77A9-2080-91E1-D8A2-618FC5D7B7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316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 list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3238" y="1524000"/>
            <a:ext cx="8839200" cy="5105400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Grouping Objects </a:t>
            </a:r>
          </a:p>
          <a:p>
            <a:pPr lvl="1"/>
            <a:r>
              <a:rPr lang="en-GB" dirty="0"/>
              <a:t>Developing a basic personal notebook project using </a:t>
            </a:r>
            <a:r>
              <a:rPr lang="en-GB" b="1" dirty="0"/>
              <a:t>Collections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e.g. </a:t>
            </a:r>
            <a:r>
              <a:rPr lang="en-GB" b="1" dirty="0" err="1"/>
              <a:t>ArrayList</a:t>
            </a:r>
            <a:endParaRPr lang="en-GB" b="1" dirty="0"/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Indexing</a:t>
            </a:r>
            <a:r>
              <a:rPr lang="en-GB" dirty="0"/>
              <a:t> within Collections</a:t>
            </a:r>
          </a:p>
          <a:p>
            <a:pPr lvl="1"/>
            <a:r>
              <a:rPr lang="en-GB" dirty="0"/>
              <a:t>Retrieval and removal of objects 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Generic classes </a:t>
            </a:r>
          </a:p>
          <a:p>
            <a:pPr lvl="1"/>
            <a:r>
              <a:rPr lang="en-GB" dirty="0"/>
              <a:t>e.g. </a:t>
            </a:r>
            <a:r>
              <a:rPr lang="en-GB" dirty="0" err="1"/>
              <a:t>ArrayList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Iteration</a:t>
            </a:r>
          </a:p>
          <a:p>
            <a:pPr lvl="1"/>
            <a:r>
              <a:rPr lang="en-GB" dirty="0"/>
              <a:t>Using the for loop</a:t>
            </a:r>
          </a:p>
          <a:p>
            <a:pPr lvl="1"/>
            <a:r>
              <a:rPr lang="en-GB" dirty="0"/>
              <a:t>Using the while loop</a:t>
            </a:r>
          </a:p>
          <a:p>
            <a:pPr lvl="1"/>
            <a:r>
              <a:rPr lang="en-GB" dirty="0"/>
              <a:t>Using the </a:t>
            </a:r>
            <a:r>
              <a:rPr lang="en-GB" b="1" dirty="0"/>
              <a:t>for each </a:t>
            </a:r>
            <a:r>
              <a:rPr lang="en-GB" dirty="0"/>
              <a:t>loop</a:t>
            </a:r>
          </a:p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Next </a:t>
            </a:r>
            <a:r>
              <a:rPr lang="en-IE" dirty="0" err="1">
                <a:solidFill>
                  <a:schemeClr val="bg1">
                    <a:lumMod val="50000"/>
                  </a:schemeClr>
                </a:solidFill>
              </a:rPr>
              <a:t>SlideDeck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: </a:t>
            </a:r>
            <a:br>
              <a:rPr lang="en-IE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coding a Shop Project that stores an </a:t>
            </a:r>
            <a:r>
              <a:rPr lang="en-IE" dirty="0" err="1">
                <a:solidFill>
                  <a:schemeClr val="bg1">
                    <a:lumMod val="50000"/>
                  </a:schemeClr>
                </a:solidFill>
              </a:rPr>
              <a:t>ArrayList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of Products.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43238" y="1524000"/>
            <a:ext cx="8748562" cy="10668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25936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requirement to </a:t>
            </a:r>
            <a:r>
              <a:rPr lang="en-US" b="1" dirty="0"/>
              <a:t>group objects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1600201"/>
            <a:ext cx="8610600" cy="4525963"/>
          </a:xfrm>
        </p:spPr>
        <p:txBody>
          <a:bodyPr>
            <a:normAutofit/>
          </a:bodyPr>
          <a:lstStyle/>
          <a:p>
            <a:r>
              <a:rPr lang="en-US" dirty="0"/>
              <a:t>Many applications involve </a:t>
            </a:r>
            <a:r>
              <a:rPr lang="en-US" b="1" dirty="0"/>
              <a:t>collections</a:t>
            </a:r>
            <a:r>
              <a:rPr lang="en-US" dirty="0"/>
              <a:t> of objects:</a:t>
            </a:r>
          </a:p>
          <a:p>
            <a:pPr lvl="1"/>
            <a:r>
              <a:rPr lang="en-US" dirty="0"/>
              <a:t>Personal organizers.</a:t>
            </a:r>
          </a:p>
          <a:p>
            <a:pPr lvl="1"/>
            <a:r>
              <a:rPr lang="en-US" dirty="0"/>
              <a:t>Library catalogs.</a:t>
            </a:r>
          </a:p>
          <a:p>
            <a:pPr lvl="1"/>
            <a:r>
              <a:rPr lang="en-US" dirty="0"/>
              <a:t>Student-record system.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number of items </a:t>
            </a:r>
            <a:r>
              <a:rPr lang="en-US" dirty="0"/>
              <a:t>to be stored </a:t>
            </a:r>
            <a:r>
              <a:rPr lang="en-US" b="1" u="sng" dirty="0"/>
              <a:t>varies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Items added.</a:t>
            </a:r>
          </a:p>
          <a:p>
            <a:pPr lvl="1"/>
            <a:r>
              <a:rPr lang="en-US" dirty="0"/>
              <a:t>Items deleted.</a:t>
            </a:r>
          </a:p>
        </p:txBody>
      </p:sp>
    </p:spTree>
    <p:extLst>
      <p:ext uri="{BB962C8B-B14F-4D97-AF65-F5344CB8AC3E}">
        <p14:creationId xmlns:p14="http://schemas.microsoft.com/office/powerpoint/2010/main" val="1675018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A65E5-ECA6-F50B-F216-E8ED1809E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Personal Note Keeper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78BF1-6330-68B7-6737-4A0B74E6F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254" y="1655762"/>
            <a:ext cx="5133109" cy="354647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Notes may be </a:t>
            </a:r>
            <a:r>
              <a:rPr lang="en-US" b="1" dirty="0"/>
              <a:t>stored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dirty="0"/>
              <a:t>Individual notes can be </a:t>
            </a:r>
            <a:r>
              <a:rPr lang="en-US" b="1" dirty="0"/>
              <a:t>viewed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There is </a:t>
            </a:r>
            <a:r>
              <a:rPr lang="en-US" b="1" dirty="0"/>
              <a:t>no limit </a:t>
            </a:r>
            <a:r>
              <a:rPr lang="en-US" dirty="0"/>
              <a:t>to the number of notes.</a:t>
            </a:r>
            <a:br>
              <a:rPr lang="en-US" dirty="0"/>
            </a:br>
            <a:endParaRPr lang="en-US" dirty="0"/>
          </a:p>
          <a:p>
            <a:r>
              <a:rPr lang="en-US" dirty="0"/>
              <a:t>It generally </a:t>
            </a:r>
            <a:r>
              <a:rPr lang="en-US" b="1" dirty="0"/>
              <a:t>tells you how many</a:t>
            </a:r>
            <a:r>
              <a:rPr lang="en-US" dirty="0"/>
              <a:t> notes are stored.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C27FDD-EE4B-EBF2-F519-40CBDF68F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A0E25A-612D-69FD-21EA-620197CE5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600" y="1955799"/>
            <a:ext cx="3327400" cy="29464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60910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9BCC4-D639-758C-6D09-6EEACF92B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757" y="3461"/>
            <a:ext cx="10515600" cy="1325563"/>
          </a:xfrm>
        </p:spPr>
        <p:txBody>
          <a:bodyPr/>
          <a:lstStyle/>
          <a:p>
            <a:r>
              <a:rPr lang="en-US" dirty="0"/>
              <a:t>Java API – The Class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566B1-83FF-F42B-DC68-9BD40FB90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314" y="1738702"/>
            <a:ext cx="5263243" cy="35464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Many useful classes.</a:t>
            </a:r>
          </a:p>
          <a:p>
            <a:r>
              <a:rPr lang="en-US" dirty="0"/>
              <a:t>We don’t have to write everything from scratch.</a:t>
            </a:r>
          </a:p>
          <a:p>
            <a:r>
              <a:rPr lang="en-US" dirty="0"/>
              <a:t>Java calls its libraries, </a:t>
            </a:r>
            <a:r>
              <a:rPr lang="en-US" b="1" i="1" dirty="0">
                <a:highlight>
                  <a:srgbClr val="FCCA3A"/>
                </a:highlight>
              </a:rPr>
              <a:t>packages</a:t>
            </a:r>
            <a:r>
              <a:rPr lang="en-US" dirty="0"/>
              <a:t>.</a:t>
            </a:r>
          </a:p>
          <a:p>
            <a:r>
              <a:rPr lang="en-US" i="1" dirty="0"/>
              <a:t>Packages</a:t>
            </a:r>
            <a:r>
              <a:rPr lang="en-US" b="1" i="1" dirty="0"/>
              <a:t> </a:t>
            </a:r>
            <a:r>
              <a:rPr lang="en-US" i="1" dirty="0"/>
              <a:t>contain individual </a:t>
            </a:r>
            <a:br>
              <a:rPr lang="en-US" i="1" dirty="0"/>
            </a:br>
            <a:r>
              <a:rPr lang="en-US" b="1" i="1" dirty="0"/>
              <a:t>classes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E5C3F-EE40-73C3-BA96-35E7C51A9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B25815-2A39-BD5B-193B-E3A178E5D485}"/>
              </a:ext>
            </a:extLst>
          </p:cNvPr>
          <p:cNvSpPr txBox="1"/>
          <p:nvPr/>
        </p:nvSpPr>
        <p:spPr>
          <a:xfrm>
            <a:off x="6365482" y="5412028"/>
            <a:ext cx="56380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rgbClr val="FCCA3A"/>
                </a:solidFill>
                <a:latin typeface="Inter" panose="02000503000000020004" pitchFamily="2" charset="0"/>
                <a:ea typeface="Inter" panose="02000503000000020004" pitchFamily="2" charset="0"/>
              </a:rPr>
              <a:t>https://</a:t>
            </a:r>
            <a:r>
              <a:rPr lang="en-US" sz="1400" i="1" dirty="0" err="1">
                <a:solidFill>
                  <a:srgbClr val="FCCA3A"/>
                </a:solidFill>
                <a:latin typeface="Inter" panose="02000503000000020004" pitchFamily="2" charset="0"/>
                <a:ea typeface="Inter" panose="02000503000000020004" pitchFamily="2" charset="0"/>
              </a:rPr>
              <a:t>www.oracle.com</a:t>
            </a:r>
            <a:r>
              <a:rPr lang="en-US" sz="1400" i="1" dirty="0">
                <a:solidFill>
                  <a:srgbClr val="FCCA3A"/>
                </a:solidFill>
                <a:latin typeface="Inter" panose="02000503000000020004" pitchFamily="2" charset="0"/>
                <a:ea typeface="Inter" panose="02000503000000020004" pitchFamily="2" charset="0"/>
              </a:rPr>
              <a:t>/java/technologies/platform-</a:t>
            </a:r>
            <a:r>
              <a:rPr lang="en-US" sz="1400" i="1" dirty="0" err="1">
                <a:solidFill>
                  <a:srgbClr val="FCCA3A"/>
                </a:solidFill>
                <a:latin typeface="Inter" panose="02000503000000020004" pitchFamily="2" charset="0"/>
                <a:ea typeface="Inter" panose="02000503000000020004" pitchFamily="2" charset="0"/>
              </a:rPr>
              <a:t>glance.html</a:t>
            </a:r>
            <a:endParaRPr lang="en-US" sz="1400" i="1" dirty="0">
              <a:solidFill>
                <a:srgbClr val="FCCA3A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7" name="Picture 6" descr="Chart, treemap chart&#10;&#10;Description automatically generated">
            <a:extLst>
              <a:ext uri="{FF2B5EF4-FFF2-40B4-BE49-F238E27FC236}">
                <a16:creationId xmlns:a16="http://schemas.microsoft.com/office/drawing/2014/main" id="{1B6B45A8-5BE9-23F6-7A35-BEED21078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108" y="1054100"/>
            <a:ext cx="6060456" cy="4425651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B3EBD6C-4D2A-25E4-6761-CFFD38DDC98D}"/>
              </a:ext>
            </a:extLst>
          </p:cNvPr>
          <p:cNvCxnSpPr>
            <a:cxnSpLocks/>
          </p:cNvCxnSpPr>
          <p:nvPr/>
        </p:nvCxnSpPr>
        <p:spPr>
          <a:xfrm>
            <a:off x="5425440" y="3566160"/>
            <a:ext cx="1264920" cy="1051560"/>
          </a:xfrm>
          <a:prstGeom prst="straightConnector1">
            <a:avLst/>
          </a:prstGeom>
          <a:ln w="34925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B059600-E8D3-73EB-5716-F6F10D6FFFFF}"/>
              </a:ext>
            </a:extLst>
          </p:cNvPr>
          <p:cNvCxnSpPr>
            <a:cxnSpLocks/>
          </p:cNvCxnSpPr>
          <p:nvPr/>
        </p:nvCxnSpPr>
        <p:spPr>
          <a:xfrm>
            <a:off x="5458097" y="3511940"/>
            <a:ext cx="1445623" cy="343780"/>
          </a:xfrm>
          <a:prstGeom prst="straightConnector1">
            <a:avLst/>
          </a:prstGeom>
          <a:ln w="34925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A54593C-529D-4C4C-00D6-40EADE27DDEF}"/>
              </a:ext>
            </a:extLst>
          </p:cNvPr>
          <p:cNvCxnSpPr>
            <a:cxnSpLocks/>
          </p:cNvCxnSpPr>
          <p:nvPr/>
        </p:nvCxnSpPr>
        <p:spPr>
          <a:xfrm>
            <a:off x="5928905" y="3346060"/>
            <a:ext cx="1007472" cy="0"/>
          </a:xfrm>
          <a:prstGeom prst="straightConnector1">
            <a:avLst/>
          </a:prstGeom>
          <a:ln w="34925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BCCF1C0-A12D-36CA-F341-40B7A2C398F8}"/>
              </a:ext>
            </a:extLst>
          </p:cNvPr>
          <p:cNvCxnSpPr>
            <a:cxnSpLocks/>
          </p:cNvCxnSpPr>
          <p:nvPr/>
        </p:nvCxnSpPr>
        <p:spPr>
          <a:xfrm flipV="1">
            <a:off x="5864407" y="2993294"/>
            <a:ext cx="932633" cy="177687"/>
          </a:xfrm>
          <a:prstGeom prst="straightConnector1">
            <a:avLst/>
          </a:prstGeom>
          <a:ln w="34925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911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9BCC4-D639-758C-6D09-6EEACF92B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757" y="3461"/>
            <a:ext cx="10515600" cy="1325563"/>
          </a:xfrm>
        </p:spPr>
        <p:txBody>
          <a:bodyPr/>
          <a:lstStyle/>
          <a:p>
            <a:r>
              <a:rPr lang="en-US" dirty="0"/>
              <a:t>Java API – The Class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566B1-83FF-F42B-DC68-9BD40FB90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693" y="1633147"/>
            <a:ext cx="5263243" cy="3546475"/>
          </a:xfrm>
        </p:spPr>
        <p:txBody>
          <a:bodyPr>
            <a:normAutofit/>
          </a:bodyPr>
          <a:lstStyle/>
          <a:p>
            <a:r>
              <a:rPr lang="en-US" dirty="0"/>
              <a:t>Grouping objects is a recurring requirement.</a:t>
            </a:r>
          </a:p>
          <a:p>
            <a:pPr lvl="1"/>
            <a:r>
              <a:rPr lang="en-US" dirty="0"/>
              <a:t>The </a:t>
            </a:r>
            <a:r>
              <a:rPr lang="en-US" b="1" dirty="0" err="1">
                <a:highlight>
                  <a:srgbClr val="FCCA3A"/>
                </a:highlight>
                <a:latin typeface="Courier New" pitchFamily="-32" charset="0"/>
              </a:rPr>
              <a:t>java.util</a:t>
            </a:r>
            <a:r>
              <a:rPr lang="en-US" dirty="0"/>
              <a:t> package contains classes for doing this</a:t>
            </a:r>
          </a:p>
          <a:p>
            <a:pPr lvl="1"/>
            <a:r>
              <a:rPr lang="en-US" dirty="0"/>
              <a:t>…the </a:t>
            </a:r>
            <a:r>
              <a:rPr lang="en-US" b="1" dirty="0">
                <a:highlight>
                  <a:srgbClr val="FCCA3A"/>
                </a:highlight>
              </a:rPr>
              <a:t>Collections</a:t>
            </a:r>
            <a:r>
              <a:rPr lang="en-US" dirty="0">
                <a:highlight>
                  <a:srgbClr val="FCCA3A"/>
                </a:highlight>
              </a:rPr>
              <a:t> </a:t>
            </a:r>
            <a:r>
              <a:rPr lang="en-US" b="1" dirty="0">
                <a:highlight>
                  <a:srgbClr val="FCCA3A"/>
                </a:highlight>
              </a:rPr>
              <a:t>Framework</a:t>
            </a:r>
            <a:endParaRPr lang="en-US" dirty="0">
              <a:highlight>
                <a:srgbClr val="FCCA3A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E5C3F-EE40-73C3-BA96-35E7C51A9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B25815-2A39-BD5B-193B-E3A178E5D485}"/>
              </a:ext>
            </a:extLst>
          </p:cNvPr>
          <p:cNvSpPr txBox="1"/>
          <p:nvPr/>
        </p:nvSpPr>
        <p:spPr>
          <a:xfrm>
            <a:off x="6365482" y="5412028"/>
            <a:ext cx="56380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rgbClr val="FCCA3A"/>
                </a:solidFill>
                <a:latin typeface="Inter" panose="02000503000000020004" pitchFamily="2" charset="0"/>
                <a:ea typeface="Inter" panose="02000503000000020004" pitchFamily="2" charset="0"/>
              </a:rPr>
              <a:t>https://</a:t>
            </a:r>
            <a:r>
              <a:rPr lang="en-US" sz="1400" i="1" dirty="0" err="1">
                <a:solidFill>
                  <a:srgbClr val="FCCA3A"/>
                </a:solidFill>
                <a:latin typeface="Inter" panose="02000503000000020004" pitchFamily="2" charset="0"/>
                <a:ea typeface="Inter" panose="02000503000000020004" pitchFamily="2" charset="0"/>
              </a:rPr>
              <a:t>www.oracle.com</a:t>
            </a:r>
            <a:r>
              <a:rPr lang="en-US" sz="1400" i="1" dirty="0">
                <a:solidFill>
                  <a:srgbClr val="FCCA3A"/>
                </a:solidFill>
                <a:latin typeface="Inter" panose="02000503000000020004" pitchFamily="2" charset="0"/>
                <a:ea typeface="Inter" panose="02000503000000020004" pitchFamily="2" charset="0"/>
              </a:rPr>
              <a:t>/java/technologies/platform-</a:t>
            </a:r>
            <a:r>
              <a:rPr lang="en-US" sz="1400" i="1" dirty="0" err="1">
                <a:solidFill>
                  <a:srgbClr val="FCCA3A"/>
                </a:solidFill>
                <a:latin typeface="Inter" panose="02000503000000020004" pitchFamily="2" charset="0"/>
                <a:ea typeface="Inter" panose="02000503000000020004" pitchFamily="2" charset="0"/>
              </a:rPr>
              <a:t>glance.html</a:t>
            </a:r>
            <a:endParaRPr lang="en-US" sz="1400" i="1" dirty="0">
              <a:solidFill>
                <a:srgbClr val="FCCA3A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7" name="Picture 6" descr="Chart, treemap chart&#10;&#10;Description automatically generated">
            <a:extLst>
              <a:ext uri="{FF2B5EF4-FFF2-40B4-BE49-F238E27FC236}">
                <a16:creationId xmlns:a16="http://schemas.microsoft.com/office/drawing/2014/main" id="{1B6B45A8-5BE9-23F6-7A35-BEED21078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108" y="1054100"/>
            <a:ext cx="6060456" cy="4425651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A54593C-529D-4C4C-00D6-40EADE27DDEF}"/>
              </a:ext>
            </a:extLst>
          </p:cNvPr>
          <p:cNvCxnSpPr>
            <a:cxnSpLocks/>
          </p:cNvCxnSpPr>
          <p:nvPr/>
        </p:nvCxnSpPr>
        <p:spPr>
          <a:xfrm>
            <a:off x="4831080" y="3124200"/>
            <a:ext cx="2255520" cy="1432560"/>
          </a:xfrm>
          <a:prstGeom prst="straightConnector1">
            <a:avLst/>
          </a:prstGeom>
          <a:ln w="34925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34FFC39-38F4-ADB3-65CB-763FD6D10955}"/>
              </a:ext>
            </a:extLst>
          </p:cNvPr>
          <p:cNvCxnSpPr>
            <a:cxnSpLocks/>
          </p:cNvCxnSpPr>
          <p:nvPr/>
        </p:nvCxnSpPr>
        <p:spPr>
          <a:xfrm>
            <a:off x="5026535" y="4252973"/>
            <a:ext cx="2400187" cy="303787"/>
          </a:xfrm>
          <a:prstGeom prst="straightConnector1">
            <a:avLst/>
          </a:prstGeom>
          <a:ln w="34925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65A5407-21EF-EBDC-7C50-4FC8B1066E00}"/>
              </a:ext>
            </a:extLst>
          </p:cNvPr>
          <p:cNvSpPr/>
          <p:nvPr/>
        </p:nvSpPr>
        <p:spPr>
          <a:xfrm>
            <a:off x="8031480" y="4404866"/>
            <a:ext cx="792480" cy="303787"/>
          </a:xfrm>
          <a:prstGeom prst="roundRect">
            <a:avLst/>
          </a:prstGeom>
          <a:noFill/>
          <a:ln w="38100">
            <a:solidFill>
              <a:srgbClr val="4357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421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5E068-B7BF-469C-AD57-E1176B939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436"/>
            <a:ext cx="10515600" cy="1325563"/>
          </a:xfrm>
        </p:spPr>
        <p:txBody>
          <a:bodyPr/>
          <a:lstStyle/>
          <a:p>
            <a:r>
              <a:rPr lang="en-US" dirty="0"/>
              <a:t>Java’s Collection Framework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69958F-769E-B240-F4E7-081668A18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2" descr="https://www3.ntu.edu.sg/home/ehchua/programming/java/images/Collection_interfaces.png">
            <a:extLst>
              <a:ext uri="{FF2B5EF4-FFF2-40B4-BE49-F238E27FC236}">
                <a16:creationId xmlns:a16="http://schemas.microsoft.com/office/drawing/2014/main" id="{D34CFB18-9F41-CEAD-513E-E96337C7C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471827"/>
            <a:ext cx="8291795" cy="426290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13B8FE8-296F-0129-9823-A187F261FF1F}"/>
              </a:ext>
            </a:extLst>
          </p:cNvPr>
          <p:cNvSpPr/>
          <p:nvPr/>
        </p:nvSpPr>
        <p:spPr>
          <a:xfrm>
            <a:off x="4718957" y="2155371"/>
            <a:ext cx="1518557" cy="424543"/>
          </a:xfrm>
          <a:prstGeom prst="rect">
            <a:avLst/>
          </a:prstGeom>
          <a:noFill/>
          <a:ln w="38100">
            <a:solidFill>
              <a:srgbClr val="4357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019B7C7-526F-CA26-19C6-AD21644F5FD1}"/>
              </a:ext>
            </a:extLst>
          </p:cNvPr>
          <p:cNvSpPr/>
          <p:nvPr/>
        </p:nvSpPr>
        <p:spPr>
          <a:xfrm>
            <a:off x="3614057" y="3063875"/>
            <a:ext cx="1104899" cy="365125"/>
          </a:xfrm>
          <a:prstGeom prst="ellipse">
            <a:avLst/>
          </a:prstGeom>
          <a:noFill/>
          <a:ln w="38100"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E74694D-F1AA-EA69-46E3-A6A4B57B8581}"/>
              </a:ext>
            </a:extLst>
          </p:cNvPr>
          <p:cNvSpPr/>
          <p:nvPr/>
        </p:nvSpPr>
        <p:spPr>
          <a:xfrm>
            <a:off x="8305799" y="3011823"/>
            <a:ext cx="1104899" cy="365125"/>
          </a:xfrm>
          <a:prstGeom prst="ellipse">
            <a:avLst/>
          </a:prstGeom>
          <a:noFill/>
          <a:ln w="38100"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0047235-2A51-2B56-FA13-5F14C63AB072}"/>
              </a:ext>
            </a:extLst>
          </p:cNvPr>
          <p:cNvSpPr/>
          <p:nvPr/>
        </p:nvSpPr>
        <p:spPr>
          <a:xfrm>
            <a:off x="5263243" y="3030196"/>
            <a:ext cx="1104899" cy="365125"/>
          </a:xfrm>
          <a:prstGeom prst="ellipse">
            <a:avLst/>
          </a:prstGeom>
          <a:noFill/>
          <a:ln w="38100"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A79A81-12AE-08C0-5CFB-933948745447}"/>
              </a:ext>
            </a:extLst>
          </p:cNvPr>
          <p:cNvSpPr/>
          <p:nvPr/>
        </p:nvSpPr>
        <p:spPr>
          <a:xfrm>
            <a:off x="3583214" y="4792448"/>
            <a:ext cx="963386" cy="228600"/>
          </a:xfrm>
          <a:prstGeom prst="rect">
            <a:avLst/>
          </a:prstGeom>
          <a:solidFill>
            <a:srgbClr val="FCCA3A">
              <a:alpha val="50196"/>
            </a:srgbClr>
          </a:solidFill>
          <a:ln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248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CEF7F-3433-0AF4-05D1-39F4FF2F8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36861E-0C9F-C52F-BEA4-A17415F9E141}"/>
              </a:ext>
            </a:extLst>
          </p:cNvPr>
          <p:cNvSpPr txBox="1"/>
          <p:nvPr/>
        </p:nvSpPr>
        <p:spPr>
          <a:xfrm>
            <a:off x="1066800" y="1417638"/>
            <a:ext cx="70104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properties do lists have? </a:t>
            </a:r>
          </a:p>
          <a:p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– this may be chronological (in the order the elements were added);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 can access any element in a list;</a:t>
            </a:r>
          </a:p>
          <a:p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 can add or remove any element in the list;</a:t>
            </a:r>
          </a:p>
          <a:p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 can have duplicates in a list.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will look at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ArrayLists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B3EAF1-6AC3-9116-6F79-D89AC976F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00" y="1600200"/>
            <a:ext cx="1600200" cy="212090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34874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ArrayList – methods we will use</a:t>
            </a:r>
            <a:endParaRPr lang="en-GB" dirty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2800" b="1" dirty="0" err="1">
                <a:latin typeface="Courier New" pitchFamily="-32" charset="0"/>
              </a:rPr>
              <a:t>ArrayList</a:t>
            </a:r>
            <a:r>
              <a:rPr lang="en-GB" sz="2800" dirty="0"/>
              <a:t> implements </a:t>
            </a:r>
            <a:r>
              <a:rPr lang="en-GB" sz="2800" u="sng" dirty="0"/>
              <a:t>list functionality</a:t>
            </a:r>
            <a:r>
              <a:rPr lang="en-GB" sz="2800" dirty="0"/>
              <a:t>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1176" y="2209800"/>
            <a:ext cx="8658225" cy="7859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1176" y="3060157"/>
            <a:ext cx="7657147" cy="8204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9105" y="3940191"/>
            <a:ext cx="8658225" cy="75636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9105" y="4746748"/>
            <a:ext cx="8658225" cy="72768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1176" y="5562739"/>
            <a:ext cx="7758113" cy="79322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247241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ArrayList</a:t>
            </a:r>
            <a:r>
              <a:rPr lang="en-GB" dirty="0"/>
              <a:t> Collection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We specify:</a:t>
            </a:r>
          </a:p>
          <a:p>
            <a:endParaRPr lang="en-GB" dirty="0"/>
          </a:p>
          <a:p>
            <a:pPr lvl="1"/>
            <a:r>
              <a:rPr lang="en-GB" dirty="0"/>
              <a:t> the </a:t>
            </a:r>
            <a:r>
              <a:rPr lang="en-GB" b="1" dirty="0"/>
              <a:t>type of collection</a:t>
            </a:r>
            <a:r>
              <a:rPr lang="en-GB" dirty="0"/>
              <a:t> </a:t>
            </a:r>
          </a:p>
          <a:p>
            <a:pPr lvl="2"/>
            <a:r>
              <a:rPr lang="en-GB" dirty="0"/>
              <a:t>e.g.: </a:t>
            </a:r>
            <a:r>
              <a:rPr lang="en-GB" b="1" dirty="0" err="1">
                <a:solidFill>
                  <a:srgbClr val="FF0000"/>
                </a:solidFill>
                <a:latin typeface="Courier New" pitchFamily="-32" charset="0"/>
              </a:rPr>
              <a:t>ArrayList</a:t>
            </a:r>
            <a:endParaRPr lang="en-GB" b="1" dirty="0">
              <a:solidFill>
                <a:srgbClr val="FF0000"/>
              </a:solidFill>
              <a:latin typeface="Courier New" pitchFamily="-32" charset="0"/>
            </a:endParaRPr>
          </a:p>
          <a:p>
            <a:pPr lvl="1"/>
            <a:endParaRPr lang="en-GB" dirty="0"/>
          </a:p>
          <a:p>
            <a:pPr lvl="1"/>
            <a:r>
              <a:rPr lang="en-GB" dirty="0"/>
              <a:t>the </a:t>
            </a:r>
            <a:r>
              <a:rPr lang="en-GB" b="1" dirty="0"/>
              <a:t>type of objects </a:t>
            </a:r>
            <a:r>
              <a:rPr lang="en-GB" dirty="0"/>
              <a:t>it will contain </a:t>
            </a:r>
          </a:p>
          <a:p>
            <a:pPr lvl="2"/>
            <a:r>
              <a:rPr lang="en-GB" dirty="0"/>
              <a:t>e.g.: </a:t>
            </a:r>
            <a:r>
              <a:rPr lang="en-GB" b="1" dirty="0">
                <a:solidFill>
                  <a:srgbClr val="FF0000"/>
                </a:solidFill>
                <a:latin typeface="Courier New" pitchFamily="-32" charset="0"/>
              </a:rPr>
              <a:t>&lt;String&gt;</a:t>
            </a:r>
          </a:p>
          <a:p>
            <a:endParaRPr lang="en-GB" dirty="0"/>
          </a:p>
          <a:p>
            <a:r>
              <a:rPr lang="en-GB" dirty="0"/>
              <a:t>We say </a:t>
            </a:r>
          </a:p>
          <a:p>
            <a:pPr lvl="1"/>
            <a:r>
              <a:rPr lang="en-GB" b="1" dirty="0">
                <a:solidFill>
                  <a:srgbClr val="FF0000"/>
                </a:solidFill>
              </a:rPr>
              <a:t>“</a:t>
            </a:r>
            <a:r>
              <a:rPr lang="en-GB" b="1" dirty="0" err="1">
                <a:solidFill>
                  <a:srgbClr val="FF0000"/>
                </a:solidFill>
              </a:rPr>
              <a:t>ArrayList</a:t>
            </a:r>
            <a:r>
              <a:rPr lang="en-GB" b="1" dirty="0">
                <a:solidFill>
                  <a:srgbClr val="FF0000"/>
                </a:solidFill>
              </a:rPr>
              <a:t> of String”</a:t>
            </a:r>
          </a:p>
        </p:txBody>
      </p:sp>
    </p:spTree>
    <p:extLst>
      <p:ext uri="{BB962C8B-B14F-4D97-AF65-F5344CB8AC3E}">
        <p14:creationId xmlns:p14="http://schemas.microsoft.com/office/powerpoint/2010/main" val="3784294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1905000" y="381001"/>
            <a:ext cx="8610600" cy="5324535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import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java.util.</a:t>
            </a:r>
            <a:r>
              <a:rPr lang="en-US" sz="2000" b="1" dirty="0" err="1">
                <a:latin typeface="Courier New" charset="0"/>
                <a:ea typeface="Courier New" charset="0"/>
                <a:cs typeface="Courier New" charset="0"/>
              </a:rPr>
              <a:t>ArrayList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;</a:t>
            </a:r>
          </a:p>
          <a:p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public class Notebook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{</a:t>
            </a:r>
          </a:p>
          <a:p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 	// Storage for an arbitrary number of notes.</a:t>
            </a:r>
          </a:p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   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	private </a:t>
            </a:r>
            <a:r>
              <a:rPr lang="en-US" sz="2000" b="1" dirty="0" err="1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ArrayList</a:t>
            </a:r>
            <a:r>
              <a:rPr lang="en-US" sz="2000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 &lt;String&gt; 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notes;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 </a:t>
            </a:r>
          </a:p>
          <a:p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  <a:p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    	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// Perform any initialization required for the notebook.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	public Notebook()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 	{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     	notes = </a:t>
            </a:r>
            <a:r>
              <a:rPr lang="en-US" sz="2000" b="1" dirty="0">
                <a:latin typeface="Courier New" charset="0"/>
                <a:ea typeface="Courier New" charset="0"/>
                <a:cs typeface="Courier New" charset="0"/>
              </a:rPr>
              <a:t>new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ArrayList</a:t>
            </a:r>
            <a:r>
              <a:rPr lang="en-US" sz="2000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 &lt;String&gt;</a:t>
            </a:r>
            <a:r>
              <a:rPr lang="en-US" sz="2000" b="1" dirty="0">
                <a:latin typeface="Courier New" charset="0"/>
                <a:ea typeface="Courier New" charset="0"/>
                <a:cs typeface="Courier New" charset="0"/>
              </a:rPr>
              <a:t>()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;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 	}</a:t>
            </a:r>
          </a:p>
          <a:p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91232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1905000" y="381001"/>
            <a:ext cx="8610600" cy="5324535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import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java.util.</a:t>
            </a:r>
            <a:r>
              <a:rPr lang="en-US" sz="2000" b="1" dirty="0" err="1">
                <a:latin typeface="Courier New" charset="0"/>
                <a:ea typeface="Courier New" charset="0"/>
                <a:cs typeface="Courier New" charset="0"/>
              </a:rPr>
              <a:t>ArrayList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;</a:t>
            </a:r>
          </a:p>
          <a:p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public class Notebook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{</a:t>
            </a:r>
          </a:p>
          <a:p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 	// Storage for an arbitrary number of notes.</a:t>
            </a:r>
          </a:p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   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	private </a:t>
            </a:r>
            <a:r>
              <a:rPr lang="en-US" sz="2000" b="1" dirty="0" err="1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ArrayList</a:t>
            </a:r>
            <a:r>
              <a:rPr lang="en-US" sz="2000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 &lt;String&gt; 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notes;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 </a:t>
            </a:r>
          </a:p>
          <a:p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  <a:p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    	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// Perform any initialization required for the notebook.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	public Notebook()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 	{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     	notes = </a:t>
            </a:r>
            <a:r>
              <a:rPr lang="en-US" sz="2000" b="1" dirty="0">
                <a:latin typeface="Courier New" charset="0"/>
                <a:ea typeface="Courier New" charset="0"/>
                <a:cs typeface="Courier New" charset="0"/>
              </a:rPr>
              <a:t>new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ArrayList</a:t>
            </a:r>
            <a:r>
              <a:rPr lang="en-US" sz="2000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 &lt;String&gt;</a:t>
            </a:r>
            <a:r>
              <a:rPr lang="en-US" sz="2000" b="1" dirty="0">
                <a:latin typeface="Courier New" charset="0"/>
                <a:ea typeface="Courier New" charset="0"/>
                <a:cs typeface="Courier New" charset="0"/>
              </a:rPr>
              <a:t>()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;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 	}</a:t>
            </a:r>
          </a:p>
          <a:p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}</a:t>
            </a:r>
          </a:p>
        </p:txBody>
      </p:sp>
      <p:sp>
        <p:nvSpPr>
          <p:cNvPr id="4" name="Donut 3"/>
          <p:cNvSpPr/>
          <p:nvPr/>
        </p:nvSpPr>
        <p:spPr>
          <a:xfrm>
            <a:off x="1676400" y="381001"/>
            <a:ext cx="4953000" cy="427663"/>
          </a:xfrm>
          <a:prstGeom prst="donut">
            <a:avLst>
              <a:gd name="adj" fmla="val 102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91201" y="724961"/>
            <a:ext cx="2873415" cy="369332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import the </a:t>
            </a:r>
            <a:r>
              <a:rPr lang="en-GB" dirty="0" err="1">
                <a:solidFill>
                  <a:srgbClr val="0070C0"/>
                </a:solidFill>
              </a:rPr>
              <a:t>ArrayList</a:t>
            </a:r>
            <a:r>
              <a:rPr lang="en-GB" dirty="0">
                <a:solidFill>
                  <a:srgbClr val="0070C0"/>
                </a:solidFill>
              </a:rPr>
              <a:t> package</a:t>
            </a:r>
          </a:p>
        </p:txBody>
      </p:sp>
    </p:spTree>
    <p:extLst>
      <p:ext uri="{BB962C8B-B14F-4D97-AF65-F5344CB8AC3E}">
        <p14:creationId xmlns:p14="http://schemas.microsoft.com/office/powerpoint/2010/main" val="3836218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1905000" y="381001"/>
            <a:ext cx="8610600" cy="5324535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import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java.util.</a:t>
            </a:r>
            <a:r>
              <a:rPr lang="en-US" sz="2000" b="1" dirty="0" err="1">
                <a:latin typeface="Courier New" charset="0"/>
                <a:ea typeface="Courier New" charset="0"/>
                <a:cs typeface="Courier New" charset="0"/>
              </a:rPr>
              <a:t>ArrayList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;</a:t>
            </a:r>
          </a:p>
          <a:p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public class Notebook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{</a:t>
            </a:r>
          </a:p>
          <a:p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 	// Storage for an arbitrary number of notes.</a:t>
            </a:r>
          </a:p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   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	private </a:t>
            </a:r>
            <a:r>
              <a:rPr lang="en-US" sz="2000" b="1" dirty="0" err="1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ArrayList</a:t>
            </a:r>
            <a:r>
              <a:rPr lang="en-US" sz="2000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 &lt;String&gt; 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notes;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 </a:t>
            </a:r>
          </a:p>
          <a:p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  <a:p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    	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// Perform any initialization required for the notebook.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	public Notebook()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 	{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     	notes = </a:t>
            </a:r>
            <a:r>
              <a:rPr lang="en-US" sz="2000" b="1" dirty="0">
                <a:latin typeface="Courier New" charset="0"/>
                <a:ea typeface="Courier New" charset="0"/>
                <a:cs typeface="Courier New" charset="0"/>
              </a:rPr>
              <a:t>new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ArrayList</a:t>
            </a:r>
            <a:r>
              <a:rPr lang="en-US" sz="2000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 &lt;String&gt;</a:t>
            </a:r>
            <a:r>
              <a:rPr lang="en-US" sz="2000" b="1" dirty="0">
                <a:latin typeface="Courier New" charset="0"/>
                <a:ea typeface="Courier New" charset="0"/>
                <a:cs typeface="Courier New" charset="0"/>
              </a:rPr>
              <a:t>()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;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 	}</a:t>
            </a:r>
          </a:p>
          <a:p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}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617340" y="2622658"/>
            <a:ext cx="2820772" cy="646331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declares notes as a private </a:t>
            </a:r>
            <a:br>
              <a:rPr lang="en-GB" dirty="0">
                <a:solidFill>
                  <a:srgbClr val="0070C0"/>
                </a:solidFill>
              </a:rPr>
            </a:br>
            <a:r>
              <a:rPr lang="en-GB" dirty="0">
                <a:solidFill>
                  <a:srgbClr val="0070C0"/>
                </a:solidFill>
              </a:rPr>
              <a:t>“</a:t>
            </a:r>
            <a:r>
              <a:rPr lang="en-GB" dirty="0" err="1">
                <a:solidFill>
                  <a:srgbClr val="0070C0"/>
                </a:solidFill>
              </a:rPr>
              <a:t>ArrayList</a:t>
            </a:r>
            <a:r>
              <a:rPr lang="en-GB" dirty="0">
                <a:solidFill>
                  <a:srgbClr val="0070C0"/>
                </a:solidFill>
              </a:rPr>
              <a:t> of &lt;String&gt;”</a:t>
            </a:r>
          </a:p>
        </p:txBody>
      </p:sp>
      <p:sp>
        <p:nvSpPr>
          <p:cNvPr id="5" name="Donut 4"/>
          <p:cNvSpPr/>
          <p:nvPr/>
        </p:nvSpPr>
        <p:spPr>
          <a:xfrm>
            <a:off x="2362200" y="2233864"/>
            <a:ext cx="6019800" cy="403102"/>
          </a:xfrm>
          <a:prstGeom prst="donut">
            <a:avLst>
              <a:gd name="adj" fmla="val 102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0256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1905000" y="381001"/>
            <a:ext cx="8610600" cy="5324535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import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java.util.</a:t>
            </a:r>
            <a:r>
              <a:rPr lang="en-US" sz="2000" b="1" dirty="0" err="1">
                <a:latin typeface="Courier New" charset="0"/>
                <a:ea typeface="Courier New" charset="0"/>
                <a:cs typeface="Courier New" charset="0"/>
              </a:rPr>
              <a:t>ArrayList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;</a:t>
            </a:r>
          </a:p>
          <a:p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public class Notebook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{</a:t>
            </a:r>
          </a:p>
          <a:p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 	// Storage for an arbitrary number of notes.</a:t>
            </a:r>
          </a:p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   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	private </a:t>
            </a:r>
            <a:r>
              <a:rPr lang="en-US" sz="2000" b="1" dirty="0" err="1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ArrayList</a:t>
            </a:r>
            <a:r>
              <a:rPr lang="en-US" sz="2000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 &lt;String&gt; 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notes;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 </a:t>
            </a:r>
          </a:p>
          <a:p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  <a:p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    	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// Perform any initialization required for the notebook.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	public Notebook()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 	{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     	notes = </a:t>
            </a:r>
            <a:r>
              <a:rPr lang="en-US" sz="2000" b="1" dirty="0">
                <a:latin typeface="Courier New" charset="0"/>
                <a:ea typeface="Courier New" charset="0"/>
                <a:cs typeface="Courier New" charset="0"/>
              </a:rPr>
              <a:t>new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ArrayList</a:t>
            </a:r>
            <a:r>
              <a:rPr lang="en-US" sz="2000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 &lt;String&gt;</a:t>
            </a:r>
            <a:r>
              <a:rPr lang="en-US" sz="2000" b="1" dirty="0">
                <a:latin typeface="Courier New" charset="0"/>
                <a:ea typeface="Courier New" charset="0"/>
                <a:cs typeface="Courier New" charset="0"/>
              </a:rPr>
              <a:t>()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;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 	}</a:t>
            </a:r>
          </a:p>
          <a:p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}</a:t>
            </a:r>
          </a:p>
        </p:txBody>
      </p:sp>
      <p:sp>
        <p:nvSpPr>
          <p:cNvPr id="6" name="Donut 5"/>
          <p:cNvSpPr/>
          <p:nvPr/>
        </p:nvSpPr>
        <p:spPr>
          <a:xfrm>
            <a:off x="3277185" y="4361960"/>
            <a:ext cx="6059026" cy="438640"/>
          </a:xfrm>
          <a:prstGeom prst="donut">
            <a:avLst>
              <a:gd name="adj" fmla="val 102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88732" y="4821218"/>
            <a:ext cx="2836867" cy="1200329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notes is initialised by calling </a:t>
            </a:r>
          </a:p>
          <a:p>
            <a:r>
              <a:rPr lang="en-GB" dirty="0">
                <a:solidFill>
                  <a:srgbClr val="0070C0"/>
                </a:solidFill>
              </a:rPr>
              <a:t>the constructor using new</a:t>
            </a:r>
          </a:p>
          <a:p>
            <a:endParaRPr lang="en-GB" dirty="0">
              <a:solidFill>
                <a:srgbClr val="0070C0"/>
              </a:solidFill>
            </a:endParaRPr>
          </a:p>
          <a:p>
            <a:r>
              <a:rPr lang="en-GB" dirty="0">
                <a:solidFill>
                  <a:srgbClr val="0070C0"/>
                </a:solidFill>
              </a:rPr>
              <a:t>Note </a:t>
            </a:r>
            <a:r>
              <a:rPr lang="en-GB" b="1" dirty="0">
                <a:solidFill>
                  <a:srgbClr val="0070C0"/>
                </a:solidFill>
              </a:rPr>
              <a:t>new</a:t>
            </a:r>
            <a:r>
              <a:rPr lang="en-GB" dirty="0">
                <a:solidFill>
                  <a:srgbClr val="0070C0"/>
                </a:solidFill>
              </a:rPr>
              <a:t> and </a:t>
            </a:r>
            <a:r>
              <a:rPr lang="en-GB" b="1" dirty="0">
                <a:solidFill>
                  <a:srgbClr val="0070C0"/>
                </a:solidFill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079942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structures with </a:t>
            </a:r>
            <a:r>
              <a:rPr lang="en-US" dirty="0" err="1"/>
              <a:t>ArrayList</a:t>
            </a:r>
            <a:endParaRPr lang="en-US" dirty="0"/>
          </a:p>
        </p:txBody>
      </p:sp>
      <p:pic>
        <p:nvPicPr>
          <p:cNvPr id="8198" name="Picture 6" descr="fig4-2-colou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676400"/>
            <a:ext cx="7340600" cy="448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73075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Add</a:t>
            </a:r>
            <a:r>
              <a:rPr lang="en-US" dirty="0"/>
              <a:t>ing a third note</a:t>
            </a:r>
          </a:p>
        </p:txBody>
      </p:sp>
      <p:pic>
        <p:nvPicPr>
          <p:cNvPr id="9222" name="Picture 6" descr="fig4-3-colou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822450"/>
            <a:ext cx="7799388" cy="412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47805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Features</a:t>
            </a:r>
            <a:r>
              <a:rPr lang="en-US" dirty="0"/>
              <a:t> of the </a:t>
            </a:r>
            <a:r>
              <a:rPr lang="en-US" b="1" dirty="0" err="1"/>
              <a:t>ArrayList</a:t>
            </a:r>
            <a:r>
              <a:rPr lang="en-US" dirty="0"/>
              <a:t> Collection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8229600" cy="2310222"/>
          </a:xfrm>
        </p:spPr>
        <p:txBody>
          <a:bodyPr/>
          <a:lstStyle/>
          <a:p>
            <a:r>
              <a:rPr lang="en-US" b="1" dirty="0"/>
              <a:t>It increases its capacity as necessary</a:t>
            </a:r>
            <a:r>
              <a:rPr lang="en-US" dirty="0"/>
              <a:t>.</a:t>
            </a:r>
          </a:p>
          <a:p>
            <a:r>
              <a:rPr lang="en-US" dirty="0"/>
              <a:t>It keeps a private count </a:t>
            </a:r>
          </a:p>
          <a:p>
            <a:pPr lvl="1"/>
            <a:r>
              <a:rPr lang="en-US" b="1" dirty="0">
                <a:latin typeface="Courier New" pitchFamily="-32" charset="0"/>
              </a:rPr>
              <a:t>size()</a:t>
            </a:r>
            <a:r>
              <a:rPr lang="en-US" b="1" dirty="0"/>
              <a:t> </a:t>
            </a:r>
            <a:r>
              <a:rPr lang="en-US" dirty="0"/>
              <a:t>accessor.</a:t>
            </a:r>
          </a:p>
          <a:p>
            <a:r>
              <a:rPr lang="en-US" dirty="0"/>
              <a:t>It keeps the objects in </a:t>
            </a:r>
            <a:r>
              <a:rPr lang="en-US" b="1" dirty="0"/>
              <a:t>order</a:t>
            </a:r>
            <a:r>
              <a:rPr lang="en-US" dirty="0"/>
              <a:t>.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981200" y="4572000"/>
            <a:ext cx="8229600" cy="1676400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Details of how all this is done are hidden.</a:t>
            </a:r>
          </a:p>
          <a:p>
            <a:pPr lvl="1"/>
            <a:r>
              <a:rPr lang="en-US" dirty="0"/>
              <a:t>Does that matter? </a:t>
            </a:r>
          </a:p>
          <a:p>
            <a:pPr lvl="1"/>
            <a:r>
              <a:rPr lang="en-US" dirty="0"/>
              <a:t>Does not knowing how, prevent us from using it?</a:t>
            </a:r>
          </a:p>
        </p:txBody>
      </p:sp>
      <p:sp>
        <p:nvSpPr>
          <p:cNvPr id="3" name="Oval 2"/>
          <p:cNvSpPr/>
          <p:nvPr/>
        </p:nvSpPr>
        <p:spPr>
          <a:xfrm>
            <a:off x="9677400" y="4191000"/>
            <a:ext cx="762000" cy="76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25374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  <p:bldP spid="4" grpId="0" animBg="1"/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1752600" y="76201"/>
            <a:ext cx="5257800" cy="6740307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import </a:t>
            </a:r>
            <a:r>
              <a:rPr lang="en-US" sz="2400" dirty="0" err="1"/>
              <a:t>java.util.</a:t>
            </a:r>
            <a:r>
              <a:rPr lang="en-US" sz="2400" b="1" dirty="0" err="1"/>
              <a:t>ArrayList</a:t>
            </a:r>
            <a:r>
              <a:rPr lang="en-US" sz="2400" dirty="0"/>
              <a:t>;</a:t>
            </a:r>
          </a:p>
          <a:p>
            <a:endParaRPr lang="en-US" sz="2400" dirty="0"/>
          </a:p>
          <a:p>
            <a:r>
              <a:rPr lang="en-US" sz="2400" dirty="0"/>
              <a:t>public class Notebook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  private </a:t>
            </a:r>
            <a:r>
              <a:rPr lang="en-US" sz="2400" b="1" dirty="0" err="1"/>
              <a:t>ArrayList</a:t>
            </a:r>
            <a:r>
              <a:rPr lang="en-US" sz="2400" b="1" dirty="0"/>
              <a:t> &lt;String&gt;</a:t>
            </a:r>
            <a:r>
              <a:rPr lang="en-US" sz="2400" dirty="0"/>
              <a:t> notes;    </a:t>
            </a:r>
          </a:p>
          <a:p>
            <a:endParaRPr lang="en-US" sz="2400" dirty="0"/>
          </a:p>
          <a:p>
            <a:r>
              <a:rPr lang="en-US" sz="2400" dirty="0"/>
              <a:t>    public Notebook(){</a:t>
            </a:r>
          </a:p>
          <a:p>
            <a:r>
              <a:rPr lang="en-US" sz="2400" dirty="0"/>
              <a:t>        	notes = new </a:t>
            </a:r>
            <a:r>
              <a:rPr lang="en-US" sz="2400" b="1" dirty="0" err="1"/>
              <a:t>ArrayList</a:t>
            </a:r>
            <a:r>
              <a:rPr lang="en-US" sz="2400" b="1" dirty="0"/>
              <a:t> &lt;String&gt; </a:t>
            </a:r>
            <a:r>
              <a:rPr lang="en-US" sz="2400" dirty="0"/>
              <a:t>();</a:t>
            </a:r>
          </a:p>
          <a:p>
            <a:r>
              <a:rPr lang="en-US" sz="2400" dirty="0"/>
              <a:t>    }</a:t>
            </a:r>
          </a:p>
          <a:p>
            <a:endParaRPr lang="en-US" sz="2400" dirty="0"/>
          </a:p>
          <a:p>
            <a:r>
              <a:rPr lang="en-US" sz="2400" dirty="0"/>
              <a:t>    public void </a:t>
            </a:r>
            <a:r>
              <a:rPr lang="en-US" sz="2400" b="1" dirty="0" err="1"/>
              <a:t>storeNote</a:t>
            </a:r>
            <a:r>
              <a:rPr lang="en-US" sz="2400" dirty="0"/>
              <a:t>(String note){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       </a:t>
            </a:r>
            <a:r>
              <a:rPr lang="en-US" sz="2400" dirty="0" err="1">
                <a:solidFill>
                  <a:srgbClr val="FF0000"/>
                </a:solidFill>
              </a:rPr>
              <a:t>notes.add</a:t>
            </a:r>
            <a:r>
              <a:rPr lang="en-US" sz="2400" dirty="0">
                <a:solidFill>
                  <a:srgbClr val="FF0000"/>
                </a:solidFill>
              </a:rPr>
              <a:t>(note);</a:t>
            </a:r>
          </a:p>
          <a:p>
            <a:r>
              <a:rPr lang="en-US" sz="2400" dirty="0"/>
              <a:t>    }</a:t>
            </a:r>
          </a:p>
          <a:p>
            <a:r>
              <a:rPr lang="en-US" sz="2400" dirty="0"/>
              <a:t> </a:t>
            </a:r>
          </a:p>
          <a:p>
            <a:r>
              <a:rPr lang="en-US" sz="2400" dirty="0"/>
              <a:t>    public 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b="1" dirty="0" err="1"/>
              <a:t>numberOfNotes</a:t>
            </a:r>
            <a:r>
              <a:rPr lang="en-US" sz="2400" dirty="0"/>
              <a:t>(){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       return </a:t>
            </a:r>
            <a:r>
              <a:rPr lang="en-US" sz="2400" dirty="0" err="1">
                <a:solidFill>
                  <a:srgbClr val="FF0000"/>
                </a:solidFill>
              </a:rPr>
              <a:t>notes.size</a:t>
            </a:r>
            <a:r>
              <a:rPr lang="en-US" sz="2400" dirty="0">
                <a:solidFill>
                  <a:srgbClr val="FF0000"/>
                </a:solidFill>
              </a:rPr>
              <a:t>();</a:t>
            </a:r>
          </a:p>
          <a:p>
            <a:r>
              <a:rPr lang="en-US" sz="2400" dirty="0"/>
              <a:t>    }</a:t>
            </a:r>
          </a:p>
          <a:p>
            <a:r>
              <a:rPr lang="en-US" sz="2400" dirty="0"/>
              <a:t>}</a:t>
            </a:r>
          </a:p>
        </p:txBody>
      </p:sp>
      <p:sp>
        <p:nvSpPr>
          <p:cNvPr id="11270" name="AutoShape 6"/>
          <p:cNvSpPr>
            <a:spLocks noChangeArrowheads="1"/>
          </p:cNvSpPr>
          <p:nvPr/>
        </p:nvSpPr>
        <p:spPr bwMode="auto">
          <a:xfrm>
            <a:off x="7467600" y="3890075"/>
            <a:ext cx="2819400" cy="9144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400" dirty="0">
                <a:solidFill>
                  <a:srgbClr val="A57133"/>
                </a:solidFill>
                <a:latin typeface="Trebuchet MS" pitchFamily="-32" charset="0"/>
              </a:rPr>
              <a:t>Adding a new note </a:t>
            </a:r>
          </a:p>
          <a:p>
            <a:pPr algn="ctr"/>
            <a:r>
              <a:rPr lang="en-US" sz="2400" dirty="0">
                <a:solidFill>
                  <a:srgbClr val="A57133"/>
                </a:solidFill>
                <a:latin typeface="Trebuchet MS" pitchFamily="-32" charset="0"/>
              </a:rPr>
              <a:t>of type String</a:t>
            </a:r>
          </a:p>
        </p:txBody>
      </p:sp>
      <p:sp>
        <p:nvSpPr>
          <p:cNvPr id="11271" name="AutoShape 7"/>
          <p:cNvSpPr>
            <a:spLocks noChangeArrowheads="1"/>
          </p:cNvSpPr>
          <p:nvPr/>
        </p:nvSpPr>
        <p:spPr bwMode="auto">
          <a:xfrm>
            <a:off x="7467600" y="5411788"/>
            <a:ext cx="2819400" cy="836612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400" dirty="0">
                <a:solidFill>
                  <a:srgbClr val="A57133"/>
                </a:solidFill>
                <a:latin typeface="Trebuchet MS" pitchFamily="-32" charset="0"/>
              </a:rPr>
              <a:t>Returning the </a:t>
            </a:r>
          </a:p>
          <a:p>
            <a:pPr algn="ctr"/>
            <a:r>
              <a:rPr lang="en-US" sz="2400" dirty="0">
                <a:solidFill>
                  <a:srgbClr val="A57133"/>
                </a:solidFill>
                <a:latin typeface="Trebuchet MS" pitchFamily="-32" charset="0"/>
              </a:rPr>
              <a:t>number of notes</a:t>
            </a:r>
          </a:p>
        </p:txBody>
      </p:sp>
      <p:sp>
        <p:nvSpPr>
          <p:cNvPr id="11272" name="Line 8"/>
          <p:cNvSpPr>
            <a:spLocks noChangeShapeType="1"/>
          </p:cNvSpPr>
          <p:nvPr/>
        </p:nvSpPr>
        <p:spPr bwMode="auto">
          <a:xfrm flipH="1">
            <a:off x="5181600" y="4347275"/>
            <a:ext cx="2286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1273" name="Line 9"/>
          <p:cNvSpPr>
            <a:spLocks noChangeShapeType="1"/>
          </p:cNvSpPr>
          <p:nvPr/>
        </p:nvSpPr>
        <p:spPr bwMode="auto">
          <a:xfrm flipH="1" flipV="1">
            <a:off x="5257800" y="5794376"/>
            <a:ext cx="2209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73068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0" grpId="0" animBg="1"/>
      <p:bldP spid="11271" grpId="0" animBg="1"/>
      <p:bldP spid="11272" grpId="0" animBg="1"/>
      <p:bldP spid="1127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 list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3238" y="1524000"/>
            <a:ext cx="8839200" cy="5105400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Grouping Objects </a:t>
            </a:r>
          </a:p>
          <a:p>
            <a:pPr lvl="1"/>
            <a:r>
              <a:rPr lang="en-GB" dirty="0"/>
              <a:t>Developing a basic personal notebook project using </a:t>
            </a:r>
            <a:r>
              <a:rPr lang="en-GB" b="1" dirty="0"/>
              <a:t>Collections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e.g. </a:t>
            </a:r>
            <a:r>
              <a:rPr lang="en-GB" b="1" dirty="0" err="1"/>
              <a:t>ArrayList</a:t>
            </a:r>
            <a:endParaRPr lang="en-GB" b="1" dirty="0"/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Indexing</a:t>
            </a:r>
            <a:r>
              <a:rPr lang="en-GB" dirty="0"/>
              <a:t> within Collections</a:t>
            </a:r>
          </a:p>
          <a:p>
            <a:pPr lvl="1"/>
            <a:r>
              <a:rPr lang="en-GB" dirty="0"/>
              <a:t>Retrieval and removal of objects 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Generic classes </a:t>
            </a:r>
          </a:p>
          <a:p>
            <a:pPr lvl="1"/>
            <a:r>
              <a:rPr lang="en-GB" dirty="0"/>
              <a:t>e.g. </a:t>
            </a:r>
            <a:r>
              <a:rPr lang="en-GB" dirty="0" err="1"/>
              <a:t>ArrayList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Iteration</a:t>
            </a:r>
          </a:p>
          <a:p>
            <a:pPr lvl="1"/>
            <a:r>
              <a:rPr lang="en-GB" dirty="0"/>
              <a:t>Using the for loop</a:t>
            </a:r>
          </a:p>
          <a:p>
            <a:pPr lvl="1"/>
            <a:r>
              <a:rPr lang="en-GB" dirty="0"/>
              <a:t>Using the while loop</a:t>
            </a:r>
          </a:p>
          <a:p>
            <a:pPr lvl="1"/>
            <a:r>
              <a:rPr lang="en-GB" dirty="0"/>
              <a:t>Using the </a:t>
            </a:r>
            <a:r>
              <a:rPr lang="en-GB" b="1" dirty="0"/>
              <a:t>for each </a:t>
            </a:r>
            <a:r>
              <a:rPr lang="en-GB" dirty="0"/>
              <a:t>loop</a:t>
            </a:r>
          </a:p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Next </a:t>
            </a:r>
            <a:r>
              <a:rPr lang="en-IE" dirty="0" err="1">
                <a:solidFill>
                  <a:schemeClr val="bg1">
                    <a:lumMod val="50000"/>
                  </a:schemeClr>
                </a:solidFill>
              </a:rPr>
              <a:t>SlideDeck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: </a:t>
            </a:r>
            <a:br>
              <a:rPr lang="en-IE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coding a Shop Project that stores an </a:t>
            </a:r>
            <a:r>
              <a:rPr lang="en-IE" dirty="0" err="1">
                <a:solidFill>
                  <a:schemeClr val="bg1">
                    <a:lumMod val="50000"/>
                  </a:schemeClr>
                </a:solidFill>
              </a:rPr>
              <a:t>ArrayList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of Products.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43238" y="2590800"/>
            <a:ext cx="8748562" cy="8382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73005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ArrayList</a:t>
            </a:r>
            <a:r>
              <a:rPr lang="en-US" dirty="0"/>
              <a:t>: </a:t>
            </a:r>
            <a:r>
              <a:rPr lang="en-US" b="1" dirty="0"/>
              <a:t>Index numbering</a:t>
            </a:r>
          </a:p>
        </p:txBody>
      </p:sp>
      <p:pic>
        <p:nvPicPr>
          <p:cNvPr id="13318" name="Picture 6" descr="fig4-4-colou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752600"/>
            <a:ext cx="7848600" cy="4146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93355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Retrieving an object </a:t>
            </a:r>
            <a:r>
              <a:rPr lang="mr-IN" dirty="0"/>
              <a:t>–</a:t>
            </a:r>
            <a:r>
              <a:rPr lang="en-US" dirty="0"/>
              <a:t> </a:t>
            </a:r>
            <a:r>
              <a:rPr lang="en-US" b="1" dirty="0" err="1"/>
              <a:t>showNote</a:t>
            </a:r>
            <a:r>
              <a:rPr lang="en-US" b="1" dirty="0"/>
              <a:t>()</a:t>
            </a: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2356769" y="1847235"/>
            <a:ext cx="1841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endParaRPr lang="en-GB" sz="1600"/>
          </a:p>
        </p:txBody>
      </p:sp>
      <p:sp>
        <p:nvSpPr>
          <p:cNvPr id="12294" name="AutoShape 6"/>
          <p:cNvSpPr>
            <a:spLocks noChangeArrowheads="1"/>
          </p:cNvSpPr>
          <p:nvPr/>
        </p:nvSpPr>
        <p:spPr bwMode="auto">
          <a:xfrm>
            <a:off x="1724944" y="3148985"/>
            <a:ext cx="1447800" cy="11255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rebuchet MS" pitchFamily="-32" charset="0"/>
              </a:rPr>
              <a:t>Index </a:t>
            </a:r>
          </a:p>
          <a:p>
            <a:pPr algn="ctr"/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rebuchet MS" pitchFamily="-32" charset="0"/>
              </a:rPr>
              <a:t>validity </a:t>
            </a:r>
          </a:p>
          <a:p>
            <a:pPr algn="ctr"/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rebuchet MS" pitchFamily="-32" charset="0"/>
              </a:rPr>
              <a:t>checks</a:t>
            </a:r>
          </a:p>
        </p:txBody>
      </p:sp>
      <p:sp>
        <p:nvSpPr>
          <p:cNvPr id="12300" name="Rectangle 12"/>
          <p:cNvSpPr>
            <a:spLocks noChangeArrowheads="1"/>
          </p:cNvSpPr>
          <p:nvPr/>
        </p:nvSpPr>
        <p:spPr bwMode="auto">
          <a:xfrm>
            <a:off x="6030244" y="2350473"/>
            <a:ext cx="1447800" cy="2444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endParaRPr lang="en-GB" sz="1000"/>
          </a:p>
        </p:txBody>
      </p:sp>
      <p:sp>
        <p:nvSpPr>
          <p:cNvPr id="12301" name="Rectangle 13"/>
          <p:cNvSpPr>
            <a:spLocks noChangeArrowheads="1"/>
          </p:cNvSpPr>
          <p:nvPr/>
        </p:nvSpPr>
        <p:spPr bwMode="auto">
          <a:xfrm>
            <a:off x="7478044" y="3191848"/>
            <a:ext cx="1447800" cy="2444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endParaRPr lang="en-GB" sz="1000"/>
          </a:p>
        </p:txBody>
      </p:sp>
      <p:sp>
        <p:nvSpPr>
          <p:cNvPr id="12302" name="Rectangle 14"/>
          <p:cNvSpPr>
            <a:spLocks noChangeArrowheads="1"/>
          </p:cNvSpPr>
          <p:nvPr/>
        </p:nvSpPr>
        <p:spPr bwMode="auto">
          <a:xfrm>
            <a:off x="6944644" y="4830148"/>
            <a:ext cx="1447800" cy="2444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endParaRPr lang="en-GB" sz="1000"/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3276600" y="1600201"/>
            <a:ext cx="6792244" cy="4893647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IE" sz="2600" noProof="1"/>
              <a:t>public void </a:t>
            </a:r>
            <a:r>
              <a:rPr lang="en-IE" sz="2600" b="1" noProof="1"/>
              <a:t>showNote</a:t>
            </a:r>
            <a:r>
              <a:rPr lang="en-IE" sz="2600" noProof="1"/>
              <a:t> (int noteNumber)</a:t>
            </a:r>
          </a:p>
          <a:p>
            <a:r>
              <a:rPr lang="en-IE" sz="2600" noProof="1"/>
              <a:t>{</a:t>
            </a:r>
          </a:p>
          <a:p>
            <a:r>
              <a:rPr lang="en-IE" sz="2600" noProof="1"/>
              <a:t>    </a:t>
            </a:r>
            <a:r>
              <a:rPr lang="en-IE" sz="2600" noProof="1">
                <a:solidFill>
                  <a:schemeClr val="tx2">
                    <a:lumMod val="60000"/>
                    <a:lumOff val="40000"/>
                  </a:schemeClr>
                </a:solidFill>
              </a:rPr>
              <a:t>if(noteNumber &lt; 0) {</a:t>
            </a:r>
          </a:p>
          <a:p>
            <a:r>
              <a:rPr lang="en-IE" sz="2600" noProof="1"/>
              <a:t>        // This is not a valid note number.</a:t>
            </a:r>
          </a:p>
          <a:p>
            <a:r>
              <a:rPr lang="en-IE" sz="2600" noProof="1"/>
              <a:t>    </a:t>
            </a:r>
            <a:r>
              <a:rPr lang="en-IE" sz="2600" noProof="1">
                <a:solidFill>
                  <a:srgbClr val="558ED6"/>
                </a:solidFill>
              </a:rPr>
              <a:t>}</a:t>
            </a:r>
          </a:p>
          <a:p>
            <a:r>
              <a:rPr lang="en-IE" sz="2600" noProof="1">
                <a:solidFill>
                  <a:schemeClr val="tx2">
                    <a:lumMod val="60000"/>
                    <a:lumOff val="40000"/>
                  </a:schemeClr>
                </a:solidFill>
              </a:rPr>
              <a:t>    else if(noteNumber &lt; numberOfNotes()) {</a:t>
            </a:r>
          </a:p>
          <a:p>
            <a:r>
              <a:rPr lang="en-IE" sz="2600" noProof="1"/>
              <a:t>        </a:t>
            </a:r>
            <a:r>
              <a:rPr lang="en-IE" sz="2600" noProof="1">
                <a:solidFill>
                  <a:srgbClr val="FF0000"/>
                </a:solidFill>
              </a:rPr>
              <a:t>System.out.println(</a:t>
            </a:r>
            <a:r>
              <a:rPr lang="en-IE" sz="2600" b="1" noProof="1">
                <a:solidFill>
                  <a:srgbClr val="FF0000"/>
                </a:solidFill>
              </a:rPr>
              <a:t>notes.get</a:t>
            </a:r>
            <a:r>
              <a:rPr lang="en-IE" sz="2600" noProof="1">
                <a:solidFill>
                  <a:srgbClr val="FF0000"/>
                </a:solidFill>
              </a:rPr>
              <a:t>(noteNumber));</a:t>
            </a:r>
          </a:p>
          <a:p>
            <a:r>
              <a:rPr lang="en-IE" sz="2600" noProof="1"/>
              <a:t>   </a:t>
            </a:r>
            <a:r>
              <a:rPr lang="en-IE" sz="2600" noProof="1">
                <a:solidFill>
                  <a:srgbClr val="0070C0"/>
                </a:solidFill>
              </a:rPr>
              <a:t> }</a:t>
            </a:r>
          </a:p>
          <a:p>
            <a:r>
              <a:rPr lang="en-IE" sz="2600" noProof="1"/>
              <a:t>    </a:t>
            </a:r>
            <a:r>
              <a:rPr lang="en-IE" sz="2600" noProof="1">
                <a:solidFill>
                  <a:schemeClr val="tx2">
                    <a:lumMod val="60000"/>
                    <a:lumOff val="40000"/>
                  </a:schemeClr>
                </a:solidFill>
              </a:rPr>
              <a:t>else {</a:t>
            </a:r>
          </a:p>
          <a:p>
            <a:r>
              <a:rPr lang="en-IE" sz="2600" noProof="1"/>
              <a:t>        // This is not a valid note number.</a:t>
            </a:r>
          </a:p>
          <a:p>
            <a:r>
              <a:rPr lang="en-IE" sz="2600" noProof="1">
                <a:solidFill>
                  <a:srgbClr val="0070C0"/>
                </a:solidFill>
              </a:rPr>
              <a:t>    }</a:t>
            </a:r>
          </a:p>
          <a:p>
            <a:r>
              <a:rPr lang="en-IE" sz="2600" noProof="1"/>
              <a:t>}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H="1" flipV="1">
            <a:off x="7478044" y="4495801"/>
            <a:ext cx="1676400" cy="1143059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V="1">
            <a:off x="3066382" y="2760047"/>
            <a:ext cx="525463" cy="431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3172744" y="3826847"/>
            <a:ext cx="41910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3066382" y="4274522"/>
            <a:ext cx="525463" cy="677863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98" name="AutoShape 10"/>
          <p:cNvSpPr>
            <a:spLocks noChangeArrowheads="1"/>
          </p:cNvSpPr>
          <p:nvPr/>
        </p:nvSpPr>
        <p:spPr bwMode="auto">
          <a:xfrm>
            <a:off x="8356281" y="5638857"/>
            <a:ext cx="1676400" cy="762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rebuchet MS" pitchFamily="-32" charset="0"/>
              </a:rPr>
              <a:t>Retrieve and</a:t>
            </a:r>
          </a:p>
          <a:p>
            <a:pPr algn="ctr"/>
            <a:r>
              <a:rPr lang="en-US" b="1" dirty="0">
                <a:solidFill>
                  <a:srgbClr val="FF0000"/>
                </a:solidFill>
                <a:latin typeface="Trebuchet MS" pitchFamily="-32" charset="0"/>
              </a:rPr>
              <a:t>print the note</a:t>
            </a:r>
          </a:p>
        </p:txBody>
      </p:sp>
    </p:spTree>
    <p:extLst>
      <p:ext uri="{BB962C8B-B14F-4D97-AF65-F5344CB8AC3E}">
        <p14:creationId xmlns:p14="http://schemas.microsoft.com/office/powerpoint/2010/main" val="2790023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4" grpId="0" animBg="1"/>
      <p:bldP spid="1229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an object</a:t>
            </a: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2270125" y="1830388"/>
            <a:ext cx="1841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endParaRPr lang="en-GB" sz="1600"/>
          </a:p>
        </p:txBody>
      </p:sp>
      <p:sp>
        <p:nvSpPr>
          <p:cNvPr id="12300" name="Rectangle 12"/>
          <p:cNvSpPr>
            <a:spLocks noChangeArrowheads="1"/>
          </p:cNvSpPr>
          <p:nvPr/>
        </p:nvSpPr>
        <p:spPr bwMode="auto">
          <a:xfrm>
            <a:off x="5943600" y="2333626"/>
            <a:ext cx="1447800" cy="2444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endParaRPr lang="en-GB" sz="1000"/>
          </a:p>
        </p:txBody>
      </p:sp>
      <p:sp>
        <p:nvSpPr>
          <p:cNvPr id="12301" name="Rectangle 13"/>
          <p:cNvSpPr>
            <a:spLocks noChangeArrowheads="1"/>
          </p:cNvSpPr>
          <p:nvPr/>
        </p:nvSpPr>
        <p:spPr bwMode="auto">
          <a:xfrm>
            <a:off x="7391400" y="3175001"/>
            <a:ext cx="1447800" cy="2444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endParaRPr lang="en-GB" sz="1000"/>
          </a:p>
        </p:txBody>
      </p:sp>
      <p:sp>
        <p:nvSpPr>
          <p:cNvPr id="12302" name="Rectangle 14"/>
          <p:cNvSpPr>
            <a:spLocks noChangeArrowheads="1"/>
          </p:cNvSpPr>
          <p:nvPr/>
        </p:nvSpPr>
        <p:spPr bwMode="auto">
          <a:xfrm>
            <a:off x="6858000" y="4813301"/>
            <a:ext cx="1447800" cy="2444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endParaRPr lang="en-GB" sz="1000"/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2946394" y="1524001"/>
            <a:ext cx="7645407" cy="5293757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600" noProof="1"/>
              <a:t> public void removeNote(int noteNumber)</a:t>
            </a:r>
          </a:p>
          <a:p>
            <a:r>
              <a:rPr lang="en-US" sz="2600" noProof="1"/>
              <a:t>    {</a:t>
            </a:r>
          </a:p>
          <a:p>
            <a:r>
              <a:rPr lang="en-US" sz="2600" noProof="1">
                <a:solidFill>
                  <a:schemeClr val="tx2">
                    <a:lumMod val="60000"/>
                    <a:lumOff val="40000"/>
                  </a:schemeClr>
                </a:solidFill>
              </a:rPr>
              <a:t>        if(noteNumber &lt; 0) {</a:t>
            </a:r>
          </a:p>
          <a:p>
            <a:r>
              <a:rPr lang="en-US" sz="2600" noProof="1"/>
              <a:t>            // This is not a valid note number, so do nothing.</a:t>
            </a:r>
          </a:p>
          <a:p>
            <a:r>
              <a:rPr lang="en-US" sz="2600" noProof="1"/>
              <a:t>        }</a:t>
            </a:r>
          </a:p>
          <a:p>
            <a:r>
              <a:rPr lang="en-US" sz="2600" noProof="1"/>
              <a:t>        </a:t>
            </a:r>
            <a:r>
              <a:rPr lang="en-US" sz="2600" noProof="1">
                <a:solidFill>
                  <a:schemeClr val="tx2">
                    <a:lumMod val="60000"/>
                    <a:lumOff val="40000"/>
                  </a:schemeClr>
                </a:solidFill>
              </a:rPr>
              <a:t>else if(noteNumber &lt; numberOfNotes()) {</a:t>
            </a:r>
          </a:p>
          <a:p>
            <a:r>
              <a:rPr lang="en-US" sz="2600" noProof="1"/>
              <a:t>            // This is a valid note number.</a:t>
            </a:r>
          </a:p>
          <a:p>
            <a:r>
              <a:rPr lang="en-US" sz="2600" noProof="1"/>
              <a:t>            </a:t>
            </a:r>
            <a:r>
              <a:rPr lang="en-US" sz="2600" b="1" noProof="1">
                <a:solidFill>
                  <a:srgbClr val="FF0000"/>
                </a:solidFill>
              </a:rPr>
              <a:t>notes.remove</a:t>
            </a:r>
            <a:r>
              <a:rPr lang="en-US" sz="2600" noProof="1">
                <a:solidFill>
                  <a:srgbClr val="FF0000"/>
                </a:solidFill>
              </a:rPr>
              <a:t>(noteNumber);</a:t>
            </a:r>
          </a:p>
          <a:p>
            <a:r>
              <a:rPr lang="en-US" sz="2600" noProof="1"/>
              <a:t>        }</a:t>
            </a:r>
          </a:p>
          <a:p>
            <a:r>
              <a:rPr lang="en-US" sz="2600" noProof="1"/>
              <a:t>       </a:t>
            </a:r>
            <a:r>
              <a:rPr lang="en-US" sz="2600" noProof="1">
                <a:solidFill>
                  <a:schemeClr val="tx2">
                    <a:lumMod val="60000"/>
                    <a:lumOff val="40000"/>
                  </a:schemeClr>
                </a:solidFill>
              </a:rPr>
              <a:t> else </a:t>
            </a:r>
            <a:r>
              <a:rPr lang="en-US" sz="2600" noProof="1"/>
              <a:t>{</a:t>
            </a:r>
          </a:p>
          <a:p>
            <a:r>
              <a:rPr lang="en-US" sz="2600" noProof="1"/>
              <a:t>            // This is not a valid note number, so do nothing.</a:t>
            </a:r>
          </a:p>
          <a:p>
            <a:r>
              <a:rPr lang="en-US" sz="2600" noProof="1"/>
              <a:t>        }</a:t>
            </a:r>
          </a:p>
          <a:p>
            <a:r>
              <a:rPr lang="en-US" sz="2600" noProof="1"/>
              <a:t>    }</a:t>
            </a:r>
            <a:endParaRPr lang="en-IE" sz="2600" noProof="1"/>
          </a:p>
        </p:txBody>
      </p:sp>
      <p:cxnSp>
        <p:nvCxnSpPr>
          <p:cNvPr id="3" name="Straight Arrow Connector 2"/>
          <p:cNvCxnSpPr/>
          <p:nvPr/>
        </p:nvCxnSpPr>
        <p:spPr>
          <a:xfrm flipH="1" flipV="1">
            <a:off x="7825355" y="4617229"/>
            <a:ext cx="442217" cy="6111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V="1">
            <a:off x="2819876" y="2578100"/>
            <a:ext cx="685325" cy="5969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2294" idx="3"/>
          </p:cNvCxnSpPr>
          <p:nvPr/>
        </p:nvCxnSpPr>
        <p:spPr>
          <a:xfrm>
            <a:off x="2865028" y="3694906"/>
            <a:ext cx="640173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2819876" y="4094679"/>
            <a:ext cx="685325" cy="1058293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94" name="AutoShape 6"/>
          <p:cNvSpPr>
            <a:spLocks noChangeArrowheads="1"/>
          </p:cNvSpPr>
          <p:nvPr/>
        </p:nvSpPr>
        <p:spPr bwMode="auto">
          <a:xfrm>
            <a:off x="1638301" y="3132138"/>
            <a:ext cx="1226727" cy="11255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rebuchet MS" pitchFamily="-32" charset="0"/>
              </a:rPr>
              <a:t>Index </a:t>
            </a:r>
          </a:p>
          <a:p>
            <a:pPr algn="ctr"/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rebuchet MS" pitchFamily="-32" charset="0"/>
              </a:rPr>
              <a:t>validity </a:t>
            </a:r>
          </a:p>
          <a:p>
            <a:pPr algn="ctr"/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rebuchet MS" pitchFamily="-32" charset="0"/>
              </a:rPr>
              <a:t>checks</a:t>
            </a:r>
          </a:p>
        </p:txBody>
      </p:sp>
      <p:sp>
        <p:nvSpPr>
          <p:cNvPr id="12298" name="AutoShape 10"/>
          <p:cNvSpPr>
            <a:spLocks noChangeArrowheads="1"/>
          </p:cNvSpPr>
          <p:nvPr/>
        </p:nvSpPr>
        <p:spPr bwMode="auto">
          <a:xfrm>
            <a:off x="8229601" y="4617229"/>
            <a:ext cx="2196885" cy="762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Trebuchet MS" pitchFamily="-32" charset="0"/>
              </a:rPr>
              <a:t>Delete the note at</a:t>
            </a:r>
          </a:p>
          <a:p>
            <a:pPr algn="ctr"/>
            <a:r>
              <a:rPr lang="en-US" sz="2000" dirty="0">
                <a:solidFill>
                  <a:srgbClr val="FF0000"/>
                </a:solidFill>
                <a:latin typeface="Trebuchet MS" pitchFamily="-32" charset="0"/>
              </a:rPr>
              <a:t>the specific index</a:t>
            </a:r>
          </a:p>
        </p:txBody>
      </p:sp>
    </p:spTree>
    <p:extLst>
      <p:ext uri="{BB962C8B-B14F-4D97-AF65-F5344CB8AC3E}">
        <p14:creationId xmlns:p14="http://schemas.microsoft.com/office/powerpoint/2010/main" val="18861628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Removal</a:t>
            </a:r>
            <a:r>
              <a:rPr lang="en-US" dirty="0"/>
              <a:t> may </a:t>
            </a:r>
            <a:r>
              <a:rPr lang="en-US" b="1" dirty="0"/>
              <a:t>affect numbering</a:t>
            </a:r>
          </a:p>
        </p:txBody>
      </p:sp>
      <p:pic>
        <p:nvPicPr>
          <p:cNvPr id="14343" name="Picture 7" descr="fig4-6-colou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8100" y="1689100"/>
            <a:ext cx="7632700" cy="448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47999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Removal</a:t>
            </a:r>
            <a:r>
              <a:rPr lang="en-US" dirty="0"/>
              <a:t> may </a:t>
            </a:r>
            <a:r>
              <a:rPr lang="en-US" b="1" dirty="0"/>
              <a:t>affect numbering</a:t>
            </a:r>
          </a:p>
        </p:txBody>
      </p:sp>
      <p:pic>
        <p:nvPicPr>
          <p:cNvPr id="14343" name="Picture 7" descr="fig4-6-colou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2806480"/>
            <a:ext cx="3296900" cy="1936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fig4-4-colou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819401"/>
            <a:ext cx="3665316" cy="1936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843515" y="2199190"/>
            <a:ext cx="915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3401" y="2209800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AFTER</a:t>
            </a:r>
          </a:p>
        </p:txBody>
      </p:sp>
      <p:sp>
        <p:nvSpPr>
          <p:cNvPr id="4" name="Donut 3"/>
          <p:cNvSpPr/>
          <p:nvPr/>
        </p:nvSpPr>
        <p:spPr>
          <a:xfrm>
            <a:off x="3352800" y="3045274"/>
            <a:ext cx="1371600" cy="92501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Donut 9"/>
          <p:cNvSpPr/>
          <p:nvPr/>
        </p:nvSpPr>
        <p:spPr>
          <a:xfrm>
            <a:off x="8305800" y="3045274"/>
            <a:ext cx="1371600" cy="92501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29289" y="4788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21481" y="4788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4788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3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6400800" y="1644986"/>
            <a:ext cx="0" cy="4755815"/>
          </a:xfrm>
          <a:prstGeom prst="line">
            <a:avLst/>
          </a:prstGeom>
          <a:ln w="698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45158" y="475584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4314" y="475584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2685" y="6119230"/>
            <a:ext cx="3108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NOTE </a:t>
            </a:r>
            <a:r>
              <a:rPr lang="en-GB"/>
              <a:t>the change in numbering</a:t>
            </a:r>
          </a:p>
        </p:txBody>
      </p:sp>
      <p:cxnSp>
        <p:nvCxnSpPr>
          <p:cNvPr id="21" name="Straight Arrow Connector 20"/>
          <p:cNvCxnSpPr>
            <a:endCxn id="11" idx="2"/>
          </p:cNvCxnSpPr>
          <p:nvPr/>
        </p:nvCxnSpPr>
        <p:spPr>
          <a:xfrm flipH="1" flipV="1">
            <a:off x="5180044" y="5157332"/>
            <a:ext cx="2058957" cy="961898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7389843" y="5091683"/>
            <a:ext cx="2287558" cy="1040086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7466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3" grpId="0"/>
      <p:bldP spid="5" grpId="0"/>
      <p:bldP spid="11" grpId="0"/>
      <p:bldP spid="18" grpId="0"/>
      <p:bldP spid="19" grpId="0"/>
      <p:bldP spid="1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5A9D487F-3157-9FE9-7E30-C739B06EA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3019" y="1166019"/>
            <a:ext cx="4525963" cy="45259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61480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1298</Words>
  <Application>Microsoft Office PowerPoint</Application>
  <PresentationFormat>Widescreen</PresentationFormat>
  <Paragraphs>290</Paragraphs>
  <Slides>25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Courier New</vt:lpstr>
      <vt:lpstr>Inter</vt:lpstr>
      <vt:lpstr>Tahoma</vt:lpstr>
      <vt:lpstr>Trebuchet MS</vt:lpstr>
      <vt:lpstr>Office Theme</vt:lpstr>
      <vt:lpstr>Introduction to ArrayLists</vt:lpstr>
      <vt:lpstr>Topic list</vt:lpstr>
      <vt:lpstr>The requirement to group objects</vt:lpstr>
      <vt:lpstr>Example: Personal Note Keeper</vt:lpstr>
      <vt:lpstr>Java API – The Class Library</vt:lpstr>
      <vt:lpstr>Java API – The Class Library</vt:lpstr>
      <vt:lpstr>Java’s Collection Framework</vt:lpstr>
      <vt:lpstr>Lists</vt:lpstr>
      <vt:lpstr>ArrayList – methods we will use</vt:lpstr>
      <vt:lpstr>ArrayList Collection</vt:lpstr>
      <vt:lpstr>PowerPoint Presentation</vt:lpstr>
      <vt:lpstr>PowerPoint Presentation</vt:lpstr>
      <vt:lpstr>PowerPoint Presentation</vt:lpstr>
      <vt:lpstr>PowerPoint Presentation</vt:lpstr>
      <vt:lpstr>Object structures with ArrayList</vt:lpstr>
      <vt:lpstr>Adding a third note</vt:lpstr>
      <vt:lpstr>Features of the ArrayList Collection</vt:lpstr>
      <vt:lpstr>PowerPoint Presentation</vt:lpstr>
      <vt:lpstr>Topic list</vt:lpstr>
      <vt:lpstr>ArrayList: Index numbering</vt:lpstr>
      <vt:lpstr>Retrieving an object – showNote()</vt:lpstr>
      <vt:lpstr>Removing an object</vt:lpstr>
      <vt:lpstr>Removal may affect numbering</vt:lpstr>
      <vt:lpstr>Removal may affect numbering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Abstraction and Modularization</dc:title>
  <dc:creator>Siobhan Drohan</dc:creator>
  <cp:lastModifiedBy>Siobhan Roche</cp:lastModifiedBy>
  <cp:revision>331</cp:revision>
  <cp:lastPrinted>2018-02-23T01:00:05Z</cp:lastPrinted>
  <dcterms:created xsi:type="dcterms:W3CDTF">2006-08-16T00:00:00Z</dcterms:created>
  <dcterms:modified xsi:type="dcterms:W3CDTF">2025-11-20T11:13:30Z</dcterms:modified>
</cp:coreProperties>
</file>