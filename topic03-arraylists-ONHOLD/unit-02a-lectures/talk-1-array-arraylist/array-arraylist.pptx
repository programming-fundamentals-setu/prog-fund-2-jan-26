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5" r:id="rId2"/>
    <p:sldId id="654" r:id="rId3"/>
    <p:sldId id="647" r:id="rId4"/>
    <p:sldId id="653" r:id="rId5"/>
    <p:sldId id="638" r:id="rId6"/>
    <p:sldId id="628" r:id="rId7"/>
    <p:sldId id="641" r:id="rId8"/>
    <p:sldId id="642" r:id="rId9"/>
    <p:sldId id="634" r:id="rId10"/>
    <p:sldId id="655" r:id="rId11"/>
    <p:sldId id="260" r:id="rId12"/>
    <p:sldId id="262" r:id="rId13"/>
    <p:sldId id="263" r:id="rId14"/>
    <p:sldId id="264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89148" autoAdjust="0"/>
  </p:normalViewPr>
  <p:slideViewPr>
    <p:cSldViewPr>
      <p:cViewPr varScale="1">
        <p:scale>
          <a:sx n="83" d="100"/>
          <a:sy n="83" d="100"/>
        </p:scale>
        <p:origin x="4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20/01/2026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963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Introducing groups of classes</a:t>
            </a:r>
            <a:br>
              <a:rPr lang="en-IE" sz="4000" dirty="0"/>
            </a:br>
            <a:r>
              <a:rPr lang="en-IE" sz="4000" dirty="0"/>
              <a:t>Arrays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B9DD8-AB12-B74E-EC0A-B039CDCBCA06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35F4691-4714-0D22-291E-FEAD071E0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Grocery Store Shelf Vector Illustration with Foods Items and Products  Assortiment on the Supermarket for Shopping Daily Needs in Flat Background  41761188 Vector Art at Vecteezy">
            <a:extLst>
              <a:ext uri="{FF2B5EF4-FFF2-40B4-BE49-F238E27FC236}">
                <a16:creationId xmlns:a16="http://schemas.microsoft.com/office/drawing/2014/main" id="{D07BAB99-5AB1-5353-F6F3-CC57E0C67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9" t="4157" r="10949" b="19944"/>
          <a:stretch>
            <a:fillRect/>
          </a:stretch>
        </p:blipFill>
        <p:spPr bwMode="auto">
          <a:xfrm>
            <a:off x="4038600" y="838200"/>
            <a:ext cx="8077200" cy="55662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CA5627-5802-E32E-CE97-0B366188DCFE}"/>
              </a:ext>
            </a:extLst>
          </p:cNvPr>
          <p:cNvSpPr txBox="1"/>
          <p:nvPr/>
        </p:nvSpPr>
        <p:spPr>
          <a:xfrm>
            <a:off x="304800" y="1066800"/>
            <a:ext cx="4038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400" dirty="0"/>
              <a:t>A Shop with one Product isn’t really that great, we need to be able to have multiple products</a:t>
            </a:r>
          </a:p>
        </p:txBody>
      </p:sp>
    </p:spTree>
    <p:extLst>
      <p:ext uri="{BB962C8B-B14F-4D97-AF65-F5344CB8AC3E}">
        <p14:creationId xmlns:p14="http://schemas.microsoft.com/office/powerpoint/2010/main" val="29437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49" y="2514600"/>
            <a:ext cx="8458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How about an Array of Products?</a:t>
            </a:r>
          </a:p>
        </p:txBody>
      </p:sp>
    </p:spTree>
    <p:extLst>
      <p:ext uri="{BB962C8B-B14F-4D97-AF65-F5344CB8AC3E}">
        <p14:creationId xmlns:p14="http://schemas.microsoft.com/office/powerpoint/2010/main" val="110930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7842496" y="6184233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1981200" y="1568270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2018270" y="5010170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1981200" y="2933004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33027"/>
            <a:ext cx="1250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Product Class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49CED-7842-4BA2-B14B-FC72F80A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63" y="1558449"/>
            <a:ext cx="4434081" cy="4632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91000" y="1676400"/>
            <a:ext cx="1676400" cy="3073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4876800" y="1828800"/>
            <a:ext cx="990600" cy="313265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4913870" y="5010170"/>
            <a:ext cx="830992" cy="11276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31607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Product[] 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752600" y="1705353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/>
              <a:t>products = new Product[4];</a:t>
            </a:r>
            <a:endParaRPr lang="en-IE" sz="2400" b="1" dirty="0"/>
          </a:p>
        </p:txBody>
      </p:sp>
      <p:sp>
        <p:nvSpPr>
          <p:cNvPr id="16" name="Donut 15"/>
          <p:cNvSpPr/>
          <p:nvPr/>
        </p:nvSpPr>
        <p:spPr>
          <a:xfrm>
            <a:off x="1731320" y="2590800"/>
            <a:ext cx="3810000" cy="6667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12650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BB50E-498C-408C-8BB5-F3FD1F203054}"/>
              </a:ext>
            </a:extLst>
          </p:cNvPr>
          <p:cNvSpPr/>
          <p:nvPr/>
        </p:nvSpPr>
        <p:spPr>
          <a:xfrm>
            <a:off x="8115301" y="1665002"/>
            <a:ext cx="2400302" cy="2362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239001" y="2846102"/>
            <a:ext cx="876300" cy="1333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421415-A837-43D5-A794-3FBB984DD20A}"/>
              </a:ext>
            </a:extLst>
          </p:cNvPr>
          <p:cNvSpPr/>
          <p:nvPr/>
        </p:nvSpPr>
        <p:spPr>
          <a:xfrm>
            <a:off x="8261963" y="1948140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productName</a:t>
            </a:r>
            <a:endParaRPr lang="en-IE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02807-3480-4C80-98A9-9CA8876A967C}"/>
              </a:ext>
            </a:extLst>
          </p:cNvPr>
          <p:cNvSpPr txBox="1"/>
          <p:nvPr/>
        </p:nvSpPr>
        <p:spPr>
          <a:xfrm>
            <a:off x="9693441" y="1911682"/>
            <a:ext cx="58855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752601" y="5562600"/>
            <a:ext cx="7850675" cy="52322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products[1] =  new Product(“TV”, 123, 12.99, true);</a:t>
            </a:r>
            <a:endParaRPr lang="en-IE" sz="2800" b="1" dirty="0"/>
          </a:p>
        </p:txBody>
      </p:sp>
      <p:sp>
        <p:nvSpPr>
          <p:cNvPr id="24" name="Donut 23"/>
          <p:cNvSpPr/>
          <p:nvPr/>
        </p:nvSpPr>
        <p:spPr>
          <a:xfrm>
            <a:off x="1523999" y="5467350"/>
            <a:ext cx="8229600" cy="823586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products = new Product[4];</a:t>
            </a:r>
            <a:endParaRPr lang="en-IE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DB3672BC-219A-4853-9ECF-A60DD09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2CC5A-9E2D-440F-A8BD-3BFC4BEBD72A}"/>
              </a:ext>
            </a:extLst>
          </p:cNvPr>
          <p:cNvSpPr/>
          <p:nvPr/>
        </p:nvSpPr>
        <p:spPr>
          <a:xfrm>
            <a:off x="8229600" y="2398658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productCode</a:t>
            </a:r>
            <a:endParaRPr lang="en-IE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E34246-716F-420B-8073-C35F36698815}"/>
              </a:ext>
            </a:extLst>
          </p:cNvPr>
          <p:cNvSpPr txBox="1"/>
          <p:nvPr/>
        </p:nvSpPr>
        <p:spPr>
          <a:xfrm>
            <a:off x="9661077" y="2362200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BA3F1A-7FE7-4A91-B6BF-32970F8CDC86}"/>
              </a:ext>
            </a:extLst>
          </p:cNvPr>
          <p:cNvSpPr/>
          <p:nvPr/>
        </p:nvSpPr>
        <p:spPr>
          <a:xfrm>
            <a:off x="8229600" y="2822104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unitCost</a:t>
            </a:r>
            <a:endParaRPr lang="en-IE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B87EE-CDD6-4067-AF4C-6ECC77027AAE}"/>
              </a:ext>
            </a:extLst>
          </p:cNvPr>
          <p:cNvSpPr txBox="1"/>
          <p:nvPr/>
        </p:nvSpPr>
        <p:spPr>
          <a:xfrm>
            <a:off x="9661077" y="278564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12.99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3C7491-A235-4F39-9B44-03668014CD0C}"/>
              </a:ext>
            </a:extLst>
          </p:cNvPr>
          <p:cNvSpPr/>
          <p:nvPr/>
        </p:nvSpPr>
        <p:spPr>
          <a:xfrm>
            <a:off x="8233936" y="3242847"/>
            <a:ext cx="1219200" cy="467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inCurrentProductLine</a:t>
            </a:r>
            <a:endParaRPr lang="en-IE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BC190-CD28-4CA7-BDD3-0AD482A389E9}"/>
              </a:ext>
            </a:extLst>
          </p:cNvPr>
          <p:cNvSpPr txBox="1"/>
          <p:nvPr/>
        </p:nvSpPr>
        <p:spPr>
          <a:xfrm>
            <a:off x="9615241" y="327058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73" y="1672860"/>
            <a:ext cx="8001000" cy="415498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0627A"/>
                </a:solidFill>
                <a:latin typeface="JetBrains Mono"/>
              </a:rPr>
              <a:t>listProducts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2400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": "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VI" altLang="en-VI" sz="2400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.</a:t>
            </a:r>
            <a:r>
              <a:rPr lang="en-GB" altLang="en-VI" sz="2400" dirty="0" err="1">
                <a:solidFill>
                  <a:srgbClr val="080808"/>
                </a:solidFill>
                <a:latin typeface="JetBrains Mono"/>
              </a:rPr>
              <a:t>toString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()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037A6"/>
                </a:solidFill>
                <a:latin typeface="JetBrains Mono"/>
              </a:rPr>
              <a:t>\n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5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2257547" y="6098128"/>
            <a:ext cx="780085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/>
              <a:t>Returns a String containing all the products stored in the primitive array.  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882E-BB13-C668-7A9A-DBE6D47A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E80A-33EE-5EA4-341C-30259842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Fixed size — must know size in advance</a:t>
            </a:r>
          </a:p>
          <a:p>
            <a:r>
              <a:rPr lang="en-US" sz="4000" dirty="0"/>
              <a:t>Stored sequentially in memory</a:t>
            </a:r>
          </a:p>
          <a:p>
            <a:r>
              <a:rPr lang="en-US" sz="4000" dirty="0"/>
              <a:t>Useful for simple, fixed collections of data</a:t>
            </a:r>
          </a:p>
          <a:p>
            <a:r>
              <a:rPr lang="en-US" sz="4000" dirty="0"/>
              <a:t>Limitations: no automatic resizing, limited built‑in methods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78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t>Why Not Always Arrays?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Adding/removing elements is difficult</a:t>
            </a:r>
          </a:p>
          <a:p>
            <a:r>
              <a:rPr dirty="0"/>
              <a:t>No built‑in search, sort, or utilities</a:t>
            </a:r>
          </a:p>
          <a:p>
            <a:r>
              <a:rPr dirty="0"/>
              <a:t>Errors occur when guessing array size</a:t>
            </a:r>
          </a:p>
          <a:p>
            <a:r>
              <a:rPr dirty="0"/>
              <a:t>Collections solve these limitations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FC385-F5EC-87F5-8EAA-5B82B04CE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" r="11008" b="-1"/>
          <a:stretch>
            <a:fillRect/>
          </a:stretch>
        </p:blipFill>
        <p:spPr>
          <a:xfrm>
            <a:off x="6197600" y="1600201"/>
            <a:ext cx="5384800" cy="45259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t>When to Use an ArrayList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When the number of items changes over time</a:t>
            </a:r>
          </a:p>
          <a:p>
            <a:r>
              <a:rPr dirty="0"/>
              <a:t>When convenient operations matter</a:t>
            </a:r>
          </a:p>
          <a:p>
            <a:r>
              <a:rPr dirty="0"/>
              <a:t>When modelling real-world lists of objects</a:t>
            </a:r>
          </a:p>
        </p:txBody>
      </p:sp>
      <p:pic>
        <p:nvPicPr>
          <p:cNvPr id="2050" name="Picture 2" descr="Supermarket Shelves Empty With Three Levels And Colorful Sunshade Vector  Illustration Royalty Free SVG, Cliparts, Vectors, and Stock Illustration.  Image 89729639.">
            <a:extLst>
              <a:ext uri="{FF2B5EF4-FFF2-40B4-BE49-F238E27FC236}">
                <a16:creationId xmlns:a16="http://schemas.microsoft.com/office/drawing/2014/main" id="{8F7D418A-05BD-9020-4B44-9A93B3E06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7018" y="1600201"/>
            <a:ext cx="4525963" cy="4525963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 Program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Current: Driver → Product</a:t>
            </a:r>
          </a:p>
          <a:p>
            <a:r>
              <a:rPr dirty="0"/>
              <a:t>Next: Driver → Store → Product</a:t>
            </a:r>
          </a:p>
          <a:p>
            <a:r>
              <a:rPr dirty="0"/>
              <a:t>Store will manage a collection of Products</a:t>
            </a:r>
          </a:p>
          <a:p>
            <a:r>
              <a:rPr dirty="0" err="1"/>
              <a:t>ArrayList</a:t>
            </a:r>
            <a:r>
              <a:rPr dirty="0"/>
              <a:t>&lt;Product&gt; is ideal because the number of products can grow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ArrayList for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Store needs to:</a:t>
            </a:r>
          </a:p>
          <a:p>
            <a:pPr lvl="2"/>
            <a:r>
              <a:rPr dirty="0"/>
              <a:t>add products</a:t>
            </a:r>
          </a:p>
          <a:p>
            <a:pPr lvl="2"/>
            <a:r>
              <a:rPr dirty="0"/>
              <a:t>remove products</a:t>
            </a:r>
          </a:p>
          <a:p>
            <a:pPr lvl="2"/>
            <a:r>
              <a:rPr dirty="0"/>
              <a:t>search products</a:t>
            </a:r>
          </a:p>
          <a:p>
            <a:pPr lvl="2"/>
            <a:r>
              <a:rPr dirty="0"/>
              <a:t>list products</a:t>
            </a:r>
          </a:p>
          <a:p>
            <a:r>
              <a:rPr dirty="0" err="1"/>
              <a:t>ArrayList</a:t>
            </a:r>
            <a:r>
              <a:rPr dirty="0"/>
              <a:t> provides simple, clean methods to support all of this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D196729E-3B67-02EC-B973-086DF7FE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600200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Widescreen</PresentationFormat>
  <Paragraphs>108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JetBrains Mono</vt:lpstr>
      <vt:lpstr>Times New Roman</vt:lpstr>
      <vt:lpstr>Office Theme</vt:lpstr>
      <vt:lpstr>Introducing groups of classes Arrays Revisited</vt:lpstr>
      <vt:lpstr>PowerPoint Presentation</vt:lpstr>
      <vt:lpstr>PowerPoint Presentation</vt:lpstr>
      <vt:lpstr>PowerPoint Presentation</vt:lpstr>
      <vt:lpstr>Product Class </vt:lpstr>
      <vt:lpstr>Structure of a Product primitive array</vt:lpstr>
      <vt:lpstr>Structure of a Product primitive array</vt:lpstr>
      <vt:lpstr>Structure of a Product primitive array</vt:lpstr>
      <vt:lpstr>Example using a Product object array</vt:lpstr>
      <vt:lpstr>Arrays in Java</vt:lpstr>
      <vt:lpstr>Why Not Always Arrays?</vt:lpstr>
      <vt:lpstr>When to Use an ArrayList</vt:lpstr>
      <vt:lpstr>Shop Program Evolution</vt:lpstr>
      <vt:lpstr>Why ArrayList for Store?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on Arrays</dc:title>
  <dc:creator>Siobhan Drohan</dc:creator>
  <cp:lastModifiedBy>Siobhan Roche</cp:lastModifiedBy>
  <cp:revision>353</cp:revision>
  <cp:lastPrinted>2018-02-19T00:13:51Z</cp:lastPrinted>
  <dcterms:created xsi:type="dcterms:W3CDTF">2006-08-16T00:00:00Z</dcterms:created>
  <dcterms:modified xsi:type="dcterms:W3CDTF">2026-01-20T16:21:29Z</dcterms:modified>
</cp:coreProperties>
</file>