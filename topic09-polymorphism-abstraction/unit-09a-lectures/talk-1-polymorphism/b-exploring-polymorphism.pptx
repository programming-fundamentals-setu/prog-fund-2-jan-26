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notesSlides/notesSlide1.xml" ContentType="application/vnd.openxmlformats-officedocument.presentationml.notesSlide+xml"/>
  <Override PartName="/ppt/tags/tag28.xml" ContentType="application/vnd.openxmlformats-officedocument.presentationml.tags+xml"/>
  <Override PartName="/ppt/notesSlides/notesSlide2.xml" ContentType="application/vnd.openxmlformats-officedocument.presentationml.notesSlide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8"/>
  </p:notesMasterIdLst>
  <p:sldIdLst>
    <p:sldId id="256" r:id="rId2"/>
    <p:sldId id="440" r:id="rId3"/>
    <p:sldId id="396" r:id="rId4"/>
    <p:sldId id="443" r:id="rId5"/>
    <p:sldId id="444" r:id="rId6"/>
    <p:sldId id="484" r:id="rId7"/>
    <p:sldId id="446" r:id="rId8"/>
    <p:sldId id="447" r:id="rId9"/>
    <p:sldId id="468" r:id="rId10"/>
    <p:sldId id="448" r:id="rId11"/>
    <p:sldId id="475" r:id="rId12"/>
    <p:sldId id="476" r:id="rId13"/>
    <p:sldId id="485" r:id="rId14"/>
    <p:sldId id="477" r:id="rId15"/>
    <p:sldId id="469" r:id="rId16"/>
    <p:sldId id="451" r:id="rId17"/>
    <p:sldId id="452" r:id="rId18"/>
    <p:sldId id="470" r:id="rId19"/>
    <p:sldId id="455" r:id="rId20"/>
    <p:sldId id="456" r:id="rId21"/>
    <p:sldId id="457" r:id="rId22"/>
    <p:sldId id="458" r:id="rId23"/>
    <p:sldId id="459" r:id="rId24"/>
    <p:sldId id="460" r:id="rId25"/>
    <p:sldId id="461" r:id="rId26"/>
    <p:sldId id="479" r:id="rId27"/>
    <p:sldId id="482" r:id="rId28"/>
    <p:sldId id="481" r:id="rId29"/>
    <p:sldId id="483" r:id="rId30"/>
    <p:sldId id="463" r:id="rId31"/>
    <p:sldId id="471" r:id="rId32"/>
    <p:sldId id="474" r:id="rId33"/>
    <p:sldId id="472" r:id="rId34"/>
    <p:sldId id="473" r:id="rId35"/>
    <p:sldId id="467" r:id="rId36"/>
    <p:sldId id="392" r:id="rId37"/>
  </p:sldIdLst>
  <p:sldSz cx="12192000" cy="6858000"/>
  <p:notesSz cx="6858000" cy="9144000"/>
  <p:custDataLst>
    <p:tags r:id="rId39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61" autoAdjust="0"/>
    <p:restoredTop sz="94715"/>
  </p:normalViewPr>
  <p:slideViewPr>
    <p:cSldViewPr>
      <p:cViewPr varScale="1">
        <p:scale>
          <a:sx n="73" d="100"/>
          <a:sy n="73" d="100"/>
        </p:scale>
        <p:origin x="82" y="44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gs" Target="tags/tag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BC3C30-7F3D-4B20-9974-47C57B22CA6E}" type="datetimeFigureOut">
              <a:rPr lang="en-IE" smtClean="0"/>
              <a:t>16/03/2026</a:t>
            </a:fld>
            <a:endParaRPr lang="en-I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09BE90-ABBD-4931-8E0C-089E0ACACA6B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898184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Grp="1" noChangeArrowheads="1"/>
          </p:cNvSpPr>
          <p:nvPr>
            <p:ph type="hdr" sz="quarter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GB" sz="1200" b="0">
                <a:latin typeface="Times New Roman" charset="0"/>
              </a:rPr>
              <a:t>Objects First with Java</a:t>
            </a:r>
          </a:p>
        </p:txBody>
      </p:sp>
      <p:sp>
        <p:nvSpPr>
          <p:cNvPr id="80899" name="Rectangle 6"/>
          <p:cNvSpPr>
            <a:spLocks noGrp="1" noChangeArrowheads="1"/>
          </p:cNvSpPr>
          <p:nvPr>
            <p:ph type="ftr" sz="quarter" idx="4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9pPr>
          </a:lstStyle>
          <a:p>
            <a:pPr>
              <a:defRPr/>
            </a:pPr>
            <a:r>
              <a:rPr lang="en-GB" altLang="en-US" sz="1200" b="0">
                <a:latin typeface="Times New Roman" pitchFamily="18" charset="0"/>
              </a:rPr>
              <a:t>© David J. Barnes and Michael Kölling</a:t>
            </a:r>
          </a:p>
        </p:txBody>
      </p:sp>
      <p:sp>
        <p:nvSpPr>
          <p:cNvPr id="80900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9pPr>
          </a:lstStyle>
          <a:p>
            <a:pPr>
              <a:defRPr/>
            </a:pPr>
            <a:fld id="{C705EB16-5660-40D2-AB9B-2A93ADCD088A}" type="slidenum">
              <a:rPr lang="en-GB" altLang="en-US" sz="1200" b="0" smtClean="0">
                <a:latin typeface="Times New Roman" pitchFamily="18" charset="0"/>
              </a:rPr>
              <a:pPr>
                <a:defRPr/>
              </a:pPr>
              <a:t>26</a:t>
            </a:fld>
            <a:endParaRPr lang="en-GB" altLang="en-US" sz="1200" b="0">
              <a:latin typeface="Times New Roman" pitchFamily="18" charset="0"/>
            </a:endParaRPr>
          </a:p>
        </p:txBody>
      </p:sp>
      <p:sp>
        <p:nvSpPr>
          <p:cNvPr id="8090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80902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Times New Roman" charset="0"/>
              <a:ea typeface="ＭＳ Ｐゴシック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223085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Grp="1" noChangeArrowheads="1"/>
          </p:cNvSpPr>
          <p:nvPr>
            <p:ph type="hdr" sz="quarter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GB" sz="1200" b="0">
                <a:latin typeface="Times New Roman" charset="0"/>
              </a:rPr>
              <a:t>Objects First with Java</a:t>
            </a:r>
          </a:p>
        </p:txBody>
      </p:sp>
      <p:sp>
        <p:nvSpPr>
          <p:cNvPr id="80899" name="Rectangle 6"/>
          <p:cNvSpPr>
            <a:spLocks noGrp="1" noChangeArrowheads="1"/>
          </p:cNvSpPr>
          <p:nvPr>
            <p:ph type="ftr" sz="quarter" idx="4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9pPr>
          </a:lstStyle>
          <a:p>
            <a:pPr>
              <a:defRPr/>
            </a:pPr>
            <a:r>
              <a:rPr lang="en-GB" altLang="en-US" sz="1200" b="0">
                <a:latin typeface="Times New Roman" pitchFamily="18" charset="0"/>
              </a:rPr>
              <a:t>© David J. Barnes and Michael Kölling</a:t>
            </a:r>
          </a:p>
        </p:txBody>
      </p:sp>
      <p:sp>
        <p:nvSpPr>
          <p:cNvPr id="80900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9pPr>
          </a:lstStyle>
          <a:p>
            <a:pPr>
              <a:defRPr/>
            </a:pPr>
            <a:fld id="{C705EB16-5660-40D2-AB9B-2A93ADCD088A}" type="slidenum">
              <a:rPr lang="en-GB" altLang="en-US" sz="1200" b="0" smtClean="0">
                <a:latin typeface="Times New Roman" pitchFamily="18" charset="0"/>
              </a:rPr>
              <a:pPr>
                <a:defRPr/>
              </a:pPr>
              <a:t>27</a:t>
            </a:fld>
            <a:endParaRPr lang="en-GB" altLang="en-US" sz="1200" b="0">
              <a:latin typeface="Times New Roman" pitchFamily="18" charset="0"/>
            </a:endParaRPr>
          </a:p>
        </p:txBody>
      </p:sp>
      <p:sp>
        <p:nvSpPr>
          <p:cNvPr id="8090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80902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Times New Roman" charset="0"/>
              <a:ea typeface="ＭＳ Ｐゴシック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673194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x">
  <p:cSld name="Title, Conten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0800" y="381000"/>
            <a:ext cx="103632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25600" y="1828800"/>
            <a:ext cx="4876800" cy="4267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05600" y="1828800"/>
            <a:ext cx="4876800" cy="4267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028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/>
              <a:t>Objects First with Java - A Practical Introduction using BlueJ, © David J. Barnes, Michael Kölling</a:t>
            </a:r>
          </a:p>
        </p:txBody>
      </p:sp>
    </p:spTree>
    <p:extLst>
      <p:ext uri="{BB962C8B-B14F-4D97-AF65-F5344CB8AC3E}">
        <p14:creationId xmlns:p14="http://schemas.microsoft.com/office/powerpoint/2010/main" val="16400057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luej.org/objects-first/" TargetMode="Externa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ags" Target="../tags/tag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ags" Target="../tags/tag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9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20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2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2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7.xml"/><Relationship Id="rId4" Type="http://schemas.openxmlformats.org/officeDocument/2006/relationships/image" Target="../media/image1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8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9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0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3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75641" y="914401"/>
            <a:ext cx="7772400" cy="1470025"/>
          </a:xfrm>
        </p:spPr>
        <p:txBody>
          <a:bodyPr>
            <a:normAutofit/>
          </a:bodyPr>
          <a:lstStyle/>
          <a:p>
            <a:pPr algn="l"/>
            <a:r>
              <a:rPr lang="en-IE" sz="4000" dirty="0"/>
              <a:t>Inheritance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38300" y="3810000"/>
            <a:ext cx="1866900" cy="1066800"/>
          </a:xfrm>
        </p:spPr>
        <p:txBody>
          <a:bodyPr>
            <a:norm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lang="en-IE" sz="2400" dirty="0"/>
              <a:t>Produced </a:t>
            </a:r>
          </a:p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lang="en-IE" sz="2400" dirty="0"/>
              <a:t>by: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2251841" y="3124200"/>
            <a:ext cx="762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itle 1"/>
          <p:cNvSpPr txBox="1">
            <a:spLocks/>
          </p:cNvSpPr>
          <p:nvPr/>
        </p:nvSpPr>
        <p:spPr>
          <a:xfrm>
            <a:off x="2175641" y="2133601"/>
            <a:ext cx="7772400" cy="9366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E" sz="3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Exploring Polymorphism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AE88BB3-48A4-4DAD-A56A-33504D845C74}"/>
              </a:ext>
            </a:extLst>
          </p:cNvPr>
          <p:cNvSpPr txBox="1"/>
          <p:nvPr/>
        </p:nvSpPr>
        <p:spPr>
          <a:xfrm>
            <a:off x="3581400" y="3840541"/>
            <a:ext cx="3581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Ms. </a:t>
            </a:r>
            <a:r>
              <a:rPr lang="en-IE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Mairéad</a:t>
            </a:r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Meagher</a:t>
            </a:r>
          </a:p>
          <a:p>
            <a:r>
              <a:rPr lang="en-IE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Dr.</a:t>
            </a:r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IE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Siobhán</a:t>
            </a:r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Drohan</a:t>
            </a:r>
          </a:p>
          <a:p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Ms Siobhan Roche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2CFC3A-BCC9-67F1-392E-2A5C6F4D4C82}"/>
              </a:ext>
            </a:extLst>
          </p:cNvPr>
          <p:cNvSpPr txBox="1"/>
          <p:nvPr/>
        </p:nvSpPr>
        <p:spPr>
          <a:xfrm>
            <a:off x="7336971" y="5849826"/>
            <a:ext cx="40727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1600" dirty="0"/>
              <a:t>Department of Computing and Mathematics</a:t>
            </a:r>
          </a:p>
          <a:p>
            <a:r>
              <a:rPr lang="en-IE" sz="1600" dirty="0"/>
              <a:t>http://www.setu.ie/</a:t>
            </a:r>
          </a:p>
        </p:txBody>
      </p:sp>
      <p:pic>
        <p:nvPicPr>
          <p:cNvPr id="7" name="Picture 6" descr="Text&#10;&#10;Description automatically generated">
            <a:extLst>
              <a:ext uri="{FF2B5EF4-FFF2-40B4-BE49-F238E27FC236}">
                <a16:creationId xmlns:a16="http://schemas.microsoft.com/office/drawing/2014/main" id="{E26EAD94-0890-9C33-6654-65A387AFBA4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641" y="5501441"/>
            <a:ext cx="2286000" cy="1281546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0423712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Lectures and Labs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E" dirty="0"/>
          </a:p>
          <a:p>
            <a:r>
              <a:rPr lang="en-IE" dirty="0"/>
              <a:t>This weeks lectures and labs are based on examples in:</a:t>
            </a:r>
          </a:p>
          <a:p>
            <a:pPr lvl="1"/>
            <a:endParaRPr lang="en-GB" dirty="0"/>
          </a:p>
          <a:p>
            <a:pPr lvl="1"/>
            <a:r>
              <a:rPr lang="en-GB" dirty="0"/>
              <a:t>Objects First with Java - A Practical Introduction using </a:t>
            </a:r>
            <a:r>
              <a:rPr lang="en-GB" dirty="0" err="1"/>
              <a:t>BlueJ</a:t>
            </a:r>
            <a:r>
              <a:rPr lang="en-GB" dirty="0"/>
              <a:t>, © David J. Barnes, Michael </a:t>
            </a:r>
            <a:r>
              <a:rPr lang="en-GB" dirty="0" err="1"/>
              <a:t>Kölling</a:t>
            </a:r>
            <a:r>
              <a:rPr lang="en-GB" dirty="0"/>
              <a:t> </a:t>
            </a:r>
            <a:r>
              <a:rPr lang="en-IE">
                <a:hlinkClick r:id="rId3"/>
              </a:rPr>
              <a:t>(https://www.bluej.org/objects-first/</a:t>
            </a:r>
            <a:r>
              <a:rPr lang="en-IE"/>
              <a:t>)</a:t>
            </a:r>
          </a:p>
          <a:p>
            <a:pPr marL="457200" lvl="1" indent="0">
              <a:buNone/>
            </a:pPr>
            <a:endParaRPr lang="en-GB" dirty="0"/>
          </a:p>
          <a:p>
            <a:endParaRPr lang="en-IE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299625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Topic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dirty="0"/>
              <a:t>Method polymorphism</a:t>
            </a:r>
          </a:p>
          <a:p>
            <a:pPr>
              <a:defRPr/>
            </a:pPr>
            <a:r>
              <a:rPr lang="en-US" dirty="0"/>
              <a:t>Static and dynamic type</a:t>
            </a:r>
          </a:p>
          <a:p>
            <a:pPr>
              <a:defRPr/>
            </a:pPr>
            <a:r>
              <a:rPr lang="en-US" dirty="0"/>
              <a:t>Overriding</a:t>
            </a:r>
          </a:p>
          <a:p>
            <a:pPr>
              <a:defRPr/>
            </a:pPr>
            <a:r>
              <a:rPr lang="en-US" dirty="0"/>
              <a:t>Dynamic method lookup</a:t>
            </a:r>
          </a:p>
          <a:p>
            <a:pPr>
              <a:defRPr/>
            </a:pPr>
            <a:r>
              <a:rPr lang="en-US" dirty="0"/>
              <a:t>Protected access</a:t>
            </a:r>
          </a:p>
          <a:p>
            <a:pPr marL="0" indent="0">
              <a:buNone/>
            </a:pPr>
            <a:endParaRPr lang="en-IE" dirty="0"/>
          </a:p>
          <a:p>
            <a:endParaRPr lang="en-IE" dirty="0"/>
          </a:p>
        </p:txBody>
      </p:sp>
      <p:sp>
        <p:nvSpPr>
          <p:cNvPr id="4" name="Rectangle 3"/>
          <p:cNvSpPr/>
          <p:nvPr/>
        </p:nvSpPr>
        <p:spPr>
          <a:xfrm>
            <a:off x="609600" y="1600200"/>
            <a:ext cx="7848600" cy="5334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558390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dirty="0"/>
              <a:t>Social Network V5.0</a:t>
            </a:r>
            <a:r>
              <a:rPr lang="en-US" dirty="0">
                <a:ea typeface="+mj-ea"/>
                <a:cs typeface="+mj-cs"/>
              </a:rPr>
              <a:t> – Inheritance Hierarchy</a:t>
            </a:r>
          </a:p>
        </p:txBody>
      </p:sp>
      <p:pic>
        <p:nvPicPr>
          <p:cNvPr id="5124" name="Picture 1" descr="fig9-1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6800" y="1833564"/>
            <a:ext cx="5608638" cy="44037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Left Arrow 1">
            <a:extLst>
              <a:ext uri="{FF2B5EF4-FFF2-40B4-BE49-F238E27FC236}">
                <a16:creationId xmlns:a16="http://schemas.microsoft.com/office/drawing/2014/main" id="{1EAF2DE8-EEA9-7943-8D5B-2D08E4194D3B}"/>
              </a:ext>
            </a:extLst>
          </p:cNvPr>
          <p:cNvSpPr/>
          <p:nvPr/>
        </p:nvSpPr>
        <p:spPr>
          <a:xfrm>
            <a:off x="8534400" y="3654426"/>
            <a:ext cx="1676400" cy="762000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626113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IE" dirty="0"/>
              <a:t>Testing the display method…</a:t>
            </a:r>
          </a:p>
        </p:txBody>
      </p:sp>
      <p:sp>
        <p:nvSpPr>
          <p:cNvPr id="5" name="Rectangle 4"/>
          <p:cNvSpPr/>
          <p:nvPr/>
        </p:nvSpPr>
        <p:spPr>
          <a:xfrm>
            <a:off x="762000" y="2861549"/>
            <a:ext cx="10515600" cy="132343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n-US" sz="2000" dirty="0">
                <a:latin typeface="Courier New" charset="0"/>
              </a:rPr>
              <a:t>0: Leonardo da Vinci</a:t>
            </a:r>
          </a:p>
          <a:p>
            <a:pPr>
              <a:defRPr/>
            </a:pPr>
            <a:r>
              <a:rPr lang="en-US" sz="2000" dirty="0">
                <a:latin typeface="Courier New" charset="0"/>
              </a:rPr>
              <a:t>2 people like this.</a:t>
            </a:r>
          </a:p>
          <a:p>
            <a:pPr>
              <a:defRPr/>
            </a:pPr>
            <a:r>
              <a:rPr lang="en-US" sz="2000" dirty="0">
                <a:latin typeface="Courier New" charset="0"/>
              </a:rPr>
              <a:t>	Had a great idea this morning.</a:t>
            </a:r>
          </a:p>
          <a:p>
            <a:pPr>
              <a:defRPr/>
            </a:pPr>
            <a:r>
              <a:rPr lang="en-US" sz="2000" dirty="0">
                <a:latin typeface="Courier New" charset="0"/>
              </a:rPr>
              <a:t>	But now I forgot what it was. Something to do with flying ... </a:t>
            </a:r>
          </a:p>
        </p:txBody>
      </p:sp>
      <p:sp>
        <p:nvSpPr>
          <p:cNvPr id="6149" name="Rectangle 5"/>
          <p:cNvSpPr>
            <a:spLocks noChangeArrowheads="1"/>
          </p:cNvSpPr>
          <p:nvPr/>
        </p:nvSpPr>
        <p:spPr bwMode="auto">
          <a:xfrm>
            <a:off x="6757988" y="2590800"/>
            <a:ext cx="4443412" cy="585787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charset="0"/>
                <a:ea typeface="MS PGothic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charset="0"/>
                <a:ea typeface="MS PGothic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charset="0"/>
                <a:ea typeface="MS PGothic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charset="0"/>
                <a:ea typeface="MS PGothic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MS PGothic" pitchFamily="34" charset="-128"/>
              </a:defRPr>
            </a:lvl9pPr>
          </a:lstStyle>
          <a:p>
            <a:r>
              <a:rPr lang="en-IE" altLang="en-US" sz="3200" dirty="0"/>
              <a:t>Create this </a:t>
            </a:r>
            <a:r>
              <a:rPr lang="en-IE" altLang="en-US" sz="3200" dirty="0" err="1"/>
              <a:t>MessagePost</a:t>
            </a:r>
            <a:endParaRPr lang="en-IE" altLang="en-US" sz="3200" dirty="0"/>
          </a:p>
        </p:txBody>
      </p:sp>
      <p:sp>
        <p:nvSpPr>
          <p:cNvPr id="8" name="Rectangle 7"/>
          <p:cNvSpPr/>
          <p:nvPr/>
        </p:nvSpPr>
        <p:spPr>
          <a:xfrm>
            <a:off x="762000" y="4848761"/>
            <a:ext cx="10439400" cy="132343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n-US" sz="2000" dirty="0">
                <a:latin typeface="Courier New" charset="0"/>
              </a:rPr>
              <a:t>1: Alexander Graham Bell</a:t>
            </a:r>
          </a:p>
          <a:p>
            <a:pPr>
              <a:defRPr/>
            </a:pPr>
            <a:r>
              <a:rPr lang="en-US" sz="2000" dirty="0">
                <a:latin typeface="Courier New" charset="0"/>
              </a:rPr>
              <a:t>4 people like this.</a:t>
            </a:r>
          </a:p>
          <a:p>
            <a:pPr>
              <a:defRPr/>
            </a:pPr>
            <a:r>
              <a:rPr lang="en-US" sz="2000" dirty="0">
                <a:latin typeface="Courier New" charset="0"/>
              </a:rPr>
              <a:t>	</a:t>
            </a:r>
            <a:r>
              <a:rPr lang="en-US" sz="2000" dirty="0" err="1">
                <a:latin typeface="Courier New" charset="0"/>
              </a:rPr>
              <a:t>experiment.jpg</a:t>
            </a:r>
            <a:endParaRPr lang="en-US" sz="2000" dirty="0">
              <a:latin typeface="Courier New" charset="0"/>
            </a:endParaRPr>
          </a:p>
          <a:p>
            <a:pPr>
              <a:defRPr/>
            </a:pPr>
            <a:r>
              <a:rPr lang="en-US" sz="2000" dirty="0">
                <a:latin typeface="Courier New" charset="0"/>
              </a:rPr>
              <a:t>	I think I might call this thing 'telephone'.</a:t>
            </a:r>
          </a:p>
        </p:txBody>
      </p:sp>
      <p:sp>
        <p:nvSpPr>
          <p:cNvPr id="6151" name="Rectangle 6"/>
          <p:cNvSpPr>
            <a:spLocks noChangeArrowheads="1"/>
          </p:cNvSpPr>
          <p:nvPr/>
        </p:nvSpPr>
        <p:spPr bwMode="auto">
          <a:xfrm>
            <a:off x="7086600" y="4663023"/>
            <a:ext cx="3983037" cy="5842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charset="0"/>
                <a:ea typeface="MS PGothic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charset="0"/>
                <a:ea typeface="MS PGothic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charset="0"/>
                <a:ea typeface="MS PGothic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charset="0"/>
                <a:ea typeface="MS PGothic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MS PGothic" pitchFamily="34" charset="-128"/>
              </a:defRPr>
            </a:lvl9pPr>
          </a:lstStyle>
          <a:p>
            <a:r>
              <a:rPr lang="en-IE" altLang="en-US" sz="3200" dirty="0"/>
              <a:t>Create this </a:t>
            </a:r>
            <a:r>
              <a:rPr lang="en-IE" altLang="en-US" sz="3200" dirty="0" err="1"/>
              <a:t>PhotoPost</a:t>
            </a:r>
            <a:endParaRPr lang="en-IE" altLang="en-US" sz="32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20EE61E-B2A1-CA4F-81C0-B9A13BA09B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5701" y="76200"/>
            <a:ext cx="3263899" cy="22610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2081089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1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1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1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1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149" grpId="0" animBg="1"/>
      <p:bldP spid="8" grpId="0" animBg="1"/>
      <p:bldP spid="615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IE" dirty="0"/>
              <a:t>Testing the display method…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1600200"/>
            <a:ext cx="10820400" cy="286232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n-US" sz="2000" dirty="0">
                <a:latin typeface="Courier New" charset="0"/>
              </a:rPr>
              <a:t>0: Leonardo da Vinci</a:t>
            </a:r>
          </a:p>
          <a:p>
            <a:pPr>
              <a:defRPr/>
            </a:pPr>
            <a:r>
              <a:rPr lang="en-US" sz="2000" dirty="0">
                <a:latin typeface="Courier New" charset="0"/>
              </a:rPr>
              <a:t>2 people like this.</a:t>
            </a:r>
          </a:p>
          <a:p>
            <a:pPr>
              <a:defRPr/>
            </a:pPr>
            <a:r>
              <a:rPr lang="en-US" sz="2000" dirty="0">
                <a:latin typeface="Courier New" charset="0"/>
              </a:rPr>
              <a:t>	Had a great idea this morning.</a:t>
            </a:r>
          </a:p>
          <a:p>
            <a:pPr>
              <a:defRPr/>
            </a:pPr>
            <a:r>
              <a:rPr lang="en-US" sz="2000" dirty="0">
                <a:latin typeface="Courier New" charset="0"/>
              </a:rPr>
              <a:t>	But now I forgot what it was. Something to do with flying ...</a:t>
            </a:r>
          </a:p>
          <a:p>
            <a:pPr>
              <a:defRPr/>
            </a:pPr>
            <a:r>
              <a:rPr lang="en-US" sz="2000" dirty="0">
                <a:latin typeface="Courier New" charset="0"/>
              </a:rPr>
              <a:t> </a:t>
            </a:r>
          </a:p>
          <a:p>
            <a:pPr>
              <a:defRPr/>
            </a:pPr>
            <a:r>
              <a:rPr lang="en-US" sz="2000" dirty="0">
                <a:latin typeface="Courier New" charset="0"/>
              </a:rPr>
              <a:t>1: Alexander Graham Bell</a:t>
            </a:r>
          </a:p>
          <a:p>
            <a:pPr>
              <a:defRPr/>
            </a:pPr>
            <a:r>
              <a:rPr lang="en-US" sz="2000" dirty="0">
                <a:latin typeface="Courier New" charset="0"/>
              </a:rPr>
              <a:t>4 people like this.</a:t>
            </a:r>
          </a:p>
          <a:p>
            <a:pPr>
              <a:defRPr/>
            </a:pPr>
            <a:r>
              <a:rPr lang="en-US" sz="2000" dirty="0">
                <a:latin typeface="Courier New" charset="0"/>
              </a:rPr>
              <a:t>	</a:t>
            </a:r>
            <a:r>
              <a:rPr lang="en-US" sz="2000" dirty="0" err="1">
                <a:latin typeface="Courier New" charset="0"/>
              </a:rPr>
              <a:t>experiment.jpg</a:t>
            </a:r>
            <a:endParaRPr lang="en-US" sz="2000" dirty="0">
              <a:latin typeface="Courier New" charset="0"/>
            </a:endParaRPr>
          </a:p>
          <a:p>
            <a:pPr>
              <a:defRPr/>
            </a:pPr>
            <a:r>
              <a:rPr lang="en-US" sz="2000" dirty="0">
                <a:latin typeface="Courier New" charset="0"/>
              </a:rPr>
              <a:t>	I think I might call this thing 'telephone'.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4A80402-A174-B14A-844A-1AB584762C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67800" y="2895600"/>
            <a:ext cx="1828800" cy="1447800"/>
          </a:xfrm>
          <a:prstGeom prst="ellipse">
            <a:avLst/>
          </a:prstGeom>
          <a:solidFill>
            <a:srgbClr val="FFECA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tx1"/>
                </a:solidFill>
                <a:latin typeface="Times" charset="0"/>
                <a:ea typeface="MS PGothic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charset="0"/>
                <a:ea typeface="MS PGothic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charset="0"/>
                <a:ea typeface="MS PGothic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charset="0"/>
                <a:ea typeface="MS PGothic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MS PGothic" pitchFamily="34" charset="-128"/>
              </a:defRPr>
            </a:lvl9pPr>
          </a:lstStyle>
          <a:p>
            <a:pPr algn="ctr"/>
            <a:r>
              <a:rPr lang="en-US" altLang="en-US" sz="1800" dirty="0">
                <a:solidFill>
                  <a:srgbClr val="A57133"/>
                </a:solidFill>
                <a:latin typeface="Trebuchet MS" pitchFamily="34" charset="0"/>
              </a:rPr>
              <a:t>What we </a:t>
            </a:r>
            <a:r>
              <a:rPr lang="en-US" altLang="en-US" sz="1800" u="sng" dirty="0">
                <a:solidFill>
                  <a:srgbClr val="A57133"/>
                </a:solidFill>
                <a:latin typeface="Trebuchet MS" pitchFamily="34" charset="0"/>
              </a:rPr>
              <a:t>want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420861D-01E8-4048-AB53-ED02F28A04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5701" y="76200"/>
            <a:ext cx="3263899" cy="22610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75A1C7D5-E211-D643-87D8-D8DBFE86F9B6}"/>
              </a:ext>
            </a:extLst>
          </p:cNvPr>
          <p:cNvSpPr/>
          <p:nvPr/>
        </p:nvSpPr>
        <p:spPr>
          <a:xfrm>
            <a:off x="609600" y="4612427"/>
            <a:ext cx="10820400" cy="193899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n-US" sz="2000" dirty="0">
                <a:latin typeface="Courier New" charset="0"/>
              </a:rPr>
              <a:t>0: Leonardo da Vinci</a:t>
            </a:r>
          </a:p>
          <a:p>
            <a:pPr>
              <a:defRPr/>
            </a:pPr>
            <a:r>
              <a:rPr lang="en-US" sz="2000" dirty="0">
                <a:latin typeface="Courier New" charset="0"/>
              </a:rPr>
              <a:t>2 people like this.</a:t>
            </a:r>
          </a:p>
          <a:p>
            <a:pPr>
              <a:defRPr/>
            </a:pPr>
            <a:r>
              <a:rPr lang="en-US" sz="2000" dirty="0">
                <a:latin typeface="Courier New" charset="0"/>
              </a:rPr>
              <a:t>	</a:t>
            </a:r>
          </a:p>
          <a:p>
            <a:pPr>
              <a:defRPr/>
            </a:pPr>
            <a:r>
              <a:rPr lang="en-US" sz="2000" dirty="0">
                <a:latin typeface="Courier New" charset="0"/>
              </a:rPr>
              <a:t>1: Alexander Graham Bell</a:t>
            </a:r>
          </a:p>
          <a:p>
            <a:pPr>
              <a:defRPr/>
            </a:pPr>
            <a:r>
              <a:rPr lang="en-US" sz="2000" dirty="0">
                <a:latin typeface="Courier New" charset="0"/>
              </a:rPr>
              <a:t>4 people like this.</a:t>
            </a:r>
          </a:p>
          <a:p>
            <a:pPr>
              <a:defRPr/>
            </a:pPr>
            <a:r>
              <a:rPr lang="en-US" sz="2000" dirty="0">
                <a:latin typeface="Courier New" charset="0"/>
              </a:rPr>
              <a:t>	</a:t>
            </a:r>
          </a:p>
        </p:txBody>
      </p:sp>
      <p:sp>
        <p:nvSpPr>
          <p:cNvPr id="11" name="Oval 7">
            <a:extLst>
              <a:ext uri="{FF2B5EF4-FFF2-40B4-BE49-F238E27FC236}">
                <a16:creationId xmlns:a16="http://schemas.microsoft.com/office/drawing/2014/main" id="{DAC20D2E-C518-F24E-980F-B871B832B4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67800" y="4858023"/>
            <a:ext cx="1828800" cy="1447800"/>
          </a:xfrm>
          <a:prstGeom prst="ellipse">
            <a:avLst/>
          </a:prstGeom>
          <a:solidFill>
            <a:srgbClr val="FFECA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tx1"/>
                </a:solidFill>
                <a:latin typeface="Times" charset="0"/>
                <a:ea typeface="MS PGothic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charset="0"/>
                <a:ea typeface="MS PGothic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charset="0"/>
                <a:ea typeface="MS PGothic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charset="0"/>
                <a:ea typeface="MS PGothic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MS PGothic" pitchFamily="34" charset="-128"/>
              </a:defRPr>
            </a:lvl9pPr>
          </a:lstStyle>
          <a:p>
            <a:pPr algn="ctr"/>
            <a:r>
              <a:rPr lang="en-US" altLang="en-US" sz="1800" dirty="0">
                <a:solidFill>
                  <a:srgbClr val="A57133"/>
                </a:solidFill>
                <a:latin typeface="Trebuchet MS" pitchFamily="34" charset="0"/>
              </a:rPr>
              <a:t>What we </a:t>
            </a:r>
            <a:r>
              <a:rPr lang="en-US" altLang="en-US" sz="1800" u="sng" dirty="0">
                <a:solidFill>
                  <a:srgbClr val="A57133"/>
                </a:solidFill>
                <a:latin typeface="Trebuchet MS" pitchFamily="34" charset="0"/>
              </a:rPr>
              <a:t>have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067733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10" grpId="0" animBg="1"/>
      <p:bldP spid="1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>
                <a:ea typeface="+mj-ea"/>
                <a:cs typeface="+mj-cs"/>
              </a:rPr>
              <a:t>The problem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>
          <a:xfrm>
            <a:off x="609600" y="1600201"/>
            <a:ext cx="7391400" cy="4525963"/>
          </a:xfrm>
        </p:spPr>
        <p:txBody>
          <a:bodyPr/>
          <a:lstStyle/>
          <a:p>
            <a:pPr eaLnBrk="1" hangingPunct="1">
              <a:defRPr/>
            </a:pPr>
            <a:endParaRPr lang="en-US" altLang="en-US" dirty="0"/>
          </a:p>
          <a:p>
            <a:pPr eaLnBrk="1" hangingPunct="1">
              <a:defRPr/>
            </a:pPr>
            <a:r>
              <a:rPr lang="en-US" altLang="en-US" dirty="0"/>
              <a:t>The </a:t>
            </a:r>
            <a:r>
              <a:rPr lang="en-US" altLang="en-US" b="1" dirty="0">
                <a:latin typeface="Courier New" pitchFamily="49" charset="0"/>
              </a:rPr>
              <a:t>display</a:t>
            </a:r>
            <a:r>
              <a:rPr lang="en-US" altLang="en-US" dirty="0"/>
              <a:t> method in </a:t>
            </a:r>
            <a:r>
              <a:rPr lang="en-US" altLang="en-US" b="1" dirty="0">
                <a:latin typeface="Courier New" pitchFamily="49" charset="0"/>
              </a:rPr>
              <a:t>Post</a:t>
            </a:r>
            <a:r>
              <a:rPr lang="en-US" altLang="en-US" dirty="0"/>
              <a:t> only prints the common fields.</a:t>
            </a:r>
          </a:p>
          <a:p>
            <a:pPr eaLnBrk="1" hangingPunct="1">
              <a:defRPr/>
            </a:pPr>
            <a:endParaRPr lang="en-US" altLang="en-US" dirty="0"/>
          </a:p>
          <a:p>
            <a:pPr eaLnBrk="1" hangingPunct="1">
              <a:defRPr/>
            </a:pPr>
            <a:r>
              <a:rPr lang="en-US" altLang="en-US" dirty="0"/>
              <a:t>Inheritance is a one-way street:</a:t>
            </a:r>
          </a:p>
          <a:p>
            <a:pPr lvl="1" eaLnBrk="1" hangingPunct="1">
              <a:defRPr/>
            </a:pPr>
            <a:r>
              <a:rPr lang="en-US" altLang="en-US" dirty="0"/>
              <a:t>A subclass inherits the superclass fields.</a:t>
            </a:r>
          </a:p>
          <a:p>
            <a:pPr lvl="1" eaLnBrk="1" hangingPunct="1">
              <a:defRPr/>
            </a:pPr>
            <a:r>
              <a:rPr lang="en-US" altLang="en-US" dirty="0"/>
              <a:t>The superclass knows </a:t>
            </a:r>
            <a:r>
              <a:rPr lang="en-US" altLang="en-US" dirty="0">
                <a:solidFill>
                  <a:srgbClr val="C00000"/>
                </a:solidFill>
              </a:rPr>
              <a:t>nothing</a:t>
            </a:r>
            <a:r>
              <a:rPr lang="en-US" altLang="en-US" dirty="0"/>
              <a:t> about its subclass</a:t>
            </a:r>
            <a:r>
              <a:rPr lang="ja-JP" altLang="en-US" dirty="0"/>
              <a:t>’</a:t>
            </a:r>
            <a:r>
              <a:rPr lang="en-US" altLang="ja-JP" dirty="0"/>
              <a:t>s fields.</a:t>
            </a:r>
            <a:endParaRPr lang="en-US" altLang="en-US" dirty="0"/>
          </a:p>
        </p:txBody>
      </p:sp>
      <p:pic>
        <p:nvPicPr>
          <p:cNvPr id="4" name="Picture 1" descr="fig9-1.png">
            <a:extLst>
              <a:ext uri="{FF2B5EF4-FFF2-40B4-BE49-F238E27FC236}">
                <a16:creationId xmlns:a16="http://schemas.microsoft.com/office/drawing/2014/main" id="{FB87C9B0-E7EA-4905-AA07-1C16B7E640B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02859" y="685800"/>
            <a:ext cx="2717379" cy="21336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FBF6A11-8D23-0C43-BEE7-7FCC9C9E39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0" y="3657600"/>
            <a:ext cx="3263899" cy="22610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262512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dirty="0">
                <a:ea typeface="+mj-ea"/>
                <a:cs typeface="+mj-cs"/>
              </a:rPr>
              <a:t>Attempting to solve the problem?</a:t>
            </a:r>
          </a:p>
        </p:txBody>
      </p:sp>
      <p:sp>
        <p:nvSpPr>
          <p:cNvPr id="8199" name="Rectangle 7"/>
          <p:cNvSpPr>
            <a:spLocks noGrp="1" noChangeArrowheads="1"/>
          </p:cNvSpPr>
          <p:nvPr>
            <p:ph idx="1"/>
          </p:nvPr>
        </p:nvSpPr>
        <p:spPr>
          <a:xfrm>
            <a:off x="6629400" y="2483983"/>
            <a:ext cx="4953000" cy="31242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sz="2400" dirty="0"/>
              <a:t>Place </a:t>
            </a:r>
            <a:r>
              <a:rPr lang="en-US" altLang="en-US" sz="2400" b="1" dirty="0">
                <a:latin typeface="Courier New" pitchFamily="49" charset="0"/>
              </a:rPr>
              <a:t>display</a:t>
            </a:r>
            <a:r>
              <a:rPr lang="en-US" altLang="en-US" sz="2400" dirty="0"/>
              <a:t> where it has access to the information it needs.</a:t>
            </a:r>
          </a:p>
          <a:p>
            <a:pPr eaLnBrk="1" hangingPunct="1">
              <a:defRPr/>
            </a:pPr>
            <a:r>
              <a:rPr lang="en-US" altLang="en-US" sz="2400" dirty="0"/>
              <a:t>Each subclass has its own version.</a:t>
            </a:r>
          </a:p>
          <a:p>
            <a:pPr marL="0" indent="0">
              <a:buNone/>
              <a:defRPr/>
            </a:pPr>
            <a:r>
              <a:rPr lang="en-US" altLang="en-US" sz="2400" b="1" u="sng" dirty="0">
                <a:solidFill>
                  <a:srgbClr val="FF0000"/>
                </a:solidFill>
              </a:rPr>
              <a:t>But</a:t>
            </a:r>
            <a:r>
              <a:rPr lang="en-US" altLang="en-US" sz="2400" dirty="0">
                <a:solidFill>
                  <a:srgbClr val="FF0000"/>
                </a:solidFill>
              </a:rPr>
              <a:t>:</a:t>
            </a:r>
          </a:p>
          <a:p>
            <a:pPr eaLnBrk="1" hangingPunct="1">
              <a:defRPr/>
            </a:pPr>
            <a:r>
              <a:rPr lang="en-US" altLang="en-US" sz="2400" b="1" dirty="0">
                <a:latin typeface="Courier New" pitchFamily="49" charset="0"/>
              </a:rPr>
              <a:t>Post</a:t>
            </a:r>
            <a:r>
              <a:rPr lang="ja-JP" altLang="en-US" sz="2400" dirty="0"/>
              <a:t>’</a:t>
            </a:r>
            <a:r>
              <a:rPr lang="en-US" altLang="ja-JP" sz="2400" dirty="0"/>
              <a:t>s fields are private.</a:t>
            </a:r>
          </a:p>
          <a:p>
            <a:pPr eaLnBrk="1" hangingPunct="1">
              <a:defRPr/>
            </a:pPr>
            <a:r>
              <a:rPr lang="en-US" altLang="en-US" sz="2400" b="1" dirty="0" err="1">
                <a:latin typeface="Courier New" pitchFamily="49" charset="0"/>
              </a:rPr>
              <a:t>NewsFeed</a:t>
            </a:r>
            <a:r>
              <a:rPr lang="en-US" altLang="en-US" sz="2400" b="1" dirty="0">
                <a:latin typeface="Courier New" pitchFamily="49" charset="0"/>
              </a:rPr>
              <a:t> </a:t>
            </a:r>
            <a:r>
              <a:rPr lang="en-US" altLang="en-US" sz="2400" dirty="0"/>
              <a:t>cannot find a </a:t>
            </a:r>
            <a:r>
              <a:rPr lang="en-US" altLang="en-US" sz="2400" b="1" dirty="0">
                <a:latin typeface="Courier New" pitchFamily="49" charset="0"/>
              </a:rPr>
              <a:t>display </a:t>
            </a:r>
            <a:r>
              <a:rPr lang="en-US" altLang="en-US" sz="2400" dirty="0"/>
              <a:t>method in </a:t>
            </a:r>
            <a:r>
              <a:rPr lang="en-US" altLang="en-US" sz="2400" b="1" dirty="0">
                <a:latin typeface="Courier New" pitchFamily="49" charset="0"/>
              </a:rPr>
              <a:t>Post</a:t>
            </a:r>
            <a:r>
              <a:rPr lang="en-US" altLang="en-US" sz="2400" dirty="0"/>
              <a:t>.</a:t>
            </a:r>
            <a:endParaRPr lang="en-GB" altLang="en-US" sz="2400" dirty="0"/>
          </a:p>
        </p:txBody>
      </p:sp>
      <p:pic>
        <p:nvPicPr>
          <p:cNvPr id="9221" name="Picture 1" descr="fig9-2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6088" y="2057400"/>
            <a:ext cx="4492625" cy="3529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Left Arrow 4">
            <a:extLst>
              <a:ext uri="{FF2B5EF4-FFF2-40B4-BE49-F238E27FC236}">
                <a16:creationId xmlns:a16="http://schemas.microsoft.com/office/drawing/2014/main" id="{6D1B91BD-31E3-3E4D-B1DF-2F59B37EE276}"/>
              </a:ext>
            </a:extLst>
          </p:cNvPr>
          <p:cNvSpPr/>
          <p:nvPr/>
        </p:nvSpPr>
        <p:spPr>
          <a:xfrm rot="10800000">
            <a:off x="667546" y="4724400"/>
            <a:ext cx="1676400" cy="762000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181120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1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1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1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1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1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1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81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81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1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1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Topic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dirty="0"/>
              <a:t>Method polymorphism</a:t>
            </a:r>
          </a:p>
          <a:p>
            <a:pPr>
              <a:defRPr/>
            </a:pPr>
            <a:r>
              <a:rPr lang="en-US" dirty="0"/>
              <a:t>Static and dynamic type</a:t>
            </a:r>
          </a:p>
          <a:p>
            <a:pPr>
              <a:defRPr/>
            </a:pPr>
            <a:r>
              <a:rPr lang="en-US" dirty="0"/>
              <a:t>Overriding</a:t>
            </a:r>
          </a:p>
          <a:p>
            <a:pPr>
              <a:defRPr/>
            </a:pPr>
            <a:r>
              <a:rPr lang="en-US" dirty="0"/>
              <a:t>Dynamic method lookup</a:t>
            </a:r>
          </a:p>
          <a:p>
            <a:pPr>
              <a:defRPr/>
            </a:pPr>
            <a:r>
              <a:rPr lang="en-US" dirty="0"/>
              <a:t>Protected access</a:t>
            </a:r>
          </a:p>
          <a:p>
            <a:pPr marL="0" indent="0">
              <a:buNone/>
            </a:pPr>
            <a:endParaRPr lang="en-IE" dirty="0"/>
          </a:p>
          <a:p>
            <a:endParaRPr lang="en-IE" dirty="0"/>
          </a:p>
        </p:txBody>
      </p:sp>
      <p:sp>
        <p:nvSpPr>
          <p:cNvPr id="4" name="Rectangle 3"/>
          <p:cNvSpPr/>
          <p:nvPr/>
        </p:nvSpPr>
        <p:spPr>
          <a:xfrm>
            <a:off x="457200" y="2209800"/>
            <a:ext cx="6096000" cy="5334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830189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>
                <a:ea typeface="+mj-ea"/>
                <a:cs typeface="+mj-cs"/>
              </a:rPr>
              <a:t>Static type and dynamic type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>
                <a:ea typeface="+mn-ea"/>
                <a:cs typeface="+mn-cs"/>
              </a:rPr>
              <a:t>A more complex type hierarchy requires further concepts to describe it.</a:t>
            </a:r>
          </a:p>
          <a:p>
            <a:pPr marL="0" indent="0">
              <a:buNone/>
              <a:defRPr/>
            </a:pPr>
            <a:endParaRPr lang="en-US" dirty="0">
              <a:ea typeface="+mn-ea"/>
              <a:cs typeface="+mn-cs"/>
            </a:endParaRPr>
          </a:p>
          <a:p>
            <a:pPr eaLnBrk="1" hangingPunct="1">
              <a:defRPr/>
            </a:pPr>
            <a:r>
              <a:rPr lang="en-US" dirty="0">
                <a:ea typeface="+mn-ea"/>
                <a:cs typeface="+mn-cs"/>
              </a:rPr>
              <a:t>Some new terminology:</a:t>
            </a:r>
          </a:p>
          <a:p>
            <a:pPr lvl="1" eaLnBrk="1" hangingPunct="1">
              <a:defRPr/>
            </a:pPr>
            <a:r>
              <a:rPr lang="en-US" dirty="0">
                <a:ea typeface="+mn-ea"/>
              </a:rPr>
              <a:t>static type</a:t>
            </a:r>
          </a:p>
          <a:p>
            <a:pPr lvl="1" eaLnBrk="1" hangingPunct="1">
              <a:defRPr/>
            </a:pPr>
            <a:r>
              <a:rPr lang="en-US" dirty="0">
                <a:ea typeface="+mn-ea"/>
              </a:rPr>
              <a:t>dynamic type</a:t>
            </a:r>
          </a:p>
          <a:p>
            <a:pPr lvl="1" eaLnBrk="1" hangingPunct="1">
              <a:defRPr/>
            </a:pPr>
            <a:r>
              <a:rPr lang="en-US" dirty="0">
                <a:ea typeface="+mn-ea"/>
              </a:rPr>
              <a:t>method dispatch/lookup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713938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1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1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>
                <a:ea typeface="+mj-ea"/>
                <a:cs typeface="+mj-cs"/>
              </a:rPr>
              <a:t>Static and dynamic type</a:t>
            </a:r>
          </a:p>
        </p:txBody>
      </p:sp>
      <p:sp>
        <p:nvSpPr>
          <p:cNvPr id="11268" name="Rectangle 3"/>
          <p:cNvSpPr>
            <a:spLocks noChangeArrowheads="1"/>
          </p:cNvSpPr>
          <p:nvPr/>
        </p:nvSpPr>
        <p:spPr bwMode="auto">
          <a:xfrm>
            <a:off x="6097588" y="2362200"/>
            <a:ext cx="28956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r>
              <a:rPr lang="en-US" sz="2400" b="1" dirty="0">
                <a:latin typeface="Courier New" charset="0"/>
                <a:ea typeface="ＭＳ Ｐゴシック" charset="0"/>
                <a:cs typeface="ＭＳ Ｐゴシック" charset="0"/>
              </a:rPr>
              <a:t>Car c1 = new Car();</a:t>
            </a:r>
          </a:p>
        </p:txBody>
      </p:sp>
      <p:sp>
        <p:nvSpPr>
          <p:cNvPr id="11269" name="Oval 4"/>
          <p:cNvSpPr>
            <a:spLocks noChangeArrowheads="1"/>
          </p:cNvSpPr>
          <p:nvPr/>
        </p:nvSpPr>
        <p:spPr bwMode="auto">
          <a:xfrm>
            <a:off x="2424113" y="2286000"/>
            <a:ext cx="3505200" cy="1143000"/>
          </a:xfrm>
          <a:prstGeom prst="ellipse">
            <a:avLst/>
          </a:prstGeom>
          <a:ln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000" dirty="0">
                <a:solidFill>
                  <a:srgbClr val="A57133"/>
                </a:solidFill>
                <a:latin typeface="Trebuchet MS" charset="0"/>
                <a:ea typeface="ＭＳ Ｐゴシック" charset="0"/>
                <a:cs typeface="ＭＳ Ｐゴシック" charset="0"/>
              </a:rPr>
              <a:t>What is the type of c1?</a:t>
            </a:r>
          </a:p>
        </p:txBody>
      </p:sp>
      <p:sp>
        <p:nvSpPr>
          <p:cNvPr id="11270" name="Rectangle 5"/>
          <p:cNvSpPr>
            <a:spLocks noChangeArrowheads="1"/>
          </p:cNvSpPr>
          <p:nvPr/>
        </p:nvSpPr>
        <p:spPr bwMode="auto">
          <a:xfrm>
            <a:off x="6096000" y="4419600"/>
            <a:ext cx="35052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r>
              <a:rPr lang="en-US" sz="2400" b="1" dirty="0">
                <a:latin typeface="Courier New" charset="0"/>
                <a:ea typeface="ＭＳ Ｐゴシック" charset="0"/>
                <a:cs typeface="ＭＳ Ｐゴシック" charset="0"/>
              </a:rPr>
              <a:t>Vehicle v1 = new Car();</a:t>
            </a:r>
          </a:p>
        </p:txBody>
      </p:sp>
      <p:sp>
        <p:nvSpPr>
          <p:cNvPr id="11271" name="Oval 6"/>
          <p:cNvSpPr>
            <a:spLocks noChangeArrowheads="1"/>
          </p:cNvSpPr>
          <p:nvPr/>
        </p:nvSpPr>
        <p:spPr bwMode="auto">
          <a:xfrm>
            <a:off x="2500313" y="4343400"/>
            <a:ext cx="3505200" cy="1143000"/>
          </a:xfrm>
          <a:prstGeom prst="ellipse">
            <a:avLst/>
          </a:prstGeom>
          <a:ln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000">
                <a:solidFill>
                  <a:srgbClr val="A57133"/>
                </a:solidFill>
                <a:latin typeface="Trebuchet MS" charset="0"/>
                <a:ea typeface="ＭＳ Ｐゴシック" charset="0"/>
                <a:cs typeface="ＭＳ Ｐゴシック" charset="0"/>
              </a:rPr>
              <a:t>What is the type of v1?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A6B6FFE-569F-456A-B2D8-07AE0EC8214D}"/>
              </a:ext>
            </a:extLst>
          </p:cNvPr>
          <p:cNvSpPr/>
          <p:nvPr/>
        </p:nvSpPr>
        <p:spPr>
          <a:xfrm>
            <a:off x="5791200" y="5685899"/>
            <a:ext cx="1981200" cy="923330"/>
          </a:xfrm>
          <a:prstGeom prst="rect">
            <a:avLst/>
          </a:prstGeom>
          <a:ln w="381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en-US" sz="2000" dirty="0"/>
              <a:t>The declared type of a variable is its </a:t>
            </a:r>
            <a:r>
              <a:rPr lang="en-US" altLang="en-US" sz="2000" i="1" dirty="0">
                <a:solidFill>
                  <a:srgbClr val="FF0000"/>
                </a:solidFill>
              </a:rPr>
              <a:t>static</a:t>
            </a:r>
            <a:r>
              <a:rPr lang="en-US" altLang="en-US" sz="2000" i="1" dirty="0"/>
              <a:t> type</a:t>
            </a:r>
            <a:r>
              <a:rPr lang="en-US" altLang="en-US" sz="2000" dirty="0"/>
              <a:t>.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623B1407-6A83-4437-9F60-F911A576FEE0}"/>
              </a:ext>
            </a:extLst>
          </p:cNvPr>
          <p:cNvCxnSpPr>
            <a:cxnSpLocks/>
            <a:stCxn id="2" idx="0"/>
          </p:cNvCxnSpPr>
          <p:nvPr/>
        </p:nvCxnSpPr>
        <p:spPr>
          <a:xfrm flipV="1">
            <a:off x="6781800" y="5029201"/>
            <a:ext cx="228600" cy="656699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32D8C7FB-D173-4F06-A950-72A2CC92FEA3}"/>
              </a:ext>
            </a:extLst>
          </p:cNvPr>
          <p:cNvSpPr/>
          <p:nvPr/>
        </p:nvSpPr>
        <p:spPr>
          <a:xfrm>
            <a:off x="8305800" y="5486401"/>
            <a:ext cx="2133600" cy="1200329"/>
          </a:xfrm>
          <a:prstGeom prst="rect">
            <a:avLst/>
          </a:prstGeom>
          <a:ln w="381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en-US" sz="2000" dirty="0"/>
              <a:t>The type of the object a variable refers to is its </a:t>
            </a:r>
            <a:r>
              <a:rPr lang="en-US" altLang="en-US" sz="2000" i="1" dirty="0">
                <a:solidFill>
                  <a:srgbClr val="FF0000"/>
                </a:solidFill>
              </a:rPr>
              <a:t>dynamic</a:t>
            </a:r>
            <a:r>
              <a:rPr lang="en-US" altLang="en-US" sz="2000" i="1" dirty="0"/>
              <a:t> type</a:t>
            </a:r>
            <a:r>
              <a:rPr lang="en-US" altLang="en-US" sz="2000" dirty="0"/>
              <a:t>.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5DD96EA-4FCF-4100-BD62-228CE4DF83C6}"/>
              </a:ext>
            </a:extLst>
          </p:cNvPr>
          <p:cNvCxnSpPr>
            <a:cxnSpLocks/>
          </p:cNvCxnSpPr>
          <p:nvPr/>
        </p:nvCxnSpPr>
        <p:spPr>
          <a:xfrm flipH="1" flipV="1">
            <a:off x="9372600" y="5029200"/>
            <a:ext cx="76200" cy="45720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29914708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2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2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2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2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2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2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2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2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8" grpId="0"/>
      <p:bldP spid="11269" grpId="0" animBg="1"/>
      <p:bldP spid="11270" grpId="0"/>
      <p:bldP spid="11271" grpId="0" animBg="1"/>
      <p:bldP spid="2" grpId="0" animBg="1"/>
      <p:bldP spid="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>
                <a:ea typeface="+mj-ea"/>
                <a:cs typeface="+mj-cs"/>
              </a:rPr>
              <a:t>Static and dynamic type</a:t>
            </a:r>
          </a:p>
        </p:txBody>
      </p:sp>
      <p:sp>
        <p:nvSpPr>
          <p:cNvPr id="11270" name="Rectangle 5"/>
          <p:cNvSpPr>
            <a:spLocks noChangeArrowheads="1"/>
          </p:cNvSpPr>
          <p:nvPr/>
        </p:nvSpPr>
        <p:spPr bwMode="auto">
          <a:xfrm>
            <a:off x="6096000" y="4419600"/>
            <a:ext cx="35052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r>
              <a:rPr lang="en-US" sz="2400" b="1" dirty="0">
                <a:latin typeface="Courier New" charset="0"/>
                <a:ea typeface="ＭＳ Ｐゴシック" charset="0"/>
                <a:cs typeface="ＭＳ Ｐゴシック" charset="0"/>
              </a:rPr>
              <a:t>Vehicle v1 = new Car();</a:t>
            </a:r>
          </a:p>
        </p:txBody>
      </p:sp>
      <p:sp>
        <p:nvSpPr>
          <p:cNvPr id="11271" name="Oval 6"/>
          <p:cNvSpPr>
            <a:spLocks noChangeArrowheads="1"/>
          </p:cNvSpPr>
          <p:nvPr/>
        </p:nvSpPr>
        <p:spPr bwMode="auto">
          <a:xfrm>
            <a:off x="2500313" y="4343400"/>
            <a:ext cx="3505200" cy="1143000"/>
          </a:xfrm>
          <a:prstGeom prst="ellipse">
            <a:avLst/>
          </a:prstGeom>
          <a:ln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000" dirty="0">
                <a:solidFill>
                  <a:srgbClr val="A57133"/>
                </a:solidFill>
                <a:latin typeface="Trebuchet MS" charset="0"/>
                <a:ea typeface="ＭＳ Ｐゴシック" charset="0"/>
                <a:cs typeface="ＭＳ Ｐゴシック" charset="0"/>
              </a:rPr>
              <a:t>What is the type of v1?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A6B6FFE-569F-456A-B2D8-07AE0EC8214D}"/>
              </a:ext>
            </a:extLst>
          </p:cNvPr>
          <p:cNvSpPr/>
          <p:nvPr/>
        </p:nvSpPr>
        <p:spPr>
          <a:xfrm>
            <a:off x="5791200" y="5685899"/>
            <a:ext cx="1981200" cy="923330"/>
          </a:xfrm>
          <a:prstGeom prst="rect">
            <a:avLst/>
          </a:prstGeom>
          <a:ln w="381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en-US" sz="2000" dirty="0"/>
              <a:t>The declared type of a variable is its </a:t>
            </a:r>
            <a:r>
              <a:rPr lang="en-US" altLang="en-US" sz="2000" i="1" dirty="0">
                <a:solidFill>
                  <a:srgbClr val="FF0000"/>
                </a:solidFill>
              </a:rPr>
              <a:t>static</a:t>
            </a:r>
            <a:r>
              <a:rPr lang="en-US" altLang="en-US" sz="2000" i="1" dirty="0"/>
              <a:t> type</a:t>
            </a:r>
            <a:r>
              <a:rPr lang="en-US" altLang="en-US" sz="2000" dirty="0"/>
              <a:t>.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623B1407-6A83-4437-9F60-F911A576FEE0}"/>
              </a:ext>
            </a:extLst>
          </p:cNvPr>
          <p:cNvCxnSpPr>
            <a:cxnSpLocks/>
            <a:stCxn id="2" idx="0"/>
          </p:cNvCxnSpPr>
          <p:nvPr/>
        </p:nvCxnSpPr>
        <p:spPr>
          <a:xfrm flipV="1">
            <a:off x="6781800" y="5029201"/>
            <a:ext cx="228600" cy="656699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32D8C7FB-D173-4F06-A950-72A2CC92FEA3}"/>
              </a:ext>
            </a:extLst>
          </p:cNvPr>
          <p:cNvSpPr/>
          <p:nvPr/>
        </p:nvSpPr>
        <p:spPr>
          <a:xfrm>
            <a:off x="8305800" y="5486401"/>
            <a:ext cx="2133600" cy="1200329"/>
          </a:xfrm>
          <a:prstGeom prst="rect">
            <a:avLst/>
          </a:prstGeom>
          <a:ln w="381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en-US" sz="2000" dirty="0"/>
              <a:t>The type of the object a variable refers to is its </a:t>
            </a:r>
            <a:r>
              <a:rPr lang="en-US" altLang="en-US" sz="2000" i="1" dirty="0">
                <a:solidFill>
                  <a:srgbClr val="FF0000"/>
                </a:solidFill>
              </a:rPr>
              <a:t>dynamic</a:t>
            </a:r>
            <a:r>
              <a:rPr lang="en-US" altLang="en-US" sz="2000" i="1" dirty="0"/>
              <a:t> type</a:t>
            </a:r>
            <a:r>
              <a:rPr lang="en-US" altLang="en-US" sz="2000" dirty="0"/>
              <a:t>.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5DD96EA-4FCF-4100-BD62-228CE4DF83C6}"/>
              </a:ext>
            </a:extLst>
          </p:cNvPr>
          <p:cNvCxnSpPr>
            <a:cxnSpLocks/>
          </p:cNvCxnSpPr>
          <p:nvPr/>
        </p:nvCxnSpPr>
        <p:spPr>
          <a:xfrm flipH="1" flipV="1">
            <a:off x="9372600" y="5029200"/>
            <a:ext cx="76200" cy="45720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724F5ED4-E0E8-4A9C-B2A3-B31E16650F3F}"/>
              </a:ext>
            </a:extLst>
          </p:cNvPr>
          <p:cNvSpPr/>
          <p:nvPr/>
        </p:nvSpPr>
        <p:spPr>
          <a:xfrm>
            <a:off x="3581400" y="2358642"/>
            <a:ext cx="52578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en-US" sz="3200" i="1" dirty="0">
                <a:solidFill>
                  <a:srgbClr val="FF0000"/>
                </a:solidFill>
              </a:rPr>
              <a:t>The compiler</a:t>
            </a:r>
            <a:r>
              <a:rPr lang="en-IE" altLang="en-US" sz="3200" i="1" dirty="0">
                <a:solidFill>
                  <a:srgbClr val="FF0000"/>
                </a:solidFill>
              </a:rPr>
              <a:t>’</a:t>
            </a:r>
            <a:r>
              <a:rPr lang="en-US" altLang="ja-JP" sz="3200" i="1" dirty="0">
                <a:solidFill>
                  <a:srgbClr val="FF0000"/>
                </a:solidFill>
              </a:rPr>
              <a:t>s job is to check for static-type violations.</a:t>
            </a:r>
            <a:endParaRPr lang="en-IE" sz="3200" i="1" dirty="0">
              <a:solidFill>
                <a:srgbClr val="FF0000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331533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2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2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2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2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70" grpId="0"/>
      <p:bldP spid="11271" grpId="0" animBg="1"/>
      <p:bldP spid="2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3600" dirty="0"/>
              <a:t>Recall our attempt to solve this problem…</a:t>
            </a:r>
            <a:endParaRPr lang="en-IE" sz="3600" dirty="0"/>
          </a:p>
        </p:txBody>
      </p:sp>
      <p:sp>
        <p:nvSpPr>
          <p:cNvPr id="5" name="Rectangle 4"/>
          <p:cNvSpPr/>
          <p:nvPr/>
        </p:nvSpPr>
        <p:spPr>
          <a:xfrm>
            <a:off x="609600" y="1600200"/>
            <a:ext cx="10820400" cy="286232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n-US" sz="2000" dirty="0">
                <a:latin typeface="Courier New" charset="0"/>
              </a:rPr>
              <a:t>0: Leonardo da Vinci</a:t>
            </a:r>
          </a:p>
          <a:p>
            <a:pPr>
              <a:defRPr/>
            </a:pPr>
            <a:r>
              <a:rPr lang="en-US" sz="2000" dirty="0">
                <a:latin typeface="Courier New" charset="0"/>
              </a:rPr>
              <a:t>2 people like this.</a:t>
            </a:r>
          </a:p>
          <a:p>
            <a:pPr>
              <a:defRPr/>
            </a:pPr>
            <a:r>
              <a:rPr lang="en-US" sz="2000" dirty="0">
                <a:latin typeface="Courier New" charset="0"/>
              </a:rPr>
              <a:t>	Had a great idea this morning.</a:t>
            </a:r>
          </a:p>
          <a:p>
            <a:pPr>
              <a:defRPr/>
            </a:pPr>
            <a:r>
              <a:rPr lang="en-US" sz="2000" dirty="0">
                <a:latin typeface="Courier New" charset="0"/>
              </a:rPr>
              <a:t>	But now I forgot what it was. Something to do with flying ...</a:t>
            </a:r>
          </a:p>
          <a:p>
            <a:pPr>
              <a:defRPr/>
            </a:pPr>
            <a:r>
              <a:rPr lang="en-US" sz="2000" dirty="0">
                <a:latin typeface="Courier New" charset="0"/>
              </a:rPr>
              <a:t> </a:t>
            </a:r>
          </a:p>
          <a:p>
            <a:pPr>
              <a:defRPr/>
            </a:pPr>
            <a:r>
              <a:rPr lang="en-US" sz="2000" dirty="0">
                <a:latin typeface="Courier New" charset="0"/>
              </a:rPr>
              <a:t>1: Alexander Graham Bell</a:t>
            </a:r>
          </a:p>
          <a:p>
            <a:pPr>
              <a:defRPr/>
            </a:pPr>
            <a:r>
              <a:rPr lang="en-US" sz="2000" dirty="0">
                <a:latin typeface="Courier New" charset="0"/>
              </a:rPr>
              <a:t>4 people like this.</a:t>
            </a:r>
          </a:p>
          <a:p>
            <a:pPr>
              <a:defRPr/>
            </a:pPr>
            <a:r>
              <a:rPr lang="en-US" sz="2000" dirty="0">
                <a:latin typeface="Courier New" charset="0"/>
              </a:rPr>
              <a:t>	</a:t>
            </a:r>
            <a:r>
              <a:rPr lang="en-US" sz="2000" dirty="0" err="1">
                <a:latin typeface="Courier New" charset="0"/>
              </a:rPr>
              <a:t>experiment.jpg</a:t>
            </a:r>
            <a:endParaRPr lang="en-US" sz="2000" dirty="0">
              <a:latin typeface="Courier New" charset="0"/>
            </a:endParaRPr>
          </a:p>
          <a:p>
            <a:pPr>
              <a:defRPr/>
            </a:pPr>
            <a:r>
              <a:rPr lang="en-US" sz="2000" dirty="0">
                <a:latin typeface="Courier New" charset="0"/>
              </a:rPr>
              <a:t>	I think I might call this thing 'telephone'.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4A80402-A174-B14A-844A-1AB584762C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67800" y="2895600"/>
            <a:ext cx="1828800" cy="1447800"/>
          </a:xfrm>
          <a:prstGeom prst="ellipse">
            <a:avLst/>
          </a:prstGeom>
          <a:solidFill>
            <a:srgbClr val="FFECA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tx1"/>
                </a:solidFill>
                <a:latin typeface="Times" charset="0"/>
                <a:ea typeface="MS PGothic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charset="0"/>
                <a:ea typeface="MS PGothic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charset="0"/>
                <a:ea typeface="MS PGothic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charset="0"/>
                <a:ea typeface="MS PGothic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MS PGothic" pitchFamily="34" charset="-128"/>
              </a:defRPr>
            </a:lvl9pPr>
          </a:lstStyle>
          <a:p>
            <a:pPr algn="ctr"/>
            <a:r>
              <a:rPr lang="en-US" altLang="en-US" sz="1800" dirty="0">
                <a:solidFill>
                  <a:srgbClr val="A57133"/>
                </a:solidFill>
                <a:latin typeface="Trebuchet MS" pitchFamily="34" charset="0"/>
              </a:rPr>
              <a:t>What we </a:t>
            </a:r>
            <a:r>
              <a:rPr lang="en-US" altLang="en-US" sz="1800" u="sng" dirty="0">
                <a:solidFill>
                  <a:srgbClr val="A57133"/>
                </a:solidFill>
                <a:latin typeface="Trebuchet MS" pitchFamily="34" charset="0"/>
              </a:rPr>
              <a:t>want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420861D-01E8-4048-AB53-ED02F28A04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5701" y="76200"/>
            <a:ext cx="3263899" cy="22610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75A1C7D5-E211-D643-87D8-D8DBFE86F9B6}"/>
              </a:ext>
            </a:extLst>
          </p:cNvPr>
          <p:cNvSpPr/>
          <p:nvPr/>
        </p:nvSpPr>
        <p:spPr>
          <a:xfrm>
            <a:off x="609600" y="4612427"/>
            <a:ext cx="10820400" cy="193899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n-US" sz="2000" dirty="0">
                <a:latin typeface="Courier New" charset="0"/>
              </a:rPr>
              <a:t>0: Leonardo da Vinci</a:t>
            </a:r>
          </a:p>
          <a:p>
            <a:pPr>
              <a:defRPr/>
            </a:pPr>
            <a:r>
              <a:rPr lang="en-US" sz="2000" dirty="0">
                <a:latin typeface="Courier New" charset="0"/>
              </a:rPr>
              <a:t>2 people like this.</a:t>
            </a:r>
          </a:p>
          <a:p>
            <a:pPr>
              <a:defRPr/>
            </a:pPr>
            <a:r>
              <a:rPr lang="en-US" sz="2000" dirty="0">
                <a:latin typeface="Courier New" charset="0"/>
              </a:rPr>
              <a:t>	</a:t>
            </a:r>
          </a:p>
          <a:p>
            <a:pPr>
              <a:defRPr/>
            </a:pPr>
            <a:r>
              <a:rPr lang="en-US" sz="2000" dirty="0">
                <a:latin typeface="Courier New" charset="0"/>
              </a:rPr>
              <a:t>1: Alexander Graham Bell</a:t>
            </a:r>
          </a:p>
          <a:p>
            <a:pPr>
              <a:defRPr/>
            </a:pPr>
            <a:r>
              <a:rPr lang="en-US" sz="2000" dirty="0">
                <a:latin typeface="Courier New" charset="0"/>
              </a:rPr>
              <a:t>4 people like this.</a:t>
            </a:r>
          </a:p>
          <a:p>
            <a:pPr>
              <a:defRPr/>
            </a:pPr>
            <a:r>
              <a:rPr lang="en-US" sz="2000" dirty="0">
                <a:latin typeface="Courier New" charset="0"/>
              </a:rPr>
              <a:t>	</a:t>
            </a:r>
          </a:p>
        </p:txBody>
      </p:sp>
      <p:sp>
        <p:nvSpPr>
          <p:cNvPr id="11" name="Oval 7">
            <a:extLst>
              <a:ext uri="{FF2B5EF4-FFF2-40B4-BE49-F238E27FC236}">
                <a16:creationId xmlns:a16="http://schemas.microsoft.com/office/drawing/2014/main" id="{DAC20D2E-C518-F24E-980F-B871B832B4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67800" y="4858023"/>
            <a:ext cx="1828800" cy="1447800"/>
          </a:xfrm>
          <a:prstGeom prst="ellipse">
            <a:avLst/>
          </a:prstGeom>
          <a:solidFill>
            <a:srgbClr val="FFECA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tx1"/>
                </a:solidFill>
                <a:latin typeface="Times" charset="0"/>
                <a:ea typeface="MS PGothic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charset="0"/>
                <a:ea typeface="MS PGothic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charset="0"/>
                <a:ea typeface="MS PGothic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charset="0"/>
                <a:ea typeface="MS PGothic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MS PGothic" pitchFamily="34" charset="-128"/>
              </a:defRPr>
            </a:lvl9pPr>
          </a:lstStyle>
          <a:p>
            <a:pPr algn="ctr"/>
            <a:r>
              <a:rPr lang="en-US" altLang="en-US" sz="1800" dirty="0">
                <a:solidFill>
                  <a:srgbClr val="A57133"/>
                </a:solidFill>
                <a:latin typeface="Trebuchet MS" pitchFamily="34" charset="0"/>
              </a:rPr>
              <a:t>What we </a:t>
            </a:r>
            <a:r>
              <a:rPr lang="en-US" altLang="en-US" sz="1800" u="sng" dirty="0">
                <a:solidFill>
                  <a:srgbClr val="A57133"/>
                </a:solidFill>
                <a:latin typeface="Trebuchet MS" pitchFamily="34" charset="0"/>
              </a:rPr>
              <a:t>have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702916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10" grpId="0" animBg="1"/>
      <p:bldP spid="1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>
              <a:defRPr/>
            </a:pPr>
            <a:r>
              <a:rPr lang="en-US" sz="3600" dirty="0"/>
              <a:t>Recall our attempt to solve this problem…</a:t>
            </a:r>
          </a:p>
        </p:txBody>
      </p:sp>
      <p:sp>
        <p:nvSpPr>
          <p:cNvPr id="8199" name="Rectangle 7"/>
          <p:cNvSpPr>
            <a:spLocks noGrp="1" noChangeArrowheads="1"/>
          </p:cNvSpPr>
          <p:nvPr>
            <p:ph idx="1"/>
          </p:nvPr>
        </p:nvSpPr>
        <p:spPr>
          <a:xfrm>
            <a:off x="4343400" y="2180850"/>
            <a:ext cx="6781800" cy="2306106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altLang="en-US" sz="2400" dirty="0"/>
              <a:t>We placed </a:t>
            </a:r>
            <a:r>
              <a:rPr lang="en-US" altLang="en-US" sz="2400" b="1" dirty="0">
                <a:latin typeface="Courier New" pitchFamily="49" charset="0"/>
              </a:rPr>
              <a:t>display</a:t>
            </a:r>
            <a:r>
              <a:rPr lang="en-US" altLang="en-US" sz="2400" dirty="0"/>
              <a:t> in each subclass where it has access to the information it needs.</a:t>
            </a:r>
          </a:p>
          <a:p>
            <a:pPr marL="0" indent="0">
              <a:buNone/>
              <a:defRPr/>
            </a:pPr>
            <a:r>
              <a:rPr lang="en-US" altLang="en-US" sz="2400" b="1" u="sng" dirty="0">
                <a:solidFill>
                  <a:srgbClr val="FF0000"/>
                </a:solidFill>
              </a:rPr>
              <a:t>But</a:t>
            </a:r>
            <a:r>
              <a:rPr lang="en-US" altLang="en-US" sz="2400" dirty="0">
                <a:solidFill>
                  <a:srgbClr val="FF0000"/>
                </a:solidFill>
              </a:rPr>
              <a:t>:</a:t>
            </a:r>
          </a:p>
          <a:p>
            <a:pPr eaLnBrk="1" hangingPunct="1">
              <a:defRPr/>
            </a:pPr>
            <a:r>
              <a:rPr lang="en-US" altLang="en-US" sz="2400" b="1" dirty="0">
                <a:latin typeface="Courier New" pitchFamily="49" charset="0"/>
              </a:rPr>
              <a:t>Post</a:t>
            </a:r>
            <a:r>
              <a:rPr lang="ja-JP" altLang="en-US" sz="2400" dirty="0"/>
              <a:t>’</a:t>
            </a:r>
            <a:r>
              <a:rPr lang="en-US" altLang="ja-JP" sz="2400" dirty="0"/>
              <a:t>s fields are private and </a:t>
            </a:r>
            <a:r>
              <a:rPr lang="en-US" altLang="en-US" sz="2400" b="1" dirty="0" err="1">
                <a:latin typeface="Courier New" pitchFamily="49" charset="0"/>
              </a:rPr>
              <a:t>NewsFeed</a:t>
            </a:r>
            <a:r>
              <a:rPr lang="en-US" altLang="en-US" sz="2400" b="1" dirty="0">
                <a:latin typeface="Courier New" pitchFamily="49" charset="0"/>
              </a:rPr>
              <a:t> </a:t>
            </a:r>
            <a:r>
              <a:rPr lang="en-US" altLang="en-US" sz="2400" dirty="0"/>
              <a:t>cannot find a </a:t>
            </a:r>
            <a:r>
              <a:rPr lang="en-US" altLang="en-US" sz="2400" b="1" dirty="0">
                <a:latin typeface="Courier New" pitchFamily="49" charset="0"/>
              </a:rPr>
              <a:t>display </a:t>
            </a:r>
            <a:r>
              <a:rPr lang="en-US" altLang="en-US" sz="2400" dirty="0"/>
              <a:t>method in </a:t>
            </a:r>
            <a:r>
              <a:rPr lang="en-US" altLang="en-US" sz="2400" b="1" dirty="0">
                <a:latin typeface="Courier New" pitchFamily="49" charset="0"/>
              </a:rPr>
              <a:t>Post</a:t>
            </a:r>
            <a:r>
              <a:rPr lang="en-US" altLang="en-US" sz="2400" dirty="0"/>
              <a:t>.</a:t>
            </a:r>
            <a:endParaRPr lang="en-GB" altLang="en-US" sz="2400" dirty="0"/>
          </a:p>
        </p:txBody>
      </p:sp>
      <p:pic>
        <p:nvPicPr>
          <p:cNvPr id="9221" name="Picture 1" descr="fig9-2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567544"/>
            <a:ext cx="3716571" cy="2919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CEEEB67-7BFD-43BC-BB8F-09E89EEC23AF}"/>
              </a:ext>
            </a:extLst>
          </p:cNvPr>
          <p:cNvSpPr/>
          <p:nvPr/>
        </p:nvSpPr>
        <p:spPr>
          <a:xfrm>
            <a:off x="1676400" y="5000250"/>
            <a:ext cx="8839200" cy="133882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90000"/>
              </a:lnSpc>
              <a:defRPr/>
            </a:pPr>
            <a:r>
              <a:rPr lang="en-US" altLang="ja-JP" b="1" dirty="0">
                <a:latin typeface="Courier New" pitchFamily="49" charset="0"/>
              </a:rPr>
              <a:t>for(Post </a:t>
            </a:r>
            <a:r>
              <a:rPr lang="en-US" altLang="ja-JP" b="1" dirty="0" err="1">
                <a:latin typeface="Courier New" pitchFamily="49" charset="0"/>
              </a:rPr>
              <a:t>post</a:t>
            </a:r>
            <a:r>
              <a:rPr lang="en-US" altLang="ja-JP" b="1" dirty="0">
                <a:latin typeface="Courier New" pitchFamily="49" charset="0"/>
              </a:rPr>
              <a:t> : posts) {</a:t>
            </a:r>
            <a:br>
              <a:rPr lang="en-US" altLang="ja-JP" b="1" dirty="0">
                <a:latin typeface="Courier New" pitchFamily="49" charset="0"/>
              </a:rPr>
            </a:br>
            <a:r>
              <a:rPr lang="en-US" altLang="ja-JP" b="1" dirty="0">
                <a:latin typeface="Courier New" pitchFamily="49" charset="0"/>
              </a:rPr>
              <a:t>  </a:t>
            </a:r>
            <a:r>
              <a:rPr lang="en-US" altLang="ja-JP" b="1" dirty="0" err="1">
                <a:latin typeface="Courier New" pitchFamily="49" charset="0"/>
              </a:rPr>
              <a:t>post.display</a:t>
            </a:r>
            <a:r>
              <a:rPr lang="en-US" altLang="ja-JP" b="1" dirty="0">
                <a:latin typeface="Courier New" pitchFamily="49" charset="0"/>
              </a:rPr>
              <a:t>(); </a:t>
            </a:r>
            <a:r>
              <a:rPr lang="en-US" altLang="ja-JP" b="1" dirty="0">
                <a:solidFill>
                  <a:srgbClr val="FF0000"/>
                </a:solidFill>
                <a:latin typeface="Courier New" pitchFamily="49" charset="0"/>
              </a:rPr>
              <a:t>// Compile-time error (static-type violation)</a:t>
            </a:r>
          </a:p>
          <a:p>
            <a:pPr>
              <a:lnSpc>
                <a:spcPct val="90000"/>
              </a:lnSpc>
              <a:defRPr/>
            </a:pPr>
            <a:r>
              <a:rPr lang="en-US" altLang="ja-JP" b="1" dirty="0">
                <a:solidFill>
                  <a:srgbClr val="FF0000"/>
                </a:solidFill>
                <a:latin typeface="Courier New" pitchFamily="49" charset="0"/>
              </a:rPr>
              <a:t>		    // method </a:t>
            </a:r>
            <a:r>
              <a:rPr lang="en-US" altLang="ja-JP" b="1" dirty="0">
                <a:solidFill>
                  <a:srgbClr val="00B050"/>
                </a:solidFill>
                <a:latin typeface="Courier New" pitchFamily="49" charset="0"/>
              </a:rPr>
              <a:t>display()</a:t>
            </a:r>
            <a:r>
              <a:rPr lang="en-US" altLang="ja-JP" b="1" dirty="0">
                <a:solidFill>
                  <a:srgbClr val="FF0000"/>
                </a:solidFill>
                <a:latin typeface="Courier New" pitchFamily="49" charset="0"/>
              </a:rPr>
              <a:t> is not found in the </a:t>
            </a:r>
          </a:p>
          <a:p>
            <a:pPr>
              <a:lnSpc>
                <a:spcPct val="90000"/>
              </a:lnSpc>
              <a:defRPr/>
            </a:pPr>
            <a:r>
              <a:rPr lang="en-US" altLang="ja-JP" b="1" dirty="0">
                <a:solidFill>
                  <a:srgbClr val="FF0000"/>
                </a:solidFill>
                <a:latin typeface="Courier New" pitchFamily="49" charset="0"/>
              </a:rPr>
              <a:t>		    // Post class</a:t>
            </a:r>
          </a:p>
          <a:p>
            <a:pPr>
              <a:lnSpc>
                <a:spcPct val="90000"/>
              </a:lnSpc>
              <a:defRPr/>
            </a:pPr>
            <a:r>
              <a:rPr lang="en-US" altLang="ja-JP" b="1" dirty="0">
                <a:latin typeface="Courier New" pitchFamily="49" charset="0"/>
              </a:rPr>
              <a:t>}</a:t>
            </a:r>
            <a:endParaRPr lang="en-US" altLang="en-US" b="1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660190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Topic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dirty="0"/>
              <a:t>Method polymorphism</a:t>
            </a:r>
          </a:p>
          <a:p>
            <a:pPr>
              <a:defRPr/>
            </a:pPr>
            <a:r>
              <a:rPr lang="en-US" dirty="0"/>
              <a:t>Static and dynamic type</a:t>
            </a:r>
          </a:p>
          <a:p>
            <a:pPr>
              <a:defRPr/>
            </a:pPr>
            <a:r>
              <a:rPr lang="en-US" dirty="0"/>
              <a:t>Overriding</a:t>
            </a:r>
          </a:p>
          <a:p>
            <a:pPr>
              <a:defRPr/>
            </a:pPr>
            <a:r>
              <a:rPr lang="en-US" dirty="0"/>
              <a:t>Dynamic method lookup</a:t>
            </a:r>
          </a:p>
          <a:p>
            <a:pPr>
              <a:defRPr/>
            </a:pPr>
            <a:r>
              <a:rPr lang="en-US" dirty="0"/>
              <a:t>Protected access</a:t>
            </a:r>
          </a:p>
          <a:p>
            <a:pPr marL="0" indent="0">
              <a:buNone/>
            </a:pPr>
            <a:endParaRPr lang="en-IE" dirty="0"/>
          </a:p>
          <a:p>
            <a:endParaRPr lang="en-IE" dirty="0"/>
          </a:p>
        </p:txBody>
      </p:sp>
      <p:sp>
        <p:nvSpPr>
          <p:cNvPr id="4" name="Rectangle 3"/>
          <p:cNvSpPr/>
          <p:nvPr/>
        </p:nvSpPr>
        <p:spPr>
          <a:xfrm>
            <a:off x="914400" y="2819400"/>
            <a:ext cx="6096000" cy="5334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760650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 descr="fig9-4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1237" y="2014539"/>
            <a:ext cx="4752975" cy="373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sz="4000" dirty="0"/>
              <a:t>Overriding - the solution to our problem</a:t>
            </a:r>
            <a:endParaRPr lang="en-US" dirty="0">
              <a:ea typeface="+mj-ea"/>
              <a:cs typeface="+mj-cs"/>
            </a:endParaRPr>
          </a:p>
        </p:txBody>
      </p:sp>
      <p:sp>
        <p:nvSpPr>
          <p:cNvPr id="13317" name="Oval 6"/>
          <p:cNvSpPr>
            <a:spLocks noChangeArrowheads="1"/>
          </p:cNvSpPr>
          <p:nvPr/>
        </p:nvSpPr>
        <p:spPr bwMode="auto">
          <a:xfrm>
            <a:off x="6872287" y="2438400"/>
            <a:ext cx="3186113" cy="1428750"/>
          </a:xfrm>
          <a:prstGeom prst="ellipse">
            <a:avLst/>
          </a:prstGeom>
          <a:ln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Ctr="1">
            <a:spAutoFit/>
          </a:bodyPr>
          <a:lstStyle/>
          <a:p>
            <a:pPr>
              <a:defRPr/>
            </a:pPr>
            <a:r>
              <a:rPr lang="en-US" sz="2000" dirty="0">
                <a:latin typeface="Courier New" charset="0"/>
                <a:ea typeface="ＭＳ Ｐゴシック" charset="0"/>
                <a:cs typeface="ＭＳ Ｐゴシック" charset="0"/>
              </a:rPr>
              <a:t>display</a:t>
            </a:r>
            <a:r>
              <a:rPr lang="en-US" sz="2000" dirty="0">
                <a:latin typeface="Trebuchet MS" charset="0"/>
                <a:ea typeface="ＭＳ Ｐゴシック" charset="0"/>
                <a:cs typeface="ＭＳ Ｐゴシック" charset="0"/>
              </a:rPr>
              <a:t> method in </a:t>
            </a:r>
            <a:r>
              <a:rPr lang="en-US" sz="2000" i="1" dirty="0">
                <a:latin typeface="Trebuchet MS" charset="0"/>
                <a:ea typeface="ＭＳ Ｐゴシック" charset="0"/>
                <a:cs typeface="ＭＳ Ｐゴシック" charset="0"/>
              </a:rPr>
              <a:t>both</a:t>
            </a:r>
            <a:r>
              <a:rPr lang="en-US" sz="2000" dirty="0">
                <a:latin typeface="Trebuchet MS" charset="0"/>
                <a:ea typeface="ＭＳ Ｐゴシック" charset="0"/>
                <a:cs typeface="ＭＳ Ｐゴシック" charset="0"/>
              </a:rPr>
              <a:t> super- and subclasses.</a:t>
            </a:r>
          </a:p>
        </p:txBody>
      </p:sp>
      <p:sp>
        <p:nvSpPr>
          <p:cNvPr id="13318" name="Line 7"/>
          <p:cNvSpPr>
            <a:spLocks noChangeShapeType="1"/>
          </p:cNvSpPr>
          <p:nvPr/>
        </p:nvSpPr>
        <p:spPr bwMode="auto">
          <a:xfrm flipH="1">
            <a:off x="5376862" y="3352801"/>
            <a:ext cx="1571625" cy="4619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ea typeface="ＭＳ Ｐゴシック" charset="0"/>
              <a:cs typeface="ＭＳ Ｐゴシック" charset="0"/>
            </a:endParaRPr>
          </a:p>
        </p:txBody>
      </p:sp>
      <p:sp>
        <p:nvSpPr>
          <p:cNvPr id="13319" name="Line 8"/>
          <p:cNvSpPr>
            <a:spLocks noChangeShapeType="1"/>
          </p:cNvSpPr>
          <p:nvPr/>
        </p:nvSpPr>
        <p:spPr bwMode="auto">
          <a:xfrm flipH="1">
            <a:off x="6097586" y="3381375"/>
            <a:ext cx="863600" cy="18176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ea typeface="ＭＳ Ｐゴシック" charset="0"/>
              <a:cs typeface="ＭＳ Ｐゴシック" charset="0"/>
            </a:endParaRPr>
          </a:p>
        </p:txBody>
      </p:sp>
      <p:sp>
        <p:nvSpPr>
          <p:cNvPr id="13320" name="Oval 9"/>
          <p:cNvSpPr>
            <a:spLocks noChangeArrowheads="1"/>
          </p:cNvSpPr>
          <p:nvPr/>
        </p:nvSpPr>
        <p:spPr bwMode="auto">
          <a:xfrm>
            <a:off x="7177086" y="4648200"/>
            <a:ext cx="2819400" cy="1600200"/>
          </a:xfrm>
          <a:prstGeom prst="ellipse">
            <a:avLst/>
          </a:prstGeom>
          <a:ln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2000" dirty="0">
                <a:latin typeface="Trebuchet MS" charset="0"/>
                <a:ea typeface="ＭＳ Ｐゴシック" charset="0"/>
                <a:cs typeface="ＭＳ Ｐゴシック" charset="0"/>
              </a:rPr>
              <a:t>Satisfies both static and dynamic type checking.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391027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3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3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3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3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33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33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33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33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7" grpId="0" animBg="1"/>
      <p:bldP spid="13318" grpId="0" animBg="1"/>
      <p:bldP spid="13319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>
                <a:ea typeface="+mj-ea"/>
                <a:cs typeface="+mj-cs"/>
              </a:rPr>
              <a:t>Overriding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en-US" altLang="en-US" dirty="0"/>
              <a:t>Superclass and subclass define methods with the same signature.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altLang="en-US" dirty="0"/>
              <a:t>Each has access to the fields of its class.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altLang="en-US" dirty="0"/>
              <a:t>Superclass satisfies static type check.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altLang="en-US" dirty="0"/>
              <a:t>Subclass method is called at runtime – it </a:t>
            </a:r>
            <a:r>
              <a:rPr lang="en-US" altLang="en-US" i="1" dirty="0"/>
              <a:t>overrides</a:t>
            </a:r>
            <a:r>
              <a:rPr lang="en-US" altLang="en-US" dirty="0"/>
              <a:t> the superclass version.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altLang="en-US" dirty="0"/>
              <a:t>What becomes of the superclass version?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224477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3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Topic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dirty="0"/>
              <a:t>Method polymorphism</a:t>
            </a:r>
          </a:p>
          <a:p>
            <a:pPr>
              <a:defRPr/>
            </a:pPr>
            <a:r>
              <a:rPr lang="en-US" dirty="0"/>
              <a:t>Static and dynamic type</a:t>
            </a:r>
          </a:p>
          <a:p>
            <a:pPr>
              <a:defRPr/>
            </a:pPr>
            <a:r>
              <a:rPr lang="en-US" dirty="0"/>
              <a:t>Overriding</a:t>
            </a:r>
          </a:p>
          <a:p>
            <a:pPr>
              <a:defRPr/>
            </a:pPr>
            <a:r>
              <a:rPr lang="en-US" dirty="0"/>
              <a:t>Dynamic method lookup</a:t>
            </a:r>
          </a:p>
          <a:p>
            <a:pPr>
              <a:defRPr/>
            </a:pPr>
            <a:r>
              <a:rPr lang="en-US" dirty="0"/>
              <a:t>Protected access</a:t>
            </a:r>
          </a:p>
          <a:p>
            <a:pPr marL="0" indent="0">
              <a:buNone/>
            </a:pPr>
            <a:endParaRPr lang="en-IE" dirty="0"/>
          </a:p>
          <a:p>
            <a:endParaRPr lang="en-IE" dirty="0"/>
          </a:p>
        </p:txBody>
      </p:sp>
      <p:sp>
        <p:nvSpPr>
          <p:cNvPr id="4" name="Rectangle 3"/>
          <p:cNvSpPr/>
          <p:nvPr/>
        </p:nvSpPr>
        <p:spPr>
          <a:xfrm>
            <a:off x="609600" y="3429000"/>
            <a:ext cx="6096000" cy="5334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755598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 descr="fig9-6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1" y="1752600"/>
            <a:ext cx="5865367" cy="47556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Dynamic method lookup</a:t>
            </a:r>
            <a:endParaRPr lang="en-US" dirty="0">
              <a:ea typeface="+mj-ea"/>
              <a:cs typeface="+mj-cs"/>
            </a:endParaRPr>
          </a:p>
        </p:txBody>
      </p:sp>
      <p:sp>
        <p:nvSpPr>
          <p:cNvPr id="16389" name="Text Box 5"/>
          <p:cNvSpPr txBox="1">
            <a:spLocks noChangeArrowheads="1"/>
          </p:cNvSpPr>
          <p:nvPr/>
        </p:nvSpPr>
        <p:spPr bwMode="auto">
          <a:xfrm>
            <a:off x="8077200" y="2606906"/>
            <a:ext cx="2640012" cy="3046988"/>
          </a:xfrm>
          <a:prstGeom prst="rect">
            <a:avLst/>
          </a:prstGeom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 b="0" dirty="0">
                <a:latin typeface="Trebuchet MS" charset="0"/>
              </a:rPr>
              <a:t>Inheritance but </a:t>
            </a:r>
            <a:r>
              <a:rPr lang="en-US" b="0" u="sng" dirty="0">
                <a:latin typeface="Trebuchet MS" charset="0"/>
              </a:rPr>
              <a:t>no</a:t>
            </a:r>
            <a:r>
              <a:rPr lang="en-US" b="0" dirty="0">
                <a:latin typeface="Trebuchet MS" charset="0"/>
              </a:rPr>
              <a:t> overriding. </a:t>
            </a:r>
          </a:p>
          <a:p>
            <a:pPr algn="ctr">
              <a:defRPr/>
            </a:pPr>
            <a:endParaRPr lang="en-US" b="0" dirty="0">
              <a:latin typeface="Trebuchet MS" charset="0"/>
            </a:endParaRPr>
          </a:p>
          <a:p>
            <a:pPr algn="ctr">
              <a:defRPr/>
            </a:pPr>
            <a:r>
              <a:rPr lang="en-US" b="0" dirty="0">
                <a:latin typeface="Trebuchet MS" charset="0"/>
              </a:rPr>
              <a:t>The inheritance hierarchy is ascended, searching for a match.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491788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3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3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9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1" descr="fig9-7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1752600"/>
            <a:ext cx="5826886" cy="47244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Dynamic method lookup</a:t>
            </a:r>
            <a:endParaRPr lang="en-US" dirty="0">
              <a:ea typeface="+mj-ea"/>
              <a:cs typeface="+mj-cs"/>
            </a:endParaRPr>
          </a:p>
        </p:txBody>
      </p:sp>
      <p:sp>
        <p:nvSpPr>
          <p:cNvPr id="17413" name="Text Box 5"/>
          <p:cNvSpPr txBox="1">
            <a:spLocks noChangeArrowheads="1"/>
          </p:cNvSpPr>
          <p:nvPr/>
        </p:nvSpPr>
        <p:spPr bwMode="auto">
          <a:xfrm>
            <a:off x="8382000" y="2895600"/>
            <a:ext cx="2590800" cy="2308324"/>
          </a:xfrm>
          <a:prstGeom prst="rect">
            <a:avLst/>
          </a:prstGeom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charset="0"/>
                <a:ea typeface="MS PGothic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charset="0"/>
                <a:ea typeface="MS PGothic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charset="0"/>
                <a:ea typeface="MS PGothic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charset="0"/>
                <a:ea typeface="MS PGothic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MS PGothic" pitchFamily="34" charset="-128"/>
              </a:defRPr>
            </a:lvl9pPr>
          </a:lstStyle>
          <a:p>
            <a:pPr algn="ctr">
              <a:defRPr/>
            </a:pPr>
            <a:r>
              <a:rPr lang="en-US" altLang="en-US" b="0" dirty="0">
                <a:latin typeface="Trebuchet MS" pitchFamily="34" charset="0"/>
              </a:rPr>
              <a:t>Polymorphism and overriding. </a:t>
            </a:r>
          </a:p>
          <a:p>
            <a:pPr algn="ctr">
              <a:defRPr/>
            </a:pPr>
            <a:endParaRPr lang="en-US" altLang="en-US" b="0" dirty="0">
              <a:latin typeface="Trebuchet MS" pitchFamily="34" charset="0"/>
            </a:endParaRPr>
          </a:p>
          <a:p>
            <a:pPr algn="ctr">
              <a:defRPr/>
            </a:pPr>
            <a:r>
              <a:rPr lang="en-US" altLang="en-US" b="0" dirty="0">
                <a:latin typeface="Trebuchet MS" pitchFamily="34" charset="0"/>
              </a:rPr>
              <a:t>The </a:t>
            </a:r>
            <a:r>
              <a:rPr lang="ja-JP" altLang="en-US" b="0" dirty="0">
                <a:latin typeface="Trebuchet MS" pitchFamily="34" charset="0"/>
              </a:rPr>
              <a:t>‘</a:t>
            </a:r>
            <a:r>
              <a:rPr lang="en-US" altLang="ja-JP" b="0" dirty="0">
                <a:latin typeface="Trebuchet MS" pitchFamily="34" charset="0"/>
              </a:rPr>
              <a:t>first</a:t>
            </a:r>
            <a:r>
              <a:rPr lang="ja-JP" altLang="en-US" b="0" dirty="0">
                <a:latin typeface="Trebuchet MS" pitchFamily="34" charset="0"/>
              </a:rPr>
              <a:t>’</a:t>
            </a:r>
            <a:r>
              <a:rPr lang="en-US" altLang="ja-JP" b="0" dirty="0">
                <a:latin typeface="Trebuchet MS" pitchFamily="34" charset="0"/>
              </a:rPr>
              <a:t> version found is used.</a:t>
            </a:r>
            <a:endParaRPr lang="en-US" altLang="en-US" b="0" dirty="0">
              <a:latin typeface="Trebuchet MS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198340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4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4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3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dirty="0"/>
              <a:t>Dynamic method lookup </a:t>
            </a:r>
            <a:r>
              <a:rPr lang="en-US" dirty="0">
                <a:ea typeface="+mj-ea"/>
                <a:cs typeface="+mj-cs"/>
              </a:rPr>
              <a:t>summary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lnSpc>
                <a:spcPct val="90000"/>
              </a:lnSpc>
              <a:buFont typeface="+mj-lt"/>
              <a:buAutoNum type="arabicPeriod"/>
              <a:defRPr/>
            </a:pPr>
            <a:r>
              <a:rPr lang="en-US" sz="2800" dirty="0"/>
              <a:t>The variable is accessed.</a:t>
            </a:r>
          </a:p>
          <a:p>
            <a:pPr marL="514350" indent="-514350">
              <a:lnSpc>
                <a:spcPct val="90000"/>
              </a:lnSpc>
              <a:buFont typeface="+mj-lt"/>
              <a:buAutoNum type="arabicPeriod"/>
              <a:defRPr/>
            </a:pPr>
            <a:r>
              <a:rPr lang="en-US" sz="2800" dirty="0"/>
              <a:t>The object stored in the variable is found.</a:t>
            </a:r>
          </a:p>
          <a:p>
            <a:pPr marL="514350" indent="-514350">
              <a:lnSpc>
                <a:spcPct val="90000"/>
              </a:lnSpc>
              <a:buFont typeface="+mj-lt"/>
              <a:buAutoNum type="arabicPeriod"/>
              <a:defRPr/>
            </a:pPr>
            <a:r>
              <a:rPr lang="en-US" sz="2800" dirty="0"/>
              <a:t>The class of the object is found.</a:t>
            </a:r>
          </a:p>
          <a:p>
            <a:pPr marL="514350" indent="-514350">
              <a:lnSpc>
                <a:spcPct val="90000"/>
              </a:lnSpc>
              <a:buFont typeface="+mj-lt"/>
              <a:buAutoNum type="arabicPeriod"/>
              <a:defRPr/>
            </a:pPr>
            <a:r>
              <a:rPr lang="en-US" sz="2800" dirty="0"/>
              <a:t>The class is searched for a method match.</a:t>
            </a:r>
          </a:p>
          <a:p>
            <a:pPr marL="514350" indent="-514350">
              <a:lnSpc>
                <a:spcPct val="90000"/>
              </a:lnSpc>
              <a:buFont typeface="+mj-lt"/>
              <a:buAutoNum type="arabicPeriod"/>
              <a:defRPr/>
            </a:pPr>
            <a:r>
              <a:rPr lang="en-US" sz="2800" dirty="0"/>
              <a:t>If no match is found, the superclass is searched.</a:t>
            </a:r>
          </a:p>
          <a:p>
            <a:pPr marL="514350" indent="-514350">
              <a:lnSpc>
                <a:spcPct val="90000"/>
              </a:lnSpc>
              <a:buFont typeface="+mj-lt"/>
              <a:buAutoNum type="arabicPeriod"/>
              <a:defRPr/>
            </a:pPr>
            <a:r>
              <a:rPr lang="en-US" sz="2800" dirty="0"/>
              <a:t>This is repeated until a match is found, or the class hierarchy is exhausted.</a:t>
            </a:r>
          </a:p>
          <a:p>
            <a:pPr marL="514350" indent="-514350">
              <a:lnSpc>
                <a:spcPct val="90000"/>
              </a:lnSpc>
              <a:buFont typeface="+mj-lt"/>
              <a:buAutoNum type="arabicPeriod"/>
              <a:defRPr/>
            </a:pPr>
            <a:r>
              <a:rPr lang="en-US" sz="2800" dirty="0"/>
              <a:t>Overriding methods take precedence.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269744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8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8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8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8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8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8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8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8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84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84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84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84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84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84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>
                <a:ea typeface="+mj-ea"/>
                <a:cs typeface="+mj-cs"/>
              </a:rPr>
              <a:t>Super call in methods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>
                <a:ea typeface="+mn-ea"/>
                <a:cs typeface="+mn-cs"/>
              </a:rPr>
              <a:t>Overridden methods are hidden ...</a:t>
            </a:r>
          </a:p>
          <a:p>
            <a:pPr eaLnBrk="1" hangingPunct="1">
              <a:defRPr/>
            </a:pPr>
            <a:r>
              <a:rPr lang="en-US" dirty="0">
                <a:ea typeface="+mn-ea"/>
                <a:cs typeface="+mn-cs"/>
              </a:rPr>
              <a:t>... but we often still want to be able to call them.</a:t>
            </a:r>
          </a:p>
          <a:p>
            <a:pPr eaLnBrk="1" hangingPunct="1">
              <a:defRPr/>
            </a:pPr>
            <a:r>
              <a:rPr lang="en-US" dirty="0">
                <a:ea typeface="+mn-ea"/>
                <a:cs typeface="+mn-cs"/>
              </a:rPr>
              <a:t>An overridden method </a:t>
            </a:r>
            <a:r>
              <a:rPr lang="en-US" i="1" dirty="0">
                <a:ea typeface="+mn-ea"/>
                <a:cs typeface="+mn-cs"/>
              </a:rPr>
              <a:t>can</a:t>
            </a:r>
            <a:r>
              <a:rPr lang="en-US" dirty="0">
                <a:ea typeface="+mn-ea"/>
                <a:cs typeface="+mn-cs"/>
              </a:rPr>
              <a:t> be called from the method that overrides it.</a:t>
            </a:r>
          </a:p>
          <a:p>
            <a:pPr lvl="1" eaLnBrk="1" hangingPunct="1">
              <a:defRPr/>
            </a:pPr>
            <a:r>
              <a:rPr lang="en-US" b="1" dirty="0" err="1">
                <a:latin typeface="Courier New" pitchFamily="-32" charset="0"/>
                <a:ea typeface="+mn-ea"/>
              </a:rPr>
              <a:t>super.method</a:t>
            </a:r>
            <a:r>
              <a:rPr lang="en-US" b="1" dirty="0">
                <a:latin typeface="Courier New" pitchFamily="-32" charset="0"/>
                <a:ea typeface="+mn-ea"/>
              </a:rPr>
              <a:t>(...)</a:t>
            </a:r>
          </a:p>
          <a:p>
            <a:pPr lvl="1" eaLnBrk="1" hangingPunct="1">
              <a:defRPr/>
            </a:pPr>
            <a:r>
              <a:rPr lang="en-US" dirty="0">
                <a:ea typeface="+mn-ea"/>
              </a:rPr>
              <a:t>Recall we used </a:t>
            </a:r>
            <a:r>
              <a:rPr lang="en-US" b="1" dirty="0">
                <a:latin typeface="Courier New" pitchFamily="-32" charset="0"/>
                <a:ea typeface="+mn-ea"/>
              </a:rPr>
              <a:t>super</a:t>
            </a:r>
            <a:r>
              <a:rPr lang="en-US" dirty="0">
                <a:ea typeface="+mn-ea"/>
              </a:rPr>
              <a:t> in our constructors.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37918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2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2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25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25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>
                <a:ea typeface="+mj-ea"/>
                <a:cs typeface="+mj-cs"/>
              </a:rPr>
              <a:t>Calling an overridden method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814F944-4799-1249-B64A-88A28629F736}"/>
              </a:ext>
            </a:extLst>
          </p:cNvPr>
          <p:cNvSpPr/>
          <p:nvPr/>
        </p:nvSpPr>
        <p:spPr>
          <a:xfrm>
            <a:off x="7239000" y="2820412"/>
            <a:ext cx="4267200" cy="255454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E" sz="2000" b="1" dirty="0">
                <a:solidFill>
                  <a:srgbClr val="000080"/>
                </a:solidFill>
              </a:rPr>
              <a:t>public </a:t>
            </a:r>
            <a:r>
              <a:rPr lang="en-IE" sz="2000" dirty="0"/>
              <a:t>String display() {</a:t>
            </a:r>
            <a:br>
              <a:rPr lang="en-IE" sz="2000" dirty="0"/>
            </a:br>
            <a:r>
              <a:rPr lang="en-IE" sz="2000" dirty="0"/>
              <a:t>    String str = </a:t>
            </a:r>
            <a:r>
              <a:rPr lang="en-IE" sz="2000" b="1" dirty="0" err="1">
                <a:solidFill>
                  <a:srgbClr val="000080"/>
                </a:solidFill>
              </a:rPr>
              <a:t>super</a:t>
            </a:r>
            <a:r>
              <a:rPr lang="en-IE" sz="2000" dirty="0" err="1"/>
              <a:t>.display</a:t>
            </a:r>
            <a:r>
              <a:rPr lang="en-IE" sz="2000" dirty="0"/>
              <a:t>();</a:t>
            </a:r>
            <a:br>
              <a:rPr lang="en-IE" sz="2000" dirty="0"/>
            </a:br>
            <a:br>
              <a:rPr lang="en-IE" sz="2000" dirty="0"/>
            </a:br>
            <a:r>
              <a:rPr lang="en-IE" sz="2000" dirty="0"/>
              <a:t>    </a:t>
            </a:r>
            <a:r>
              <a:rPr lang="en-IE" sz="2000" b="1" dirty="0">
                <a:solidFill>
                  <a:srgbClr val="000080"/>
                </a:solidFill>
              </a:rPr>
              <a:t>if </a:t>
            </a:r>
            <a:r>
              <a:rPr lang="en-IE" sz="2000" dirty="0"/>
              <a:t>(!</a:t>
            </a:r>
            <a:r>
              <a:rPr lang="en-IE" sz="2000" b="1" dirty="0" err="1">
                <a:solidFill>
                  <a:srgbClr val="660E7A"/>
                </a:solidFill>
              </a:rPr>
              <a:t>message</a:t>
            </a:r>
            <a:r>
              <a:rPr lang="en-IE" sz="2000" dirty="0" err="1"/>
              <a:t>.isEmpty</a:t>
            </a:r>
            <a:r>
              <a:rPr lang="en-IE" sz="2000" dirty="0"/>
              <a:t>()){</a:t>
            </a:r>
            <a:br>
              <a:rPr lang="en-IE" sz="2000" dirty="0"/>
            </a:br>
            <a:r>
              <a:rPr lang="en-IE" sz="2000" dirty="0"/>
              <a:t>        str += </a:t>
            </a:r>
            <a:r>
              <a:rPr lang="en-IE" sz="2000" b="1" dirty="0">
                <a:solidFill>
                  <a:srgbClr val="008000"/>
                </a:solidFill>
              </a:rPr>
              <a:t>"</a:t>
            </a:r>
            <a:r>
              <a:rPr lang="en-IE" sz="2000" b="1" dirty="0">
                <a:solidFill>
                  <a:srgbClr val="000080"/>
                </a:solidFill>
              </a:rPr>
              <a:t>\t</a:t>
            </a:r>
            <a:r>
              <a:rPr lang="en-IE" sz="2000" b="1" dirty="0">
                <a:solidFill>
                  <a:srgbClr val="008000"/>
                </a:solidFill>
              </a:rPr>
              <a:t>" </a:t>
            </a:r>
            <a:r>
              <a:rPr lang="en-IE" sz="2000" dirty="0"/>
              <a:t>+ </a:t>
            </a:r>
            <a:r>
              <a:rPr lang="en-IE" sz="2000" b="1" dirty="0">
                <a:solidFill>
                  <a:srgbClr val="660E7A"/>
                </a:solidFill>
              </a:rPr>
              <a:t>message </a:t>
            </a:r>
            <a:r>
              <a:rPr lang="en-IE" sz="2000" dirty="0"/>
              <a:t>+ </a:t>
            </a:r>
            <a:r>
              <a:rPr lang="en-IE" sz="2000" b="1" dirty="0">
                <a:solidFill>
                  <a:srgbClr val="008000"/>
                </a:solidFill>
              </a:rPr>
              <a:t>"</a:t>
            </a:r>
            <a:r>
              <a:rPr lang="en-IE" sz="2000" b="1" dirty="0">
                <a:solidFill>
                  <a:srgbClr val="000080"/>
                </a:solidFill>
              </a:rPr>
              <a:t>\n</a:t>
            </a:r>
            <a:r>
              <a:rPr lang="en-IE" sz="2000" b="1" dirty="0">
                <a:solidFill>
                  <a:srgbClr val="008000"/>
                </a:solidFill>
              </a:rPr>
              <a:t>"</a:t>
            </a:r>
            <a:r>
              <a:rPr lang="en-IE" sz="2000" dirty="0"/>
              <a:t>;</a:t>
            </a:r>
            <a:br>
              <a:rPr lang="en-IE" sz="2000" dirty="0"/>
            </a:br>
            <a:r>
              <a:rPr lang="en-IE" sz="2000" dirty="0"/>
              <a:t>    }</a:t>
            </a:r>
            <a:br>
              <a:rPr lang="en-IE" sz="2000" dirty="0"/>
            </a:br>
            <a:r>
              <a:rPr lang="en-IE" sz="2000" dirty="0"/>
              <a:t>    </a:t>
            </a:r>
            <a:r>
              <a:rPr lang="en-IE" sz="2000" b="1" dirty="0">
                <a:solidFill>
                  <a:srgbClr val="000080"/>
                </a:solidFill>
              </a:rPr>
              <a:t>return </a:t>
            </a:r>
            <a:r>
              <a:rPr lang="en-IE" sz="2000" dirty="0"/>
              <a:t>str;</a:t>
            </a:r>
            <a:br>
              <a:rPr lang="en-IE" sz="2000" dirty="0"/>
            </a:br>
            <a:r>
              <a:rPr lang="en-IE" sz="2000" dirty="0"/>
              <a:t>}</a:t>
            </a:r>
            <a:endParaRPr lang="en-US" sz="20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D22A362-0E86-D541-8664-71B70B963E46}"/>
              </a:ext>
            </a:extLst>
          </p:cNvPr>
          <p:cNvSpPr/>
          <p:nvPr/>
        </p:nvSpPr>
        <p:spPr>
          <a:xfrm>
            <a:off x="609600" y="1828800"/>
            <a:ext cx="6096000" cy="440120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r>
              <a:rPr lang="en-IE" sz="2000" b="1" dirty="0">
                <a:solidFill>
                  <a:srgbClr val="000080"/>
                </a:solidFill>
              </a:rPr>
              <a:t>public </a:t>
            </a:r>
            <a:r>
              <a:rPr lang="en-IE" sz="2000" dirty="0"/>
              <a:t>String display() {</a:t>
            </a:r>
            <a:br>
              <a:rPr lang="en-IE" sz="2000" dirty="0"/>
            </a:br>
            <a:r>
              <a:rPr lang="en-IE" sz="2000" dirty="0"/>
              <a:t>    String str = </a:t>
            </a:r>
            <a:r>
              <a:rPr lang="en-IE" sz="2000" b="1" dirty="0">
                <a:solidFill>
                  <a:srgbClr val="008000"/>
                </a:solidFill>
              </a:rPr>
              <a:t>""</a:t>
            </a:r>
            <a:r>
              <a:rPr lang="en-IE" sz="2000" dirty="0"/>
              <a:t>;</a:t>
            </a:r>
            <a:br>
              <a:rPr lang="en-IE" sz="2000" dirty="0"/>
            </a:br>
            <a:br>
              <a:rPr lang="en-IE" sz="2000" dirty="0"/>
            </a:br>
            <a:r>
              <a:rPr lang="en-IE" sz="2000" dirty="0"/>
              <a:t>    str += (</a:t>
            </a:r>
            <a:r>
              <a:rPr lang="en-IE" sz="2000" b="1" dirty="0">
                <a:solidFill>
                  <a:srgbClr val="660E7A"/>
                </a:solidFill>
              </a:rPr>
              <a:t>author </a:t>
            </a:r>
            <a:r>
              <a:rPr lang="en-IE" sz="2000" dirty="0"/>
              <a:t>+ </a:t>
            </a:r>
            <a:r>
              <a:rPr lang="en-IE" sz="2000" b="1" dirty="0">
                <a:solidFill>
                  <a:srgbClr val="008000"/>
                </a:solidFill>
              </a:rPr>
              <a:t>"</a:t>
            </a:r>
            <a:r>
              <a:rPr lang="en-IE" sz="2000" b="1" dirty="0">
                <a:solidFill>
                  <a:srgbClr val="000080"/>
                </a:solidFill>
              </a:rPr>
              <a:t>\n</a:t>
            </a:r>
            <a:r>
              <a:rPr lang="en-IE" sz="2000" b="1" dirty="0">
                <a:solidFill>
                  <a:srgbClr val="008000"/>
                </a:solidFill>
              </a:rPr>
              <a:t>"</a:t>
            </a:r>
            <a:r>
              <a:rPr lang="en-IE" sz="2000" dirty="0"/>
              <a:t>);</a:t>
            </a:r>
            <a:br>
              <a:rPr lang="en-IE" sz="2000" dirty="0"/>
            </a:br>
            <a:br>
              <a:rPr lang="en-IE" sz="2000" dirty="0"/>
            </a:br>
            <a:r>
              <a:rPr lang="en-IE" sz="2000" dirty="0"/>
              <a:t>    </a:t>
            </a:r>
            <a:r>
              <a:rPr lang="en-IE" sz="2000" b="1" dirty="0">
                <a:solidFill>
                  <a:srgbClr val="000080"/>
                </a:solidFill>
              </a:rPr>
              <a:t>if</a:t>
            </a:r>
            <a:r>
              <a:rPr lang="en-IE" sz="2000" dirty="0"/>
              <a:t>(</a:t>
            </a:r>
            <a:r>
              <a:rPr lang="en-IE" sz="2000" b="1" dirty="0">
                <a:solidFill>
                  <a:srgbClr val="660E7A"/>
                </a:solidFill>
              </a:rPr>
              <a:t>likes </a:t>
            </a:r>
            <a:r>
              <a:rPr lang="en-IE" sz="2000" dirty="0"/>
              <a:t>&gt; </a:t>
            </a:r>
            <a:r>
              <a:rPr lang="en-IE" sz="2000" dirty="0">
                <a:solidFill>
                  <a:srgbClr val="0000FF"/>
                </a:solidFill>
              </a:rPr>
              <a:t>0</a:t>
            </a:r>
            <a:r>
              <a:rPr lang="en-IE" sz="2000" dirty="0"/>
              <a:t>) {</a:t>
            </a:r>
            <a:br>
              <a:rPr lang="en-IE" sz="2000" dirty="0"/>
            </a:br>
            <a:r>
              <a:rPr lang="en-IE" sz="2000" dirty="0"/>
              <a:t>        str += (</a:t>
            </a:r>
            <a:r>
              <a:rPr lang="en-IE" sz="2000" b="1" dirty="0">
                <a:solidFill>
                  <a:srgbClr val="008000"/>
                </a:solidFill>
              </a:rPr>
              <a:t>"  -  " </a:t>
            </a:r>
            <a:r>
              <a:rPr lang="en-IE" sz="2000" dirty="0"/>
              <a:t>+ </a:t>
            </a:r>
            <a:r>
              <a:rPr lang="en-IE" sz="2000" b="1" dirty="0">
                <a:solidFill>
                  <a:srgbClr val="660E7A"/>
                </a:solidFill>
              </a:rPr>
              <a:t>likes </a:t>
            </a:r>
            <a:r>
              <a:rPr lang="en-IE" sz="2000" dirty="0"/>
              <a:t>+ </a:t>
            </a:r>
            <a:r>
              <a:rPr lang="en-IE" sz="2000" b="1" dirty="0">
                <a:solidFill>
                  <a:srgbClr val="008000"/>
                </a:solidFill>
              </a:rPr>
              <a:t>" people like this.</a:t>
            </a:r>
            <a:r>
              <a:rPr lang="en-IE" sz="2000" b="1" dirty="0">
                <a:solidFill>
                  <a:srgbClr val="000080"/>
                </a:solidFill>
              </a:rPr>
              <a:t>\n</a:t>
            </a:r>
            <a:r>
              <a:rPr lang="en-IE" sz="2000" b="1" dirty="0">
                <a:solidFill>
                  <a:srgbClr val="008000"/>
                </a:solidFill>
              </a:rPr>
              <a:t>"</a:t>
            </a:r>
            <a:r>
              <a:rPr lang="en-IE" sz="2000" dirty="0"/>
              <a:t>);</a:t>
            </a:r>
            <a:br>
              <a:rPr lang="en-IE" sz="2000" dirty="0"/>
            </a:br>
            <a:r>
              <a:rPr lang="en-IE" sz="2000" dirty="0"/>
              <a:t>    }</a:t>
            </a:r>
            <a:br>
              <a:rPr lang="en-IE" sz="2000" dirty="0"/>
            </a:br>
            <a:r>
              <a:rPr lang="en-IE" sz="2000" dirty="0"/>
              <a:t>    </a:t>
            </a:r>
            <a:r>
              <a:rPr lang="en-IE" sz="2000" b="1" dirty="0">
                <a:solidFill>
                  <a:srgbClr val="000080"/>
                </a:solidFill>
              </a:rPr>
              <a:t>else </a:t>
            </a:r>
            <a:r>
              <a:rPr lang="en-IE" sz="2000" dirty="0"/>
              <a:t>{</a:t>
            </a:r>
            <a:br>
              <a:rPr lang="en-IE" sz="2000" dirty="0"/>
            </a:br>
            <a:r>
              <a:rPr lang="en-IE" sz="2000" dirty="0"/>
              <a:t>        str += </a:t>
            </a:r>
            <a:r>
              <a:rPr lang="en-IE" sz="2000" b="1" dirty="0">
                <a:solidFill>
                  <a:srgbClr val="008000"/>
                </a:solidFill>
              </a:rPr>
              <a:t>"0 likes.</a:t>
            </a:r>
            <a:r>
              <a:rPr lang="en-IE" sz="2000" b="1" dirty="0">
                <a:solidFill>
                  <a:srgbClr val="000080"/>
                </a:solidFill>
              </a:rPr>
              <a:t>\n</a:t>
            </a:r>
            <a:r>
              <a:rPr lang="en-IE" sz="2000" b="1" dirty="0">
                <a:solidFill>
                  <a:srgbClr val="008000"/>
                </a:solidFill>
              </a:rPr>
              <a:t>"</a:t>
            </a:r>
            <a:r>
              <a:rPr lang="en-IE" sz="2000" dirty="0"/>
              <a:t>;</a:t>
            </a:r>
            <a:br>
              <a:rPr lang="en-IE" sz="2000" dirty="0"/>
            </a:br>
            <a:r>
              <a:rPr lang="en-IE" sz="2000" dirty="0"/>
              <a:t>    }</a:t>
            </a:r>
            <a:br>
              <a:rPr lang="en-IE" sz="2000" dirty="0"/>
            </a:br>
            <a:br>
              <a:rPr lang="en-IE" sz="2000" dirty="0"/>
            </a:br>
            <a:r>
              <a:rPr lang="en-IE" sz="2000" dirty="0"/>
              <a:t>    </a:t>
            </a:r>
            <a:r>
              <a:rPr lang="en-IE" sz="2000" b="1" dirty="0">
                <a:solidFill>
                  <a:srgbClr val="000080"/>
                </a:solidFill>
              </a:rPr>
              <a:t>return </a:t>
            </a:r>
            <a:r>
              <a:rPr lang="en-IE" sz="2000" dirty="0"/>
              <a:t>str;</a:t>
            </a:r>
            <a:br>
              <a:rPr lang="en-IE" sz="2000" dirty="0"/>
            </a:br>
            <a:r>
              <a:rPr lang="en-IE" sz="2000" dirty="0"/>
              <a:t>}</a:t>
            </a:r>
            <a:endParaRPr lang="en-US" sz="2000" dirty="0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974C364B-0DFD-B646-B697-FE992C40664D}"/>
              </a:ext>
            </a:extLst>
          </p:cNvPr>
          <p:cNvSpPr/>
          <p:nvPr/>
        </p:nvSpPr>
        <p:spPr>
          <a:xfrm>
            <a:off x="5715000" y="1562100"/>
            <a:ext cx="800100" cy="5334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Post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804CB9F9-9A56-4C4A-BEDE-F359D511E547}"/>
              </a:ext>
            </a:extLst>
          </p:cNvPr>
          <p:cNvSpPr/>
          <p:nvPr/>
        </p:nvSpPr>
        <p:spPr>
          <a:xfrm>
            <a:off x="10134600" y="2553712"/>
            <a:ext cx="1752600" cy="5334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MessagePost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7B3F810-AE24-084A-B94B-2E18B79202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5701" y="76200"/>
            <a:ext cx="3263899" cy="22610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0732525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7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>
                <a:ea typeface="+mj-ea"/>
                <a:cs typeface="+mj-cs"/>
              </a:rPr>
              <a:t>Method polymorphism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>
                <a:ea typeface="+mn-ea"/>
                <a:cs typeface="+mn-cs"/>
              </a:rPr>
              <a:t>We have been discussing </a:t>
            </a:r>
            <a:r>
              <a:rPr lang="en-US" i="1" dirty="0">
                <a:ea typeface="+mn-ea"/>
                <a:cs typeface="+mn-cs"/>
              </a:rPr>
              <a:t>polymorphic method dispatch</a:t>
            </a:r>
            <a:r>
              <a:rPr lang="en-US" dirty="0">
                <a:ea typeface="+mn-ea"/>
                <a:cs typeface="+mn-cs"/>
              </a:rPr>
              <a:t>.</a:t>
            </a:r>
          </a:p>
          <a:p>
            <a:pPr eaLnBrk="1" hangingPunct="1">
              <a:defRPr/>
            </a:pPr>
            <a:r>
              <a:rPr lang="en-US" dirty="0">
                <a:ea typeface="+mn-ea"/>
                <a:cs typeface="+mn-cs"/>
              </a:rPr>
              <a:t>A polymorphic variable can store objects of varying types.</a:t>
            </a:r>
          </a:p>
          <a:p>
            <a:pPr eaLnBrk="1" hangingPunct="1">
              <a:defRPr/>
            </a:pPr>
            <a:r>
              <a:rPr lang="en-US" dirty="0">
                <a:ea typeface="+mn-ea"/>
                <a:cs typeface="+mn-cs"/>
              </a:rPr>
              <a:t>Method calls are polymorphic.</a:t>
            </a:r>
          </a:p>
          <a:p>
            <a:pPr lvl="1" eaLnBrk="1" hangingPunct="1">
              <a:defRPr/>
            </a:pPr>
            <a:r>
              <a:rPr lang="en-US" dirty="0">
                <a:ea typeface="+mn-ea"/>
              </a:rPr>
              <a:t>The actual method called depends on the dynamic object type.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216329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9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9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9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9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9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9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>
                <a:ea typeface="+mj-ea"/>
              </a:rPr>
              <a:t>The </a:t>
            </a:r>
            <a:r>
              <a:rPr lang="en-US" b="1" dirty="0" err="1">
                <a:solidFill>
                  <a:srgbClr val="00B050"/>
                </a:solidFill>
                <a:latin typeface="Courier New"/>
                <a:ea typeface="+mj-ea"/>
                <a:cs typeface="Courier New"/>
              </a:rPr>
              <a:t>instanceof</a:t>
            </a:r>
            <a:r>
              <a:rPr lang="en-US" dirty="0">
                <a:ea typeface="+mj-ea"/>
              </a:rPr>
              <a:t> operator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1981199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defRPr/>
            </a:pPr>
            <a:r>
              <a:rPr lang="en-US" altLang="en-US" dirty="0"/>
              <a:t>Used to determine the dynamic type.</a:t>
            </a:r>
          </a:p>
          <a:p>
            <a:pPr eaLnBrk="1" hangingPunct="1">
              <a:defRPr/>
            </a:pPr>
            <a:r>
              <a:rPr lang="en-US" altLang="en-US" dirty="0"/>
              <a:t>Can recover ‘lost’ type information.</a:t>
            </a:r>
          </a:p>
          <a:p>
            <a:pPr eaLnBrk="1" hangingPunct="1">
              <a:defRPr/>
            </a:pPr>
            <a:r>
              <a:rPr lang="en-US" altLang="en-US" dirty="0"/>
              <a:t>Usually precedes assignment with a cast to the dynamic type:</a:t>
            </a:r>
            <a:br>
              <a:rPr lang="en-US" altLang="en-US" dirty="0"/>
            </a:br>
            <a:endParaRPr lang="en-US" alt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36C724D-2278-1C44-8F1C-FE95BCA00546}"/>
              </a:ext>
            </a:extLst>
          </p:cNvPr>
          <p:cNvSpPr/>
          <p:nvPr/>
        </p:nvSpPr>
        <p:spPr>
          <a:xfrm>
            <a:off x="1143000" y="3581400"/>
            <a:ext cx="9753600" cy="181588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n-US" altLang="en-US" sz="2800" b="1" dirty="0">
                <a:latin typeface="Courier New" pitchFamily="49" charset="0"/>
                <a:cs typeface="Courier New" pitchFamily="49" charset="0"/>
              </a:rPr>
              <a:t>if(post </a:t>
            </a:r>
            <a:r>
              <a:rPr lang="en-US" altLang="en-US" sz="2800" b="1" dirty="0" err="1">
                <a:latin typeface="Courier New" pitchFamily="49" charset="0"/>
                <a:cs typeface="Courier New" pitchFamily="49" charset="0"/>
              </a:rPr>
              <a:t>instanceof</a:t>
            </a:r>
            <a:r>
              <a:rPr lang="en-US" altLang="en-US" sz="28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en-US" sz="2800" b="1" dirty="0" err="1">
                <a:latin typeface="Courier New" pitchFamily="49" charset="0"/>
                <a:cs typeface="Courier New" pitchFamily="49" charset="0"/>
              </a:rPr>
              <a:t>MessagePost</a:t>
            </a:r>
            <a:r>
              <a:rPr lang="en-US" altLang="en-US" sz="2800" b="1" dirty="0">
                <a:latin typeface="Courier New" pitchFamily="49" charset="0"/>
                <a:cs typeface="Courier New" pitchFamily="49" charset="0"/>
              </a:rPr>
              <a:t>) {</a:t>
            </a:r>
            <a:br>
              <a:rPr lang="en-US" altLang="en-US" sz="2800" b="1" dirty="0">
                <a:latin typeface="Courier New" pitchFamily="49" charset="0"/>
                <a:cs typeface="Courier New" pitchFamily="49" charset="0"/>
              </a:rPr>
            </a:br>
            <a:r>
              <a:rPr lang="en-US" altLang="en-US" sz="2800" b="1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altLang="en-US" sz="2800" b="1" dirty="0" err="1">
                <a:latin typeface="Courier New" pitchFamily="49" charset="0"/>
                <a:cs typeface="Courier New" pitchFamily="49" charset="0"/>
              </a:rPr>
              <a:t>MessagePost</a:t>
            </a:r>
            <a:r>
              <a:rPr lang="en-US" altLang="en-US" sz="2800" b="1" dirty="0">
                <a:latin typeface="Courier New" pitchFamily="49" charset="0"/>
                <a:cs typeface="Courier New" pitchFamily="49" charset="0"/>
              </a:rPr>
              <a:t> msg = (</a:t>
            </a:r>
            <a:r>
              <a:rPr lang="en-US" altLang="en-US" sz="2800" b="1" dirty="0" err="1">
                <a:latin typeface="Courier New" pitchFamily="49" charset="0"/>
                <a:cs typeface="Courier New" pitchFamily="49" charset="0"/>
              </a:rPr>
              <a:t>MessagePost</a:t>
            </a:r>
            <a:r>
              <a:rPr lang="en-US" altLang="en-US" sz="2800" b="1" dirty="0">
                <a:latin typeface="Courier New" pitchFamily="49" charset="0"/>
                <a:cs typeface="Courier New" pitchFamily="49" charset="0"/>
              </a:rPr>
              <a:t>) post;</a:t>
            </a:r>
            <a:br>
              <a:rPr lang="en-US" altLang="en-US" sz="2800" b="1" dirty="0">
                <a:latin typeface="Courier New" pitchFamily="49" charset="0"/>
                <a:cs typeface="Courier New" pitchFamily="49" charset="0"/>
              </a:rPr>
            </a:br>
            <a:r>
              <a:rPr lang="en-US" altLang="en-US" sz="2800" dirty="0">
                <a:solidFill>
                  <a:schemeClr val="bg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altLang="en-US" sz="2800" i="1" dirty="0">
                <a:solidFill>
                  <a:schemeClr val="bg1">
                    <a:lumMod val="50000"/>
                  </a:schemeClr>
                </a:solidFill>
                <a:cs typeface="Courier New" pitchFamily="49" charset="0"/>
              </a:rPr>
              <a:t>… e.g. then access </a:t>
            </a:r>
            <a:r>
              <a:rPr lang="en-US" altLang="en-US" sz="2800" i="1" dirty="0" err="1">
                <a:solidFill>
                  <a:schemeClr val="bg1">
                    <a:lumMod val="50000"/>
                  </a:schemeClr>
                </a:solidFill>
                <a:cs typeface="Courier New" pitchFamily="49" charset="0"/>
              </a:rPr>
              <a:t>MessagePost</a:t>
            </a:r>
            <a:r>
              <a:rPr lang="en-US" altLang="en-US" sz="2800" i="1" dirty="0">
                <a:solidFill>
                  <a:schemeClr val="bg1">
                    <a:lumMod val="50000"/>
                  </a:schemeClr>
                </a:solidFill>
                <a:cs typeface="Courier New" pitchFamily="49" charset="0"/>
              </a:rPr>
              <a:t> methods via msg object …</a:t>
            </a:r>
            <a:br>
              <a:rPr lang="en-US" altLang="en-US" sz="2800" i="1" dirty="0">
                <a:cs typeface="Courier New" pitchFamily="49" charset="0"/>
              </a:rPr>
            </a:br>
            <a:r>
              <a:rPr lang="en-US" altLang="en-US" sz="2800" b="1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296288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46993B4-164C-4AA0-B16C-F787B3FC62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6062" y="2926670"/>
            <a:ext cx="8304739" cy="3729718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966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>
                <a:ea typeface="+mj-ea"/>
                <a:cs typeface="+mj-cs"/>
              </a:rPr>
              <a:t>Recall the Object class…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4115481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46993B4-164C-4AA0-B16C-F787B3FC62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6062" y="2926670"/>
            <a:ext cx="8304739" cy="3729718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966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>
                <a:ea typeface="+mj-ea"/>
                <a:cs typeface="+mj-cs"/>
              </a:rPr>
              <a:t>Recall the Object class…</a:t>
            </a:r>
          </a:p>
        </p:txBody>
      </p:sp>
      <p:pic>
        <p:nvPicPr>
          <p:cNvPr id="37892" name="Picture 6" descr="fig8-14-colour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84" t="3061" r="3008" b="6123"/>
          <a:stretch/>
        </p:blipFill>
        <p:spPr bwMode="auto">
          <a:xfrm>
            <a:off x="4267200" y="1371600"/>
            <a:ext cx="6324600" cy="33909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893" name="Text Box 5"/>
          <p:cNvSpPr txBox="1">
            <a:spLocks noChangeArrowheads="1"/>
          </p:cNvSpPr>
          <p:nvPr/>
        </p:nvSpPr>
        <p:spPr bwMode="auto">
          <a:xfrm>
            <a:off x="1739153" y="1720797"/>
            <a:ext cx="2510118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 eaLnBrk="1" hangingPunct="1">
              <a:spcBef>
                <a:spcPct val="0"/>
              </a:spcBef>
              <a:defRPr/>
            </a:pPr>
            <a:r>
              <a:rPr lang="en-GB" sz="2400" b="0" i="1" dirty="0">
                <a:latin typeface="Times New Roman" charset="0"/>
              </a:rPr>
              <a:t>All classes inherit from </a:t>
            </a:r>
            <a:r>
              <a:rPr lang="en-GB" sz="2400" dirty="0">
                <a:latin typeface="Trebuchet MS" charset="0"/>
              </a:rPr>
              <a:t>Object</a:t>
            </a:r>
            <a:r>
              <a:rPr lang="en-GB" sz="2400" b="0" i="1" dirty="0">
                <a:latin typeface="Times New Roman" charset="0"/>
              </a:rPr>
              <a:t>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2706497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E9312CD-F53C-4433-A217-07E269FD64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98612"/>
            <a:ext cx="6524040" cy="675938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CD7C7B4-58DC-4D0F-947F-9FF3F6DC10DE}"/>
              </a:ext>
            </a:extLst>
          </p:cNvPr>
          <p:cNvSpPr/>
          <p:nvPr/>
        </p:nvSpPr>
        <p:spPr>
          <a:xfrm>
            <a:off x="1676400" y="1752600"/>
            <a:ext cx="2362200" cy="267765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400" dirty="0"/>
              <a:t>Methods in </a:t>
            </a:r>
            <a:r>
              <a:rPr lang="en-US" sz="2400" b="1" dirty="0">
                <a:latin typeface="Courier New" pitchFamily="-32" charset="0"/>
              </a:rPr>
              <a:t>Object</a:t>
            </a:r>
            <a:r>
              <a:rPr lang="en-US" sz="2400" dirty="0"/>
              <a:t> are inherited by all classes.</a:t>
            </a:r>
          </a:p>
          <a:p>
            <a:pPr algn="ctr">
              <a:defRPr/>
            </a:pPr>
            <a:endParaRPr lang="en-US" sz="2400" dirty="0"/>
          </a:p>
          <a:p>
            <a:pPr algn="ctr">
              <a:defRPr/>
            </a:pPr>
            <a:r>
              <a:rPr lang="en-US" sz="2400" dirty="0"/>
              <a:t>Any of these may be overridden.</a:t>
            </a:r>
          </a:p>
        </p:txBody>
      </p:sp>
    </p:spTree>
    <p:extLst>
      <p:ext uri="{BB962C8B-B14F-4D97-AF65-F5344CB8AC3E}">
        <p14:creationId xmlns:p14="http://schemas.microsoft.com/office/powerpoint/2010/main" val="18319235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E9312CD-F53C-4433-A217-07E269FD64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98612"/>
            <a:ext cx="6524040" cy="675938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CD7C7B4-58DC-4D0F-947F-9FF3F6DC10DE}"/>
              </a:ext>
            </a:extLst>
          </p:cNvPr>
          <p:cNvSpPr/>
          <p:nvPr/>
        </p:nvSpPr>
        <p:spPr>
          <a:xfrm>
            <a:off x="3276600" y="4900136"/>
            <a:ext cx="5791200" cy="163121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n-US" sz="2000" dirty="0"/>
              <a:t>The </a:t>
            </a:r>
            <a:r>
              <a:rPr lang="en-US" sz="2000" b="1" dirty="0">
                <a:latin typeface="Courier New" pitchFamily="-32" charset="0"/>
              </a:rPr>
              <a:t>toString</a:t>
            </a:r>
            <a:r>
              <a:rPr lang="en-US" sz="2000" dirty="0"/>
              <a:t> method is commonly overridden:</a:t>
            </a:r>
          </a:p>
          <a:p>
            <a:pPr>
              <a:defRPr/>
            </a:pPr>
            <a:endParaRPr lang="en-US" sz="2000" dirty="0"/>
          </a:p>
          <a:p>
            <a:pPr lvl="1">
              <a:defRPr/>
            </a:pPr>
            <a:r>
              <a:rPr lang="en-US" sz="2000" b="1" dirty="0">
                <a:solidFill>
                  <a:srgbClr val="00B050"/>
                </a:solidFill>
                <a:latin typeface="Courier New" pitchFamily="-32" charset="0"/>
              </a:rPr>
              <a:t>public String toString()</a:t>
            </a:r>
          </a:p>
          <a:p>
            <a:pPr lvl="1">
              <a:defRPr/>
            </a:pPr>
            <a:endParaRPr lang="en-US" sz="2000" b="1" dirty="0">
              <a:latin typeface="Courier New" pitchFamily="-32" charset="0"/>
            </a:endParaRPr>
          </a:p>
          <a:p>
            <a:pPr>
              <a:defRPr/>
            </a:pPr>
            <a:r>
              <a:rPr lang="en-US" sz="2000" dirty="0"/>
              <a:t>Returns a string representation of the object.</a:t>
            </a:r>
            <a:endParaRPr lang="en-IE" sz="2000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13022900-F54E-4D70-9041-F7502364F1E8}"/>
              </a:ext>
            </a:extLst>
          </p:cNvPr>
          <p:cNvSpPr/>
          <p:nvPr/>
        </p:nvSpPr>
        <p:spPr>
          <a:xfrm>
            <a:off x="4038600" y="3962400"/>
            <a:ext cx="4953000" cy="457200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541923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2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>
                <a:ea typeface="+mj-ea"/>
                <a:cs typeface="+mj-cs"/>
              </a:rPr>
              <a:t>Overriding </a:t>
            </a:r>
            <a:r>
              <a:rPr lang="en-US" b="1" dirty="0" err="1">
                <a:solidFill>
                  <a:srgbClr val="00B050"/>
                </a:solidFill>
                <a:latin typeface="Courier New"/>
                <a:ea typeface="+mj-ea"/>
                <a:cs typeface="Courier New"/>
              </a:rPr>
              <a:t>toString</a:t>
            </a:r>
            <a:r>
              <a:rPr lang="en-US" dirty="0">
                <a:ea typeface="+mj-ea"/>
                <a:cs typeface="+mj-cs"/>
              </a:rPr>
              <a:t> in </a:t>
            </a:r>
            <a:r>
              <a:rPr lang="en-US" b="1" dirty="0">
                <a:latin typeface="Courier New"/>
                <a:ea typeface="+mj-ea"/>
                <a:cs typeface="Courier New"/>
              </a:rPr>
              <a:t>Post</a:t>
            </a:r>
          </a:p>
        </p:txBody>
      </p:sp>
      <p:sp>
        <p:nvSpPr>
          <p:cNvPr id="23556" name="Text Box 3"/>
          <p:cNvSpPr txBox="1">
            <a:spLocks noChangeArrowheads="1"/>
          </p:cNvSpPr>
          <p:nvPr/>
        </p:nvSpPr>
        <p:spPr bwMode="auto">
          <a:xfrm>
            <a:off x="1866900" y="2133600"/>
            <a:ext cx="8458200" cy="3416320"/>
          </a:xfrm>
          <a:prstGeom prst="rect">
            <a:avLst/>
          </a:pr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800" dirty="0">
                <a:latin typeface="Courier New" charset="0"/>
              </a:rPr>
              <a:t>public String </a:t>
            </a:r>
            <a:r>
              <a:rPr lang="en-US" sz="1800" dirty="0" err="1">
                <a:latin typeface="Courier New" charset="0"/>
              </a:rPr>
              <a:t>toString</a:t>
            </a:r>
            <a:r>
              <a:rPr lang="en-US" sz="1800" dirty="0">
                <a:latin typeface="Courier New" charset="0"/>
              </a:rPr>
              <a:t>()</a:t>
            </a:r>
          </a:p>
          <a:p>
            <a:pPr>
              <a:defRPr/>
            </a:pPr>
            <a:r>
              <a:rPr lang="en-US" sz="1800" dirty="0">
                <a:latin typeface="Courier New" charset="0"/>
              </a:rPr>
              <a:t>{</a:t>
            </a:r>
          </a:p>
          <a:p>
            <a:pPr>
              <a:defRPr/>
            </a:pPr>
            <a:r>
              <a:rPr lang="en-US" sz="1800" dirty="0">
                <a:latin typeface="Courier New" charset="0"/>
              </a:rPr>
              <a:t>    String text = author + "\n"; </a:t>
            </a:r>
          </a:p>
          <a:p>
            <a:pPr>
              <a:defRPr/>
            </a:pPr>
            <a:r>
              <a:rPr lang="en-US" sz="1800" dirty="0">
                <a:latin typeface="Courier New" charset="0"/>
              </a:rPr>
              <a:t>    </a:t>
            </a:r>
          </a:p>
          <a:p>
            <a:pPr>
              <a:defRPr/>
            </a:pPr>
            <a:r>
              <a:rPr lang="en-US" sz="1800" dirty="0">
                <a:latin typeface="Courier New" charset="0"/>
              </a:rPr>
              <a:t>    if(likes &gt; 0) {</a:t>
            </a:r>
          </a:p>
          <a:p>
            <a:pPr>
              <a:defRPr/>
            </a:pPr>
            <a:r>
              <a:rPr lang="en-US" sz="1800" dirty="0">
                <a:latin typeface="Courier New" charset="0"/>
              </a:rPr>
              <a:t>        text += " - " + likes + " people like this.\n";</a:t>
            </a:r>
          </a:p>
          <a:p>
            <a:pPr>
              <a:defRPr/>
            </a:pPr>
            <a:r>
              <a:rPr lang="en-US" sz="1800" dirty="0">
                <a:latin typeface="Courier New" charset="0"/>
              </a:rPr>
              <a:t>    }</a:t>
            </a:r>
          </a:p>
          <a:p>
            <a:pPr>
              <a:defRPr/>
            </a:pPr>
            <a:r>
              <a:rPr lang="en-US" sz="1800" dirty="0">
                <a:latin typeface="Courier New" charset="0"/>
              </a:rPr>
              <a:t>    else {</a:t>
            </a:r>
          </a:p>
          <a:p>
            <a:pPr>
              <a:defRPr/>
            </a:pPr>
            <a:r>
              <a:rPr lang="en-US" sz="1800" dirty="0">
                <a:latin typeface="Courier New" charset="0"/>
              </a:rPr>
              <a:t>        text += "\n";</a:t>
            </a:r>
          </a:p>
          <a:p>
            <a:pPr>
              <a:defRPr/>
            </a:pPr>
            <a:r>
              <a:rPr lang="en-US" sz="1800" dirty="0">
                <a:latin typeface="Courier New" charset="0"/>
              </a:rPr>
              <a:t>    }</a:t>
            </a:r>
          </a:p>
          <a:p>
            <a:pPr>
              <a:defRPr/>
            </a:pPr>
            <a:r>
              <a:rPr lang="en-US" sz="1800" dirty="0">
                <a:latin typeface="Courier New" charset="0"/>
              </a:rPr>
              <a:t>    </a:t>
            </a:r>
          </a:p>
          <a:p>
            <a:pPr>
              <a:defRPr/>
            </a:pPr>
            <a:r>
              <a:rPr lang="en-US" sz="1800" dirty="0">
                <a:latin typeface="Courier New" charset="0"/>
              </a:rPr>
              <a:t>}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139021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ea typeface="+mj-ea"/>
                <a:cs typeface="+mj-cs"/>
              </a:rPr>
              <a:t>Overriding </a:t>
            </a:r>
            <a:r>
              <a:rPr lang="en-US" b="1" dirty="0">
                <a:solidFill>
                  <a:srgbClr val="00B050"/>
                </a:solidFill>
                <a:latin typeface="Courier New"/>
                <a:cs typeface="Courier New"/>
              </a:rPr>
              <a:t>toString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2457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>
                <a:ea typeface="+mn-ea"/>
                <a:cs typeface="+mn-cs"/>
              </a:rPr>
              <a:t>Explicit print methods can often be omitted from a class:</a:t>
            </a:r>
          </a:p>
          <a:p>
            <a:pPr marL="457200" lvl="1" indent="0">
              <a:buNone/>
              <a:defRPr/>
            </a:pPr>
            <a:r>
              <a:rPr lang="en-US" sz="2400" b="1" dirty="0">
                <a:latin typeface="Courier New" pitchFamily="-32" charset="0"/>
              </a:rPr>
              <a:t>	</a:t>
            </a:r>
            <a:r>
              <a:rPr lang="en-US" sz="2400" b="1" dirty="0" err="1">
                <a:latin typeface="Courier New" pitchFamily="-32" charset="0"/>
              </a:rPr>
              <a:t>System.out.println</a:t>
            </a:r>
            <a:r>
              <a:rPr lang="en-US" sz="2400" b="1" dirty="0">
                <a:latin typeface="Courier New" pitchFamily="-32" charset="0"/>
              </a:rPr>
              <a:t>(</a:t>
            </a:r>
            <a:r>
              <a:rPr lang="en-US" sz="2400" b="1" dirty="0" err="1">
                <a:latin typeface="Courier New" pitchFamily="-32" charset="0"/>
              </a:rPr>
              <a:t>post.toString</a:t>
            </a:r>
            <a:r>
              <a:rPr lang="en-US" sz="2400" b="1" dirty="0">
                <a:latin typeface="Courier New" pitchFamily="-32" charset="0"/>
              </a:rPr>
              <a:t>());</a:t>
            </a:r>
            <a:endParaRPr lang="en-US" sz="3600" b="1" dirty="0"/>
          </a:p>
          <a:p>
            <a:pPr eaLnBrk="1" hangingPunct="1">
              <a:defRPr/>
            </a:pPr>
            <a:endParaRPr lang="en-US" dirty="0">
              <a:ea typeface="+mn-ea"/>
              <a:cs typeface="+mn-cs"/>
            </a:endParaRPr>
          </a:p>
          <a:p>
            <a:pPr eaLnBrk="1" hangingPunct="1">
              <a:defRPr/>
            </a:pPr>
            <a:r>
              <a:rPr lang="en-US" dirty="0">
                <a:ea typeface="+mn-ea"/>
                <a:cs typeface="+mn-cs"/>
              </a:rPr>
              <a:t>Calls to </a:t>
            </a:r>
            <a:r>
              <a:rPr lang="en-US" b="1" dirty="0" err="1">
                <a:latin typeface="Courier New" pitchFamily="-32" charset="0"/>
                <a:ea typeface="+mn-ea"/>
                <a:cs typeface="+mn-cs"/>
              </a:rPr>
              <a:t>println</a:t>
            </a:r>
            <a:r>
              <a:rPr lang="en-US" dirty="0">
                <a:ea typeface="+mn-ea"/>
                <a:cs typeface="+mn-cs"/>
              </a:rPr>
              <a:t> with just an object automatically result in </a:t>
            </a:r>
            <a:r>
              <a:rPr lang="en-US" b="1" dirty="0" err="1">
                <a:latin typeface="Courier New" pitchFamily="-32" charset="0"/>
                <a:ea typeface="+mn-ea"/>
                <a:cs typeface="+mn-cs"/>
              </a:rPr>
              <a:t>toString</a:t>
            </a:r>
            <a:r>
              <a:rPr lang="en-US" dirty="0">
                <a:ea typeface="+mn-ea"/>
                <a:cs typeface="+mn-cs"/>
              </a:rPr>
              <a:t> being called:</a:t>
            </a:r>
          </a:p>
          <a:p>
            <a:pPr eaLnBrk="1" hangingPunct="1">
              <a:defRPr/>
            </a:pPr>
            <a:endParaRPr lang="en-US" dirty="0">
              <a:ea typeface="+mn-ea"/>
              <a:cs typeface="+mn-cs"/>
            </a:endParaRPr>
          </a:p>
          <a:p>
            <a:pPr eaLnBrk="1" hangingPunct="1">
              <a:defRPr/>
            </a:pPr>
            <a:r>
              <a:rPr lang="en-US" sz="2400" b="1" dirty="0" err="1">
                <a:latin typeface="Courier New" pitchFamily="-32" charset="0"/>
              </a:rPr>
              <a:t>System.out.println</a:t>
            </a:r>
            <a:r>
              <a:rPr lang="en-US" sz="2400" b="1" dirty="0">
                <a:latin typeface="Courier New" pitchFamily="-32" charset="0"/>
              </a:rPr>
              <a:t>(post);</a:t>
            </a:r>
            <a:endParaRPr lang="en-US" b="1" dirty="0">
              <a:ea typeface="+mn-ea"/>
            </a:endParaRPr>
          </a:p>
          <a:p>
            <a:pPr lvl="1" eaLnBrk="1" hangingPunct="1">
              <a:defRPr/>
            </a:pPr>
            <a:endParaRPr lang="en-US" sz="2000" dirty="0">
              <a:latin typeface="Courier New" pitchFamily="-32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620054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5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5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45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45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Topic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dirty="0"/>
              <a:t>Method polymorphism</a:t>
            </a:r>
          </a:p>
          <a:p>
            <a:pPr>
              <a:defRPr/>
            </a:pPr>
            <a:r>
              <a:rPr lang="en-US" dirty="0"/>
              <a:t>Static and dynamic type</a:t>
            </a:r>
          </a:p>
          <a:p>
            <a:pPr>
              <a:defRPr/>
            </a:pPr>
            <a:r>
              <a:rPr lang="en-US" dirty="0"/>
              <a:t>Overriding</a:t>
            </a:r>
          </a:p>
          <a:p>
            <a:pPr>
              <a:defRPr/>
            </a:pPr>
            <a:r>
              <a:rPr lang="en-US" dirty="0"/>
              <a:t>Dynamic method lookup</a:t>
            </a:r>
          </a:p>
          <a:p>
            <a:pPr>
              <a:defRPr/>
            </a:pPr>
            <a:r>
              <a:rPr lang="en-US" dirty="0"/>
              <a:t>Protected access</a:t>
            </a:r>
          </a:p>
          <a:p>
            <a:pPr marL="0" indent="0">
              <a:buNone/>
            </a:pPr>
            <a:endParaRPr lang="en-IE" dirty="0"/>
          </a:p>
          <a:p>
            <a:endParaRPr lang="en-IE" dirty="0"/>
          </a:p>
        </p:txBody>
      </p:sp>
      <p:sp>
        <p:nvSpPr>
          <p:cNvPr id="4" name="Rectangle 3"/>
          <p:cNvSpPr/>
          <p:nvPr/>
        </p:nvSpPr>
        <p:spPr>
          <a:xfrm>
            <a:off x="609600" y="3962400"/>
            <a:ext cx="6096000" cy="5334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9196038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>
                <a:ea typeface="+mj-ea"/>
                <a:cs typeface="+mj-cs"/>
              </a:rPr>
              <a:t>Protected access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z="2800" i="1" dirty="0">
                <a:solidFill>
                  <a:srgbClr val="FF0000"/>
                </a:solidFill>
              </a:rPr>
              <a:t>Private</a:t>
            </a:r>
            <a:r>
              <a:rPr lang="en-US" sz="2800" dirty="0"/>
              <a:t> access in the superclass may be too restrictive for a subclass.</a:t>
            </a:r>
          </a:p>
          <a:p>
            <a:pPr eaLnBrk="1" hangingPunct="1">
              <a:defRPr/>
            </a:pPr>
            <a:endParaRPr lang="en-US" sz="2800" dirty="0"/>
          </a:p>
          <a:p>
            <a:pPr eaLnBrk="1" hangingPunct="1">
              <a:defRPr/>
            </a:pPr>
            <a:r>
              <a:rPr lang="en-US" sz="2800" dirty="0"/>
              <a:t>The closer inheritance relationship is supported by </a:t>
            </a:r>
            <a:r>
              <a:rPr lang="en-US" sz="2800" i="1" dirty="0">
                <a:solidFill>
                  <a:srgbClr val="FF0000"/>
                </a:solidFill>
              </a:rPr>
              <a:t>protected</a:t>
            </a:r>
            <a:r>
              <a:rPr lang="en-US" sz="2800" i="1" dirty="0"/>
              <a:t> </a:t>
            </a:r>
            <a:r>
              <a:rPr lang="en-US" sz="2800" dirty="0"/>
              <a:t>access.</a:t>
            </a:r>
          </a:p>
          <a:p>
            <a:pPr eaLnBrk="1" hangingPunct="1">
              <a:defRPr/>
            </a:pPr>
            <a:endParaRPr lang="en-US" sz="2800" dirty="0"/>
          </a:p>
          <a:p>
            <a:pPr eaLnBrk="1" hangingPunct="1">
              <a:defRPr/>
            </a:pPr>
            <a:r>
              <a:rPr lang="en-US" sz="2800" i="1" dirty="0">
                <a:solidFill>
                  <a:srgbClr val="FF0000"/>
                </a:solidFill>
              </a:rPr>
              <a:t>Protected</a:t>
            </a:r>
            <a:r>
              <a:rPr lang="en-US" sz="2800" dirty="0"/>
              <a:t> access is more restricted than </a:t>
            </a:r>
            <a:r>
              <a:rPr lang="en-US" sz="2800" i="1" dirty="0">
                <a:solidFill>
                  <a:srgbClr val="FF0000"/>
                </a:solidFill>
              </a:rPr>
              <a:t>public</a:t>
            </a:r>
            <a:r>
              <a:rPr lang="en-US" sz="2800" dirty="0"/>
              <a:t> access.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1012025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>
                <a:ea typeface="+mj-ea"/>
                <a:cs typeface="+mj-cs"/>
              </a:rPr>
              <a:t>Access levels</a:t>
            </a:r>
          </a:p>
        </p:txBody>
      </p:sp>
      <p:pic>
        <p:nvPicPr>
          <p:cNvPr id="28676" name="Picture 7" descr="fig9-16-colou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1651000"/>
            <a:ext cx="7340600" cy="444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06087331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>
                <a:ea typeface="+mj-ea"/>
                <a:cs typeface="+mj-cs"/>
              </a:rPr>
              <a:t>Review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eaLnBrk="1" hangingPunct="1">
              <a:lnSpc>
                <a:spcPct val="90000"/>
              </a:lnSpc>
              <a:defRPr/>
            </a:pPr>
            <a:r>
              <a:rPr lang="en-US" sz="2800" dirty="0"/>
              <a:t>The declared type of a variable is its static type.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sz="2400" dirty="0"/>
              <a:t>Compilers check static types.</a:t>
            </a:r>
          </a:p>
          <a:p>
            <a:pPr eaLnBrk="1" hangingPunct="1">
              <a:lnSpc>
                <a:spcPct val="90000"/>
              </a:lnSpc>
              <a:defRPr/>
            </a:pPr>
            <a:endParaRPr lang="en-US" sz="2800" dirty="0"/>
          </a:p>
          <a:p>
            <a:pPr eaLnBrk="1" hangingPunct="1">
              <a:lnSpc>
                <a:spcPct val="90000"/>
              </a:lnSpc>
              <a:defRPr/>
            </a:pPr>
            <a:r>
              <a:rPr lang="en-US" sz="2800" dirty="0"/>
              <a:t>The type of an object is its dynamic type.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sz="2400" dirty="0"/>
              <a:t>Dynamic types are used at runtime.</a:t>
            </a:r>
          </a:p>
          <a:p>
            <a:pPr eaLnBrk="1" hangingPunct="1">
              <a:lnSpc>
                <a:spcPct val="90000"/>
              </a:lnSpc>
              <a:defRPr/>
            </a:pPr>
            <a:endParaRPr lang="en-US" sz="2800" dirty="0"/>
          </a:p>
          <a:p>
            <a:pPr eaLnBrk="1" hangingPunct="1">
              <a:lnSpc>
                <a:spcPct val="90000"/>
              </a:lnSpc>
              <a:defRPr/>
            </a:pPr>
            <a:r>
              <a:rPr lang="en-US" sz="2800" dirty="0"/>
              <a:t>Methods may be overridden in a subclass.</a:t>
            </a:r>
          </a:p>
          <a:p>
            <a:pPr eaLnBrk="1" hangingPunct="1">
              <a:lnSpc>
                <a:spcPct val="90000"/>
              </a:lnSpc>
              <a:defRPr/>
            </a:pPr>
            <a:endParaRPr lang="en-US" sz="2800" dirty="0"/>
          </a:p>
          <a:p>
            <a:pPr eaLnBrk="1" hangingPunct="1">
              <a:lnSpc>
                <a:spcPct val="90000"/>
              </a:lnSpc>
              <a:defRPr/>
            </a:pPr>
            <a:r>
              <a:rPr lang="en-US" sz="2800" dirty="0"/>
              <a:t>Method lookup starts with the dynamic type.</a:t>
            </a:r>
          </a:p>
          <a:p>
            <a:pPr eaLnBrk="1" hangingPunct="1">
              <a:lnSpc>
                <a:spcPct val="90000"/>
              </a:lnSpc>
              <a:defRPr/>
            </a:pPr>
            <a:endParaRPr lang="en-US" sz="2800" dirty="0"/>
          </a:p>
          <a:p>
            <a:pPr eaLnBrk="1" hangingPunct="1">
              <a:lnSpc>
                <a:spcPct val="90000"/>
              </a:lnSpc>
              <a:defRPr/>
            </a:pPr>
            <a:r>
              <a:rPr lang="en-US" sz="2800" dirty="0"/>
              <a:t>Protected access supports inheritance.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021978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76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76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76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76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76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76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765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765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1028700" y="1967266"/>
            <a:ext cx="2628900" cy="2547257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b="1" kern="1200" dirty="0">
                <a:ln w="11430"/>
                <a:solidFill>
                  <a:srgbClr val="FFFFFF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+mj-lt"/>
                <a:ea typeface="+mj-ea"/>
                <a:cs typeface="+mj-cs"/>
              </a:rPr>
              <a:t>Any Questions?</a:t>
            </a:r>
          </a:p>
        </p:txBody>
      </p:sp>
      <p:pic>
        <p:nvPicPr>
          <p:cNvPr id="3" name="Picture 2" descr="A green question mark in a circle&#10;&#10;AI-generated content may be incorrect.">
            <a:extLst>
              <a:ext uri="{FF2B5EF4-FFF2-40B4-BE49-F238E27FC236}">
                <a16:creationId xmlns:a16="http://schemas.microsoft.com/office/drawing/2014/main" id="{41B1677B-B259-9710-8AB0-D650FE42A9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3296" y="643466"/>
            <a:ext cx="5568739" cy="5568739"/>
          </a:xfrm>
          <a:prstGeom prst="rect">
            <a:avLst/>
          </a:prstGeom>
          <a:noFill/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15038132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COUNT" val="34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1426</Words>
  <Application>Microsoft Office PowerPoint</Application>
  <PresentationFormat>Widescreen</PresentationFormat>
  <Paragraphs>236</Paragraphs>
  <Slides>36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3" baseType="lpstr">
      <vt:lpstr>ＭＳ Ｐゴシック</vt:lpstr>
      <vt:lpstr>Arial</vt:lpstr>
      <vt:lpstr>Calibri</vt:lpstr>
      <vt:lpstr>Courier New</vt:lpstr>
      <vt:lpstr>Times New Roman</vt:lpstr>
      <vt:lpstr>Trebuchet MS</vt:lpstr>
      <vt:lpstr>Office Theme</vt:lpstr>
      <vt:lpstr>Inheritance</vt:lpstr>
      <vt:lpstr>Lectures and Labs</vt:lpstr>
      <vt:lpstr>Topic List</vt:lpstr>
      <vt:lpstr>Social Network V5.0 – Inheritance Hierarchy</vt:lpstr>
      <vt:lpstr>Testing the display method…</vt:lpstr>
      <vt:lpstr>Testing the display method…</vt:lpstr>
      <vt:lpstr>The problem</vt:lpstr>
      <vt:lpstr>Attempting to solve the problem?</vt:lpstr>
      <vt:lpstr>Topic List</vt:lpstr>
      <vt:lpstr>Static type and dynamic type</vt:lpstr>
      <vt:lpstr>Static and dynamic type</vt:lpstr>
      <vt:lpstr>Static and dynamic type</vt:lpstr>
      <vt:lpstr>Recall our attempt to solve this problem…</vt:lpstr>
      <vt:lpstr>Recall our attempt to solve this problem…</vt:lpstr>
      <vt:lpstr>Topic List</vt:lpstr>
      <vt:lpstr>Overriding - the solution to our problem</vt:lpstr>
      <vt:lpstr>Overriding</vt:lpstr>
      <vt:lpstr>Topic List</vt:lpstr>
      <vt:lpstr>Dynamic method lookup</vt:lpstr>
      <vt:lpstr>Dynamic method lookup</vt:lpstr>
      <vt:lpstr>Dynamic method lookup summary</vt:lpstr>
      <vt:lpstr>Super call in methods</vt:lpstr>
      <vt:lpstr>Calling an overridden method</vt:lpstr>
      <vt:lpstr>Method polymorphism</vt:lpstr>
      <vt:lpstr>The instanceof operator</vt:lpstr>
      <vt:lpstr>Recall the Object class…</vt:lpstr>
      <vt:lpstr>Recall the Object class…</vt:lpstr>
      <vt:lpstr>PowerPoint Presentation</vt:lpstr>
      <vt:lpstr>PowerPoint Presentation</vt:lpstr>
      <vt:lpstr>Overriding toString in Post</vt:lpstr>
      <vt:lpstr>Overriding toString</vt:lpstr>
      <vt:lpstr>Topic List</vt:lpstr>
      <vt:lpstr>Protected access</vt:lpstr>
      <vt:lpstr>Access levels</vt:lpstr>
      <vt:lpstr>Review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Polymorphism</dc:title>
  <dc:creator>Siobhan Drohan</dc:creator>
  <cp:lastModifiedBy>Siobhan Roche</cp:lastModifiedBy>
  <cp:revision>124</cp:revision>
  <dcterms:created xsi:type="dcterms:W3CDTF">2006-08-16T00:00:00Z</dcterms:created>
  <dcterms:modified xsi:type="dcterms:W3CDTF">2026-03-16T14:53:41Z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5EBDA251-025D-4125-88CD-0753CD41A09B</vt:lpwstr>
  </property>
  <property fmtid="{D5CDD505-2E9C-101B-9397-08002B2CF9AE}" pid="3" name="ArticulatePath">
    <vt:lpwstr>b-prog-fund-2-exploring-polymorphism</vt:lpwstr>
  </property>
</Properties>
</file>