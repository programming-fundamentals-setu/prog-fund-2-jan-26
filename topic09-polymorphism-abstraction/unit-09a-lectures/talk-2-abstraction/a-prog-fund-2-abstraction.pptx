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96" r:id="rId3"/>
    <p:sldId id="448" r:id="rId4"/>
    <p:sldId id="526" r:id="rId5"/>
    <p:sldId id="461" r:id="rId6"/>
    <p:sldId id="449" r:id="rId7"/>
    <p:sldId id="450" r:id="rId8"/>
    <p:sldId id="527" r:id="rId9"/>
    <p:sldId id="513" r:id="rId10"/>
    <p:sldId id="514" r:id="rId11"/>
    <p:sldId id="451" r:id="rId12"/>
    <p:sldId id="528" r:id="rId13"/>
    <p:sldId id="452" r:id="rId14"/>
    <p:sldId id="531" r:id="rId15"/>
    <p:sldId id="454" r:id="rId16"/>
    <p:sldId id="455" r:id="rId17"/>
    <p:sldId id="529" r:id="rId18"/>
    <p:sldId id="532" r:id="rId19"/>
    <p:sldId id="533" r:id="rId20"/>
    <p:sldId id="535" r:id="rId21"/>
    <p:sldId id="536" r:id="rId22"/>
    <p:sldId id="537" r:id="rId23"/>
    <p:sldId id="538" r:id="rId24"/>
    <p:sldId id="525" r:id="rId25"/>
    <p:sldId id="457" r:id="rId26"/>
    <p:sldId id="539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56" autoAdjust="0"/>
    <p:restoredTop sz="94715"/>
  </p:normalViewPr>
  <p:slideViewPr>
    <p:cSldViewPr>
      <p:cViewPr varScale="1">
        <p:scale>
          <a:sx n="64" d="100"/>
          <a:sy n="64" d="100"/>
        </p:scale>
        <p:origin x="91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16/03/2026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F9E31F57-A5CE-47F3-9214-AE170602448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62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46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96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Abstraction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Classes and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6BA03-F47B-407E-200E-98FF584FA268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671B1E9-17BE-81EB-EE55-DB35CDDCF3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4000" dirty="0"/>
              <a:t>Abstract vs Concrete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Abstract Methods and Classes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V7.0 (RECAP)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V8.0 (with abstraction)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1"/>
            <a:ext cx="60960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vs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</a:rPr>
              <a:t>Abstract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Implementation delayed</a:t>
            </a:r>
          </a:p>
          <a:p>
            <a:pPr marL="457200" lvl="1" indent="0">
              <a:buNone/>
              <a:defRPr/>
            </a:pPr>
            <a:r>
              <a:rPr lang="en-US" dirty="0"/>
              <a:t>		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abstract method has no code</a:t>
            </a:r>
          </a:p>
          <a:p>
            <a:pPr marL="457200" lvl="1" indent="0">
              <a:buNone/>
              <a:defRPr/>
            </a:pPr>
            <a:r>
              <a:rPr lang="en-US" dirty="0">
                <a:ea typeface="+mn-ea"/>
              </a:rPr>
              <a:t>	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ea typeface="+mn-ea"/>
              </a:rPr>
              <a:t> cannot instantiate an abstract class (it has, by definition 		“unfinished” methods)</a:t>
            </a:r>
          </a:p>
          <a:p>
            <a:pPr marL="514350" indent="-457200">
              <a:defRPr/>
            </a:pPr>
            <a:endParaRPr lang="en-US" dirty="0">
              <a:ea typeface="+mn-ea"/>
            </a:endParaRPr>
          </a:p>
          <a:p>
            <a:pPr marL="514350" indent="-457200">
              <a:defRPr/>
            </a:pPr>
            <a:r>
              <a:rPr lang="en-US" dirty="0">
                <a:ea typeface="+mn-ea"/>
              </a:rPr>
              <a:t>Concrete 	</a:t>
            </a:r>
          </a:p>
          <a:p>
            <a:pPr marL="914400" lvl="1" indent="-457200">
              <a:defRPr/>
            </a:pPr>
            <a:r>
              <a:rPr lang="en-US" dirty="0">
                <a:ea typeface="+mn-ea"/>
              </a:rPr>
              <a:t>Ready to go.</a:t>
            </a:r>
          </a:p>
          <a:p>
            <a:pPr marL="914400" lvl="1" indent="-457200">
              <a:defRPr/>
            </a:pPr>
            <a:r>
              <a:rPr lang="en-US" dirty="0">
                <a:ea typeface="+mn-ea"/>
              </a:rPr>
              <a:t>Everything up to now has been concrete.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39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4000" dirty="0"/>
              <a:t>Abstract vs Concrete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Abstract Methods and Classes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V7.0 (RECAP)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V8.0 (with abstraction)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57200" y="2751221"/>
            <a:ext cx="6629400" cy="677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20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Recap: Inheritance hierarchies</a:t>
            </a:r>
          </a:p>
        </p:txBody>
      </p:sp>
      <p:pic>
        <p:nvPicPr>
          <p:cNvPr id="16388" name="Picture 5" descr="fig8-9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4000"/>
            <a:ext cx="8064500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934200" y="5127416"/>
            <a:ext cx="44958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However, we have no pets who are an ‘Animal’, they are either a Dog, a Cat, a Chicken, etc.  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F9ACCB-78C2-4C51-90F7-A6114390C72C}"/>
              </a:ext>
            </a:extLst>
          </p:cNvPr>
          <p:cNvSpPr/>
          <p:nvPr/>
        </p:nvSpPr>
        <p:spPr>
          <a:xfrm>
            <a:off x="8077200" y="530255"/>
            <a:ext cx="2667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“is a” relationship!</a:t>
            </a:r>
            <a:endParaRPr lang="en-VI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807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Methods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Abstract methods have </a:t>
            </a:r>
            <a:r>
              <a:rPr lang="en-US" altLang="en-US" sz="2800" dirty="0">
                <a:latin typeface="Courier New" pitchFamily="49" charset="0"/>
              </a:rPr>
              <a:t>abstract</a:t>
            </a:r>
            <a:r>
              <a:rPr lang="en-US" altLang="en-US" sz="2800" dirty="0"/>
              <a:t> in the signature.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800" dirty="0"/>
              <a:t>Abstract methods have no body.</a:t>
            </a:r>
          </a:p>
          <a:p>
            <a:pPr lvl="1" eaLnBrk="1" hangingPunct="1"/>
            <a:r>
              <a:rPr lang="en-US" altLang="en-US" sz="2400" dirty="0"/>
              <a:t>‘We promise to write this later. Every (concrete) subclass of this class will have this implemented in the subclass.’</a:t>
            </a:r>
          </a:p>
          <a:p>
            <a:pPr lvl="1" eaLnBrk="1" hangingPunct="1"/>
            <a:endParaRPr lang="en-US" altLang="en-US" sz="2400" dirty="0"/>
          </a:p>
          <a:p>
            <a:pPr>
              <a:defRPr/>
            </a:pPr>
            <a:r>
              <a:rPr lang="en-US" sz="2800" dirty="0"/>
              <a:t>Abstract methods make the class abstract.</a:t>
            </a:r>
          </a:p>
          <a:p>
            <a:pPr lvl="1">
              <a:defRPr/>
            </a:pPr>
            <a:r>
              <a:rPr lang="en-US" sz="2400" dirty="0"/>
              <a:t>Think about why this is?</a:t>
            </a:r>
          </a:p>
          <a:p>
            <a:pPr marL="457200" lvl="1" indent="0">
              <a:buNone/>
            </a:pPr>
            <a:endParaRPr lang="en-US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4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An abstract class is a class that contains </a:t>
            </a:r>
            <a:r>
              <a:rPr lang="en-US" sz="2800" u="sng" dirty="0"/>
              <a:t>zero or more</a:t>
            </a:r>
            <a:r>
              <a:rPr lang="en-US" sz="2800" dirty="0"/>
              <a:t> abstract methods.</a:t>
            </a:r>
          </a:p>
          <a:p>
            <a:pPr eaLnBrk="1" hangingPunct="1">
              <a:defRPr/>
            </a:pPr>
            <a:r>
              <a:rPr lang="en-US" sz="2800" dirty="0"/>
              <a:t>Any class that has an abstract method </a:t>
            </a:r>
            <a:r>
              <a:rPr lang="en-US" sz="2800" u="sng" dirty="0"/>
              <a:t>must</a:t>
            </a:r>
            <a:r>
              <a:rPr lang="en-US" sz="2800" dirty="0"/>
              <a:t> be declared abstract.</a:t>
            </a:r>
          </a:p>
          <a:p>
            <a:pPr eaLnBrk="1" hangingPunct="1">
              <a:defRPr/>
            </a:pPr>
            <a:r>
              <a:rPr lang="en-US" sz="2800" dirty="0"/>
              <a:t>Abstract classes cannot be instantiated.</a:t>
            </a:r>
          </a:p>
          <a:p>
            <a:pPr eaLnBrk="1" hangingPunct="1">
              <a:defRPr/>
            </a:pPr>
            <a:r>
              <a:rPr lang="en-US" sz="2800" dirty="0"/>
              <a:t>Abstract classes function as a “base” for subclasses.</a:t>
            </a:r>
          </a:p>
          <a:p>
            <a:pPr marL="0" indent="0">
              <a:buNone/>
              <a:defRPr/>
            </a:pPr>
            <a:r>
              <a:rPr lang="en-US" sz="2800" dirty="0"/>
              <a:t>	</a:t>
            </a:r>
            <a:r>
              <a:rPr lang="en-US" sz="2800" dirty="0">
                <a:sym typeface="Wingdings" panose="05000000000000000000" pitchFamily="2" charset="2"/>
              </a:rPr>
              <a:t> abstract classes can be </a:t>
            </a:r>
            <a:r>
              <a:rPr lang="en-US" sz="2800" dirty="0" err="1">
                <a:sym typeface="Wingdings" panose="05000000000000000000" pitchFamily="2" charset="2"/>
              </a:rPr>
              <a:t>subclassed</a:t>
            </a:r>
            <a:r>
              <a:rPr lang="en-US" sz="2800" dirty="0">
                <a:sym typeface="Wingdings" panose="05000000000000000000" pitchFamily="2" charset="2"/>
              </a:rPr>
              <a:t>.</a:t>
            </a: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Concrete subclasses complete the implementation.</a:t>
            </a:r>
          </a:p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031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4000" dirty="0"/>
              <a:t>Abstract vs Concrete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Abstract Methods and Classes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Network-V7 (RECAP)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Network-V8 (with abstraction)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4038600"/>
            <a:ext cx="60960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30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C58E5D-F8CB-EF4C-A40B-9D7F01ABB822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48703" y="5151963"/>
            <a:ext cx="1036856" cy="721804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RECAP: Social Network V7.0 – Deeper Hierarchy</a:t>
            </a:r>
            <a:endParaRPr lang="en-US" b="1" dirty="0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609600" y="1656629"/>
            <a:ext cx="1840523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Driver</a:t>
            </a:r>
            <a:endParaRPr lang="en-GB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3364523" y="1647248"/>
            <a:ext cx="1830811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NewsFeed</a:t>
            </a:r>
            <a:r>
              <a:rPr lang="en-GB" sz="24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2450123" y="1990148"/>
            <a:ext cx="914400" cy="938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4038600" y="5873767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MessagePost</a:t>
            </a:r>
            <a:r>
              <a:rPr lang="en-GB" sz="24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184683" y="58849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PhotoPost</a:t>
            </a:r>
            <a:endParaRPr lang="en-GB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6820176" y="2563833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5263210" y="1349766"/>
            <a:ext cx="573685" cy="25402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cxnSpLocks/>
            <a:stCxn id="20" idx="0"/>
            <a:endCxn id="24" idx="3"/>
          </p:cNvCxnSpPr>
          <p:nvPr/>
        </p:nvCxnSpPr>
        <p:spPr>
          <a:xfrm flipV="1">
            <a:off x="6246768" y="3387883"/>
            <a:ext cx="1432566" cy="1031717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26" idx="0"/>
          </p:cNvCxnSpPr>
          <p:nvPr/>
        </p:nvCxnSpPr>
        <p:spPr>
          <a:xfrm flipH="1" flipV="1">
            <a:off x="6380103" y="5137937"/>
            <a:ext cx="814683" cy="746963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2859348">
            <a:off x="7614599" y="3248564"/>
            <a:ext cx="252526" cy="166492"/>
          </a:xfrm>
          <a:prstGeom prst="triangl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8796891">
            <a:off x="6314443" y="5111763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3A3B5-D8D2-411B-BCDA-CFCBE558C771}"/>
              </a:ext>
            </a:extLst>
          </p:cNvPr>
          <p:cNvSpPr/>
          <p:nvPr/>
        </p:nvSpPr>
        <p:spPr>
          <a:xfrm>
            <a:off x="8266973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</a:rPr>
              <a:t>EventPost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1FF7E4-B531-40D4-BCFC-FAFCC4A77F67}"/>
              </a:ext>
            </a:extLst>
          </p:cNvPr>
          <p:cNvCxnSpPr>
            <a:cxnSpLocks/>
            <a:stCxn id="31" idx="0"/>
            <a:endCxn id="34" idx="0"/>
          </p:cNvCxnSpPr>
          <p:nvPr/>
        </p:nvCxnSpPr>
        <p:spPr>
          <a:xfrm flipH="1" flipV="1">
            <a:off x="7906840" y="3279060"/>
            <a:ext cx="1370236" cy="114054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884FE89-DAC3-42D2-ABF8-CCA3433A7D8E}"/>
              </a:ext>
            </a:extLst>
          </p:cNvPr>
          <p:cNvSpPr/>
          <p:nvPr/>
        </p:nvSpPr>
        <p:spPr>
          <a:xfrm rot="18439632">
            <a:off x="7846773" y="3246292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0AB90F-0263-B948-AC03-4237E4C12EA7}"/>
              </a:ext>
            </a:extLst>
          </p:cNvPr>
          <p:cNvSpPr/>
          <p:nvPr/>
        </p:nvSpPr>
        <p:spPr>
          <a:xfrm>
            <a:off x="5236665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rgbClr val="C00000"/>
                </a:solidFill>
              </a:rPr>
              <a:t>LikedPost</a:t>
            </a:r>
            <a:r>
              <a:rPr lang="en-GB" sz="24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5" name="Isosceles Triangle 25">
            <a:extLst>
              <a:ext uri="{FF2B5EF4-FFF2-40B4-BE49-F238E27FC236}">
                <a16:creationId xmlns:a16="http://schemas.microsoft.com/office/drawing/2014/main" id="{DC1A52B0-28DB-C44E-9ACB-1A870595C3D6}"/>
              </a:ext>
            </a:extLst>
          </p:cNvPr>
          <p:cNvSpPr/>
          <p:nvPr/>
        </p:nvSpPr>
        <p:spPr>
          <a:xfrm rot="3151146">
            <a:off x="5941324" y="5107635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055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RECAP: Social Network V7.0 – Deeper Hierarchy</a:t>
            </a:r>
            <a:endParaRPr lang="en-US" b="1" dirty="0">
              <a:ea typeface="+mj-ea"/>
              <a:cs typeface="+mj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8DD0298-A2CF-B044-A154-1B8091EB9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1600200"/>
            <a:ext cx="6781800" cy="4812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79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ea typeface="+mj-ea"/>
              </a:rPr>
              <a:t>RECAP: </a:t>
            </a:r>
            <a:r>
              <a:rPr lang="en-US" sz="4000" dirty="0"/>
              <a:t>Social Network V7.0 – Driver</a:t>
            </a:r>
            <a:endParaRPr lang="en-US" sz="4000" dirty="0"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88698" y="2248396"/>
            <a:ext cx="2814484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Our news feed displays </a:t>
            </a:r>
            <a:r>
              <a:rPr lang="en-IE" sz="2400" dirty="0" err="1">
                <a:solidFill>
                  <a:srgbClr val="00B050"/>
                </a:solidFill>
              </a:rPr>
              <a:t>MessagePost</a:t>
            </a:r>
            <a:r>
              <a:rPr lang="en-IE" sz="2400" dirty="0"/>
              <a:t>, </a:t>
            </a:r>
            <a:r>
              <a:rPr lang="en-IE" sz="2400" dirty="0" err="1">
                <a:solidFill>
                  <a:srgbClr val="00B050"/>
                </a:solidFill>
              </a:rPr>
              <a:t>PhotoPost</a:t>
            </a:r>
            <a:r>
              <a:rPr lang="en-IE" sz="2400" dirty="0"/>
              <a:t> and </a:t>
            </a:r>
            <a:r>
              <a:rPr lang="en-IE" sz="2400" dirty="0" err="1">
                <a:solidFill>
                  <a:srgbClr val="00B050"/>
                </a:solidFill>
              </a:rPr>
              <a:t>EventPost</a:t>
            </a:r>
            <a:r>
              <a:rPr lang="en-IE" sz="2400" dirty="0"/>
              <a:t> objects.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  We never create a </a:t>
            </a:r>
            <a:r>
              <a:rPr lang="en-IE" sz="2400" dirty="0">
                <a:solidFill>
                  <a:srgbClr val="00B050"/>
                </a:solidFill>
              </a:rPr>
              <a:t>Post</a:t>
            </a:r>
            <a:r>
              <a:rPr lang="en-IE" sz="2400" dirty="0"/>
              <a:t> object but our </a:t>
            </a:r>
            <a:r>
              <a:rPr lang="en-IE" sz="2400" dirty="0" err="1"/>
              <a:t>ArrayList</a:t>
            </a:r>
            <a:r>
              <a:rPr lang="en-IE" sz="2400" dirty="0"/>
              <a:t> is of Post.</a:t>
            </a:r>
          </a:p>
        </p:txBody>
      </p:sp>
      <p:pic>
        <p:nvPicPr>
          <p:cNvPr id="7" name="Picture 2" descr="V7 Menu">
            <a:extLst>
              <a:ext uri="{FF2B5EF4-FFF2-40B4-BE49-F238E27FC236}">
                <a16:creationId xmlns:a16="http://schemas.microsoft.com/office/drawing/2014/main" id="{C5BBEDE7-74CA-4D67-B281-BD15E934C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3965178" cy="4712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DC21B1-0C4C-4B93-8E3C-3B81839FB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317" y="3956556"/>
            <a:ext cx="3516841" cy="2267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B36996B3-A698-405D-8A3C-33D2B62C5AAE}"/>
              </a:ext>
            </a:extLst>
          </p:cNvPr>
          <p:cNvSpPr/>
          <p:nvPr/>
        </p:nvSpPr>
        <p:spPr>
          <a:xfrm rot="1143041">
            <a:off x="2803371" y="3893586"/>
            <a:ext cx="1968705" cy="332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6FBA4-9E7E-4C04-B884-D4CAEB9FF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145" y="1759878"/>
            <a:ext cx="3178118" cy="1662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307CFCB3-D96E-46F1-A29D-62439EE94E10}"/>
              </a:ext>
            </a:extLst>
          </p:cNvPr>
          <p:cNvSpPr/>
          <p:nvPr/>
        </p:nvSpPr>
        <p:spPr>
          <a:xfrm>
            <a:off x="2942290" y="2438400"/>
            <a:ext cx="1968705" cy="332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200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4000" dirty="0"/>
              <a:t>Abstract vs Concrete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Abstract Methods and Classes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V7.0 (RECAP)</a:t>
            </a:r>
          </a:p>
          <a:p>
            <a:pPr>
              <a:defRPr/>
            </a:pPr>
            <a:endParaRPr lang="en-US" sz="4000" dirty="0"/>
          </a:p>
          <a:p>
            <a:pPr>
              <a:defRPr/>
            </a:pPr>
            <a:r>
              <a:rPr lang="en-US" sz="4000" dirty="0"/>
              <a:t>Social Network V8.0 (with abstraction)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57200" y="5257799"/>
            <a:ext cx="8305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04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Social Network V8.0 (</a:t>
            </a:r>
            <a:r>
              <a:rPr lang="en-US" dirty="0">
                <a:ea typeface="+mj-ea"/>
              </a:rPr>
              <a:t>Post as an abstract 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We can never create a ‘post’ object</a:t>
            </a:r>
          </a:p>
          <a:p>
            <a:pPr lvl="1" eaLnBrk="1" hangingPunct="1"/>
            <a:r>
              <a:rPr lang="en-US" altLang="en-US" dirty="0"/>
              <a:t>We cannot instantiate one.</a:t>
            </a:r>
          </a:p>
          <a:p>
            <a:pPr marL="914400" lvl="2" indent="0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In Post, we define fields, methods that can be used later for all subclasses (using super)</a:t>
            </a:r>
          </a:p>
          <a:p>
            <a:pPr lvl="1" eaLnBrk="1" hangingPunct="1"/>
            <a:r>
              <a:rPr lang="en-US" altLang="en-US" dirty="0"/>
              <a:t>e.g. display(), constructor..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05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C58E5D-F8CB-EF4C-A40B-9D7F01ABB822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48703" y="5151963"/>
            <a:ext cx="1036856" cy="721804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Social Network V8.0 – Post and </a:t>
            </a:r>
            <a:r>
              <a:rPr lang="en-US" dirty="0" err="1"/>
              <a:t>LikedPost</a:t>
            </a:r>
            <a:r>
              <a:rPr lang="en-US" dirty="0"/>
              <a:t> Abstract</a:t>
            </a:r>
            <a:endParaRPr lang="en-US" b="1" dirty="0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609600" y="1656629"/>
            <a:ext cx="1840523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Driver</a:t>
            </a:r>
            <a:endParaRPr lang="en-GB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3364523" y="1647248"/>
            <a:ext cx="1830811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NewsFeed</a:t>
            </a:r>
            <a:r>
              <a:rPr lang="en-GB" sz="24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2450123" y="1990148"/>
            <a:ext cx="914400" cy="938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4038600" y="5873767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MessagePost</a:t>
            </a:r>
            <a:r>
              <a:rPr lang="en-GB" sz="24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184683" y="58849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PhotoPost</a:t>
            </a:r>
            <a:endParaRPr lang="en-GB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6820176" y="2563833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5263210" y="1349766"/>
            <a:ext cx="573685" cy="25402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cxnSpLocks/>
            <a:stCxn id="20" idx="0"/>
            <a:endCxn id="24" idx="3"/>
          </p:cNvCxnSpPr>
          <p:nvPr/>
        </p:nvCxnSpPr>
        <p:spPr>
          <a:xfrm flipV="1">
            <a:off x="6246768" y="3387883"/>
            <a:ext cx="1432566" cy="1031717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26" idx="0"/>
          </p:cNvCxnSpPr>
          <p:nvPr/>
        </p:nvCxnSpPr>
        <p:spPr>
          <a:xfrm flipH="1" flipV="1">
            <a:off x="6380103" y="5137937"/>
            <a:ext cx="814683" cy="746963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2859348">
            <a:off x="7614599" y="3248564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8796891">
            <a:off x="6314443" y="5111763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3A3B5-D8D2-411B-BCDA-CFCBE558C771}"/>
              </a:ext>
            </a:extLst>
          </p:cNvPr>
          <p:cNvSpPr/>
          <p:nvPr/>
        </p:nvSpPr>
        <p:spPr>
          <a:xfrm>
            <a:off x="8266973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</a:rPr>
              <a:t>EventPost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1FF7E4-B531-40D4-BCFC-FAFCC4A77F67}"/>
              </a:ext>
            </a:extLst>
          </p:cNvPr>
          <p:cNvCxnSpPr>
            <a:cxnSpLocks/>
            <a:stCxn id="31" idx="0"/>
            <a:endCxn id="34" idx="0"/>
          </p:cNvCxnSpPr>
          <p:nvPr/>
        </p:nvCxnSpPr>
        <p:spPr>
          <a:xfrm flipH="1" flipV="1">
            <a:off x="7906840" y="3279060"/>
            <a:ext cx="1370236" cy="114054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884FE89-DAC3-42D2-ABF8-CCA3433A7D8E}"/>
              </a:ext>
            </a:extLst>
          </p:cNvPr>
          <p:cNvSpPr/>
          <p:nvPr/>
        </p:nvSpPr>
        <p:spPr>
          <a:xfrm rot="18439632">
            <a:off x="7846773" y="3246292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0AB90F-0263-B948-AC03-4237E4C12EA7}"/>
              </a:ext>
            </a:extLst>
          </p:cNvPr>
          <p:cNvSpPr/>
          <p:nvPr/>
        </p:nvSpPr>
        <p:spPr>
          <a:xfrm>
            <a:off x="5236665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 err="1">
                <a:solidFill>
                  <a:schemeClr val="tx1"/>
                </a:solidFill>
              </a:rPr>
              <a:t>LikedPost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" name="Isosceles Triangle 25">
            <a:extLst>
              <a:ext uri="{FF2B5EF4-FFF2-40B4-BE49-F238E27FC236}">
                <a16:creationId xmlns:a16="http://schemas.microsoft.com/office/drawing/2014/main" id="{DC1A52B0-28DB-C44E-9ACB-1A870595C3D6}"/>
              </a:ext>
            </a:extLst>
          </p:cNvPr>
          <p:cNvSpPr/>
          <p:nvPr/>
        </p:nvSpPr>
        <p:spPr>
          <a:xfrm rot="3151146">
            <a:off x="5941324" y="5107635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49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Syntax for abstract classes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161AB2-9731-4F40-A8FF-77AB50C3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5690212" cy="37856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Post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(author,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2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//code omitted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 bwMode="auto">
          <a:xfrm>
            <a:off x="1081643" y="1936698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4B894B56-2041-4372-ACC3-BE40B8BA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9066" y="3276600"/>
            <a:ext cx="4360233" cy="313932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likes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B" altLang="en-VI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831A-5A99-4714-BD3B-BC87744FCD35}"/>
              </a:ext>
            </a:extLst>
          </p:cNvPr>
          <p:cNvCxnSpPr>
            <a:cxnSpLocks/>
          </p:cNvCxnSpPr>
          <p:nvPr/>
        </p:nvCxnSpPr>
        <p:spPr bwMode="auto">
          <a:xfrm>
            <a:off x="7766266" y="2743200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2A8F01B-4749-45DE-9988-F2EB2C857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066" y="396987"/>
            <a:ext cx="4360233" cy="2251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44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</a:rPr>
              <a:t>If you wish all subclasses of a class to implement a particular method as part of its code, simply write an abstract method heading in superclass. </a:t>
            </a:r>
          </a:p>
          <a:p>
            <a:pPr eaLnBrk="1" hangingPunct="1">
              <a:defRPr/>
            </a:pPr>
            <a:endParaRPr lang="en-US" dirty="0"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</a:rPr>
              <a:t>Each concrete subclass must have this method fully coded.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788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99AB-51F3-4E3E-B3FC-ABDFE65F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displayCondensed</a:t>
            </a:r>
            <a:r>
              <a:rPr lang="en-GB" dirty="0"/>
              <a:t>() – new abstract method</a:t>
            </a:r>
            <a:endParaRPr lang="en-V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935E-01CC-4B11-8A92-F939A03FA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Currently our display method, displays the contents over a few lines.  </a:t>
            </a:r>
          </a:p>
          <a:p>
            <a:r>
              <a:rPr lang="en-GB" dirty="0"/>
              <a:t>Let’s add a new method, </a:t>
            </a:r>
            <a:r>
              <a:rPr lang="en-GB" dirty="0" err="1"/>
              <a:t>displayCondensed</a:t>
            </a:r>
            <a:r>
              <a:rPr lang="en-GB" dirty="0"/>
              <a:t>(), but this time, condense the display to only ONE line. </a:t>
            </a:r>
          </a:p>
          <a:p>
            <a:r>
              <a:rPr lang="en-GB" dirty="0"/>
              <a:t>We will add this as an abstract method in Post; this will mean that each concrete class that inherits from Post MUST provide an implementation of 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9CE37-C77F-49A4-9626-C7655236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4971520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897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1F20F5-C5CB-40A2-8EB5-127B96CF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9" y="990600"/>
            <a:ext cx="9764243" cy="5540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76200" y="-76200"/>
            <a:ext cx="48412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in Post</a:t>
            </a:r>
            <a:endParaRPr lang="en-VI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4179AE-6D17-4148-BD82-3BDC48A4B465}"/>
              </a:ext>
            </a:extLst>
          </p:cNvPr>
          <p:cNvCxnSpPr>
            <a:cxnSpLocks/>
          </p:cNvCxnSpPr>
          <p:nvPr/>
        </p:nvCxnSpPr>
        <p:spPr bwMode="auto">
          <a:xfrm flipH="1">
            <a:off x="3276600" y="2438400"/>
            <a:ext cx="254936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382D81-786B-439B-B712-86FC9F8E8010}"/>
              </a:ext>
            </a:extLst>
          </p:cNvPr>
          <p:cNvCxnSpPr>
            <a:cxnSpLocks/>
          </p:cNvCxnSpPr>
          <p:nvPr/>
        </p:nvCxnSpPr>
        <p:spPr bwMode="auto">
          <a:xfrm flipH="1">
            <a:off x="5715000" y="4267200"/>
            <a:ext cx="2592139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87B2289-5C81-4C18-8932-57E05505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971520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23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EventPost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8802B2-51C6-439C-B431-008C61735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465" y="846518"/>
            <a:ext cx="6820193" cy="52701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9EB3FB-3171-4ECE-96A9-CCCE3219A9F2}"/>
              </a:ext>
            </a:extLst>
          </p:cNvPr>
          <p:cNvSpPr txBox="1"/>
          <p:nvPr/>
        </p:nvSpPr>
        <p:spPr>
          <a:xfrm>
            <a:off x="307340" y="1686300"/>
            <a:ext cx="347472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compiler is complaining that the concrete classes in the hierarchy have no implementation of </a:t>
            </a:r>
            <a:r>
              <a:rPr lang="en-IE" sz="2400" b="1" dirty="0" err="1"/>
              <a:t>displayCondensed</a:t>
            </a:r>
            <a:r>
              <a:rPr lang="en-IE" sz="24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6943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EventPost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E3A5D-1A34-47AA-A056-9FA46EE2CE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41"/>
          <a:stretch/>
        </p:blipFill>
        <p:spPr>
          <a:xfrm>
            <a:off x="3911600" y="142051"/>
            <a:ext cx="7962900" cy="65120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066760" y="32004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813300" y="2971800"/>
            <a:ext cx="7073900" cy="990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8222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8CEDF-6D56-0844-8E09-4578516E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060" y="208207"/>
            <a:ext cx="8321040" cy="6517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PhotoPost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362200" y="32766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624642" y="3048000"/>
            <a:ext cx="7338758" cy="106679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2867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F965A-C55B-1D4E-AB2B-FB332FA3C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470" y="139002"/>
            <a:ext cx="8102600" cy="651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MessagePost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286000" y="34290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572000" y="3276600"/>
            <a:ext cx="7239000" cy="114299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45317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6FCB2-6882-DC40-BEEE-8D5D795B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302" y="22666"/>
            <a:ext cx="7802298" cy="6682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NewsFeed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3040655" y="37338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5105400" y="3276600"/>
            <a:ext cx="6858000" cy="14964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E1B22-F5F2-8441-916B-C4B329F9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084917"/>
            <a:ext cx="4310425" cy="114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99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BAD8-26EB-4E6E-9601-2F35AD48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IntelliJ UML Decorators</a:t>
            </a:r>
            <a:endParaRPr lang="en-V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8F5B0F-7A3A-4E85-87E7-282AB0DBF2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55"/>
          <a:stretch/>
        </p:blipFill>
        <p:spPr>
          <a:xfrm>
            <a:off x="2902438" y="1638174"/>
            <a:ext cx="2712119" cy="48146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F2C68D-9CFD-48C4-B523-511A9CD4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507668"/>
            <a:ext cx="2286000" cy="507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Interfaces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Next, we will look at interfaces which are used when you can see a ‘multiple inheritance’ in your class design.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Multiple inheritance is not allowed in Java so we use interfaces instead.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76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1B1677B-B259-9710-8AB0-D650FE42A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7805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Widescreen</PresentationFormat>
  <Paragraphs>145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JetBrains Mono</vt:lpstr>
      <vt:lpstr>Times New Roman</vt:lpstr>
      <vt:lpstr>Wingdings</vt:lpstr>
      <vt:lpstr>Office Theme</vt:lpstr>
      <vt:lpstr>Abstraction</vt:lpstr>
      <vt:lpstr>Topic List</vt:lpstr>
      <vt:lpstr>Abstract vs Concrete</vt:lpstr>
      <vt:lpstr>Topic List</vt:lpstr>
      <vt:lpstr>Recap: Inheritance hierarchies</vt:lpstr>
      <vt:lpstr>Abstract Methods</vt:lpstr>
      <vt:lpstr>Abstract Classes</vt:lpstr>
      <vt:lpstr>Topic List</vt:lpstr>
      <vt:lpstr>RECAP: Social Network V7.0 – Deeper Hierarchy</vt:lpstr>
      <vt:lpstr>RECAP: Social Network V7.0 – Deeper Hierarchy</vt:lpstr>
      <vt:lpstr>RECAP: Social Network V7.0 – Driver</vt:lpstr>
      <vt:lpstr>Topic List</vt:lpstr>
      <vt:lpstr>Social Network V8.0 (Post as an abstract class)</vt:lpstr>
      <vt:lpstr>Social Network V8.0 – Post and LikedPost Abstract</vt:lpstr>
      <vt:lpstr>Syntax for abstract classes</vt:lpstr>
      <vt:lpstr>Abstract methods</vt:lpstr>
      <vt:lpstr>displayCondensed() – new abstract method</vt:lpstr>
      <vt:lpstr>displayCondensed() in Post</vt:lpstr>
      <vt:lpstr>displayCondensed()  in EventPost</vt:lpstr>
      <vt:lpstr>displayCondensed()  in EventPost</vt:lpstr>
      <vt:lpstr>displayCondensed()  in PhotoPost</vt:lpstr>
      <vt:lpstr>displayCondensed()  in MessagePost</vt:lpstr>
      <vt:lpstr>displayCondensed()  in NewsFeed</vt:lpstr>
      <vt:lpstr>IntelliJ UML Decorators</vt:lpstr>
      <vt:lpstr>Interfaces Topic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121</cp:revision>
  <dcterms:created xsi:type="dcterms:W3CDTF">2006-08-16T00:00:00Z</dcterms:created>
  <dcterms:modified xsi:type="dcterms:W3CDTF">2026-03-16T14:54:45Z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5438E5B2-65E6-471D-8434-8E744F4C105E</vt:lpwstr>
  </property>
  <property fmtid="{D5CDD505-2E9C-101B-9397-08002B2CF9AE}" pid="3" name="ArticulatePath">
    <vt:lpwstr>a-prog-fund-2-abstraction</vt:lpwstr>
  </property>
</Properties>
</file>