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83" r:id="rId2"/>
    <p:sldId id="392" r:id="rId3"/>
    <p:sldId id="391" r:id="rId4"/>
    <p:sldId id="409" r:id="rId5"/>
    <p:sldId id="390" r:id="rId6"/>
    <p:sldId id="355" r:id="rId7"/>
    <p:sldId id="356" r:id="rId8"/>
    <p:sldId id="410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411" r:id="rId18"/>
    <p:sldId id="367" r:id="rId19"/>
    <p:sldId id="397" r:id="rId20"/>
    <p:sldId id="368" r:id="rId21"/>
    <p:sldId id="369" r:id="rId22"/>
    <p:sldId id="370" r:id="rId23"/>
    <p:sldId id="371" r:id="rId24"/>
    <p:sldId id="412" r:id="rId25"/>
    <p:sldId id="449" r:id="rId26"/>
    <p:sldId id="450" r:id="rId27"/>
    <p:sldId id="451" r:id="rId28"/>
    <p:sldId id="337" r:id="rId29"/>
    <p:sldId id="452" r:id="rId30"/>
    <p:sldId id="453" r:id="rId31"/>
    <p:sldId id="339" r:id="rId32"/>
    <p:sldId id="454" r:id="rId33"/>
    <p:sldId id="343" r:id="rId34"/>
    <p:sldId id="345" r:id="rId35"/>
    <p:sldId id="457" r:id="rId36"/>
    <p:sldId id="455" r:id="rId37"/>
    <p:sldId id="350" r:id="rId38"/>
    <p:sldId id="406" r:id="rId39"/>
    <p:sldId id="456" r:id="rId40"/>
    <p:sldId id="407" r:id="rId41"/>
    <p:sldId id="408" r:id="rId42"/>
    <p:sldId id="342" r:id="rId43"/>
    <p:sldId id="30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8" autoAdjust="0"/>
    <p:restoredTop sz="94648"/>
  </p:normalViewPr>
  <p:slideViewPr>
    <p:cSldViewPr>
      <p:cViewPr>
        <p:scale>
          <a:sx n="133" d="100"/>
          <a:sy n="133" d="100"/>
        </p:scale>
        <p:origin x="-384" y="-4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09/02/2025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public class </a:t>
            </a:r>
            <a:r>
              <a:rPr lang="en-GB" dirty="0">
                <a:solidFill>
                  <a:srgbClr val="000000"/>
                </a:solidFill>
                <a:effectLst/>
              </a:rPr>
              <a:t>Loops </a:t>
            </a:r>
            <a:r>
              <a:rPr lang="en-GB" dirty="0"/>
              <a:t>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</a:rPr>
              <a:t>main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/>
              <a:t>args</a:t>
            </a:r>
            <a:r>
              <a:rPr lang="en-GB" dirty="0"/>
              <a:t>[]){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new </a:t>
            </a:r>
            <a:r>
              <a:rPr lang="en-GB" dirty="0"/>
              <a:t>Loops();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</a:t>
            </a:r>
            <a:r>
              <a:rPr lang="en-GB" dirty="0">
                <a:solidFill>
                  <a:srgbClr val="00627A"/>
                </a:solidFill>
                <a:effectLst/>
              </a:rPr>
              <a:t>Loops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 err="1"/>
              <a:t>simpleWhile</a:t>
            </a:r>
            <a:r>
              <a:rPr lang="en-GB" dirty="0"/>
              <a:t>();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public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simpleWhile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 err="1"/>
              <a:t>i</a:t>
            </a:r>
            <a:r>
              <a:rPr lang="en-GB" dirty="0"/>
              <a:t> 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 &lt; </a:t>
            </a:r>
            <a:r>
              <a:rPr lang="en-GB" dirty="0">
                <a:solidFill>
                  <a:srgbClr val="1750EB"/>
                </a:solidFill>
                <a:effectLst/>
              </a:rPr>
              <a:t>10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 err="1"/>
              <a:t>i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 err="1"/>
              <a:t>i</a:t>
            </a:r>
            <a:r>
              <a:rPr lang="en-GB" dirty="0"/>
              <a:t>++;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br>
              <a:rPr lang="en-GB" dirty="0"/>
            </a:b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8067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intSwitch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>
                <a:solidFill>
                  <a:srgbClr val="000000"/>
                </a:solidFill>
                <a:effectLst/>
              </a:rPr>
              <a:t>day </a:t>
            </a:r>
            <a:r>
              <a:rPr lang="en-GB" dirty="0"/>
              <a:t>= </a:t>
            </a:r>
            <a:r>
              <a:rPr lang="en-GB" dirty="0">
                <a:solidFill>
                  <a:srgbClr val="1750EB"/>
                </a:solidFill>
                <a:effectLst/>
              </a:rPr>
              <a:t>3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"Monday"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"Tuesday"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"Wednesday"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4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"Thursday"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5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"Friday"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6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"Saturday"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7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"Sunday"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>
                <a:solidFill>
                  <a:srgbClr val="000000"/>
                </a:solidFill>
                <a:effectLst/>
              </a:rPr>
              <a:t>day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4684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stringSwitchLong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"wed"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"sun"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29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6601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stringSwitchCondensed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0000"/>
                </a:solidFill>
                <a:effectLst/>
              </a:rPr>
              <a:t>String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"Mon"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 err="1"/>
              <a:t>.toLowerCase</a:t>
            </a:r>
            <a:r>
              <a:rPr lang="en-GB" dirty="0"/>
              <a:t>()){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mon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tues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"wed"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thurs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r>
              <a:rPr lang="en-GB" dirty="0" err="1">
                <a:solidFill>
                  <a:srgbClr val="067D17"/>
                </a:solidFill>
                <a:effectLst/>
              </a:rPr>
              <a:t>fri</a:t>
            </a:r>
            <a:r>
              <a:rPr lang="en-GB" dirty="0">
                <a:solidFill>
                  <a:srgbClr val="067D17"/>
                </a:solidFill>
                <a:effectLst/>
              </a:rPr>
              <a:t>"</a:t>
            </a:r>
            <a:br>
              <a:rPr lang="en-GB" dirty="0">
                <a:solidFill>
                  <a:srgbClr val="067D17"/>
                </a:solidFill>
                <a:effectLst/>
              </a:rPr>
            </a:br>
            <a:r>
              <a:rPr lang="en-GB" dirty="0">
                <a:solidFill>
                  <a:srgbClr val="067D17"/>
                </a:solidFill>
                <a:effectLst/>
              </a:rPr>
              <a:t>              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"Weekday"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"sat"</a:t>
            </a:r>
            <a:r>
              <a:rPr lang="en-GB" dirty="0"/>
              <a:t>, </a:t>
            </a:r>
            <a:r>
              <a:rPr lang="en-GB" dirty="0">
                <a:solidFill>
                  <a:srgbClr val="067D17"/>
                </a:solidFill>
                <a:effectLst/>
              </a:rPr>
              <a:t>"sun"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"Weekend"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day: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dayOfWeek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1984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static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charSwitch</a:t>
            </a:r>
            <a:r>
              <a:rPr lang="en-GB" dirty="0"/>
              <a:t>(){</a:t>
            </a: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char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>
                <a:solidFill>
                  <a:srgbClr val="000000"/>
                </a:solidFill>
                <a:effectLst/>
              </a:rPr>
              <a:t> </a:t>
            </a:r>
            <a:r>
              <a:rPr lang="en-GB" dirty="0"/>
              <a:t>= </a:t>
            </a:r>
            <a:r>
              <a:rPr lang="en-GB" dirty="0">
                <a:solidFill>
                  <a:srgbClr val="067D17"/>
                </a:solidFill>
                <a:effectLst/>
              </a:rPr>
              <a:t>'B'</a:t>
            </a:r>
            <a:r>
              <a:rPr lang="en-GB" dirty="0"/>
              <a:t>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){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'A'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"Apple"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'B'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"Ball"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'C'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"Cat"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'D'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"Dog"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</a:rPr>
              <a:t>'E'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"Elephant"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"Char not on our list yet: " </a:t>
            </a:r>
            <a:r>
              <a:rPr lang="en-GB" dirty="0"/>
              <a:t>+ </a:t>
            </a:r>
            <a:r>
              <a:rPr lang="en-GB" dirty="0" err="1">
                <a:solidFill>
                  <a:srgbClr val="000000"/>
                </a:solidFill>
                <a:effectLst/>
              </a:rPr>
              <a:t>alphabetChar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2363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33B3"/>
                </a:solidFill>
                <a:effectLst/>
              </a:rPr>
              <a:t>private void </a:t>
            </a:r>
            <a:r>
              <a:rPr lang="en-GB" dirty="0" err="1">
                <a:solidFill>
                  <a:srgbClr val="00627A"/>
                </a:solidFill>
                <a:effectLst/>
              </a:rPr>
              <a:t>runMenu</a:t>
            </a:r>
            <a:r>
              <a:rPr lang="en-GB" dirty="0"/>
              <a:t>(){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int </a:t>
            </a:r>
            <a:r>
              <a:rPr lang="en-GB" dirty="0"/>
              <a:t>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</a:t>
            </a:r>
            <a:r>
              <a:rPr lang="en-GB" dirty="0">
                <a:solidFill>
                  <a:srgbClr val="0033B3"/>
                </a:solidFill>
                <a:effectLst/>
              </a:rPr>
              <a:t>while </a:t>
            </a:r>
            <a:r>
              <a:rPr lang="en-GB" dirty="0"/>
              <a:t>(option != </a:t>
            </a:r>
            <a:r>
              <a:rPr lang="en-GB" dirty="0">
                <a:solidFill>
                  <a:srgbClr val="1750EB"/>
                </a:solidFill>
                <a:effectLst/>
              </a:rPr>
              <a:t>0</a:t>
            </a:r>
            <a:r>
              <a:rPr lang="en-GB" dirty="0"/>
              <a:t>){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</a:t>
            </a:r>
            <a:r>
              <a:rPr lang="en-GB" dirty="0">
                <a:solidFill>
                  <a:srgbClr val="0033B3"/>
                </a:solidFill>
                <a:effectLst/>
              </a:rPr>
              <a:t>switch </a:t>
            </a:r>
            <a:r>
              <a:rPr lang="en-GB" dirty="0"/>
              <a:t>(option){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1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1"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2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2"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case </a:t>
            </a:r>
            <a:r>
              <a:rPr lang="en-GB" dirty="0">
                <a:solidFill>
                  <a:srgbClr val="1750EB"/>
                </a:solidFill>
                <a:effectLst/>
              </a:rPr>
              <a:t>3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"You chose 3"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        </a:t>
            </a:r>
            <a:r>
              <a:rPr lang="en-GB" dirty="0">
                <a:solidFill>
                  <a:srgbClr val="0033B3"/>
                </a:solidFill>
                <a:effectLst/>
              </a:rPr>
              <a:t>default </a:t>
            </a:r>
            <a:r>
              <a:rPr lang="en-GB" dirty="0"/>
              <a:t>-&gt; </a:t>
            </a:r>
            <a:r>
              <a:rPr lang="en-GB" dirty="0" err="1">
                <a:solidFill>
                  <a:srgbClr val="000000"/>
                </a:solidFill>
                <a:effectLst/>
              </a:rPr>
              <a:t>System</a:t>
            </a:r>
            <a:r>
              <a:rPr lang="en-GB" dirty="0" err="1"/>
              <a:t>.</a:t>
            </a:r>
            <a:r>
              <a:rPr lang="en-GB" i="1" dirty="0" err="1">
                <a:solidFill>
                  <a:srgbClr val="871094"/>
                </a:solidFill>
                <a:effectLst/>
              </a:rPr>
              <a:t>out</a:t>
            </a:r>
            <a:r>
              <a:rPr lang="en-GB" dirty="0" err="1"/>
              <a:t>.println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"Invalid option entered: " </a:t>
            </a:r>
            <a:r>
              <a:rPr lang="en-GB" dirty="0"/>
              <a:t>+ option);</a:t>
            </a:r>
            <a:br>
              <a:rPr lang="en-GB" dirty="0"/>
            </a:br>
            <a:r>
              <a:rPr lang="en-GB" dirty="0"/>
              <a:t>        }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option = </a:t>
            </a:r>
            <a:r>
              <a:rPr lang="en-GB" dirty="0" err="1">
                <a:solidFill>
                  <a:srgbClr val="000000"/>
                </a:solidFill>
                <a:effectLst/>
              </a:rPr>
              <a:t>ScannerInput</a:t>
            </a:r>
            <a:r>
              <a:rPr lang="en-GB" dirty="0" err="1"/>
              <a:t>.</a:t>
            </a:r>
            <a:r>
              <a:rPr lang="en-GB" i="1" dirty="0" err="1">
                <a:effectLst/>
              </a:rPr>
              <a:t>readNextInt</a:t>
            </a:r>
            <a:r>
              <a:rPr lang="en-GB" dirty="0"/>
              <a:t>(</a:t>
            </a:r>
            <a:r>
              <a:rPr lang="en-GB" dirty="0">
                <a:solidFill>
                  <a:srgbClr val="067D17"/>
                </a:solidFill>
                <a:effectLst/>
              </a:rPr>
              <a:t>"Choose a number between 1 and 3:"</a:t>
            </a:r>
            <a:r>
              <a:rPr lang="en-GB" dirty="0"/>
              <a:t>);</a:t>
            </a:r>
            <a:br>
              <a:rPr lang="en-GB" dirty="0"/>
            </a:br>
            <a:r>
              <a:rPr lang="en-GB" dirty="0"/>
              <a:t>    }</a:t>
            </a:r>
            <a:br>
              <a:rPr lang="en-GB" dirty="0"/>
            </a:br>
            <a:r>
              <a:rPr lang="en-GB" dirty="0"/>
              <a:t>}</a:t>
            </a:r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1169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odeleak.pl/2020/05/switch-as-an-expression-in-java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0445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Menu Driven Apps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F220A-876A-4FD4-A501-DF5ED9B43E8A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CFDB5CD-E783-4C31-B4C7-D02ABF6F299A}"/>
              </a:ext>
            </a:extLst>
          </p:cNvPr>
          <p:cNvSpPr txBox="1">
            <a:spLocks/>
          </p:cNvSpPr>
          <p:nvPr/>
        </p:nvSpPr>
        <p:spPr>
          <a:xfrm>
            <a:off x="2328041" y="22860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Loops, menus and the switch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CE9E4-7266-59A9-AD1C-FF95BF89F531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64A870C-ACDA-2C00-42B3-EE8492040E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2362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6552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F6C098-EB7F-4DD0-8737-AF725E6D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914" y="2251719"/>
            <a:ext cx="5398825" cy="23202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/>
          <a:lstStyle/>
          <a:p>
            <a:r>
              <a:rPr lang="en-GB" dirty="0"/>
              <a:t>Recap - Loop Control Variable</a:t>
            </a:r>
          </a:p>
        </p:txBody>
      </p:sp>
      <p:cxnSp>
        <p:nvCxnSpPr>
          <p:cNvPr id="9" name="Straight Arrow Connector 8"/>
          <p:cNvCxnSpPr>
            <a:cxnSpLocks/>
            <a:stCxn id="15" idx="3"/>
          </p:cNvCxnSpPr>
          <p:nvPr/>
        </p:nvCxnSpPr>
        <p:spPr>
          <a:xfrm flipV="1">
            <a:off x="2922438" y="3107003"/>
            <a:ext cx="1015855" cy="59757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16" idx="3"/>
          </p:cNvCxnSpPr>
          <p:nvPr/>
        </p:nvCxnSpPr>
        <p:spPr>
          <a:xfrm flipV="1">
            <a:off x="3352800" y="3839955"/>
            <a:ext cx="1148621" cy="114754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14" idx="3"/>
          </p:cNvCxnSpPr>
          <p:nvPr/>
        </p:nvCxnSpPr>
        <p:spPr>
          <a:xfrm>
            <a:off x="2819400" y="2499005"/>
            <a:ext cx="1219200" cy="21870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9600" y="3104410"/>
            <a:ext cx="2312838" cy="1200329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2. Test i.e. </a:t>
            </a:r>
            <a:r>
              <a:rPr lang="en-GB" sz="2400" dirty="0" err="1"/>
              <a:t>boolean</a:t>
            </a:r>
            <a:r>
              <a:rPr lang="en-GB" sz="2400" dirty="0"/>
              <a:t> condition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" y="4572000"/>
            <a:ext cx="2743200" cy="8309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3. Update directly before end of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268172"/>
            <a:ext cx="2209800" cy="4616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1. Initialise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8FDF31-16DA-4405-B393-453BE180A1F8}"/>
              </a:ext>
            </a:extLst>
          </p:cNvPr>
          <p:cNvSpPr txBox="1"/>
          <p:nvPr/>
        </p:nvSpPr>
        <p:spPr>
          <a:xfrm>
            <a:off x="555978" y="1524000"/>
            <a:ext cx="5562600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This loop is a counter-controlled while loop</a:t>
            </a:r>
            <a:endParaRPr lang="en-GB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6C2BD4-779D-4733-8BA3-D6FCDA0C4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3704574"/>
            <a:ext cx="3724795" cy="3010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184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4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28194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61211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304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FB5FA5-9D79-4121-9AB8-C2224D7CB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767" y="1905000"/>
            <a:ext cx="9604466" cy="4191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229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Recap - Counter-Controlled Loops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22438"/>
            <a:ext cx="11049000" cy="4525963"/>
          </a:xfrm>
        </p:spPr>
        <p:txBody>
          <a:bodyPr>
            <a:normAutofit/>
          </a:bodyPr>
          <a:lstStyle/>
          <a:p>
            <a:r>
              <a:rPr lang="en-GB" dirty="0"/>
              <a:t>Sometimes  we know when we are coding, we know how many inputs we will have.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The previous slide displays an example of this.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Other times, we find out at run time how many inputs we have…an example of this is on the next slide.</a:t>
            </a:r>
            <a:endParaRPr lang="en-GB" sz="4000" dirty="0"/>
          </a:p>
          <a:p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6377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49"/>
          <a:stretch/>
        </p:blipFill>
        <p:spPr>
          <a:xfrm>
            <a:off x="2362200" y="1600200"/>
            <a:ext cx="9351846" cy="49831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A8AD5A2-245C-47AE-9B81-A5057B1DB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Recap - Counter-Controlled </a:t>
            </a:r>
            <a:r>
              <a:rPr lang="en-GB" dirty="0">
                <a:solidFill>
                  <a:srgbClr val="FF0000"/>
                </a:solidFill>
              </a:rPr>
              <a:t>for </a:t>
            </a:r>
            <a:r>
              <a:rPr lang="en-GB" dirty="0"/>
              <a:t>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3167390"/>
            <a:ext cx="2514600" cy="181588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>
                <a:solidFill>
                  <a:prstClr val="black"/>
                </a:solidFill>
              </a:rPr>
              <a:t>Here, we know at run-time how many inputs we have.</a:t>
            </a:r>
            <a:endParaRPr lang="en-IE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16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76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860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Sentinel-based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this type of loop when you do not know how many inputs you will have.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i="1" dirty="0"/>
              <a:t>end of input </a:t>
            </a:r>
            <a:r>
              <a:rPr lang="en-GB" dirty="0"/>
              <a:t>is signalled by a special value.</a:t>
            </a:r>
          </a:p>
          <a:p>
            <a:pPr lvl="1"/>
            <a:r>
              <a:rPr lang="en-GB" dirty="0"/>
              <a:t>e.g. if you are calculating the ‘average of ages of people in the room’, write a program that will continually take in ages until, say, -1 is entered.  </a:t>
            </a:r>
            <a:br>
              <a:rPr lang="en-GB" dirty="0"/>
            </a:br>
            <a:r>
              <a:rPr lang="en-GB" dirty="0"/>
              <a:t>-1 would be the sentinel value.</a:t>
            </a:r>
          </a:p>
        </p:txBody>
      </p:sp>
    </p:spTree>
    <p:extLst>
      <p:ext uri="{BB962C8B-B14F-4D97-AF65-F5344CB8AC3E}">
        <p14:creationId xmlns:p14="http://schemas.microsoft.com/office/powerpoint/2010/main" val="204976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Concept of </a:t>
            </a:r>
            <a:r>
              <a:rPr lang="en-GB" b="1" i="1" dirty="0"/>
              <a:t>Loop Control Variable </a:t>
            </a:r>
            <a:r>
              <a:rPr lang="en-GB" dirty="0"/>
              <a:t>is vital here.</a:t>
            </a:r>
          </a:p>
          <a:p>
            <a:endParaRPr lang="en-GB" dirty="0"/>
          </a:p>
          <a:p>
            <a:r>
              <a:rPr lang="en-GB" dirty="0"/>
              <a:t>The loop continuation is solely based on the input, so the variable containing the information is the Loop Control Variable.</a:t>
            </a:r>
          </a:p>
          <a:p>
            <a:endParaRPr lang="en-GB" dirty="0"/>
          </a:p>
          <a:p>
            <a:r>
              <a:rPr lang="en-GB" dirty="0"/>
              <a:t>Initialise the Loop Control Variable before entry into the loop.</a:t>
            </a:r>
          </a:p>
          <a:p>
            <a:endParaRPr lang="en-GB" dirty="0"/>
          </a:p>
          <a:p>
            <a:r>
              <a:rPr lang="en-GB" dirty="0"/>
              <a:t>Remember to ‘update the Loop Control Variable’ just before the end of the loop.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7700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Try this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a loop to read in and add up a set of integers. Keep going until the value ‘-1’ is inputted. </a:t>
            </a:r>
          </a:p>
          <a:p>
            <a:endParaRPr lang="en-GB" dirty="0"/>
          </a:p>
          <a:p>
            <a:r>
              <a:rPr lang="en-GB" dirty="0"/>
              <a:t>What is your Loop Control Variable?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800" i="1" dirty="0"/>
              <a:t>Note:  in this exercise, you do not need to store the values in an array…we will do this in a few slides time.</a:t>
            </a:r>
          </a:p>
        </p:txBody>
      </p:sp>
    </p:spTree>
    <p:extLst>
      <p:ext uri="{BB962C8B-B14F-4D97-AF65-F5344CB8AC3E}">
        <p14:creationId xmlns:p14="http://schemas.microsoft.com/office/powerpoint/2010/main" val="777796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28600"/>
            <a:ext cx="8229600" cy="1143000"/>
          </a:xfrm>
        </p:spPr>
        <p:txBody>
          <a:bodyPr/>
          <a:lstStyle/>
          <a:p>
            <a:r>
              <a:rPr lang="en-GB" dirty="0"/>
              <a:t>Solution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1" t="33608" r="37465" b="34746"/>
          <a:stretch/>
        </p:blipFill>
        <p:spPr bwMode="auto">
          <a:xfrm>
            <a:off x="307349" y="1681450"/>
            <a:ext cx="8783565" cy="4719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353550" y="2362200"/>
            <a:ext cx="15621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1. Initialise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3549" y="3810000"/>
            <a:ext cx="2438401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2. LCV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6400" y="4953000"/>
            <a:ext cx="249555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/>
              <a:t>3. Update LCV directly before end of loop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 flipH="1">
            <a:off x="3505200" y="4068455"/>
            <a:ext cx="584835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4699132" y="5220586"/>
            <a:ext cx="4597268" cy="34201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4699132" y="2667000"/>
            <a:ext cx="4597268" cy="7620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75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 in the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need to record how many inputs have happened.</a:t>
            </a:r>
          </a:p>
          <a:p>
            <a:endParaRPr lang="en-US" dirty="0"/>
          </a:p>
          <a:p>
            <a:r>
              <a:rPr lang="en-US" dirty="0"/>
              <a:t>Try to change the previous solution so that you know at the end how many numbers have been inputted. </a:t>
            </a:r>
          </a:p>
          <a:p>
            <a:endParaRPr lang="en-US" dirty="0"/>
          </a:p>
          <a:p>
            <a:r>
              <a:rPr lang="en-US" dirty="0"/>
              <a:t>At the end, print the sum and number of inputs.</a:t>
            </a:r>
          </a:p>
        </p:txBody>
      </p:sp>
    </p:spTree>
    <p:extLst>
      <p:ext uri="{BB962C8B-B14F-4D97-AF65-F5344CB8AC3E}">
        <p14:creationId xmlns:p14="http://schemas.microsoft.com/office/powerpoint/2010/main" val="414420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with number of inputs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D32FC-88B5-AE93-5BB4-4FD5E2AE7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905000"/>
            <a:ext cx="7772400" cy="4307338"/>
          </a:xfrm>
          <a:prstGeom prst="rect">
            <a:avLst/>
          </a:prstGeom>
          <a:solidFill>
            <a:schemeClr val="bg1">
              <a:alpha val="74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457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Try this now - using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Same structure as before, but now we want to store the input. </a:t>
            </a:r>
          </a:p>
          <a:p>
            <a:r>
              <a:rPr lang="en-US" dirty="0"/>
              <a:t>Re-write the code on the previous slide, but store the data in an array.</a:t>
            </a:r>
          </a:p>
          <a:p>
            <a:endParaRPr lang="en-US" dirty="0"/>
          </a:p>
          <a:p>
            <a:r>
              <a:rPr lang="en-US" dirty="0"/>
              <a:t>NOTE:</a:t>
            </a:r>
          </a:p>
          <a:p>
            <a:pPr lvl="1"/>
            <a:r>
              <a:rPr lang="en-US" dirty="0"/>
              <a:t>Assume the max number of inputs possible is 100 (i.e. size of array).</a:t>
            </a:r>
          </a:p>
          <a:p>
            <a:pPr lvl="1"/>
            <a:r>
              <a:rPr lang="en-US" dirty="0"/>
              <a:t>We also need to know how many inputs actually happened.</a:t>
            </a:r>
          </a:p>
        </p:txBody>
      </p:sp>
    </p:spTree>
    <p:extLst>
      <p:ext uri="{BB962C8B-B14F-4D97-AF65-F5344CB8AC3E}">
        <p14:creationId xmlns:p14="http://schemas.microsoft.com/office/powerpoint/2010/main" val="175270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Solution – storing inputs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A5F9E5-434F-9824-9E28-CE58D3CA0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564655"/>
            <a:ext cx="6172200" cy="5033730"/>
          </a:xfrm>
          <a:prstGeom prst="rect">
            <a:avLst/>
          </a:prstGeom>
          <a:effectLst>
            <a:outerShdw blurRad="50800" dist="200621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8055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990600" y="3710782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39670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Flag-Based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used when you want to examine a collection of data to check for a </a:t>
            </a:r>
            <a:r>
              <a:rPr lang="en-US" b="1" i="1" dirty="0"/>
              <a:t>property</a:t>
            </a:r>
            <a:r>
              <a:rPr lang="en-US" dirty="0"/>
              <a:t>. Once a </a:t>
            </a:r>
            <a:r>
              <a:rPr lang="en-US" b="1" i="1" dirty="0"/>
              <a:t>property</a:t>
            </a:r>
            <a:r>
              <a:rPr lang="en-US" dirty="0"/>
              <a:t> has been established, it cannot be ‘unestablished’.</a:t>
            </a:r>
          </a:p>
          <a:p>
            <a:r>
              <a:rPr lang="en-US" dirty="0"/>
              <a:t>‘Once the flag is raised, it cannot be taken down’</a:t>
            </a:r>
          </a:p>
          <a:p>
            <a:r>
              <a:rPr lang="en-US" dirty="0"/>
              <a:t>e.g. to check if any of the numbers in an array is odd. </a:t>
            </a:r>
          </a:p>
          <a:p>
            <a:r>
              <a:rPr lang="en-US" dirty="0"/>
              <a:t>Once we have found any odd number the ‘</a:t>
            </a:r>
            <a:r>
              <a:rPr lang="en-US" b="1" dirty="0"/>
              <a:t>found odd</a:t>
            </a:r>
            <a:r>
              <a:rPr lang="en-US" dirty="0"/>
              <a:t>’ property is established. We never should change that property back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Flag-Based Loops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populated array of numbers, cycle over the array to see if any numbers are odd.</a:t>
            </a:r>
          </a:p>
          <a:p>
            <a:endParaRPr lang="en-US" dirty="0"/>
          </a:p>
          <a:p>
            <a:r>
              <a:rPr lang="en-US" dirty="0"/>
              <a:t>If you find:</a:t>
            </a:r>
          </a:p>
          <a:p>
            <a:pPr lvl="1"/>
            <a:r>
              <a:rPr lang="en-US" dirty="0"/>
              <a:t> At least one odd number, print out to the user that there is at least one odd number.</a:t>
            </a:r>
          </a:p>
          <a:p>
            <a:pPr lvl="1"/>
            <a:r>
              <a:rPr lang="en-US" dirty="0"/>
              <a:t>No odd numbers, inform the user of this.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2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Solution: check if ‘any numbers odd’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98" t="16737" r="28411" b="37923"/>
          <a:stretch/>
        </p:blipFill>
        <p:spPr bwMode="auto">
          <a:xfrm>
            <a:off x="1886920" y="1524001"/>
            <a:ext cx="8552481" cy="52292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263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0" t="15686" r="28293" b="39407"/>
          <a:stretch/>
        </p:blipFill>
        <p:spPr bwMode="auto">
          <a:xfrm>
            <a:off x="1981200" y="1591502"/>
            <a:ext cx="8263180" cy="49616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GB" dirty="0"/>
              <a:t>Better code...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8600" y="2209801"/>
            <a:ext cx="2209800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Use of </a:t>
            </a:r>
            <a:r>
              <a:rPr lang="en-GB" sz="2400" dirty="0" err="1"/>
              <a:t>boolean</a:t>
            </a:r>
            <a:r>
              <a:rPr lang="en-GB" sz="2400" dirty="0"/>
              <a:t> variable in condition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H="1">
            <a:off x="4800600" y="2809964"/>
            <a:ext cx="3048000" cy="168583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5053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i="1" dirty="0"/>
              <a:t>What about having a</a:t>
            </a:r>
            <a:br>
              <a:rPr lang="en-US" sz="4000" i="1" dirty="0"/>
            </a:br>
            <a:r>
              <a:rPr lang="en-US" sz="4000" i="1" dirty="0"/>
              <a:t> </a:t>
            </a:r>
            <a:br>
              <a:rPr lang="en-US" sz="4000" i="1" dirty="0"/>
            </a:br>
            <a:r>
              <a:rPr lang="en-US" sz="4000" i="1" dirty="0"/>
              <a:t>flag-based loop in a method with a </a:t>
            </a:r>
            <a:br>
              <a:rPr lang="en-US" sz="4000" i="1" dirty="0"/>
            </a:br>
            <a:br>
              <a:rPr lang="en-US" sz="4000" i="1" dirty="0"/>
            </a:br>
            <a:r>
              <a:rPr lang="en-US" sz="4000" i="1" dirty="0" err="1"/>
              <a:t>boolean</a:t>
            </a:r>
            <a:r>
              <a:rPr lang="en-US" sz="4000" i="1" dirty="0"/>
              <a:t> return type?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7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80" t="28178" r="40918" b="39830"/>
          <a:stretch/>
        </p:blipFill>
        <p:spPr bwMode="auto">
          <a:xfrm>
            <a:off x="3333120" y="990600"/>
            <a:ext cx="6323617" cy="388157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4" t="51854" r="28678" b="37606"/>
          <a:stretch/>
        </p:blipFill>
        <p:spPr bwMode="auto">
          <a:xfrm>
            <a:off x="2412265" y="5486401"/>
            <a:ext cx="8171787" cy="122824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98542" y="5033777"/>
            <a:ext cx="76200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Calling the method and handling the returned </a:t>
            </a:r>
            <a:r>
              <a:rPr lang="en-IE" sz="2400" dirty="0" err="1"/>
              <a:t>boolean</a:t>
            </a:r>
            <a:endParaRPr lang="en-IE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733800" y="381000"/>
            <a:ext cx="5410200" cy="68580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2400" dirty="0"/>
              <a:t>Code with </a:t>
            </a:r>
            <a:r>
              <a:rPr lang="en-US" sz="2400" dirty="0" err="1"/>
              <a:t>boolean</a:t>
            </a:r>
            <a:r>
              <a:rPr lang="en-US" sz="2400" dirty="0"/>
              <a:t> return type</a:t>
            </a:r>
          </a:p>
        </p:txBody>
      </p:sp>
    </p:spTree>
    <p:extLst>
      <p:ext uri="{BB962C8B-B14F-4D97-AF65-F5344CB8AC3E}">
        <p14:creationId xmlns:p14="http://schemas.microsoft.com/office/powerpoint/2010/main" val="303483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2667" y="41910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86646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E" sz="1600" dirty="0"/>
          </a:p>
          <a:p>
            <a:r>
              <a:rPr lang="en-GB" altLang="en-US" dirty="0"/>
              <a:t>The switch statement works in exactly the same way as a </a:t>
            </a:r>
            <a:r>
              <a:rPr lang="en-GB" altLang="en-US" b="1" dirty="0"/>
              <a:t>set of if </a:t>
            </a:r>
            <a:r>
              <a:rPr lang="en-GB" altLang="en-US" dirty="0"/>
              <a:t>statements, </a:t>
            </a:r>
            <a:br>
              <a:rPr lang="en-GB" altLang="en-US" dirty="0"/>
            </a:br>
            <a:r>
              <a:rPr lang="en-GB" altLang="en-US" dirty="0"/>
              <a:t>but is more compact and readable. 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i="1" dirty="0"/>
              <a:t>switch statement </a:t>
            </a:r>
            <a:r>
              <a:rPr lang="en-IE" dirty="0"/>
              <a:t>switches on a single </a:t>
            </a:r>
            <a:r>
              <a:rPr lang="en-IE" b="1" dirty="0"/>
              <a:t>value</a:t>
            </a:r>
            <a:r>
              <a:rPr lang="en-IE" dirty="0"/>
              <a:t> to one of an arbitrary number of </a:t>
            </a:r>
            <a:r>
              <a:rPr lang="en-IE" b="1" dirty="0"/>
              <a:t>cases</a:t>
            </a:r>
            <a:r>
              <a:rPr lang="en-IE" dirty="0"/>
              <a:t>. </a:t>
            </a:r>
          </a:p>
          <a:p>
            <a:endParaRPr lang="en-IE" dirty="0"/>
          </a:p>
          <a:p>
            <a:r>
              <a:rPr lang="en-IE" dirty="0"/>
              <a:t>We have used the switch statement before – now we can look at it in more details.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</a:t>
            </a:r>
            <a:br>
              <a:rPr lang="en-IE" dirty="0"/>
            </a:br>
            <a:r>
              <a:rPr lang="en-IE" dirty="0"/>
              <a:t>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247660"/>
            <a:ext cx="4724400" cy="63357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1"/>
            <a:ext cx="11125200" cy="3840163"/>
          </a:xfrm>
        </p:spPr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i="1" dirty="0"/>
              <a:t>switch </a:t>
            </a:r>
            <a:r>
              <a:rPr lang="en-IE" dirty="0"/>
              <a:t>statement can have any number of </a:t>
            </a:r>
            <a:r>
              <a:rPr lang="en-IE" b="1" dirty="0"/>
              <a:t>case </a:t>
            </a:r>
            <a:r>
              <a:rPr lang="en-IE" dirty="0"/>
              <a:t>labels.</a:t>
            </a:r>
          </a:p>
          <a:p>
            <a:endParaRPr lang="en-IE" dirty="0"/>
          </a:p>
          <a:p>
            <a:r>
              <a:rPr lang="en-IE" dirty="0"/>
              <a:t>The </a:t>
            </a:r>
            <a:r>
              <a:rPr lang="en-IE" b="1" dirty="0"/>
              <a:t>default </a:t>
            </a:r>
            <a:r>
              <a:rPr lang="en-IE" dirty="0"/>
              <a:t>case is optional; if no default is given, it may happen that no case is executed.</a:t>
            </a:r>
          </a:p>
          <a:p>
            <a:endParaRPr lang="en-IE" dirty="0"/>
          </a:p>
          <a:p>
            <a:r>
              <a:rPr lang="en-IE" dirty="0"/>
              <a:t>Can </a:t>
            </a:r>
            <a:r>
              <a:rPr lang="en-IE" i="1" dirty="0"/>
              <a:t>switch</a:t>
            </a:r>
            <a:r>
              <a:rPr lang="en-IE" dirty="0"/>
              <a:t> on </a:t>
            </a:r>
            <a:r>
              <a:rPr lang="en-IE" b="1" dirty="0">
                <a:solidFill>
                  <a:srgbClr val="C00000"/>
                </a:solidFill>
              </a:rPr>
              <a:t>int</a:t>
            </a:r>
            <a:r>
              <a:rPr lang="en-IE" dirty="0"/>
              <a:t>, </a:t>
            </a:r>
            <a:r>
              <a:rPr lang="en-IE" b="1" dirty="0">
                <a:solidFill>
                  <a:srgbClr val="C00000"/>
                </a:solidFill>
              </a:rPr>
              <a:t>char</a:t>
            </a:r>
            <a:r>
              <a:rPr lang="en-IE" dirty="0"/>
              <a:t> or </a:t>
            </a:r>
            <a:r>
              <a:rPr lang="en-IE" b="1" dirty="0">
                <a:solidFill>
                  <a:srgbClr val="C00000"/>
                </a:solidFill>
              </a:rPr>
              <a:t>String</a:t>
            </a:r>
            <a:r>
              <a:rPr lang="en-IE" dirty="0"/>
              <a:t>.</a:t>
            </a:r>
          </a:p>
          <a:p>
            <a:endParaRPr lang="en-I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5F098-7858-4D06-BA08-534B0CE603C6}"/>
              </a:ext>
            </a:extLst>
          </p:cNvPr>
          <p:cNvSpPr txBox="1"/>
          <p:nvPr/>
        </p:nvSpPr>
        <p:spPr>
          <a:xfrm>
            <a:off x="1828800" y="6398696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Good Resource: </a:t>
            </a:r>
            <a:r>
              <a:rPr lang="en-VI" dirty="0">
                <a:hlinkClick r:id="rId2"/>
              </a:rPr>
              <a:t>https://blog.codeleak.pl/2020/05/switch-as-an-expression-in-java.html</a:t>
            </a:r>
            <a:r>
              <a:rPr lang="en-GB" dirty="0"/>
              <a:t> </a:t>
            </a:r>
            <a:endParaRPr lang="en-VI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 err="1">
                <a:solidFill>
                  <a:srgbClr val="FF0000"/>
                </a:solidFill>
              </a:rPr>
              <a:t>int</a:t>
            </a:r>
            <a:r>
              <a:rPr lang="en-IE" dirty="0">
                <a:solidFill>
                  <a:srgbClr val="FF0000"/>
                </a:solidFill>
              </a:rPr>
              <a:t> </a:t>
            </a:r>
            <a:r>
              <a:rPr lang="en-IE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6D72F-D372-4E04-B4B6-B8E055594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00200"/>
            <a:ext cx="7374589" cy="4482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1B7A6-452D-47AE-8303-165026E8A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0" y="4947183"/>
            <a:ext cx="4047390" cy="1636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36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2172DD-53B4-4F78-901F-1FDF54015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561258" cy="42423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FF17F7-1545-4904-AE65-9D63BE8F8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90815"/>
            <a:ext cx="4356926" cy="1870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9316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String </a:t>
            </a:r>
            <a:r>
              <a:rPr lang="en-IE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EF6DC-4271-435B-ADAC-2C1DB12B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895600"/>
            <a:ext cx="7339388" cy="31046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98D660-6C57-40AC-BD8D-285DCEE569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090815"/>
            <a:ext cx="4356926" cy="1870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799E8E-EB2D-44A7-8FE6-5702DD1D0077}"/>
              </a:ext>
            </a:extLst>
          </p:cNvPr>
          <p:cNvSpPr/>
          <p:nvPr/>
        </p:nvSpPr>
        <p:spPr>
          <a:xfrm>
            <a:off x="1676400" y="1873226"/>
            <a:ext cx="5486400" cy="762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DRY code – Don’t Repeat Yourself!</a:t>
            </a:r>
            <a:endParaRPr lang="en-VI" sz="2800" dirty="0"/>
          </a:p>
        </p:txBody>
      </p:sp>
    </p:spTree>
    <p:extLst>
      <p:ext uri="{BB962C8B-B14F-4D97-AF65-F5344CB8AC3E}">
        <p14:creationId xmlns:p14="http://schemas.microsoft.com/office/powerpoint/2010/main" val="1011378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switch statement – </a:t>
            </a:r>
            <a:r>
              <a:rPr lang="en-IE" dirty="0">
                <a:solidFill>
                  <a:srgbClr val="FF0000"/>
                </a:solidFill>
              </a:rPr>
              <a:t>char </a:t>
            </a:r>
            <a:r>
              <a:rPr lang="en-IE" dirty="0"/>
              <a:t>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915B61-508B-4A8D-B9B7-03592883F5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6000"/>
            <a:ext cx="9924976" cy="3886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C02965-4598-454F-8107-49BBDCAA4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6857" y="1913950"/>
            <a:ext cx="4691743" cy="14567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967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46482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37792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6C025C-B06A-4E57-9483-0F0C5B0DF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283" y="1898985"/>
            <a:ext cx="8902117" cy="4481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Now loop on the switch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725" y="2921168"/>
            <a:ext cx="2057400" cy="1015663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sz="2000" dirty="0"/>
              <a:t>Note the use of the Loop Control Variable, </a:t>
            </a:r>
            <a:r>
              <a:rPr lang="en-IE" sz="2000" b="1" dirty="0">
                <a:solidFill>
                  <a:schemeClr val="bg1"/>
                </a:solidFill>
              </a:rPr>
              <a:t>option</a:t>
            </a:r>
            <a:r>
              <a:rPr lang="en-IE" sz="2000" dirty="0"/>
              <a:t>.</a:t>
            </a:r>
          </a:p>
        </p:txBody>
      </p:sp>
      <p:cxnSp>
        <p:nvCxnSpPr>
          <p:cNvPr id="6" name="Straight Arrow Connector 5"/>
          <p:cNvCxnSpPr>
            <a:cxnSpLocks/>
            <a:stCxn id="3" idx="3"/>
          </p:cNvCxnSpPr>
          <p:nvPr/>
        </p:nvCxnSpPr>
        <p:spPr>
          <a:xfrm flipV="1">
            <a:off x="2382125" y="2628900"/>
            <a:ext cx="665875" cy="8001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  <a:stCxn id="3" idx="3"/>
          </p:cNvCxnSpPr>
          <p:nvPr/>
        </p:nvCxnSpPr>
        <p:spPr>
          <a:xfrm flipV="1">
            <a:off x="2382125" y="3200400"/>
            <a:ext cx="665875" cy="228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stCxn id="3" idx="3"/>
          </p:cNvCxnSpPr>
          <p:nvPr/>
        </p:nvCxnSpPr>
        <p:spPr>
          <a:xfrm>
            <a:off x="2382125" y="3429000"/>
            <a:ext cx="1123075" cy="213360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65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gives the following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5E874B-FBE7-4686-AA8E-C727ADC1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1" y="1559943"/>
            <a:ext cx="6285568" cy="3164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A9A611-68E7-450E-921B-6F9EA2A9D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418072"/>
            <a:ext cx="5243766" cy="41427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897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0CB6-BA6A-47E2-9B03-089A26EB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If you wanted more than one line of code associated with a case, just declare a code block:</a:t>
            </a:r>
            <a:endParaRPr lang="en-V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102DD-344B-4594-A85B-8B9658F6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40502"/>
            <a:ext cx="8458200" cy="4920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82A09FB7-4351-4726-B838-47229D14FDBB}"/>
              </a:ext>
            </a:extLst>
          </p:cNvPr>
          <p:cNvSpPr/>
          <p:nvPr/>
        </p:nvSpPr>
        <p:spPr>
          <a:xfrm>
            <a:off x="6934200" y="3383936"/>
            <a:ext cx="1219200" cy="6858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78658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905001"/>
            <a:ext cx="9525000" cy="4068763"/>
          </a:xfrm>
        </p:spPr>
        <p:txBody>
          <a:bodyPr>
            <a:normAutofit fontScale="92500" lnSpcReduction="10000"/>
          </a:bodyPr>
          <a:lstStyle/>
          <a:p>
            <a:r>
              <a:rPr lang="en-IE" dirty="0"/>
              <a:t>Loops </a:t>
            </a:r>
          </a:p>
          <a:p>
            <a:pPr lvl="1"/>
            <a:r>
              <a:rPr lang="en-IE" dirty="0"/>
              <a:t>Loop Control Variables</a:t>
            </a:r>
          </a:p>
          <a:p>
            <a:pPr lvl="1"/>
            <a:r>
              <a:rPr lang="en-IE" dirty="0"/>
              <a:t>Arrays and counter controlled loops</a:t>
            </a:r>
          </a:p>
          <a:p>
            <a:pPr lvl="1"/>
            <a:r>
              <a:rPr lang="en-IE" dirty="0"/>
              <a:t>Arrays and sentinel based loops</a:t>
            </a:r>
          </a:p>
          <a:p>
            <a:pPr lvl="1"/>
            <a:r>
              <a:rPr lang="en-IE" dirty="0"/>
              <a:t>Arrays and flag-based loops </a:t>
            </a:r>
          </a:p>
          <a:p>
            <a:r>
              <a:rPr lang="en-IE" dirty="0"/>
              <a:t>switch statement.</a:t>
            </a:r>
          </a:p>
          <a:p>
            <a:r>
              <a:rPr lang="en-IE" dirty="0"/>
              <a:t>A simple menu using switch.</a:t>
            </a:r>
          </a:p>
          <a:p>
            <a:r>
              <a:rPr lang="en-IE" dirty="0"/>
              <a:t>ShopV3.0 – adding a menu.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5181600"/>
            <a:ext cx="54864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88943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Adding a basic menu to Shop…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2DD56C-B612-4F28-8D08-66E8BE641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981200"/>
            <a:ext cx="7517600" cy="3710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6557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EAFAAA-213F-46B3-9DFA-D2718F5B4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438400"/>
            <a:ext cx="3869464" cy="19096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69560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850E-FD0D-4AE2-A26F-3F544CDC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Menu to be displayed…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49070A-6EBA-4189-B1BC-2E32663EC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36" y="1752600"/>
            <a:ext cx="7603264" cy="4334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43BBB1-AACF-4EC4-AE5D-93125460DFAD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EC2FD1-4C69-4AB0-90B8-FA4F7890FE01}"/>
              </a:ext>
            </a:extLst>
          </p:cNvPr>
          <p:cNvSpPr/>
          <p:nvPr/>
        </p:nvSpPr>
        <p:spPr>
          <a:xfrm>
            <a:off x="8305800" y="2438400"/>
            <a:ext cx="3429000" cy="25146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using </a:t>
            </a:r>
            <a:r>
              <a:rPr lang="en-IE" sz="2400" dirty="0">
                <a:solidFill>
                  <a:srgbClr val="FFC000"/>
                </a:solidFill>
              </a:rPr>
              <a:t>Raw</a:t>
            </a:r>
            <a:r>
              <a:rPr lang="en-IE" sz="2400" dirty="0"/>
              <a:t> </a:t>
            </a:r>
            <a:r>
              <a:rPr lang="en-IE" sz="2400" dirty="0">
                <a:solidFill>
                  <a:srgbClr val="FFC000"/>
                </a:solidFill>
              </a:rPr>
              <a:t>Strings </a:t>
            </a:r>
            <a:r>
              <a:rPr lang="en-IE" sz="2400" dirty="0"/>
              <a:t>(the triple double quotes) to format the output for the menu.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ED16A29-6B9C-65BA-E1F9-E13EEA57B7BD}"/>
              </a:ext>
            </a:extLst>
          </p:cNvPr>
          <p:cNvCxnSpPr/>
          <p:nvPr/>
        </p:nvCxnSpPr>
        <p:spPr>
          <a:xfrm flipH="1" flipV="1">
            <a:off x="6019800" y="2209800"/>
            <a:ext cx="2286000" cy="1066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F187F0-350A-852C-E959-5D063F485DE6}"/>
              </a:ext>
            </a:extLst>
          </p:cNvPr>
          <p:cNvCxnSpPr/>
          <p:nvPr/>
        </p:nvCxnSpPr>
        <p:spPr>
          <a:xfrm flipH="1">
            <a:off x="2819400" y="3810000"/>
            <a:ext cx="5486400" cy="15240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5">
            <a:extLst>
              <a:ext uri="{FF2B5EF4-FFF2-40B4-BE49-F238E27FC236}">
                <a16:creationId xmlns:a16="http://schemas.microsoft.com/office/drawing/2014/main" id="{2CE035C2-25C8-5F94-B5E7-CCB63DD7D127}"/>
              </a:ext>
            </a:extLst>
          </p:cNvPr>
          <p:cNvSpPr/>
          <p:nvPr/>
        </p:nvSpPr>
        <p:spPr>
          <a:xfrm>
            <a:off x="8382000" y="5237747"/>
            <a:ext cx="3429000" cy="1295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This is a newish feature in Java – if it doesn’t work, update your JDK.</a:t>
            </a:r>
          </a:p>
        </p:txBody>
      </p:sp>
    </p:spTree>
    <p:extLst>
      <p:ext uri="{BB962C8B-B14F-4D97-AF65-F5344CB8AC3E}">
        <p14:creationId xmlns:p14="http://schemas.microsoft.com/office/powerpoint/2010/main" val="409863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B6B7CD-7046-4F39-BCAC-FD24F002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67" y="1524000"/>
            <a:ext cx="8458670" cy="5139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38A9DA-942C-4113-A6A1-84A40A907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Handling the menu input…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2388D1-2654-4BAE-B675-C645D6D4A998}"/>
              </a:ext>
            </a:extLst>
          </p:cNvPr>
          <p:cNvSpPr/>
          <p:nvPr/>
        </p:nvSpPr>
        <p:spPr>
          <a:xfrm>
            <a:off x="6858000" y="1600200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</p:spTree>
    <p:extLst>
      <p:ext uri="{BB962C8B-B14F-4D97-AF65-F5344CB8AC3E}">
        <p14:creationId xmlns:p14="http://schemas.microsoft.com/office/powerpoint/2010/main" val="2881694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91C4212-052E-457C-888D-1D7B5E7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Calling the menu on </a:t>
            </a:r>
            <a:r>
              <a:rPr lang="en-IE" dirty="0" err="1"/>
              <a:t>startup</a:t>
            </a:r>
            <a:r>
              <a:rPr lang="en-IE" dirty="0"/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2FF87-269A-470F-9CC8-EA718764B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40" y="1676400"/>
            <a:ext cx="5829560" cy="3658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87FBBB-0F47-4C66-9759-B7B6BCDD3D33}"/>
              </a:ext>
            </a:extLst>
          </p:cNvPr>
          <p:cNvSpPr/>
          <p:nvPr/>
        </p:nvSpPr>
        <p:spPr>
          <a:xfrm>
            <a:off x="4876800" y="1523254"/>
            <a:ext cx="19050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Driver Class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901996-7D4B-4D26-AEE2-FEA6F3FD6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657600"/>
            <a:ext cx="5510429" cy="27195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9862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NOTE: A simple menu using the </a:t>
            </a:r>
            <a:r>
              <a:rPr lang="en-IE" dirty="0">
                <a:solidFill>
                  <a:srgbClr val="C00000"/>
                </a:solidFill>
              </a:rPr>
              <a:t>older</a:t>
            </a:r>
            <a:r>
              <a:rPr lang="en-IE" dirty="0"/>
              <a:t> format of the switch statement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4" t="36290" r="35718" b="20564"/>
          <a:stretch/>
        </p:blipFill>
        <p:spPr bwMode="auto">
          <a:xfrm>
            <a:off x="2458065" y="1600200"/>
            <a:ext cx="7068472" cy="48004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28D474-972B-44C1-A5C3-27CE57B27A2E}"/>
              </a:ext>
            </a:extLst>
          </p:cNvPr>
          <p:cNvSpPr/>
          <p:nvPr/>
        </p:nvSpPr>
        <p:spPr>
          <a:xfrm>
            <a:off x="8324235" y="2400300"/>
            <a:ext cx="2819400" cy="20574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/>
              <a:t>A </a:t>
            </a:r>
            <a:r>
              <a:rPr lang="en-GB" sz="2000" b="1" dirty="0">
                <a:solidFill>
                  <a:srgbClr val="C00000"/>
                </a:solidFill>
              </a:rPr>
              <a:t>break</a:t>
            </a:r>
            <a:r>
              <a:rPr lang="en-GB" sz="2000" dirty="0"/>
              <a:t> statement is </a:t>
            </a:r>
            <a:r>
              <a:rPr lang="en-GB" sz="2400" dirty="0">
                <a:solidFill>
                  <a:schemeClr val="lt1"/>
                </a:solidFill>
              </a:rPr>
              <a:t>needed</a:t>
            </a:r>
            <a:r>
              <a:rPr lang="en-GB" sz="2000" dirty="0"/>
              <a:t> after each case, otherwise execution “falls” into the next statement regardless.</a:t>
            </a:r>
            <a:endParaRPr lang="en-VI" sz="2000" dirty="0"/>
          </a:p>
        </p:txBody>
      </p:sp>
      <p:sp>
        <p:nvSpPr>
          <p:cNvPr id="5" name="Rectangle: Rounded Corners 5">
            <a:extLst>
              <a:ext uri="{FF2B5EF4-FFF2-40B4-BE49-F238E27FC236}">
                <a16:creationId xmlns:a16="http://schemas.microsoft.com/office/drawing/2014/main" id="{35C72746-AEBA-07EE-F95F-C2AED6FFDDAB}"/>
              </a:ext>
            </a:extLst>
          </p:cNvPr>
          <p:cNvSpPr/>
          <p:nvPr/>
        </p:nvSpPr>
        <p:spPr>
          <a:xfrm>
            <a:off x="8344288" y="5715000"/>
            <a:ext cx="2799347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You should use the newer version</a:t>
            </a:r>
          </a:p>
        </p:txBody>
      </p:sp>
    </p:spTree>
    <p:extLst>
      <p:ext uri="{BB962C8B-B14F-4D97-AF65-F5344CB8AC3E}">
        <p14:creationId xmlns:p14="http://schemas.microsoft.com/office/powerpoint/2010/main" val="52564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6386</TotalTime>
  <Words>1938</Words>
  <Application>Microsoft Macintosh PowerPoint</Application>
  <PresentationFormat>Widescreen</PresentationFormat>
  <Paragraphs>192</Paragraphs>
  <Slides>43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Menu Driven Apps</vt:lpstr>
      <vt:lpstr>Topics list</vt:lpstr>
      <vt:lpstr>Recap - Loop Control Variable</vt:lpstr>
      <vt:lpstr>Topics list</vt:lpstr>
      <vt:lpstr>Recap - Counter-Controlled for Loop</vt:lpstr>
      <vt:lpstr>Recap - Counter-Controlled Loops</vt:lpstr>
      <vt:lpstr>Recap - Counter-Controlled for Loop</vt:lpstr>
      <vt:lpstr>Topics list</vt:lpstr>
      <vt:lpstr>Sentinel-based loops</vt:lpstr>
      <vt:lpstr>Structure</vt:lpstr>
      <vt:lpstr>Try this exercise</vt:lpstr>
      <vt:lpstr>Solution</vt:lpstr>
      <vt:lpstr>Next step in the exercise</vt:lpstr>
      <vt:lpstr>Code with number of inputs</vt:lpstr>
      <vt:lpstr>Try this now - using arrays</vt:lpstr>
      <vt:lpstr>Solution – storing inputs</vt:lpstr>
      <vt:lpstr>Topics list</vt:lpstr>
      <vt:lpstr>Flag-Based Loops</vt:lpstr>
      <vt:lpstr>Flag-Based Loops - example</vt:lpstr>
      <vt:lpstr>Solution: check if ‘any numbers odd’</vt:lpstr>
      <vt:lpstr>Better code...</vt:lpstr>
      <vt:lpstr>PowerPoint Presentation</vt:lpstr>
      <vt:lpstr>Code with boolean return type</vt:lpstr>
      <vt:lpstr>Topics list</vt:lpstr>
      <vt:lpstr>The switch statement </vt:lpstr>
      <vt:lpstr>The switch  statement</vt:lpstr>
      <vt:lpstr>The switch statement</vt:lpstr>
      <vt:lpstr>The switch statement – int example</vt:lpstr>
      <vt:lpstr>The switch statement – String example</vt:lpstr>
      <vt:lpstr>The switch statement – String example</vt:lpstr>
      <vt:lpstr>The switch statement – char example</vt:lpstr>
      <vt:lpstr>Topics list</vt:lpstr>
      <vt:lpstr>Now loop on the switch statement</vt:lpstr>
      <vt:lpstr>This gives the following output</vt:lpstr>
      <vt:lpstr>If you wanted more than one line of code associated with a case, just declare a code block:</vt:lpstr>
      <vt:lpstr>Topics list</vt:lpstr>
      <vt:lpstr>Adding a basic menu to Shop…</vt:lpstr>
      <vt:lpstr>Menu to be displayed…</vt:lpstr>
      <vt:lpstr>Menu to be displayed…</vt:lpstr>
      <vt:lpstr>Handling the menu input…</vt:lpstr>
      <vt:lpstr>Calling the menu on startup…</vt:lpstr>
      <vt:lpstr>NOTE: A simple menu using the older format of the switch statement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 Driven Systems</dc:title>
  <dc:creator>Siobhan Drohan</dc:creator>
  <cp:lastModifiedBy>Mairead Meagher</cp:lastModifiedBy>
  <cp:revision>102</cp:revision>
  <dcterms:created xsi:type="dcterms:W3CDTF">2006-08-16T00:00:00Z</dcterms:created>
  <dcterms:modified xsi:type="dcterms:W3CDTF">2025-02-09T21:29:31Z</dcterms:modified>
</cp:coreProperties>
</file>