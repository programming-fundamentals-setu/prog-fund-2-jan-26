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363" r:id="rId4"/>
    <p:sldId id="372" r:id="rId5"/>
    <p:sldId id="391" r:id="rId6"/>
    <p:sldId id="373" r:id="rId7"/>
    <p:sldId id="394" r:id="rId8"/>
    <p:sldId id="364" r:id="rId9"/>
    <p:sldId id="382" r:id="rId10"/>
    <p:sldId id="383" r:id="rId11"/>
    <p:sldId id="384" r:id="rId12"/>
    <p:sldId id="386" r:id="rId13"/>
    <p:sldId id="396" r:id="rId14"/>
    <p:sldId id="390" r:id="rId15"/>
    <p:sldId id="398" r:id="rId16"/>
    <p:sldId id="397" r:id="rId17"/>
    <p:sldId id="393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95" autoAdjust="0"/>
    <p:restoredTop sz="80426" autoAdjust="0"/>
  </p:normalViewPr>
  <p:slideViewPr>
    <p:cSldViewPr>
      <p:cViewPr varScale="1">
        <p:scale>
          <a:sx n="104" d="100"/>
          <a:sy n="104" d="100"/>
        </p:scale>
        <p:origin x="1520" y="20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3D141-1E1C-433C-AD3A-CD56CBBB4F9F}" type="datetimeFigureOut">
              <a:rPr lang="en-IE" smtClean="0"/>
              <a:t>24/01/2025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3DB36-5273-45A5-A77C-FE9BE0779D8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3454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Objects First with Java</a:t>
            </a:r>
          </a:p>
        </p:txBody>
      </p:sp>
      <p:sp>
        <p:nvSpPr>
          <p:cNvPr id="573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573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fld id="{762EAF62-C546-4744-BC24-2CCA716ACD46}" type="slidenum">
              <a:rPr lang="en-GB" altLang="en-US"/>
              <a:pPr/>
              <a:t>4</a:t>
            </a:fld>
            <a:endParaRPr lang="en-GB" altLang="en-US"/>
          </a:p>
        </p:txBody>
      </p:sp>
      <p:sp>
        <p:nvSpPr>
          <p:cNvPr id="573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2281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Objects First with Java</a:t>
            </a:r>
          </a:p>
        </p:txBody>
      </p:sp>
      <p:sp>
        <p:nvSpPr>
          <p:cNvPr id="583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583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fld id="{6F5C823C-3053-4D97-8BDB-829229CD9DB8}" type="slidenum">
              <a:rPr lang="en-GB" altLang="en-US"/>
              <a:pPr/>
              <a:t>5</a:t>
            </a:fld>
            <a:endParaRPr lang="en-GB" altLang="en-US"/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883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Objects First with Java</a:t>
            </a:r>
          </a:p>
        </p:txBody>
      </p:sp>
      <p:sp>
        <p:nvSpPr>
          <p:cNvPr id="583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583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fld id="{6F5C823C-3053-4D97-8BDB-829229CD9DB8}" type="slidenum">
              <a:rPr lang="en-GB" altLang="en-US"/>
              <a:pPr/>
              <a:t>6</a:t>
            </a:fld>
            <a:endParaRPr lang="en-GB" altLang="en-US"/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We add 20 because its 10 for the height</a:t>
            </a:r>
            <a:r>
              <a:rPr lang="en-US" altLang="en-US" baseline="0" dirty="0"/>
              <a:t> of the rectangle +10 for the gap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01264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D00790-568A-44AB-A948-643E31985A48}" type="slidenum">
              <a:rPr lang="en-GB"/>
              <a:pPr/>
              <a:t>9</a:t>
            </a:fld>
            <a:endParaRPr lang="en-GB"/>
          </a:p>
        </p:txBody>
      </p:sp>
      <p:sp>
        <p:nvSpPr>
          <p:cNvPr id="140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1626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Objects First with Java</a:t>
            </a:r>
          </a:p>
        </p:txBody>
      </p:sp>
      <p:sp>
        <p:nvSpPr>
          <p:cNvPr id="614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614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fld id="{96C53C0E-6DE2-48FF-AFC8-5B6F7D1351EB}" type="slidenum">
              <a:rPr lang="en-GB" altLang="en-US"/>
              <a:pPr/>
              <a:t>10</a:t>
            </a:fld>
            <a:endParaRPr lang="en-GB" altLang="en-US"/>
          </a:p>
        </p:txBody>
      </p:sp>
      <p:sp>
        <p:nvSpPr>
          <p:cNvPr id="614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The “update the LCV” should always update it so that the Boolean condition will eventually evaluation to false. </a:t>
            </a:r>
          </a:p>
        </p:txBody>
      </p:sp>
    </p:spTree>
    <p:extLst>
      <p:ext uri="{BB962C8B-B14F-4D97-AF65-F5344CB8AC3E}">
        <p14:creationId xmlns:p14="http://schemas.microsoft.com/office/powerpoint/2010/main" val="3967997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5206F4-4E20-479E-ABC0-0EB3661565C0}" type="slidenum">
              <a:rPr lang="en-GB"/>
              <a:pPr/>
              <a:t>11</a:t>
            </a:fld>
            <a:endParaRPr lang="en-GB"/>
          </a:p>
        </p:txBody>
      </p:sp>
      <p:sp>
        <p:nvSpPr>
          <p:cNvPr id="16077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6779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dirty="0" err="1"/>
              <a:t>int</a:t>
            </a:r>
            <a:r>
              <a:rPr lang="en-IE" sz="1200" dirty="0"/>
              <a:t> </a:t>
            </a:r>
            <a:r>
              <a:rPr lang="en-IE" sz="1100" dirty="0" err="1"/>
              <a:t>yCoordinate</a:t>
            </a:r>
            <a:r>
              <a:rPr lang="en-IE" sz="1200" dirty="0"/>
              <a:t> = 60;</a:t>
            </a:r>
          </a:p>
          <a:p>
            <a:endParaRPr lang="en-IE" sz="1200" dirty="0"/>
          </a:p>
          <a:p>
            <a:r>
              <a:rPr lang="en-IE" sz="1200" dirty="0"/>
              <a:t>size(600, 300);</a:t>
            </a:r>
          </a:p>
          <a:p>
            <a:r>
              <a:rPr lang="en-IE" sz="1200" dirty="0"/>
              <a:t>background(102);</a:t>
            </a:r>
          </a:p>
          <a:p>
            <a:r>
              <a:rPr lang="en-IE" sz="1200" dirty="0"/>
              <a:t>fill(255);</a:t>
            </a:r>
          </a:p>
          <a:p>
            <a:r>
              <a:rPr lang="en-IE" sz="1200" dirty="0" err="1"/>
              <a:t>noStroke</a:t>
            </a:r>
            <a:r>
              <a:rPr lang="en-IE" sz="1200" dirty="0"/>
              <a:t>();</a:t>
            </a:r>
          </a:p>
          <a:p>
            <a:endParaRPr lang="en-IE" sz="1200" dirty="0"/>
          </a:p>
          <a:p>
            <a:r>
              <a:rPr lang="en-IE" sz="1200" dirty="0" err="1"/>
              <a:t>int</a:t>
            </a:r>
            <a:r>
              <a:rPr lang="en-IE" sz="1200" dirty="0"/>
              <a:t> </a:t>
            </a:r>
            <a:r>
              <a:rPr lang="en-IE" sz="1200" dirty="0" err="1"/>
              <a:t>i</a:t>
            </a:r>
            <a:r>
              <a:rPr lang="en-IE" sz="1200" dirty="0"/>
              <a:t> = 0; </a:t>
            </a:r>
          </a:p>
          <a:p>
            <a:r>
              <a:rPr lang="en-IE" sz="1200" dirty="0"/>
              <a:t>while(</a:t>
            </a:r>
            <a:r>
              <a:rPr lang="en-IE" sz="1200" dirty="0" err="1"/>
              <a:t>i</a:t>
            </a:r>
            <a:r>
              <a:rPr lang="en-IE" sz="1200" dirty="0"/>
              <a:t> &lt; 4)</a:t>
            </a:r>
          </a:p>
          <a:p>
            <a:r>
              <a:rPr lang="en-IE" sz="1200" dirty="0"/>
              <a:t>{</a:t>
            </a:r>
          </a:p>
          <a:p>
            <a:r>
              <a:rPr lang="en-IE" sz="1200" dirty="0"/>
              <a:t>    </a:t>
            </a:r>
            <a:r>
              <a:rPr lang="en-IE" sz="1200" dirty="0" err="1"/>
              <a:t>rect</a:t>
            </a:r>
            <a:r>
              <a:rPr lang="en-IE" sz="1200" dirty="0"/>
              <a:t>(50, </a:t>
            </a:r>
            <a:r>
              <a:rPr lang="en-IE" sz="1200" dirty="0" err="1"/>
              <a:t>yCoordinate</a:t>
            </a:r>
            <a:r>
              <a:rPr lang="en-IE" sz="1200" dirty="0"/>
              <a:t>, 500, 10);</a:t>
            </a:r>
          </a:p>
          <a:p>
            <a:r>
              <a:rPr lang="en-IE" sz="1200" dirty="0"/>
              <a:t>    </a:t>
            </a:r>
            <a:r>
              <a:rPr lang="en-IE" sz="1200" dirty="0" err="1"/>
              <a:t>yCoordinate</a:t>
            </a:r>
            <a:r>
              <a:rPr lang="en-IE" sz="1200" dirty="0"/>
              <a:t> += 20;</a:t>
            </a:r>
          </a:p>
          <a:p>
            <a:r>
              <a:rPr lang="en-IE" sz="1200" dirty="0"/>
              <a:t>    </a:t>
            </a:r>
            <a:r>
              <a:rPr lang="en-IE" sz="1200" dirty="0" err="1"/>
              <a:t>i</a:t>
            </a:r>
            <a:r>
              <a:rPr lang="en-IE" sz="1200" dirty="0"/>
              <a:t>++;</a:t>
            </a:r>
          </a:p>
          <a:p>
            <a:r>
              <a:rPr lang="en-IE" sz="1200" dirty="0"/>
              <a:t>}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300401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dirty="0" err="1"/>
              <a:t>int</a:t>
            </a:r>
            <a:r>
              <a:rPr lang="en-IE" sz="1200" dirty="0"/>
              <a:t> </a:t>
            </a:r>
            <a:r>
              <a:rPr lang="en-IE" sz="1100" dirty="0" err="1"/>
              <a:t>yCoordinate</a:t>
            </a:r>
            <a:r>
              <a:rPr lang="en-IE" sz="1200" dirty="0"/>
              <a:t> = 60;</a:t>
            </a:r>
          </a:p>
          <a:p>
            <a:endParaRPr lang="en-IE" sz="1200" dirty="0"/>
          </a:p>
          <a:p>
            <a:r>
              <a:rPr lang="en-IE" sz="1200" dirty="0"/>
              <a:t>size(600, 300);</a:t>
            </a:r>
          </a:p>
          <a:p>
            <a:r>
              <a:rPr lang="en-IE" sz="1200" dirty="0"/>
              <a:t>background(102);</a:t>
            </a:r>
          </a:p>
          <a:p>
            <a:r>
              <a:rPr lang="en-IE" sz="1200" dirty="0"/>
              <a:t>fill(255);</a:t>
            </a:r>
          </a:p>
          <a:p>
            <a:r>
              <a:rPr lang="en-IE" sz="1200" dirty="0" err="1"/>
              <a:t>noStroke</a:t>
            </a:r>
            <a:r>
              <a:rPr lang="en-IE" sz="1200" dirty="0"/>
              <a:t>();</a:t>
            </a:r>
          </a:p>
          <a:p>
            <a:endParaRPr lang="en-IE" sz="1200" dirty="0"/>
          </a:p>
          <a:p>
            <a:r>
              <a:rPr lang="en-IE" sz="1200" dirty="0" err="1"/>
              <a:t>int</a:t>
            </a:r>
            <a:r>
              <a:rPr lang="en-IE" sz="1200" dirty="0"/>
              <a:t> </a:t>
            </a:r>
            <a:r>
              <a:rPr lang="en-IE" sz="1200" dirty="0" err="1"/>
              <a:t>i</a:t>
            </a:r>
            <a:r>
              <a:rPr lang="en-IE" sz="1200" dirty="0"/>
              <a:t> = 0; </a:t>
            </a:r>
          </a:p>
          <a:p>
            <a:r>
              <a:rPr lang="en-IE" sz="1200" dirty="0"/>
              <a:t>while(</a:t>
            </a:r>
            <a:r>
              <a:rPr lang="en-IE" sz="1200" dirty="0" err="1"/>
              <a:t>i</a:t>
            </a:r>
            <a:r>
              <a:rPr lang="en-IE" sz="1200" dirty="0"/>
              <a:t> &lt; 4)</a:t>
            </a:r>
          </a:p>
          <a:p>
            <a:r>
              <a:rPr lang="en-IE" sz="1200" dirty="0"/>
              <a:t>{</a:t>
            </a:r>
          </a:p>
          <a:p>
            <a:r>
              <a:rPr lang="en-IE" sz="1200" dirty="0"/>
              <a:t>    </a:t>
            </a:r>
            <a:r>
              <a:rPr lang="en-IE" sz="1200" dirty="0" err="1"/>
              <a:t>rect</a:t>
            </a:r>
            <a:r>
              <a:rPr lang="en-IE" sz="1200" dirty="0"/>
              <a:t>(50, </a:t>
            </a:r>
            <a:r>
              <a:rPr lang="en-IE" sz="1200" dirty="0" err="1"/>
              <a:t>yCoordinate</a:t>
            </a:r>
            <a:r>
              <a:rPr lang="en-IE" sz="1200" dirty="0"/>
              <a:t>, 500, 10);</a:t>
            </a:r>
          </a:p>
          <a:p>
            <a:r>
              <a:rPr lang="en-IE" sz="1200" dirty="0"/>
              <a:t>    </a:t>
            </a:r>
            <a:r>
              <a:rPr lang="en-IE" sz="1200" dirty="0" err="1"/>
              <a:t>yCoordinate</a:t>
            </a:r>
            <a:r>
              <a:rPr lang="en-IE" sz="1200" dirty="0"/>
              <a:t> += 20;</a:t>
            </a:r>
          </a:p>
          <a:p>
            <a:r>
              <a:rPr lang="en-IE" sz="1200" dirty="0"/>
              <a:t>    </a:t>
            </a:r>
            <a:r>
              <a:rPr lang="en-IE" sz="1200" dirty="0" err="1"/>
              <a:t>i</a:t>
            </a:r>
            <a:r>
              <a:rPr lang="en-IE" sz="1200" dirty="0"/>
              <a:t>++;</a:t>
            </a:r>
          </a:p>
          <a:p>
            <a:r>
              <a:rPr lang="en-IE" sz="1200" dirty="0"/>
              <a:t>}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222823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Objects First with Java</a:t>
            </a:r>
          </a:p>
        </p:txBody>
      </p:sp>
      <p:sp>
        <p:nvSpPr>
          <p:cNvPr id="583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583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fld id="{6F5C823C-3053-4D97-8BDB-829229CD9DB8}" type="slidenum">
              <a:rPr lang="en-GB" altLang="en-US"/>
              <a:pPr/>
              <a:t>15</a:t>
            </a:fld>
            <a:endParaRPr lang="en-GB" altLang="en-US"/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We add 20 because its 10 for the height</a:t>
            </a:r>
            <a:r>
              <a:rPr lang="en-US" altLang="en-US" baseline="0" dirty="0"/>
              <a:t> of the rectangle +10 for the gap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07874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Iteration in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while loops and loop control variable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50DFAC-D2FB-46E9-B0A2-6B739AB27C7B}"/>
              </a:ext>
            </a:extLst>
          </p:cNvPr>
          <p:cNvSpPr txBox="1"/>
          <p:nvPr/>
        </p:nvSpPr>
        <p:spPr>
          <a:xfrm>
            <a:off x="3810000" y="3817204"/>
            <a:ext cx="358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</a:t>
            </a:r>
          </a:p>
          <a:p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Dr.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Drohan</a:t>
            </a:r>
          </a:p>
          <a:p>
            <a:r>
              <a:rPr lang="en-IE" sz="2400">
                <a:solidFill>
                  <a:schemeClr val="tx1">
                    <a:lumMod val="75000"/>
                    <a:lumOff val="25000"/>
                  </a:schemeClr>
                </a:solidFill>
              </a:rPr>
              <a:t>Ms Siobhan Roche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EBE09D-38F2-2DA1-A379-F9D5185C2458}"/>
              </a:ext>
            </a:extLst>
          </p:cNvPr>
          <p:cNvSpPr txBox="1"/>
          <p:nvPr/>
        </p:nvSpPr>
        <p:spPr>
          <a:xfrm>
            <a:off x="7336971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4F34118E-D0AE-A5FA-37FD-BD048756CBE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E" dirty="0"/>
          </a:p>
          <a:p>
            <a:pPr marL="0" indent="0">
              <a:buNone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Repetition in Programming – Intro to looping</a:t>
            </a:r>
          </a:p>
          <a:p>
            <a:pPr marL="0" indent="0">
              <a:buNone/>
            </a:pPr>
            <a:endParaRPr lang="en-IE" dirty="0"/>
          </a:p>
          <a:p>
            <a:pPr marL="514350" indent="-514350">
              <a:buFont typeface="+mj-lt"/>
              <a:buAutoNum type="arabicPeriod" startAt="2"/>
            </a:pPr>
            <a:r>
              <a:rPr lang="en-IE" dirty="0"/>
              <a:t>Use of loops (while loops).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6" name="Rectangle 5"/>
          <p:cNvSpPr/>
          <p:nvPr/>
        </p:nvSpPr>
        <p:spPr>
          <a:xfrm>
            <a:off x="1143000" y="2819400"/>
            <a:ext cx="8229600" cy="5334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35913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Recap: Boolean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dirty="0" err="1"/>
              <a:t>boolean</a:t>
            </a:r>
            <a:r>
              <a:rPr lang="en-IE" dirty="0"/>
              <a:t> condition is an expression that evaluates to either true or false e.g.</a:t>
            </a:r>
          </a:p>
          <a:p>
            <a:pPr marL="0" indent="0">
              <a:buNone/>
            </a:pPr>
            <a:r>
              <a:rPr lang="en-IE" sz="28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</a:t>
            </a:r>
            <a:r>
              <a:rPr lang="en-IE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x&lt;50</a:t>
            </a:r>
          </a:p>
          <a:p>
            <a:pPr marL="0" indent="0">
              <a:buNone/>
            </a:pPr>
            <a:endParaRPr lang="en-IE" dirty="0"/>
          </a:p>
          <a:p>
            <a:r>
              <a:rPr lang="en-IE" dirty="0"/>
              <a:t>Boolean conditions can be used to control:</a:t>
            </a:r>
          </a:p>
          <a:p>
            <a:pPr lvl="1"/>
            <a:r>
              <a:rPr lang="en-IE" dirty="0"/>
              <a:t>Selection i.e. if statements and </a:t>
            </a:r>
          </a:p>
          <a:p>
            <a:pPr lvl="1"/>
            <a:r>
              <a:rPr lang="en-IE" dirty="0"/>
              <a:t>Iteration i.e. loops (we will look at these now).</a:t>
            </a:r>
          </a:p>
        </p:txBody>
      </p:sp>
    </p:spTree>
    <p:extLst>
      <p:ext uri="{BB962C8B-B14F-4D97-AF65-F5344CB8AC3E}">
        <p14:creationId xmlns:p14="http://schemas.microsoft.com/office/powerpoint/2010/main" val="4178950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Repetition in Programming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000" dirty="0"/>
              <a:t>Computers are very good at repetition.</a:t>
            </a:r>
          </a:p>
          <a:p>
            <a:pPr>
              <a:lnSpc>
                <a:spcPct val="90000"/>
              </a:lnSpc>
            </a:pPr>
            <a:endParaRPr lang="en-US" altLang="en-US" sz="3000" dirty="0"/>
          </a:p>
          <a:p>
            <a:pPr>
              <a:lnSpc>
                <a:spcPct val="90000"/>
              </a:lnSpc>
            </a:pPr>
            <a:r>
              <a:rPr lang="en-US" altLang="en-US" sz="3000" dirty="0"/>
              <a:t>Example:</a:t>
            </a:r>
          </a:p>
          <a:p>
            <a:pPr lvl="1">
              <a:lnSpc>
                <a:spcPct val="90000"/>
              </a:lnSpc>
            </a:pPr>
            <a:r>
              <a:rPr lang="en-US" altLang="en-US" sz="2600" dirty="0">
                <a:solidFill>
                  <a:srgbClr val="FF0000"/>
                </a:solidFill>
              </a:rPr>
              <a:t>calculate pay </a:t>
            </a:r>
            <a:r>
              <a:rPr lang="en-US" altLang="en-US" sz="2600" dirty="0"/>
              <a:t>for 1000 employees.</a:t>
            </a:r>
          </a:p>
          <a:p>
            <a:pPr lvl="1">
              <a:lnSpc>
                <a:spcPct val="90000"/>
              </a:lnSpc>
            </a:pPr>
            <a:r>
              <a:rPr lang="en-US" altLang="en-US" sz="2600" dirty="0"/>
              <a:t>You should use the same </a:t>
            </a:r>
            <a:r>
              <a:rPr lang="en-US" altLang="en-US" sz="2600" dirty="0">
                <a:solidFill>
                  <a:srgbClr val="FF0000"/>
                </a:solidFill>
              </a:rPr>
              <a:t>calculate pay </a:t>
            </a:r>
            <a:r>
              <a:rPr lang="en-US" altLang="en-US" sz="2600" dirty="0"/>
              <a:t>algorithm 1000 times.</a:t>
            </a:r>
          </a:p>
          <a:p>
            <a:pPr lvl="1">
              <a:lnSpc>
                <a:spcPct val="90000"/>
              </a:lnSpc>
            </a:pPr>
            <a:r>
              <a:rPr lang="en-US" altLang="en-US" sz="2600" dirty="0"/>
              <a:t>You don’t write the </a:t>
            </a:r>
            <a:r>
              <a:rPr lang="en-US" altLang="en-US" sz="2600" dirty="0">
                <a:solidFill>
                  <a:srgbClr val="FF0000"/>
                </a:solidFill>
              </a:rPr>
              <a:t>calculate pay </a:t>
            </a:r>
            <a:r>
              <a:rPr lang="en-US" altLang="en-US" sz="2600" dirty="0"/>
              <a:t>algorithm 1000 times; instead you include it in a loop.</a:t>
            </a:r>
          </a:p>
        </p:txBody>
      </p:sp>
    </p:spTree>
    <p:extLst>
      <p:ext uri="{BB962C8B-B14F-4D97-AF65-F5344CB8AC3E}">
        <p14:creationId xmlns:p14="http://schemas.microsoft.com/office/powerpoint/2010/main" val="1659029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Form of loop</a:t>
            </a:r>
          </a:p>
        </p:txBody>
      </p:sp>
      <p:sp>
        <p:nvSpPr>
          <p:cNvPr id="614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981200" y="1524001"/>
            <a:ext cx="8305800" cy="452596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Write the all the numbers between 1 and 5 inclusive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Without loop: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altLang="en-US" dirty="0"/>
          </a:p>
          <a:p>
            <a:pPr lvl="1">
              <a:lnSpc>
                <a:spcPct val="90000"/>
              </a:lnSpc>
              <a:buNone/>
            </a:pPr>
            <a:r>
              <a:rPr lang="en-IE" dirty="0" err="1"/>
              <a:t>System.out.println</a:t>
            </a:r>
            <a:r>
              <a:rPr lang="en-IE" dirty="0"/>
              <a:t>(1);</a:t>
            </a:r>
          </a:p>
          <a:p>
            <a:pPr lvl="1">
              <a:lnSpc>
                <a:spcPct val="90000"/>
              </a:lnSpc>
              <a:buNone/>
            </a:pPr>
            <a:r>
              <a:rPr lang="en-IE" dirty="0" err="1"/>
              <a:t>System.out.println</a:t>
            </a:r>
            <a:r>
              <a:rPr lang="en-IE" dirty="0"/>
              <a:t>(2);</a:t>
            </a:r>
          </a:p>
          <a:p>
            <a:pPr lvl="1">
              <a:lnSpc>
                <a:spcPct val="90000"/>
              </a:lnSpc>
              <a:buNone/>
            </a:pPr>
            <a:r>
              <a:rPr lang="en-IE" dirty="0" err="1"/>
              <a:t>System.out.println</a:t>
            </a:r>
            <a:r>
              <a:rPr lang="en-IE" dirty="0"/>
              <a:t>(3);</a:t>
            </a:r>
          </a:p>
          <a:p>
            <a:pPr lvl="1">
              <a:lnSpc>
                <a:spcPct val="90000"/>
              </a:lnSpc>
              <a:buNone/>
            </a:pPr>
            <a:r>
              <a:rPr lang="en-IE" dirty="0" err="1"/>
              <a:t>System.out.println</a:t>
            </a:r>
            <a:r>
              <a:rPr lang="en-IE" dirty="0"/>
              <a:t>(4);</a:t>
            </a:r>
          </a:p>
          <a:p>
            <a:pPr lvl="1">
              <a:lnSpc>
                <a:spcPct val="90000"/>
              </a:lnSpc>
              <a:buNone/>
            </a:pPr>
            <a:r>
              <a:rPr lang="en-IE" dirty="0" err="1"/>
              <a:t>System.out.println</a:t>
            </a:r>
            <a:r>
              <a:rPr lang="en-IE" dirty="0"/>
              <a:t>(5);</a:t>
            </a:r>
          </a:p>
          <a:p>
            <a:pPr lvl="1">
              <a:lnSpc>
                <a:spcPct val="90000"/>
              </a:lnSpc>
              <a:buNone/>
            </a:pPr>
            <a:endParaRPr lang="en-IE" dirty="0"/>
          </a:p>
          <a:p>
            <a:pPr lvl="1">
              <a:lnSpc>
                <a:spcPct val="90000"/>
              </a:lnSpc>
              <a:buNone/>
            </a:pPr>
            <a:endParaRPr lang="en-IE" dirty="0"/>
          </a:p>
          <a:p>
            <a:pPr lvl="1">
              <a:lnSpc>
                <a:spcPct val="90000"/>
              </a:lnSpc>
              <a:buNone/>
            </a:pPr>
            <a:r>
              <a:rPr lang="en-IE" dirty="0"/>
              <a:t>		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27026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Form of loop</a:t>
            </a:r>
          </a:p>
        </p:txBody>
      </p:sp>
      <p:sp>
        <p:nvSpPr>
          <p:cNvPr id="614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981200" y="1524000"/>
            <a:ext cx="8305800" cy="5105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Write the all the numbers between 1 and 5 inclusive</a:t>
            </a:r>
          </a:p>
          <a:p>
            <a:pPr>
              <a:lnSpc>
                <a:spcPct val="90000"/>
              </a:lnSpc>
            </a:pPr>
            <a:endParaRPr lang="en-US" altLang="en-US" sz="2800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With a loop:</a:t>
            </a:r>
          </a:p>
          <a:p>
            <a:pPr lvl="1">
              <a:lnSpc>
                <a:spcPct val="90000"/>
              </a:lnSpc>
            </a:pPr>
            <a:endParaRPr lang="en-US" altLang="en-US" sz="1400" dirty="0"/>
          </a:p>
          <a:p>
            <a:pPr lvl="2">
              <a:lnSpc>
                <a:spcPct val="90000"/>
              </a:lnSpc>
            </a:pPr>
            <a:r>
              <a:rPr lang="en-US" altLang="en-US" dirty="0"/>
              <a:t>do this 5 times </a:t>
            </a:r>
            <a:br>
              <a:rPr lang="en-US" altLang="en-US" dirty="0"/>
            </a:b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sz="1100" dirty="0"/>
          </a:p>
          <a:p>
            <a:pPr lvl="1">
              <a:lnSpc>
                <a:spcPct val="90000"/>
              </a:lnSpc>
              <a:buNone/>
            </a:pPr>
            <a:r>
              <a:rPr lang="en-IE" dirty="0"/>
              <a:t>			</a:t>
            </a:r>
            <a:r>
              <a:rPr lang="en-IE" dirty="0" err="1"/>
              <a:t>System.out.println</a:t>
            </a:r>
            <a:r>
              <a:rPr lang="en-IE" dirty="0"/>
              <a:t>(</a:t>
            </a:r>
            <a:r>
              <a:rPr lang="en-IE" dirty="0" err="1"/>
              <a:t>i</a:t>
            </a:r>
            <a:r>
              <a:rPr lang="en-IE" dirty="0"/>
              <a:t>);</a:t>
            </a:r>
          </a:p>
          <a:p>
            <a:pPr lvl="1">
              <a:lnSpc>
                <a:spcPct val="90000"/>
              </a:lnSpc>
              <a:buNone/>
            </a:pPr>
            <a:endParaRPr lang="en-IE" dirty="0"/>
          </a:p>
          <a:p>
            <a:pPr lvl="1">
              <a:lnSpc>
                <a:spcPct val="90000"/>
              </a:lnSpc>
              <a:buNone/>
            </a:pPr>
            <a:r>
              <a:rPr lang="en-IE" b="1" i="1" dirty="0">
                <a:solidFill>
                  <a:srgbClr val="0070C0"/>
                </a:solidFill>
              </a:rPr>
              <a:t>With the value of </a:t>
            </a:r>
            <a:r>
              <a:rPr lang="en-IE" b="1" i="1" dirty="0" err="1">
                <a:solidFill>
                  <a:srgbClr val="0070C0"/>
                </a:solidFill>
              </a:rPr>
              <a:t>i</a:t>
            </a:r>
            <a:r>
              <a:rPr lang="en-IE" b="1" i="1" dirty="0">
                <a:solidFill>
                  <a:srgbClr val="0070C0"/>
                </a:solidFill>
              </a:rPr>
              <a:t> going from 1 to 5</a:t>
            </a:r>
          </a:p>
          <a:p>
            <a:pPr lvl="2">
              <a:lnSpc>
                <a:spcPct val="90000"/>
              </a:lnSpc>
              <a:buFontTx/>
              <a:buNone/>
            </a:pPr>
            <a:endParaRPr lang="en-US" altLang="en-US" dirty="0"/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en-US" i="1" dirty="0"/>
              <a:t>(We’ll revisit this at the end of the slides)</a:t>
            </a:r>
          </a:p>
        </p:txBody>
      </p:sp>
    </p:spTree>
    <p:extLst>
      <p:ext uri="{BB962C8B-B14F-4D97-AF65-F5344CB8AC3E}">
        <p14:creationId xmlns:p14="http://schemas.microsoft.com/office/powerpoint/2010/main" val="25284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E" dirty="0"/>
          </a:p>
          <a:p>
            <a:pPr marL="0" indent="0">
              <a:buNone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Repetition in Programming – Intro to looping</a:t>
            </a:r>
          </a:p>
          <a:p>
            <a:endParaRPr lang="en-IE" dirty="0"/>
          </a:p>
          <a:p>
            <a:pPr marL="514350" indent="-514350">
              <a:buFont typeface="+mj-lt"/>
              <a:buAutoNum type="arabicPeriod" startAt="2"/>
            </a:pPr>
            <a:r>
              <a:rPr lang="en-IE" dirty="0"/>
              <a:t>Use of loops (while loops).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6" name="Rectangle 5"/>
          <p:cNvSpPr/>
          <p:nvPr/>
        </p:nvSpPr>
        <p:spPr>
          <a:xfrm>
            <a:off x="1143000" y="3962400"/>
            <a:ext cx="8001000" cy="5334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27151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Loops in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There are three types of loop in (Java) programming:</a:t>
            </a:r>
          </a:p>
          <a:p>
            <a:endParaRPr lang="en-IE" dirty="0"/>
          </a:p>
          <a:p>
            <a:pPr lvl="1"/>
            <a:r>
              <a:rPr lang="en-IE" b="1" dirty="0"/>
              <a:t>while</a:t>
            </a:r>
            <a:r>
              <a:rPr lang="en-IE" dirty="0"/>
              <a:t> loops</a:t>
            </a:r>
          </a:p>
          <a:p>
            <a:pPr lvl="1"/>
            <a:r>
              <a:rPr lang="en-IE" b="1" dirty="0"/>
              <a:t>for</a:t>
            </a:r>
            <a:r>
              <a:rPr lang="en-IE" dirty="0"/>
              <a:t> loops</a:t>
            </a:r>
          </a:p>
          <a:p>
            <a:pPr lvl="1"/>
            <a:r>
              <a:rPr lang="en-IE" b="1" dirty="0"/>
              <a:t>do while</a:t>
            </a:r>
            <a:r>
              <a:rPr lang="en-IE" dirty="0"/>
              <a:t> loops</a:t>
            </a:r>
          </a:p>
          <a:p>
            <a:pPr lvl="1"/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874484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while loop </a:t>
            </a:r>
            <a:r>
              <a:rPr lang="en-US" dirty="0"/>
              <a:t>pseudo code</a:t>
            </a: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4038600" y="3124200"/>
            <a:ext cx="32004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sz="1600" dirty="0"/>
              <a:t>while(</a:t>
            </a:r>
            <a:r>
              <a:rPr lang="en-US" sz="1600" i="1" dirty="0"/>
              <a:t>loop condition</a:t>
            </a:r>
            <a:r>
              <a:rPr lang="en-US" sz="1600" dirty="0"/>
              <a:t>) {</a:t>
            </a:r>
          </a:p>
          <a:p>
            <a:r>
              <a:rPr lang="en-US" sz="1600" dirty="0"/>
              <a:t>    </a:t>
            </a:r>
            <a:r>
              <a:rPr lang="en-US" sz="1600" i="1" dirty="0"/>
              <a:t>loop body</a:t>
            </a:r>
            <a:endParaRPr lang="en-US" sz="1600" dirty="0"/>
          </a:p>
          <a:p>
            <a:r>
              <a:rPr lang="en-US" sz="1600" dirty="0"/>
              <a:t>} </a:t>
            </a:r>
          </a:p>
        </p:txBody>
      </p:sp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3024189" y="5500688"/>
            <a:ext cx="63595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latin typeface="Trebuchet MS" pitchFamily="-32" charset="0"/>
              </a:rPr>
              <a:t>while we wish to continue, do the things in the loop body</a:t>
            </a:r>
          </a:p>
        </p:txBody>
      </p:sp>
      <p:sp>
        <p:nvSpPr>
          <p:cNvPr id="18439" name="AutoShape 7"/>
          <p:cNvSpPr>
            <a:spLocks noChangeArrowheads="1"/>
          </p:cNvSpPr>
          <p:nvPr/>
        </p:nvSpPr>
        <p:spPr bwMode="auto">
          <a:xfrm>
            <a:off x="6553200" y="2590800"/>
            <a:ext cx="2133600" cy="457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 err="1">
                <a:solidFill>
                  <a:srgbClr val="A57133"/>
                </a:solidFill>
                <a:latin typeface="Trebuchet MS" pitchFamily="-32" charset="0"/>
              </a:rPr>
              <a:t>boolean</a:t>
            </a:r>
            <a:r>
              <a:rPr lang="en-US" dirty="0">
                <a:solidFill>
                  <a:srgbClr val="A57133"/>
                </a:solidFill>
                <a:latin typeface="Trebuchet MS" pitchFamily="-32" charset="0"/>
              </a:rPr>
              <a:t> condition</a:t>
            </a:r>
          </a:p>
        </p:txBody>
      </p:sp>
      <p:sp>
        <p:nvSpPr>
          <p:cNvPr id="18440" name="Line 8"/>
          <p:cNvSpPr>
            <a:spLocks noChangeShapeType="1"/>
          </p:cNvSpPr>
          <p:nvPr/>
        </p:nvSpPr>
        <p:spPr bwMode="auto">
          <a:xfrm flipH="1">
            <a:off x="5638800" y="28194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442" name="AutoShape 10"/>
          <p:cNvSpPr>
            <a:spLocks noChangeArrowheads="1"/>
          </p:cNvSpPr>
          <p:nvPr/>
        </p:nvSpPr>
        <p:spPr bwMode="auto">
          <a:xfrm>
            <a:off x="2438400" y="2286000"/>
            <a:ext cx="1905000" cy="457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A57133"/>
                </a:solidFill>
              </a:rPr>
              <a:t>while</a:t>
            </a:r>
            <a:r>
              <a:rPr lang="en-US">
                <a:solidFill>
                  <a:srgbClr val="A57133"/>
                </a:solidFill>
                <a:latin typeface="Times New Roman" pitchFamily="-32" charset="0"/>
              </a:rPr>
              <a:t> </a:t>
            </a:r>
            <a:r>
              <a:rPr lang="en-US">
                <a:solidFill>
                  <a:srgbClr val="A57133"/>
                </a:solidFill>
                <a:latin typeface="Trebuchet MS" pitchFamily="-32" charset="0"/>
              </a:rPr>
              <a:t>keyword</a:t>
            </a:r>
          </a:p>
        </p:txBody>
      </p:sp>
      <p:sp>
        <p:nvSpPr>
          <p:cNvPr id="18443" name="Line 11"/>
          <p:cNvSpPr>
            <a:spLocks noChangeShapeType="1"/>
          </p:cNvSpPr>
          <p:nvPr/>
        </p:nvSpPr>
        <p:spPr bwMode="auto">
          <a:xfrm>
            <a:off x="3352800" y="27432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445" name="AutoShape 13"/>
          <p:cNvSpPr>
            <a:spLocks noChangeArrowheads="1"/>
          </p:cNvSpPr>
          <p:nvPr/>
        </p:nvSpPr>
        <p:spPr bwMode="auto">
          <a:xfrm>
            <a:off x="7010400" y="3276600"/>
            <a:ext cx="2971800" cy="457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>
                <a:solidFill>
                  <a:srgbClr val="A57133"/>
                </a:solidFill>
                <a:latin typeface="Trebuchet MS" pitchFamily="-32" charset="0"/>
              </a:rPr>
              <a:t>Statements to be repeated</a:t>
            </a:r>
          </a:p>
        </p:txBody>
      </p:sp>
      <p:sp>
        <p:nvSpPr>
          <p:cNvPr id="18446" name="Line 14"/>
          <p:cNvSpPr>
            <a:spLocks noChangeShapeType="1"/>
          </p:cNvSpPr>
          <p:nvPr/>
        </p:nvSpPr>
        <p:spPr bwMode="auto">
          <a:xfrm flipH="1">
            <a:off x="6019800" y="35052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448" name="AutoShape 16"/>
          <p:cNvSpPr>
            <a:spLocks noChangeArrowheads="1"/>
          </p:cNvSpPr>
          <p:nvPr/>
        </p:nvSpPr>
        <p:spPr bwMode="auto">
          <a:xfrm>
            <a:off x="3862389" y="4495800"/>
            <a:ext cx="4467225" cy="711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dirty="0">
                <a:solidFill>
                  <a:srgbClr val="A57133"/>
                </a:solidFill>
                <a:latin typeface="Trebuchet MS" pitchFamily="-32" charset="0"/>
              </a:rPr>
              <a:t>Pseudo-code expression of the actions of a while loop</a:t>
            </a:r>
          </a:p>
        </p:txBody>
      </p:sp>
      <p:sp>
        <p:nvSpPr>
          <p:cNvPr id="18450" name="AutoShape 18"/>
          <p:cNvSpPr>
            <a:spLocks noChangeArrowheads="1"/>
          </p:cNvSpPr>
          <p:nvPr/>
        </p:nvSpPr>
        <p:spPr bwMode="auto">
          <a:xfrm>
            <a:off x="4419600" y="1828800"/>
            <a:ext cx="3200400" cy="3810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A57133"/>
                </a:solidFill>
                <a:latin typeface="Trebuchet MS" pitchFamily="-32" charset="0"/>
              </a:rPr>
              <a:t>General form of a while loop</a:t>
            </a:r>
          </a:p>
        </p:txBody>
      </p:sp>
      <p:sp>
        <p:nvSpPr>
          <p:cNvPr id="18455" name="Rectangle 23"/>
          <p:cNvSpPr>
            <a:spLocks noChangeArrowheads="1"/>
          </p:cNvSpPr>
          <p:nvPr/>
        </p:nvSpPr>
        <p:spPr bwMode="auto">
          <a:xfrm>
            <a:off x="2286000" y="2787134"/>
            <a:ext cx="7772400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IE"/>
          </a:p>
        </p:txBody>
      </p:sp>
      <p:sp>
        <p:nvSpPr>
          <p:cNvPr id="18457" name="AutoShape 25"/>
          <p:cNvSpPr>
            <a:spLocks noChangeArrowheads="1"/>
          </p:cNvSpPr>
          <p:nvPr/>
        </p:nvSpPr>
        <p:spPr bwMode="auto">
          <a:xfrm flipH="1" flipV="1">
            <a:off x="2819400" y="3320534"/>
            <a:ext cx="990600" cy="369332"/>
          </a:xfrm>
          <a:prstGeom prst="curvedLeftArrow">
            <a:avLst>
              <a:gd name="adj1" fmla="val 20000"/>
              <a:gd name="adj2" fmla="val 40000"/>
              <a:gd name="adj3" fmla="val 4333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04770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7" grpId="0"/>
      <p:bldP spid="18439" grpId="0" animBg="1"/>
      <p:bldP spid="18440" grpId="0" animBg="1"/>
      <p:bldP spid="18442" grpId="0" animBg="1"/>
      <p:bldP spid="18443" grpId="0" animBg="1"/>
      <p:bldP spid="18445" grpId="0" animBg="1"/>
      <p:bldP spid="18446" grpId="0" animBg="1"/>
      <p:bldP spid="1844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Construction of while loop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0"/>
            <a:ext cx="8382000" cy="3733800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 Declare and </a:t>
            </a:r>
            <a:r>
              <a:rPr lang="en-US" altLang="en-US" dirty="0" err="1">
                <a:solidFill>
                  <a:srgbClr val="000000"/>
                </a:solidFill>
                <a:ea typeface="MS PGothic" pitchFamily="34" charset="-128"/>
              </a:rPr>
              <a:t>initialise</a:t>
            </a: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</a:t>
            </a:r>
            <a:r>
              <a:rPr lang="en-US" altLang="en-US" dirty="0">
                <a:solidFill>
                  <a:srgbClr val="FF0000"/>
                </a:solidFill>
                <a:ea typeface="MS PGothic" pitchFamily="34" charset="-128"/>
              </a:rPr>
              <a:t>loop control variable (LCV)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 while(</a:t>
            </a:r>
            <a:r>
              <a:rPr lang="en-US" altLang="en-US" dirty="0" err="1">
                <a:solidFill>
                  <a:srgbClr val="000000"/>
                </a:solidFill>
                <a:ea typeface="MS PGothic" pitchFamily="34" charset="-128"/>
              </a:rPr>
              <a:t>boolean</a:t>
            </a: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condition based on </a:t>
            </a:r>
            <a:r>
              <a:rPr lang="en-US" altLang="en-US" dirty="0">
                <a:solidFill>
                  <a:srgbClr val="FF0000"/>
                </a:solidFill>
                <a:ea typeface="MS PGothic" pitchFamily="34" charset="-128"/>
              </a:rPr>
              <a:t>LCV </a:t>
            </a:r>
            <a:r>
              <a:rPr lang="en-US" altLang="en-US" dirty="0">
                <a:solidFill>
                  <a:schemeClr val="tx1"/>
                </a:solidFill>
                <a:ea typeface="MS PGothic" pitchFamily="34" charset="-128"/>
              </a:rPr>
              <a:t>is true</a:t>
            </a: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)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 {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        “</a:t>
            </a:r>
            <a:r>
              <a:rPr lang="en-US" altLang="ja-JP" dirty="0">
                <a:solidFill>
                  <a:srgbClr val="000000"/>
                </a:solidFill>
              </a:rPr>
              <a:t>do the job to be repeated</a:t>
            </a: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”</a:t>
            </a:r>
            <a:endParaRPr lang="en-US" altLang="ja-JP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        “update the </a:t>
            </a:r>
            <a:r>
              <a:rPr lang="en-US" altLang="en-US" dirty="0">
                <a:solidFill>
                  <a:srgbClr val="FF0000"/>
                </a:solidFill>
                <a:ea typeface="MS PGothic" pitchFamily="34" charset="-128"/>
              </a:rPr>
              <a:t>LCV</a:t>
            </a: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”</a:t>
            </a:r>
            <a:endParaRPr lang="en-US" altLang="ja-JP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 }</a:t>
            </a:r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10639426" y="58859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286000" y="5638800"/>
            <a:ext cx="7772400" cy="584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dirty="0"/>
              <a:t>This structure should </a:t>
            </a:r>
            <a:r>
              <a:rPr lang="en-US" sz="3200" u="sng" dirty="0"/>
              <a:t>always</a:t>
            </a:r>
            <a:r>
              <a:rPr lang="en-US" sz="3200" dirty="0"/>
              <a:t> be used</a:t>
            </a:r>
          </a:p>
        </p:txBody>
      </p:sp>
    </p:spTree>
    <p:extLst>
      <p:ext uri="{BB962C8B-B14F-4D97-AF65-F5344CB8AC3E}">
        <p14:creationId xmlns:p14="http://schemas.microsoft.com/office/powerpoint/2010/main" val="1544170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pitchFamily="28" charset="0"/>
              </a:rPr>
              <a:t>while</a:t>
            </a:r>
            <a:r>
              <a:rPr lang="en-US" dirty="0"/>
              <a:t> loop Flowchart</a:t>
            </a:r>
          </a:p>
        </p:txBody>
      </p:sp>
      <p:grpSp>
        <p:nvGrpSpPr>
          <p:cNvPr id="159747" name="Group 3"/>
          <p:cNvGrpSpPr>
            <a:grpSpLocks/>
          </p:cNvGrpSpPr>
          <p:nvPr/>
        </p:nvGrpSpPr>
        <p:grpSpPr bwMode="auto">
          <a:xfrm>
            <a:off x="2057400" y="1595440"/>
            <a:ext cx="3810000" cy="3967163"/>
            <a:chOff x="1968" y="1005"/>
            <a:chExt cx="2400" cy="2499"/>
          </a:xfrm>
        </p:grpSpPr>
        <p:sp>
          <p:nvSpPr>
            <p:cNvPr id="159748" name="Rectangle 4"/>
            <p:cNvSpPr>
              <a:spLocks noChangeArrowheads="1"/>
            </p:cNvSpPr>
            <p:nvPr/>
          </p:nvSpPr>
          <p:spPr bwMode="auto">
            <a:xfrm rot="2701371">
              <a:off x="2016" y="1728"/>
              <a:ext cx="720" cy="72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10800000" vert="eaVert" wrap="none" anchor="ctr"/>
            <a:lstStyle/>
            <a:p>
              <a:pPr eaLnBrk="1" hangingPunct="1"/>
              <a:endParaRPr lang="en-US">
                <a:solidFill>
                  <a:schemeClr val="tx1"/>
                </a:solidFill>
                <a:latin typeface="Times New Roman" pitchFamily="28" charset="0"/>
              </a:endParaRPr>
            </a:p>
          </p:txBody>
        </p:sp>
        <p:sp>
          <p:nvSpPr>
            <p:cNvPr id="159749" name="Rectangle 5"/>
            <p:cNvSpPr>
              <a:spLocks noChangeArrowheads="1"/>
            </p:cNvSpPr>
            <p:nvPr/>
          </p:nvSpPr>
          <p:spPr bwMode="auto">
            <a:xfrm>
              <a:off x="3552" y="1968"/>
              <a:ext cx="816" cy="24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eaLnBrk="1" hangingPunct="1"/>
              <a:r>
                <a:rPr lang="en-US" dirty="0">
                  <a:solidFill>
                    <a:schemeClr val="tx1"/>
                  </a:solidFill>
                  <a:latin typeface="Times New Roman" pitchFamily="28" charset="0"/>
                </a:rPr>
                <a:t>statement(s)</a:t>
              </a:r>
            </a:p>
          </p:txBody>
        </p:sp>
        <p:sp>
          <p:nvSpPr>
            <p:cNvPr id="159750" name="Text Box 6"/>
            <p:cNvSpPr txBox="1">
              <a:spLocks noChangeArrowheads="1"/>
            </p:cNvSpPr>
            <p:nvPr/>
          </p:nvSpPr>
          <p:spPr bwMode="auto">
            <a:xfrm>
              <a:off x="3024" y="1776"/>
              <a:ext cx="3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imes New Roman" pitchFamily="28" charset="0"/>
                </a:rPr>
                <a:t>true</a:t>
              </a:r>
            </a:p>
          </p:txBody>
        </p:sp>
        <p:sp>
          <p:nvSpPr>
            <p:cNvPr id="159751" name="Line 7"/>
            <p:cNvSpPr>
              <a:spLocks noChangeShapeType="1"/>
            </p:cNvSpPr>
            <p:nvPr/>
          </p:nvSpPr>
          <p:spPr bwMode="auto">
            <a:xfrm>
              <a:off x="2376" y="2592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cxnSp>
          <p:nvCxnSpPr>
            <p:cNvPr id="159752" name="AutoShape 8"/>
            <p:cNvCxnSpPr>
              <a:cxnSpLocks noChangeShapeType="1"/>
            </p:cNvCxnSpPr>
            <p:nvPr/>
          </p:nvCxnSpPr>
          <p:spPr bwMode="auto">
            <a:xfrm rot="10800000">
              <a:off x="2352" y="1005"/>
              <a:ext cx="1704" cy="960"/>
            </a:xfrm>
            <a:prstGeom prst="bentConnector3">
              <a:avLst>
                <a:gd name="adj1" fmla="val 56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</p:cxnSp>
        <p:sp>
          <p:nvSpPr>
            <p:cNvPr id="159753" name="Line 9"/>
            <p:cNvSpPr>
              <a:spLocks noChangeShapeType="1"/>
            </p:cNvSpPr>
            <p:nvPr/>
          </p:nvSpPr>
          <p:spPr bwMode="auto">
            <a:xfrm>
              <a:off x="2366" y="1008"/>
              <a:ext cx="0" cy="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9754" name="Text Box 10"/>
            <p:cNvSpPr txBox="1">
              <a:spLocks noChangeArrowheads="1"/>
            </p:cNvSpPr>
            <p:nvPr/>
          </p:nvSpPr>
          <p:spPr bwMode="auto">
            <a:xfrm>
              <a:off x="1968" y="1884"/>
              <a:ext cx="724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dirty="0" err="1">
                  <a:latin typeface="Courier New" pitchFamily="28" charset="0"/>
                </a:rPr>
                <a:t>boolean</a:t>
              </a:r>
              <a:endParaRPr lang="en-US" dirty="0">
                <a:latin typeface="Courier New" pitchFamily="28" charset="0"/>
              </a:endParaRPr>
            </a:p>
            <a:p>
              <a:pPr eaLnBrk="1" hangingPunct="1"/>
              <a:r>
                <a:rPr lang="en-US" dirty="0">
                  <a:latin typeface="Times New Roman" pitchFamily="28" charset="0"/>
                </a:rPr>
                <a:t>condition?</a:t>
              </a:r>
            </a:p>
          </p:txBody>
        </p:sp>
        <p:sp>
          <p:nvSpPr>
            <p:cNvPr id="159755" name="Text Box 11"/>
            <p:cNvSpPr txBox="1">
              <a:spLocks noChangeArrowheads="1"/>
            </p:cNvSpPr>
            <p:nvPr/>
          </p:nvSpPr>
          <p:spPr bwMode="auto">
            <a:xfrm>
              <a:off x="2448" y="2880"/>
              <a:ext cx="3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imes New Roman" pitchFamily="28" charset="0"/>
                </a:rPr>
                <a:t>false</a:t>
              </a:r>
            </a:p>
          </p:txBody>
        </p:sp>
        <p:sp>
          <p:nvSpPr>
            <p:cNvPr id="159756" name="Line 12"/>
            <p:cNvSpPr>
              <a:spLocks noChangeShapeType="1"/>
            </p:cNvSpPr>
            <p:nvPr/>
          </p:nvSpPr>
          <p:spPr bwMode="auto">
            <a:xfrm flipV="1">
              <a:off x="2928" y="211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6019800" y="2807732"/>
            <a:ext cx="4495800" cy="267765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endParaRPr lang="en-IE" sz="2400" dirty="0"/>
          </a:p>
          <a:p>
            <a:r>
              <a:rPr lang="en-IE" sz="2400" b="1" dirty="0">
                <a:solidFill>
                  <a:srgbClr val="FF0000"/>
                </a:solidFill>
              </a:rPr>
              <a:t>int </a:t>
            </a:r>
            <a:r>
              <a:rPr lang="en-IE" sz="2400" b="1" dirty="0" err="1">
                <a:solidFill>
                  <a:srgbClr val="FF0000"/>
                </a:solidFill>
              </a:rPr>
              <a:t>i</a:t>
            </a:r>
            <a:r>
              <a:rPr lang="en-IE" sz="2400" b="1" dirty="0">
                <a:solidFill>
                  <a:srgbClr val="FF0000"/>
                </a:solidFill>
              </a:rPr>
              <a:t> = 1;    	</a:t>
            </a:r>
            <a:r>
              <a:rPr lang="en-IE" sz="2400" dirty="0">
                <a:solidFill>
                  <a:schemeClr val="bg1">
                    <a:lumMod val="50000"/>
                  </a:schemeClr>
                </a:solidFill>
              </a:rPr>
              <a:t>//</a:t>
            </a:r>
            <a:r>
              <a:rPr lang="en-IE" sz="240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en-IE" sz="2400" dirty="0">
                <a:solidFill>
                  <a:schemeClr val="bg1">
                    <a:lumMod val="50000"/>
                  </a:schemeClr>
                </a:solidFill>
              </a:rPr>
              <a:t> is the LCV</a:t>
            </a:r>
          </a:p>
          <a:p>
            <a:r>
              <a:rPr lang="en-IE" sz="2400" dirty="0"/>
              <a:t>while(</a:t>
            </a:r>
            <a:r>
              <a:rPr lang="en-IE" sz="2400" b="1" dirty="0" err="1">
                <a:solidFill>
                  <a:srgbClr val="FF0000"/>
                </a:solidFill>
              </a:rPr>
              <a:t>i</a:t>
            </a:r>
            <a:r>
              <a:rPr lang="en-IE" sz="2400" b="1" dirty="0">
                <a:solidFill>
                  <a:srgbClr val="FF0000"/>
                </a:solidFill>
              </a:rPr>
              <a:t> &lt;=5</a:t>
            </a:r>
            <a:r>
              <a:rPr lang="en-IE" sz="2400" dirty="0"/>
              <a:t>)</a:t>
            </a:r>
          </a:p>
          <a:p>
            <a:r>
              <a:rPr lang="en-IE" sz="2400" dirty="0"/>
              <a:t>{</a:t>
            </a:r>
          </a:p>
          <a:p>
            <a:r>
              <a:rPr lang="en-IE" sz="2400" dirty="0"/>
              <a:t>    </a:t>
            </a:r>
            <a:r>
              <a:rPr lang="en-IE" sz="2400" dirty="0" err="1"/>
              <a:t>System.out.println</a:t>
            </a:r>
            <a:r>
              <a:rPr lang="en-IE" sz="2400" dirty="0"/>
              <a:t>(</a:t>
            </a:r>
            <a:r>
              <a:rPr lang="en-IE" sz="2400" dirty="0" err="1"/>
              <a:t>i</a:t>
            </a:r>
            <a:r>
              <a:rPr lang="en-IE" sz="2400" dirty="0"/>
              <a:t>);</a:t>
            </a:r>
          </a:p>
          <a:p>
            <a:r>
              <a:rPr lang="en-IE" sz="2400" b="1" dirty="0">
                <a:solidFill>
                  <a:srgbClr val="FF0000"/>
                </a:solidFill>
              </a:rPr>
              <a:t>     </a:t>
            </a:r>
            <a:r>
              <a:rPr lang="en-IE" sz="2400" b="1" dirty="0" err="1">
                <a:solidFill>
                  <a:srgbClr val="FF0000"/>
                </a:solidFill>
              </a:rPr>
              <a:t>i</a:t>
            </a:r>
            <a:r>
              <a:rPr lang="en-IE" sz="2400" b="1" dirty="0">
                <a:solidFill>
                  <a:srgbClr val="FF0000"/>
                </a:solidFill>
              </a:rPr>
              <a:t>++</a:t>
            </a:r>
            <a:r>
              <a:rPr lang="en-IE" sz="2400" dirty="0"/>
              <a:t>;</a:t>
            </a:r>
          </a:p>
          <a:p>
            <a:r>
              <a:rPr lang="en-IE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56082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Example - while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E340A5-AF2E-2842-BC7F-6AECDA075A66}"/>
              </a:ext>
            </a:extLst>
          </p:cNvPr>
          <p:cNvSpPr txBox="1"/>
          <p:nvPr/>
        </p:nvSpPr>
        <p:spPr>
          <a:xfrm>
            <a:off x="1752600" y="2209800"/>
            <a:ext cx="2743200" cy="175432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E" dirty="0"/>
              <a:t>int </a:t>
            </a:r>
            <a:r>
              <a:rPr lang="en-IE" dirty="0" err="1"/>
              <a:t>i</a:t>
            </a:r>
            <a:r>
              <a:rPr lang="en-IE" dirty="0"/>
              <a:t> = 1;      </a:t>
            </a:r>
            <a:r>
              <a:rPr lang="en-IE" i="1" dirty="0"/>
              <a:t>//</a:t>
            </a:r>
            <a:r>
              <a:rPr lang="en-IE" i="1" dirty="0" err="1"/>
              <a:t>i</a:t>
            </a:r>
            <a:r>
              <a:rPr lang="en-IE" i="1" dirty="0"/>
              <a:t> is the LCV</a:t>
            </a:r>
            <a:br>
              <a:rPr lang="en-IE" i="1" dirty="0"/>
            </a:br>
            <a:r>
              <a:rPr lang="en-IE" dirty="0"/>
              <a:t>while(</a:t>
            </a:r>
            <a:r>
              <a:rPr lang="en-IE" dirty="0" err="1"/>
              <a:t>i</a:t>
            </a:r>
            <a:r>
              <a:rPr lang="en-IE" dirty="0"/>
              <a:t> &lt;=5)</a:t>
            </a:r>
            <a:br>
              <a:rPr lang="en-IE" dirty="0"/>
            </a:br>
            <a:r>
              <a:rPr lang="en-IE" dirty="0"/>
              <a:t>{</a:t>
            </a:r>
            <a:br>
              <a:rPr lang="en-IE" dirty="0"/>
            </a:br>
            <a:r>
              <a:rPr lang="en-IE" dirty="0"/>
              <a:t>    </a:t>
            </a:r>
            <a:r>
              <a:rPr lang="en-IE" dirty="0" err="1"/>
              <a:t>System.</a:t>
            </a:r>
            <a:r>
              <a:rPr lang="en-IE" i="1" dirty="0" err="1"/>
              <a:t>out</a:t>
            </a:r>
            <a:r>
              <a:rPr lang="en-IE" dirty="0" err="1"/>
              <a:t>.println</a:t>
            </a:r>
            <a:r>
              <a:rPr lang="en-IE" dirty="0"/>
              <a:t>(</a:t>
            </a:r>
            <a:r>
              <a:rPr lang="en-IE" dirty="0" err="1"/>
              <a:t>i</a:t>
            </a:r>
            <a:r>
              <a:rPr lang="en-IE" dirty="0"/>
              <a:t>);</a:t>
            </a:r>
            <a:br>
              <a:rPr lang="en-IE" dirty="0"/>
            </a:br>
            <a:r>
              <a:rPr lang="en-IE" dirty="0"/>
              <a:t>    </a:t>
            </a:r>
            <a:r>
              <a:rPr lang="en-IE" dirty="0" err="1"/>
              <a:t>i</a:t>
            </a:r>
            <a:r>
              <a:rPr lang="en-IE" dirty="0"/>
              <a:t>++;</a:t>
            </a:r>
            <a:br>
              <a:rPr lang="en-IE" dirty="0"/>
            </a:br>
            <a:r>
              <a:rPr lang="en-IE" dirty="0"/>
              <a:t>}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B4D64D-4326-0C42-A7E7-B91C4B06B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5181600"/>
            <a:ext cx="977900" cy="1460500"/>
          </a:xfrm>
          <a:prstGeom prst="rect">
            <a:avLst/>
          </a:prstGeom>
          <a:gradFill flip="none" rotWithShape="1">
            <a:gsLst>
              <a:gs pos="72002">
                <a:srgbClr val="B2C7E2"/>
              </a:gs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solidFill>
              <a:schemeClr val="accent1"/>
            </a:solidFill>
          </a:ln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0108D2-451E-B648-8A11-EFA09CFFAD14}"/>
              </a:ext>
            </a:extLst>
          </p:cNvPr>
          <p:cNvCxnSpPr>
            <a:cxnSpLocks/>
          </p:cNvCxnSpPr>
          <p:nvPr/>
        </p:nvCxnSpPr>
        <p:spPr>
          <a:xfrm>
            <a:off x="3124200" y="3733800"/>
            <a:ext cx="0" cy="1828800"/>
          </a:xfrm>
          <a:prstGeom prst="straightConnector1">
            <a:avLst/>
          </a:prstGeom>
          <a:ln w="53975">
            <a:headEnd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3">
            <a:extLst>
              <a:ext uri="{FF2B5EF4-FFF2-40B4-BE49-F238E27FC236}">
                <a16:creationId xmlns:a16="http://schemas.microsoft.com/office/drawing/2014/main" id="{D10C4780-5F86-884B-908B-C71EE4E07D49}"/>
              </a:ext>
            </a:extLst>
          </p:cNvPr>
          <p:cNvSpPr txBox="1">
            <a:spLocks noChangeArrowheads="1"/>
          </p:cNvSpPr>
          <p:nvPr/>
        </p:nvSpPr>
        <p:spPr>
          <a:xfrm>
            <a:off x="5486400" y="2057400"/>
            <a:ext cx="4953000" cy="22860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</a:t>
            </a:r>
            <a:r>
              <a:rPr lang="en-US" altLang="en-US" sz="1800" dirty="0">
                <a:solidFill>
                  <a:srgbClr val="000000"/>
                </a:solidFill>
                <a:ea typeface="MS PGothic" pitchFamily="34" charset="-128"/>
              </a:rPr>
              <a:t>Declare and </a:t>
            </a:r>
            <a:r>
              <a:rPr lang="en-US" altLang="en-US" sz="1800" dirty="0" err="1">
                <a:solidFill>
                  <a:srgbClr val="000000"/>
                </a:solidFill>
                <a:ea typeface="MS PGothic" pitchFamily="34" charset="-128"/>
              </a:rPr>
              <a:t>initialise</a:t>
            </a:r>
            <a:r>
              <a:rPr lang="en-US" altLang="en-US" sz="1800" dirty="0">
                <a:solidFill>
                  <a:srgbClr val="000000"/>
                </a:solidFill>
                <a:ea typeface="MS PGothic" pitchFamily="34" charset="-128"/>
              </a:rPr>
              <a:t> </a:t>
            </a:r>
            <a:r>
              <a:rPr lang="en-US" altLang="en-US" sz="1800" dirty="0">
                <a:solidFill>
                  <a:srgbClr val="FF0000"/>
                </a:solidFill>
                <a:ea typeface="MS PGothic" pitchFamily="34" charset="-128"/>
              </a:rPr>
              <a:t>loop control variable (LCV)</a:t>
            </a:r>
          </a:p>
          <a:p>
            <a:pPr marL="0" indent="0">
              <a:buNone/>
            </a:pPr>
            <a:r>
              <a:rPr lang="en-US" altLang="en-US" sz="1800" dirty="0">
                <a:solidFill>
                  <a:srgbClr val="000000"/>
                </a:solidFill>
                <a:ea typeface="MS PGothic" pitchFamily="34" charset="-128"/>
              </a:rPr>
              <a:t>  while(</a:t>
            </a:r>
            <a:r>
              <a:rPr lang="en-US" altLang="en-US" sz="1800" dirty="0" err="1">
                <a:solidFill>
                  <a:srgbClr val="000000"/>
                </a:solidFill>
                <a:ea typeface="MS PGothic" pitchFamily="34" charset="-128"/>
              </a:rPr>
              <a:t>boolean</a:t>
            </a:r>
            <a:r>
              <a:rPr lang="en-US" altLang="en-US" sz="1800" dirty="0">
                <a:solidFill>
                  <a:srgbClr val="000000"/>
                </a:solidFill>
                <a:ea typeface="MS PGothic" pitchFamily="34" charset="-128"/>
              </a:rPr>
              <a:t> condition based on </a:t>
            </a:r>
            <a:r>
              <a:rPr lang="en-US" altLang="en-US" sz="1800" dirty="0">
                <a:solidFill>
                  <a:srgbClr val="FF0000"/>
                </a:solidFill>
                <a:ea typeface="MS PGothic" pitchFamily="34" charset="-128"/>
              </a:rPr>
              <a:t>LCV </a:t>
            </a:r>
            <a:r>
              <a:rPr lang="en-US" altLang="en-US" sz="1800" dirty="0">
                <a:solidFill>
                  <a:schemeClr val="tx1"/>
                </a:solidFill>
                <a:ea typeface="MS PGothic" pitchFamily="34" charset="-128"/>
              </a:rPr>
              <a:t>is true</a:t>
            </a:r>
            <a:r>
              <a:rPr lang="en-US" altLang="en-US" sz="1800" dirty="0">
                <a:solidFill>
                  <a:srgbClr val="000000"/>
                </a:solidFill>
                <a:ea typeface="MS PGothic" pitchFamily="34" charset="-128"/>
              </a:rPr>
              <a:t>)</a:t>
            </a:r>
          </a:p>
          <a:p>
            <a:pPr marL="0" indent="0">
              <a:buNone/>
            </a:pPr>
            <a:r>
              <a:rPr lang="en-US" altLang="en-US" sz="1800" dirty="0">
                <a:solidFill>
                  <a:srgbClr val="000000"/>
                </a:solidFill>
                <a:ea typeface="MS PGothic" pitchFamily="34" charset="-128"/>
              </a:rPr>
              <a:t>  {</a:t>
            </a:r>
          </a:p>
          <a:p>
            <a:pPr marL="0" indent="0">
              <a:buNone/>
            </a:pPr>
            <a:r>
              <a:rPr lang="en-US" altLang="en-US" sz="1800" dirty="0">
                <a:solidFill>
                  <a:srgbClr val="000000"/>
                </a:solidFill>
                <a:ea typeface="MS PGothic" pitchFamily="34" charset="-128"/>
              </a:rPr>
              <a:t>         “</a:t>
            </a:r>
            <a:r>
              <a:rPr lang="en-US" altLang="ja-JP" sz="1800" dirty="0">
                <a:solidFill>
                  <a:srgbClr val="000000"/>
                </a:solidFill>
              </a:rPr>
              <a:t>do the job to be repeated</a:t>
            </a:r>
            <a:r>
              <a:rPr lang="en-US" altLang="en-US" sz="1800" dirty="0">
                <a:solidFill>
                  <a:srgbClr val="000000"/>
                </a:solidFill>
                <a:ea typeface="MS PGothic" pitchFamily="34" charset="-128"/>
              </a:rPr>
              <a:t>”</a:t>
            </a:r>
            <a:endParaRPr lang="en-US" altLang="ja-JP" sz="18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altLang="en-US" sz="1800" dirty="0">
                <a:solidFill>
                  <a:srgbClr val="000000"/>
                </a:solidFill>
                <a:ea typeface="MS PGothic" pitchFamily="34" charset="-128"/>
              </a:rPr>
              <a:t>         “update the </a:t>
            </a:r>
            <a:r>
              <a:rPr lang="en-US" altLang="en-US" sz="1800" dirty="0">
                <a:solidFill>
                  <a:srgbClr val="FF0000"/>
                </a:solidFill>
                <a:ea typeface="MS PGothic" pitchFamily="34" charset="-128"/>
              </a:rPr>
              <a:t>LCV</a:t>
            </a:r>
            <a:r>
              <a:rPr lang="en-US" altLang="en-US" sz="1800" dirty="0">
                <a:solidFill>
                  <a:srgbClr val="000000"/>
                </a:solidFill>
                <a:ea typeface="MS PGothic" pitchFamily="34" charset="-128"/>
              </a:rPr>
              <a:t>”</a:t>
            </a:r>
            <a:endParaRPr lang="en-US" altLang="ja-JP" sz="18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altLang="en-US" sz="1800" dirty="0">
                <a:solidFill>
                  <a:srgbClr val="000000"/>
                </a:solidFill>
                <a:ea typeface="MS PGothic" pitchFamily="34" charset="-128"/>
              </a:rPr>
              <a:t>  }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9943A22-C741-104E-9354-EC6ACC06B9EE}"/>
              </a:ext>
            </a:extLst>
          </p:cNvPr>
          <p:cNvCxnSpPr/>
          <p:nvPr/>
        </p:nvCxnSpPr>
        <p:spPr>
          <a:xfrm flipH="1">
            <a:off x="2743200" y="2362200"/>
            <a:ext cx="2819400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CC73813-14BA-2645-8D9F-D230A21687DC}"/>
              </a:ext>
            </a:extLst>
          </p:cNvPr>
          <p:cNvCxnSpPr/>
          <p:nvPr/>
        </p:nvCxnSpPr>
        <p:spPr>
          <a:xfrm flipH="1">
            <a:off x="2895600" y="2743200"/>
            <a:ext cx="2819400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B36E783-2BE9-B148-8617-149026B76F4E}"/>
              </a:ext>
            </a:extLst>
          </p:cNvPr>
          <p:cNvCxnSpPr>
            <a:cxnSpLocks/>
          </p:cNvCxnSpPr>
          <p:nvPr/>
        </p:nvCxnSpPr>
        <p:spPr>
          <a:xfrm flipH="1" flipV="1">
            <a:off x="4038600" y="3200400"/>
            <a:ext cx="1981200" cy="2286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CCFB227-B8A3-484E-8B53-18E747A9A78F}"/>
              </a:ext>
            </a:extLst>
          </p:cNvPr>
          <p:cNvCxnSpPr>
            <a:cxnSpLocks/>
          </p:cNvCxnSpPr>
          <p:nvPr/>
        </p:nvCxnSpPr>
        <p:spPr>
          <a:xfrm flipH="1" flipV="1">
            <a:off x="2438400" y="3505200"/>
            <a:ext cx="3505200" cy="2286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517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Example – while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E340A5-AF2E-2842-BC7F-6AECDA075A66}"/>
              </a:ext>
            </a:extLst>
          </p:cNvPr>
          <p:cNvSpPr txBox="1"/>
          <p:nvPr/>
        </p:nvSpPr>
        <p:spPr>
          <a:xfrm>
            <a:off x="2209800" y="2209800"/>
            <a:ext cx="4191000" cy="175432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E" dirty="0"/>
              <a:t>int </a:t>
            </a:r>
            <a:r>
              <a:rPr lang="en-IE" dirty="0" err="1"/>
              <a:t>i</a:t>
            </a:r>
            <a:r>
              <a:rPr lang="en-IE" dirty="0"/>
              <a:t> = 1;      </a:t>
            </a:r>
            <a:r>
              <a:rPr lang="en-IE" i="1" dirty="0"/>
              <a:t>//</a:t>
            </a:r>
            <a:r>
              <a:rPr lang="en-IE" i="1" dirty="0" err="1"/>
              <a:t>i</a:t>
            </a:r>
            <a:r>
              <a:rPr lang="en-IE" i="1" dirty="0"/>
              <a:t> is the LCV</a:t>
            </a:r>
            <a:br>
              <a:rPr lang="en-IE" i="1" dirty="0"/>
            </a:br>
            <a:r>
              <a:rPr lang="en-IE" dirty="0"/>
              <a:t>while(</a:t>
            </a:r>
            <a:r>
              <a:rPr lang="en-IE" dirty="0" err="1"/>
              <a:t>i</a:t>
            </a:r>
            <a:r>
              <a:rPr lang="en-IE" dirty="0"/>
              <a:t> &lt;=5)</a:t>
            </a:r>
            <a:br>
              <a:rPr lang="en-IE" dirty="0"/>
            </a:br>
            <a:r>
              <a:rPr lang="en-IE" dirty="0"/>
              <a:t>{</a:t>
            </a:r>
            <a:br>
              <a:rPr lang="en-IE" dirty="0"/>
            </a:br>
            <a:r>
              <a:rPr lang="en-IE" dirty="0"/>
              <a:t>    </a:t>
            </a:r>
            <a:r>
              <a:rPr lang="en-IE" dirty="0" err="1"/>
              <a:t>System.</a:t>
            </a:r>
            <a:r>
              <a:rPr lang="en-IE" i="1" dirty="0" err="1"/>
              <a:t>out</a:t>
            </a:r>
            <a:r>
              <a:rPr lang="en-IE" dirty="0" err="1"/>
              <a:t>.println</a:t>
            </a:r>
            <a:r>
              <a:rPr lang="en-IE" dirty="0"/>
              <a:t>(</a:t>
            </a:r>
            <a:r>
              <a:rPr lang="en-IE" dirty="0" err="1"/>
              <a:t>i</a:t>
            </a:r>
            <a:r>
              <a:rPr lang="en-IE" dirty="0"/>
              <a:t>);</a:t>
            </a:r>
            <a:br>
              <a:rPr lang="en-IE" dirty="0"/>
            </a:br>
            <a:r>
              <a:rPr lang="en-IE" dirty="0"/>
              <a:t>    </a:t>
            </a:r>
            <a:r>
              <a:rPr lang="en-IE" dirty="0" err="1"/>
              <a:t>i</a:t>
            </a:r>
            <a:r>
              <a:rPr lang="en-IE" dirty="0"/>
              <a:t>++;</a:t>
            </a:r>
            <a:br>
              <a:rPr lang="en-IE" dirty="0"/>
            </a:br>
            <a:r>
              <a:rPr lang="en-IE" dirty="0"/>
              <a:t>}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B4D64D-4326-0C42-A7E7-B91C4B06B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191000"/>
            <a:ext cx="977900" cy="1460500"/>
          </a:xfrm>
          <a:prstGeom prst="rect">
            <a:avLst/>
          </a:prstGeom>
          <a:gradFill flip="none" rotWithShape="1">
            <a:gsLst>
              <a:gs pos="72002">
                <a:srgbClr val="B2C7E2"/>
              </a:gs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solidFill>
              <a:schemeClr val="accent1"/>
            </a:solidFill>
          </a:ln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0108D2-451E-B648-8A11-EFA09CFFAD14}"/>
              </a:ext>
            </a:extLst>
          </p:cNvPr>
          <p:cNvCxnSpPr>
            <a:cxnSpLocks/>
          </p:cNvCxnSpPr>
          <p:nvPr/>
        </p:nvCxnSpPr>
        <p:spPr>
          <a:xfrm>
            <a:off x="5715000" y="3429000"/>
            <a:ext cx="2667000" cy="990600"/>
          </a:xfrm>
          <a:prstGeom prst="straightConnector1">
            <a:avLst/>
          </a:prstGeom>
          <a:ln w="53975">
            <a:headEnd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961D76B-8931-5A45-9649-BBEA9E3B56E5}"/>
              </a:ext>
            </a:extLst>
          </p:cNvPr>
          <p:cNvSpPr/>
          <p:nvPr/>
        </p:nvSpPr>
        <p:spPr>
          <a:xfrm>
            <a:off x="5257800" y="1524000"/>
            <a:ext cx="4953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1. Declare and </a:t>
            </a:r>
            <a:r>
              <a:rPr lang="en-US" altLang="en-US" dirty="0" err="1">
                <a:solidFill>
                  <a:srgbClr val="000000"/>
                </a:solidFill>
                <a:ea typeface="MS PGothic" pitchFamily="34" charset="-128"/>
              </a:rPr>
              <a:t>initialise</a:t>
            </a: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</a:t>
            </a:r>
            <a:r>
              <a:rPr lang="en-US" altLang="en-US" dirty="0">
                <a:solidFill>
                  <a:srgbClr val="FF0000"/>
                </a:solidFill>
                <a:ea typeface="MS PGothic" pitchFamily="34" charset="-128"/>
              </a:rPr>
              <a:t>loop control variable (LCV)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EAF0D6F-A138-754B-B07D-6D232D6DF39B}"/>
              </a:ext>
            </a:extLst>
          </p:cNvPr>
          <p:cNvCxnSpPr/>
          <p:nvPr/>
        </p:nvCxnSpPr>
        <p:spPr>
          <a:xfrm flipH="1">
            <a:off x="3124200" y="1828800"/>
            <a:ext cx="2819400" cy="3810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48D691B-CFDD-A54D-A6A6-0C77D7D51BF7}"/>
              </a:ext>
            </a:extLst>
          </p:cNvPr>
          <p:cNvSpPr/>
          <p:nvPr/>
        </p:nvSpPr>
        <p:spPr>
          <a:xfrm>
            <a:off x="6934201" y="2362200"/>
            <a:ext cx="34840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2. </a:t>
            </a:r>
            <a:r>
              <a:rPr lang="en-US" altLang="en-US" dirty="0" err="1">
                <a:solidFill>
                  <a:srgbClr val="000000"/>
                </a:solidFill>
                <a:ea typeface="MS PGothic" pitchFamily="34" charset="-128"/>
              </a:rPr>
              <a:t>boolean</a:t>
            </a: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condition based on </a:t>
            </a:r>
            <a:r>
              <a:rPr lang="en-US" altLang="en-US" dirty="0">
                <a:solidFill>
                  <a:srgbClr val="FF0000"/>
                </a:solidFill>
                <a:ea typeface="MS PGothic" pitchFamily="34" charset="-128"/>
              </a:rPr>
              <a:t>LCV 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A1B866-99BE-8C4E-9581-F6CF2B60168F}"/>
              </a:ext>
            </a:extLst>
          </p:cNvPr>
          <p:cNvCxnSpPr>
            <a:cxnSpLocks/>
          </p:cNvCxnSpPr>
          <p:nvPr/>
        </p:nvCxnSpPr>
        <p:spPr>
          <a:xfrm flipH="1">
            <a:off x="3581400" y="2514600"/>
            <a:ext cx="3276600" cy="196334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FB0DDE64-6AD0-5C4C-B95E-CBADECEB6D38}"/>
              </a:ext>
            </a:extLst>
          </p:cNvPr>
          <p:cNvSpPr/>
          <p:nvPr/>
        </p:nvSpPr>
        <p:spPr>
          <a:xfrm>
            <a:off x="4724401" y="5105400"/>
            <a:ext cx="2770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“</a:t>
            </a:r>
            <a:r>
              <a:rPr lang="en-US" altLang="ja-JP" dirty="0">
                <a:solidFill>
                  <a:srgbClr val="000000"/>
                </a:solidFill>
              </a:rPr>
              <a:t>do the job to be repeated</a:t>
            </a: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”</a:t>
            </a:r>
            <a:endParaRPr lang="en-US" altLang="ja-JP" dirty="0">
              <a:solidFill>
                <a:srgbClr val="00000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73F7441-5AF3-7A49-A165-9332CCCEA732}"/>
              </a:ext>
            </a:extLst>
          </p:cNvPr>
          <p:cNvCxnSpPr>
            <a:cxnSpLocks/>
          </p:cNvCxnSpPr>
          <p:nvPr/>
        </p:nvCxnSpPr>
        <p:spPr>
          <a:xfrm flipH="1" flipV="1">
            <a:off x="3352800" y="3396734"/>
            <a:ext cx="1752600" cy="170866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7EF7CE9-407C-5143-B92D-91A31270B682}"/>
              </a:ext>
            </a:extLst>
          </p:cNvPr>
          <p:cNvCxnSpPr>
            <a:cxnSpLocks/>
          </p:cNvCxnSpPr>
          <p:nvPr/>
        </p:nvCxnSpPr>
        <p:spPr>
          <a:xfrm flipH="1" flipV="1">
            <a:off x="2743200" y="3733800"/>
            <a:ext cx="990600" cy="24384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7DEA6A0-2B94-5444-BF61-29134C1B1776}"/>
              </a:ext>
            </a:extLst>
          </p:cNvPr>
          <p:cNvSpPr/>
          <p:nvPr/>
        </p:nvSpPr>
        <p:spPr>
          <a:xfrm>
            <a:off x="2590801" y="6172200"/>
            <a:ext cx="18698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“update the </a:t>
            </a:r>
            <a:r>
              <a:rPr lang="en-US" altLang="en-US" dirty="0">
                <a:solidFill>
                  <a:srgbClr val="FF0000"/>
                </a:solidFill>
                <a:ea typeface="MS PGothic" pitchFamily="34" charset="-128"/>
              </a:rPr>
              <a:t>LCV</a:t>
            </a: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445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6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Some Study Exercises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348CC93-7B76-4C16-BDEF-42550E0894EE}"/>
              </a:ext>
            </a:extLst>
          </p:cNvPr>
          <p:cNvSpPr txBox="1">
            <a:spLocks/>
          </p:cNvSpPr>
          <p:nvPr/>
        </p:nvSpPr>
        <p:spPr>
          <a:xfrm>
            <a:off x="4471015" y="1633143"/>
            <a:ext cx="45720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3200" dirty="0"/>
              <a:t>This basic while loop, produces this output.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11DED4-B41A-4E2B-9131-DE340047536C}"/>
              </a:ext>
            </a:extLst>
          </p:cNvPr>
          <p:cNvSpPr/>
          <p:nvPr/>
        </p:nvSpPr>
        <p:spPr>
          <a:xfrm>
            <a:off x="914400" y="3197586"/>
            <a:ext cx="6781800" cy="35394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/>
            <a:r>
              <a:rPr lang="en-IE" sz="3200" dirty="0" err="1"/>
              <a:t>int</a:t>
            </a:r>
            <a:r>
              <a:rPr lang="en-IE" sz="3200" dirty="0"/>
              <a:t> </a:t>
            </a:r>
            <a:r>
              <a:rPr lang="en-IE" sz="3200" dirty="0" err="1"/>
              <a:t>i</a:t>
            </a:r>
            <a:r>
              <a:rPr lang="en-IE" sz="3200" dirty="0"/>
              <a:t> = 1;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while (</a:t>
            </a:r>
            <a:r>
              <a:rPr lang="en-IE" sz="3200" dirty="0" err="1"/>
              <a:t>i</a:t>
            </a:r>
            <a:r>
              <a:rPr lang="en-IE" sz="3200" dirty="0"/>
              <a:t> &lt;=5)</a:t>
            </a:r>
          </a:p>
          <a:p>
            <a:pPr lvl="1"/>
            <a:r>
              <a:rPr lang="en-IE" sz="3200" dirty="0"/>
              <a:t>  {</a:t>
            </a:r>
          </a:p>
          <a:p>
            <a:pPr lvl="1"/>
            <a:r>
              <a:rPr lang="en-IE" sz="3200" dirty="0"/>
              <a:t>    </a:t>
            </a:r>
            <a:r>
              <a:rPr lang="en-IE" sz="3200" dirty="0" err="1"/>
              <a:t>System.out.println</a:t>
            </a:r>
            <a:r>
              <a:rPr lang="en-IE" sz="3200" dirty="0"/>
              <a:t>("Hello World");</a:t>
            </a:r>
          </a:p>
          <a:p>
            <a:pPr lvl="1"/>
            <a:r>
              <a:rPr lang="en-IE" sz="3200" dirty="0"/>
              <a:t>    </a:t>
            </a:r>
            <a:r>
              <a:rPr lang="en-IE" sz="3200" dirty="0" err="1"/>
              <a:t>i</a:t>
            </a:r>
            <a:r>
              <a:rPr lang="en-IE" sz="3200" dirty="0"/>
              <a:t>++;</a:t>
            </a:r>
          </a:p>
          <a:p>
            <a:pPr lvl="1"/>
            <a:r>
              <a:rPr lang="en-IE" sz="3200" dirty="0"/>
              <a:t>  }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90A57B-33E4-4A35-92CE-914468E733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t="75555" r="75887" b="5556"/>
          <a:stretch/>
        </p:blipFill>
        <p:spPr>
          <a:xfrm>
            <a:off x="8534400" y="3838838"/>
            <a:ext cx="2846031" cy="1923524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B718ADE5-6291-4684-8C1F-1B57D1E1A5F4}"/>
              </a:ext>
            </a:extLst>
          </p:cNvPr>
          <p:cNvSpPr/>
          <p:nvPr/>
        </p:nvSpPr>
        <p:spPr>
          <a:xfrm>
            <a:off x="7391400" y="4457700"/>
            <a:ext cx="1143000" cy="685800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37428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Form of loop - revisited</a:t>
            </a:r>
          </a:p>
        </p:txBody>
      </p:sp>
      <p:sp>
        <p:nvSpPr>
          <p:cNvPr id="614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981200" y="1524000"/>
            <a:ext cx="8305800" cy="5105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Write the all the numbers between 1 and 5 inclusive</a:t>
            </a:r>
          </a:p>
          <a:p>
            <a:pPr>
              <a:lnSpc>
                <a:spcPct val="90000"/>
              </a:lnSpc>
            </a:pPr>
            <a:endParaRPr lang="en-US" altLang="en-US" sz="2800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With a loop:</a:t>
            </a:r>
          </a:p>
          <a:p>
            <a:pPr lvl="1">
              <a:lnSpc>
                <a:spcPct val="90000"/>
              </a:lnSpc>
            </a:pPr>
            <a:endParaRPr lang="en-US" altLang="en-US" sz="1400" dirty="0"/>
          </a:p>
          <a:p>
            <a:pPr lvl="2">
              <a:lnSpc>
                <a:spcPct val="90000"/>
              </a:lnSpc>
            </a:pPr>
            <a:r>
              <a:rPr lang="en-US" altLang="en-US" dirty="0"/>
              <a:t>do this 5 times </a:t>
            </a:r>
            <a:br>
              <a:rPr lang="en-US" altLang="en-US" dirty="0"/>
            </a:b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sz="1100" dirty="0"/>
          </a:p>
          <a:p>
            <a:pPr lvl="1">
              <a:lnSpc>
                <a:spcPct val="90000"/>
              </a:lnSpc>
              <a:buNone/>
            </a:pPr>
            <a:r>
              <a:rPr lang="en-IE" dirty="0"/>
              <a:t>			</a:t>
            </a:r>
            <a:r>
              <a:rPr lang="en-IE" dirty="0" err="1"/>
              <a:t>System.out.println</a:t>
            </a:r>
            <a:r>
              <a:rPr lang="en-IE" dirty="0"/>
              <a:t>(</a:t>
            </a:r>
            <a:r>
              <a:rPr lang="en-IE" dirty="0" err="1"/>
              <a:t>i</a:t>
            </a:r>
            <a:r>
              <a:rPr lang="en-IE" dirty="0"/>
              <a:t>);</a:t>
            </a:r>
          </a:p>
          <a:p>
            <a:pPr lvl="1">
              <a:lnSpc>
                <a:spcPct val="90000"/>
              </a:lnSpc>
              <a:buNone/>
            </a:pPr>
            <a:endParaRPr lang="en-IE" dirty="0"/>
          </a:p>
          <a:p>
            <a:pPr lvl="1">
              <a:lnSpc>
                <a:spcPct val="90000"/>
              </a:lnSpc>
              <a:buNone/>
            </a:pPr>
            <a:r>
              <a:rPr lang="en-IE" b="1" i="1" dirty="0">
                <a:solidFill>
                  <a:srgbClr val="0070C0"/>
                </a:solidFill>
              </a:rPr>
              <a:t>With the value of </a:t>
            </a:r>
            <a:r>
              <a:rPr lang="en-IE" b="1" i="1" dirty="0" err="1">
                <a:solidFill>
                  <a:srgbClr val="0070C0"/>
                </a:solidFill>
              </a:rPr>
              <a:t>i</a:t>
            </a:r>
            <a:r>
              <a:rPr lang="en-IE" b="1" i="1" dirty="0">
                <a:solidFill>
                  <a:srgbClr val="0070C0"/>
                </a:solidFill>
              </a:rPr>
              <a:t> going from 1 to 5</a:t>
            </a:r>
          </a:p>
          <a:p>
            <a:pPr lvl="2">
              <a:lnSpc>
                <a:spcPct val="90000"/>
              </a:lnSpc>
              <a:buFontTx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00539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0560F-9D7B-8369-775F-89C7E7F0B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– </a:t>
            </a:r>
            <a:r>
              <a:rPr lang="en-US" dirty="0" err="1"/>
              <a:t>Whats</a:t>
            </a:r>
            <a:r>
              <a:rPr lang="en-US" dirty="0"/>
              <a:t> the difference?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81F823-EF01-5BF8-5DA3-66B6F3FD18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1219200"/>
            <a:ext cx="4953000" cy="5547361"/>
          </a:xfrm>
        </p:spPr>
      </p:pic>
    </p:spTree>
    <p:extLst>
      <p:ext uri="{BB962C8B-B14F-4D97-AF65-F5344CB8AC3E}">
        <p14:creationId xmlns:p14="http://schemas.microsoft.com/office/powerpoint/2010/main" val="32456702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Some Study Exercises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951038"/>
            <a:ext cx="82296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Change the code so that “Hello World” is printed out 10 times. 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Change the code so that the numbers from 1 to 10 (inclusive) are printed out, one line at a time.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Change the code so that the numbers from 10 to 1 are printed out. </a:t>
            </a:r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5189444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057401"/>
            <a:ext cx="4343400" cy="350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3549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1221</TotalTime>
  <Words>999</Words>
  <Application>Microsoft Macintosh PowerPoint</Application>
  <PresentationFormat>Widescreen</PresentationFormat>
  <Paragraphs>189</Paragraphs>
  <Slides>18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 Unicode MS</vt:lpstr>
      <vt:lpstr>Arial</vt:lpstr>
      <vt:lpstr>Calibri</vt:lpstr>
      <vt:lpstr>Courier New</vt:lpstr>
      <vt:lpstr>Times New Roman</vt:lpstr>
      <vt:lpstr>Trebuchet MS</vt:lpstr>
      <vt:lpstr>Office Theme</vt:lpstr>
      <vt:lpstr>Iteration in Programming</vt:lpstr>
      <vt:lpstr>Topics list</vt:lpstr>
      <vt:lpstr>Recap: Boolean conditions</vt:lpstr>
      <vt:lpstr>Repetition in Programming</vt:lpstr>
      <vt:lpstr>Form of loop</vt:lpstr>
      <vt:lpstr>Form of loop</vt:lpstr>
      <vt:lpstr>Topics list</vt:lpstr>
      <vt:lpstr>Loops in Programming</vt:lpstr>
      <vt:lpstr>while loop pseudo code</vt:lpstr>
      <vt:lpstr>Construction of while loop</vt:lpstr>
      <vt:lpstr>while loop Flowchart</vt:lpstr>
      <vt:lpstr>Example - while</vt:lpstr>
      <vt:lpstr>Example – while </vt:lpstr>
      <vt:lpstr>Some Study Exercises </vt:lpstr>
      <vt:lpstr>Form of loop - revisited</vt:lpstr>
      <vt:lpstr>Solution – Whats the difference?</vt:lpstr>
      <vt:lpstr>Some Study Exercises 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Iteration with the While loop</dc:title>
  <dc:creator>Siobhan Drohan</dc:creator>
  <cp:lastModifiedBy>Microsoft Office User</cp:lastModifiedBy>
  <cp:revision>141</cp:revision>
  <dcterms:created xsi:type="dcterms:W3CDTF">2006-08-16T00:00:00Z</dcterms:created>
  <dcterms:modified xsi:type="dcterms:W3CDTF">2025-01-24T15:19:16Z</dcterms:modified>
</cp:coreProperties>
</file>