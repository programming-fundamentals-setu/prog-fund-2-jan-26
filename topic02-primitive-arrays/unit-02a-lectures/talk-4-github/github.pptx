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55" r:id="rId2"/>
    <p:sldId id="256" r:id="rId3"/>
    <p:sldId id="403" r:id="rId4"/>
    <p:sldId id="412" r:id="rId5"/>
    <p:sldId id="415" r:id="rId6"/>
    <p:sldId id="416" r:id="rId7"/>
    <p:sldId id="417" r:id="rId8"/>
    <p:sldId id="418" r:id="rId9"/>
    <p:sldId id="457" r:id="rId10"/>
    <p:sldId id="458" r:id="rId11"/>
    <p:sldId id="459" r:id="rId12"/>
    <p:sldId id="419" r:id="rId13"/>
    <p:sldId id="421" r:id="rId14"/>
    <p:sldId id="422" r:id="rId15"/>
    <p:sldId id="432" r:id="rId16"/>
    <p:sldId id="405" r:id="rId17"/>
    <p:sldId id="423" r:id="rId18"/>
    <p:sldId id="431" r:id="rId19"/>
    <p:sldId id="424" r:id="rId20"/>
    <p:sldId id="426" r:id="rId21"/>
    <p:sldId id="425" r:id="rId22"/>
    <p:sldId id="428" r:id="rId23"/>
    <p:sldId id="427" r:id="rId24"/>
    <p:sldId id="429" r:id="rId25"/>
    <p:sldId id="430" r:id="rId26"/>
    <p:sldId id="456" r:id="rId27"/>
    <p:sldId id="40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873" autoAdjust="0"/>
  </p:normalViewPr>
  <p:slideViewPr>
    <p:cSldViewPr snapToGrid="0">
      <p:cViewPr varScale="1">
        <p:scale>
          <a:sx n="124" d="100"/>
          <a:sy n="124" d="100"/>
        </p:scale>
        <p:origin x="64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F4F7D-93E1-42D7-8D11-D19DDB54A6AF}" type="datetimeFigureOut">
              <a:rPr lang="en-VI" smtClean="0"/>
              <a:t>24/1/25</a:t>
            </a:fld>
            <a:endParaRPr lang="en-V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9249-92AA-4C75-93B4-8945A7F4E9A2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97437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82352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90C1-FDA4-4FBC-A41B-6C38FA80C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A03F2-C8AF-4A1B-943F-1463CD1F6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B0265-29C6-4569-9EFD-5DD81EED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5477-7660-4282-A939-11C79CA7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C6C7-52EB-486F-AC5A-EE638F57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96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3FF3-0059-4721-A7D7-A96DD5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EFDF3-2A45-4C5B-AE81-9C1E35D50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653C1-63B5-4195-A6C7-DB5FF390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BC301-CE21-40C1-8308-55987DC0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6030F-037A-40B1-93AF-EF977F69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921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9B70-C359-4B48-BADD-92EEB483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13EC3-255A-4BE5-9255-D9518ABDE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AA97C-9499-4C35-9844-8119334F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0CDF1-3D5B-4625-BD8B-8637650C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17E1D-EA56-4B1E-9E52-A06D5096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907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CEDE-8360-4B54-AE3C-624165E7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95E48-9EA6-427E-B1A8-E488BC4B7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65388-ADF6-4903-9CE9-9E62191E8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5EE36-4530-4A65-B9BB-EC0BAD3A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9C789-F835-491E-A736-ED3CA615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F733C-FE4E-488F-8128-4285C39C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110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8CDE3-AB56-40E8-9EDB-8CF8E307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1D45-7CA0-4A1A-9A39-9B070544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26BDD-DF9C-4251-B77B-D50A1CAD8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C1FC4-2BAC-4175-A397-CC25AD4F6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93AB4-9BB1-4CB3-86F7-7E6D13177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BFDFA-F424-47A6-A2C2-CA92DE99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1FFC4C-197F-45F3-A914-94C3B43E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71FAE-D1B2-4CB2-94B8-24C9003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88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BC99-38EB-40A0-A8D5-F179BF1C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735FD-63A2-47F6-B17C-D58F6FEA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6D6F3-4AB7-4480-993B-8F696A45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269F3-6255-46CA-BC63-DDB09EE4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774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2697E-7E18-4C0A-87D9-3D6DA445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3D97F-B1B2-49F1-B443-2B7F45E1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A028C-8BE0-4728-BE3A-DE4D1AB0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975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4975-CC6E-4F32-88F5-2A79FABE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4ADB-47F6-4937-8F2F-465F694E9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BA2E2-27FA-42FA-B71F-006A5D6E8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F40E9-CF63-48ED-AF55-9E7B68A38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1005A-AA44-4AC2-BE0E-8959482A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7A984-27BA-422F-983B-63E7904F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556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6E64-474D-4735-8674-16D15993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0E8F0-1191-4C03-A218-B83253E2B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EFB72-0842-49BE-897F-58ACA92AA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68767-35BC-4AF7-A2A3-FE408011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F50E6-5946-49B7-8804-2E5F6296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82FEA-C7DD-47FC-9996-CCC57254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613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E9D2-B594-4F13-810F-4B8976CC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CC9BF-30BD-4C42-AE4C-229D9DAA4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AC9BD-58F4-4DCA-8C9E-2086105C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B0C06-DF3D-4389-A704-14D013A9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6C3EE-5F11-4C53-AD46-2282B850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272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FCD3-7C11-4BEC-8A3F-565DB823B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015D-19A9-40D2-BDDF-CEAD65942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F571-642B-4E37-A8C3-2764B9E2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47A4-AE83-4DAC-9FBC-D542EB1A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C5E7C-AFBD-467C-8254-91831498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0613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535781" y="2607469"/>
            <a:ext cx="11120438" cy="164306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lvl="0">
              <a:defRPr sz="1800"/>
            </a:pPr>
            <a:r>
              <a:rPr sz="2953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23001756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C25E96-1D03-4B21-BB8E-7BA28F7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09F44-3617-4049-B661-9A34C7C9D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6F7EB-4E20-46CC-AD60-EF4B777F5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64A9E-647E-404C-A049-F942E86289E7}" type="datetimeFigureOut">
              <a:rPr lang="en-IE" smtClean="0"/>
              <a:t>24/01/2025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747A8-AE95-44A4-A20A-C13F1CEE7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22AC9-899B-4D24-A9FF-6E6B8BC9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B985A-3050-41EF-BCBC-39A04FCBE97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563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siobhan.drohan@setu.ie)m" TargetMode="External"/><Relationship Id="rId5" Type="http://schemas.openxmlformats.org/officeDocument/2006/relationships/hyperlink" Target="https://www.linkedin.com/learning/learning-github?u=57077417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learning/learning-github/what-is-git" TargetMode="External"/><Relationship Id="rId4" Type="http://schemas.openxmlformats.org/officeDocument/2006/relationships/hyperlink" Target="https://en.wikipedia.org/wiki/Linus_Torvald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learning-github/what-is-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linkedin.com/learning/learning-github/what-is-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linkedin.com/learning/learning-github/what-is-git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learning/learning-github/what-is-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learning/learning-github/what-is-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learn-the-basics-of-git-in-under-10-minutes-da548267cc9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learning/learning-github/what-is-git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2" Type="http://schemas.openxmlformats.org/officeDocument/2006/relationships/hyperlink" Target="https://www.linkedin.com/learning/learning-github/what-is-git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tom/github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swlh/what-do-i-need-to-know-about-git-5017bde0b572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atures/actions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free-pro-team@latest/github/managing-security-vulnerabilities/managing-security-vulnerabilities-in-your-project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408799" y="4018863"/>
            <a:ext cx="11374401" cy="18454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Picture 2" descr="upload.wikimedia.org/wikipedia/commons/thumb/e/...">
            <a:extLst>
              <a:ext uri="{FF2B5EF4-FFF2-40B4-BE49-F238E27FC236}">
                <a16:creationId xmlns:a16="http://schemas.microsoft.com/office/drawing/2014/main" id="{5118EB85-33AB-4F57-ADD3-CFE7D8255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062" y="2351677"/>
            <a:ext cx="3052053" cy="1275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AAB6A6-8C75-4138-A788-1862CFB97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955" y="1648424"/>
            <a:ext cx="1862062" cy="225179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A6E7E0C-CA49-40B6-AF37-9AAA37A64E22}"/>
              </a:ext>
            </a:extLst>
          </p:cNvPr>
          <p:cNvSpPr txBox="1">
            <a:spLocks/>
          </p:cNvSpPr>
          <p:nvPr/>
        </p:nvSpPr>
        <p:spPr>
          <a:xfrm>
            <a:off x="1280161" y="4364546"/>
            <a:ext cx="2480470" cy="6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8" tIns="35718" rIns="35718" bIns="35718">
            <a:noAutofit/>
          </a:bodyPr>
          <a:lstStyle>
            <a:lvl1pPr marL="4572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1pPr>
            <a:lvl2pPr marL="9144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2pPr>
            <a:lvl3pPr marL="13716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3pPr>
            <a:lvl4pPr marL="18288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4pPr>
            <a:lvl5pPr marL="22860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5pPr>
            <a:lvl6pPr marL="27432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6pPr>
            <a:lvl7pPr marL="32004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7pPr>
            <a:lvl8pPr marL="36576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8pPr>
            <a:lvl9pPr marL="41148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9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IE" sz="2531" dirty="0">
                <a:solidFill>
                  <a:schemeClr val="bg1">
                    <a:lumMod val="50000"/>
                  </a:schemeClr>
                </a:solidFill>
              </a:rPr>
              <a:t>Produced by: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5C19-8566-4A22-9832-9D8E602C42D3}"/>
              </a:ext>
            </a:extLst>
          </p:cNvPr>
          <p:cNvSpPr txBox="1"/>
          <p:nvPr/>
        </p:nvSpPr>
        <p:spPr>
          <a:xfrm>
            <a:off x="4209088" y="5099030"/>
            <a:ext cx="6358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dirty="0">
                <a:hlinkClick r:id="rId5"/>
              </a:rPr>
              <a:t>https://www.linkedin.com/learning/learning-github?u=57077417</a:t>
            </a:r>
            <a:r>
              <a:rPr lang="en-GB" dirty="0"/>
              <a:t> </a:t>
            </a:r>
            <a:endParaRPr lang="en-VI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4FAA172-C4F1-0647-BF87-BE1B608893A4}"/>
              </a:ext>
            </a:extLst>
          </p:cNvPr>
          <p:cNvSpPr txBox="1">
            <a:spLocks/>
          </p:cNvSpPr>
          <p:nvPr/>
        </p:nvSpPr>
        <p:spPr>
          <a:xfrm>
            <a:off x="4125217" y="4155960"/>
            <a:ext cx="7363538" cy="13030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IE" altLang="en-US" sz="1969" dirty="0" err="1">
                <a:sym typeface="Helvetica Neue" charset="0"/>
              </a:rPr>
              <a:t>Dr.</a:t>
            </a:r>
            <a:r>
              <a:rPr lang="en-IE" altLang="en-US" sz="1969" dirty="0">
                <a:sym typeface="Helvetica Neue" charset="0"/>
              </a:rPr>
              <a:t> </a:t>
            </a:r>
            <a:r>
              <a:rPr lang="en-IE" altLang="en-US" sz="1969" dirty="0" err="1">
                <a:sym typeface="Helvetica Neue" charset="0"/>
              </a:rPr>
              <a:t>Siobhán</a:t>
            </a:r>
            <a:r>
              <a:rPr lang="en-IE" altLang="en-US" sz="1969" dirty="0">
                <a:sym typeface="Helvetica Neue" charset="0"/>
              </a:rPr>
              <a:t> </a:t>
            </a:r>
            <a:r>
              <a:rPr lang="en-IE" altLang="en-US" sz="1969" dirty="0" err="1">
                <a:sym typeface="Helvetica Neue" charset="0"/>
              </a:rPr>
              <a:t>Drohan</a:t>
            </a:r>
            <a:r>
              <a:rPr lang="en-IE" altLang="en-US" sz="1969" dirty="0">
                <a:sym typeface="Helvetica Neue" charset="0"/>
              </a:rPr>
              <a:t> (</a:t>
            </a:r>
            <a:r>
              <a:rPr lang="en-IE" altLang="en-US" sz="1969" dirty="0">
                <a:sym typeface="Helvetica Neue" charset="0"/>
                <a:hlinkClick r:id="rId6"/>
              </a:rPr>
              <a:t>siobhan.drohan@setu</a:t>
            </a:r>
            <a:r>
              <a:rPr lang="en-IE" altLang="en-US" sz="1969">
                <a:sym typeface="Helvetica Neue" charset="0"/>
                <a:hlinkClick r:id="rId6"/>
              </a:rPr>
              <a:t>.ie)</a:t>
            </a:r>
            <a:r>
              <a:rPr lang="en-IE" altLang="en-US" sz="1969">
                <a:sym typeface="Helvetica Neue" charset="0"/>
              </a:rPr>
              <a:t>, 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IE" altLang="en-US" sz="1969">
                <a:sym typeface="Helvetica Neue" charset="0"/>
              </a:rPr>
              <a:t>Mairead Meagher(mairead.Meagher@setu.ie)</a:t>
            </a:r>
            <a:endParaRPr lang="en-IE" altLang="en-US" sz="1969" dirty="0">
              <a:sym typeface="Helvetica Neue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7D8E862-3158-2243-BB41-3D18469604BE}"/>
              </a:ext>
            </a:extLst>
          </p:cNvPr>
          <p:cNvSpPr txBox="1">
            <a:spLocks/>
          </p:cNvSpPr>
          <p:nvPr/>
        </p:nvSpPr>
        <p:spPr>
          <a:xfrm>
            <a:off x="1132677" y="5099030"/>
            <a:ext cx="2480470" cy="6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8" tIns="35718" rIns="35718" bIns="35718">
            <a:noAutofit/>
          </a:bodyPr>
          <a:lstStyle>
            <a:lvl1pPr marL="4572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1pPr>
            <a:lvl2pPr marL="9144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2pPr>
            <a:lvl3pPr marL="13716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3pPr>
            <a:lvl4pPr marL="18288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4pPr>
            <a:lvl5pPr marL="22860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5pPr>
            <a:lvl6pPr marL="27432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6pPr>
            <a:lvl7pPr marL="32004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7pPr>
            <a:lvl8pPr marL="36576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8pPr>
            <a:lvl9pPr marL="4114800" marR="0" indent="-4572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rgbClr val="747474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9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IE" sz="2531" dirty="0">
                <a:solidFill>
                  <a:schemeClr val="bg1">
                    <a:lumMod val="50000"/>
                  </a:scheme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0857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5EE6E-7CEB-4993-B1B9-C6502C702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IE" dirty="0"/>
              <a:t>Version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C95C1-3476-44D0-9902-9E318E1EA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IE" dirty="0"/>
              <a:t>What is git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050" name="Picture 2" descr="Source Control Icons - Download Free Vector Icons | Noun Project">
            <a:extLst>
              <a:ext uri="{FF2B5EF4-FFF2-40B4-BE49-F238E27FC236}">
                <a16:creationId xmlns:a16="http://schemas.microsoft.com/office/drawing/2014/main" id="{2DB094C1-36AF-4A32-9068-2D72A6A71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13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7F385-8542-4984-AC99-01F2F564C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143" y="1826876"/>
            <a:ext cx="4151070" cy="2776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upload.wikimedia.org/wikipedia/commons/thumb/e/...">
            <a:extLst>
              <a:ext uri="{FF2B5EF4-FFF2-40B4-BE49-F238E27FC236}">
                <a16:creationId xmlns:a16="http://schemas.microsoft.com/office/drawing/2014/main" id="{8D4066B6-8E42-4FD1-AC71-44548553E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557" y="2315318"/>
            <a:ext cx="4305302" cy="1799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E6F770-0742-446D-89EB-DCFF05A2D973}"/>
              </a:ext>
            </a:extLst>
          </p:cNvPr>
          <p:cNvSpPr txBox="1"/>
          <p:nvPr/>
        </p:nvSpPr>
        <p:spPr>
          <a:xfrm>
            <a:off x="7450584" y="4906678"/>
            <a:ext cx="2954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rgbClr val="292929"/>
                </a:solidFill>
                <a:effectLst/>
                <a:latin typeface="medium-content-serif-font"/>
              </a:rPr>
              <a:t>Developed by </a:t>
            </a:r>
            <a:r>
              <a:rPr lang="en-GB" sz="1800" dirty="0">
                <a:latin typeface="medium-content-serif-font"/>
                <a:hlinkClick r:id="rId4"/>
              </a:rPr>
              <a:t>Linus Torvalds</a:t>
            </a:r>
            <a:endParaRPr lang="en-VI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DBA7B-2945-4E38-838C-E0B000246C36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5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</p:spTree>
    <p:extLst>
      <p:ext uri="{BB962C8B-B14F-4D97-AF65-F5344CB8AC3E}">
        <p14:creationId xmlns:p14="http://schemas.microsoft.com/office/powerpoint/2010/main" val="213509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.wikimedia.org/wikipedia/commons/thumb/e/...">
            <a:extLst>
              <a:ext uri="{FF2B5EF4-FFF2-40B4-BE49-F238E27FC236}">
                <a16:creationId xmlns:a16="http://schemas.microsoft.com/office/drawing/2014/main" id="{8D4066B6-8E42-4FD1-AC71-44548553E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1227335" y="3459631"/>
            <a:ext cx="4496137" cy="1815882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 Version Control System (VCS) is software designed to record </a:t>
            </a:r>
            <a:r>
              <a:rPr lang="en-GB" sz="2800" dirty="0">
                <a:solidFill>
                  <a:srgbClr val="FF0000"/>
                </a:solidFill>
              </a:rPr>
              <a:t>changes</a:t>
            </a:r>
            <a:r>
              <a:rPr lang="en-GB" sz="2800" dirty="0"/>
              <a:t> made to a file or set of files over time.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3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D03FD-AEAC-4546-B3B5-3ACAE7D8A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857" y="412198"/>
            <a:ext cx="5852196" cy="2078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8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1227335" y="3459631"/>
            <a:ext cx="4496137" cy="1815882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 Version Control System (VCS) is software designed to record </a:t>
            </a:r>
            <a:r>
              <a:rPr lang="en-GB" sz="2800" dirty="0">
                <a:solidFill>
                  <a:srgbClr val="FF0000"/>
                </a:solidFill>
              </a:rPr>
              <a:t>changes</a:t>
            </a:r>
            <a:r>
              <a:rPr lang="en-GB" sz="2800" dirty="0"/>
              <a:t> made to a file or set of files over time.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2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D03FD-AEAC-4546-B3B5-3ACAE7D8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857" y="412198"/>
            <a:ext cx="5852196" cy="2078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6E21A-0BF3-422C-AE40-E15D20A15EB5}"/>
              </a:ext>
            </a:extLst>
          </p:cNvPr>
          <p:cNvSpPr txBox="1"/>
          <p:nvPr/>
        </p:nvSpPr>
        <p:spPr>
          <a:xfrm>
            <a:off x="6468530" y="3459631"/>
            <a:ext cx="4770600" cy="1815882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This gives you the ability to revert or recall changes to a file, or set of files after you have made them.</a:t>
            </a:r>
          </a:p>
        </p:txBody>
      </p:sp>
      <p:pic>
        <p:nvPicPr>
          <p:cNvPr id="3" name="Picture 2" descr="upload.wikimedia.org/wikipedia/commons/thumb/e/...">
            <a:extLst>
              <a:ext uri="{FF2B5EF4-FFF2-40B4-BE49-F238E27FC236}">
                <a16:creationId xmlns:a16="http://schemas.microsoft.com/office/drawing/2014/main" id="{77F50EFC-FCBB-4EF3-BE0A-CA620C69D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606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2539014" y="1669003"/>
            <a:ext cx="8408632" cy="1815882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If you want to go back to a version, you can revert one file to a previous version, or a selection of files to their previous versions, or even the entire project back to a specific version in time.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2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1EFF9-B6E0-41DA-9DAA-ACC94B1D1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633" y="3746134"/>
            <a:ext cx="5525001" cy="2151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 descr="upload.wikimedia.org/wikipedia/commons/thumb/e/...">
            <a:extLst>
              <a:ext uri="{FF2B5EF4-FFF2-40B4-BE49-F238E27FC236}">
                <a16:creationId xmlns:a16="http://schemas.microsoft.com/office/drawing/2014/main" id="{111811BF-9C97-4843-828A-F8914C56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istory Icons - Download Free Vector Icons | Noun Project">
            <a:extLst>
              <a:ext uri="{FF2B5EF4-FFF2-40B4-BE49-F238E27FC236}">
                <a16:creationId xmlns:a16="http://schemas.microsoft.com/office/drawing/2014/main" id="{E1F2F61C-1F1B-4A80-ADC3-30668CBC0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10" y="1857974"/>
            <a:ext cx="1437940" cy="1437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21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1675660" y="3811644"/>
            <a:ext cx="8840679" cy="224676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You can see what changes were made between files e.g.: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When the change was introduced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Who introduced the change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What was changed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Why was it changed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2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6" name="Picture 2" descr="upload.wikimedia.org/wikipedia/commons/thumb/e/...">
            <a:extLst>
              <a:ext uri="{FF2B5EF4-FFF2-40B4-BE49-F238E27FC236}">
                <a16:creationId xmlns:a16="http://schemas.microsoft.com/office/drawing/2014/main" id="{111811BF-9C97-4843-828A-F8914C56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C3C2E9-2E24-4127-9F37-B9A47F588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660" y="1338195"/>
            <a:ext cx="6094520" cy="1935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939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3280669" y="1679419"/>
            <a:ext cx="5630662" cy="954107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You can version control any type of file on git, not just source code files: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2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6" name="Picture 2" descr="upload.wikimedia.org/wikipedia/commons/thumb/e/...">
            <a:extLst>
              <a:ext uri="{FF2B5EF4-FFF2-40B4-BE49-F238E27FC236}">
                <a16:creationId xmlns:a16="http://schemas.microsoft.com/office/drawing/2014/main" id="{111811BF-9C97-4843-828A-F8914C56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8" descr="Icon, File, Extension, Document, Symbol">
            <a:extLst>
              <a:ext uri="{FF2B5EF4-FFF2-40B4-BE49-F238E27FC236}">
                <a16:creationId xmlns:a16="http://schemas.microsoft.com/office/drawing/2014/main" id="{5E0A4233-4456-4281-9CB9-3295A5492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978" y="3028641"/>
            <a:ext cx="5236044" cy="26180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07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pload.wikimedia.org/wikipedia/commons/thumb/e/...">
            <a:extLst>
              <a:ext uri="{FF2B5EF4-FFF2-40B4-BE49-F238E27FC236}">
                <a16:creationId xmlns:a16="http://schemas.microsoft.com/office/drawing/2014/main" id="{4042EBB1-6E73-6868-A9F5-005F4C934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59C475-C10A-A39D-E816-994A7E803C7B}"/>
              </a:ext>
            </a:extLst>
          </p:cNvPr>
          <p:cNvSpPr txBox="1"/>
          <p:nvPr/>
        </p:nvSpPr>
        <p:spPr>
          <a:xfrm>
            <a:off x="3050088" y="319225"/>
            <a:ext cx="6488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tx1">
                    <a:alpha val="99121"/>
                  </a:schemeClr>
                </a:solidFill>
              </a:rPr>
              <a:t>Basics of git - 1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477E0-AFEA-5E36-9440-925EE6F5172F}"/>
              </a:ext>
            </a:extLst>
          </p:cNvPr>
          <p:cNvSpPr txBox="1"/>
          <p:nvPr/>
        </p:nvSpPr>
        <p:spPr>
          <a:xfrm>
            <a:off x="2024282" y="1310410"/>
            <a:ext cx="927882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Git is a the version control system. Git manages all the repo’s history,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When using Git, we have a Git repository (repo) which contains:</a:t>
            </a:r>
          </a:p>
          <a:p>
            <a:pPr marL="1443038" indent="-285750" algn="thaiDist">
              <a:buFont typeface="Wingdings" pitchFamily="2" charset="2"/>
              <a:buChar char="v"/>
            </a:pPr>
            <a:r>
              <a:rPr lang="en-US"/>
              <a:t>Source code and any other files</a:t>
            </a:r>
          </a:p>
          <a:p>
            <a:pPr marL="1443038" indent="-285750" algn="thaiDist">
              <a:buFont typeface="Wingdings" pitchFamily="2" charset="2"/>
              <a:buChar char="v"/>
            </a:pPr>
            <a:r>
              <a:rPr lang="en-US"/>
              <a:t>Files needed to keep the information of the various versions </a:t>
            </a:r>
          </a:p>
          <a:p>
            <a:pPr marL="1157288" algn="thaiDist"/>
            <a:r>
              <a:rPr lang="en-US"/>
              <a:t>      (these are contained in the hidden .git subdirectory) </a:t>
            </a:r>
          </a:p>
          <a:p>
            <a:pPr marL="1443038" indent="-285750" algn="thaiDist">
              <a:buFont typeface="Arial" panose="020B0604020202020204" pitchFamily="34" charset="0"/>
              <a:buChar char="•"/>
            </a:pPr>
            <a:endParaRPr lang="en-US"/>
          </a:p>
          <a:p>
            <a:pPr marL="334963" indent="-285750" algn="thaiDist">
              <a:buFont typeface="Arial" panose="020B0604020202020204" pitchFamily="34" charset="0"/>
              <a:buChar char="•"/>
            </a:pPr>
            <a:r>
              <a:rPr lang="en-US"/>
              <a:t>The user works away on the local repo. </a:t>
            </a:r>
          </a:p>
          <a:p>
            <a:pPr marL="334963" indent="-285750" algn="thaiDist">
              <a:buFont typeface="Arial" panose="020B0604020202020204" pitchFamily="34" charset="0"/>
              <a:buChar char="•"/>
            </a:pPr>
            <a:endParaRPr lang="en-US"/>
          </a:p>
          <a:p>
            <a:pPr marL="334963" indent="-285750" algn="thaiDist">
              <a:buFont typeface="Arial" panose="020B0604020202020204" pitchFamily="34" charset="0"/>
              <a:buChar char="•"/>
            </a:pPr>
            <a:r>
              <a:rPr lang="en-US"/>
              <a:t>Usually (but not necessarily), the user will also use a remote server so that </a:t>
            </a:r>
          </a:p>
          <a:p>
            <a:pPr marL="1443038" indent="-285750" algn="thaiDist">
              <a:buFont typeface="Wingdings" pitchFamily="2" charset="2"/>
              <a:buChar char="v"/>
            </a:pPr>
            <a:r>
              <a:rPr lang="en-US"/>
              <a:t>They can backup their work;</a:t>
            </a:r>
          </a:p>
          <a:p>
            <a:pPr marL="1443038" indent="-285750" algn="thaiDist">
              <a:buFont typeface="Wingdings" pitchFamily="2" charset="2"/>
              <a:buChar char="v"/>
            </a:pPr>
            <a:r>
              <a:rPr lang="en-US"/>
              <a:t>They can publish their work;</a:t>
            </a:r>
          </a:p>
          <a:p>
            <a:pPr marL="1443038" indent="-285750" algn="thaiDist">
              <a:buFont typeface="Wingdings" pitchFamily="2" charset="2"/>
              <a:buChar char="v"/>
            </a:pPr>
            <a:r>
              <a:rPr lang="en-US"/>
              <a:t>They can share their work with collaborators. This sharing  is the most productive </a:t>
            </a:r>
          </a:p>
          <a:p>
            <a:pPr marL="1157288" algn="thaiDist"/>
            <a:r>
              <a:rPr lang="en-US"/>
              <a:t>      use of Git but as a starting point, not necessary. </a:t>
            </a:r>
          </a:p>
        </p:txBody>
      </p:sp>
    </p:spTree>
    <p:extLst>
      <p:ext uri="{BB962C8B-B14F-4D97-AF65-F5344CB8AC3E}">
        <p14:creationId xmlns:p14="http://schemas.microsoft.com/office/powerpoint/2010/main" val="259815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pload.wikimedia.org/wikipedia/commons/thumb/e/...">
            <a:extLst>
              <a:ext uri="{FF2B5EF4-FFF2-40B4-BE49-F238E27FC236}">
                <a16:creationId xmlns:a16="http://schemas.microsoft.com/office/drawing/2014/main" id="{4042EBB1-6E73-6868-A9F5-005F4C934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59C475-C10A-A39D-E816-994A7E803C7B}"/>
              </a:ext>
            </a:extLst>
          </p:cNvPr>
          <p:cNvSpPr txBox="1"/>
          <p:nvPr/>
        </p:nvSpPr>
        <p:spPr>
          <a:xfrm>
            <a:off x="3050088" y="319225"/>
            <a:ext cx="6488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tx1">
                    <a:alpha val="99121"/>
                  </a:schemeClr>
                </a:solidFill>
              </a:rPr>
              <a:t>Basics of git - 2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477E0-AFEA-5E36-9440-925EE6F5172F}"/>
              </a:ext>
            </a:extLst>
          </p:cNvPr>
          <p:cNvSpPr txBox="1"/>
          <p:nvPr/>
        </p:nvSpPr>
        <p:spPr>
          <a:xfrm>
            <a:off x="1056557" y="2432979"/>
            <a:ext cx="94193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see a very good intro on git , see here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www.freecodecamp.org</a:t>
            </a:r>
            <a:r>
              <a:rPr lang="en-US" dirty="0">
                <a:hlinkClick r:id="rId3"/>
              </a:rPr>
              <a:t>/news/learn-the-basics-of-git-in-under-10-minutes-da548267cc91/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3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pload.wikimedia.org/wikipedia/commons/thumb/e/...">
            <a:extLst>
              <a:ext uri="{FF2B5EF4-FFF2-40B4-BE49-F238E27FC236}">
                <a16:creationId xmlns:a16="http://schemas.microsoft.com/office/drawing/2014/main" id="{4042EBB1-6E73-6868-A9F5-005F4C934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59C475-C10A-A39D-E816-994A7E803C7B}"/>
              </a:ext>
            </a:extLst>
          </p:cNvPr>
          <p:cNvSpPr txBox="1"/>
          <p:nvPr/>
        </p:nvSpPr>
        <p:spPr>
          <a:xfrm>
            <a:off x="3050088" y="319225"/>
            <a:ext cx="6488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tx1">
                    <a:alpha val="99121"/>
                  </a:schemeClr>
                </a:solidFill>
              </a:rPr>
              <a:t>Basics of git - 3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05F0E-2A52-8846-EFBC-741C4E4A8A4A}"/>
              </a:ext>
            </a:extLst>
          </p:cNvPr>
          <p:cNvSpPr txBox="1"/>
          <p:nvPr/>
        </p:nvSpPr>
        <p:spPr>
          <a:xfrm>
            <a:off x="430388" y="3553218"/>
            <a:ext cx="3289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Basic commands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7B416-8EE9-86BD-661B-A9FA949AC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402" y="1308985"/>
            <a:ext cx="7772400" cy="448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9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7">
            <a:extLst>
              <a:ext uri="{FF2B5EF4-FFF2-40B4-BE49-F238E27FC236}">
                <a16:creationId xmlns:a16="http://schemas.microsoft.com/office/drawing/2014/main" id="{C2B3FB66-52BF-4636-9101-A43911D3D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19">
            <a:extLst>
              <a:ext uri="{FF2B5EF4-FFF2-40B4-BE49-F238E27FC236}">
                <a16:creationId xmlns:a16="http://schemas.microsoft.com/office/drawing/2014/main" id="{A2EE7FFD-9491-4539-8964-F12FB8FF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33FE008C-02FA-C521-19A7-D35502CB1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8" r="-1" b="4919"/>
          <a:stretch/>
        </p:blipFill>
        <p:spPr>
          <a:xfrm>
            <a:off x="20" y="10"/>
            <a:ext cx="12188932" cy="6172191"/>
          </a:xfrm>
          <a:prstGeom prst="rect">
            <a:avLst/>
          </a:prstGeom>
        </p:spPr>
      </p:pic>
      <p:pic>
        <p:nvPicPr>
          <p:cNvPr id="27" name="Graphic 21">
            <a:extLst>
              <a:ext uri="{FF2B5EF4-FFF2-40B4-BE49-F238E27FC236}">
                <a16:creationId xmlns:a16="http://schemas.microsoft.com/office/drawing/2014/main" id="{589A7858-2A11-42FF-AB8A-A973BCBE0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344798" y="-2665477"/>
            <a:ext cx="5486400" cy="1218895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BA464DF-A21F-4138-A6F8-84D3773E7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9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2326170" y="3326627"/>
            <a:ext cx="4580878" cy="2677656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Distributed Version Control allows for collaboration.  </a:t>
            </a:r>
          </a:p>
          <a:p>
            <a:pPr algn="ctr"/>
            <a:endParaRPr lang="en-GB" sz="2800" dirty="0"/>
          </a:p>
          <a:p>
            <a:pPr algn="ctr"/>
            <a:r>
              <a:rPr lang="en-GB" sz="2800" dirty="0"/>
              <a:t>Each client fully mirrors the project by pulling down the entire repository.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2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6" name="Picture 2" descr="upload.wikimedia.org/wikipedia/commons/thumb/e/...">
            <a:extLst>
              <a:ext uri="{FF2B5EF4-FFF2-40B4-BE49-F238E27FC236}">
                <a16:creationId xmlns:a16="http://schemas.microsoft.com/office/drawing/2014/main" id="{111811BF-9C97-4843-828A-F8914C56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E1D355-DF60-4D3D-BC78-D6B6662E1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343" y="1442255"/>
            <a:ext cx="3448532" cy="1705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phic 10" descr="Users">
            <a:extLst>
              <a:ext uri="{FF2B5EF4-FFF2-40B4-BE49-F238E27FC236}">
                <a16:creationId xmlns:a16="http://schemas.microsoft.com/office/drawing/2014/main" id="{D669EBB7-4329-4224-8334-3C38A2B2F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027" y="3524435"/>
            <a:ext cx="1967143" cy="196714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93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FC88C4-5DDA-4ACB-8D11-ED4D4257F8C4}"/>
              </a:ext>
            </a:extLst>
          </p:cNvPr>
          <p:cNvSpPr txBox="1"/>
          <p:nvPr/>
        </p:nvSpPr>
        <p:spPr>
          <a:xfrm>
            <a:off x="2326170" y="3326627"/>
            <a:ext cx="4580878" cy="2677656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Distributed Version Control allows for collaboration.  </a:t>
            </a:r>
          </a:p>
          <a:p>
            <a:pPr algn="ctr"/>
            <a:endParaRPr lang="en-GB" sz="2800" dirty="0"/>
          </a:p>
          <a:p>
            <a:pPr algn="ctr"/>
            <a:r>
              <a:rPr lang="en-GB" sz="2800" dirty="0"/>
              <a:t>Each client fully mirrors the project by pulling down the entire repository.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2F637-EA34-453B-B11B-5C6C1C4E1202}"/>
              </a:ext>
            </a:extLst>
          </p:cNvPr>
          <p:cNvSpPr txBox="1"/>
          <p:nvPr/>
        </p:nvSpPr>
        <p:spPr>
          <a:xfrm>
            <a:off x="6340875" y="6596390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100" dirty="0">
                <a:hlinkClick r:id="rId2"/>
              </a:rPr>
              <a:t>https://www.linkedin.com/learning/learning-github/what-is-git</a:t>
            </a:r>
            <a:r>
              <a:rPr lang="en-GB" sz="1100" dirty="0"/>
              <a:t> </a:t>
            </a:r>
            <a:endParaRPr lang="en-VI" sz="1100" dirty="0"/>
          </a:p>
        </p:txBody>
      </p:sp>
      <p:pic>
        <p:nvPicPr>
          <p:cNvPr id="6" name="Picture 2" descr="upload.wikimedia.org/wikipedia/commons/thumb/e/...">
            <a:extLst>
              <a:ext uri="{FF2B5EF4-FFF2-40B4-BE49-F238E27FC236}">
                <a16:creationId xmlns:a16="http://schemas.microsoft.com/office/drawing/2014/main" id="{111811BF-9C97-4843-828A-F8914C56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" y="319225"/>
            <a:ext cx="1593894" cy="66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E1D355-DF60-4D3D-BC78-D6B6662E1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343" y="1442255"/>
            <a:ext cx="3448532" cy="1705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07CD4-C5C1-4E57-908A-078115E05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510" y="1356622"/>
            <a:ext cx="3537815" cy="2394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A65FFF-09FC-4225-A2EE-A80F669592E4}"/>
              </a:ext>
            </a:extLst>
          </p:cNvPr>
          <p:cNvSpPr txBox="1"/>
          <p:nvPr/>
        </p:nvSpPr>
        <p:spPr>
          <a:xfrm>
            <a:off x="7791635" y="3930308"/>
            <a:ext cx="3966099" cy="1384995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/>
              <a:t>Everyone has a local copy of the entire project history  </a:t>
            </a:r>
            <a:r>
              <a:rPr lang="en-GB" sz="2800" dirty="0">
                <a:sym typeface="Wingdings" panose="05000000000000000000" pitchFamily="2" charset="2"/>
              </a:rPr>
              <a:t> full back up. </a:t>
            </a:r>
            <a:endParaRPr lang="en-GB" sz="2800" dirty="0"/>
          </a:p>
        </p:txBody>
      </p:sp>
      <p:pic>
        <p:nvPicPr>
          <p:cNvPr id="11" name="Graphic 10" descr="Users">
            <a:extLst>
              <a:ext uri="{FF2B5EF4-FFF2-40B4-BE49-F238E27FC236}">
                <a16:creationId xmlns:a16="http://schemas.microsoft.com/office/drawing/2014/main" id="{D669EBB7-4329-4224-8334-3C38A2B2F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027" y="3524435"/>
            <a:ext cx="1967143" cy="196714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39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5EE6E-7CEB-4993-B1B9-C6502C702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IE" dirty="0"/>
              <a:t>A tour of a repository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DAB04-910F-4267-A260-663E46FCA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80" y="1095535"/>
            <a:ext cx="3457373" cy="4181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2465035D-A17B-426B-AB18-09D50A511F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94058" y="4299435"/>
            <a:ext cx="533558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dirty="0">
                <a:hlinkClick r:id="rId3"/>
              </a:rPr>
              <a:t>https://github.com/atom/github</a:t>
            </a:r>
            <a:r>
              <a:rPr lang="en-GB" dirty="0"/>
              <a:t>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814899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for post">
            <a:extLst>
              <a:ext uri="{FF2B5EF4-FFF2-40B4-BE49-F238E27FC236}">
                <a16:creationId xmlns:a16="http://schemas.microsoft.com/office/drawing/2014/main" id="{F1176E41-DC85-4B8D-9EC6-7B4F5FCC3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01" y="1549372"/>
            <a:ext cx="8907625" cy="4240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1F317-9805-4BBE-A293-947A77DCC579}"/>
              </a:ext>
            </a:extLst>
          </p:cNvPr>
          <p:cNvSpPr txBox="1"/>
          <p:nvPr/>
        </p:nvSpPr>
        <p:spPr>
          <a:xfrm>
            <a:off x="3006570" y="645395"/>
            <a:ext cx="617885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rgbClr val="292929"/>
                </a:solidFill>
                <a:latin typeface="medium-content-serif-font"/>
              </a:rPr>
              <a:t>H</a:t>
            </a:r>
            <a:r>
              <a:rPr lang="en-GB" sz="2800" b="0" i="0" dirty="0">
                <a:solidFill>
                  <a:srgbClr val="292929"/>
                </a:solidFill>
                <a:effectLst/>
                <a:latin typeface="medium-content-serif-font"/>
              </a:rPr>
              <a:t>osting services for Git repositories</a:t>
            </a:r>
            <a:endParaRPr lang="en-VI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16BBE-B5A5-461A-8A96-399063978207}"/>
              </a:ext>
            </a:extLst>
          </p:cNvPr>
          <p:cNvSpPr txBox="1"/>
          <p:nvPr/>
        </p:nvSpPr>
        <p:spPr>
          <a:xfrm>
            <a:off x="213064" y="6596390"/>
            <a:ext cx="4873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3"/>
              </a:rPr>
              <a:t>https://medium.com/swlh/what-do-i-need-to-know-about-git-5017bde0b572</a:t>
            </a:r>
            <a:endParaRPr lang="en-VI" sz="1100" dirty="0"/>
          </a:p>
        </p:txBody>
      </p:sp>
    </p:spTree>
    <p:extLst>
      <p:ext uri="{BB962C8B-B14F-4D97-AF65-F5344CB8AC3E}">
        <p14:creationId xmlns:p14="http://schemas.microsoft.com/office/powerpoint/2010/main" val="170069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42252-C2F1-4D36-A6EB-DE63DD42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45" y="188591"/>
            <a:ext cx="9142702" cy="6480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1A3CBA-D353-459D-8A53-B907A5A8E1BD}"/>
              </a:ext>
            </a:extLst>
          </p:cNvPr>
          <p:cNvSpPr/>
          <p:nvPr/>
        </p:nvSpPr>
        <p:spPr>
          <a:xfrm>
            <a:off x="397565" y="1659835"/>
            <a:ext cx="665922" cy="53671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9E7B23-4757-4F32-B411-2020EC4ACEEB}"/>
              </a:ext>
            </a:extLst>
          </p:cNvPr>
          <p:cNvSpPr/>
          <p:nvPr/>
        </p:nvSpPr>
        <p:spPr>
          <a:xfrm>
            <a:off x="9544959" y="2514600"/>
            <a:ext cx="2444296" cy="21658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Code View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All files and folders in project.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Can edit file contents via GitHub UI.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1911070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9E7B23-4757-4F32-B411-2020EC4ACEEB}"/>
              </a:ext>
            </a:extLst>
          </p:cNvPr>
          <p:cNvSpPr/>
          <p:nvPr/>
        </p:nvSpPr>
        <p:spPr>
          <a:xfrm>
            <a:off x="9948574" y="2583180"/>
            <a:ext cx="1765452" cy="22459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Code View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README.md file is displayed after files and folders</a:t>
            </a:r>
            <a:endParaRPr lang="en-V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7550B-0E69-456F-A8F7-8CC45A53D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5" y="198572"/>
            <a:ext cx="9114541" cy="6460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4852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484074-0F18-4612-A4CB-D96CF3D21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26" y="203980"/>
            <a:ext cx="8818852" cy="6251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2E525B-3E46-4FC4-9C19-0C5105C381C3}"/>
              </a:ext>
            </a:extLst>
          </p:cNvPr>
          <p:cNvSpPr/>
          <p:nvPr/>
        </p:nvSpPr>
        <p:spPr>
          <a:xfrm>
            <a:off x="9282914" y="1613333"/>
            <a:ext cx="2570758" cy="317003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Issues View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Used to track bugs, feature requests, etc.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Can be assigned to specific members/ teams.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No code changes are attached.</a:t>
            </a:r>
            <a:endParaRPr lang="en-VI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CFE2D1-7DB5-4C3F-94D3-CE562D66CB7F}"/>
              </a:ext>
            </a:extLst>
          </p:cNvPr>
          <p:cNvSpPr/>
          <p:nvPr/>
        </p:nvSpPr>
        <p:spPr>
          <a:xfrm>
            <a:off x="944217" y="1613333"/>
            <a:ext cx="854766" cy="51364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245787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8EF2A-DBF3-48E4-91C9-69DBAAC74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5" y="168966"/>
            <a:ext cx="8847540" cy="6271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70A46A-1140-4C80-B2D4-3860C9F498FF}"/>
              </a:ext>
            </a:extLst>
          </p:cNvPr>
          <p:cNvSpPr/>
          <p:nvPr/>
        </p:nvSpPr>
        <p:spPr>
          <a:xfrm>
            <a:off x="1689650" y="1623273"/>
            <a:ext cx="1202635" cy="50370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8CD137-0EAC-49BB-8119-501697C8EB2C}"/>
              </a:ext>
            </a:extLst>
          </p:cNvPr>
          <p:cNvSpPr/>
          <p:nvPr/>
        </p:nvSpPr>
        <p:spPr>
          <a:xfrm>
            <a:off x="9276776" y="1719744"/>
            <a:ext cx="2659975" cy="317003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Pull Requests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Represents a change, such as adding, deleting, updating files that the author of the repo wants to make.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It includes code changes.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078226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1A696-313C-4738-A43E-39994894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9" y="95761"/>
            <a:ext cx="9249389" cy="6556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AB4A72-FD24-47C8-865D-797A13004430}"/>
              </a:ext>
            </a:extLst>
          </p:cNvPr>
          <p:cNvSpPr/>
          <p:nvPr/>
        </p:nvSpPr>
        <p:spPr>
          <a:xfrm>
            <a:off x="9345356" y="782484"/>
            <a:ext cx="2659975" cy="20407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Actions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Allows you to automate your workflows with CI/CD.  You can build, test and deploy your code from GitHub. </a:t>
            </a:r>
            <a:endParaRPr lang="en-VI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EBCADE-7A68-4727-A931-DF7BBA5FEEC1}"/>
              </a:ext>
            </a:extLst>
          </p:cNvPr>
          <p:cNvSpPr/>
          <p:nvPr/>
        </p:nvSpPr>
        <p:spPr>
          <a:xfrm>
            <a:off x="2967993" y="1658990"/>
            <a:ext cx="805068" cy="52677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721BE-9031-4683-9469-F11801D95539}"/>
              </a:ext>
            </a:extLst>
          </p:cNvPr>
          <p:cNvSpPr txBox="1"/>
          <p:nvPr/>
        </p:nvSpPr>
        <p:spPr>
          <a:xfrm>
            <a:off x="9241434" y="2981688"/>
            <a:ext cx="2867818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VI" sz="1400" dirty="0">
                <a:hlinkClick r:id="rId3"/>
              </a:rPr>
              <a:t>https://github.com/features/actions</a:t>
            </a:r>
            <a:r>
              <a:rPr lang="en-GB" sz="1400" dirty="0"/>
              <a:t> </a:t>
            </a:r>
            <a:endParaRPr lang="en-VI" sz="1400" dirty="0"/>
          </a:p>
        </p:txBody>
      </p:sp>
    </p:spTree>
    <p:extLst>
      <p:ext uri="{BB962C8B-B14F-4D97-AF65-F5344CB8AC3E}">
        <p14:creationId xmlns:p14="http://schemas.microsoft.com/office/powerpoint/2010/main" val="55984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5114D-6EBA-43AF-B53F-14A97662A3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34074" y="115572"/>
            <a:ext cx="8992970" cy="6374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4EE0EE-8258-4B02-A2D9-5CDAE8D99180}"/>
              </a:ext>
            </a:extLst>
          </p:cNvPr>
          <p:cNvSpPr/>
          <p:nvPr/>
        </p:nvSpPr>
        <p:spPr>
          <a:xfrm>
            <a:off x="3498572" y="1613335"/>
            <a:ext cx="884585" cy="44406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D80694-77C6-4194-A44E-18590C8278F2}"/>
              </a:ext>
            </a:extLst>
          </p:cNvPr>
          <p:cNvSpPr/>
          <p:nvPr/>
        </p:nvSpPr>
        <p:spPr>
          <a:xfrm>
            <a:off x="9262497" y="188407"/>
            <a:ext cx="2659975" cy="204044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Projects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Allows you to visualise your work with Kanban-style boards.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No code changes here!</a:t>
            </a:r>
            <a:endParaRPr lang="en-V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F37D9F-01B4-46EC-95EA-841CB5445F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1" t="30000" r="15449" b="6686"/>
          <a:stretch/>
        </p:blipFill>
        <p:spPr>
          <a:xfrm>
            <a:off x="3805410" y="2400300"/>
            <a:ext cx="8117062" cy="4342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132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DC063-C2DD-4527-84CE-8E33E7182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" y="168966"/>
            <a:ext cx="9137734" cy="6477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37D605-9764-4ABD-B3E5-A6412A7707E6}"/>
              </a:ext>
            </a:extLst>
          </p:cNvPr>
          <p:cNvSpPr/>
          <p:nvPr/>
        </p:nvSpPr>
        <p:spPr>
          <a:xfrm>
            <a:off x="4422910" y="1712726"/>
            <a:ext cx="636107" cy="44406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194010-6DEE-41A0-A73B-230FC3B98CDC}"/>
              </a:ext>
            </a:extLst>
          </p:cNvPr>
          <p:cNvSpPr/>
          <p:nvPr/>
        </p:nvSpPr>
        <p:spPr>
          <a:xfrm>
            <a:off x="9491870" y="2663686"/>
            <a:ext cx="2454821" cy="167944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Wiki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Documentation you can add to your project.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471090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79FA2-C7F3-4A6D-B45B-96F0A435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97" y="109332"/>
            <a:ext cx="9149233" cy="64854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B5E11F-FE79-4E69-838F-66637A0CEA5F}"/>
              </a:ext>
            </a:extLst>
          </p:cNvPr>
          <p:cNvSpPr/>
          <p:nvPr/>
        </p:nvSpPr>
        <p:spPr>
          <a:xfrm>
            <a:off x="4965453" y="1610835"/>
            <a:ext cx="761604" cy="46686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EB7E7F-7154-4C0D-99E1-619BF246D458}"/>
              </a:ext>
            </a:extLst>
          </p:cNvPr>
          <p:cNvSpPr/>
          <p:nvPr/>
        </p:nvSpPr>
        <p:spPr>
          <a:xfrm>
            <a:off x="9121133" y="1758654"/>
            <a:ext cx="2659975" cy="294953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Security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can give instructions on how to responsibly report a security vulnerability in your project.  You can also view any security advisories for your repo. </a:t>
            </a:r>
            <a:endParaRPr lang="en-VI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774306-D8C2-4A88-AFCD-EA0DB379E698}"/>
              </a:ext>
            </a:extLst>
          </p:cNvPr>
          <p:cNvSpPr txBox="1"/>
          <p:nvPr/>
        </p:nvSpPr>
        <p:spPr>
          <a:xfrm>
            <a:off x="828149" y="6594779"/>
            <a:ext cx="10689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I" sz="1400" dirty="0">
                <a:hlinkClick r:id="rId3"/>
              </a:rPr>
              <a:t>https://docs.github.com/en/free-pro-team@latest/github/managing-security-vulnerabilities/managing-security-vulnerabilities-in-your-project</a:t>
            </a:r>
            <a:r>
              <a:rPr lang="en-GB" sz="1400" dirty="0"/>
              <a:t> </a:t>
            </a:r>
            <a:endParaRPr lang="en-VI" sz="1400" dirty="0"/>
          </a:p>
        </p:txBody>
      </p:sp>
    </p:spTree>
    <p:extLst>
      <p:ext uri="{BB962C8B-B14F-4D97-AF65-F5344CB8AC3E}">
        <p14:creationId xmlns:p14="http://schemas.microsoft.com/office/powerpoint/2010/main" val="17336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7554D-DBFD-4EC8-B6D9-6D1CC103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6" y="129209"/>
            <a:ext cx="9336515" cy="6618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F662FD-3CB5-4CFA-9BB7-6C34970F8F42}"/>
              </a:ext>
            </a:extLst>
          </p:cNvPr>
          <p:cNvSpPr/>
          <p:nvPr/>
        </p:nvSpPr>
        <p:spPr>
          <a:xfrm>
            <a:off x="5754754" y="1719744"/>
            <a:ext cx="884585" cy="44406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404F31-B625-4D3A-B869-9D1086471A89}"/>
              </a:ext>
            </a:extLst>
          </p:cNvPr>
          <p:cNvSpPr/>
          <p:nvPr/>
        </p:nvSpPr>
        <p:spPr>
          <a:xfrm>
            <a:off x="9246959" y="1719744"/>
            <a:ext cx="2659975" cy="161980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Insights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High level overview of the health / pulse of your repo.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643149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5EE6E-7CEB-4993-B1B9-C6502C702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1311" y="2831504"/>
            <a:ext cx="5334930" cy="3004145"/>
          </a:xfrm>
        </p:spPr>
        <p:txBody>
          <a:bodyPr>
            <a:normAutofit fontScale="90000"/>
          </a:bodyPr>
          <a:lstStyle/>
          <a:p>
            <a:r>
              <a:rPr lang="en-IE" dirty="0"/>
              <a:t>We will see how IntelliJ integrates  GitHub into our projects.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DAB04-910F-4267-A260-663E46FCA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80" y="1095535"/>
            <a:ext cx="3457373" cy="4181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5614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FB2D4E39-808A-4F04-B545-AACD2B9CD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226" y="998731"/>
            <a:ext cx="6784504" cy="417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975DD-5C1D-47DE-94EA-6DF61AF38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928" y="4036568"/>
            <a:ext cx="3461335" cy="1732883"/>
          </a:xfrm>
        </p:spPr>
        <p:txBody>
          <a:bodyPr/>
          <a:lstStyle/>
          <a:p>
            <a:r>
              <a:rPr lang="en-IE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226244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783</Words>
  <Application>Microsoft Macintosh PowerPoint</Application>
  <PresentationFormat>Widescreen</PresentationFormat>
  <Paragraphs>100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Helvetica Neue</vt:lpstr>
      <vt:lpstr>medium-content-serif-font</vt:lpstr>
      <vt:lpstr>Wingdings</vt:lpstr>
      <vt:lpstr>Office Theme</vt:lpstr>
      <vt:lpstr>PowerPoint Presentation</vt:lpstr>
      <vt:lpstr>Version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tour of a repository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will see how IntelliJ integrates  GitHub into our projects.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</dc:title>
  <dc:creator>Siobhan Drohan</dc:creator>
  <cp:lastModifiedBy>Microsoft Office User</cp:lastModifiedBy>
  <cp:revision>32</cp:revision>
  <dcterms:created xsi:type="dcterms:W3CDTF">2020-10-01T15:01:24Z</dcterms:created>
  <dcterms:modified xsi:type="dcterms:W3CDTF">2025-01-24T13:03:48Z</dcterms:modified>
</cp:coreProperties>
</file>