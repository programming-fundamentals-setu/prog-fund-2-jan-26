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455" r:id="rId2"/>
    <p:sldId id="256" r:id="rId3"/>
    <p:sldId id="403" r:id="rId4"/>
    <p:sldId id="412" r:id="rId5"/>
    <p:sldId id="415" r:id="rId6"/>
    <p:sldId id="416" r:id="rId7"/>
    <p:sldId id="417" r:id="rId8"/>
    <p:sldId id="418" r:id="rId9"/>
    <p:sldId id="457" r:id="rId10"/>
    <p:sldId id="458" r:id="rId11"/>
    <p:sldId id="459" r:id="rId12"/>
    <p:sldId id="419" r:id="rId13"/>
    <p:sldId id="421" r:id="rId14"/>
    <p:sldId id="422" r:id="rId15"/>
    <p:sldId id="432" r:id="rId16"/>
    <p:sldId id="405" r:id="rId17"/>
    <p:sldId id="423" r:id="rId18"/>
    <p:sldId id="431" r:id="rId19"/>
    <p:sldId id="424" r:id="rId20"/>
    <p:sldId id="426" r:id="rId21"/>
    <p:sldId id="425" r:id="rId22"/>
    <p:sldId id="428" r:id="rId23"/>
    <p:sldId id="427" r:id="rId24"/>
    <p:sldId id="429" r:id="rId25"/>
    <p:sldId id="430" r:id="rId26"/>
    <p:sldId id="456" r:id="rId27"/>
    <p:sldId id="460" r:id="rId28"/>
    <p:sldId id="461" r:id="rId29"/>
    <p:sldId id="462" r:id="rId30"/>
    <p:sldId id="463" r:id="rId31"/>
    <p:sldId id="464" r:id="rId32"/>
    <p:sldId id="465" r:id="rId33"/>
    <p:sldId id="466" r:id="rId34"/>
    <p:sldId id="467" r:id="rId35"/>
    <p:sldId id="468" r:id="rId36"/>
    <p:sldId id="400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873" autoAdjust="0"/>
  </p:normalViewPr>
  <p:slideViewPr>
    <p:cSldViewPr snapToGrid="0">
      <p:cViewPr varScale="1">
        <p:scale>
          <a:sx n="73" d="100"/>
          <a:sy n="73" d="100"/>
        </p:scale>
        <p:origin x="67" y="4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VI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5F4F7D-93E1-42D7-8D11-D19DDB54A6AF}" type="datetimeFigureOut">
              <a:rPr lang="en-VI" smtClean="0"/>
              <a:t>01/21/2026</a:t>
            </a:fld>
            <a:endParaRPr lang="en-VI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VI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I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VI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579249-92AA-4C75-93B4-8945A7F4E9A2}" type="slidenum">
              <a:rPr lang="en-VI" smtClean="0"/>
              <a:t>‹#›</a:t>
            </a:fld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974370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382352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E90C1-FDA4-4FBC-A41B-6C38FA80C1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7A03F2-C8AF-4A1B-943F-1463CD1F6D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3B0265-29C6-4569-9EFD-5DD81EED7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64A9E-647E-404C-A049-F942E86289E7}" type="datetimeFigureOut">
              <a:rPr lang="en-IE" smtClean="0"/>
              <a:t>21/01/2026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35477-7660-4282-A939-11C79CA72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5DC6C7-52EB-486F-AC5A-EE638F577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B985A-3050-41EF-BCBC-39A04FCBE97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30967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E3FF3-0059-4721-A7D7-A96DD5EC1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EFDF3-2A45-4C5B-AE81-9C1E35D50E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653C1-63B5-4195-A6C7-DB5FF390F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64A9E-647E-404C-A049-F942E86289E7}" type="datetimeFigureOut">
              <a:rPr lang="en-IE" smtClean="0"/>
              <a:t>21/01/2026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CBC301-CE21-40C1-8308-55987DC0F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36030F-037A-40B1-93AF-EF977F691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B985A-3050-41EF-BCBC-39A04FCBE97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69214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89B70-C359-4B48-BADD-92EEB48355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813EC3-255A-4BE5-9255-D9518ABDE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1AA97C-9499-4C35-9844-8119334FB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64A9E-647E-404C-A049-F942E86289E7}" type="datetimeFigureOut">
              <a:rPr lang="en-IE" smtClean="0"/>
              <a:t>21/01/2026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60CDF1-3D5B-4625-BD8B-8637650CC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417E1D-EA56-4B1E-9E52-A06D5096E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B985A-3050-41EF-BCBC-39A04FCBE97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99075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3CEDE-8360-4B54-AE3C-624165E76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495E48-9EA6-427E-B1A8-E488BC4B79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265388-ADF6-4903-9CE9-9E62191E8F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75EE36-4530-4A65-B9BB-EC0BAD3A7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64A9E-647E-404C-A049-F942E86289E7}" type="datetimeFigureOut">
              <a:rPr lang="en-IE" smtClean="0"/>
              <a:t>21/01/2026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69C789-F835-491E-A736-ED3CA6155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7F733C-FE4E-488F-8128-4285C39C7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B985A-3050-41EF-BCBC-39A04FCBE97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91109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8CDE3-AB56-40E8-9EDB-8CF8E307C9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DF1D45-7CA0-4A1A-9A39-9B0705440D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526BDD-DF9C-4251-B77B-D50A1CAD8E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0C1FC4-2BAC-4175-A397-CC25AD4F6B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593AB4-9BB1-4CB3-86F7-7E6D13177E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BBFDFA-F424-47A6-A2C2-CA92DE998A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64A9E-647E-404C-A049-F942E86289E7}" type="datetimeFigureOut">
              <a:rPr lang="en-IE" smtClean="0"/>
              <a:t>21/01/2026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E1FFC4C-197F-45F3-A914-94C3B43EC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271FAE-D1B2-4CB2-94B8-24C90033A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B985A-3050-41EF-BCBC-39A04FCBE97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38870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6BC99-38EB-40A0-A8D5-F179BF1CF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2735FD-63A2-47F6-B17C-D58F6FEA9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64A9E-647E-404C-A049-F942E86289E7}" type="datetimeFigureOut">
              <a:rPr lang="en-IE" smtClean="0"/>
              <a:t>21/01/2026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36D6F3-4AB7-4480-993B-8F696A45D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7269F3-6255-46CA-BC63-DDB09EE48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B985A-3050-41EF-BCBC-39A04FCBE97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677441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D92697E-7E18-4C0A-87D9-3D6DA4450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64A9E-647E-404C-A049-F942E86289E7}" type="datetimeFigureOut">
              <a:rPr lang="en-IE" smtClean="0"/>
              <a:t>21/01/2026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B3D97F-B1B2-49F1-B443-2B7F45E1E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2A028C-8BE0-4728-BE3A-DE4D1AB0D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B985A-3050-41EF-BCBC-39A04FCBE97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897522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F4975-CC6E-4F32-88F5-2A79FABE1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CB4ADB-47F6-4937-8F2F-465F694E9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BA2E2-27FA-42FA-B71F-006A5D6E8F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CF40E9-CF63-48ED-AF55-9E7B68A38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64A9E-647E-404C-A049-F942E86289E7}" type="datetimeFigureOut">
              <a:rPr lang="en-IE" smtClean="0"/>
              <a:t>21/01/2026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61005A-AA44-4AC2-BE0E-8959482A6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7A984-27BA-422F-983B-63E7904F6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B985A-3050-41EF-BCBC-39A04FCBE97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85565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D6E64-474D-4735-8674-16D159931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90E8F0-1191-4C03-A218-B83253E2B9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EEFB72-0842-49BE-897F-58ACA92AA0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C68767-35BC-4AF7-A2A3-FE408011C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64A9E-647E-404C-A049-F942E86289E7}" type="datetimeFigureOut">
              <a:rPr lang="en-IE" smtClean="0"/>
              <a:t>21/01/2026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9F50E6-5946-49B7-8804-2E5F6296D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682FEA-C7DD-47FC-9996-CCC57254A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B985A-3050-41EF-BCBC-39A04FCBE97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96133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BE9D2-B594-4F13-810F-4B8976CC4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DCC9BF-30BD-4C42-AE4C-229D9DAA4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DAC9BD-58F4-4DCA-8C9E-2086105C1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64A9E-647E-404C-A049-F942E86289E7}" type="datetimeFigureOut">
              <a:rPr lang="en-IE" smtClean="0"/>
              <a:t>21/01/2026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DB0C06-DF3D-4389-A704-14D013A93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B6C3EE-5F11-4C53-AD46-2282B8508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B985A-3050-41EF-BCBC-39A04FCBE97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127259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1FFCD3-7C11-4BEC-8A3F-565DB823BA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3C015D-19A9-40D2-BDDF-CEAD65942C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FF571-642B-4E37-A8C3-2764B9E2D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64A9E-647E-404C-A049-F942E86289E7}" type="datetimeFigureOut">
              <a:rPr lang="en-IE" smtClean="0"/>
              <a:t>21/01/2026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2A47A4-AE83-4DAC-9FBC-D542EB1A9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BC5E7C-AFBD-467C-8254-91831498A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B985A-3050-41EF-BCBC-39A04FCBE97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406135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24"/>
          <p:cNvSpPr>
            <a:spLocks noGrp="1"/>
          </p:cNvSpPr>
          <p:nvPr>
            <p:ph type="title"/>
          </p:nvPr>
        </p:nvSpPr>
        <p:spPr>
          <a:xfrm>
            <a:off x="535781" y="2607469"/>
            <a:ext cx="11120438" cy="1643063"/>
          </a:xfrm>
          <a:prstGeom prst="rect">
            <a:avLst/>
          </a:prstGeom>
        </p:spPr>
        <p:txBody>
          <a:bodyPr lIns="50800" tIns="50800" rIns="50800" bIns="50800" anchor="ctr"/>
          <a:lstStyle/>
          <a:p>
            <a:pPr lvl="0">
              <a:defRPr sz="1800"/>
            </a:pPr>
            <a:r>
              <a:rPr sz="2953"/>
              <a:t>Title Text</a:t>
            </a:r>
          </a:p>
        </p:txBody>
      </p:sp>
    </p:spTree>
    <p:extLst>
      <p:ext uri="{BB962C8B-B14F-4D97-AF65-F5344CB8AC3E}">
        <p14:creationId xmlns:p14="http://schemas.microsoft.com/office/powerpoint/2010/main" val="3230017568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C25E96-1D03-4B21-BB8E-7BA28F712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509F44-3617-4049-B661-9A34C7C9D4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6F7EB-4E20-46CC-AD60-EF4B777F52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E64A9E-647E-404C-A049-F942E86289E7}" type="datetimeFigureOut">
              <a:rPr lang="en-IE" smtClean="0"/>
              <a:t>21/01/2026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747A8-AE95-44A4-A20A-C13F1CEE7A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222AC9-899B-4D24-A9FF-6E6B8BC95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B985A-3050-41EF-BCBC-39A04FCBE97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045637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hyperlink" Target="mailto:siobhan.drohan@setu.ie)m" TargetMode="External"/><Relationship Id="rId5" Type="http://schemas.openxmlformats.org/officeDocument/2006/relationships/hyperlink" Target="https://www.linkedin.com/learning/learning-github?u=57077417" TargetMode="Externa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linkedin.com/learning/learning-github/what-is-git" TargetMode="External"/><Relationship Id="rId4" Type="http://schemas.openxmlformats.org/officeDocument/2006/relationships/hyperlink" Target="https://en.wikipedia.org/wiki/Linus_Torvalds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learning/learning-github/what-is-git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linkedin.com/learning/learning-github/what-is-git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www.linkedin.com/learning/learning-github/what-is-git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linkedin.com/learning/learning-github/what-is-git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linkedin.com/learning/learning-github/what-is-git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codecamp.org/news/learn-the-basics-of-git-in-under-10-minutes-da548267cc91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linkedin.com/learning/learning-github/what-is-git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6.svg"/><Relationship Id="rId2" Type="http://schemas.openxmlformats.org/officeDocument/2006/relationships/hyperlink" Target="https://www.linkedin.com/learning/learning-github/what-is-git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7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tom/github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swlh/what-do-i-need-to-know-about-git-5017bde0b572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eatures/actions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free-pro-team@latest/github/managing-security-vulnerabilities/managing-security-vulnerabilities-in-your-project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>
            <a:cxnSpLocks/>
          </p:cNvCxnSpPr>
          <p:nvPr/>
        </p:nvCxnSpPr>
        <p:spPr>
          <a:xfrm>
            <a:off x="408799" y="4018863"/>
            <a:ext cx="11374401" cy="18454"/>
          </a:xfrm>
          <a:prstGeom prst="line">
            <a:avLst/>
          </a:prstGeom>
          <a:noFill/>
          <a:ln w="12700" cap="flat">
            <a:solidFill>
              <a:schemeClr val="tx1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3" name="Picture 2" descr="upload.wikimedia.org/wikipedia/commons/thumb/e/...">
            <a:extLst>
              <a:ext uri="{FF2B5EF4-FFF2-40B4-BE49-F238E27FC236}">
                <a16:creationId xmlns:a16="http://schemas.microsoft.com/office/drawing/2014/main" id="{5118EB85-33AB-4F57-ADD3-CFE7D82555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3062" y="2351677"/>
            <a:ext cx="3052053" cy="127566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1AAB6A6-8C75-4138-A788-1862CFB97C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5955" y="1648424"/>
            <a:ext cx="1862062" cy="2251796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4A6E7E0C-CA49-40B6-AF37-9AAA37A64E22}"/>
              </a:ext>
            </a:extLst>
          </p:cNvPr>
          <p:cNvSpPr txBox="1">
            <a:spLocks/>
          </p:cNvSpPr>
          <p:nvPr/>
        </p:nvSpPr>
        <p:spPr>
          <a:xfrm>
            <a:off x="1280161" y="4364546"/>
            <a:ext cx="2480470" cy="617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8" tIns="35718" rIns="35718" bIns="35718">
            <a:noAutofit/>
          </a:bodyPr>
          <a:lstStyle>
            <a:lvl1pPr marL="457200" marR="0" indent="-4572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75000"/>
              <a:buFont typeface="Helvetica Neue"/>
              <a:buChar char="•"/>
              <a:tabLst/>
              <a:defRPr sz="3600" b="0" i="0" u="none" strike="noStrike" cap="none" spc="0" baseline="0">
                <a:ln>
                  <a:noFill/>
                </a:ln>
                <a:solidFill>
                  <a:srgbClr val="747474"/>
                </a:solidFill>
                <a:uFillTx/>
                <a:latin typeface="+mn-lt"/>
                <a:ea typeface="+mn-ea"/>
                <a:cs typeface="+mn-cs"/>
                <a:sym typeface="Helvetica Neue Light"/>
              </a:defRPr>
            </a:lvl1pPr>
            <a:lvl2pPr marL="914400" marR="0" indent="-4572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75000"/>
              <a:buFont typeface="Helvetica Neue"/>
              <a:buChar char="•"/>
              <a:tabLst/>
              <a:defRPr sz="3600" b="0" i="0" u="none" strike="noStrike" cap="none" spc="0" baseline="0">
                <a:ln>
                  <a:noFill/>
                </a:ln>
                <a:solidFill>
                  <a:srgbClr val="747474"/>
                </a:solidFill>
                <a:uFillTx/>
                <a:latin typeface="+mn-lt"/>
                <a:ea typeface="+mn-ea"/>
                <a:cs typeface="+mn-cs"/>
                <a:sym typeface="Helvetica Neue Light"/>
              </a:defRPr>
            </a:lvl2pPr>
            <a:lvl3pPr marL="1371600" marR="0" indent="-4572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75000"/>
              <a:buFont typeface="Helvetica Neue"/>
              <a:buChar char="•"/>
              <a:tabLst/>
              <a:defRPr sz="3600" b="0" i="0" u="none" strike="noStrike" cap="none" spc="0" baseline="0">
                <a:ln>
                  <a:noFill/>
                </a:ln>
                <a:solidFill>
                  <a:srgbClr val="747474"/>
                </a:solidFill>
                <a:uFillTx/>
                <a:latin typeface="+mn-lt"/>
                <a:ea typeface="+mn-ea"/>
                <a:cs typeface="+mn-cs"/>
                <a:sym typeface="Helvetica Neue Light"/>
              </a:defRPr>
            </a:lvl3pPr>
            <a:lvl4pPr marL="1828800" marR="0" indent="-4572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75000"/>
              <a:buFont typeface="Helvetica Neue"/>
              <a:buChar char="•"/>
              <a:tabLst/>
              <a:defRPr sz="3600" b="0" i="0" u="none" strike="noStrike" cap="none" spc="0" baseline="0">
                <a:ln>
                  <a:noFill/>
                </a:ln>
                <a:solidFill>
                  <a:srgbClr val="747474"/>
                </a:solidFill>
                <a:uFillTx/>
                <a:latin typeface="+mn-lt"/>
                <a:ea typeface="+mn-ea"/>
                <a:cs typeface="+mn-cs"/>
                <a:sym typeface="Helvetica Neue Light"/>
              </a:defRPr>
            </a:lvl4pPr>
            <a:lvl5pPr marL="2286000" marR="0" indent="-4572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75000"/>
              <a:buFont typeface="Helvetica Neue"/>
              <a:buChar char="•"/>
              <a:tabLst/>
              <a:defRPr sz="3600" b="0" i="0" u="none" strike="noStrike" cap="none" spc="0" baseline="0">
                <a:ln>
                  <a:noFill/>
                </a:ln>
                <a:solidFill>
                  <a:srgbClr val="747474"/>
                </a:solidFill>
                <a:uFillTx/>
                <a:latin typeface="+mn-lt"/>
                <a:ea typeface="+mn-ea"/>
                <a:cs typeface="+mn-cs"/>
                <a:sym typeface="Helvetica Neue Light"/>
              </a:defRPr>
            </a:lvl5pPr>
            <a:lvl6pPr marL="2743200" marR="0" indent="-4572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75000"/>
              <a:buFont typeface="Helvetica Neue"/>
              <a:buChar char="•"/>
              <a:tabLst/>
              <a:defRPr sz="3600" b="0" i="0" u="none" strike="noStrike" cap="none" spc="0" baseline="0">
                <a:ln>
                  <a:noFill/>
                </a:ln>
                <a:solidFill>
                  <a:srgbClr val="747474"/>
                </a:solidFill>
                <a:uFillTx/>
                <a:latin typeface="+mn-lt"/>
                <a:ea typeface="+mn-ea"/>
                <a:cs typeface="+mn-cs"/>
                <a:sym typeface="Helvetica Neue Light"/>
              </a:defRPr>
            </a:lvl6pPr>
            <a:lvl7pPr marL="3200400" marR="0" indent="-4572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75000"/>
              <a:buFont typeface="Helvetica Neue"/>
              <a:buChar char="•"/>
              <a:tabLst/>
              <a:defRPr sz="3600" b="0" i="0" u="none" strike="noStrike" cap="none" spc="0" baseline="0">
                <a:ln>
                  <a:noFill/>
                </a:ln>
                <a:solidFill>
                  <a:srgbClr val="747474"/>
                </a:solidFill>
                <a:uFillTx/>
                <a:latin typeface="+mn-lt"/>
                <a:ea typeface="+mn-ea"/>
                <a:cs typeface="+mn-cs"/>
                <a:sym typeface="Helvetica Neue Light"/>
              </a:defRPr>
            </a:lvl7pPr>
            <a:lvl8pPr marL="3657600" marR="0" indent="-4572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75000"/>
              <a:buFont typeface="Helvetica Neue"/>
              <a:buChar char="•"/>
              <a:tabLst/>
              <a:defRPr sz="3600" b="0" i="0" u="none" strike="noStrike" cap="none" spc="0" baseline="0">
                <a:ln>
                  <a:noFill/>
                </a:ln>
                <a:solidFill>
                  <a:srgbClr val="747474"/>
                </a:solidFill>
                <a:uFillTx/>
                <a:latin typeface="+mn-lt"/>
                <a:ea typeface="+mn-ea"/>
                <a:cs typeface="+mn-cs"/>
                <a:sym typeface="Helvetica Neue Light"/>
              </a:defRPr>
            </a:lvl8pPr>
            <a:lvl9pPr marL="4114800" marR="0" indent="-4572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75000"/>
              <a:buFont typeface="Helvetica Neue"/>
              <a:buChar char="•"/>
              <a:tabLst/>
              <a:defRPr sz="3600" b="0" i="0" u="none" strike="noStrike" cap="none" spc="0" baseline="0">
                <a:ln>
                  <a:noFill/>
                </a:ln>
                <a:solidFill>
                  <a:srgbClr val="747474"/>
                </a:solidFill>
                <a:uFillTx/>
                <a:latin typeface="+mn-lt"/>
                <a:ea typeface="+mn-ea"/>
                <a:cs typeface="+mn-cs"/>
                <a:sym typeface="Helvetica Neue Light"/>
              </a:defRPr>
            </a:lvl9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buNone/>
              <a:defRPr/>
            </a:pPr>
            <a:r>
              <a:rPr lang="en-IE" sz="2531" dirty="0">
                <a:solidFill>
                  <a:schemeClr val="bg1">
                    <a:lumMod val="50000"/>
                  </a:schemeClr>
                </a:solidFill>
              </a:rPr>
              <a:t>Produced by: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185C19-8566-4A22-9832-9D8E602C42D3}"/>
              </a:ext>
            </a:extLst>
          </p:cNvPr>
          <p:cNvSpPr txBox="1"/>
          <p:nvPr/>
        </p:nvSpPr>
        <p:spPr>
          <a:xfrm>
            <a:off x="4209088" y="5099030"/>
            <a:ext cx="63583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I" dirty="0">
                <a:hlinkClick r:id="rId5"/>
              </a:rPr>
              <a:t>https://www.linkedin.com/learning/learning-github?u=57077417</a:t>
            </a:r>
            <a:r>
              <a:rPr lang="en-GB" dirty="0"/>
              <a:t> </a:t>
            </a:r>
            <a:endParaRPr lang="en-VI" dirty="0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74FAA172-C4F1-0647-BF87-BE1B608893A4}"/>
              </a:ext>
            </a:extLst>
          </p:cNvPr>
          <p:cNvSpPr txBox="1">
            <a:spLocks/>
          </p:cNvSpPr>
          <p:nvPr/>
        </p:nvSpPr>
        <p:spPr>
          <a:xfrm>
            <a:off x="4125217" y="4155960"/>
            <a:ext cx="7363538" cy="130304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spcBef>
                <a:spcPct val="0"/>
              </a:spcBef>
              <a:buNone/>
            </a:pPr>
            <a:r>
              <a:rPr lang="en-IE" altLang="en-US" sz="1969" dirty="0" err="1">
                <a:sym typeface="Helvetica Neue" charset="0"/>
              </a:rPr>
              <a:t>Dr.</a:t>
            </a:r>
            <a:r>
              <a:rPr lang="en-IE" altLang="en-US" sz="1969" dirty="0">
                <a:sym typeface="Helvetica Neue" charset="0"/>
              </a:rPr>
              <a:t> </a:t>
            </a:r>
            <a:r>
              <a:rPr lang="en-IE" altLang="en-US" sz="1969" dirty="0" err="1">
                <a:sym typeface="Helvetica Neue" charset="0"/>
              </a:rPr>
              <a:t>Siobhán</a:t>
            </a:r>
            <a:r>
              <a:rPr lang="en-IE" altLang="en-US" sz="1969" dirty="0">
                <a:sym typeface="Helvetica Neue" charset="0"/>
              </a:rPr>
              <a:t> </a:t>
            </a:r>
            <a:r>
              <a:rPr lang="en-IE" altLang="en-US" sz="1969" dirty="0" err="1">
                <a:sym typeface="Helvetica Neue" charset="0"/>
              </a:rPr>
              <a:t>Drohan</a:t>
            </a:r>
            <a:r>
              <a:rPr lang="en-IE" altLang="en-US" sz="1969" dirty="0">
                <a:sym typeface="Helvetica Neue" charset="0"/>
              </a:rPr>
              <a:t> (</a:t>
            </a:r>
            <a:r>
              <a:rPr lang="en-IE" altLang="en-US" sz="1969" dirty="0">
                <a:sym typeface="Helvetica Neue" charset="0"/>
                <a:hlinkClick r:id="rId6"/>
              </a:rPr>
              <a:t>siobhan.drohan@setu</a:t>
            </a:r>
            <a:r>
              <a:rPr lang="en-IE" altLang="en-US" sz="1969">
                <a:sym typeface="Helvetica Neue" charset="0"/>
                <a:hlinkClick r:id="rId6"/>
              </a:rPr>
              <a:t>.ie)</a:t>
            </a:r>
            <a:r>
              <a:rPr lang="en-IE" altLang="en-US" sz="1969">
                <a:sym typeface="Helvetica Neue" charset="0"/>
              </a:rPr>
              <a:t>,  </a:t>
            </a:r>
          </a:p>
          <a:p>
            <a:pPr marL="0" indent="0">
              <a:lnSpc>
                <a:spcPct val="150000"/>
              </a:lnSpc>
              <a:spcBef>
                <a:spcPct val="0"/>
              </a:spcBef>
              <a:buNone/>
            </a:pPr>
            <a:r>
              <a:rPr lang="en-IE" altLang="en-US" sz="1969">
                <a:sym typeface="Helvetica Neue" charset="0"/>
              </a:rPr>
              <a:t>Mairead Meagher(mairead.Meagher@setu.ie)</a:t>
            </a:r>
            <a:endParaRPr lang="en-IE" altLang="en-US" sz="1969" dirty="0">
              <a:sym typeface="Helvetica Neue" charset="0"/>
            </a:endParaRP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67D8E862-3158-2243-BB41-3D18469604BE}"/>
              </a:ext>
            </a:extLst>
          </p:cNvPr>
          <p:cNvSpPr txBox="1">
            <a:spLocks/>
          </p:cNvSpPr>
          <p:nvPr/>
        </p:nvSpPr>
        <p:spPr>
          <a:xfrm>
            <a:off x="1132677" y="5099030"/>
            <a:ext cx="2480470" cy="617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8" tIns="35718" rIns="35718" bIns="35718">
            <a:noAutofit/>
          </a:bodyPr>
          <a:lstStyle>
            <a:lvl1pPr marL="457200" marR="0" indent="-4572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75000"/>
              <a:buFont typeface="Helvetica Neue"/>
              <a:buChar char="•"/>
              <a:tabLst/>
              <a:defRPr sz="3600" b="0" i="0" u="none" strike="noStrike" cap="none" spc="0" baseline="0">
                <a:ln>
                  <a:noFill/>
                </a:ln>
                <a:solidFill>
                  <a:srgbClr val="747474"/>
                </a:solidFill>
                <a:uFillTx/>
                <a:latin typeface="+mn-lt"/>
                <a:ea typeface="+mn-ea"/>
                <a:cs typeface="+mn-cs"/>
                <a:sym typeface="Helvetica Neue Light"/>
              </a:defRPr>
            </a:lvl1pPr>
            <a:lvl2pPr marL="914400" marR="0" indent="-4572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75000"/>
              <a:buFont typeface="Helvetica Neue"/>
              <a:buChar char="•"/>
              <a:tabLst/>
              <a:defRPr sz="3600" b="0" i="0" u="none" strike="noStrike" cap="none" spc="0" baseline="0">
                <a:ln>
                  <a:noFill/>
                </a:ln>
                <a:solidFill>
                  <a:srgbClr val="747474"/>
                </a:solidFill>
                <a:uFillTx/>
                <a:latin typeface="+mn-lt"/>
                <a:ea typeface="+mn-ea"/>
                <a:cs typeface="+mn-cs"/>
                <a:sym typeface="Helvetica Neue Light"/>
              </a:defRPr>
            </a:lvl2pPr>
            <a:lvl3pPr marL="1371600" marR="0" indent="-4572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75000"/>
              <a:buFont typeface="Helvetica Neue"/>
              <a:buChar char="•"/>
              <a:tabLst/>
              <a:defRPr sz="3600" b="0" i="0" u="none" strike="noStrike" cap="none" spc="0" baseline="0">
                <a:ln>
                  <a:noFill/>
                </a:ln>
                <a:solidFill>
                  <a:srgbClr val="747474"/>
                </a:solidFill>
                <a:uFillTx/>
                <a:latin typeface="+mn-lt"/>
                <a:ea typeface="+mn-ea"/>
                <a:cs typeface="+mn-cs"/>
                <a:sym typeface="Helvetica Neue Light"/>
              </a:defRPr>
            </a:lvl3pPr>
            <a:lvl4pPr marL="1828800" marR="0" indent="-4572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75000"/>
              <a:buFont typeface="Helvetica Neue"/>
              <a:buChar char="•"/>
              <a:tabLst/>
              <a:defRPr sz="3600" b="0" i="0" u="none" strike="noStrike" cap="none" spc="0" baseline="0">
                <a:ln>
                  <a:noFill/>
                </a:ln>
                <a:solidFill>
                  <a:srgbClr val="747474"/>
                </a:solidFill>
                <a:uFillTx/>
                <a:latin typeface="+mn-lt"/>
                <a:ea typeface="+mn-ea"/>
                <a:cs typeface="+mn-cs"/>
                <a:sym typeface="Helvetica Neue Light"/>
              </a:defRPr>
            </a:lvl4pPr>
            <a:lvl5pPr marL="2286000" marR="0" indent="-4572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75000"/>
              <a:buFont typeface="Helvetica Neue"/>
              <a:buChar char="•"/>
              <a:tabLst/>
              <a:defRPr sz="3600" b="0" i="0" u="none" strike="noStrike" cap="none" spc="0" baseline="0">
                <a:ln>
                  <a:noFill/>
                </a:ln>
                <a:solidFill>
                  <a:srgbClr val="747474"/>
                </a:solidFill>
                <a:uFillTx/>
                <a:latin typeface="+mn-lt"/>
                <a:ea typeface="+mn-ea"/>
                <a:cs typeface="+mn-cs"/>
                <a:sym typeface="Helvetica Neue Light"/>
              </a:defRPr>
            </a:lvl5pPr>
            <a:lvl6pPr marL="2743200" marR="0" indent="-4572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75000"/>
              <a:buFont typeface="Helvetica Neue"/>
              <a:buChar char="•"/>
              <a:tabLst/>
              <a:defRPr sz="3600" b="0" i="0" u="none" strike="noStrike" cap="none" spc="0" baseline="0">
                <a:ln>
                  <a:noFill/>
                </a:ln>
                <a:solidFill>
                  <a:srgbClr val="747474"/>
                </a:solidFill>
                <a:uFillTx/>
                <a:latin typeface="+mn-lt"/>
                <a:ea typeface="+mn-ea"/>
                <a:cs typeface="+mn-cs"/>
                <a:sym typeface="Helvetica Neue Light"/>
              </a:defRPr>
            </a:lvl6pPr>
            <a:lvl7pPr marL="3200400" marR="0" indent="-4572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75000"/>
              <a:buFont typeface="Helvetica Neue"/>
              <a:buChar char="•"/>
              <a:tabLst/>
              <a:defRPr sz="3600" b="0" i="0" u="none" strike="noStrike" cap="none" spc="0" baseline="0">
                <a:ln>
                  <a:noFill/>
                </a:ln>
                <a:solidFill>
                  <a:srgbClr val="747474"/>
                </a:solidFill>
                <a:uFillTx/>
                <a:latin typeface="+mn-lt"/>
                <a:ea typeface="+mn-ea"/>
                <a:cs typeface="+mn-cs"/>
                <a:sym typeface="Helvetica Neue Light"/>
              </a:defRPr>
            </a:lvl7pPr>
            <a:lvl8pPr marL="3657600" marR="0" indent="-4572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75000"/>
              <a:buFont typeface="Helvetica Neue"/>
              <a:buChar char="•"/>
              <a:tabLst/>
              <a:defRPr sz="3600" b="0" i="0" u="none" strike="noStrike" cap="none" spc="0" baseline="0">
                <a:ln>
                  <a:noFill/>
                </a:ln>
                <a:solidFill>
                  <a:srgbClr val="747474"/>
                </a:solidFill>
                <a:uFillTx/>
                <a:latin typeface="+mn-lt"/>
                <a:ea typeface="+mn-ea"/>
                <a:cs typeface="+mn-cs"/>
                <a:sym typeface="Helvetica Neue Light"/>
              </a:defRPr>
            </a:lvl8pPr>
            <a:lvl9pPr marL="4114800" marR="0" indent="-4572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75000"/>
              <a:buFont typeface="Helvetica Neue"/>
              <a:buChar char="•"/>
              <a:tabLst/>
              <a:defRPr sz="3600" b="0" i="0" u="none" strike="noStrike" cap="none" spc="0" baseline="0">
                <a:ln>
                  <a:noFill/>
                </a:ln>
                <a:solidFill>
                  <a:srgbClr val="747474"/>
                </a:solidFill>
                <a:uFillTx/>
                <a:latin typeface="+mn-lt"/>
                <a:ea typeface="+mn-ea"/>
                <a:cs typeface="+mn-cs"/>
                <a:sym typeface="Helvetica Neue Light"/>
              </a:defRPr>
            </a:lvl9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buNone/>
              <a:defRPr/>
            </a:pPr>
            <a:r>
              <a:rPr lang="en-IE" sz="2531" dirty="0">
                <a:solidFill>
                  <a:schemeClr val="bg1">
                    <a:lumMod val="50000"/>
                  </a:schemeClr>
                </a:solidFill>
              </a:rPr>
              <a:t>Source:</a:t>
            </a:r>
          </a:p>
        </p:txBody>
      </p:sp>
    </p:spTree>
    <p:extLst>
      <p:ext uri="{BB962C8B-B14F-4D97-AF65-F5344CB8AC3E}">
        <p14:creationId xmlns:p14="http://schemas.microsoft.com/office/powerpoint/2010/main" val="1085740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F5EE6E-7CEB-4993-B1B9-C6502C702B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4716" y="739978"/>
            <a:ext cx="5334930" cy="3004145"/>
          </a:xfrm>
        </p:spPr>
        <p:txBody>
          <a:bodyPr>
            <a:normAutofit/>
          </a:bodyPr>
          <a:lstStyle/>
          <a:p>
            <a:r>
              <a:rPr lang="en-IE" dirty="0"/>
              <a:t>Version Control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DC95C1-3476-44D0-9902-9E318E1EA4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>
            <a:normAutofit/>
          </a:bodyPr>
          <a:lstStyle/>
          <a:p>
            <a:r>
              <a:rPr lang="en-IE" dirty="0"/>
              <a:t>What is git</a:t>
            </a:r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9" name="Freeform: Shape 78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1" name="Freeform: Shape 80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2050" name="Picture 2" descr="Source Control Icons - Download Free Vector Icons | Noun Project">
            <a:extLst>
              <a:ext uri="{FF2B5EF4-FFF2-40B4-BE49-F238E27FC236}">
                <a16:creationId xmlns:a16="http://schemas.microsoft.com/office/drawing/2014/main" id="{2DB094C1-36AF-4A32-9068-2D72A6A71F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 b="-1"/>
          <a:stretch/>
        </p:blipFill>
        <p:spPr bwMode="auto"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3" name="Freeform: Shape 82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41381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C37F385-8542-4984-AC99-01F2F564C9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143" y="1826876"/>
            <a:ext cx="4151070" cy="27763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26" name="Picture 2" descr="upload.wikimedia.org/wikipedia/commons/thumb/e/...">
            <a:extLst>
              <a:ext uri="{FF2B5EF4-FFF2-40B4-BE49-F238E27FC236}">
                <a16:creationId xmlns:a16="http://schemas.microsoft.com/office/drawing/2014/main" id="{8D4066B6-8E42-4FD1-AC71-44548553EE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557" y="2315318"/>
            <a:ext cx="4305302" cy="17994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3E6F770-0742-446D-89EB-DCFF05A2D973}"/>
              </a:ext>
            </a:extLst>
          </p:cNvPr>
          <p:cNvSpPr txBox="1"/>
          <p:nvPr/>
        </p:nvSpPr>
        <p:spPr>
          <a:xfrm>
            <a:off x="7450584" y="4906678"/>
            <a:ext cx="29540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0" dirty="0">
                <a:solidFill>
                  <a:srgbClr val="292929"/>
                </a:solidFill>
                <a:effectLst/>
                <a:latin typeface="medium-content-serif-font"/>
              </a:rPr>
              <a:t>Developed by </a:t>
            </a:r>
            <a:r>
              <a:rPr lang="en-GB" sz="1800" dirty="0">
                <a:latin typeface="medium-content-serif-font"/>
                <a:hlinkClick r:id="rId4"/>
              </a:rPr>
              <a:t>Linus Torvalds</a:t>
            </a:r>
            <a:endParaRPr lang="en-VI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DDBA7B-2945-4E38-838C-E0B000246C36}"/>
              </a:ext>
            </a:extLst>
          </p:cNvPr>
          <p:cNvSpPr txBox="1"/>
          <p:nvPr/>
        </p:nvSpPr>
        <p:spPr>
          <a:xfrm>
            <a:off x="6340875" y="6596390"/>
            <a:ext cx="6094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I" sz="1100" dirty="0">
                <a:hlinkClick r:id="rId5"/>
              </a:rPr>
              <a:t>https://www.linkedin.com/learning/learning-github/what-is-git</a:t>
            </a:r>
            <a:r>
              <a:rPr lang="en-GB" sz="1100" dirty="0"/>
              <a:t> </a:t>
            </a:r>
            <a:endParaRPr lang="en-VI" sz="1100" dirty="0"/>
          </a:p>
        </p:txBody>
      </p:sp>
    </p:spTree>
    <p:extLst>
      <p:ext uri="{BB962C8B-B14F-4D97-AF65-F5344CB8AC3E}">
        <p14:creationId xmlns:p14="http://schemas.microsoft.com/office/powerpoint/2010/main" val="21350964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upload.wikimedia.org/wikipedia/commons/thumb/e/...">
            <a:extLst>
              <a:ext uri="{FF2B5EF4-FFF2-40B4-BE49-F238E27FC236}">
                <a16:creationId xmlns:a16="http://schemas.microsoft.com/office/drawing/2014/main" id="{8D4066B6-8E42-4FD1-AC71-44548553EE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388" y="319225"/>
            <a:ext cx="1593894" cy="6661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6FC88C4-5DDA-4ACB-8D11-ED4D4257F8C4}"/>
              </a:ext>
            </a:extLst>
          </p:cNvPr>
          <p:cNvSpPr txBox="1"/>
          <p:nvPr/>
        </p:nvSpPr>
        <p:spPr>
          <a:xfrm>
            <a:off x="1227335" y="3459631"/>
            <a:ext cx="4496137" cy="1815882"/>
          </a:xfrm>
          <a:prstGeom prst="rect">
            <a:avLst/>
          </a:prstGeom>
          <a:ln w="190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A Version Control System (VCS) is software designed to record </a:t>
            </a:r>
            <a:r>
              <a:rPr lang="en-GB" sz="2800" dirty="0">
                <a:solidFill>
                  <a:srgbClr val="FF0000"/>
                </a:solidFill>
              </a:rPr>
              <a:t>changes</a:t>
            </a:r>
            <a:r>
              <a:rPr lang="en-GB" sz="2800" dirty="0"/>
              <a:t> made to a file or set of files over time.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A2F637-EA34-453B-B11B-5C6C1C4E1202}"/>
              </a:ext>
            </a:extLst>
          </p:cNvPr>
          <p:cNvSpPr txBox="1"/>
          <p:nvPr/>
        </p:nvSpPr>
        <p:spPr>
          <a:xfrm>
            <a:off x="6340875" y="6596390"/>
            <a:ext cx="6094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I" sz="1100" dirty="0">
                <a:hlinkClick r:id="rId3"/>
              </a:rPr>
              <a:t>https://www.linkedin.com/learning/learning-github/what-is-git</a:t>
            </a:r>
            <a:r>
              <a:rPr lang="en-GB" sz="1100" dirty="0"/>
              <a:t> </a:t>
            </a:r>
            <a:endParaRPr lang="en-VI" sz="11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1D03FD-AEAC-4546-B3B5-3ACAE7D8A4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3857" y="412198"/>
            <a:ext cx="5852196" cy="20782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31865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46FC88C4-5DDA-4ACB-8D11-ED4D4257F8C4}"/>
              </a:ext>
            </a:extLst>
          </p:cNvPr>
          <p:cNvSpPr txBox="1"/>
          <p:nvPr/>
        </p:nvSpPr>
        <p:spPr>
          <a:xfrm>
            <a:off x="1227335" y="3459631"/>
            <a:ext cx="4496137" cy="1815882"/>
          </a:xfrm>
          <a:prstGeom prst="rect">
            <a:avLst/>
          </a:prstGeom>
          <a:ln w="190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A Version Control System (VCS) is software designed to record </a:t>
            </a:r>
            <a:r>
              <a:rPr lang="en-GB" sz="2800" dirty="0">
                <a:solidFill>
                  <a:srgbClr val="FF0000"/>
                </a:solidFill>
              </a:rPr>
              <a:t>changes</a:t>
            </a:r>
            <a:r>
              <a:rPr lang="en-GB" sz="2800" dirty="0"/>
              <a:t> made to a file or set of files over time.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A2F637-EA34-453B-B11B-5C6C1C4E1202}"/>
              </a:ext>
            </a:extLst>
          </p:cNvPr>
          <p:cNvSpPr txBox="1"/>
          <p:nvPr/>
        </p:nvSpPr>
        <p:spPr>
          <a:xfrm>
            <a:off x="6340875" y="6596390"/>
            <a:ext cx="6094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I" sz="1100" dirty="0">
                <a:hlinkClick r:id="rId2"/>
              </a:rPr>
              <a:t>https://www.linkedin.com/learning/learning-github/what-is-git</a:t>
            </a:r>
            <a:r>
              <a:rPr lang="en-GB" sz="1100" dirty="0"/>
              <a:t> </a:t>
            </a:r>
            <a:endParaRPr lang="en-VI" sz="11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1D03FD-AEAC-4546-B3B5-3ACAE7D8A4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3857" y="412198"/>
            <a:ext cx="5852196" cy="20782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A26E21A-0BF3-422C-AE40-E15D20A15EB5}"/>
              </a:ext>
            </a:extLst>
          </p:cNvPr>
          <p:cNvSpPr txBox="1"/>
          <p:nvPr/>
        </p:nvSpPr>
        <p:spPr>
          <a:xfrm>
            <a:off x="6468530" y="3459631"/>
            <a:ext cx="4770600" cy="1815882"/>
          </a:xfrm>
          <a:prstGeom prst="rect">
            <a:avLst/>
          </a:prstGeom>
          <a:ln w="190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This gives you the ability to revert or recall changes to a file, or set of files after you have made them.</a:t>
            </a:r>
          </a:p>
        </p:txBody>
      </p:sp>
      <p:pic>
        <p:nvPicPr>
          <p:cNvPr id="3" name="Picture 2" descr="upload.wikimedia.org/wikipedia/commons/thumb/e/...">
            <a:extLst>
              <a:ext uri="{FF2B5EF4-FFF2-40B4-BE49-F238E27FC236}">
                <a16:creationId xmlns:a16="http://schemas.microsoft.com/office/drawing/2014/main" id="{77F50EFC-FCBB-4EF3-BE0A-CA620C69D9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388" y="319225"/>
            <a:ext cx="1593894" cy="6661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26068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46FC88C4-5DDA-4ACB-8D11-ED4D4257F8C4}"/>
              </a:ext>
            </a:extLst>
          </p:cNvPr>
          <p:cNvSpPr txBox="1"/>
          <p:nvPr/>
        </p:nvSpPr>
        <p:spPr>
          <a:xfrm>
            <a:off x="2539014" y="1669003"/>
            <a:ext cx="8408632" cy="1815882"/>
          </a:xfrm>
          <a:prstGeom prst="rect">
            <a:avLst/>
          </a:prstGeom>
          <a:ln w="190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If you want to go back to a version, you can revert one file to a previous version, or a selection of files to their previous versions, or even the entire project back to a specific version in time.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A2F637-EA34-453B-B11B-5C6C1C4E1202}"/>
              </a:ext>
            </a:extLst>
          </p:cNvPr>
          <p:cNvSpPr txBox="1"/>
          <p:nvPr/>
        </p:nvSpPr>
        <p:spPr>
          <a:xfrm>
            <a:off x="6340875" y="6596390"/>
            <a:ext cx="6094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I" sz="1100" dirty="0">
                <a:hlinkClick r:id="rId2"/>
              </a:rPr>
              <a:t>https://www.linkedin.com/learning/learning-github/what-is-git</a:t>
            </a:r>
            <a:r>
              <a:rPr lang="en-GB" sz="1100" dirty="0"/>
              <a:t> </a:t>
            </a:r>
            <a:endParaRPr lang="en-VI" sz="11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91EFF9-B6E0-41DA-9DAA-ACC94B1D17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633" y="3746134"/>
            <a:ext cx="5525001" cy="21514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2" descr="upload.wikimedia.org/wikipedia/commons/thumb/e/...">
            <a:extLst>
              <a:ext uri="{FF2B5EF4-FFF2-40B4-BE49-F238E27FC236}">
                <a16:creationId xmlns:a16="http://schemas.microsoft.com/office/drawing/2014/main" id="{111811BF-9C97-4843-828A-F8914C5635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388" y="319225"/>
            <a:ext cx="1593894" cy="6661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History Icons - Download Free Vector Icons | Noun Project">
            <a:extLst>
              <a:ext uri="{FF2B5EF4-FFF2-40B4-BE49-F238E27FC236}">
                <a16:creationId xmlns:a16="http://schemas.microsoft.com/office/drawing/2014/main" id="{E1F2F61C-1F1B-4A80-ADC3-30668CBC02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10" y="1857974"/>
            <a:ext cx="1437940" cy="14379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02159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46FC88C4-5DDA-4ACB-8D11-ED4D4257F8C4}"/>
              </a:ext>
            </a:extLst>
          </p:cNvPr>
          <p:cNvSpPr txBox="1"/>
          <p:nvPr/>
        </p:nvSpPr>
        <p:spPr>
          <a:xfrm>
            <a:off x="1675660" y="3811644"/>
            <a:ext cx="8840679" cy="2246769"/>
          </a:xfrm>
          <a:prstGeom prst="rect">
            <a:avLst/>
          </a:prstGeom>
          <a:ln w="190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2800" dirty="0"/>
              <a:t>You can see what changes were made between files e.g.: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When the change was introduced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Who introduced the change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What was changed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Why was it changed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A2F637-EA34-453B-B11B-5C6C1C4E1202}"/>
              </a:ext>
            </a:extLst>
          </p:cNvPr>
          <p:cNvSpPr txBox="1"/>
          <p:nvPr/>
        </p:nvSpPr>
        <p:spPr>
          <a:xfrm>
            <a:off x="6340875" y="6596390"/>
            <a:ext cx="6094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I" sz="1100" dirty="0">
                <a:hlinkClick r:id="rId2"/>
              </a:rPr>
              <a:t>https://www.linkedin.com/learning/learning-github/what-is-git</a:t>
            </a:r>
            <a:r>
              <a:rPr lang="en-GB" sz="1100" dirty="0"/>
              <a:t> </a:t>
            </a:r>
            <a:endParaRPr lang="en-VI" sz="1100" dirty="0"/>
          </a:p>
        </p:txBody>
      </p:sp>
      <p:pic>
        <p:nvPicPr>
          <p:cNvPr id="6" name="Picture 2" descr="upload.wikimedia.org/wikipedia/commons/thumb/e/...">
            <a:extLst>
              <a:ext uri="{FF2B5EF4-FFF2-40B4-BE49-F238E27FC236}">
                <a16:creationId xmlns:a16="http://schemas.microsoft.com/office/drawing/2014/main" id="{111811BF-9C97-4843-828A-F8914C5635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388" y="319225"/>
            <a:ext cx="1593894" cy="6661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2C3C2E9-2E24-4127-9F37-B9A47F588E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9660" y="1338195"/>
            <a:ext cx="6094520" cy="19354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69392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46FC88C4-5DDA-4ACB-8D11-ED4D4257F8C4}"/>
              </a:ext>
            </a:extLst>
          </p:cNvPr>
          <p:cNvSpPr txBox="1"/>
          <p:nvPr/>
        </p:nvSpPr>
        <p:spPr>
          <a:xfrm>
            <a:off x="3280669" y="1679419"/>
            <a:ext cx="5630662" cy="954107"/>
          </a:xfrm>
          <a:prstGeom prst="rect">
            <a:avLst/>
          </a:prstGeom>
          <a:ln w="190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2800" dirty="0"/>
              <a:t>You can version control any type of file on git, not just source code files: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A2F637-EA34-453B-B11B-5C6C1C4E1202}"/>
              </a:ext>
            </a:extLst>
          </p:cNvPr>
          <p:cNvSpPr txBox="1"/>
          <p:nvPr/>
        </p:nvSpPr>
        <p:spPr>
          <a:xfrm>
            <a:off x="6340875" y="6596390"/>
            <a:ext cx="6094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I" sz="1100" dirty="0">
                <a:hlinkClick r:id="rId2"/>
              </a:rPr>
              <a:t>https://www.linkedin.com/learning/learning-github/what-is-git</a:t>
            </a:r>
            <a:r>
              <a:rPr lang="en-GB" sz="1100" dirty="0"/>
              <a:t> </a:t>
            </a:r>
            <a:endParaRPr lang="en-VI" sz="1100" dirty="0"/>
          </a:p>
        </p:txBody>
      </p:sp>
      <p:pic>
        <p:nvPicPr>
          <p:cNvPr id="6" name="Picture 2" descr="upload.wikimedia.org/wikipedia/commons/thumb/e/...">
            <a:extLst>
              <a:ext uri="{FF2B5EF4-FFF2-40B4-BE49-F238E27FC236}">
                <a16:creationId xmlns:a16="http://schemas.microsoft.com/office/drawing/2014/main" id="{111811BF-9C97-4843-828A-F8914C5635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388" y="319225"/>
            <a:ext cx="1593894" cy="6661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8" descr="Icon, File, Extension, Document, Symbol">
            <a:extLst>
              <a:ext uri="{FF2B5EF4-FFF2-40B4-BE49-F238E27FC236}">
                <a16:creationId xmlns:a16="http://schemas.microsoft.com/office/drawing/2014/main" id="{5E0A4233-4456-4281-9CB9-3295A54928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7978" y="3028641"/>
            <a:ext cx="5236044" cy="26180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70771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upload.wikimedia.org/wikipedia/commons/thumb/e/...">
            <a:extLst>
              <a:ext uri="{FF2B5EF4-FFF2-40B4-BE49-F238E27FC236}">
                <a16:creationId xmlns:a16="http://schemas.microsoft.com/office/drawing/2014/main" id="{4042EBB1-6E73-6868-A9F5-005F4C9348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388" y="319225"/>
            <a:ext cx="1593894" cy="6661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59C475-C10A-A39D-E816-994A7E803C7B}"/>
              </a:ext>
            </a:extLst>
          </p:cNvPr>
          <p:cNvSpPr txBox="1"/>
          <p:nvPr/>
        </p:nvSpPr>
        <p:spPr>
          <a:xfrm>
            <a:off x="3050088" y="319225"/>
            <a:ext cx="64884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tx1">
                    <a:alpha val="99121"/>
                  </a:schemeClr>
                </a:solidFill>
              </a:rPr>
              <a:t>Basics of git - 1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A477E0-AFEA-5E36-9440-925EE6F5172F}"/>
              </a:ext>
            </a:extLst>
          </p:cNvPr>
          <p:cNvSpPr txBox="1"/>
          <p:nvPr/>
        </p:nvSpPr>
        <p:spPr>
          <a:xfrm>
            <a:off x="2024282" y="1310410"/>
            <a:ext cx="9278822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Git is a the version control system. Git manages all the repo’s history, etc.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When using Git, we have a Git repository (repo) which contains:</a:t>
            </a:r>
          </a:p>
          <a:p>
            <a:pPr marL="1443038" indent="-285750" algn="thaiDist">
              <a:buFont typeface="Wingdings" pitchFamily="2" charset="2"/>
              <a:buChar char="v"/>
            </a:pPr>
            <a:r>
              <a:rPr lang="en-US"/>
              <a:t>Source code and any other files</a:t>
            </a:r>
          </a:p>
          <a:p>
            <a:pPr marL="1443038" indent="-285750" algn="thaiDist">
              <a:buFont typeface="Wingdings" pitchFamily="2" charset="2"/>
              <a:buChar char="v"/>
            </a:pPr>
            <a:r>
              <a:rPr lang="en-US"/>
              <a:t>Files needed to keep the information of the various versions </a:t>
            </a:r>
          </a:p>
          <a:p>
            <a:pPr marL="1157288" algn="thaiDist"/>
            <a:r>
              <a:rPr lang="en-US"/>
              <a:t>      (these are contained in the hidden .git subdirectory) </a:t>
            </a:r>
          </a:p>
          <a:p>
            <a:pPr marL="1443038" indent="-285750" algn="thaiDist">
              <a:buFont typeface="Arial" panose="020B0604020202020204" pitchFamily="34" charset="0"/>
              <a:buChar char="•"/>
            </a:pPr>
            <a:endParaRPr lang="en-US"/>
          </a:p>
          <a:p>
            <a:pPr marL="334963" indent="-285750" algn="thaiDist">
              <a:buFont typeface="Arial" panose="020B0604020202020204" pitchFamily="34" charset="0"/>
              <a:buChar char="•"/>
            </a:pPr>
            <a:r>
              <a:rPr lang="en-US"/>
              <a:t>The user works away on the local repo. </a:t>
            </a:r>
          </a:p>
          <a:p>
            <a:pPr marL="334963" indent="-285750" algn="thaiDist">
              <a:buFont typeface="Arial" panose="020B0604020202020204" pitchFamily="34" charset="0"/>
              <a:buChar char="•"/>
            </a:pPr>
            <a:endParaRPr lang="en-US"/>
          </a:p>
          <a:p>
            <a:pPr marL="334963" indent="-285750" algn="thaiDist">
              <a:buFont typeface="Arial" panose="020B0604020202020204" pitchFamily="34" charset="0"/>
              <a:buChar char="•"/>
            </a:pPr>
            <a:r>
              <a:rPr lang="en-US"/>
              <a:t>Usually (but not necessarily), the user will also use a remote server so that </a:t>
            </a:r>
          </a:p>
          <a:p>
            <a:pPr marL="1443038" indent="-285750" algn="thaiDist">
              <a:buFont typeface="Wingdings" pitchFamily="2" charset="2"/>
              <a:buChar char="v"/>
            </a:pPr>
            <a:r>
              <a:rPr lang="en-US"/>
              <a:t>They can backup their work;</a:t>
            </a:r>
          </a:p>
          <a:p>
            <a:pPr marL="1443038" indent="-285750" algn="thaiDist">
              <a:buFont typeface="Wingdings" pitchFamily="2" charset="2"/>
              <a:buChar char="v"/>
            </a:pPr>
            <a:r>
              <a:rPr lang="en-US"/>
              <a:t>They can publish their work;</a:t>
            </a:r>
          </a:p>
          <a:p>
            <a:pPr marL="1443038" indent="-285750" algn="thaiDist">
              <a:buFont typeface="Wingdings" pitchFamily="2" charset="2"/>
              <a:buChar char="v"/>
            </a:pPr>
            <a:r>
              <a:rPr lang="en-US"/>
              <a:t>They can share their work with collaborators. This sharing  is the most productive </a:t>
            </a:r>
          </a:p>
          <a:p>
            <a:pPr marL="1157288" algn="thaiDist"/>
            <a:r>
              <a:rPr lang="en-US"/>
              <a:t>      use of Git but as a starting point, not necessary. </a:t>
            </a:r>
          </a:p>
        </p:txBody>
      </p:sp>
    </p:spTree>
    <p:extLst>
      <p:ext uri="{BB962C8B-B14F-4D97-AF65-F5344CB8AC3E}">
        <p14:creationId xmlns:p14="http://schemas.microsoft.com/office/powerpoint/2010/main" val="2598154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upload.wikimedia.org/wikipedia/commons/thumb/e/...">
            <a:extLst>
              <a:ext uri="{FF2B5EF4-FFF2-40B4-BE49-F238E27FC236}">
                <a16:creationId xmlns:a16="http://schemas.microsoft.com/office/drawing/2014/main" id="{4042EBB1-6E73-6868-A9F5-005F4C9348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388" y="319225"/>
            <a:ext cx="1593894" cy="6661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59C475-C10A-A39D-E816-994A7E803C7B}"/>
              </a:ext>
            </a:extLst>
          </p:cNvPr>
          <p:cNvSpPr txBox="1"/>
          <p:nvPr/>
        </p:nvSpPr>
        <p:spPr>
          <a:xfrm>
            <a:off x="3050088" y="319225"/>
            <a:ext cx="64884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tx1">
                    <a:alpha val="99121"/>
                  </a:schemeClr>
                </a:solidFill>
              </a:rPr>
              <a:t>Basics of git - 2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A477E0-AFEA-5E36-9440-925EE6F5172F}"/>
              </a:ext>
            </a:extLst>
          </p:cNvPr>
          <p:cNvSpPr txBox="1"/>
          <p:nvPr/>
        </p:nvSpPr>
        <p:spPr>
          <a:xfrm>
            <a:off x="1056557" y="2432979"/>
            <a:ext cx="941931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see a very good intro on git , see here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>
                <a:hlinkClick r:id="rId3"/>
              </a:rPr>
              <a:t>https://</a:t>
            </a:r>
            <a:r>
              <a:rPr lang="en-US" dirty="0" err="1">
                <a:hlinkClick r:id="rId3"/>
              </a:rPr>
              <a:t>www.freecodecamp.org</a:t>
            </a:r>
            <a:r>
              <a:rPr lang="en-US" dirty="0">
                <a:hlinkClick r:id="rId3"/>
              </a:rPr>
              <a:t>/news/learn-the-basics-of-git-in-under-10-minutes-da548267cc91/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58340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upload.wikimedia.org/wikipedia/commons/thumb/e/...">
            <a:extLst>
              <a:ext uri="{FF2B5EF4-FFF2-40B4-BE49-F238E27FC236}">
                <a16:creationId xmlns:a16="http://schemas.microsoft.com/office/drawing/2014/main" id="{4042EBB1-6E73-6868-A9F5-005F4C9348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388" y="319225"/>
            <a:ext cx="1593894" cy="6661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59C475-C10A-A39D-E816-994A7E803C7B}"/>
              </a:ext>
            </a:extLst>
          </p:cNvPr>
          <p:cNvSpPr txBox="1"/>
          <p:nvPr/>
        </p:nvSpPr>
        <p:spPr>
          <a:xfrm>
            <a:off x="3050088" y="319225"/>
            <a:ext cx="64884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tx1">
                    <a:alpha val="99121"/>
                  </a:schemeClr>
                </a:solidFill>
              </a:rPr>
              <a:t>Basics of git - 3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905F0E-2A52-8846-EFBC-741C4E4A8A4A}"/>
              </a:ext>
            </a:extLst>
          </p:cNvPr>
          <p:cNvSpPr txBox="1"/>
          <p:nvPr/>
        </p:nvSpPr>
        <p:spPr>
          <a:xfrm>
            <a:off x="430388" y="3553218"/>
            <a:ext cx="32898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/>
              <a:t>Basic commands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717B416-8EE9-86BD-661B-A9FA949AC1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6402" y="1308985"/>
            <a:ext cx="7772400" cy="4488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296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17">
            <a:extLst>
              <a:ext uri="{FF2B5EF4-FFF2-40B4-BE49-F238E27FC236}">
                <a16:creationId xmlns:a16="http://schemas.microsoft.com/office/drawing/2014/main" id="{C2B3FB66-52BF-4636-9101-A43911D3D6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6" name="Rectangle 19">
            <a:extLst>
              <a:ext uri="{FF2B5EF4-FFF2-40B4-BE49-F238E27FC236}">
                <a16:creationId xmlns:a16="http://schemas.microsoft.com/office/drawing/2014/main" id="{A2EE7FFD-9491-4539-8964-F12FB8FF6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Graphical user interface, text, website&#10;&#10;Description automatically generated">
            <a:extLst>
              <a:ext uri="{FF2B5EF4-FFF2-40B4-BE49-F238E27FC236}">
                <a16:creationId xmlns:a16="http://schemas.microsoft.com/office/drawing/2014/main" id="{33FE008C-02FA-C521-19A7-D35502CB186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068" r="-1" b="4919"/>
          <a:stretch/>
        </p:blipFill>
        <p:spPr>
          <a:xfrm>
            <a:off x="20" y="10"/>
            <a:ext cx="12188932" cy="6172191"/>
          </a:xfrm>
          <a:prstGeom prst="rect">
            <a:avLst/>
          </a:prstGeom>
        </p:spPr>
      </p:pic>
      <p:pic>
        <p:nvPicPr>
          <p:cNvPr id="27" name="Graphic 21">
            <a:extLst>
              <a:ext uri="{FF2B5EF4-FFF2-40B4-BE49-F238E27FC236}">
                <a16:creationId xmlns:a16="http://schemas.microsoft.com/office/drawing/2014/main" id="{589A7858-2A11-42FF-AB8A-A973BCBE05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3344798" y="-2665477"/>
            <a:ext cx="5486400" cy="12188952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DBA464DF-A21F-4138-A6F8-84D3773E7A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073128" y="6172201"/>
            <a:ext cx="118872" cy="685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3933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46FC88C4-5DDA-4ACB-8D11-ED4D4257F8C4}"/>
              </a:ext>
            </a:extLst>
          </p:cNvPr>
          <p:cNvSpPr txBox="1"/>
          <p:nvPr/>
        </p:nvSpPr>
        <p:spPr>
          <a:xfrm>
            <a:off x="2326170" y="3326627"/>
            <a:ext cx="4580878" cy="2677656"/>
          </a:xfrm>
          <a:prstGeom prst="rect">
            <a:avLst/>
          </a:prstGeom>
          <a:ln w="190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Distributed Version Control allows for collaboration.  </a:t>
            </a:r>
          </a:p>
          <a:p>
            <a:pPr algn="ctr"/>
            <a:endParaRPr lang="en-GB" sz="2800" dirty="0"/>
          </a:p>
          <a:p>
            <a:pPr algn="ctr"/>
            <a:r>
              <a:rPr lang="en-GB" sz="2800" dirty="0"/>
              <a:t>Each client fully mirrors the project by pulling down the entire repository.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A2F637-EA34-453B-B11B-5C6C1C4E1202}"/>
              </a:ext>
            </a:extLst>
          </p:cNvPr>
          <p:cNvSpPr txBox="1"/>
          <p:nvPr/>
        </p:nvSpPr>
        <p:spPr>
          <a:xfrm>
            <a:off x="6340875" y="6596390"/>
            <a:ext cx="6094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I" sz="1100" dirty="0">
                <a:hlinkClick r:id="rId2"/>
              </a:rPr>
              <a:t>https://www.linkedin.com/learning/learning-github/what-is-git</a:t>
            </a:r>
            <a:r>
              <a:rPr lang="en-GB" sz="1100" dirty="0"/>
              <a:t> </a:t>
            </a:r>
            <a:endParaRPr lang="en-VI" sz="1100" dirty="0"/>
          </a:p>
        </p:txBody>
      </p:sp>
      <p:pic>
        <p:nvPicPr>
          <p:cNvPr id="6" name="Picture 2" descr="upload.wikimedia.org/wikipedia/commons/thumb/e/...">
            <a:extLst>
              <a:ext uri="{FF2B5EF4-FFF2-40B4-BE49-F238E27FC236}">
                <a16:creationId xmlns:a16="http://schemas.microsoft.com/office/drawing/2014/main" id="{111811BF-9C97-4843-828A-F8914C5635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388" y="319225"/>
            <a:ext cx="1593894" cy="6661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0E1D355-DF60-4D3D-BC78-D6B6662E14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2343" y="1442255"/>
            <a:ext cx="3448532" cy="17052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Graphic 10" descr="Users">
            <a:extLst>
              <a:ext uri="{FF2B5EF4-FFF2-40B4-BE49-F238E27FC236}">
                <a16:creationId xmlns:a16="http://schemas.microsoft.com/office/drawing/2014/main" id="{D669EBB7-4329-4224-8334-3C38A2B2F27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9027" y="3524435"/>
            <a:ext cx="1967143" cy="1967143"/>
          </a:xfrm>
          <a:prstGeom prst="rect">
            <a:avLst/>
          </a:prstGeom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09380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46FC88C4-5DDA-4ACB-8D11-ED4D4257F8C4}"/>
              </a:ext>
            </a:extLst>
          </p:cNvPr>
          <p:cNvSpPr txBox="1"/>
          <p:nvPr/>
        </p:nvSpPr>
        <p:spPr>
          <a:xfrm>
            <a:off x="2326170" y="3326627"/>
            <a:ext cx="4580878" cy="2677656"/>
          </a:xfrm>
          <a:prstGeom prst="rect">
            <a:avLst/>
          </a:prstGeom>
          <a:ln w="190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Distributed Version Control allows for collaboration.  </a:t>
            </a:r>
          </a:p>
          <a:p>
            <a:pPr algn="ctr"/>
            <a:endParaRPr lang="en-GB" sz="2800" dirty="0"/>
          </a:p>
          <a:p>
            <a:pPr algn="ctr"/>
            <a:r>
              <a:rPr lang="en-GB" sz="2800" dirty="0"/>
              <a:t>Each client fully mirrors the project by pulling down the entire repository.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A2F637-EA34-453B-B11B-5C6C1C4E1202}"/>
              </a:ext>
            </a:extLst>
          </p:cNvPr>
          <p:cNvSpPr txBox="1"/>
          <p:nvPr/>
        </p:nvSpPr>
        <p:spPr>
          <a:xfrm>
            <a:off x="6340875" y="6596390"/>
            <a:ext cx="6094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I" sz="1100" dirty="0">
                <a:hlinkClick r:id="rId2"/>
              </a:rPr>
              <a:t>https://www.linkedin.com/learning/learning-github/what-is-git</a:t>
            </a:r>
            <a:r>
              <a:rPr lang="en-GB" sz="1100" dirty="0"/>
              <a:t> </a:t>
            </a:r>
            <a:endParaRPr lang="en-VI" sz="1100" dirty="0"/>
          </a:p>
        </p:txBody>
      </p:sp>
      <p:pic>
        <p:nvPicPr>
          <p:cNvPr id="6" name="Picture 2" descr="upload.wikimedia.org/wikipedia/commons/thumb/e/...">
            <a:extLst>
              <a:ext uri="{FF2B5EF4-FFF2-40B4-BE49-F238E27FC236}">
                <a16:creationId xmlns:a16="http://schemas.microsoft.com/office/drawing/2014/main" id="{111811BF-9C97-4843-828A-F8914C5635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388" y="319225"/>
            <a:ext cx="1593894" cy="6661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0E1D355-DF60-4D3D-BC78-D6B6662E14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2343" y="1442255"/>
            <a:ext cx="3448532" cy="17052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2007CD4-C5C1-4E57-908A-078115E05B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6510" y="1356622"/>
            <a:ext cx="3537815" cy="23945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BA65FFF-09FC-4225-A2EE-A80F669592E4}"/>
              </a:ext>
            </a:extLst>
          </p:cNvPr>
          <p:cNvSpPr txBox="1"/>
          <p:nvPr/>
        </p:nvSpPr>
        <p:spPr>
          <a:xfrm>
            <a:off x="7791635" y="3930308"/>
            <a:ext cx="3966099" cy="1384995"/>
          </a:xfrm>
          <a:prstGeom prst="rect">
            <a:avLst/>
          </a:prstGeom>
          <a:ln w="190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2800" dirty="0"/>
              <a:t>Everyone has a local copy of the entire project history  </a:t>
            </a:r>
            <a:r>
              <a:rPr lang="en-GB" sz="2800" dirty="0">
                <a:sym typeface="Wingdings" panose="05000000000000000000" pitchFamily="2" charset="2"/>
              </a:rPr>
              <a:t> full back up. </a:t>
            </a:r>
            <a:endParaRPr lang="en-GB" sz="2800" dirty="0"/>
          </a:p>
        </p:txBody>
      </p:sp>
      <p:pic>
        <p:nvPicPr>
          <p:cNvPr id="11" name="Graphic 10" descr="Users">
            <a:extLst>
              <a:ext uri="{FF2B5EF4-FFF2-40B4-BE49-F238E27FC236}">
                <a16:creationId xmlns:a16="http://schemas.microsoft.com/office/drawing/2014/main" id="{D669EBB7-4329-4224-8334-3C38A2B2F27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9027" y="3524435"/>
            <a:ext cx="1967143" cy="1967143"/>
          </a:xfrm>
          <a:prstGeom prst="rect">
            <a:avLst/>
          </a:prstGeom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83939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F5EE6E-7CEB-4993-B1B9-C6502C702B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4716" y="739978"/>
            <a:ext cx="5334930" cy="3004145"/>
          </a:xfrm>
        </p:spPr>
        <p:txBody>
          <a:bodyPr>
            <a:normAutofit/>
          </a:bodyPr>
          <a:lstStyle/>
          <a:p>
            <a:r>
              <a:rPr lang="en-IE" dirty="0"/>
              <a:t>A tour of a repository</a:t>
            </a:r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9" name="Freeform: Shape 78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1" name="Freeform: Shape 80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3" name="Freeform: Shape 82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3DAB04-910F-4267-A260-663E46FCA2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8180" y="1095535"/>
            <a:ext cx="3457373" cy="41810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Subtitle 4">
            <a:extLst>
              <a:ext uri="{FF2B5EF4-FFF2-40B4-BE49-F238E27FC236}">
                <a16:creationId xmlns:a16="http://schemas.microsoft.com/office/drawing/2014/main" id="{2465035D-A17B-426B-AB18-09D50A511F9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194058" y="4299435"/>
            <a:ext cx="5335588" cy="424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I" dirty="0">
                <a:hlinkClick r:id="rId3"/>
              </a:rPr>
              <a:t>https://github.com/atom/github</a:t>
            </a:r>
            <a:r>
              <a:rPr lang="en-GB" dirty="0"/>
              <a:t> </a:t>
            </a:r>
            <a:endParaRPr lang="en-VI" dirty="0"/>
          </a:p>
        </p:txBody>
      </p:sp>
    </p:spTree>
    <p:extLst>
      <p:ext uri="{BB962C8B-B14F-4D97-AF65-F5344CB8AC3E}">
        <p14:creationId xmlns:p14="http://schemas.microsoft.com/office/powerpoint/2010/main" val="8148998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Image for post">
            <a:extLst>
              <a:ext uri="{FF2B5EF4-FFF2-40B4-BE49-F238E27FC236}">
                <a16:creationId xmlns:a16="http://schemas.microsoft.com/office/drawing/2014/main" id="{F1176E41-DC85-4B8D-9EC6-7B4F5FCC31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7501" y="1549372"/>
            <a:ext cx="8907625" cy="42404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201F317-9805-4BBE-A293-947A77DCC579}"/>
              </a:ext>
            </a:extLst>
          </p:cNvPr>
          <p:cNvSpPr txBox="1"/>
          <p:nvPr/>
        </p:nvSpPr>
        <p:spPr>
          <a:xfrm>
            <a:off x="3006570" y="645395"/>
            <a:ext cx="6178859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GB" sz="2800" dirty="0">
                <a:solidFill>
                  <a:srgbClr val="292929"/>
                </a:solidFill>
                <a:latin typeface="medium-content-serif-font"/>
              </a:rPr>
              <a:t>H</a:t>
            </a:r>
            <a:r>
              <a:rPr lang="en-GB" sz="2800" b="0" i="0" dirty="0">
                <a:solidFill>
                  <a:srgbClr val="292929"/>
                </a:solidFill>
                <a:effectLst/>
                <a:latin typeface="medium-content-serif-font"/>
              </a:rPr>
              <a:t>osting services for Git repositories</a:t>
            </a:r>
            <a:endParaRPr lang="en-VI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516BBE-B5A5-461A-8A96-399063978207}"/>
              </a:ext>
            </a:extLst>
          </p:cNvPr>
          <p:cNvSpPr txBox="1"/>
          <p:nvPr/>
        </p:nvSpPr>
        <p:spPr>
          <a:xfrm>
            <a:off x="213064" y="6596390"/>
            <a:ext cx="487384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>
                <a:hlinkClick r:id="rId3"/>
              </a:rPr>
              <a:t>https://medium.com/swlh/what-do-i-need-to-know-about-git-5017bde0b572</a:t>
            </a:r>
            <a:endParaRPr lang="en-VI" sz="1100" dirty="0"/>
          </a:p>
        </p:txBody>
      </p:sp>
    </p:spTree>
    <p:extLst>
      <p:ext uri="{BB962C8B-B14F-4D97-AF65-F5344CB8AC3E}">
        <p14:creationId xmlns:p14="http://schemas.microsoft.com/office/powerpoint/2010/main" val="17006997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F242252-C2F1-4D36-A6EB-DE63DD4292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745" y="188591"/>
            <a:ext cx="9142702" cy="64808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D1A3CBA-D353-459D-8A53-B907A5A8E1BD}"/>
              </a:ext>
            </a:extLst>
          </p:cNvPr>
          <p:cNvSpPr/>
          <p:nvPr/>
        </p:nvSpPr>
        <p:spPr>
          <a:xfrm>
            <a:off x="397565" y="1659835"/>
            <a:ext cx="665922" cy="536713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E9E7B23-4757-4F32-B411-2020EC4ACEEB}"/>
              </a:ext>
            </a:extLst>
          </p:cNvPr>
          <p:cNvSpPr/>
          <p:nvPr/>
        </p:nvSpPr>
        <p:spPr>
          <a:xfrm>
            <a:off x="9544959" y="2514600"/>
            <a:ext cx="2444296" cy="216589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b="1" u="sng" dirty="0"/>
              <a:t>Code View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All files and folders in project. 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Can edit file contents via GitHub UI. </a:t>
            </a:r>
            <a:endParaRPr lang="en-VI" dirty="0"/>
          </a:p>
        </p:txBody>
      </p:sp>
    </p:spTree>
    <p:extLst>
      <p:ext uri="{BB962C8B-B14F-4D97-AF65-F5344CB8AC3E}">
        <p14:creationId xmlns:p14="http://schemas.microsoft.com/office/powerpoint/2010/main" val="19110707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E9E7B23-4757-4F32-B411-2020EC4ACEEB}"/>
              </a:ext>
            </a:extLst>
          </p:cNvPr>
          <p:cNvSpPr/>
          <p:nvPr/>
        </p:nvSpPr>
        <p:spPr>
          <a:xfrm>
            <a:off x="9948574" y="2583180"/>
            <a:ext cx="1765452" cy="22459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b="1" u="sng" dirty="0"/>
              <a:t>Code View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README.md file is displayed after files and folders</a:t>
            </a:r>
            <a:endParaRPr lang="en-VI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97550B-0E69-456F-A8F7-8CC45A53D0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235" y="198572"/>
            <a:ext cx="9114541" cy="64608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748527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2484074-0F18-4612-A4CB-D96CF3D21A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826" y="203980"/>
            <a:ext cx="8818852" cy="62512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42E525B-3E46-4FC4-9C19-0C5105C381C3}"/>
              </a:ext>
            </a:extLst>
          </p:cNvPr>
          <p:cNvSpPr/>
          <p:nvPr/>
        </p:nvSpPr>
        <p:spPr>
          <a:xfrm>
            <a:off x="9282914" y="1613333"/>
            <a:ext cx="2570758" cy="317003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b="1" u="sng" dirty="0"/>
              <a:t>Issues View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Used to track bugs, feature requests, etc.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Can be assigned to specific members/ teams. 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No code changes are attached.</a:t>
            </a:r>
            <a:endParaRPr lang="en-VI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CFE2D1-7DB5-4C3F-94D3-CE562D66CB7F}"/>
              </a:ext>
            </a:extLst>
          </p:cNvPr>
          <p:cNvSpPr/>
          <p:nvPr/>
        </p:nvSpPr>
        <p:spPr>
          <a:xfrm>
            <a:off x="944217" y="1613333"/>
            <a:ext cx="854766" cy="513642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32457871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98EF2A-DBF3-48E4-91C9-69DBAAC74B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55" y="168966"/>
            <a:ext cx="8847540" cy="62715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A70A46A-1140-4C80-B2D4-3860C9F498FF}"/>
              </a:ext>
            </a:extLst>
          </p:cNvPr>
          <p:cNvSpPr/>
          <p:nvPr/>
        </p:nvSpPr>
        <p:spPr>
          <a:xfrm>
            <a:off x="1689650" y="1623273"/>
            <a:ext cx="1202635" cy="503701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E8CD137-0EAC-49BB-8119-501697C8EB2C}"/>
              </a:ext>
            </a:extLst>
          </p:cNvPr>
          <p:cNvSpPr/>
          <p:nvPr/>
        </p:nvSpPr>
        <p:spPr>
          <a:xfrm>
            <a:off x="9276776" y="1719744"/>
            <a:ext cx="2659975" cy="317003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b="1" u="sng" dirty="0"/>
              <a:t>Pull Requests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Represents a change, such as adding, deleting, updating files that the author of the repo wants to make.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It includes code changes. </a:t>
            </a:r>
            <a:endParaRPr lang="en-VI" dirty="0"/>
          </a:p>
        </p:txBody>
      </p:sp>
    </p:spTree>
    <p:extLst>
      <p:ext uri="{BB962C8B-B14F-4D97-AF65-F5344CB8AC3E}">
        <p14:creationId xmlns:p14="http://schemas.microsoft.com/office/powerpoint/2010/main" val="20782267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B91A696-313C-4738-A43E-39994894C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669" y="95761"/>
            <a:ext cx="9249389" cy="65564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DAB4A72-FD24-47C8-865D-797A13004430}"/>
              </a:ext>
            </a:extLst>
          </p:cNvPr>
          <p:cNvSpPr/>
          <p:nvPr/>
        </p:nvSpPr>
        <p:spPr>
          <a:xfrm>
            <a:off x="9345356" y="782484"/>
            <a:ext cx="2659975" cy="20407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b="1" u="sng" dirty="0"/>
              <a:t>Actions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Allows you to automate your workflows with CI/CD.  You can build, test and deploy your code from GitHub. </a:t>
            </a:r>
            <a:endParaRPr lang="en-VI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AEBCADE-7A68-4727-A931-DF7BBA5FEEC1}"/>
              </a:ext>
            </a:extLst>
          </p:cNvPr>
          <p:cNvSpPr/>
          <p:nvPr/>
        </p:nvSpPr>
        <p:spPr>
          <a:xfrm>
            <a:off x="2967993" y="1658990"/>
            <a:ext cx="805068" cy="526774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C721BE-9031-4683-9469-F11801D95539}"/>
              </a:ext>
            </a:extLst>
          </p:cNvPr>
          <p:cNvSpPr txBox="1"/>
          <p:nvPr/>
        </p:nvSpPr>
        <p:spPr>
          <a:xfrm>
            <a:off x="9241434" y="2981688"/>
            <a:ext cx="2867818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VI" sz="1400" dirty="0">
                <a:hlinkClick r:id="rId3"/>
              </a:rPr>
              <a:t>https://github.com/features/actions</a:t>
            </a:r>
            <a:r>
              <a:rPr lang="en-GB" sz="1400" dirty="0"/>
              <a:t> </a:t>
            </a:r>
            <a:endParaRPr lang="en-VI" sz="1400" dirty="0"/>
          </a:p>
        </p:txBody>
      </p:sp>
    </p:spTree>
    <p:extLst>
      <p:ext uri="{BB962C8B-B14F-4D97-AF65-F5344CB8AC3E}">
        <p14:creationId xmlns:p14="http://schemas.microsoft.com/office/powerpoint/2010/main" val="5598424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A5114D-6EBA-43AF-B53F-14A97662A3A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34074" y="115572"/>
            <a:ext cx="8992970" cy="63746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E4EE0EE-8258-4B02-A2D9-5CDAE8D99180}"/>
              </a:ext>
            </a:extLst>
          </p:cNvPr>
          <p:cNvSpPr/>
          <p:nvPr/>
        </p:nvSpPr>
        <p:spPr>
          <a:xfrm>
            <a:off x="3498572" y="1613335"/>
            <a:ext cx="884585" cy="444066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5D80694-77C6-4194-A44E-18590C8278F2}"/>
              </a:ext>
            </a:extLst>
          </p:cNvPr>
          <p:cNvSpPr/>
          <p:nvPr/>
        </p:nvSpPr>
        <p:spPr>
          <a:xfrm>
            <a:off x="9262497" y="188407"/>
            <a:ext cx="2659975" cy="2040444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b="1" u="sng" dirty="0"/>
              <a:t>Projects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Allows you to visualise your work with Kanban-style boards.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No code changes here!</a:t>
            </a:r>
            <a:endParaRPr lang="en-VI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4F37D9F-01B4-46EC-95EA-841CB5445F3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51" t="30000" r="15449" b="6686"/>
          <a:stretch/>
        </p:blipFill>
        <p:spPr>
          <a:xfrm>
            <a:off x="3805410" y="2400300"/>
            <a:ext cx="8117062" cy="434212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1328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1FDC063-C2DD-4527-84CE-8E33E7182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415" y="168966"/>
            <a:ext cx="9137734" cy="64772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B37D605-9764-4ABD-B3E5-A6412A7707E6}"/>
              </a:ext>
            </a:extLst>
          </p:cNvPr>
          <p:cNvSpPr/>
          <p:nvPr/>
        </p:nvSpPr>
        <p:spPr>
          <a:xfrm>
            <a:off x="4422910" y="1712726"/>
            <a:ext cx="636107" cy="444065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1194010-6DEE-41A0-A73B-230FC3B98CDC}"/>
              </a:ext>
            </a:extLst>
          </p:cNvPr>
          <p:cNvSpPr/>
          <p:nvPr/>
        </p:nvSpPr>
        <p:spPr>
          <a:xfrm>
            <a:off x="9491870" y="2663686"/>
            <a:ext cx="2454821" cy="167944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b="1" u="sng" dirty="0"/>
              <a:t>Wiki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Documentation you can add to your project.</a:t>
            </a:r>
            <a:endParaRPr lang="en-VI" dirty="0"/>
          </a:p>
        </p:txBody>
      </p:sp>
    </p:spTree>
    <p:extLst>
      <p:ext uri="{BB962C8B-B14F-4D97-AF65-F5344CB8AC3E}">
        <p14:creationId xmlns:p14="http://schemas.microsoft.com/office/powerpoint/2010/main" val="24710901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2D79FA2-C7F3-4A6D-B45B-96F0A435B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97" y="109332"/>
            <a:ext cx="9149233" cy="64854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EB5E11F-FE79-4E69-838F-66637A0CEA5F}"/>
              </a:ext>
            </a:extLst>
          </p:cNvPr>
          <p:cNvSpPr/>
          <p:nvPr/>
        </p:nvSpPr>
        <p:spPr>
          <a:xfrm>
            <a:off x="4965453" y="1610835"/>
            <a:ext cx="761604" cy="466865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CEB7E7F-7154-4C0D-99E1-619BF246D458}"/>
              </a:ext>
            </a:extLst>
          </p:cNvPr>
          <p:cNvSpPr/>
          <p:nvPr/>
        </p:nvSpPr>
        <p:spPr>
          <a:xfrm>
            <a:off x="9121133" y="1758654"/>
            <a:ext cx="2659975" cy="2949533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b="1" u="sng" dirty="0"/>
              <a:t>Security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You can give instructions on how to responsibly report a security vulnerability in your project.  You can also view any security advisories for your repo. </a:t>
            </a:r>
            <a:endParaRPr lang="en-VI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774306-D8C2-4A88-AFCD-EA0DB379E698}"/>
              </a:ext>
            </a:extLst>
          </p:cNvPr>
          <p:cNvSpPr txBox="1"/>
          <p:nvPr/>
        </p:nvSpPr>
        <p:spPr>
          <a:xfrm>
            <a:off x="828149" y="6594779"/>
            <a:ext cx="1068940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I" sz="1400" dirty="0">
                <a:hlinkClick r:id="rId3"/>
              </a:rPr>
              <a:t>https://docs.github.com/en/free-pro-team@latest/github/managing-security-vulnerabilities/managing-security-vulnerabilities-in-your-project</a:t>
            </a:r>
            <a:r>
              <a:rPr lang="en-GB" sz="1400" dirty="0"/>
              <a:t> </a:t>
            </a:r>
            <a:endParaRPr lang="en-VI" sz="1400" dirty="0"/>
          </a:p>
        </p:txBody>
      </p:sp>
    </p:spTree>
    <p:extLst>
      <p:ext uri="{BB962C8B-B14F-4D97-AF65-F5344CB8AC3E}">
        <p14:creationId xmlns:p14="http://schemas.microsoft.com/office/powerpoint/2010/main" val="173368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6C7554D-DBFD-4EC8-B6D9-6D1CC103AA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476" y="129209"/>
            <a:ext cx="9336515" cy="66182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1F662FD-3CB5-4CFA-9BB7-6C34970F8F42}"/>
              </a:ext>
            </a:extLst>
          </p:cNvPr>
          <p:cNvSpPr/>
          <p:nvPr/>
        </p:nvSpPr>
        <p:spPr>
          <a:xfrm>
            <a:off x="5754754" y="1719744"/>
            <a:ext cx="884585" cy="444066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9404F31-B625-4D3A-B869-9D1086471A89}"/>
              </a:ext>
            </a:extLst>
          </p:cNvPr>
          <p:cNvSpPr/>
          <p:nvPr/>
        </p:nvSpPr>
        <p:spPr>
          <a:xfrm>
            <a:off x="9246959" y="1719744"/>
            <a:ext cx="2659975" cy="1619804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b="1" u="sng" dirty="0"/>
              <a:t>Insights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High level overview of the health / pulse of your repo.</a:t>
            </a:r>
            <a:endParaRPr lang="en-VI" dirty="0"/>
          </a:p>
        </p:txBody>
      </p:sp>
    </p:spTree>
    <p:extLst>
      <p:ext uri="{BB962C8B-B14F-4D97-AF65-F5344CB8AC3E}">
        <p14:creationId xmlns:p14="http://schemas.microsoft.com/office/powerpoint/2010/main" val="36431497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F5EE6E-7CEB-4993-B1B9-C6502C702B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31311" y="2831504"/>
            <a:ext cx="5334930" cy="3004145"/>
          </a:xfrm>
        </p:spPr>
        <p:txBody>
          <a:bodyPr>
            <a:normAutofit fontScale="90000"/>
          </a:bodyPr>
          <a:lstStyle/>
          <a:p>
            <a:r>
              <a:rPr lang="en-IE" dirty="0"/>
              <a:t>We will see how IntelliJ integrates  GitHub into our projects.</a:t>
            </a:r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9" name="Freeform: Shape 78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1" name="Freeform: Shape 80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3" name="Freeform: Shape 82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3DAB04-910F-4267-A260-663E46FCA2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8180" y="1095535"/>
            <a:ext cx="3457373" cy="41810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756146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F855F-6576-1898-08FB-BC25BADC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IntelliJ Uses Git and GitHub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86C30-12CA-AB45-22CC-82277D026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IntelliJ IDEA has </a:t>
            </a:r>
            <a:r>
              <a:rPr lang="en-US" b="1" dirty="0"/>
              <a:t>built-in support for Git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This means:</a:t>
            </a:r>
          </a:p>
          <a:p>
            <a:pPr lvl="1"/>
            <a:r>
              <a:rPr lang="en-US" dirty="0"/>
              <a:t>You do </a:t>
            </a:r>
            <a:r>
              <a:rPr lang="en-US" b="1" dirty="0"/>
              <a:t>not</a:t>
            </a:r>
            <a:r>
              <a:rPr lang="en-US" dirty="0"/>
              <a:t> need to use the command line</a:t>
            </a:r>
          </a:p>
          <a:p>
            <a:pPr lvl="1"/>
            <a:r>
              <a:rPr lang="en-US" dirty="0"/>
              <a:t>Most Git actions are done through menus and buttons</a:t>
            </a:r>
          </a:p>
          <a:p>
            <a:pPr lvl="1"/>
            <a:r>
              <a:rPr lang="en-US" dirty="0"/>
              <a:t>IntelliJ talks to </a:t>
            </a:r>
            <a:r>
              <a:rPr lang="en-US" b="1" dirty="0"/>
              <a:t>Git (locally)</a:t>
            </a:r>
            <a:r>
              <a:rPr lang="en-US" dirty="0"/>
              <a:t> and </a:t>
            </a:r>
            <a:r>
              <a:rPr lang="en-US" b="1" dirty="0"/>
              <a:t>GitHub (remotely)</a:t>
            </a:r>
            <a:r>
              <a:rPr lang="en-US" dirty="0"/>
              <a:t> for you</a:t>
            </a:r>
          </a:p>
          <a:p>
            <a:pPr lvl="1"/>
            <a:endParaRPr lang="en-US" dirty="0"/>
          </a:p>
          <a:p>
            <a:r>
              <a:rPr lang="en-US" dirty="0"/>
              <a:t>Think of IntelliJ as a </a:t>
            </a:r>
            <a:r>
              <a:rPr lang="en-US" b="1" dirty="0"/>
              <a:t>graphical interface</a:t>
            </a:r>
            <a:r>
              <a:rPr lang="en-US" dirty="0"/>
              <a:t> on top of Git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87668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DFCEB-55CB-AE07-D173-922A5EAE2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Connecting IntelliJ to 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302CDA-2A54-844B-5653-54D8141DA6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07200" cy="4351338"/>
          </a:xfrm>
        </p:spPr>
        <p:txBody>
          <a:bodyPr>
            <a:normAutofit/>
          </a:bodyPr>
          <a:lstStyle/>
          <a:p>
            <a:r>
              <a:rPr lang="en-US" dirty="0"/>
              <a:t>Before using GitHub in IntelliJ: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You must have a </a:t>
            </a:r>
            <a:r>
              <a:rPr lang="en-US" b="1" dirty="0"/>
              <a:t>GitHub account</a:t>
            </a:r>
            <a:endParaRPr lang="en-US" dirty="0"/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Git must be installed on your computer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IntelliJ must be linked to your GitHub account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42032125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1940E8-7D03-90F6-C6B4-B504320A2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A6BBD-8E83-6227-1B6D-2EA479909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467" y="1825625"/>
            <a:ext cx="5406121" cy="3935096"/>
          </a:xfrm>
        </p:spPr>
        <p:txBody>
          <a:bodyPr>
            <a:normAutofit/>
          </a:bodyPr>
          <a:lstStyle/>
          <a:p>
            <a:r>
              <a:rPr lang="en-US" dirty="0"/>
              <a:t>In IntelliJ:</a:t>
            </a:r>
          </a:p>
          <a:p>
            <a:pPr lvl="1"/>
            <a:r>
              <a:rPr lang="en-US" dirty="0"/>
              <a:t>Settings → Version Control → GitHub</a:t>
            </a:r>
          </a:p>
          <a:p>
            <a:pPr lvl="1"/>
            <a:r>
              <a:rPr lang="en-US" dirty="0"/>
              <a:t>Sign in using browser authentication</a:t>
            </a:r>
          </a:p>
          <a:p>
            <a:endParaRPr lang="en-US" dirty="0"/>
          </a:p>
          <a:p>
            <a:r>
              <a:rPr lang="en-US" dirty="0"/>
              <a:t>Once connected, IntelliJ can:</a:t>
            </a:r>
          </a:p>
          <a:p>
            <a:pPr lvl="1"/>
            <a:r>
              <a:rPr lang="en-US" dirty="0"/>
              <a:t>Create repositories on GitHub</a:t>
            </a:r>
          </a:p>
          <a:p>
            <a:pPr lvl="1"/>
            <a:r>
              <a:rPr lang="en-US" dirty="0"/>
              <a:t>Push and pull code automatically</a:t>
            </a:r>
          </a:p>
          <a:p>
            <a:endParaRPr lang="en-I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34B9D5-5649-0799-2D5F-303143961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43710"/>
            <a:ext cx="5839305" cy="34288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2A11C6-3BE7-3006-CC97-63837B2A7B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064" y="3737286"/>
            <a:ext cx="4020111" cy="3077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714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D193E-89BC-FAE8-F2F8-699AC9093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GitHub Repository from IntelliJ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8D4C9-463C-69DE-8655-412F205B42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You can create a GitHub repository </a:t>
            </a:r>
            <a:r>
              <a:rPr lang="en-US" b="1" dirty="0"/>
              <a:t>directly from IntelliJ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Typical workflow: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Create a new Java project in IntelliJ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Enable Git when prompted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Select </a:t>
            </a:r>
            <a:r>
              <a:rPr lang="en-US" b="1" dirty="0"/>
              <a:t>Share Project on GitHub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IntelliJ will:</a:t>
            </a:r>
          </a:p>
          <a:p>
            <a:pPr lvl="1"/>
            <a:r>
              <a:rPr lang="en-US" dirty="0"/>
              <a:t>Create the repository on GitHub</a:t>
            </a:r>
          </a:p>
          <a:p>
            <a:pPr lvl="1"/>
            <a:r>
              <a:rPr lang="en-US" dirty="0"/>
              <a:t>Create a local Git repository</a:t>
            </a:r>
          </a:p>
          <a:p>
            <a:pPr lvl="1"/>
            <a:r>
              <a:rPr lang="en-US" dirty="0"/>
              <a:t>Perform the first commit</a:t>
            </a:r>
          </a:p>
          <a:p>
            <a:pPr lvl="1"/>
            <a:r>
              <a:rPr lang="en-US" dirty="0"/>
              <a:t>Push the project to GitHub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4527961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90203-77E0-E768-D411-7B7CBB7A2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7073" y="-142875"/>
            <a:ext cx="10515600" cy="1325563"/>
          </a:xfrm>
        </p:spPr>
        <p:txBody>
          <a:bodyPr/>
          <a:lstStyle/>
          <a:p>
            <a:r>
              <a:rPr lang="en-US" dirty="0"/>
              <a:t>The IntelliJ Git Tool Window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3ABE1-BEA9-3485-69A1-819DDA822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073" y="997527"/>
            <a:ext cx="11577064" cy="52832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IntelliJ provides a </a:t>
            </a:r>
            <a:r>
              <a:rPr lang="en-US" b="1" dirty="0"/>
              <a:t>Git tool window</a:t>
            </a:r>
            <a:r>
              <a:rPr lang="en-US" dirty="0"/>
              <a:t> (bottom of the screen), </a:t>
            </a:r>
          </a:p>
          <a:p>
            <a:pPr marL="0" indent="0">
              <a:buNone/>
            </a:pPr>
            <a:r>
              <a:rPr lang="en-US" dirty="0"/>
              <a:t>From here you can:</a:t>
            </a:r>
          </a:p>
          <a:p>
            <a:pPr lvl="1"/>
            <a:r>
              <a:rPr lang="en-US" dirty="0"/>
              <a:t>See which files have changed</a:t>
            </a:r>
          </a:p>
          <a:p>
            <a:pPr lvl="1"/>
            <a:r>
              <a:rPr lang="en-US" dirty="0"/>
              <a:t>Stage files for commit</a:t>
            </a:r>
          </a:p>
          <a:p>
            <a:pPr lvl="1"/>
            <a:r>
              <a:rPr lang="en-US" dirty="0"/>
              <a:t>Write commit messages</a:t>
            </a:r>
          </a:p>
          <a:p>
            <a:pPr lvl="1"/>
            <a:r>
              <a:rPr lang="en-US" dirty="0"/>
              <a:t>Commit changes</a:t>
            </a:r>
          </a:p>
          <a:p>
            <a:pPr lvl="1"/>
            <a:r>
              <a:rPr lang="en-US" dirty="0"/>
              <a:t>Push to GitHub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/>
              <a:t>This replaces commands like: git status, git add, git commit</a:t>
            </a:r>
          </a:p>
          <a:p>
            <a:pPr marL="0" indent="0">
              <a:buNone/>
            </a:pPr>
            <a:endParaRPr lang="en-I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1A2F89F-4A84-ED21-2024-17306423C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1075" y="4816541"/>
            <a:ext cx="7596391" cy="1925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8718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5D05E-3F43-CC24-6332-D1CF7B793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Commit and Push in IntelliJ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220784-BA6C-C564-F1C8-A4E2753D81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99162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Typical daily workflow in IntelliJ: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Make changes to your code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IntelliJ highlights modified files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Click </a:t>
            </a:r>
            <a:r>
              <a:rPr lang="en-US" b="1" dirty="0"/>
              <a:t>Commit</a:t>
            </a:r>
            <a:endParaRPr lang="en-US" dirty="0"/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Write a clear commit message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Click </a:t>
            </a:r>
            <a:r>
              <a:rPr lang="en-US" b="1" dirty="0"/>
              <a:t>Push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Result:</a:t>
            </a:r>
          </a:p>
          <a:p>
            <a:pPr lvl="1"/>
            <a:r>
              <a:rPr lang="en-US" dirty="0"/>
              <a:t>Changes are saved locally (Git)</a:t>
            </a:r>
          </a:p>
          <a:p>
            <a:pPr lvl="1"/>
            <a:r>
              <a:rPr lang="en-US" dirty="0"/>
              <a:t>Changes are uploaded to GitHub (remote repo)</a:t>
            </a:r>
          </a:p>
          <a:p>
            <a:endParaRPr lang="en-I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3778E7-D9BD-331C-B524-DE053A0A53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2582" y="126124"/>
            <a:ext cx="3772955" cy="6443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1693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A8BF7-C023-B00D-4C7F-B9FCC3C11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Pulling Changes from 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43741C-E185-3196-886B-370518A7A3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If the GitHub repository changes:</a:t>
            </a:r>
          </a:p>
          <a:p>
            <a:pPr lvl="1"/>
            <a:r>
              <a:rPr lang="en-US" dirty="0"/>
              <a:t>IntelliJ can </a:t>
            </a:r>
            <a:r>
              <a:rPr lang="en-US" b="1" dirty="0"/>
              <a:t>pull</a:t>
            </a:r>
            <a:r>
              <a:rPr lang="en-US" dirty="0"/>
              <a:t> updates</a:t>
            </a:r>
          </a:p>
          <a:p>
            <a:pPr lvl="1"/>
            <a:r>
              <a:rPr lang="en-US" dirty="0"/>
              <a:t>Using IntelliJ:</a:t>
            </a:r>
          </a:p>
          <a:p>
            <a:pPr lvl="1"/>
            <a:r>
              <a:rPr lang="en-US" dirty="0"/>
              <a:t>Git → Pull</a:t>
            </a:r>
          </a:p>
          <a:p>
            <a:pPr marL="0" indent="0">
              <a:buNone/>
            </a:pPr>
            <a:r>
              <a:rPr lang="en-US" dirty="0"/>
              <a:t>This will:</a:t>
            </a:r>
          </a:p>
          <a:p>
            <a:pPr lvl="1"/>
            <a:r>
              <a:rPr lang="en-US" dirty="0"/>
              <a:t>Download the latest version from GitHub</a:t>
            </a:r>
          </a:p>
          <a:p>
            <a:pPr lvl="1"/>
            <a:r>
              <a:rPr lang="en-US" dirty="0"/>
              <a:t>Update your local project</a:t>
            </a:r>
          </a:p>
          <a:p>
            <a:pPr marL="0" indent="0">
              <a:buNone/>
            </a:pPr>
            <a:r>
              <a:rPr lang="en-US" dirty="0"/>
              <a:t>This is essential when:</a:t>
            </a:r>
          </a:p>
          <a:p>
            <a:pPr lvl="1"/>
            <a:r>
              <a:rPr lang="en-US" dirty="0"/>
              <a:t>Working on multiple machines</a:t>
            </a:r>
          </a:p>
          <a:p>
            <a:pPr lvl="1"/>
            <a:r>
              <a:rPr lang="en-US" dirty="0"/>
              <a:t>Working with other people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324714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BC495-933D-0B1F-98A4-3A12466E1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IntelliJ and GitHub – Summary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9CA40-65B8-990D-F1E1-DDAACF738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tracks changes locally</a:t>
            </a:r>
          </a:p>
          <a:p>
            <a:r>
              <a:rPr lang="en-US" dirty="0"/>
              <a:t>GitHub stores the project remotely</a:t>
            </a:r>
          </a:p>
          <a:p>
            <a:r>
              <a:rPr lang="en-US" dirty="0"/>
              <a:t>IntelliJ connects the two seamlessly</a:t>
            </a:r>
          </a:p>
          <a:p>
            <a:r>
              <a:rPr lang="en-US" dirty="0"/>
              <a:t>No command line required</a:t>
            </a:r>
          </a:p>
          <a:p>
            <a:r>
              <a:rPr lang="en-US" dirty="0"/>
              <a:t>Visual feedback reduces mistakes</a:t>
            </a:r>
          </a:p>
          <a:p>
            <a:r>
              <a:rPr lang="en-US" dirty="0"/>
              <a:t>Encourages good version control habits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636046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CC67A-8A23-6D39-985C-3FE334DC1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We Use GitHub with IntelliJ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7F3642-B832-2EF3-2C9C-55C4A037E4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Using GitHub through IntelliJ allows you to:</a:t>
            </a:r>
          </a:p>
          <a:p>
            <a:pPr marL="0" indent="0">
              <a:buNone/>
            </a:pPr>
            <a:endParaRPr lang="en-US" dirty="0"/>
          </a:p>
          <a:p>
            <a:pPr lvl="1"/>
            <a:r>
              <a:rPr lang="en-US" sz="2800" dirty="0"/>
              <a:t>Back up your code safely</a:t>
            </a:r>
          </a:p>
          <a:p>
            <a:pPr lvl="1"/>
            <a:r>
              <a:rPr lang="en-US" sz="2800" dirty="0"/>
              <a:t>Track your progress over time</a:t>
            </a:r>
          </a:p>
          <a:p>
            <a:pPr lvl="1"/>
            <a:r>
              <a:rPr lang="en-US" sz="2800" dirty="0"/>
              <a:t>Recover older versions</a:t>
            </a:r>
          </a:p>
          <a:p>
            <a:pPr lvl="1"/>
            <a:r>
              <a:rPr lang="en-US" sz="2800" dirty="0"/>
              <a:t>Share work with lecturers or teammates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This workflow is standard in industry.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822781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975DD-5C1D-47DE-94EA-6DF61AF38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94716" y="739978"/>
            <a:ext cx="5334930" cy="300414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/>
              <a:t>Any questions?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B64D5611-65A5-6E4F-EDD1-11409767AA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3"/>
          <a:stretch>
            <a:fillRect/>
          </a:stretch>
        </p:blipFill>
        <p:spPr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</p:spPr>
      </p:pic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262445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1177</Words>
  <Application>Microsoft Office PowerPoint</Application>
  <PresentationFormat>Widescreen</PresentationFormat>
  <Paragraphs>179</Paragraphs>
  <Slides>36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Arial</vt:lpstr>
      <vt:lpstr>Calibri</vt:lpstr>
      <vt:lpstr>Calibri Light</vt:lpstr>
      <vt:lpstr>Helvetica Neue</vt:lpstr>
      <vt:lpstr>medium-content-serif-font</vt:lpstr>
      <vt:lpstr>Wingdings</vt:lpstr>
      <vt:lpstr>Office Theme</vt:lpstr>
      <vt:lpstr>PowerPoint Presentation</vt:lpstr>
      <vt:lpstr>Version Control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 tour of a repository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We will see how IntelliJ integrates  GitHub into our projects.</vt:lpstr>
      <vt:lpstr>How IntelliJ Uses Git and GitHub</vt:lpstr>
      <vt:lpstr>Connecting IntelliJ to GitHub</vt:lpstr>
      <vt:lpstr>PowerPoint Presentation</vt:lpstr>
      <vt:lpstr>Creating a GitHub Repository from IntelliJ</vt:lpstr>
      <vt:lpstr>The IntelliJ Git Tool Window</vt:lpstr>
      <vt:lpstr>Commit and Push in IntelliJ</vt:lpstr>
      <vt:lpstr>Pulling Changes from GitHub</vt:lpstr>
      <vt:lpstr>IntelliJ and GitHub – Summary</vt:lpstr>
      <vt:lpstr>Why We Use GitHub with IntelliJ</vt:lpstr>
      <vt:lpstr>Any 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Version Control</dc:title>
  <dc:creator>Siobhan Drohan</dc:creator>
  <cp:lastModifiedBy>Siobhan Roche</cp:lastModifiedBy>
  <cp:revision>34</cp:revision>
  <dcterms:created xsi:type="dcterms:W3CDTF">2020-10-01T15:01:24Z</dcterms:created>
  <dcterms:modified xsi:type="dcterms:W3CDTF">2026-01-21T14:16:56Z</dcterms:modified>
</cp:coreProperties>
</file>