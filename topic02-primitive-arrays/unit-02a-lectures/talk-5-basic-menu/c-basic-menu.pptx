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384" r:id="rId2"/>
    <p:sldId id="445" r:id="rId3"/>
    <p:sldId id="408" r:id="rId4"/>
    <p:sldId id="395" r:id="rId5"/>
    <p:sldId id="446" r:id="rId6"/>
    <p:sldId id="417" r:id="rId7"/>
    <p:sldId id="418" r:id="rId8"/>
    <p:sldId id="419" r:id="rId9"/>
    <p:sldId id="447" r:id="rId10"/>
    <p:sldId id="414" r:id="rId11"/>
    <p:sldId id="420" r:id="rId12"/>
    <p:sldId id="421" r:id="rId13"/>
    <p:sldId id="422" r:id="rId14"/>
    <p:sldId id="423" r:id="rId15"/>
    <p:sldId id="424" r:id="rId16"/>
    <p:sldId id="425" r:id="rId17"/>
    <p:sldId id="426" r:id="rId18"/>
    <p:sldId id="439" r:id="rId19"/>
    <p:sldId id="449" r:id="rId20"/>
    <p:sldId id="332" r:id="rId21"/>
    <p:sldId id="335" r:id="rId22"/>
    <p:sldId id="450" r:id="rId23"/>
    <p:sldId id="415" r:id="rId24"/>
    <p:sldId id="416" r:id="rId25"/>
    <p:sldId id="429" r:id="rId26"/>
    <p:sldId id="427" r:id="rId27"/>
    <p:sldId id="431" r:id="rId28"/>
    <p:sldId id="432" r:id="rId29"/>
    <p:sldId id="430" r:id="rId30"/>
    <p:sldId id="433" r:id="rId31"/>
    <p:sldId id="434" r:id="rId32"/>
    <p:sldId id="435" r:id="rId33"/>
    <p:sldId id="437" r:id="rId34"/>
    <p:sldId id="451" r:id="rId35"/>
    <p:sldId id="305" r:id="rId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40FF"/>
    <a:srgbClr val="FDBBC5"/>
    <a:srgbClr val="F9CF8B"/>
    <a:srgbClr val="4F81BD"/>
    <a:srgbClr val="F796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696" autoAdjust="0"/>
    <p:restoredTop sz="81994"/>
  </p:normalViewPr>
  <p:slideViewPr>
    <p:cSldViewPr>
      <p:cViewPr varScale="1">
        <p:scale>
          <a:sx n="78" d="100"/>
          <a:sy n="78" d="100"/>
        </p:scale>
        <p:origin x="466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BC3C30-7F3D-4B20-9974-47C57B22CA6E}" type="datetimeFigureOut">
              <a:rPr lang="en-IE" smtClean="0"/>
              <a:t>21/01/2026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09BE90-ABBD-4931-8E0C-089E0ACACA6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9818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14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696328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15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499143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16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37749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17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912900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30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80763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31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381186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32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459248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33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96036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57200" y="1447800"/>
            <a:ext cx="83058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457200" y="1447800"/>
            <a:ext cx="8305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457200" y="1447800"/>
            <a:ext cx="8305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457200" y="1447800"/>
            <a:ext cx="8305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if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501775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Shop V2.2 - An Array of Product with a basic menu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727841" y="3124200"/>
            <a:ext cx="76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953000" y="5892225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>
                <a:solidFill>
                  <a:schemeClr val="tx2">
                    <a:lumMod val="75000"/>
                  </a:schemeClr>
                </a:solidFill>
              </a:rPr>
              <a:t>Department of Computing and Mathematics</a:t>
            </a:r>
          </a:p>
          <a:p>
            <a:r>
              <a:rPr lang="en-IE" sz="1600" dirty="0">
                <a:solidFill>
                  <a:schemeClr val="tx2">
                    <a:lumMod val="75000"/>
                  </a:schemeClr>
                </a:solidFill>
              </a:rPr>
              <a:t>http://www.wit.ie/</a:t>
            </a: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651641" y="2133600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E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AF220A-876A-4FD4-A501-DF5ED9B43E8A}"/>
              </a:ext>
            </a:extLst>
          </p:cNvPr>
          <p:cNvSpPr txBox="1"/>
          <p:nvPr/>
        </p:nvSpPr>
        <p:spPr>
          <a:xfrm>
            <a:off x="2286000" y="3810000"/>
            <a:ext cx="3581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Dr.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Drohan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Maireád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Meagher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2590800"/>
            <a:ext cx="2857500" cy="2857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0" y="2885559"/>
            <a:ext cx="615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V2.1</a:t>
            </a:r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BFA2F484-4238-E189-2F1E-2D1EF7CAAC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5501441"/>
            <a:ext cx="2286000" cy="1281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43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59AE206-7EBA-4D33-8BC9-9D8158553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3A12E69-CF66-426E-8515-DD59A4BDE0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" y="4555055"/>
            <a:ext cx="5174047" cy="1723125"/>
          </a:xfrm>
        </p:spPr>
        <p:txBody>
          <a:bodyPr anchor="ctr">
            <a:normAutofit/>
          </a:bodyPr>
          <a:lstStyle/>
          <a:p>
            <a:pPr algn="r"/>
            <a:r>
              <a:rPr lang="en-IE" dirty="0"/>
              <a:t>Shop V2.0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D9AF4E7-D337-45B0-8C87-B511041217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56968" y="4555055"/>
            <a:ext cx="2537450" cy="1723125"/>
          </a:xfrm>
        </p:spPr>
        <p:txBody>
          <a:bodyPr anchor="ctr">
            <a:normAutofit/>
          </a:bodyPr>
          <a:lstStyle/>
          <a:p>
            <a:pPr algn="l"/>
            <a:r>
              <a:rPr lang="en-IE" dirty="0"/>
              <a:t>A Recap of the Classes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437D937-A7F1-4011-92B4-328E5BE1B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1425" y="1322610"/>
            <a:ext cx="1682850" cy="168284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672F332-AF08-46C6-94F0-77684310D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46253" y="2707205"/>
            <a:ext cx="721796" cy="72179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4244EF8-D73A-40E1-BE73-D46E6B4B04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44374" y="2603243"/>
            <a:ext cx="220271" cy="22027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B84D7E8-4ECB-42D7-ADBF-01689B0F24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29087" y="0"/>
            <a:ext cx="4814914" cy="3429000"/>
          </a:xfrm>
          <a:custGeom>
            <a:avLst/>
            <a:gdLst>
              <a:gd name="connsiteX0" fmla="*/ 0 w 5699887"/>
              <a:gd name="connsiteY0" fmla="*/ 0 h 4059244"/>
              <a:gd name="connsiteX1" fmla="*/ 5699887 w 5699887"/>
              <a:gd name="connsiteY1" fmla="*/ 0 h 4059244"/>
              <a:gd name="connsiteX2" fmla="*/ 5699887 w 5699887"/>
              <a:gd name="connsiteY2" fmla="*/ 3944096 h 4059244"/>
              <a:gd name="connsiteX3" fmla="*/ 5525775 w 5699887"/>
              <a:gd name="connsiteY3" fmla="*/ 3980429 h 4059244"/>
              <a:gd name="connsiteX4" fmla="*/ 4663256 w 5699887"/>
              <a:gd name="connsiteY4" fmla="*/ 4059244 h 4059244"/>
              <a:gd name="connsiteX5" fmla="*/ 8566 w 5699887"/>
              <a:gd name="connsiteY5" fmla="*/ 67422 h 4059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99887" h="4059244">
                <a:moveTo>
                  <a:pt x="0" y="0"/>
                </a:moveTo>
                <a:lnTo>
                  <a:pt x="5699887" y="0"/>
                </a:lnTo>
                <a:lnTo>
                  <a:pt x="5699887" y="3944096"/>
                </a:lnTo>
                <a:lnTo>
                  <a:pt x="5525775" y="3980429"/>
                </a:lnTo>
                <a:cubicBezTo>
                  <a:pt x="5246154" y="4032190"/>
                  <a:pt x="4957865" y="4059244"/>
                  <a:pt x="4663256" y="4059244"/>
                </a:cubicBezTo>
                <a:cubicBezTo>
                  <a:pt x="2306390" y="4059244"/>
                  <a:pt x="353936" y="2327747"/>
                  <a:pt x="8566" y="67422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E8E38ED-369A-44C2-B635-0BED0E48A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9834" y="4776880"/>
            <a:ext cx="0" cy="1303020"/>
          </a:xfrm>
          <a:prstGeom prst="line">
            <a:avLst/>
          </a:prstGeom>
          <a:ln w="19050" cap="sq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0169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7C54F-25E0-4FBC-AA95-B1EADD8A2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Recap - Shop </a:t>
            </a:r>
            <a:r>
              <a:rPr lang="en-IE" b="1" dirty="0"/>
              <a:t>V2.0 - Product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78F51-A6C3-4DFC-8DDB-3489B717A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3977" y="1752600"/>
            <a:ext cx="3423452" cy="4525963"/>
          </a:xfrm>
        </p:spPr>
        <p:txBody>
          <a:bodyPr/>
          <a:lstStyle/>
          <a:p>
            <a:r>
              <a:rPr lang="en-IE" dirty="0"/>
              <a:t>The </a:t>
            </a:r>
            <a:r>
              <a:rPr lang="en-IE" b="1" dirty="0">
                <a:solidFill>
                  <a:srgbClr val="FF0000"/>
                </a:solidFill>
              </a:rPr>
              <a:t>Product</a:t>
            </a:r>
            <a:r>
              <a:rPr lang="en-IE" dirty="0"/>
              <a:t> class stores </a:t>
            </a:r>
            <a:r>
              <a:rPr lang="en-IE" b="1" dirty="0"/>
              <a:t>details</a:t>
            </a:r>
            <a:r>
              <a:rPr lang="en-IE" dirty="0"/>
              <a:t> about a product</a:t>
            </a:r>
          </a:p>
          <a:p>
            <a:pPr lvl="1"/>
            <a:r>
              <a:rPr lang="en-IE" dirty="0"/>
              <a:t>name, code, unit cost, in the current product line.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9071AF-98B4-4EBE-8E67-CE6E481360A3}"/>
              </a:ext>
            </a:extLst>
          </p:cNvPr>
          <p:cNvSpPr/>
          <p:nvPr/>
        </p:nvSpPr>
        <p:spPr>
          <a:xfrm>
            <a:off x="889187" y="3994944"/>
            <a:ext cx="1701613" cy="882318"/>
          </a:xfrm>
          <a:prstGeom prst="roundRect">
            <a:avLst/>
          </a:prstGeom>
          <a:ln w="635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b="1" dirty="0"/>
              <a:t>Driver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1175E9D-F40B-48F0-9A76-3AB9431931F3}"/>
              </a:ext>
            </a:extLst>
          </p:cNvPr>
          <p:cNvSpPr/>
          <p:nvPr/>
        </p:nvSpPr>
        <p:spPr>
          <a:xfrm>
            <a:off x="6629400" y="5889625"/>
            <a:ext cx="1981200" cy="838200"/>
          </a:xfrm>
          <a:prstGeom prst="roundRect">
            <a:avLst/>
          </a:prstGeom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b="1" dirty="0"/>
              <a:t>Product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A8BD30C7-9DCD-4111-ADBB-747FD768695F}"/>
              </a:ext>
            </a:extLst>
          </p:cNvPr>
          <p:cNvCxnSpPr>
            <a:cxnSpLocks/>
            <a:stCxn id="11" idx="3"/>
            <a:endCxn id="8" idx="0"/>
          </p:cNvCxnSpPr>
          <p:nvPr/>
        </p:nvCxnSpPr>
        <p:spPr>
          <a:xfrm>
            <a:off x="5731223" y="5484826"/>
            <a:ext cx="1888777" cy="404799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0F189AD-4A26-4501-AB33-B84FF5D835A7}"/>
              </a:ext>
            </a:extLst>
          </p:cNvPr>
          <p:cNvSpPr/>
          <p:nvPr/>
        </p:nvSpPr>
        <p:spPr>
          <a:xfrm>
            <a:off x="3412777" y="4883747"/>
            <a:ext cx="2318446" cy="1202157"/>
          </a:xfrm>
          <a:prstGeom prst="roundRect">
            <a:avLst/>
          </a:prstGeom>
          <a:ln w="44450">
            <a:solidFill>
              <a:srgbClr val="FF4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dirty="0"/>
              <a:t>Store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91B331A5-1930-42F5-8C9D-26359EB4DD9A}"/>
              </a:ext>
            </a:extLst>
          </p:cNvPr>
          <p:cNvCxnSpPr>
            <a:cxnSpLocks/>
            <a:stCxn id="7" idx="3"/>
            <a:endCxn id="11" idx="0"/>
          </p:cNvCxnSpPr>
          <p:nvPr/>
        </p:nvCxnSpPr>
        <p:spPr>
          <a:xfrm>
            <a:off x="2590800" y="4436103"/>
            <a:ext cx="1981200" cy="447644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535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7C54F-25E0-4FBC-AA95-B1EADD8A2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Recap - Shop </a:t>
            </a:r>
            <a:r>
              <a:rPr lang="en-IE" b="1" dirty="0"/>
              <a:t>V2.0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78F51-A6C3-4DFC-8DDB-3489B717A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22502"/>
            <a:ext cx="8305800" cy="4525963"/>
          </a:xfrm>
        </p:spPr>
        <p:txBody>
          <a:bodyPr>
            <a:normAutofit/>
          </a:bodyPr>
          <a:lstStyle/>
          <a:p>
            <a:r>
              <a:rPr lang="en-IE" sz="2800" dirty="0"/>
              <a:t>New</a:t>
            </a:r>
            <a:r>
              <a:rPr lang="en-IE" sz="2800" b="1" dirty="0"/>
              <a:t> </a:t>
            </a:r>
            <a:r>
              <a:rPr lang="en-IE" sz="2800" b="1" dirty="0">
                <a:solidFill>
                  <a:srgbClr val="FF40FF"/>
                </a:solidFill>
              </a:rPr>
              <a:t>Store</a:t>
            </a:r>
            <a:r>
              <a:rPr lang="en-IE" sz="2800" dirty="0">
                <a:solidFill>
                  <a:srgbClr val="FF40FF"/>
                </a:solidFill>
              </a:rPr>
              <a:t> </a:t>
            </a:r>
            <a:r>
              <a:rPr lang="en-IE" sz="2800" dirty="0"/>
              <a:t>class is responsible for maintaining a collection of Products </a:t>
            </a:r>
          </a:p>
          <a:p>
            <a:pPr lvl="1"/>
            <a:r>
              <a:rPr lang="en-IE" sz="2400" dirty="0"/>
              <a:t>i.e. an </a:t>
            </a:r>
            <a:r>
              <a:rPr lang="en-IE" sz="2400" b="1" dirty="0"/>
              <a:t>array of Products</a:t>
            </a:r>
            <a:r>
              <a:rPr lang="en-IE" sz="2400" dirty="0"/>
              <a:t>.  </a:t>
            </a:r>
          </a:p>
          <a:p>
            <a:r>
              <a:rPr lang="en-IE" sz="2800" b="1" dirty="0">
                <a:solidFill>
                  <a:srgbClr val="F79646"/>
                </a:solidFill>
              </a:rPr>
              <a:t>Driver</a:t>
            </a:r>
            <a:r>
              <a:rPr lang="en-IE" sz="2800" b="1" dirty="0">
                <a:solidFill>
                  <a:srgbClr val="FF0000"/>
                </a:solidFill>
              </a:rPr>
              <a:t> </a:t>
            </a:r>
            <a:r>
              <a:rPr lang="en-IE" sz="2800" dirty="0"/>
              <a:t>will now allow the user to decide </a:t>
            </a:r>
            <a:r>
              <a:rPr lang="en-IE" sz="2800" b="1" dirty="0"/>
              <a:t>how many product </a:t>
            </a:r>
            <a:r>
              <a:rPr lang="en-IE" sz="2800" dirty="0"/>
              <a:t>details they want to store. </a:t>
            </a:r>
          </a:p>
          <a:p>
            <a:pPr marL="0" indent="0">
              <a:buNone/>
            </a:pPr>
            <a:endParaRPr lang="en-IE" sz="28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F48EAA3-F50D-4307-B4CB-4A28736D5065}"/>
              </a:ext>
            </a:extLst>
          </p:cNvPr>
          <p:cNvSpPr/>
          <p:nvPr/>
        </p:nvSpPr>
        <p:spPr>
          <a:xfrm>
            <a:off x="889187" y="3994944"/>
            <a:ext cx="1701613" cy="882318"/>
          </a:xfrm>
          <a:prstGeom prst="roundRect">
            <a:avLst/>
          </a:prstGeom>
          <a:ln w="635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b="1" dirty="0"/>
              <a:t>Driver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492F55B-1604-4D99-A22D-1190EB809A71}"/>
              </a:ext>
            </a:extLst>
          </p:cNvPr>
          <p:cNvSpPr/>
          <p:nvPr/>
        </p:nvSpPr>
        <p:spPr>
          <a:xfrm>
            <a:off x="6629400" y="5889625"/>
            <a:ext cx="1981200" cy="838200"/>
          </a:xfrm>
          <a:prstGeom prst="roundRect">
            <a:avLst/>
          </a:prstGeom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b="1" dirty="0"/>
              <a:t>Product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911C9948-2B5E-4D2E-9333-9172083D4EDA}"/>
              </a:ext>
            </a:extLst>
          </p:cNvPr>
          <p:cNvCxnSpPr>
            <a:cxnSpLocks/>
            <a:stCxn id="7" idx="3"/>
            <a:endCxn id="5" idx="0"/>
          </p:cNvCxnSpPr>
          <p:nvPr/>
        </p:nvCxnSpPr>
        <p:spPr>
          <a:xfrm>
            <a:off x="5731223" y="5484826"/>
            <a:ext cx="1888777" cy="404799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2A054C1-33CC-4C1E-8322-FBD58ACACEF3}"/>
              </a:ext>
            </a:extLst>
          </p:cNvPr>
          <p:cNvSpPr/>
          <p:nvPr/>
        </p:nvSpPr>
        <p:spPr>
          <a:xfrm>
            <a:off x="3412777" y="4883747"/>
            <a:ext cx="2318446" cy="1202157"/>
          </a:xfrm>
          <a:prstGeom prst="roundRect">
            <a:avLst/>
          </a:prstGeom>
          <a:ln w="44450">
            <a:solidFill>
              <a:srgbClr val="FF4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dirty="0"/>
              <a:t>Store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A0AEBB43-905A-41A4-BF93-53084BD3F5DF}"/>
              </a:ext>
            </a:extLst>
          </p:cNvPr>
          <p:cNvCxnSpPr>
            <a:cxnSpLocks/>
            <a:stCxn id="4" idx="3"/>
            <a:endCxn id="7" idx="0"/>
          </p:cNvCxnSpPr>
          <p:nvPr/>
        </p:nvCxnSpPr>
        <p:spPr>
          <a:xfrm>
            <a:off x="2590800" y="4436103"/>
            <a:ext cx="1981200" cy="447644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3208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59AE206-7EBA-4D33-8BC9-9D8158553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3A12E69-CF66-426E-8515-DD59A4BDE0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" y="4555055"/>
            <a:ext cx="5174047" cy="1723125"/>
          </a:xfrm>
        </p:spPr>
        <p:txBody>
          <a:bodyPr anchor="ctr">
            <a:normAutofit/>
          </a:bodyPr>
          <a:lstStyle/>
          <a:p>
            <a:pPr algn="r"/>
            <a:r>
              <a:rPr lang="en-IE" dirty="0"/>
              <a:t>Shop V2.1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D9AF4E7-D337-45B0-8C87-B511041217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56968" y="4555055"/>
            <a:ext cx="2537450" cy="1723125"/>
          </a:xfrm>
        </p:spPr>
        <p:txBody>
          <a:bodyPr anchor="ctr">
            <a:normAutofit/>
          </a:bodyPr>
          <a:lstStyle/>
          <a:p>
            <a:pPr algn="l"/>
            <a:r>
              <a:rPr lang="en-IE" dirty="0"/>
              <a:t>Version developed in Lab Exercises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437D937-A7F1-4011-92B4-328E5BE1B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1425" y="1322610"/>
            <a:ext cx="1682850" cy="168284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672F332-AF08-46C6-94F0-77684310D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46253" y="2707205"/>
            <a:ext cx="721796" cy="72179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4244EF8-D73A-40E1-BE73-D46E6B4B04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44374" y="2603243"/>
            <a:ext cx="220271" cy="22027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B84D7E8-4ECB-42D7-ADBF-01689B0F24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29087" y="0"/>
            <a:ext cx="4814914" cy="3429000"/>
          </a:xfrm>
          <a:custGeom>
            <a:avLst/>
            <a:gdLst>
              <a:gd name="connsiteX0" fmla="*/ 0 w 5699887"/>
              <a:gd name="connsiteY0" fmla="*/ 0 h 4059244"/>
              <a:gd name="connsiteX1" fmla="*/ 5699887 w 5699887"/>
              <a:gd name="connsiteY1" fmla="*/ 0 h 4059244"/>
              <a:gd name="connsiteX2" fmla="*/ 5699887 w 5699887"/>
              <a:gd name="connsiteY2" fmla="*/ 3944096 h 4059244"/>
              <a:gd name="connsiteX3" fmla="*/ 5525775 w 5699887"/>
              <a:gd name="connsiteY3" fmla="*/ 3980429 h 4059244"/>
              <a:gd name="connsiteX4" fmla="*/ 4663256 w 5699887"/>
              <a:gd name="connsiteY4" fmla="*/ 4059244 h 4059244"/>
              <a:gd name="connsiteX5" fmla="*/ 8566 w 5699887"/>
              <a:gd name="connsiteY5" fmla="*/ 67422 h 4059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99887" h="4059244">
                <a:moveTo>
                  <a:pt x="0" y="0"/>
                </a:moveTo>
                <a:lnTo>
                  <a:pt x="5699887" y="0"/>
                </a:lnTo>
                <a:lnTo>
                  <a:pt x="5699887" y="3944096"/>
                </a:lnTo>
                <a:lnTo>
                  <a:pt x="5525775" y="3980429"/>
                </a:lnTo>
                <a:cubicBezTo>
                  <a:pt x="5246154" y="4032190"/>
                  <a:pt x="4957865" y="4059244"/>
                  <a:pt x="4663256" y="4059244"/>
                </a:cubicBezTo>
                <a:cubicBezTo>
                  <a:pt x="2306390" y="4059244"/>
                  <a:pt x="353936" y="2327747"/>
                  <a:pt x="8566" y="67422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E8E38ED-369A-44C2-B635-0BED0E48A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9834" y="4776880"/>
            <a:ext cx="0" cy="1303020"/>
          </a:xfrm>
          <a:prstGeom prst="line">
            <a:avLst/>
          </a:prstGeom>
          <a:ln w="19050" cap="sq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820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B2456-06AF-47B3-A6E3-9CEB0AD9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V2.1 – Lab Exercises</a:t>
            </a:r>
          </a:p>
        </p:txBody>
      </p:sp>
      <p:pic>
        <p:nvPicPr>
          <p:cNvPr id="5" name="Picture 4" descr="A screenshot of a social media post&#10;&#10;Description generated with very high confidence">
            <a:extLst>
              <a:ext uri="{FF2B5EF4-FFF2-40B4-BE49-F238E27FC236}">
                <a16:creationId xmlns:a16="http://schemas.microsoft.com/office/drawing/2014/main" id="{5002913D-5A94-456D-AE69-F8108FD1F8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524000"/>
            <a:ext cx="8153400" cy="524147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970482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B2456-06AF-47B3-A6E3-9CEB0AD9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V2.1 – Lab Exercises</a:t>
            </a:r>
          </a:p>
        </p:txBody>
      </p:sp>
      <p:pic>
        <p:nvPicPr>
          <p:cNvPr id="5" name="Picture 4" descr="A screenshot of a social media post&#10;&#10;Description generated with very high confidence">
            <a:extLst>
              <a:ext uri="{FF2B5EF4-FFF2-40B4-BE49-F238E27FC236}">
                <a16:creationId xmlns:a16="http://schemas.microsoft.com/office/drawing/2014/main" id="{5002913D-5A94-456D-AE69-F8108FD1F8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3124200"/>
            <a:ext cx="5664200" cy="364127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4093B557-E25B-4568-A987-346D0DB4EE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1243822"/>
            <a:ext cx="4495800" cy="3554819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class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endParaRPr kumimoji="0" lang="en-GB" altLang="en-VI" sz="16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VI" sz="11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JetBrains Mono"/>
              </a:rPr>
              <a:t>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VI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JetBrains Mono"/>
              </a:rPr>
              <a:t>    //code omitted</a:t>
            </a:r>
            <a:r>
              <a:rPr kumimoji="0" lang="en-GB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endParaRPr lang="en-GB" altLang="en-VI" sz="1600" dirty="0">
              <a:solidFill>
                <a:srgbClr val="080808"/>
              </a:solidFill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VI" altLang="en-VI" sz="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static void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main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[]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args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GB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Driver();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</a:t>
            </a:r>
            <a:r>
              <a:rPr kumimoji="0" lang="en-GB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.processOrder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GB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.printProducts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.printCurrentProducts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.printAverageProductPrice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.printCheapestProduct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.printProductsAboveAPrice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}</a:t>
            </a:r>
            <a:br>
              <a:rPr kumimoji="0" lang="en-VI" altLang="en-VI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GB" altLang="en-VI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GB" altLang="en-VI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JetBrains Mono"/>
              </a:rPr>
              <a:t> //code omitted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en-VI" altLang="en-VI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774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B2456-06AF-47B3-A6E3-9CEB0AD9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V2.1 – Lab Exercises</a:t>
            </a:r>
          </a:p>
        </p:txBody>
      </p:sp>
      <p:pic>
        <p:nvPicPr>
          <p:cNvPr id="5" name="Picture 4" descr="A screenshot of a social media post&#10;&#10;Description generated with very high confidence">
            <a:extLst>
              <a:ext uri="{FF2B5EF4-FFF2-40B4-BE49-F238E27FC236}">
                <a16:creationId xmlns:a16="http://schemas.microsoft.com/office/drawing/2014/main" id="{5002913D-5A94-456D-AE69-F8108FD1F8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3124200"/>
            <a:ext cx="5664200" cy="364127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C97151F-F49D-48DB-A779-C78192E6FF5C}"/>
              </a:ext>
            </a:extLst>
          </p:cNvPr>
          <p:cNvSpPr txBox="1"/>
          <p:nvPr/>
        </p:nvSpPr>
        <p:spPr>
          <a:xfrm>
            <a:off x="224758" y="1295400"/>
            <a:ext cx="3352800" cy="156966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dirty="0"/>
              <a:t>Our users have no control of the system; they cannot </a:t>
            </a:r>
            <a:r>
              <a:rPr lang="en-IE" sz="2400" b="1" dirty="0">
                <a:solidFill>
                  <a:srgbClr val="FF0000"/>
                </a:solidFill>
              </a:rPr>
              <a:t>choose</a:t>
            </a:r>
            <a:r>
              <a:rPr lang="en-IE" sz="2400" dirty="0"/>
              <a:t> to do anything!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3893CA5-9E2F-4B19-9CC6-4D33F9E147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1243822"/>
            <a:ext cx="4495800" cy="3554819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class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endParaRPr kumimoji="0" lang="en-GB" altLang="en-VI" sz="16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VI" sz="11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JetBrains Mono"/>
              </a:rPr>
              <a:t>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VI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JetBrains Mono"/>
              </a:rPr>
              <a:t>    //code omitted</a:t>
            </a:r>
            <a:r>
              <a:rPr kumimoji="0" lang="en-GB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endParaRPr lang="en-GB" altLang="en-VI" sz="1600" dirty="0">
              <a:solidFill>
                <a:srgbClr val="080808"/>
              </a:solidFill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VI" altLang="en-VI" sz="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static void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main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[]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args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GB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Driver();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</a:t>
            </a:r>
            <a:r>
              <a:rPr kumimoji="0" lang="en-GB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.processOrder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GB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.printProducts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.printCurrentProducts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.printAverageProductPrice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.printCheapestProduct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.printProductsAboveAPrice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}</a:t>
            </a:r>
            <a:br>
              <a:rPr kumimoji="0" lang="en-VI" altLang="en-VI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GB" altLang="en-VI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GB" altLang="en-VI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JetBrains Mono"/>
              </a:rPr>
              <a:t> //code omitted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en-VI" altLang="en-VI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770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59AE206-7EBA-4D33-8BC9-9D8158553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3A12E69-CF66-426E-8515-DD59A4BDE0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" y="4555055"/>
            <a:ext cx="5174047" cy="1723125"/>
          </a:xfrm>
        </p:spPr>
        <p:txBody>
          <a:bodyPr anchor="ctr">
            <a:normAutofit/>
          </a:bodyPr>
          <a:lstStyle/>
          <a:p>
            <a:pPr algn="r"/>
            <a:r>
              <a:rPr lang="en-IE" dirty="0"/>
              <a:t>Shop V2.2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D9AF4E7-D337-45B0-8C87-B511041217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56968" y="4555055"/>
            <a:ext cx="2537450" cy="1723125"/>
          </a:xfrm>
        </p:spPr>
        <p:txBody>
          <a:bodyPr anchor="ctr">
            <a:normAutofit/>
          </a:bodyPr>
          <a:lstStyle/>
          <a:p>
            <a:pPr algn="l"/>
            <a:r>
              <a:rPr lang="en-IE" dirty="0"/>
              <a:t>Adding a menu system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437D937-A7F1-4011-92B4-328E5BE1B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1425" y="1322610"/>
            <a:ext cx="1682850" cy="168284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672F332-AF08-46C6-94F0-77684310D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46253" y="2707205"/>
            <a:ext cx="721796" cy="72179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4244EF8-D73A-40E1-BE73-D46E6B4B04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44374" y="2603243"/>
            <a:ext cx="220271" cy="22027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B84D7E8-4ECB-42D7-ADBF-01689B0F24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29087" y="0"/>
            <a:ext cx="4814914" cy="3429000"/>
          </a:xfrm>
          <a:custGeom>
            <a:avLst/>
            <a:gdLst>
              <a:gd name="connsiteX0" fmla="*/ 0 w 5699887"/>
              <a:gd name="connsiteY0" fmla="*/ 0 h 4059244"/>
              <a:gd name="connsiteX1" fmla="*/ 5699887 w 5699887"/>
              <a:gd name="connsiteY1" fmla="*/ 0 h 4059244"/>
              <a:gd name="connsiteX2" fmla="*/ 5699887 w 5699887"/>
              <a:gd name="connsiteY2" fmla="*/ 3944096 h 4059244"/>
              <a:gd name="connsiteX3" fmla="*/ 5525775 w 5699887"/>
              <a:gd name="connsiteY3" fmla="*/ 3980429 h 4059244"/>
              <a:gd name="connsiteX4" fmla="*/ 4663256 w 5699887"/>
              <a:gd name="connsiteY4" fmla="*/ 4059244 h 4059244"/>
              <a:gd name="connsiteX5" fmla="*/ 8566 w 5699887"/>
              <a:gd name="connsiteY5" fmla="*/ 67422 h 4059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99887" h="4059244">
                <a:moveTo>
                  <a:pt x="0" y="0"/>
                </a:moveTo>
                <a:lnTo>
                  <a:pt x="5699887" y="0"/>
                </a:lnTo>
                <a:lnTo>
                  <a:pt x="5699887" y="3944096"/>
                </a:lnTo>
                <a:lnTo>
                  <a:pt x="5525775" y="3980429"/>
                </a:lnTo>
                <a:cubicBezTo>
                  <a:pt x="5246154" y="4032190"/>
                  <a:pt x="4957865" y="4059244"/>
                  <a:pt x="4663256" y="4059244"/>
                </a:cubicBezTo>
                <a:cubicBezTo>
                  <a:pt x="2306390" y="4059244"/>
                  <a:pt x="353936" y="2327747"/>
                  <a:pt x="8566" y="67422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E8E38ED-369A-44C2-B635-0BED0E48A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9834" y="4776880"/>
            <a:ext cx="0" cy="1303020"/>
          </a:xfrm>
          <a:prstGeom prst="line">
            <a:avLst/>
          </a:prstGeom>
          <a:ln w="19050" cap="sq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4059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B2456-06AF-47B3-A6E3-9CEB0AD9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V2.2 – Control with menu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153891-F112-41B8-BFAA-25F37061F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418" y="1600200"/>
            <a:ext cx="6522159" cy="52578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26246D-1F3E-4F9C-BF71-41C8A79BDD6E}"/>
              </a:ext>
            </a:extLst>
          </p:cNvPr>
          <p:cNvSpPr/>
          <p:nvPr/>
        </p:nvSpPr>
        <p:spPr>
          <a:xfrm>
            <a:off x="76201" y="4648200"/>
            <a:ext cx="6522160" cy="2209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108D49-0B1C-4873-84E8-F9EF336DC608}"/>
              </a:ext>
            </a:extLst>
          </p:cNvPr>
          <p:cNvSpPr txBox="1"/>
          <p:nvPr/>
        </p:nvSpPr>
        <p:spPr>
          <a:xfrm>
            <a:off x="5472782" y="1981200"/>
            <a:ext cx="3352800" cy="193899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dirty="0"/>
              <a:t>We are going to add a simple menu that will allow us to view details about the entered products.</a:t>
            </a:r>
          </a:p>
        </p:txBody>
      </p:sp>
    </p:spTree>
    <p:extLst>
      <p:ext uri="{BB962C8B-B14F-4D97-AF65-F5344CB8AC3E}">
        <p14:creationId xmlns:p14="http://schemas.microsoft.com/office/powerpoint/2010/main" val="2054154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48A2C6-3E92-4070-B470-21D85CC78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2362200"/>
            <a:ext cx="8852229" cy="322218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Arrow: Left 7">
            <a:extLst>
              <a:ext uri="{FF2B5EF4-FFF2-40B4-BE49-F238E27FC236}">
                <a16:creationId xmlns:a16="http://schemas.microsoft.com/office/drawing/2014/main" id="{E43EE101-4A08-420A-A4F5-0B16A777141A}"/>
              </a:ext>
            </a:extLst>
          </p:cNvPr>
          <p:cNvSpPr/>
          <p:nvPr/>
        </p:nvSpPr>
        <p:spPr>
          <a:xfrm rot="18365811">
            <a:off x="5616513" y="3029128"/>
            <a:ext cx="1600200" cy="10668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FB2456-06AF-47B3-A6E3-9CEB0AD9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V2.2 – Control with menu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108D49-0B1C-4873-84E8-F9EF336DC608}"/>
              </a:ext>
            </a:extLst>
          </p:cNvPr>
          <p:cNvSpPr txBox="1"/>
          <p:nvPr/>
        </p:nvSpPr>
        <p:spPr>
          <a:xfrm>
            <a:off x="5472782" y="1981200"/>
            <a:ext cx="3352800" cy="120032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dirty="0"/>
              <a:t>Option 1: </a:t>
            </a:r>
          </a:p>
          <a:p>
            <a:pPr algn="ctr"/>
            <a:endParaRPr lang="en-IE" sz="2400" dirty="0"/>
          </a:p>
          <a:p>
            <a:pPr algn="ctr"/>
            <a:r>
              <a:rPr lang="en-IE" sz="2400" dirty="0"/>
              <a:t>List the products</a:t>
            </a:r>
          </a:p>
        </p:txBody>
      </p:sp>
    </p:spTree>
    <p:extLst>
      <p:ext uri="{BB962C8B-B14F-4D97-AF65-F5344CB8AC3E}">
        <p14:creationId xmlns:p14="http://schemas.microsoft.com/office/powerpoint/2010/main" val="39464548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0CE6870-0A17-4859-BEB5-CBF185B32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18" y="2362200"/>
            <a:ext cx="8816382" cy="304799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Arrow: Left 5">
            <a:extLst>
              <a:ext uri="{FF2B5EF4-FFF2-40B4-BE49-F238E27FC236}">
                <a16:creationId xmlns:a16="http://schemas.microsoft.com/office/drawing/2014/main" id="{28FD9664-FD64-4653-B4FA-90857BCAFB7C}"/>
              </a:ext>
            </a:extLst>
          </p:cNvPr>
          <p:cNvSpPr/>
          <p:nvPr/>
        </p:nvSpPr>
        <p:spPr>
          <a:xfrm rot="18365811">
            <a:off x="5616513" y="3029128"/>
            <a:ext cx="1600200" cy="10668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FB2456-06AF-47B3-A6E3-9CEB0AD9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V2.2 – Control with menu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108D49-0B1C-4873-84E8-F9EF336DC608}"/>
              </a:ext>
            </a:extLst>
          </p:cNvPr>
          <p:cNvSpPr txBox="1"/>
          <p:nvPr/>
        </p:nvSpPr>
        <p:spPr>
          <a:xfrm>
            <a:off x="5472782" y="1981200"/>
            <a:ext cx="3352800" cy="120032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dirty="0"/>
              <a:t>Option 2: </a:t>
            </a:r>
          </a:p>
          <a:p>
            <a:pPr algn="ctr"/>
            <a:endParaRPr lang="en-IE" sz="2400" dirty="0"/>
          </a:p>
          <a:p>
            <a:pPr algn="ctr"/>
            <a:r>
              <a:rPr lang="en-IE" sz="2400" dirty="0"/>
              <a:t>List the </a:t>
            </a:r>
            <a:r>
              <a:rPr lang="en-IE" sz="2400" b="1" dirty="0"/>
              <a:t>current </a:t>
            </a:r>
            <a:r>
              <a:rPr lang="en-IE" sz="2400" dirty="0"/>
              <a:t>products</a:t>
            </a:r>
          </a:p>
        </p:txBody>
      </p:sp>
    </p:spTree>
    <p:extLst>
      <p:ext uri="{BB962C8B-B14F-4D97-AF65-F5344CB8AC3E}">
        <p14:creationId xmlns:p14="http://schemas.microsoft.com/office/powerpoint/2010/main" val="4811047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1A2AB1-0279-4D60-ADA6-56F7D6493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33740"/>
            <a:ext cx="7344366" cy="34575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Arrow: Left 5">
            <a:extLst>
              <a:ext uri="{FF2B5EF4-FFF2-40B4-BE49-F238E27FC236}">
                <a16:creationId xmlns:a16="http://schemas.microsoft.com/office/drawing/2014/main" id="{28FD9664-FD64-4653-B4FA-90857BCAFB7C}"/>
              </a:ext>
            </a:extLst>
          </p:cNvPr>
          <p:cNvSpPr/>
          <p:nvPr/>
        </p:nvSpPr>
        <p:spPr>
          <a:xfrm rot="2239627">
            <a:off x="6238408" y="4616682"/>
            <a:ext cx="1600200" cy="10668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FB2456-06AF-47B3-A6E3-9CEB0AD9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V2.2 – Control with menu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108D49-0B1C-4873-84E8-F9EF336DC608}"/>
              </a:ext>
            </a:extLst>
          </p:cNvPr>
          <p:cNvSpPr txBox="1"/>
          <p:nvPr/>
        </p:nvSpPr>
        <p:spPr>
          <a:xfrm>
            <a:off x="5514233" y="5459185"/>
            <a:ext cx="3352800" cy="120032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dirty="0"/>
              <a:t>Option 3: </a:t>
            </a:r>
          </a:p>
          <a:p>
            <a:pPr algn="ctr"/>
            <a:endParaRPr lang="en-IE" sz="2400" dirty="0"/>
          </a:p>
          <a:p>
            <a:pPr algn="ctr"/>
            <a:r>
              <a:rPr lang="en-IE" sz="2400" dirty="0"/>
              <a:t>Display average cost</a:t>
            </a:r>
          </a:p>
        </p:txBody>
      </p:sp>
    </p:spTree>
    <p:extLst>
      <p:ext uri="{BB962C8B-B14F-4D97-AF65-F5344CB8AC3E}">
        <p14:creationId xmlns:p14="http://schemas.microsoft.com/office/powerpoint/2010/main" val="31355571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0F5CAF3-EAAE-4D96-B21B-23A4964DB0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919" y="1992894"/>
            <a:ext cx="7596681" cy="366146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Arrow: Left 5">
            <a:extLst>
              <a:ext uri="{FF2B5EF4-FFF2-40B4-BE49-F238E27FC236}">
                <a16:creationId xmlns:a16="http://schemas.microsoft.com/office/drawing/2014/main" id="{28FD9664-FD64-4653-B4FA-90857BCAFB7C}"/>
              </a:ext>
            </a:extLst>
          </p:cNvPr>
          <p:cNvSpPr/>
          <p:nvPr/>
        </p:nvSpPr>
        <p:spPr>
          <a:xfrm rot="2239627">
            <a:off x="4590824" y="5100304"/>
            <a:ext cx="1600200" cy="10668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FB2456-06AF-47B3-A6E3-9CEB0AD9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V2.2 – Control with menu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108D49-0B1C-4873-84E8-F9EF336DC608}"/>
              </a:ext>
            </a:extLst>
          </p:cNvPr>
          <p:cNvSpPr txBox="1"/>
          <p:nvPr/>
        </p:nvSpPr>
        <p:spPr>
          <a:xfrm>
            <a:off x="5514233" y="5459185"/>
            <a:ext cx="3352800" cy="120032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dirty="0"/>
              <a:t>Option 4: </a:t>
            </a:r>
          </a:p>
          <a:p>
            <a:pPr algn="ctr"/>
            <a:endParaRPr lang="en-IE" sz="2400" dirty="0"/>
          </a:p>
          <a:p>
            <a:pPr algn="ctr"/>
            <a:r>
              <a:rPr lang="en-IE" sz="2400" dirty="0"/>
              <a:t>Display cheapest product</a:t>
            </a:r>
          </a:p>
        </p:txBody>
      </p:sp>
    </p:spTree>
    <p:extLst>
      <p:ext uri="{BB962C8B-B14F-4D97-AF65-F5344CB8AC3E}">
        <p14:creationId xmlns:p14="http://schemas.microsoft.com/office/powerpoint/2010/main" val="22882899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99F0B3-A50C-4483-8456-728EB849E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260429"/>
            <a:ext cx="8686800" cy="284497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Arrow: Left 5">
            <a:extLst>
              <a:ext uri="{FF2B5EF4-FFF2-40B4-BE49-F238E27FC236}">
                <a16:creationId xmlns:a16="http://schemas.microsoft.com/office/drawing/2014/main" id="{28FD9664-FD64-4653-B4FA-90857BCAFB7C}"/>
              </a:ext>
            </a:extLst>
          </p:cNvPr>
          <p:cNvSpPr/>
          <p:nvPr/>
        </p:nvSpPr>
        <p:spPr>
          <a:xfrm rot="2239627">
            <a:off x="4034992" y="4912559"/>
            <a:ext cx="2219447" cy="10668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FB2456-06AF-47B3-A6E3-9CEB0AD9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V2.2 – Control with menu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108D49-0B1C-4873-84E8-F9EF336DC608}"/>
              </a:ext>
            </a:extLst>
          </p:cNvPr>
          <p:cNvSpPr txBox="1"/>
          <p:nvPr/>
        </p:nvSpPr>
        <p:spPr>
          <a:xfrm>
            <a:off x="5638800" y="4766608"/>
            <a:ext cx="3352800" cy="193899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dirty="0"/>
              <a:t>Option 5: </a:t>
            </a:r>
          </a:p>
          <a:p>
            <a:pPr algn="ctr"/>
            <a:endParaRPr lang="en-IE" sz="2400" dirty="0"/>
          </a:p>
          <a:p>
            <a:pPr algn="ctr"/>
            <a:r>
              <a:rPr lang="en-IE" sz="2400" dirty="0"/>
              <a:t>List products that are more expensive than a given price</a:t>
            </a:r>
          </a:p>
        </p:txBody>
      </p:sp>
    </p:spTree>
    <p:extLst>
      <p:ext uri="{BB962C8B-B14F-4D97-AF65-F5344CB8AC3E}">
        <p14:creationId xmlns:p14="http://schemas.microsoft.com/office/powerpoint/2010/main" val="15644686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AEDCDA5-3DFA-466B-86C4-73D5BF729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778" y="1876425"/>
            <a:ext cx="6654970" cy="31051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Arrow: Left 5">
            <a:extLst>
              <a:ext uri="{FF2B5EF4-FFF2-40B4-BE49-F238E27FC236}">
                <a16:creationId xmlns:a16="http://schemas.microsoft.com/office/drawing/2014/main" id="{28FD9664-FD64-4653-B4FA-90857BCAFB7C}"/>
              </a:ext>
            </a:extLst>
          </p:cNvPr>
          <p:cNvSpPr/>
          <p:nvPr/>
        </p:nvSpPr>
        <p:spPr>
          <a:xfrm>
            <a:off x="4129249" y="4191000"/>
            <a:ext cx="1890551" cy="10668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FB2456-06AF-47B3-A6E3-9CEB0AD9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V2.2 – Control with menu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108D49-0B1C-4873-84E8-F9EF336DC608}"/>
              </a:ext>
            </a:extLst>
          </p:cNvPr>
          <p:cNvSpPr txBox="1"/>
          <p:nvPr/>
        </p:nvSpPr>
        <p:spPr>
          <a:xfrm>
            <a:off x="5334000" y="4343400"/>
            <a:ext cx="3352800" cy="156966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dirty="0"/>
              <a:t>Invalid Option</a:t>
            </a:r>
          </a:p>
          <a:p>
            <a:pPr algn="ctr"/>
            <a:endParaRPr lang="en-IE" sz="2400" dirty="0"/>
          </a:p>
          <a:p>
            <a:pPr algn="ctr"/>
            <a:r>
              <a:rPr lang="en-IE" sz="2400" dirty="0"/>
              <a:t>Menu is redisplayed once you press the enter key.</a:t>
            </a:r>
          </a:p>
        </p:txBody>
      </p:sp>
    </p:spTree>
    <p:extLst>
      <p:ext uri="{BB962C8B-B14F-4D97-AF65-F5344CB8AC3E}">
        <p14:creationId xmlns:p14="http://schemas.microsoft.com/office/powerpoint/2010/main" val="41955564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7A42DF-7C72-4E79-AB7B-EE0FAAD259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88187"/>
            <a:ext cx="6699648" cy="371951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Arrow: Left 5">
            <a:extLst>
              <a:ext uri="{FF2B5EF4-FFF2-40B4-BE49-F238E27FC236}">
                <a16:creationId xmlns:a16="http://schemas.microsoft.com/office/drawing/2014/main" id="{28FD9664-FD64-4653-B4FA-90857BCAFB7C}"/>
              </a:ext>
            </a:extLst>
          </p:cNvPr>
          <p:cNvSpPr/>
          <p:nvPr/>
        </p:nvSpPr>
        <p:spPr>
          <a:xfrm>
            <a:off x="4129249" y="4191000"/>
            <a:ext cx="1890551" cy="10668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FB2456-06AF-47B3-A6E3-9CEB0AD9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V2.2 – Control with menu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108D49-0B1C-4873-84E8-F9EF336DC608}"/>
              </a:ext>
            </a:extLst>
          </p:cNvPr>
          <p:cNvSpPr txBox="1"/>
          <p:nvPr/>
        </p:nvSpPr>
        <p:spPr>
          <a:xfrm>
            <a:off x="5334000" y="4343400"/>
            <a:ext cx="3352800" cy="120032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dirty="0"/>
              <a:t>Option 0: </a:t>
            </a:r>
          </a:p>
          <a:p>
            <a:pPr algn="ctr"/>
            <a:endParaRPr lang="en-IE" sz="2400" dirty="0"/>
          </a:p>
          <a:p>
            <a:pPr algn="ctr"/>
            <a:r>
              <a:rPr lang="en-IE" sz="2400" dirty="0"/>
              <a:t>Exit the system</a:t>
            </a:r>
          </a:p>
        </p:txBody>
      </p:sp>
    </p:spTree>
    <p:extLst>
      <p:ext uri="{BB962C8B-B14F-4D97-AF65-F5344CB8AC3E}">
        <p14:creationId xmlns:p14="http://schemas.microsoft.com/office/powerpoint/2010/main" val="15042257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59AE206-7EBA-4D33-8BC9-9D8158553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3A12E69-CF66-426E-8515-DD59A4BDE0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" y="4555055"/>
            <a:ext cx="5174047" cy="1723125"/>
          </a:xfrm>
        </p:spPr>
        <p:txBody>
          <a:bodyPr anchor="ctr">
            <a:normAutofit/>
          </a:bodyPr>
          <a:lstStyle/>
          <a:p>
            <a:pPr algn="r"/>
            <a:r>
              <a:rPr lang="en-IE" dirty="0"/>
              <a:t>switch Statement</a:t>
            </a:r>
            <a:endParaRPr lang="en-IE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D9AF4E7-D337-45B0-8C87-B511041217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56968" y="4555055"/>
            <a:ext cx="2537450" cy="1723125"/>
          </a:xfrm>
        </p:spPr>
        <p:txBody>
          <a:bodyPr anchor="ctr">
            <a:normAutofit/>
          </a:bodyPr>
          <a:lstStyle/>
          <a:p>
            <a:pPr algn="l"/>
            <a:r>
              <a:rPr lang="en-IE" dirty="0"/>
              <a:t>A brief introduction (more later!)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437D937-A7F1-4011-92B4-328E5BE1B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1425" y="1322610"/>
            <a:ext cx="1682850" cy="168284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672F332-AF08-46C6-94F0-77684310D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46253" y="2707205"/>
            <a:ext cx="721796" cy="72179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4244EF8-D73A-40E1-BE73-D46E6B4B04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44374" y="2603243"/>
            <a:ext cx="220271" cy="22027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B84D7E8-4ECB-42D7-ADBF-01689B0F24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29087" y="0"/>
            <a:ext cx="4814914" cy="3429000"/>
          </a:xfrm>
          <a:custGeom>
            <a:avLst/>
            <a:gdLst>
              <a:gd name="connsiteX0" fmla="*/ 0 w 5699887"/>
              <a:gd name="connsiteY0" fmla="*/ 0 h 4059244"/>
              <a:gd name="connsiteX1" fmla="*/ 5699887 w 5699887"/>
              <a:gd name="connsiteY1" fmla="*/ 0 h 4059244"/>
              <a:gd name="connsiteX2" fmla="*/ 5699887 w 5699887"/>
              <a:gd name="connsiteY2" fmla="*/ 3944096 h 4059244"/>
              <a:gd name="connsiteX3" fmla="*/ 5525775 w 5699887"/>
              <a:gd name="connsiteY3" fmla="*/ 3980429 h 4059244"/>
              <a:gd name="connsiteX4" fmla="*/ 4663256 w 5699887"/>
              <a:gd name="connsiteY4" fmla="*/ 4059244 h 4059244"/>
              <a:gd name="connsiteX5" fmla="*/ 8566 w 5699887"/>
              <a:gd name="connsiteY5" fmla="*/ 67422 h 4059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99887" h="4059244">
                <a:moveTo>
                  <a:pt x="0" y="0"/>
                </a:moveTo>
                <a:lnTo>
                  <a:pt x="5699887" y="0"/>
                </a:lnTo>
                <a:lnTo>
                  <a:pt x="5699887" y="3944096"/>
                </a:lnTo>
                <a:lnTo>
                  <a:pt x="5525775" y="3980429"/>
                </a:lnTo>
                <a:cubicBezTo>
                  <a:pt x="5246154" y="4032190"/>
                  <a:pt x="4957865" y="4059244"/>
                  <a:pt x="4663256" y="4059244"/>
                </a:cubicBezTo>
                <a:cubicBezTo>
                  <a:pt x="2306390" y="4059244"/>
                  <a:pt x="353936" y="2327747"/>
                  <a:pt x="8566" y="67422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E8E38ED-369A-44C2-B635-0BED0E48A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9834" y="4776880"/>
            <a:ext cx="0" cy="1303020"/>
          </a:xfrm>
          <a:prstGeom prst="line">
            <a:avLst/>
          </a:prstGeom>
          <a:ln w="19050" cap="sq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8487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The </a:t>
            </a:r>
            <a:r>
              <a:rPr lang="en-IE" b="1" dirty="0"/>
              <a:t>switch</a:t>
            </a:r>
            <a:r>
              <a:rPr lang="en-IE" dirty="0"/>
              <a:t>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E" sz="1600" dirty="0"/>
          </a:p>
          <a:p>
            <a:r>
              <a:rPr lang="en-GB" altLang="en-US" dirty="0"/>
              <a:t>The switch statement works in exactly the same way as a </a:t>
            </a:r>
            <a:r>
              <a:rPr lang="en-GB" altLang="en-US" b="1" dirty="0"/>
              <a:t>set of if </a:t>
            </a:r>
            <a:r>
              <a:rPr lang="en-GB" altLang="en-US" dirty="0"/>
              <a:t>statements, </a:t>
            </a:r>
            <a:br>
              <a:rPr lang="en-GB" altLang="en-US" dirty="0"/>
            </a:br>
            <a:r>
              <a:rPr lang="en-GB" altLang="en-US" dirty="0"/>
              <a:t>but is more compact and readable. </a:t>
            </a:r>
          </a:p>
          <a:p>
            <a:endParaRPr lang="en-IE" dirty="0"/>
          </a:p>
          <a:p>
            <a:r>
              <a:rPr lang="en-IE" dirty="0"/>
              <a:t>The </a:t>
            </a:r>
            <a:r>
              <a:rPr lang="en-IE" i="1" dirty="0"/>
              <a:t>switch statement </a:t>
            </a:r>
            <a:r>
              <a:rPr lang="en-IE" dirty="0"/>
              <a:t>switches on a single </a:t>
            </a:r>
            <a:r>
              <a:rPr lang="en-IE" b="1" dirty="0"/>
              <a:t>value</a:t>
            </a:r>
            <a:r>
              <a:rPr lang="en-IE" dirty="0"/>
              <a:t> to one of an arbitrary number of </a:t>
            </a:r>
            <a:r>
              <a:rPr lang="en-IE" b="1" dirty="0"/>
              <a:t>cases</a:t>
            </a:r>
            <a:r>
              <a:rPr lang="en-IE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8651263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The </a:t>
            </a:r>
            <a:r>
              <a:rPr lang="en-IE" b="1" dirty="0"/>
              <a:t>switch</a:t>
            </a:r>
            <a:r>
              <a:rPr lang="en-IE" dirty="0"/>
              <a:t> </a:t>
            </a:r>
            <a:br>
              <a:rPr lang="en-IE" dirty="0"/>
            </a:br>
            <a:r>
              <a:rPr lang="en-IE" dirty="0"/>
              <a:t>statement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247659"/>
            <a:ext cx="4724400" cy="633570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23001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The switch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153400" cy="3840163"/>
          </a:xfrm>
        </p:spPr>
        <p:txBody>
          <a:bodyPr>
            <a:normAutofit lnSpcReduction="10000"/>
          </a:bodyPr>
          <a:lstStyle/>
          <a:p>
            <a:r>
              <a:rPr lang="en-IE" dirty="0"/>
              <a:t>A </a:t>
            </a:r>
            <a:r>
              <a:rPr lang="en-IE" i="1" dirty="0"/>
              <a:t>switch </a:t>
            </a:r>
            <a:r>
              <a:rPr lang="en-IE" dirty="0"/>
              <a:t>statement can have any number of </a:t>
            </a:r>
            <a:r>
              <a:rPr lang="en-IE" b="1" dirty="0"/>
              <a:t>case </a:t>
            </a:r>
            <a:r>
              <a:rPr lang="en-IE" dirty="0"/>
              <a:t>labels.</a:t>
            </a:r>
          </a:p>
          <a:p>
            <a:r>
              <a:rPr lang="en-IE" sz="3200" dirty="0"/>
              <a:t>The </a:t>
            </a:r>
            <a:r>
              <a:rPr lang="en-IE" sz="3200" b="1" dirty="0"/>
              <a:t>default </a:t>
            </a:r>
            <a:r>
              <a:rPr lang="en-IE" sz="3200" dirty="0"/>
              <a:t>case is optional; if no default is given, it may happen that no case is executed.</a:t>
            </a:r>
          </a:p>
          <a:p>
            <a:r>
              <a:rPr lang="en-IE" dirty="0"/>
              <a:t>Can </a:t>
            </a:r>
            <a:r>
              <a:rPr lang="en-IE" i="1" dirty="0"/>
              <a:t>switch</a:t>
            </a:r>
            <a:r>
              <a:rPr lang="en-IE" dirty="0"/>
              <a:t> on </a:t>
            </a:r>
            <a:r>
              <a:rPr lang="en-IE" b="1" dirty="0">
                <a:solidFill>
                  <a:srgbClr val="C00000"/>
                </a:solidFill>
              </a:rPr>
              <a:t>int</a:t>
            </a:r>
            <a:r>
              <a:rPr lang="en-IE" dirty="0"/>
              <a:t>, </a:t>
            </a:r>
            <a:r>
              <a:rPr lang="en-IE" b="1" dirty="0">
                <a:solidFill>
                  <a:srgbClr val="C00000"/>
                </a:solidFill>
              </a:rPr>
              <a:t>char</a:t>
            </a:r>
            <a:r>
              <a:rPr lang="en-IE" dirty="0"/>
              <a:t> or </a:t>
            </a:r>
            <a:r>
              <a:rPr lang="en-IE" b="1" dirty="0">
                <a:solidFill>
                  <a:srgbClr val="C00000"/>
                </a:solidFill>
              </a:rPr>
              <a:t>String</a:t>
            </a:r>
            <a:r>
              <a:rPr lang="en-IE" dirty="0"/>
              <a:t>.</a:t>
            </a:r>
          </a:p>
          <a:p>
            <a:endParaRPr lang="en-IE" sz="3200" dirty="0"/>
          </a:p>
          <a:p>
            <a:r>
              <a:rPr lang="en-IE" dirty="0"/>
              <a:t>Let’s use this now in ShopV2.2</a:t>
            </a:r>
            <a:endParaRPr lang="en-IE" sz="3200" dirty="0"/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8676816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59AE206-7EBA-4D33-8BC9-9D8158553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3A12E69-CF66-426E-8515-DD59A4BDE0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" y="4555055"/>
            <a:ext cx="5174047" cy="1723125"/>
          </a:xfrm>
        </p:spPr>
        <p:txBody>
          <a:bodyPr anchor="ctr">
            <a:normAutofit/>
          </a:bodyPr>
          <a:lstStyle/>
          <a:p>
            <a:pPr algn="r"/>
            <a:r>
              <a:rPr lang="en-IE" dirty="0"/>
              <a:t>Shop V2.2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D9AF4E7-D337-45B0-8C87-B511041217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56968" y="4555055"/>
            <a:ext cx="2537450" cy="1723125"/>
          </a:xfrm>
        </p:spPr>
        <p:txBody>
          <a:bodyPr anchor="ctr">
            <a:normAutofit/>
          </a:bodyPr>
          <a:lstStyle/>
          <a:p>
            <a:pPr algn="l"/>
            <a:r>
              <a:rPr lang="en-IE" dirty="0"/>
              <a:t>Incorporating a menu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437D937-A7F1-4011-92B4-328E5BE1B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1425" y="1322610"/>
            <a:ext cx="1682850" cy="168284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672F332-AF08-46C6-94F0-77684310D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46253" y="2707205"/>
            <a:ext cx="721796" cy="72179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4244EF8-D73A-40E1-BE73-D46E6B4B04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44374" y="2603243"/>
            <a:ext cx="220271" cy="22027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B84D7E8-4ECB-42D7-ADBF-01689B0F24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29087" y="0"/>
            <a:ext cx="4814914" cy="3429000"/>
          </a:xfrm>
          <a:custGeom>
            <a:avLst/>
            <a:gdLst>
              <a:gd name="connsiteX0" fmla="*/ 0 w 5699887"/>
              <a:gd name="connsiteY0" fmla="*/ 0 h 4059244"/>
              <a:gd name="connsiteX1" fmla="*/ 5699887 w 5699887"/>
              <a:gd name="connsiteY1" fmla="*/ 0 h 4059244"/>
              <a:gd name="connsiteX2" fmla="*/ 5699887 w 5699887"/>
              <a:gd name="connsiteY2" fmla="*/ 3944096 h 4059244"/>
              <a:gd name="connsiteX3" fmla="*/ 5525775 w 5699887"/>
              <a:gd name="connsiteY3" fmla="*/ 3980429 h 4059244"/>
              <a:gd name="connsiteX4" fmla="*/ 4663256 w 5699887"/>
              <a:gd name="connsiteY4" fmla="*/ 4059244 h 4059244"/>
              <a:gd name="connsiteX5" fmla="*/ 8566 w 5699887"/>
              <a:gd name="connsiteY5" fmla="*/ 67422 h 4059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99887" h="4059244">
                <a:moveTo>
                  <a:pt x="0" y="0"/>
                </a:moveTo>
                <a:lnTo>
                  <a:pt x="5699887" y="0"/>
                </a:lnTo>
                <a:lnTo>
                  <a:pt x="5699887" y="3944096"/>
                </a:lnTo>
                <a:lnTo>
                  <a:pt x="5525775" y="3980429"/>
                </a:lnTo>
                <a:cubicBezTo>
                  <a:pt x="5246154" y="4032190"/>
                  <a:pt x="4957865" y="4059244"/>
                  <a:pt x="4663256" y="4059244"/>
                </a:cubicBezTo>
                <a:cubicBezTo>
                  <a:pt x="2306390" y="4059244"/>
                  <a:pt x="353936" y="2327747"/>
                  <a:pt x="8566" y="67422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E8E38ED-369A-44C2-B635-0BED0E48A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9834" y="4776880"/>
            <a:ext cx="0" cy="1303020"/>
          </a:xfrm>
          <a:prstGeom prst="line">
            <a:avLst/>
          </a:prstGeom>
          <a:ln w="19050" cap="sq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74991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7C54F-25E0-4FBC-AA95-B1EADD8A2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V2.2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78F51-A6C3-4DFC-8DDB-3489B717A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22502"/>
            <a:ext cx="8305800" cy="4525963"/>
          </a:xfrm>
        </p:spPr>
        <p:txBody>
          <a:bodyPr>
            <a:normAutofit/>
          </a:bodyPr>
          <a:lstStyle/>
          <a:p>
            <a:r>
              <a:rPr lang="en-IE" sz="2800" b="1" dirty="0">
                <a:solidFill>
                  <a:srgbClr val="FF0000"/>
                </a:solidFill>
              </a:rPr>
              <a:t>Product</a:t>
            </a:r>
            <a:r>
              <a:rPr lang="en-IE" sz="2800" dirty="0"/>
              <a:t> – no changes</a:t>
            </a:r>
          </a:p>
          <a:p>
            <a:r>
              <a:rPr lang="en-IE" sz="2800" b="1" dirty="0">
                <a:solidFill>
                  <a:srgbClr val="FF40FF"/>
                </a:solidFill>
              </a:rPr>
              <a:t>Store</a:t>
            </a:r>
            <a:r>
              <a:rPr lang="en-IE" sz="2800" dirty="0"/>
              <a:t> – no changes</a:t>
            </a:r>
          </a:p>
          <a:p>
            <a:r>
              <a:rPr lang="en-IE" sz="2800" b="1" dirty="0">
                <a:solidFill>
                  <a:srgbClr val="F79646"/>
                </a:solidFill>
              </a:rPr>
              <a:t>Driver</a:t>
            </a:r>
            <a:r>
              <a:rPr lang="en-IE" sz="2800" b="1" dirty="0">
                <a:solidFill>
                  <a:srgbClr val="FF0000"/>
                </a:solidFill>
              </a:rPr>
              <a:t> </a:t>
            </a:r>
            <a:r>
              <a:rPr lang="en-IE" sz="2800" dirty="0"/>
              <a:t>will be changed to allow the user to choose options from a menu.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F48EAA3-F50D-4307-B4CB-4A28736D5065}"/>
              </a:ext>
            </a:extLst>
          </p:cNvPr>
          <p:cNvSpPr/>
          <p:nvPr/>
        </p:nvSpPr>
        <p:spPr>
          <a:xfrm>
            <a:off x="889187" y="3994944"/>
            <a:ext cx="1701613" cy="882318"/>
          </a:xfrm>
          <a:prstGeom prst="roundRect">
            <a:avLst/>
          </a:prstGeom>
          <a:ln w="635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b="1" dirty="0"/>
              <a:t>Driver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492F55B-1604-4D99-A22D-1190EB809A71}"/>
              </a:ext>
            </a:extLst>
          </p:cNvPr>
          <p:cNvSpPr/>
          <p:nvPr/>
        </p:nvSpPr>
        <p:spPr>
          <a:xfrm>
            <a:off x="6629400" y="5889625"/>
            <a:ext cx="1981200" cy="838200"/>
          </a:xfrm>
          <a:prstGeom prst="roundRect">
            <a:avLst/>
          </a:prstGeom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b="1" dirty="0"/>
              <a:t>Product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911C9948-2B5E-4D2E-9333-9172083D4EDA}"/>
              </a:ext>
            </a:extLst>
          </p:cNvPr>
          <p:cNvCxnSpPr>
            <a:cxnSpLocks/>
            <a:stCxn id="7" idx="3"/>
            <a:endCxn id="5" idx="0"/>
          </p:cNvCxnSpPr>
          <p:nvPr/>
        </p:nvCxnSpPr>
        <p:spPr>
          <a:xfrm>
            <a:off x="5731223" y="5484826"/>
            <a:ext cx="1888777" cy="404799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2A054C1-33CC-4C1E-8322-FBD58ACACEF3}"/>
              </a:ext>
            </a:extLst>
          </p:cNvPr>
          <p:cNvSpPr/>
          <p:nvPr/>
        </p:nvSpPr>
        <p:spPr>
          <a:xfrm>
            <a:off x="3412777" y="4883747"/>
            <a:ext cx="2318446" cy="1202157"/>
          </a:xfrm>
          <a:prstGeom prst="roundRect">
            <a:avLst/>
          </a:prstGeom>
          <a:ln w="44450">
            <a:solidFill>
              <a:srgbClr val="FF4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dirty="0"/>
              <a:t>Store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A0AEBB43-905A-41A4-BF93-53084BD3F5DF}"/>
              </a:ext>
            </a:extLst>
          </p:cNvPr>
          <p:cNvCxnSpPr>
            <a:cxnSpLocks/>
            <a:stCxn id="4" idx="3"/>
            <a:endCxn id="7" idx="0"/>
          </p:cNvCxnSpPr>
          <p:nvPr/>
        </p:nvCxnSpPr>
        <p:spPr>
          <a:xfrm>
            <a:off x="2590800" y="4436103"/>
            <a:ext cx="1981200" cy="447644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4495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23AC064-BC96-4F32-8AE1-B2FD38754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297661" y="280374"/>
            <a:ext cx="8579095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FB2456-06AF-47B3-A6E3-9CEB0AD94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763" y="433545"/>
            <a:ext cx="8354890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4300">
                <a:solidFill>
                  <a:srgbClr val="FFFFFF"/>
                </a:solidFill>
              </a:rPr>
              <a:t>Shop V2.1   				Shop V2.2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7C77BC-7138-40B1-A15B-20F57A494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72558" y="1522292"/>
            <a:ext cx="58293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B146403-F3D6-484B-B2ED-97F9565D0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87208" y="2596836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3FE90AF7-3E29-402B-BAC1-F362B8E05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894" y="2323018"/>
            <a:ext cx="3689493" cy="336439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136339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23AC064-BC96-4F32-8AE1-B2FD38754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297661" y="280374"/>
            <a:ext cx="8579095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FB2456-06AF-47B3-A6E3-9CEB0AD94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763" y="433545"/>
            <a:ext cx="8354890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4300">
                <a:solidFill>
                  <a:srgbClr val="FFFFFF"/>
                </a:solidFill>
              </a:rPr>
              <a:t>Shop V2.1   				Shop V2.2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7C77BC-7138-40B1-A15B-20F57A494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72558" y="1522292"/>
            <a:ext cx="58293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1EF7457C-28C9-4979-9CDF-685F19904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0255" y="2323018"/>
            <a:ext cx="3962395" cy="4253968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B146403-F3D6-484B-B2ED-97F9565D0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87208" y="2596836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3FE90AF7-3E29-402B-BAC1-F362B8E05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894" y="2323018"/>
            <a:ext cx="3689493" cy="336439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Arrow: Left 7">
            <a:extLst>
              <a:ext uri="{FF2B5EF4-FFF2-40B4-BE49-F238E27FC236}">
                <a16:creationId xmlns:a16="http://schemas.microsoft.com/office/drawing/2014/main" id="{787F2FB4-ABD0-4DCB-94A0-F82537323471}"/>
              </a:ext>
            </a:extLst>
          </p:cNvPr>
          <p:cNvSpPr/>
          <p:nvPr/>
        </p:nvSpPr>
        <p:spPr>
          <a:xfrm>
            <a:off x="6737937" y="2596836"/>
            <a:ext cx="457200" cy="2286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3" name="Arrow: Left 12">
            <a:extLst>
              <a:ext uri="{FF2B5EF4-FFF2-40B4-BE49-F238E27FC236}">
                <a16:creationId xmlns:a16="http://schemas.microsoft.com/office/drawing/2014/main" id="{A4F5F2A3-ECAC-4D9A-A759-38F59643D807}"/>
              </a:ext>
            </a:extLst>
          </p:cNvPr>
          <p:cNvSpPr/>
          <p:nvPr/>
        </p:nvSpPr>
        <p:spPr>
          <a:xfrm>
            <a:off x="7467600" y="3276600"/>
            <a:ext cx="457200" cy="2286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5" name="Arrow: Left 14">
            <a:extLst>
              <a:ext uri="{FF2B5EF4-FFF2-40B4-BE49-F238E27FC236}">
                <a16:creationId xmlns:a16="http://schemas.microsoft.com/office/drawing/2014/main" id="{93BD2CEA-4987-4F86-94C0-FF467ABBFFF4}"/>
              </a:ext>
            </a:extLst>
          </p:cNvPr>
          <p:cNvSpPr/>
          <p:nvPr/>
        </p:nvSpPr>
        <p:spPr>
          <a:xfrm>
            <a:off x="7467600" y="3505200"/>
            <a:ext cx="457200" cy="2286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7" name="Arrow: Left 16">
            <a:extLst>
              <a:ext uri="{FF2B5EF4-FFF2-40B4-BE49-F238E27FC236}">
                <a16:creationId xmlns:a16="http://schemas.microsoft.com/office/drawing/2014/main" id="{D1559D9B-1011-494C-96C6-F984E5D3EA80}"/>
              </a:ext>
            </a:extLst>
          </p:cNvPr>
          <p:cNvSpPr/>
          <p:nvPr/>
        </p:nvSpPr>
        <p:spPr>
          <a:xfrm>
            <a:off x="7620000" y="2895600"/>
            <a:ext cx="457200" cy="228600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469477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E78F2-2850-4C54-9666-C01EA6EC0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Shop V2.1 – main method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2EDE4E-2AEE-4B47-8748-E1E7C2898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894" y="2323018"/>
            <a:ext cx="3689493" cy="336439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Arrow: Left 2">
            <a:extLst>
              <a:ext uri="{FF2B5EF4-FFF2-40B4-BE49-F238E27FC236}">
                <a16:creationId xmlns:a16="http://schemas.microsoft.com/office/drawing/2014/main" id="{FCC1CC8E-229F-4487-B1FD-DE8DABBDF4D8}"/>
              </a:ext>
            </a:extLst>
          </p:cNvPr>
          <p:cNvSpPr/>
          <p:nvPr/>
        </p:nvSpPr>
        <p:spPr>
          <a:xfrm>
            <a:off x="3048000" y="2667000"/>
            <a:ext cx="685800" cy="2286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0702229-810C-4B34-8FE4-1D0CF6BFAA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1295400"/>
            <a:ext cx="3859894" cy="2308324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static void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main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[]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args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GB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Driver();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</a:t>
            </a:r>
            <a:r>
              <a:rPr kumimoji="0" lang="en-GB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.processOrder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GB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.printProducts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.printCurrentProducts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.printAverageProductPrice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.printCheapestProduct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.printProductsAboveAPrice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}</a:t>
            </a:r>
            <a:endParaRPr kumimoji="0" lang="en-VI" altLang="en-VI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68229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E78F2-2850-4C54-9666-C01EA6EC0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Shop V2.1 – main method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2EDE4E-2AEE-4B47-8748-E1E7C2898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894" y="2323018"/>
            <a:ext cx="3689493" cy="336439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 descr="A screenshot of a social media post&#10;&#10;Description generated with very high confidence">
            <a:extLst>
              <a:ext uri="{FF2B5EF4-FFF2-40B4-BE49-F238E27FC236}">
                <a16:creationId xmlns:a16="http://schemas.microsoft.com/office/drawing/2014/main" id="{10265D1D-2C7E-4700-B688-B90AA9DC8A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829050"/>
            <a:ext cx="4445000" cy="28575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4F903FBC-BD73-4050-A61F-40BAED5377DA}"/>
              </a:ext>
            </a:extLst>
          </p:cNvPr>
          <p:cNvSpPr/>
          <p:nvPr/>
        </p:nvSpPr>
        <p:spPr>
          <a:xfrm>
            <a:off x="1676400" y="5834649"/>
            <a:ext cx="2748787" cy="7429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Console Output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0CDB829-6C78-4687-A98E-5F2637460F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1295400"/>
            <a:ext cx="3859894" cy="2308324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static void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main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[]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args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GB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Driver();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</a:t>
            </a:r>
            <a:r>
              <a:rPr kumimoji="0" lang="en-GB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.processOrder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GB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.printProducts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.printCurrentProducts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.printAverageProductPrice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.printCheapestProduct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.printProductsAboveAPrice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}</a:t>
            </a:r>
            <a:endParaRPr kumimoji="0" lang="en-VI" altLang="en-VI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57645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E78F2-2850-4C54-9666-C01EA6EC0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Shop V2.1 – main method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2EDE4E-2AEE-4B47-8748-E1E7C2898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894" y="2323018"/>
            <a:ext cx="3689493" cy="336439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152B970C-FADA-438D-81F0-3BE76750CF7E}"/>
              </a:ext>
            </a:extLst>
          </p:cNvPr>
          <p:cNvSpPr/>
          <p:nvPr/>
        </p:nvSpPr>
        <p:spPr>
          <a:xfrm rot="18932632">
            <a:off x="3225387" y="4236406"/>
            <a:ext cx="3341024" cy="18719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000" dirty="0"/>
              <a:t>These methods will be in a menu system in </a:t>
            </a:r>
            <a:r>
              <a:rPr lang="en-IE" sz="2000" b="1" dirty="0">
                <a:solidFill>
                  <a:srgbClr val="FFFF00"/>
                </a:solidFill>
              </a:rPr>
              <a:t>V2.2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5A7D7AB7-5274-4D00-A878-AE81CEA4D7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1295400"/>
            <a:ext cx="3859894" cy="2308324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static void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main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[]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args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GB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Driver();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</a:t>
            </a:r>
            <a:r>
              <a:rPr kumimoji="0" lang="en-GB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.processOrder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GB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.printProducts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.printCurrentProducts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.printAverageProductPrice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.printCheapestProduct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.printProductsAboveAPrice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}</a:t>
            </a:r>
            <a:endParaRPr kumimoji="0" lang="en-VI" altLang="en-VI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0E6DF8-28B8-4205-8A64-F97916997564}"/>
              </a:ext>
            </a:extLst>
          </p:cNvPr>
          <p:cNvSpPr/>
          <p:nvPr/>
        </p:nvSpPr>
        <p:spPr>
          <a:xfrm>
            <a:off x="4800600" y="2094418"/>
            <a:ext cx="3276600" cy="133458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706021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E78F2-2850-4C54-9666-C01EA6EC046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16149" y="4114800"/>
            <a:ext cx="3200400" cy="2590799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l"/>
            <a:r>
              <a:rPr lang="en-IE" sz="3200" b="1" dirty="0">
                <a:solidFill>
                  <a:srgbClr val="FF0000"/>
                </a:solidFill>
              </a:rPr>
              <a:t>Shop V2.2:</a:t>
            </a:r>
            <a:br>
              <a:rPr lang="en-IE" sz="3200" b="1" dirty="0">
                <a:solidFill>
                  <a:srgbClr val="FF0000"/>
                </a:solidFill>
              </a:rPr>
            </a:br>
            <a:r>
              <a:rPr lang="en-IE" sz="3200" b="1" dirty="0">
                <a:solidFill>
                  <a:srgbClr val="FF0000"/>
                </a:solidFill>
              </a:rPr>
              <a:t>- </a:t>
            </a:r>
            <a:r>
              <a:rPr lang="en-IE" sz="3200" dirty="0"/>
              <a:t>new Driver   </a:t>
            </a:r>
            <a:br>
              <a:rPr lang="en-IE" sz="3200" dirty="0"/>
            </a:br>
            <a:r>
              <a:rPr lang="en-IE" sz="3200" dirty="0"/>
              <a:t>   constructor</a:t>
            </a:r>
            <a:br>
              <a:rPr lang="en-IE" sz="3200" dirty="0"/>
            </a:br>
            <a:r>
              <a:rPr lang="en-IE" sz="3200" b="1" dirty="0">
                <a:solidFill>
                  <a:srgbClr val="FF0000"/>
                </a:solidFill>
              </a:rPr>
              <a:t>- </a:t>
            </a:r>
            <a:r>
              <a:rPr lang="en-IE" sz="3200" dirty="0"/>
              <a:t>changes to the     </a:t>
            </a:r>
            <a:br>
              <a:rPr lang="en-IE" sz="3200" dirty="0"/>
            </a:br>
            <a:r>
              <a:rPr lang="en-IE" sz="3200" dirty="0"/>
              <a:t>   main method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FB164D-FEA4-4049-9206-31B9459C3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5405" y="2514600"/>
            <a:ext cx="3962395" cy="425396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Arrow: Left 4">
            <a:extLst>
              <a:ext uri="{FF2B5EF4-FFF2-40B4-BE49-F238E27FC236}">
                <a16:creationId xmlns:a16="http://schemas.microsoft.com/office/drawing/2014/main" id="{B24E43E3-4A1C-4B5C-A669-3C2D30503940}"/>
              </a:ext>
            </a:extLst>
          </p:cNvPr>
          <p:cNvSpPr/>
          <p:nvPr/>
        </p:nvSpPr>
        <p:spPr>
          <a:xfrm>
            <a:off x="7023087" y="2788418"/>
            <a:ext cx="457200" cy="2286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Arrow: Left 5">
            <a:extLst>
              <a:ext uri="{FF2B5EF4-FFF2-40B4-BE49-F238E27FC236}">
                <a16:creationId xmlns:a16="http://schemas.microsoft.com/office/drawing/2014/main" id="{41132E47-BE34-46BD-9876-833FFA764F28}"/>
              </a:ext>
            </a:extLst>
          </p:cNvPr>
          <p:cNvSpPr/>
          <p:nvPr/>
        </p:nvSpPr>
        <p:spPr>
          <a:xfrm>
            <a:off x="7752750" y="3468182"/>
            <a:ext cx="457200" cy="2286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" name="Arrow: Left 6">
            <a:extLst>
              <a:ext uri="{FF2B5EF4-FFF2-40B4-BE49-F238E27FC236}">
                <a16:creationId xmlns:a16="http://schemas.microsoft.com/office/drawing/2014/main" id="{822F4B50-48E2-4486-B514-CD9E8AD382F1}"/>
              </a:ext>
            </a:extLst>
          </p:cNvPr>
          <p:cNvSpPr/>
          <p:nvPr/>
        </p:nvSpPr>
        <p:spPr>
          <a:xfrm>
            <a:off x="7752750" y="3696782"/>
            <a:ext cx="457200" cy="2286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8" name="Arrow: Left 7">
            <a:extLst>
              <a:ext uri="{FF2B5EF4-FFF2-40B4-BE49-F238E27FC236}">
                <a16:creationId xmlns:a16="http://schemas.microsoft.com/office/drawing/2014/main" id="{4618B9D9-460D-45DE-B7ED-0D4750C57A5F}"/>
              </a:ext>
            </a:extLst>
          </p:cNvPr>
          <p:cNvSpPr/>
          <p:nvPr/>
        </p:nvSpPr>
        <p:spPr>
          <a:xfrm>
            <a:off x="7905150" y="3087182"/>
            <a:ext cx="457200" cy="228600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F99F1DB4-3993-4B9E-898E-BE00DE0BA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615" y="260915"/>
            <a:ext cx="5121915" cy="2062103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Driver() {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processOrder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runMenu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public static void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main(String[]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Driver();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0" lang="en-US" altLang="en-US" sz="6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4E4EB23-AEF3-4A5E-A694-868338C17611}"/>
              </a:ext>
            </a:extLst>
          </p:cNvPr>
          <p:cNvSpPr/>
          <p:nvPr/>
        </p:nvSpPr>
        <p:spPr>
          <a:xfrm>
            <a:off x="3409346" y="5523539"/>
            <a:ext cx="914400" cy="9163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800" dirty="0"/>
              <a:t>1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8171397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44ACFB69-5189-48EF-9436-110A484BA506}"/>
              </a:ext>
            </a:extLst>
          </p:cNvPr>
          <p:cNvSpPr txBox="1">
            <a:spLocks/>
          </p:cNvSpPr>
          <p:nvPr/>
        </p:nvSpPr>
        <p:spPr>
          <a:xfrm>
            <a:off x="216149" y="5257800"/>
            <a:ext cx="3200400" cy="14477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sz="3200" b="1" dirty="0">
                <a:solidFill>
                  <a:srgbClr val="FF0000"/>
                </a:solidFill>
              </a:rPr>
              <a:t>Shop V2.2 </a:t>
            </a:r>
            <a:r>
              <a:rPr lang="en-IE" sz="3200" dirty="0"/>
              <a:t>– new </a:t>
            </a:r>
            <a:r>
              <a:rPr lang="en-IE" sz="3200" b="1" i="1" dirty="0" err="1"/>
              <a:t>mainMenu</a:t>
            </a:r>
            <a:r>
              <a:rPr lang="en-IE" sz="3200" b="1" i="1" dirty="0"/>
              <a:t> </a:t>
            </a:r>
            <a:r>
              <a:rPr lang="en-IE" sz="3200" dirty="0"/>
              <a:t>method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94E52E4-ECD0-4F74-A2DA-79C4E8EFF207}"/>
              </a:ext>
            </a:extLst>
          </p:cNvPr>
          <p:cNvSpPr/>
          <p:nvPr/>
        </p:nvSpPr>
        <p:spPr>
          <a:xfrm>
            <a:off x="3409346" y="5523539"/>
            <a:ext cx="914400" cy="9163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800" dirty="0"/>
              <a:t>2</a:t>
            </a:r>
            <a:endParaRPr lang="en-IE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CAD6DA-F39C-45F5-9884-E59E0AB4F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654" y="145539"/>
            <a:ext cx="5701433" cy="353943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int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mainMenu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(){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6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"""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          Shop Menu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          ---------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             1) List the Products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             2) List the current products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             3) Display average product unit cost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             4) Display cheapest product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             5) List products that are more expensive than a given price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             0) Exit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          ==&gt;&gt; """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option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input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.nextInt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option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en-VI" altLang="en-VI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57D3C97-DA76-40FE-AADB-53E4D4C10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405" y="2514600"/>
            <a:ext cx="3962395" cy="425396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Arrow: Left 13">
            <a:extLst>
              <a:ext uri="{FF2B5EF4-FFF2-40B4-BE49-F238E27FC236}">
                <a16:creationId xmlns:a16="http://schemas.microsoft.com/office/drawing/2014/main" id="{F1559208-FC1F-4B7D-933D-0F3D313F2F79}"/>
              </a:ext>
            </a:extLst>
          </p:cNvPr>
          <p:cNvSpPr/>
          <p:nvPr/>
        </p:nvSpPr>
        <p:spPr>
          <a:xfrm>
            <a:off x="7023087" y="2788418"/>
            <a:ext cx="457200" cy="2286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5" name="Arrow: Left 14">
            <a:extLst>
              <a:ext uri="{FF2B5EF4-FFF2-40B4-BE49-F238E27FC236}">
                <a16:creationId xmlns:a16="http://schemas.microsoft.com/office/drawing/2014/main" id="{C0442656-1492-474B-A9E2-BBD8AC7A7298}"/>
              </a:ext>
            </a:extLst>
          </p:cNvPr>
          <p:cNvSpPr/>
          <p:nvPr/>
        </p:nvSpPr>
        <p:spPr>
          <a:xfrm>
            <a:off x="7752750" y="3468182"/>
            <a:ext cx="457200" cy="2286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6" name="Arrow: Left 15">
            <a:extLst>
              <a:ext uri="{FF2B5EF4-FFF2-40B4-BE49-F238E27FC236}">
                <a16:creationId xmlns:a16="http://schemas.microsoft.com/office/drawing/2014/main" id="{0A0293FC-DEA5-49F9-9874-EF4464E0E063}"/>
              </a:ext>
            </a:extLst>
          </p:cNvPr>
          <p:cNvSpPr/>
          <p:nvPr/>
        </p:nvSpPr>
        <p:spPr>
          <a:xfrm>
            <a:off x="7752750" y="3696782"/>
            <a:ext cx="457200" cy="2286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7" name="Arrow: Left 16">
            <a:extLst>
              <a:ext uri="{FF2B5EF4-FFF2-40B4-BE49-F238E27FC236}">
                <a16:creationId xmlns:a16="http://schemas.microsoft.com/office/drawing/2014/main" id="{FD5C0D30-D745-4DCE-A811-06EE1EF543A0}"/>
              </a:ext>
            </a:extLst>
          </p:cNvPr>
          <p:cNvSpPr/>
          <p:nvPr/>
        </p:nvSpPr>
        <p:spPr>
          <a:xfrm>
            <a:off x="7905150" y="3087182"/>
            <a:ext cx="457200" cy="228600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403219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25C4330A-3E1E-42A4-AD74-BF981B8DA5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287715"/>
            <a:ext cx="8909804" cy="649408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void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runMenu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(){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option =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mainMenu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while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(option !=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){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switch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(option){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case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printProducts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case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printCurrentProducts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case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3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printAverageProductPrice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case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4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printCheapestProduct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case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5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printProductsAboveAPrice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default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6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.println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"Invalid option entered: "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option);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}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//pause the program so that the user can read what we just printed to the terminal window</a:t>
            </a:r>
            <a:b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6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.println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\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n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Press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enter key to continue..."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input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.nextLine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input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.nextLine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 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//second read is required - bug in Scanner class; a String read is ignored straight after reading an int.</a:t>
            </a:r>
            <a:b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b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//display the main menu again</a:t>
            </a:r>
            <a:b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option =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mainMenu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//the user chose option 0, so exit the program</a:t>
            </a:r>
            <a:b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6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.println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"Exiting...bye"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6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exit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en-VI" altLang="en-VI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4ACFB69-5189-48EF-9436-110A484BA506}"/>
              </a:ext>
            </a:extLst>
          </p:cNvPr>
          <p:cNvSpPr txBox="1">
            <a:spLocks/>
          </p:cNvSpPr>
          <p:nvPr/>
        </p:nvSpPr>
        <p:spPr>
          <a:xfrm>
            <a:off x="5867400" y="5334000"/>
            <a:ext cx="3200400" cy="14477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sz="3200" b="1" dirty="0">
                <a:solidFill>
                  <a:srgbClr val="FF0000"/>
                </a:solidFill>
              </a:rPr>
              <a:t>Shop V2.2 </a:t>
            </a:r>
            <a:r>
              <a:rPr lang="en-IE" sz="3200" dirty="0"/>
              <a:t>– new </a:t>
            </a:r>
            <a:r>
              <a:rPr lang="en-IE" sz="3200" b="1" dirty="0" err="1"/>
              <a:t>runMenu</a:t>
            </a:r>
            <a:r>
              <a:rPr lang="en-IE" sz="3200" b="1" dirty="0"/>
              <a:t> </a:t>
            </a:r>
            <a:r>
              <a:rPr lang="en-IE" sz="3200" dirty="0"/>
              <a:t>method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94E52E4-ECD0-4F74-A2DA-79C4E8EFF207}"/>
              </a:ext>
            </a:extLst>
          </p:cNvPr>
          <p:cNvSpPr/>
          <p:nvPr/>
        </p:nvSpPr>
        <p:spPr>
          <a:xfrm>
            <a:off x="8116141" y="4648200"/>
            <a:ext cx="914400" cy="9163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800" dirty="0"/>
              <a:t>3</a:t>
            </a:r>
            <a:endParaRPr lang="en-I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E40E39-A37C-421E-A7E7-F03734002E38}"/>
              </a:ext>
            </a:extLst>
          </p:cNvPr>
          <p:cNvSpPr txBox="1"/>
          <p:nvPr/>
        </p:nvSpPr>
        <p:spPr>
          <a:xfrm>
            <a:off x="7094274" y="87727"/>
            <a:ext cx="762000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dirty="0"/>
              <a:t>V2.2</a:t>
            </a:r>
          </a:p>
        </p:txBody>
      </p:sp>
    </p:spTree>
    <p:extLst>
      <p:ext uri="{BB962C8B-B14F-4D97-AF65-F5344CB8AC3E}">
        <p14:creationId xmlns:p14="http://schemas.microsoft.com/office/powerpoint/2010/main" val="803369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">
            <a:extLst>
              <a:ext uri="{FF2B5EF4-FFF2-40B4-BE49-F238E27FC236}">
                <a16:creationId xmlns:a16="http://schemas.microsoft.com/office/drawing/2014/main" id="{CA6E9505-B63F-46E3-B1EB-48C93914AD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287715"/>
            <a:ext cx="8909804" cy="649408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void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runMenu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(){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option =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mainMenu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while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(option !=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){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switch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(option){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case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printProducts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case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printCurrentProducts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case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3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printAverageProductPrice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case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4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printCheapestProduct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case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5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printProductsAboveAPrice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default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6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.println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"Invalid option entered: "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option);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}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//pause the program so that the user can read what we just printed to the terminal window</a:t>
            </a:r>
            <a:b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6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.println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\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n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Press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enter key to continue..."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input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.nextLine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input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.nextLine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 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//second read is required - bug in Scanner class; a String read is ignored straight after reading an int.</a:t>
            </a:r>
            <a:b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b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//display the main menu again</a:t>
            </a:r>
            <a:b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option =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mainMenu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//the user chose option 0, so exit the program</a:t>
            </a:r>
            <a:b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6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.println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"Exiting...bye"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6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exit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en-VI" altLang="en-VI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4ACFB69-5189-48EF-9436-110A484BA506}"/>
              </a:ext>
            </a:extLst>
          </p:cNvPr>
          <p:cNvSpPr txBox="1">
            <a:spLocks/>
          </p:cNvSpPr>
          <p:nvPr/>
        </p:nvSpPr>
        <p:spPr>
          <a:xfrm>
            <a:off x="5867400" y="5334000"/>
            <a:ext cx="3200400" cy="144779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sz="3200" dirty="0"/>
              <a:t>Loop Control Variable is </a:t>
            </a:r>
            <a:r>
              <a:rPr lang="en-IE" sz="3200" b="1" dirty="0">
                <a:solidFill>
                  <a:srgbClr val="FF0000"/>
                </a:solidFill>
              </a:rPr>
              <a:t>option</a:t>
            </a:r>
            <a:endParaRPr lang="en-IE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C77606-1A40-415C-A639-BD4D45226A6C}"/>
              </a:ext>
            </a:extLst>
          </p:cNvPr>
          <p:cNvSpPr txBox="1"/>
          <p:nvPr/>
        </p:nvSpPr>
        <p:spPr>
          <a:xfrm>
            <a:off x="5176403" y="381000"/>
            <a:ext cx="1488613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E" dirty="0"/>
              <a:t>LCV initialised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60011A-7843-4AAB-8015-A9CF97666A6D}"/>
              </a:ext>
            </a:extLst>
          </p:cNvPr>
          <p:cNvSpPr txBox="1"/>
          <p:nvPr/>
        </p:nvSpPr>
        <p:spPr>
          <a:xfrm>
            <a:off x="5140787" y="914400"/>
            <a:ext cx="1176476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E" dirty="0"/>
              <a:t>LCV tested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03246B-F66A-49B9-AAEA-2960720AB58D}"/>
              </a:ext>
            </a:extLst>
          </p:cNvPr>
          <p:cNvSpPr txBox="1"/>
          <p:nvPr/>
        </p:nvSpPr>
        <p:spPr>
          <a:xfrm>
            <a:off x="3643556" y="4964668"/>
            <a:ext cx="1384097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E" dirty="0"/>
              <a:t>LCV changed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7F8F3E7-DC3C-4A89-879B-FEF1C282A8F9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2438400" y="565666"/>
            <a:ext cx="2738003" cy="1846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19B38DA-72F2-4B51-963F-75C6B4F9FB91}"/>
              </a:ext>
            </a:extLst>
          </p:cNvPr>
          <p:cNvCxnSpPr>
            <a:cxnSpLocks/>
          </p:cNvCxnSpPr>
          <p:nvPr/>
        </p:nvCxnSpPr>
        <p:spPr>
          <a:xfrm flipH="1">
            <a:off x="2057400" y="1143000"/>
            <a:ext cx="3083388" cy="14073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6B33945-2E68-416C-8FFF-602422585D1A}"/>
              </a:ext>
            </a:extLst>
          </p:cNvPr>
          <p:cNvCxnSpPr>
            <a:cxnSpLocks/>
          </p:cNvCxnSpPr>
          <p:nvPr/>
        </p:nvCxnSpPr>
        <p:spPr>
          <a:xfrm flipH="1">
            <a:off x="2667000" y="5170465"/>
            <a:ext cx="976556" cy="111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1C3B07A-64D7-4270-8549-9194AE58D133}"/>
              </a:ext>
            </a:extLst>
          </p:cNvPr>
          <p:cNvSpPr txBox="1"/>
          <p:nvPr/>
        </p:nvSpPr>
        <p:spPr>
          <a:xfrm>
            <a:off x="7094274" y="87727"/>
            <a:ext cx="762000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dirty="0"/>
              <a:t>V2.2</a:t>
            </a:r>
          </a:p>
        </p:txBody>
      </p:sp>
    </p:spTree>
    <p:extLst>
      <p:ext uri="{BB962C8B-B14F-4D97-AF65-F5344CB8AC3E}">
        <p14:creationId xmlns:p14="http://schemas.microsoft.com/office/powerpoint/2010/main" val="40710417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">
            <a:extLst>
              <a:ext uri="{FF2B5EF4-FFF2-40B4-BE49-F238E27FC236}">
                <a16:creationId xmlns:a16="http://schemas.microsoft.com/office/drawing/2014/main" id="{618C5502-FCF6-4BAA-8EB6-1DB2DD1A9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287715"/>
            <a:ext cx="8909804" cy="649408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void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runMenu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(){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option =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mainMenu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while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(option !=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){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switch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(option){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case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printProducts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case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printCurrentProducts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case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3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printAverageProductPrice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case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4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printCheapestProduct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case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5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printProductsAboveAPrice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default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6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.println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"Invalid option entered: "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option);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}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//pause the program so that the user can read what we just printed to the terminal window</a:t>
            </a:r>
            <a:b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6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.println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\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n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Press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enter key to continue..."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input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.nextLine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input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.nextLine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 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//second read is required - bug in Scanner class; a String read is ignored straight after reading an int.</a:t>
            </a:r>
            <a:b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b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//display the main menu again</a:t>
            </a:r>
            <a:b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option =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mainMenu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//the user chose option 0, so exit the program</a:t>
            </a:r>
            <a:b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6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.println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"Exiting...bye"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6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exit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en-VI" altLang="en-VI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4ACFB69-5189-48EF-9436-110A484BA506}"/>
              </a:ext>
            </a:extLst>
          </p:cNvPr>
          <p:cNvSpPr txBox="1">
            <a:spLocks/>
          </p:cNvSpPr>
          <p:nvPr/>
        </p:nvSpPr>
        <p:spPr>
          <a:xfrm>
            <a:off x="5867400" y="5334000"/>
            <a:ext cx="3200400" cy="14477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67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sz="3200" dirty="0"/>
              <a:t>Note the methods in the switch statement are those that were in the main method in V2.1</a:t>
            </a: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53E9FAAC-20E2-45D0-8129-BEA1C6415DC4}"/>
              </a:ext>
            </a:extLst>
          </p:cNvPr>
          <p:cNvSpPr/>
          <p:nvPr/>
        </p:nvSpPr>
        <p:spPr>
          <a:xfrm>
            <a:off x="0" y="1600199"/>
            <a:ext cx="914400" cy="1219201"/>
          </a:xfrm>
          <a:prstGeom prst="lef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9A96B7-9AB3-45D7-8830-24E01B7CD66F}"/>
              </a:ext>
            </a:extLst>
          </p:cNvPr>
          <p:cNvSpPr txBox="1"/>
          <p:nvPr/>
        </p:nvSpPr>
        <p:spPr>
          <a:xfrm>
            <a:off x="7094274" y="87727"/>
            <a:ext cx="762000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dirty="0"/>
              <a:t>V2.2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DA7B8ADA-56A7-4843-AABE-79DE089B0C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725775"/>
            <a:ext cx="3859894" cy="20313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static void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main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[]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args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GB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Driver();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</a:t>
            </a:r>
            <a:r>
              <a:rPr kumimoji="0" lang="en-GB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.processOrder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GB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.printProducts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.printCurrentProducts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.printAverageProductPrice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.printCheapestProduct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.printProductsAboveAPrice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}</a:t>
            </a:r>
            <a:endParaRPr kumimoji="0" lang="en-VI" altLang="en-VI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87CC11-D44E-4F3A-86D4-E7A7CE6ECA94}"/>
              </a:ext>
            </a:extLst>
          </p:cNvPr>
          <p:cNvSpPr txBox="1"/>
          <p:nvPr/>
        </p:nvSpPr>
        <p:spPr>
          <a:xfrm>
            <a:off x="8225954" y="1516320"/>
            <a:ext cx="762000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dirty="0"/>
              <a:t>V2.1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B0EA77D-A1BC-4012-9716-E4C5D9C4BA38}"/>
              </a:ext>
            </a:extLst>
          </p:cNvPr>
          <p:cNvSpPr/>
          <p:nvPr/>
        </p:nvSpPr>
        <p:spPr>
          <a:xfrm>
            <a:off x="5257800" y="1447800"/>
            <a:ext cx="2926031" cy="10668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400"/>
          </a:p>
        </p:txBody>
      </p:sp>
    </p:spTree>
    <p:extLst>
      <p:ext uri="{BB962C8B-B14F-4D97-AF65-F5344CB8AC3E}">
        <p14:creationId xmlns:p14="http://schemas.microsoft.com/office/powerpoint/2010/main" val="37046249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D70B121-56F4-4848-B38B-182089D90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241173" y="320040"/>
            <a:ext cx="8661654" cy="6217920"/>
          </a:xfrm>
          <a:prstGeom prst="rect">
            <a:avLst/>
          </a:prstGeom>
          <a:solidFill>
            <a:schemeClr val="tx1">
              <a:alpha val="8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D0278C-2FC2-4C63-AE51-49BD8E0F3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63877"/>
            <a:ext cx="2620771" cy="4930246"/>
          </a:xfrm>
        </p:spPr>
        <p:txBody>
          <a:bodyPr>
            <a:normAutofit/>
          </a:bodyPr>
          <a:lstStyle/>
          <a:p>
            <a:pPr algn="r"/>
            <a:r>
              <a:rPr lang="en-IE">
                <a:solidFill>
                  <a:schemeClr val="accent1"/>
                </a:solidFill>
              </a:rPr>
              <a:t>Menus and switch statement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D72A2C9-F3CA-4216-8BAD-FA4C970C3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A1D94-D2EF-4100-8E22-3C4393B0D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2023" y="963877"/>
            <a:ext cx="4783327" cy="4930246"/>
          </a:xfrm>
        </p:spPr>
        <p:txBody>
          <a:bodyPr anchor="ctr">
            <a:normAutofit/>
          </a:bodyPr>
          <a:lstStyle/>
          <a:p>
            <a:endParaRPr lang="en-IE" dirty="0"/>
          </a:p>
          <a:p>
            <a:r>
              <a:rPr lang="en-IE" dirty="0"/>
              <a:t>We will be revisiting this content in the next week or so!</a:t>
            </a:r>
          </a:p>
        </p:txBody>
      </p:sp>
    </p:spTree>
    <p:extLst>
      <p:ext uri="{BB962C8B-B14F-4D97-AF65-F5344CB8AC3E}">
        <p14:creationId xmlns:p14="http://schemas.microsoft.com/office/powerpoint/2010/main" val="40292473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" name="Picture 2" descr="A green question mark in a circle&#10;&#10;AI-generated content may be incorrect.">
            <a:extLst>
              <a:ext uri="{FF2B5EF4-FFF2-40B4-BE49-F238E27FC236}">
                <a16:creationId xmlns:a16="http://schemas.microsoft.com/office/drawing/2014/main" id="{89703B65-4AC4-4F75-A7EA-561A15FE36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9018" y="1676400"/>
            <a:ext cx="4525963" cy="45259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098786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1680</Words>
  <Application>Microsoft Office PowerPoint</Application>
  <PresentationFormat>On-screen Show (4:3)</PresentationFormat>
  <Paragraphs>135</Paragraphs>
  <Slides>35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Calibri</vt:lpstr>
      <vt:lpstr>Courier New</vt:lpstr>
      <vt:lpstr>JetBrains Mono</vt:lpstr>
      <vt:lpstr>Office Theme</vt:lpstr>
      <vt:lpstr>Shop V2.2 - An Array of Product with a basic menu</vt:lpstr>
      <vt:lpstr>Shop V2.0</vt:lpstr>
      <vt:lpstr>Recap - Shop V2.0 - Product</vt:lpstr>
      <vt:lpstr>Recap - Shop V2.0</vt:lpstr>
      <vt:lpstr>Shop V2.1</vt:lpstr>
      <vt:lpstr>Shop V2.1 – Lab Exercises</vt:lpstr>
      <vt:lpstr>Shop V2.1 – Lab Exercises</vt:lpstr>
      <vt:lpstr>Shop V2.1 – Lab Exercises</vt:lpstr>
      <vt:lpstr>Shop V2.2</vt:lpstr>
      <vt:lpstr>Shop V2.2 – Control with menu</vt:lpstr>
      <vt:lpstr>Shop V2.2 – Control with menu</vt:lpstr>
      <vt:lpstr>Shop V2.2 – Control with menu</vt:lpstr>
      <vt:lpstr>Shop V2.2 – Control with menu</vt:lpstr>
      <vt:lpstr>Shop V2.2 – Control with menu</vt:lpstr>
      <vt:lpstr>Shop V2.2 – Control with menu</vt:lpstr>
      <vt:lpstr>Shop V2.2 – Control with menu</vt:lpstr>
      <vt:lpstr>Shop V2.2 – Control with menu</vt:lpstr>
      <vt:lpstr>switch Statement</vt:lpstr>
      <vt:lpstr>The switch statement</vt:lpstr>
      <vt:lpstr>The switch  statement</vt:lpstr>
      <vt:lpstr>The switch statement</vt:lpstr>
      <vt:lpstr>Shop V2.2</vt:lpstr>
      <vt:lpstr>Shop V2.2</vt:lpstr>
      <vt:lpstr>Shop V2.1       Shop V2.2</vt:lpstr>
      <vt:lpstr>Shop V2.1       Shop V2.2</vt:lpstr>
      <vt:lpstr>Shop V2.1 – main method</vt:lpstr>
      <vt:lpstr>Shop V2.1 – main method</vt:lpstr>
      <vt:lpstr>Shop V2.1 – main method</vt:lpstr>
      <vt:lpstr>Shop V2.2: - new Driver       constructor - changes to the         main method</vt:lpstr>
      <vt:lpstr>PowerPoint Presentation</vt:lpstr>
      <vt:lpstr>PowerPoint Presentation</vt:lpstr>
      <vt:lpstr>PowerPoint Presentation</vt:lpstr>
      <vt:lpstr>PowerPoint Presentation</vt:lpstr>
      <vt:lpstr>Menus and switch statement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Recap of Primitive Arrays</dc:title>
  <dc:creator>Siobhan Drohan</dc:creator>
  <cp:lastModifiedBy>Siobhan Roche</cp:lastModifiedBy>
  <cp:revision>172</cp:revision>
  <cp:lastPrinted>2018-03-17T14:02:04Z</cp:lastPrinted>
  <dcterms:created xsi:type="dcterms:W3CDTF">2006-08-16T00:00:00Z</dcterms:created>
  <dcterms:modified xsi:type="dcterms:W3CDTF">2026-01-21T14:30:30Z</dcterms:modified>
</cp:coreProperties>
</file>