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25" r:id="rId2"/>
    <p:sldId id="649" r:id="rId3"/>
    <p:sldId id="616" r:id="rId4"/>
    <p:sldId id="645" r:id="rId5"/>
    <p:sldId id="606" r:id="rId6"/>
    <p:sldId id="605" r:id="rId7"/>
    <p:sldId id="610" r:id="rId8"/>
    <p:sldId id="611" r:id="rId9"/>
    <p:sldId id="614" r:id="rId10"/>
    <p:sldId id="646" r:id="rId11"/>
    <p:sldId id="652" r:id="rId12"/>
    <p:sldId id="618" r:id="rId13"/>
    <p:sldId id="619" r:id="rId14"/>
    <p:sldId id="620" r:id="rId15"/>
    <p:sldId id="623" r:id="rId16"/>
    <p:sldId id="621" r:id="rId17"/>
    <p:sldId id="624" r:id="rId18"/>
    <p:sldId id="622" r:id="rId19"/>
    <p:sldId id="647" r:id="rId20"/>
    <p:sldId id="653" r:id="rId21"/>
    <p:sldId id="638" r:id="rId22"/>
    <p:sldId id="628" r:id="rId23"/>
    <p:sldId id="641" r:id="rId24"/>
    <p:sldId id="642" r:id="rId25"/>
    <p:sldId id="634" r:id="rId26"/>
    <p:sldId id="34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1" autoAdjust="0"/>
    <p:restoredTop sz="89116" autoAdjust="0"/>
  </p:normalViewPr>
  <p:slideViewPr>
    <p:cSldViewPr>
      <p:cViewPr varScale="1">
        <p:scale>
          <a:sx n="61" d="100"/>
          <a:sy n="61" d="100"/>
        </p:scale>
        <p:origin x="920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19/01/2024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83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59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75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8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07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9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14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12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37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55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99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94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04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23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Should this be string </a:t>
            </a:r>
            <a:r>
              <a:rPr lang="en-GB"/>
              <a:t>object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1279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22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60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14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01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5017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/>
              <a:t>RECAP: Arrays </a:t>
            </a:r>
            <a:r>
              <a:rPr lang="en-IE" sz="4000" dirty="0"/>
              <a:t>and Classes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Meagher</a:t>
            </a:r>
          </a:p>
          <a:p>
            <a:r>
              <a:rPr lang="en-IE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B9DD8-AB12-B74E-EC0A-B039CDCBCA06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835F4691-4714-0D22-291E-FEAD071E03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Let’s Look at arrays of different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Arrays can store any type of data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Let’s look at some examples:</a:t>
            </a:r>
          </a:p>
          <a:p>
            <a:pPr marL="0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Array of primitives - </a:t>
            </a:r>
            <a:r>
              <a:rPr lang="en-GB" b="1" dirty="0" err="1"/>
              <a:t>int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Array of objects </a:t>
            </a:r>
            <a:r>
              <a:rPr lang="mr-IN" dirty="0"/>
              <a:t>–</a:t>
            </a:r>
            <a:r>
              <a:rPr lang="en-GB" dirty="0"/>
              <a:t> </a:t>
            </a:r>
            <a:r>
              <a:rPr lang="en-GB" b="1" dirty="0"/>
              <a:t>String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Array of objects - </a:t>
            </a:r>
            <a:r>
              <a:rPr lang="en-GB" b="1" dirty="0"/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113903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9534" y="5249288"/>
            <a:ext cx="5796972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String[] words = new String[4];</a:t>
            </a:r>
          </a:p>
          <a:p>
            <a:endParaRPr lang="en-US" sz="2800" dirty="0"/>
          </a:p>
          <a:p>
            <a:r>
              <a:rPr lang="en-US" sz="2800" dirty="0"/>
              <a:t>Product products[] = new Product[10];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05000" y="4868287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524000" y="1493282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6454522" y="2133600"/>
            <a:ext cx="3984878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418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27129" y="2514600"/>
            <a:ext cx="56428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1) Array of </a:t>
            </a:r>
            <a:r>
              <a:rPr lang="en-GB" sz="4800" b="1" dirty="0">
                <a:solidFill>
                  <a:srgbClr val="FF0000"/>
                </a:solidFill>
              </a:rPr>
              <a:t>Primitives</a:t>
            </a:r>
            <a:r>
              <a:rPr lang="en-GB" sz="4800" dirty="0">
                <a:solidFill>
                  <a:srgbClr val="FF0000"/>
                </a:solidFill>
              </a:rPr>
              <a:t> </a:t>
            </a:r>
            <a:br>
              <a:rPr lang="en-GB" sz="4800" dirty="0">
                <a:solidFill>
                  <a:srgbClr val="FF0000"/>
                </a:solidFill>
              </a:rPr>
            </a:br>
            <a:r>
              <a:rPr lang="en-GB" sz="4800" dirty="0">
                <a:solidFill>
                  <a:srgbClr val="FF0000"/>
                </a:solidFill>
              </a:rPr>
              <a:t>e.g. </a:t>
            </a:r>
            <a:r>
              <a:rPr lang="en-GB" sz="4800" dirty="0" err="1">
                <a:solidFill>
                  <a:srgbClr val="FF0000"/>
                </a:solidFill>
              </a:rPr>
              <a:t>int</a:t>
            </a:r>
            <a:endParaRPr lang="en-GB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014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1" y="1713934"/>
            <a:ext cx="240033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 err="1"/>
              <a:t>int</a:t>
            </a:r>
            <a:r>
              <a:rPr lang="en-GB" sz="2800" b="1" dirty="0"/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438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69205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EEE004B-0225-472D-BF88-0869C903969C}"/>
              </a:ext>
            </a:extLst>
          </p:cNvPr>
          <p:cNvSpPr/>
          <p:nvPr/>
        </p:nvSpPr>
        <p:spPr>
          <a:xfrm>
            <a:off x="1600201" y="2667000"/>
            <a:ext cx="348383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 = new </a:t>
            </a:r>
            <a:r>
              <a:rPr lang="en-GB" sz="2800" b="1" dirty="0" err="1"/>
              <a:t>int</a:t>
            </a:r>
            <a:r>
              <a:rPr lang="en-GB" sz="2800" b="1" dirty="0"/>
              <a:t>[4];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13005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549756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B2E9D6B-CAED-4A70-BB33-7EEDCB9DCA73}"/>
              </a:ext>
            </a:extLst>
          </p:cNvPr>
          <p:cNvSpPr/>
          <p:nvPr/>
        </p:nvSpPr>
        <p:spPr>
          <a:xfrm>
            <a:off x="8191500" y="4648200"/>
            <a:ext cx="723900" cy="523806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7" y="3657600"/>
            <a:ext cx="272587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numbers[2] = 18;</a:t>
            </a:r>
            <a:endParaRPr lang="en-IE" sz="28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94C33-B37D-4AD0-8F43-3767EAC60CE5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981200" y="4495800"/>
            <a:ext cx="2921794" cy="1981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directly accessing the element at index </a:t>
            </a:r>
            <a:r>
              <a:rPr lang="en-IE" sz="2400" b="1" dirty="0"/>
              <a:t>2</a:t>
            </a:r>
            <a:r>
              <a:rPr lang="en-IE" sz="2400" dirty="0"/>
              <a:t> and setting it to a value of </a:t>
            </a:r>
            <a:r>
              <a:rPr lang="en-IE" sz="2400" b="1" dirty="0"/>
              <a:t>18</a:t>
            </a:r>
            <a:r>
              <a:rPr lang="en-I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887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221398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905000" y="4658380"/>
            <a:ext cx="272587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numbers[0] = 12;</a:t>
            </a:r>
            <a:endParaRPr lang="en-IE" sz="28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933798" y="365760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E40A51-34F3-463B-A7BD-15C06077E7A1}"/>
              </a:ext>
            </a:extLst>
          </p:cNvPr>
          <p:cNvSpPr/>
          <p:nvPr/>
        </p:nvSpPr>
        <p:spPr>
          <a:xfrm>
            <a:off x="8153400" y="3733800"/>
            <a:ext cx="723900" cy="523806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1878806" y="5410200"/>
            <a:ext cx="2921794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setting the element at index </a:t>
            </a:r>
            <a:r>
              <a:rPr lang="en-IE" sz="2400" b="1" dirty="0"/>
              <a:t>0</a:t>
            </a:r>
            <a:r>
              <a:rPr lang="en-IE" sz="2400" dirty="0"/>
              <a:t> to a value of </a:t>
            </a:r>
            <a:r>
              <a:rPr lang="en-IE" sz="2400" b="1" dirty="0"/>
              <a:t>12</a:t>
            </a:r>
            <a:r>
              <a:rPr lang="en-I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62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905001" y="465838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numbers[0] = 12;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933798" y="365760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5503695" y="5638869"/>
            <a:ext cx="4859505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Here we are printing the contents of index location 2 </a:t>
            </a:r>
            <a:br>
              <a:rPr lang="en-IE" sz="2400" dirty="0"/>
            </a:br>
            <a:r>
              <a:rPr lang="en-IE" sz="2400" dirty="0"/>
              <a:t>i.e. 18 will be printed to the console.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A44A42-7850-424F-8580-12BEFA62B01D}"/>
              </a:ext>
            </a:extLst>
          </p:cNvPr>
          <p:cNvSpPr/>
          <p:nvPr/>
        </p:nvSpPr>
        <p:spPr>
          <a:xfrm>
            <a:off x="1828062" y="5682972"/>
            <a:ext cx="296459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print(numbers[2]);</a:t>
            </a:r>
            <a:endParaRPr lang="en-IE" sz="2800" b="1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5DF7F76-128F-4003-87B4-11F6C4CEE431}"/>
              </a:ext>
            </a:extLst>
          </p:cNvPr>
          <p:cNvSpPr/>
          <p:nvPr/>
        </p:nvSpPr>
        <p:spPr>
          <a:xfrm>
            <a:off x="6781800" y="4597365"/>
            <a:ext cx="2971800" cy="523806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751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52767" y="2514600"/>
            <a:ext cx="50199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2) Array of </a:t>
            </a:r>
            <a:r>
              <a:rPr lang="en-GB" sz="4800" b="1" dirty="0">
                <a:solidFill>
                  <a:srgbClr val="FF0000"/>
                </a:solidFill>
              </a:rPr>
              <a:t>Objects</a:t>
            </a:r>
            <a:r>
              <a:rPr lang="en-GB" sz="4800" dirty="0">
                <a:solidFill>
                  <a:srgbClr val="FF0000"/>
                </a:solidFill>
              </a:rPr>
              <a:t> </a:t>
            </a:r>
            <a:br>
              <a:rPr lang="en-GB" sz="4800" dirty="0">
                <a:solidFill>
                  <a:srgbClr val="FF0000"/>
                </a:solidFill>
              </a:rPr>
            </a:br>
            <a:r>
              <a:rPr lang="en-GB" sz="4800" dirty="0">
                <a:solidFill>
                  <a:srgbClr val="FF0000"/>
                </a:solidFill>
              </a:rPr>
              <a:t>e.g. String</a:t>
            </a:r>
          </a:p>
        </p:txBody>
      </p:sp>
    </p:spTree>
    <p:extLst>
      <p:ext uri="{BB962C8B-B14F-4D97-AF65-F5344CB8AC3E}">
        <p14:creationId xmlns:p14="http://schemas.microsoft.com/office/powerpoint/2010/main" val="125272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9534" y="5249288"/>
            <a:ext cx="5796972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String[] words = new String[4];</a:t>
            </a:r>
          </a:p>
          <a:p>
            <a:endParaRPr lang="en-US" sz="2800" dirty="0"/>
          </a:p>
          <a:p>
            <a:r>
              <a:rPr lang="en-US" sz="2800" dirty="0"/>
              <a:t>Product products[] = new Product[10];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05000" y="4868287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409700" y="4808875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6760930" y="5325488"/>
            <a:ext cx="1849671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1477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</a:t>
            </a:r>
            <a:r>
              <a:rPr lang="en-IE" dirty="0"/>
              <a:t> object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String[]  words;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737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</a:t>
            </a:r>
            <a:r>
              <a:rPr lang="en-IE" dirty="0"/>
              <a:t> object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EE58AEEF-1D90-435B-8AAA-3C77AE95E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1B024A7-891F-471A-AE86-7C9072B48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506783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1AE63D-0C46-41DC-9511-3C84E8262E47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A222CAC-4172-4D78-BE9B-A6AEA8BD943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 = new String[4];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735103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words[1] = “Dog”;</a:t>
            </a:r>
            <a:endParaRPr lang="en-IE" sz="28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29103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050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words[1] = “Dog”;</a:t>
            </a:r>
            <a:endParaRPr lang="en-IE" sz="28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981200" y="4495800"/>
            <a:ext cx="2921794" cy="1981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directly accessing the element at index </a:t>
            </a:r>
            <a:r>
              <a:rPr lang="en-IE" sz="2400" b="1" dirty="0"/>
              <a:t>1</a:t>
            </a:r>
            <a:r>
              <a:rPr lang="en-IE" sz="2400" dirty="0"/>
              <a:t> and setting it to a value of </a:t>
            </a:r>
            <a:r>
              <a:rPr lang="en-IE" sz="2400" b="1" dirty="0"/>
              <a:t>“Dog”</a:t>
            </a:r>
            <a:r>
              <a:rPr lang="en-IE" sz="24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/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37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words[1] = “Dog”;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373832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5855738-CB5F-4BE9-A931-A6FAFD6C3095}"/>
              </a:ext>
            </a:extLst>
          </p:cNvPr>
          <p:cNvSpPr/>
          <p:nvPr/>
        </p:nvSpPr>
        <p:spPr>
          <a:xfrm>
            <a:off x="1943323" y="4498905"/>
            <a:ext cx="277088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words[3] = “Cat”;</a:t>
            </a:r>
            <a:endParaRPr lang="en-IE" sz="28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7ED7B-87B8-477D-A072-D77A87AB3940}"/>
              </a:ext>
            </a:extLst>
          </p:cNvPr>
          <p:cNvSpPr/>
          <p:nvPr/>
        </p:nvSpPr>
        <p:spPr>
          <a:xfrm>
            <a:off x="8997554" y="4953001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“Cat”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D1BFE1-5776-4AD4-91A3-C7811BBE3D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162801" y="5084367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223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words[1] = “Dog”;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981200" y="5410200"/>
            <a:ext cx="2921794" cy="106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The element at index </a:t>
            </a:r>
            <a:r>
              <a:rPr lang="en-IE" sz="2400" b="1" dirty="0"/>
              <a:t>3 </a:t>
            </a:r>
            <a:r>
              <a:rPr lang="en-IE" sz="2400" dirty="0"/>
              <a:t>is set to </a:t>
            </a:r>
            <a:r>
              <a:rPr lang="en-IE" sz="2400" b="1" dirty="0"/>
              <a:t>“Cat”</a:t>
            </a:r>
            <a:r>
              <a:rPr lang="en-IE" sz="24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/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5855738-CB5F-4BE9-A931-A6FAFD6C3095}"/>
              </a:ext>
            </a:extLst>
          </p:cNvPr>
          <p:cNvSpPr/>
          <p:nvPr/>
        </p:nvSpPr>
        <p:spPr>
          <a:xfrm>
            <a:off x="1943323" y="4498905"/>
            <a:ext cx="277088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words[3] = “Cat”;</a:t>
            </a:r>
            <a:endParaRPr lang="en-IE" sz="28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7ED7B-87B8-477D-A072-D77A87AB3940}"/>
              </a:ext>
            </a:extLst>
          </p:cNvPr>
          <p:cNvSpPr/>
          <p:nvPr/>
        </p:nvSpPr>
        <p:spPr>
          <a:xfrm>
            <a:off x="8997554" y="4953001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“Cat”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D1BFE1-5776-4AD4-91A3-C7811BBE3D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162801" y="5084367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376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C73A-96E2-4D45-94FF-93801CF9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IE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C6EEC-0018-44F9-94E2-EC04875A3D13}"/>
              </a:ext>
            </a:extLst>
          </p:cNvPr>
          <p:cNvSpPr/>
          <p:nvPr/>
        </p:nvSpPr>
        <p:spPr>
          <a:xfrm>
            <a:off x="1962150" y="1905000"/>
            <a:ext cx="4572000" cy="415498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sz="2400" dirty="0"/>
              <a:t>String words[];</a:t>
            </a:r>
          </a:p>
          <a:p>
            <a:endParaRPr lang="en-IE" sz="2400" dirty="0"/>
          </a:p>
          <a:p>
            <a:r>
              <a:rPr lang="en-IE" sz="2400" dirty="0"/>
              <a:t>words = new String[4];</a:t>
            </a:r>
          </a:p>
          <a:p>
            <a:endParaRPr lang="en-IE" sz="2400" dirty="0"/>
          </a:p>
          <a:p>
            <a:r>
              <a:rPr lang="en-IE" sz="2400" dirty="0"/>
              <a:t>words[1] = "Dog";</a:t>
            </a:r>
          </a:p>
          <a:p>
            <a:r>
              <a:rPr lang="en-IE" sz="2400" dirty="0"/>
              <a:t>words[3] = "Cat";</a:t>
            </a:r>
          </a:p>
          <a:p>
            <a:endParaRPr lang="en-IE" sz="2400" dirty="0"/>
          </a:p>
          <a:p>
            <a:r>
              <a:rPr lang="en-IE" sz="2400" dirty="0"/>
              <a:t>for (int </a:t>
            </a:r>
            <a:r>
              <a:rPr lang="en-IE" sz="2400" dirty="0" err="1"/>
              <a:t>i</a:t>
            </a:r>
            <a:r>
              <a:rPr lang="en-IE" sz="2400" dirty="0"/>
              <a:t>=0; </a:t>
            </a:r>
            <a:r>
              <a:rPr lang="en-IE" sz="2400" dirty="0" err="1"/>
              <a:t>i</a:t>
            </a:r>
            <a:r>
              <a:rPr lang="en-IE" sz="2400" dirty="0"/>
              <a:t> &lt; </a:t>
            </a:r>
            <a:r>
              <a:rPr lang="en-IE" sz="2400" dirty="0" err="1"/>
              <a:t>words.length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++)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System.out.println</a:t>
            </a:r>
            <a:r>
              <a:rPr lang="en-IE" sz="2400" dirty="0"/>
              <a:t>(words[</a:t>
            </a:r>
            <a:r>
              <a:rPr lang="en-IE" sz="2400" dirty="0" err="1"/>
              <a:t>i</a:t>
            </a:r>
            <a:r>
              <a:rPr lang="en-IE" sz="2400" dirty="0"/>
              <a:t>]);</a:t>
            </a:r>
          </a:p>
          <a:p>
            <a:r>
              <a:rPr lang="en-IE" sz="2400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F522C-324C-4244-BC08-38B2D6434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743201"/>
            <a:ext cx="1600200" cy="216323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06F276C-9020-447B-8C45-23F4BE50216C}"/>
              </a:ext>
            </a:extLst>
          </p:cNvPr>
          <p:cNvSpPr/>
          <p:nvPr/>
        </p:nvSpPr>
        <p:spPr>
          <a:xfrm>
            <a:off x="6781800" y="3429000"/>
            <a:ext cx="1447800" cy="99060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79575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72003" y="2514600"/>
            <a:ext cx="49814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3) Array of </a:t>
            </a:r>
            <a:r>
              <a:rPr lang="en-GB" sz="4800" b="1" dirty="0">
                <a:solidFill>
                  <a:srgbClr val="FF0000"/>
                </a:solidFill>
              </a:rPr>
              <a:t>Objects</a:t>
            </a:r>
            <a:r>
              <a:rPr lang="en-GB" sz="4800" dirty="0">
                <a:solidFill>
                  <a:srgbClr val="FF0000"/>
                </a:solidFill>
              </a:rPr>
              <a:t> </a:t>
            </a:r>
            <a:br>
              <a:rPr lang="en-GB" sz="4800" dirty="0">
                <a:solidFill>
                  <a:srgbClr val="FF0000"/>
                </a:solidFill>
              </a:rPr>
            </a:br>
            <a:r>
              <a:rPr lang="en-GB" sz="4800" dirty="0">
                <a:solidFill>
                  <a:srgbClr val="FF0000"/>
                </a:solidFill>
              </a:rPr>
              <a:t>e.g. Product</a:t>
            </a:r>
          </a:p>
        </p:txBody>
      </p:sp>
    </p:spTree>
    <p:extLst>
      <p:ext uri="{BB962C8B-B14F-4D97-AF65-F5344CB8AC3E}">
        <p14:creationId xmlns:p14="http://schemas.microsoft.com/office/powerpoint/2010/main" val="1109309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9534" y="5249288"/>
            <a:ext cx="5796972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String[] words = new String[4];</a:t>
            </a:r>
          </a:p>
          <a:p>
            <a:endParaRPr lang="en-US" sz="2800" dirty="0"/>
          </a:p>
          <a:p>
            <a:r>
              <a:rPr lang="en-US" sz="2800" dirty="0"/>
              <a:t>Product products[] = new Product[10];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05000" y="4868287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409700" y="4808875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7842496" y="6184233"/>
            <a:ext cx="1849671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131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55B6CE-98BC-4863-A435-E8D7EA6BEC92}"/>
              </a:ext>
            </a:extLst>
          </p:cNvPr>
          <p:cNvSpPr txBox="1"/>
          <p:nvPr/>
        </p:nvSpPr>
        <p:spPr>
          <a:xfrm>
            <a:off x="1981200" y="1568270"/>
            <a:ext cx="22098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b="1" dirty="0"/>
              <a:t>Object</a:t>
            </a:r>
            <a:r>
              <a:rPr lang="en-IE" sz="2400" dirty="0"/>
              <a:t> Type/ </a:t>
            </a:r>
            <a:r>
              <a:rPr lang="en-IE" sz="2400" b="1" dirty="0"/>
              <a:t>Class</a:t>
            </a:r>
            <a:r>
              <a:rPr lang="en-IE" sz="2400" dirty="0"/>
              <a:t>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58B3F-4693-4F5F-8CA0-902626A3E2B9}"/>
              </a:ext>
            </a:extLst>
          </p:cNvPr>
          <p:cNvSpPr txBox="1"/>
          <p:nvPr/>
        </p:nvSpPr>
        <p:spPr>
          <a:xfrm>
            <a:off x="2018270" y="5010170"/>
            <a:ext cx="2895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Fields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the attributes of the 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8F948-94CE-4F6C-A8F5-087C6D29DD24}"/>
              </a:ext>
            </a:extLst>
          </p:cNvPr>
          <p:cNvSpPr txBox="1"/>
          <p:nvPr/>
        </p:nvSpPr>
        <p:spPr>
          <a:xfrm>
            <a:off x="1981200" y="2933004"/>
            <a:ext cx="2895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Methods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the behaviours of the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E7FE7-3161-8A42-9637-FA0E4CA16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033027"/>
            <a:ext cx="12503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Product Class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649CED-7842-4BA2-B14B-FC72F80AE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63" y="1558449"/>
            <a:ext cx="4434081" cy="46321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579DCA-FE64-4FC1-AAA9-ADDA0D7F248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191000" y="1676400"/>
            <a:ext cx="1676400" cy="30736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3AA25F20-2097-4621-9CA3-6717EA579AC4}"/>
              </a:ext>
            </a:extLst>
          </p:cNvPr>
          <p:cNvSpPr/>
          <p:nvPr/>
        </p:nvSpPr>
        <p:spPr>
          <a:xfrm>
            <a:off x="4876800" y="1828800"/>
            <a:ext cx="990600" cy="313265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636477FE-7B3F-4ADE-9E51-FD56C296A799}"/>
              </a:ext>
            </a:extLst>
          </p:cNvPr>
          <p:cNvSpPr/>
          <p:nvPr/>
        </p:nvSpPr>
        <p:spPr>
          <a:xfrm>
            <a:off x="4913870" y="5010170"/>
            <a:ext cx="830992" cy="1127613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309116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1" y="1713934"/>
            <a:ext cx="316073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Product[]  products;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onut 9"/>
          <p:cNvSpPr/>
          <p:nvPr/>
        </p:nvSpPr>
        <p:spPr>
          <a:xfrm>
            <a:off x="1752600" y="1705353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66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307898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Product[] products;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82C9026F-8C21-40EF-BA75-F2B97FEA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A448E6C-2F98-405E-81FF-A05427B5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A81E7B-2042-4A9F-9945-29A3312BC850}"/>
              </a:ext>
            </a:extLst>
          </p:cNvPr>
          <p:cNvGraphicFramePr>
            <a:graphicFrameLocks noGrp="1"/>
          </p:cNvGraphicFramePr>
          <p:nvPr/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666244-D9B2-4D23-AC04-D0237356808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B38FEB8-4014-4315-901A-71E6B73850EC}"/>
              </a:ext>
            </a:extLst>
          </p:cNvPr>
          <p:cNvSpPr/>
          <p:nvPr/>
        </p:nvSpPr>
        <p:spPr>
          <a:xfrm>
            <a:off x="1862692" y="2667001"/>
            <a:ext cx="365734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b="1" dirty="0"/>
              <a:t>products = new Product[4];</a:t>
            </a:r>
            <a:endParaRPr lang="en-IE" sz="2400" b="1" dirty="0"/>
          </a:p>
        </p:txBody>
      </p:sp>
      <p:sp>
        <p:nvSpPr>
          <p:cNvPr id="16" name="Donut 15"/>
          <p:cNvSpPr/>
          <p:nvPr/>
        </p:nvSpPr>
        <p:spPr>
          <a:xfrm>
            <a:off x="1731320" y="2590800"/>
            <a:ext cx="3810000" cy="66678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85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>
            <a:cxnSpLocks/>
          </p:cNvCxnSpPr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82C9026F-8C21-40EF-BA75-F2B97FEA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A448E6C-2F98-405E-81FF-A05427B5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A81E7B-2042-4A9F-9945-29A3312BC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12650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666244-D9B2-4D23-AC04-D0237356808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4BB50E-498C-408C-8BB5-F3FD1F203054}"/>
              </a:ext>
            </a:extLst>
          </p:cNvPr>
          <p:cNvSpPr/>
          <p:nvPr/>
        </p:nvSpPr>
        <p:spPr>
          <a:xfrm>
            <a:off x="8115301" y="1665002"/>
            <a:ext cx="2400302" cy="2362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2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CF4F11-4968-4890-835E-30B3F0FE4BE3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239001" y="2846102"/>
            <a:ext cx="876300" cy="13335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4421415-A837-43D5-A794-3FBB984DD20A}"/>
              </a:ext>
            </a:extLst>
          </p:cNvPr>
          <p:cNvSpPr/>
          <p:nvPr/>
        </p:nvSpPr>
        <p:spPr>
          <a:xfrm>
            <a:off x="8261963" y="1948140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productName</a:t>
            </a:r>
            <a:endParaRPr lang="en-IE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02807-3480-4C80-98A9-9CA8876A967C}"/>
              </a:ext>
            </a:extLst>
          </p:cNvPr>
          <p:cNvSpPr txBox="1"/>
          <p:nvPr/>
        </p:nvSpPr>
        <p:spPr>
          <a:xfrm>
            <a:off x="9693441" y="1911682"/>
            <a:ext cx="588551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“TV”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54C041-19A9-4B3E-8A1D-236E192CAFDB}"/>
              </a:ext>
            </a:extLst>
          </p:cNvPr>
          <p:cNvSpPr/>
          <p:nvPr/>
        </p:nvSpPr>
        <p:spPr>
          <a:xfrm>
            <a:off x="1752601" y="5562600"/>
            <a:ext cx="7850675" cy="523220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products[1] =  new Product(“TV”, 123, 12.99, true);</a:t>
            </a:r>
            <a:endParaRPr lang="en-IE" sz="2800" b="1" dirty="0"/>
          </a:p>
        </p:txBody>
      </p:sp>
      <p:sp>
        <p:nvSpPr>
          <p:cNvPr id="24" name="Donut 23"/>
          <p:cNvSpPr/>
          <p:nvPr/>
        </p:nvSpPr>
        <p:spPr>
          <a:xfrm>
            <a:off x="1523999" y="5467350"/>
            <a:ext cx="8229600" cy="823586"/>
          </a:xfrm>
          <a:prstGeom prst="donut">
            <a:avLst>
              <a:gd name="adj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53C58B-3B28-4CDE-BC83-8FAF66892E15}"/>
              </a:ext>
            </a:extLst>
          </p:cNvPr>
          <p:cNvSpPr/>
          <p:nvPr/>
        </p:nvSpPr>
        <p:spPr>
          <a:xfrm>
            <a:off x="2057400" y="1713934"/>
            <a:ext cx="307898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Product[] products;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C2202A-AFB8-4223-B669-A5CBBA31F965}"/>
              </a:ext>
            </a:extLst>
          </p:cNvPr>
          <p:cNvSpPr/>
          <p:nvPr/>
        </p:nvSpPr>
        <p:spPr>
          <a:xfrm>
            <a:off x="1862692" y="2667001"/>
            <a:ext cx="365734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b="1" dirty="0">
                <a:solidFill>
                  <a:schemeClr val="bg1">
                    <a:lumMod val="65000"/>
                  </a:schemeClr>
                </a:solidFill>
              </a:rPr>
              <a:t>products = new Product[4];</a:t>
            </a:r>
            <a:endParaRPr lang="en-IE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Text Box 11">
            <a:extLst>
              <a:ext uri="{FF2B5EF4-FFF2-40B4-BE49-F238E27FC236}">
                <a16:creationId xmlns:a16="http://schemas.microsoft.com/office/drawing/2014/main" id="{DB3672BC-219A-4853-9ECF-A60DD0990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D2CC5A-9E2D-440F-A8BD-3BFC4BEBD72A}"/>
              </a:ext>
            </a:extLst>
          </p:cNvPr>
          <p:cNvSpPr/>
          <p:nvPr/>
        </p:nvSpPr>
        <p:spPr>
          <a:xfrm>
            <a:off x="8229600" y="2398658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productCode</a:t>
            </a:r>
            <a:endParaRPr lang="en-IE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E34246-716F-420B-8073-C35F36698815}"/>
              </a:ext>
            </a:extLst>
          </p:cNvPr>
          <p:cNvSpPr txBox="1"/>
          <p:nvPr/>
        </p:nvSpPr>
        <p:spPr>
          <a:xfrm>
            <a:off x="9661077" y="2362200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BA3F1A-7FE7-4A91-B6BF-32970F8CDC86}"/>
              </a:ext>
            </a:extLst>
          </p:cNvPr>
          <p:cNvSpPr/>
          <p:nvPr/>
        </p:nvSpPr>
        <p:spPr>
          <a:xfrm>
            <a:off x="8229600" y="2822104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unitCost</a:t>
            </a:r>
            <a:endParaRPr lang="en-IE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2B87EE-CDD6-4067-AF4C-6ECC77027AAE}"/>
              </a:ext>
            </a:extLst>
          </p:cNvPr>
          <p:cNvSpPr txBox="1"/>
          <p:nvPr/>
        </p:nvSpPr>
        <p:spPr>
          <a:xfrm>
            <a:off x="9661077" y="2785646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12.99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3C7491-A235-4F39-9B44-03668014CD0C}"/>
              </a:ext>
            </a:extLst>
          </p:cNvPr>
          <p:cNvSpPr/>
          <p:nvPr/>
        </p:nvSpPr>
        <p:spPr>
          <a:xfrm>
            <a:off x="8233936" y="3242847"/>
            <a:ext cx="1219200" cy="4675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inCurrentProductLine</a:t>
            </a:r>
            <a:endParaRPr lang="en-IE" sz="1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2BC190-CD28-4CA7-BDD3-0AD482A389E9}"/>
              </a:ext>
            </a:extLst>
          </p:cNvPr>
          <p:cNvSpPr txBox="1"/>
          <p:nvPr/>
        </p:nvSpPr>
        <p:spPr>
          <a:xfrm>
            <a:off x="9615241" y="3270586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91849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C73A-96E2-4D45-94FF-93801CF9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Example using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object array</a:t>
            </a:r>
            <a:endParaRPr lang="en-IE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4DC3D5-32D7-4A02-9286-6E8FA6E05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73" y="1672860"/>
            <a:ext cx="8001000" cy="415498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public </a:t>
            </a:r>
            <a:r>
              <a:rPr lang="en-VI" altLang="en-VI" sz="24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2400" dirty="0" err="1">
                <a:solidFill>
                  <a:srgbClr val="00627A"/>
                </a:solidFill>
                <a:latin typeface="JetBrains Mono"/>
              </a:rPr>
              <a:t>listProducts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() {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/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""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/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for 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2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&lt; </a:t>
            </a:r>
            <a:r>
              <a:rPr lang="en-GB" altLang="en-VI" sz="2400" dirty="0">
                <a:solidFill>
                  <a:srgbClr val="871094"/>
                </a:solidFill>
                <a:latin typeface="JetBrains Mono"/>
              </a:rPr>
              <a:t>total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++) {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+=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": " 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+ </a:t>
            </a:r>
            <a:r>
              <a:rPr lang="en-VI" altLang="en-VI" sz="2400" dirty="0">
                <a:solidFill>
                  <a:srgbClr val="871094"/>
                </a:solidFill>
                <a:latin typeface="JetBrains Mono"/>
              </a:rPr>
              <a:t>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]</a:t>
            </a:r>
            <a:r>
              <a:rPr lang="en-GB" altLang="en-VI" sz="2400" dirty="0">
                <a:solidFill>
                  <a:srgbClr val="080808"/>
                </a:solidFill>
                <a:latin typeface="JetBrains Mono"/>
              </a:rPr>
              <a:t>.</a:t>
            </a:r>
            <a:r>
              <a:rPr lang="en-GB" altLang="en-VI" sz="2400" dirty="0" err="1">
                <a:solidFill>
                  <a:srgbClr val="080808"/>
                </a:solidFill>
                <a:latin typeface="JetBrains Mono"/>
              </a:rPr>
              <a:t>toString</a:t>
            </a:r>
            <a:r>
              <a:rPr lang="en-GB" altLang="en-VI" sz="2400" dirty="0">
                <a:solidFill>
                  <a:srgbClr val="080808"/>
                </a:solidFill>
                <a:latin typeface="JetBrains Mono"/>
              </a:rPr>
              <a:t>()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2400" dirty="0">
                <a:solidFill>
                  <a:srgbClr val="0037A6"/>
                </a:solidFill>
                <a:latin typeface="JetBrains Mono"/>
              </a:rPr>
              <a:t>\n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}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/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return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5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FEA61-A42F-42C7-AC5F-4B454560AF74}"/>
              </a:ext>
            </a:extLst>
          </p:cNvPr>
          <p:cNvSpPr txBox="1"/>
          <p:nvPr/>
        </p:nvSpPr>
        <p:spPr>
          <a:xfrm>
            <a:off x="2257547" y="6098128"/>
            <a:ext cx="7800853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2000" dirty="0"/>
              <a:t>Returns a String containing all the products stored in the primitive array.  </a:t>
            </a:r>
            <a:endParaRPr lang="en-VI" sz="2000" dirty="0"/>
          </a:p>
        </p:txBody>
      </p:sp>
    </p:spTree>
    <p:extLst>
      <p:ext uri="{BB962C8B-B14F-4D97-AF65-F5344CB8AC3E}">
        <p14:creationId xmlns:p14="http://schemas.microsoft.com/office/powerpoint/2010/main" val="825745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3268</TotalTime>
  <Words>1051</Words>
  <Application>Microsoft Office PowerPoint</Application>
  <PresentationFormat>Widescreen</PresentationFormat>
  <Paragraphs>288</Paragraphs>
  <Slides>26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Courier New</vt:lpstr>
      <vt:lpstr>JetBrains Mono</vt:lpstr>
      <vt:lpstr>Mangal</vt:lpstr>
      <vt:lpstr>Times New Roman</vt:lpstr>
      <vt:lpstr>Office Theme</vt:lpstr>
      <vt:lpstr>RECAP: Arrays and Classes</vt:lpstr>
      <vt:lpstr>Let’s Look at arrays of different types</vt:lpstr>
      <vt:lpstr>PowerPoint Presentation</vt:lpstr>
      <vt:lpstr>PowerPoint Presentation</vt:lpstr>
      <vt:lpstr>Structure of an int primitive array</vt:lpstr>
      <vt:lpstr>Structure of an int primitive array</vt:lpstr>
      <vt:lpstr>Structure of an int primitive array</vt:lpstr>
      <vt:lpstr>Structure of an int primitive array</vt:lpstr>
      <vt:lpstr>Structure of an int primitive array</vt:lpstr>
      <vt:lpstr>PowerPoint Presentation</vt:lpstr>
      <vt:lpstr>PowerPoint Presentation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PowerPoint Presentation</vt:lpstr>
      <vt:lpstr>PowerPoint Presentation</vt:lpstr>
      <vt:lpstr>Product Class </vt:lpstr>
      <vt:lpstr>Structure of a Product primitive array</vt:lpstr>
      <vt:lpstr>Structure of a Product primitive array</vt:lpstr>
      <vt:lpstr>Structure of a Product primitive array</vt:lpstr>
      <vt:lpstr>Example using a Product object array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on Arrays</dc:title>
  <dc:creator>Siobhan Drohan</dc:creator>
  <cp:lastModifiedBy>Siobhan Roche</cp:lastModifiedBy>
  <cp:revision>350</cp:revision>
  <cp:lastPrinted>2018-02-19T00:13:51Z</cp:lastPrinted>
  <dcterms:created xsi:type="dcterms:W3CDTF">2006-08-16T00:00:00Z</dcterms:created>
  <dcterms:modified xsi:type="dcterms:W3CDTF">2024-01-19T11:11:52Z</dcterms:modified>
</cp:coreProperties>
</file>