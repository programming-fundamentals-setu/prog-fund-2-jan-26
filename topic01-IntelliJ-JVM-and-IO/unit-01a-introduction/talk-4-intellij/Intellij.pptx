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7"/>
  </p:notesMasterIdLst>
  <p:sldIdLst>
    <p:sldId id="325" r:id="rId2"/>
    <p:sldId id="703" r:id="rId3"/>
    <p:sldId id="687" r:id="rId4"/>
    <p:sldId id="688" r:id="rId5"/>
    <p:sldId id="704" r:id="rId6"/>
    <p:sldId id="665" r:id="rId7"/>
    <p:sldId id="705" r:id="rId8"/>
    <p:sldId id="680" r:id="rId9"/>
    <p:sldId id="667" r:id="rId10"/>
    <p:sldId id="670" r:id="rId11"/>
    <p:sldId id="668" r:id="rId12"/>
    <p:sldId id="673" r:id="rId13"/>
    <p:sldId id="679" r:id="rId14"/>
    <p:sldId id="689" r:id="rId15"/>
    <p:sldId id="34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48" autoAdjust="0"/>
    <p:restoredTop sz="89148" autoAdjust="0"/>
  </p:normalViewPr>
  <p:slideViewPr>
    <p:cSldViewPr>
      <p:cViewPr varScale="1">
        <p:scale>
          <a:sx n="85" d="100"/>
          <a:sy n="85" d="100"/>
        </p:scale>
        <p:origin x="398" y="5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1392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C3D141-1E1C-433C-AD3A-CD56CBBB4F9F}" type="datetimeFigureOut">
              <a:rPr lang="en-IE" smtClean="0"/>
              <a:t>15/01/2026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63DB36-5273-45A5-A77C-FE9BE0779D8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34544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030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54FA624-7CFC-3CFB-8384-E3FA99B20E94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C51F014-A304-3672-EB37-723E4843A104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CF11166-B2AB-5FA4-AD5C-E5E669C40728}"/>
              </a:ext>
            </a:extLst>
          </p:cNvPr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8591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930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2A16B-6893-A143-E832-A99D7B6427B3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B64861E-C2E3-2C0F-0C43-CF6F042CC211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57EF414-F22C-F0BF-DA4E-9CB9E1759C86}"/>
              </a:ext>
            </a:extLst>
          </p:cNvPr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5384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3436290-11E2-F20B-966B-F18296CC48D7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44047ED-F9FB-D127-8133-472EEEDD9BD2}"/>
              </a:ext>
            </a:extLst>
          </p:cNvPr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43395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DB4946F-2A50-46DF-D246-8E463A5B9E4E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CF61A43-37C0-D158-13BE-1753663F3BEC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1B8CEB7-4D69-88E5-31BE-380397202723}"/>
              </a:ext>
            </a:extLst>
          </p:cNvPr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5067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344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6148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54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144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0067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3" name="Shape 2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24" name="Shape 2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8906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Text"/>
          <p:cNvSpPr txBox="1">
            <a:spLocks noGrp="1"/>
          </p:cNvSpPr>
          <p:nvPr>
            <p:ph type="title"/>
          </p:nvPr>
        </p:nvSpPr>
        <p:spPr>
          <a:xfrm>
            <a:off x="863600" y="2286000"/>
            <a:ext cx="10464801" cy="114300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16" name="Subtitle"/>
          <p:cNvSpPr txBox="1">
            <a:spLocks noGrp="1"/>
          </p:cNvSpPr>
          <p:nvPr>
            <p:ph type="body" sz="quarter" idx="22"/>
          </p:nvPr>
        </p:nvSpPr>
        <p:spPr>
          <a:xfrm>
            <a:off x="957115" y="3465604"/>
            <a:ext cx="10134430" cy="846384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ctr">
              <a:spcBef>
                <a:spcPts val="0"/>
              </a:spcBef>
              <a:buClrTx/>
              <a:buSzTx/>
              <a:buFontTx/>
              <a:buNone/>
              <a:defRPr>
                <a:solidFill>
                  <a:srgbClr val="2F4468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91544" y="6360984"/>
            <a:ext cx="495649" cy="49244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934829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691066" y="6493542"/>
            <a:ext cx="434734" cy="43088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4" name="Title Text"/>
          <p:cNvSpPr txBox="1">
            <a:spLocks noGrp="1"/>
          </p:cNvSpPr>
          <p:nvPr>
            <p:ph type="title"/>
          </p:nvPr>
        </p:nvSpPr>
        <p:spPr>
          <a:xfrm>
            <a:off x="729736" y="395556"/>
            <a:ext cx="10747254" cy="114300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55062574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381000"/>
            <a:ext cx="10363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625600" y="1828800"/>
            <a:ext cx="48768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6705600" y="1828800"/>
            <a:ext cx="4876800" cy="4267200"/>
          </a:xfrm>
        </p:spPr>
        <p:txBody>
          <a:bodyPr/>
          <a:lstStyle/>
          <a:p>
            <a:pPr lvl="0"/>
            <a:r>
              <a:rPr lang="en-US" noProof="0"/>
              <a:t>Click icon to add chart</a:t>
            </a:r>
          </a:p>
        </p:txBody>
      </p:sp>
      <p:sp>
        <p:nvSpPr>
          <p:cNvPr id="5" name="Rectangle 102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1050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733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33600" y="914400"/>
            <a:ext cx="7772400" cy="1470025"/>
          </a:xfrm>
        </p:spPr>
        <p:txBody>
          <a:bodyPr>
            <a:normAutofit/>
          </a:bodyPr>
          <a:lstStyle/>
          <a:p>
            <a:pPr algn="l"/>
            <a:r>
              <a:rPr lang="en-IE" sz="4000" dirty="0"/>
              <a:t>IntelliJ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6259" y="3809999"/>
            <a:ext cx="1866900" cy="1066800"/>
          </a:xfrm>
        </p:spPr>
        <p:txBody>
          <a:bodyPr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Produced </a:t>
            </a:r>
          </a:p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by:</a:t>
            </a:r>
          </a:p>
        </p:txBody>
      </p:sp>
      <p:cxnSp>
        <p:nvCxnSpPr>
          <p:cNvPr id="6" name="Straight Connector 5"/>
          <p:cNvCxnSpPr>
            <a:cxnSpLocks/>
          </p:cNvCxnSpPr>
          <p:nvPr/>
        </p:nvCxnSpPr>
        <p:spPr>
          <a:xfrm>
            <a:off x="762000" y="3124200"/>
            <a:ext cx="10820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"/>
          <p:cNvSpPr txBox="1">
            <a:spLocks/>
          </p:cNvSpPr>
          <p:nvPr/>
        </p:nvSpPr>
        <p:spPr>
          <a:xfrm>
            <a:off x="2133600" y="2125225"/>
            <a:ext cx="7772400" cy="936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E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Lets get started in our new IDE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406392-0CEA-881F-E422-C03EE4574066}"/>
              </a:ext>
            </a:extLst>
          </p:cNvPr>
          <p:cNvSpPr txBox="1"/>
          <p:nvPr/>
        </p:nvSpPr>
        <p:spPr>
          <a:xfrm>
            <a:off x="7620000" y="5849826"/>
            <a:ext cx="40727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600" dirty="0"/>
              <a:t>Department of Computing and Mathematics</a:t>
            </a:r>
          </a:p>
          <a:p>
            <a:r>
              <a:rPr lang="en-IE" sz="1600" dirty="0"/>
              <a:t>http://www.setu.ie/</a:t>
            </a:r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BDE01219-C54D-0342-F78E-4ACB9D888F0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41" y="5501441"/>
            <a:ext cx="2286000" cy="128154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834D5BA-1012-8CE9-28B7-775887F16CFA}"/>
              </a:ext>
            </a:extLst>
          </p:cNvPr>
          <p:cNvSpPr txBox="1"/>
          <p:nvPr/>
        </p:nvSpPr>
        <p:spPr>
          <a:xfrm>
            <a:off x="3657600" y="3743234"/>
            <a:ext cx="5562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Dr.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Siobhán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Drohan,</a:t>
            </a:r>
            <a:endParaRPr lang="en-IE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Mairead Meagher,</a:t>
            </a: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Siobhán Roche.</a:t>
            </a:r>
          </a:p>
        </p:txBody>
      </p:sp>
    </p:spTree>
    <p:extLst>
      <p:ext uri="{BB962C8B-B14F-4D97-AF65-F5344CB8AC3E}">
        <p14:creationId xmlns:p14="http://schemas.microsoft.com/office/powerpoint/2010/main" val="1106430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istory Of Java | Complete Timeline + Infographic &amp; Versions // Unstop">
            <a:extLst>
              <a:ext uri="{FF2B5EF4-FFF2-40B4-BE49-F238E27FC236}">
                <a16:creationId xmlns:a16="http://schemas.microsoft.com/office/drawing/2014/main" id="{5012759E-9E21-92BD-B994-690E21FA244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751" y="91282"/>
            <a:ext cx="10390849" cy="6690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02236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JDK releases – 6 month cycle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F1A10B-26B4-E2F2-853F-1057CDF55C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Java Platform Evolution - Dev.java">
            <a:extLst>
              <a:ext uri="{FF2B5EF4-FFF2-40B4-BE49-F238E27FC236}">
                <a16:creationId xmlns:a16="http://schemas.microsoft.com/office/drawing/2014/main" id="{3008E1A9-07B0-600D-5048-9E21D1F08B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454482"/>
            <a:ext cx="9829800" cy="4742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51426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version of JDK should I install?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905000"/>
            <a:ext cx="5486400" cy="3268751"/>
          </a:xfrm>
        </p:spPr>
        <p:txBody>
          <a:bodyPr/>
          <a:lstStyle/>
          <a:p>
            <a:r>
              <a:rPr lang="en-GB" dirty="0"/>
              <a:t>The most up to date version that is available</a:t>
            </a:r>
          </a:p>
          <a:p>
            <a:pPr lvl="1"/>
            <a:r>
              <a:rPr lang="en-GB" dirty="0"/>
              <a:t>Currently Java 25</a:t>
            </a:r>
          </a:p>
        </p:txBody>
      </p:sp>
      <p:pic>
        <p:nvPicPr>
          <p:cNvPr id="4" name="Picture 2" descr="🚀 JDK 25 — The New Features in Java 25 (With Code Examples) | by Lakshika  | Aug, 2025 | Medium">
            <a:extLst>
              <a:ext uri="{FF2B5EF4-FFF2-40B4-BE49-F238E27FC236}">
                <a16:creationId xmlns:a16="http://schemas.microsoft.com/office/drawing/2014/main" id="{A2DC9624-B95F-E85E-47DE-74413C7E19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1504479"/>
            <a:ext cx="3302000" cy="495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6498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0E0B0-D7BE-4E2B-E6C2-E239DF5B4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What is an IDE?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C82694-7085-D3CE-A870-68A5195665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524000"/>
            <a:ext cx="11887200" cy="4525963"/>
          </a:xfrm>
        </p:spPr>
        <p:txBody>
          <a:bodyPr>
            <a:normAutofit fontScale="92500"/>
          </a:bodyPr>
          <a:lstStyle/>
          <a:p>
            <a:r>
              <a:rPr lang="en-US" dirty="0"/>
              <a:t>An IDE (Integrated Development Environment) is a software application that bundles all the necessary tools a programmer needs for software development into a single, easy-to-use graphical interface. </a:t>
            </a:r>
          </a:p>
          <a:p>
            <a:r>
              <a:rPr lang="en-US" dirty="0"/>
              <a:t>An IDE (Integrated Development Environment) allows you to</a:t>
            </a:r>
          </a:p>
          <a:p>
            <a:pPr lvl="1"/>
            <a:r>
              <a:rPr lang="en-US" dirty="0"/>
              <a:t> quickly create applications by combining a source-code editor with the ability to compile and run your code, </a:t>
            </a:r>
          </a:p>
          <a:p>
            <a:pPr lvl="1"/>
            <a:r>
              <a:rPr lang="en-US" dirty="0"/>
              <a:t>integration with build, test and debug tools, version control systems, and so on. </a:t>
            </a:r>
          </a:p>
          <a:p>
            <a:pPr lvl="1"/>
            <a:r>
              <a:rPr lang="en-US" dirty="0"/>
              <a:t>search and navigate your codebase in ways your file system won’t.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492119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3D816-8677-CB3E-C9F7-372AF52C2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IntelliJ - An industry standard IDE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6273FD-90E5-8753-4DCE-ED55837B4A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610842"/>
            <a:ext cx="11217612" cy="4938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387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814FC-0C80-54E2-3564-F66D263DB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Community Edition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5D1083-8EC8-32FA-0B4E-1591814626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200" y="2603694"/>
            <a:ext cx="8077200" cy="366669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A0802D4-293E-FE8A-F50D-92425F2FED48}"/>
              </a:ext>
            </a:extLst>
          </p:cNvPr>
          <p:cNvSpPr txBox="1"/>
          <p:nvPr/>
        </p:nvSpPr>
        <p:spPr>
          <a:xfrm>
            <a:off x="609600" y="1752600"/>
            <a:ext cx="9296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sz="2400" dirty="0"/>
              <a:t>You can scroll past the Ultimate version, and choose the free Community Version </a:t>
            </a:r>
          </a:p>
        </p:txBody>
      </p:sp>
    </p:spTree>
    <p:extLst>
      <p:ext uri="{BB962C8B-B14F-4D97-AF65-F5344CB8AC3E}">
        <p14:creationId xmlns:p14="http://schemas.microsoft.com/office/powerpoint/2010/main" val="40201747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F34F26A-FAC8-A19A-6B8D-46A179DC4F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Hello World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E1A86A50-7263-C578-208E-FB439DF17A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IntelliJ</a:t>
            </a:r>
          </a:p>
        </p:txBody>
      </p:sp>
    </p:spTree>
    <p:extLst>
      <p:ext uri="{BB962C8B-B14F-4D97-AF65-F5344CB8AC3E}">
        <p14:creationId xmlns:p14="http://schemas.microsoft.com/office/powerpoint/2010/main" val="12482946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B3334-F850-ADE4-669A-01F16F6B7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Launch IntelliJ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3D16131-1A10-5671-1F62-8514312A34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4021" y="1583032"/>
            <a:ext cx="8087727" cy="2007978"/>
          </a:xfrm>
          <a:prstGeom prst="rect">
            <a:avLst/>
          </a:prstGeom>
        </p:spPr>
      </p:pic>
      <p:sp>
        <p:nvSpPr>
          <p:cNvPr id="4" name="Right Arrow 3">
            <a:extLst>
              <a:ext uri="{FF2B5EF4-FFF2-40B4-BE49-F238E27FC236}">
                <a16:creationId xmlns:a16="http://schemas.microsoft.com/office/drawing/2014/main" id="{02471659-AEE0-DD05-9C9F-BE6D645440D3}"/>
              </a:ext>
            </a:extLst>
          </p:cNvPr>
          <p:cNvSpPr/>
          <p:nvPr/>
        </p:nvSpPr>
        <p:spPr>
          <a:xfrm>
            <a:off x="4648200" y="2008762"/>
            <a:ext cx="3581400" cy="434526"/>
          </a:xfrm>
          <a:prstGeom prst="rightArrow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506619-7637-E65E-89E4-931F8E0B421B}"/>
              </a:ext>
            </a:extLst>
          </p:cNvPr>
          <p:cNvSpPr txBox="1"/>
          <p:nvPr/>
        </p:nvSpPr>
        <p:spPr>
          <a:xfrm>
            <a:off x="609600" y="1981200"/>
            <a:ext cx="38100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can create a new project from the </a:t>
            </a:r>
            <a:r>
              <a:rPr lang="en-US" b="1" dirty="0"/>
              <a:t>Welcome</a:t>
            </a:r>
            <a:r>
              <a:rPr lang="en-US" dirty="0"/>
              <a:t> screen,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or we can go to </a:t>
            </a:r>
            <a:r>
              <a:rPr lang="en-US" b="1" dirty="0"/>
              <a:t>File | New | Project</a:t>
            </a:r>
            <a:r>
              <a:rPr lang="en-US" dirty="0"/>
              <a:t>  in the main menu.</a:t>
            </a:r>
            <a:endParaRPr lang="en-IE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8384F70A-87BF-3CFB-4E58-492561F806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434" y="5757654"/>
            <a:ext cx="9601200" cy="817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F6F276E-55EC-899D-996F-ABC0825687EC}"/>
              </a:ext>
            </a:extLst>
          </p:cNvPr>
          <p:cNvSpPr/>
          <p:nvPr/>
        </p:nvSpPr>
        <p:spPr>
          <a:xfrm>
            <a:off x="6324600" y="2895600"/>
            <a:ext cx="2514600" cy="7751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3108438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A32CC50-2729-06ED-7C9B-80059D1D78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6849" y="189923"/>
            <a:ext cx="7128873" cy="647815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6087A9B-75BD-2B7B-ED53-385535B5B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896" y="152400"/>
            <a:ext cx="10972800" cy="1143000"/>
          </a:xfrm>
        </p:spPr>
        <p:txBody>
          <a:bodyPr/>
          <a:lstStyle/>
          <a:p>
            <a:r>
              <a:rPr lang="en-US" dirty="0"/>
              <a:t>New Java Project</a:t>
            </a:r>
          </a:p>
        </p:txBody>
      </p:sp>
      <p:sp>
        <p:nvSpPr>
          <p:cNvPr id="5" name="Right Arrow 4">
            <a:extLst>
              <a:ext uri="{FF2B5EF4-FFF2-40B4-BE49-F238E27FC236}">
                <a16:creationId xmlns:a16="http://schemas.microsoft.com/office/drawing/2014/main" id="{4A0E5177-C4B1-5B86-24F0-63856DDD37C3}"/>
              </a:ext>
            </a:extLst>
          </p:cNvPr>
          <p:cNvSpPr/>
          <p:nvPr/>
        </p:nvSpPr>
        <p:spPr>
          <a:xfrm rot="601013">
            <a:off x="6443074" y="581049"/>
            <a:ext cx="1409700" cy="609600"/>
          </a:xfrm>
          <a:prstGeom prst="rightArrow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name</a:t>
            </a:r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61D62CE7-AEAB-8EF0-2E6C-86319003E75D}"/>
              </a:ext>
            </a:extLst>
          </p:cNvPr>
          <p:cNvSpPr/>
          <p:nvPr/>
        </p:nvSpPr>
        <p:spPr>
          <a:xfrm rot="10643781" flipV="1">
            <a:off x="9766686" y="1264136"/>
            <a:ext cx="1472039" cy="609600"/>
          </a:xfrm>
          <a:prstGeom prst="rightArrow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location</a:t>
            </a: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4BB0CDDA-ED55-2C49-D332-1F148CFA6C95}"/>
              </a:ext>
            </a:extLst>
          </p:cNvPr>
          <p:cNvSpPr/>
          <p:nvPr/>
        </p:nvSpPr>
        <p:spPr>
          <a:xfrm>
            <a:off x="8686800" y="6223785"/>
            <a:ext cx="1409700" cy="609600"/>
          </a:xfrm>
          <a:prstGeom prst="rightArrow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Create</a:t>
            </a:r>
          </a:p>
        </p:txBody>
      </p:sp>
      <p:sp>
        <p:nvSpPr>
          <p:cNvPr id="4" name="Oval 3"/>
          <p:cNvSpPr/>
          <p:nvPr/>
        </p:nvSpPr>
        <p:spPr>
          <a:xfrm>
            <a:off x="4685377" y="1111355"/>
            <a:ext cx="1572296" cy="533400"/>
          </a:xfrm>
          <a:prstGeom prst="ellipse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61D62CE7-AEAB-8EF0-2E6C-86319003E75D}"/>
              </a:ext>
            </a:extLst>
          </p:cNvPr>
          <p:cNvSpPr/>
          <p:nvPr/>
        </p:nvSpPr>
        <p:spPr>
          <a:xfrm rot="10800000" flipV="1">
            <a:off x="10195946" y="2847077"/>
            <a:ext cx="1472039" cy="609600"/>
          </a:xfrm>
          <a:prstGeom prst="rightArrow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Jdk</a:t>
            </a:r>
            <a:r>
              <a:rPr lang="en-US" dirty="0"/>
              <a:t> version</a:t>
            </a:r>
          </a:p>
        </p:txBody>
      </p:sp>
    </p:spTree>
    <p:extLst>
      <p:ext uri="{BB962C8B-B14F-4D97-AF65-F5344CB8AC3E}">
        <p14:creationId xmlns:p14="http://schemas.microsoft.com/office/powerpoint/2010/main" val="3661995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6" grpId="0" animBg="1"/>
      <p:bldP spid="4" grpId="0" animBg="1"/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0409A-85FF-226D-09EF-79DBFB769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4159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New Project – main method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D2D8CF-9A74-3B4B-8B07-7DCBAC059A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447800"/>
            <a:ext cx="11430000" cy="5099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7872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61F302D-921F-6B67-AB68-1C019D64B9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427739"/>
            <a:ext cx="11353800" cy="506513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EC0409A-85FF-226D-09EF-79DBFB769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229600" cy="1325563"/>
          </a:xfrm>
        </p:spPr>
        <p:txBody>
          <a:bodyPr/>
          <a:lstStyle/>
          <a:p>
            <a:r>
              <a:rPr lang="en-US" dirty="0"/>
              <a:t>Run app</a:t>
            </a:r>
          </a:p>
        </p:txBody>
      </p:sp>
      <p:sp>
        <p:nvSpPr>
          <p:cNvPr id="3" name="Oval 2"/>
          <p:cNvSpPr/>
          <p:nvPr/>
        </p:nvSpPr>
        <p:spPr>
          <a:xfrm>
            <a:off x="4648200" y="2209800"/>
            <a:ext cx="457200" cy="822433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Oval 5"/>
          <p:cNvSpPr/>
          <p:nvPr/>
        </p:nvSpPr>
        <p:spPr>
          <a:xfrm>
            <a:off x="6934200" y="1416844"/>
            <a:ext cx="457200" cy="53340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32424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D2F720E-A418-C518-9099-9CC4C1C64D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009" y="1143001"/>
            <a:ext cx="8968991" cy="564437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EC0409A-85FF-226D-09EF-79DBFB769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-76200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Console output</a:t>
            </a:r>
          </a:p>
        </p:txBody>
      </p:sp>
      <p:sp>
        <p:nvSpPr>
          <p:cNvPr id="4" name="Oval 3"/>
          <p:cNvSpPr/>
          <p:nvPr/>
        </p:nvSpPr>
        <p:spPr>
          <a:xfrm>
            <a:off x="1752600" y="5897563"/>
            <a:ext cx="1676400" cy="45720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4185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8BFE11-BF7C-ACD6-5E4A-37C285B09B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200" y="347035"/>
            <a:ext cx="7247248" cy="6035563"/>
          </a:xfrm>
          <a:prstGeom prst="rect">
            <a:avLst/>
          </a:prstGeom>
        </p:spPr>
      </p:pic>
      <p:sp>
        <p:nvSpPr>
          <p:cNvPr id="4" name="Left Arrow 3">
            <a:extLst>
              <a:ext uri="{FF2B5EF4-FFF2-40B4-BE49-F238E27FC236}">
                <a16:creationId xmlns:a16="http://schemas.microsoft.com/office/drawing/2014/main" id="{A5FFE78A-416A-87A4-7E06-26E275087DA6}"/>
              </a:ext>
            </a:extLst>
          </p:cNvPr>
          <p:cNvSpPr/>
          <p:nvPr/>
        </p:nvSpPr>
        <p:spPr>
          <a:xfrm flipH="1">
            <a:off x="3099910" y="3321291"/>
            <a:ext cx="2996090" cy="141966"/>
          </a:xfrm>
          <a:prstGeom prst="leftArrow">
            <a:avLst/>
          </a:prstGeom>
          <a:solidFill>
            <a:srgbClr val="FCCA3A"/>
          </a:solidFill>
          <a:ln>
            <a:solidFill>
              <a:srgbClr val="FCCA3A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Left Arrow 4">
            <a:extLst>
              <a:ext uri="{FF2B5EF4-FFF2-40B4-BE49-F238E27FC236}">
                <a16:creationId xmlns:a16="http://schemas.microsoft.com/office/drawing/2014/main" id="{7578042F-6E6F-93B6-8CB9-E1F980390B2F}"/>
              </a:ext>
            </a:extLst>
          </p:cNvPr>
          <p:cNvSpPr/>
          <p:nvPr/>
        </p:nvSpPr>
        <p:spPr>
          <a:xfrm rot="21142839" flipH="1">
            <a:off x="3097846" y="4170602"/>
            <a:ext cx="2599335" cy="141966"/>
          </a:xfrm>
          <a:prstGeom prst="leftArrow">
            <a:avLst/>
          </a:prstGeom>
          <a:solidFill>
            <a:srgbClr val="FCCA3A"/>
          </a:solidFill>
          <a:ln>
            <a:solidFill>
              <a:srgbClr val="FCCA3A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Left Arrow 5">
            <a:extLst>
              <a:ext uri="{FF2B5EF4-FFF2-40B4-BE49-F238E27FC236}">
                <a16:creationId xmlns:a16="http://schemas.microsoft.com/office/drawing/2014/main" id="{06BD806D-C715-1049-46B8-85B6CF86AF54}"/>
              </a:ext>
            </a:extLst>
          </p:cNvPr>
          <p:cNvSpPr/>
          <p:nvPr/>
        </p:nvSpPr>
        <p:spPr>
          <a:xfrm flipH="1">
            <a:off x="2119513" y="1585513"/>
            <a:ext cx="2389359" cy="141966"/>
          </a:xfrm>
          <a:prstGeom prst="leftArrow">
            <a:avLst/>
          </a:prstGeom>
          <a:solidFill>
            <a:srgbClr val="FCCA3A"/>
          </a:solidFill>
          <a:ln>
            <a:solidFill>
              <a:srgbClr val="FCCA3A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856A37-D1CE-443A-C40E-9330ADB959B5}"/>
              </a:ext>
            </a:extLst>
          </p:cNvPr>
          <p:cNvSpPr txBox="1"/>
          <p:nvPr/>
        </p:nvSpPr>
        <p:spPr>
          <a:xfrm>
            <a:off x="-862854" y="1471830"/>
            <a:ext cx="3769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</a:rPr>
              <a:t>Project File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D334FA-E03E-7B1F-993C-37514BECB706}"/>
              </a:ext>
            </a:extLst>
          </p:cNvPr>
          <p:cNvSpPr txBox="1"/>
          <p:nvPr/>
        </p:nvSpPr>
        <p:spPr>
          <a:xfrm>
            <a:off x="234957" y="3084749"/>
            <a:ext cx="37691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</a:rPr>
              <a:t>.class file</a:t>
            </a:r>
            <a:br>
              <a:rPr lang="en-US" dirty="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</a:rPr>
            </a:br>
            <a:r>
              <a:rPr lang="en-US" dirty="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</a:rPr>
              <a:t> (compiled)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73617A-69FB-E8D4-9A24-D4CD87E0ED4E}"/>
              </a:ext>
            </a:extLst>
          </p:cNvPr>
          <p:cNvSpPr txBox="1"/>
          <p:nvPr/>
        </p:nvSpPr>
        <p:spPr>
          <a:xfrm>
            <a:off x="615123" y="4241585"/>
            <a:ext cx="37691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</a:rPr>
              <a:t>.java file</a:t>
            </a:r>
            <a:br>
              <a:rPr lang="en-US" dirty="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</a:rPr>
            </a:br>
            <a:r>
              <a:rPr lang="en-US" dirty="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</a:rPr>
              <a:t> (source)</a:t>
            </a:r>
          </a:p>
        </p:txBody>
      </p:sp>
    </p:spTree>
    <p:extLst>
      <p:ext uri="{BB962C8B-B14F-4D97-AF65-F5344CB8AC3E}">
        <p14:creationId xmlns:p14="http://schemas.microsoft.com/office/powerpoint/2010/main" val="2572319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/>
      <p:bldP spid="8" grpId="0"/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Questions?</a:t>
            </a:r>
          </a:p>
        </p:txBody>
      </p:sp>
      <p:pic>
        <p:nvPicPr>
          <p:cNvPr id="3" name="Picture 2" descr="A green question mark in a circle&#10;&#10;AI-generated content may be incorrect.">
            <a:extLst>
              <a:ext uri="{FF2B5EF4-FFF2-40B4-BE49-F238E27FC236}">
                <a16:creationId xmlns:a16="http://schemas.microsoft.com/office/drawing/2014/main" id="{6EB733A3-6BB4-8D2C-00E7-1769894338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800" y="1417638"/>
            <a:ext cx="5257800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503280"/>
      </p:ext>
    </p:extLst>
  </p:cSld>
  <p:clrMapOvr>
    <a:masterClrMapping/>
  </p:clrMapOvr>
</p:sld>
</file>

<file path=ppt/theme/theme1.xml><?xml version="1.0" encoding="utf-8"?>
<a:theme xmlns:a="http://schemas.openxmlformats.org/drawingml/2006/main" name="a-processing-mouse-event-metho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a-class-definitions</Template>
  <TotalTime>0</TotalTime>
  <Words>249</Words>
  <Application>Microsoft Office PowerPoint</Application>
  <PresentationFormat>Widescreen</PresentationFormat>
  <Paragraphs>48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Inter</vt:lpstr>
      <vt:lpstr>a-processing-mouse-event-methods</vt:lpstr>
      <vt:lpstr>IntelliJ</vt:lpstr>
      <vt:lpstr>PowerPoint Presentation</vt:lpstr>
      <vt:lpstr>JDK releases – 6 month cycle</vt:lpstr>
      <vt:lpstr>What version of JDK should I install?</vt:lpstr>
      <vt:lpstr>What is an IDE?</vt:lpstr>
      <vt:lpstr>IntelliJ - An industry standard IDE</vt:lpstr>
      <vt:lpstr>Community Edition</vt:lpstr>
      <vt:lpstr>Hello World</vt:lpstr>
      <vt:lpstr>Launch IntelliJ</vt:lpstr>
      <vt:lpstr>New Java Project</vt:lpstr>
      <vt:lpstr>New Project – main method</vt:lpstr>
      <vt:lpstr>Run app</vt:lpstr>
      <vt:lpstr>Console output</vt:lpstr>
      <vt:lpstr>PowerPoint Presentation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Classes - adding behaviour</dc:title>
  <dc:creator>Siobhan Drohan</dc:creator>
  <cp:lastModifiedBy>Siobhan Roche</cp:lastModifiedBy>
  <cp:revision>373</cp:revision>
  <cp:lastPrinted>2018-02-13T22:25:55Z</cp:lastPrinted>
  <dcterms:created xsi:type="dcterms:W3CDTF">2006-08-16T00:00:00Z</dcterms:created>
  <dcterms:modified xsi:type="dcterms:W3CDTF">2026-01-15T14:53:33Z</dcterms:modified>
</cp:coreProperties>
</file>