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306" r:id="rId3"/>
    <p:sldId id="307" r:id="rId4"/>
    <p:sldId id="308" r:id="rId5"/>
    <p:sldId id="309" r:id="rId6"/>
    <p:sldId id="310" r:id="rId7"/>
    <p:sldId id="311" r:id="rId8"/>
    <p:sldId id="312" r:id="rId9"/>
    <p:sldId id="313" r:id="rId10"/>
    <p:sldId id="314" r:id="rId11"/>
    <p:sldId id="315" r:id="rId12"/>
    <p:sldId id="316" r:id="rId13"/>
    <p:sldId id="317" r:id="rId14"/>
    <p:sldId id="318" r:id="rId15"/>
    <p:sldId id="319" r:id="rId16"/>
    <p:sldId id="320" r:id="rId17"/>
    <p:sldId id="321" r:id="rId18"/>
    <p:sldId id="322" r:id="rId19"/>
    <p:sldId id="323" r:id="rId20"/>
    <p:sldId id="324" r:id="rId21"/>
    <p:sldId id="325" r:id="rId22"/>
    <p:sldId id="326" r:id="rId23"/>
    <p:sldId id="327" r:id="rId24"/>
    <p:sldId id="328" r:id="rId25"/>
    <p:sldId id="329" r:id="rId26"/>
    <p:sldId id="330" r:id="rId27"/>
    <p:sldId id="30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1D38E"/>
    <a:srgbClr val="FCBAC5"/>
    <a:srgbClr val="F9CF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892" autoAdjust="0"/>
    <p:restoredTop sz="94609"/>
  </p:normalViewPr>
  <p:slideViewPr>
    <p:cSldViewPr>
      <p:cViewPr>
        <p:scale>
          <a:sx n="53" d="100"/>
          <a:sy n="53" d="100"/>
        </p:scale>
        <p:origin x="1412" y="296"/>
      </p:cViewPr>
      <p:guideLst>
        <p:guide orient="horz" pos="2160"/>
        <p:guide pos="3840"/>
      </p:guideLst>
    </p:cSldViewPr>
  </p:slideViewPr>
  <p:notesTextViewPr>
    <p:cViewPr>
      <p:scale>
        <a:sx n="100" d="100"/>
        <a:sy n="100" d="100"/>
      </p:scale>
      <p:origin x="0" y="0"/>
    </p:cViewPr>
  </p:notesTextViewPr>
  <p:sorterViewPr>
    <p:cViewPr>
      <p:scale>
        <a:sx n="49" d="100"/>
        <a:sy n="49" d="100"/>
      </p:scale>
      <p:origin x="0" y="-9411"/>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BC3C30-7F3D-4B20-9974-47C57B22CA6E}" type="datetimeFigureOut">
              <a:rPr lang="en-IE" smtClean="0"/>
              <a:t>14/01/2024</a:t>
            </a:fld>
            <a:endParaRPr lang="en-IE"/>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609BE90-ABBD-4931-8E0C-089E0ACACA6B}" type="slidenum">
              <a:rPr lang="en-IE" smtClean="0"/>
              <a:t>‹#›</a:t>
            </a:fld>
            <a:endParaRPr lang="en-IE"/>
          </a:p>
        </p:txBody>
      </p:sp>
    </p:spTree>
    <p:extLst>
      <p:ext uri="{BB962C8B-B14F-4D97-AF65-F5344CB8AC3E}">
        <p14:creationId xmlns:p14="http://schemas.microsoft.com/office/powerpoint/2010/main" val="389818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p:cNvCxnSpPr/>
          <p:nvPr userDrawn="1"/>
        </p:nvCxnSpPr>
        <p:spPr>
          <a:xfrm>
            <a:off x="609600" y="1447800"/>
            <a:ext cx="11074400" cy="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10" name="Straight Connector 9"/>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cxnSp>
        <p:nvCxnSpPr>
          <p:cNvPr id="6" name="Straight Connector 5"/>
          <p:cNvCxnSpPr/>
          <p:nvPr userDrawn="1"/>
        </p:nvCxnSpPr>
        <p:spPr>
          <a:xfrm>
            <a:off x="609600" y="1447800"/>
            <a:ext cx="11074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1/14/2024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99441" y="549276"/>
            <a:ext cx="7772400" cy="1470025"/>
          </a:xfrm>
        </p:spPr>
        <p:txBody>
          <a:bodyPr>
            <a:normAutofit/>
          </a:bodyPr>
          <a:lstStyle/>
          <a:p>
            <a:pPr algn="l"/>
            <a:r>
              <a:rPr lang="en-IE" sz="4000" dirty="0"/>
              <a:t>Recap of </a:t>
            </a:r>
            <a:r>
              <a:rPr lang="en-IE" sz="4000" dirty="0" smtClean="0"/>
              <a:t>Java Programming Language</a:t>
            </a:r>
            <a:endParaRPr lang="en-IE" sz="4000" dirty="0"/>
          </a:p>
        </p:txBody>
      </p:sp>
      <p:sp>
        <p:nvSpPr>
          <p:cNvPr id="3" name="Subtitle 2"/>
          <p:cNvSpPr>
            <a:spLocks noGrp="1"/>
          </p:cNvSpPr>
          <p:nvPr>
            <p:ph type="subTitle" idx="1"/>
          </p:nvPr>
        </p:nvSpPr>
        <p:spPr>
          <a:xfrm>
            <a:off x="1638300" y="3810000"/>
            <a:ext cx="1866900" cy="1066800"/>
          </a:xfrm>
        </p:spPr>
        <p:txBody>
          <a:bodyPr>
            <a:normAutofit/>
          </a:bodyPr>
          <a:lstStyle/>
          <a:p>
            <a:pPr algn="r">
              <a:lnSpc>
                <a:spcPct val="110000"/>
              </a:lnSpc>
              <a:spcBef>
                <a:spcPts val="0"/>
              </a:spcBef>
            </a:pPr>
            <a:r>
              <a:rPr lang="en-IE" sz="2400" dirty="0"/>
              <a:t>Produced </a:t>
            </a:r>
          </a:p>
          <a:p>
            <a:pPr algn="r">
              <a:lnSpc>
                <a:spcPct val="110000"/>
              </a:lnSpc>
              <a:spcBef>
                <a:spcPts val="0"/>
              </a:spcBef>
            </a:pPr>
            <a:r>
              <a:rPr lang="en-IE" sz="2400" dirty="0"/>
              <a:t>by:</a:t>
            </a:r>
          </a:p>
        </p:txBody>
      </p:sp>
      <p:cxnSp>
        <p:nvCxnSpPr>
          <p:cNvPr id="6" name="Straight Connector 5"/>
          <p:cNvCxnSpPr/>
          <p:nvPr/>
        </p:nvCxnSpPr>
        <p:spPr>
          <a:xfrm>
            <a:off x="2251841" y="3124200"/>
            <a:ext cx="762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itle 1"/>
          <p:cNvSpPr txBox="1">
            <a:spLocks/>
          </p:cNvSpPr>
          <p:nvPr/>
        </p:nvSpPr>
        <p:spPr>
          <a:xfrm>
            <a:off x="2175641" y="2133601"/>
            <a:ext cx="7772400" cy="93662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IE" sz="3200" dirty="0" smtClean="0">
                <a:solidFill>
                  <a:schemeClr val="tx1">
                    <a:lumMod val="50000"/>
                    <a:lumOff val="50000"/>
                  </a:schemeClr>
                </a:solidFill>
              </a:rPr>
              <a:t>Variables, selection, iteration and </a:t>
            </a:r>
            <a:r>
              <a:rPr lang="en-IE" sz="3200" dirty="0">
                <a:solidFill>
                  <a:schemeClr val="tx1">
                    <a:lumMod val="50000"/>
                    <a:lumOff val="50000"/>
                  </a:schemeClr>
                </a:solidFill>
              </a:rPr>
              <a:t>more.</a:t>
            </a:r>
          </a:p>
        </p:txBody>
      </p:sp>
      <p:sp>
        <p:nvSpPr>
          <p:cNvPr id="11" name="TextBox 10">
            <a:extLst>
              <a:ext uri="{FF2B5EF4-FFF2-40B4-BE49-F238E27FC236}">
                <a16:creationId xmlns:a16="http://schemas.microsoft.com/office/drawing/2014/main" id="{B98AA3B7-D740-41D7-AA23-E2D8E8278A5D}"/>
              </a:ext>
            </a:extLst>
          </p:cNvPr>
          <p:cNvSpPr txBox="1"/>
          <p:nvPr/>
        </p:nvSpPr>
        <p:spPr>
          <a:xfrm>
            <a:off x="3733800" y="3840541"/>
            <a:ext cx="3581400"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E" sz="2400" dirty="0">
                <a:solidFill>
                  <a:schemeClr val="tx1">
                    <a:lumMod val="75000"/>
                    <a:lumOff val="25000"/>
                  </a:schemeClr>
                </a:solidFill>
              </a:rPr>
              <a:t>Ms. Mairead Meagher</a:t>
            </a:r>
          </a:p>
          <a:p>
            <a:r>
              <a:rPr lang="en-IE" sz="2400" dirty="0">
                <a:solidFill>
                  <a:schemeClr val="tx1">
                    <a:lumMod val="75000"/>
                    <a:lumOff val="25000"/>
                  </a:schemeClr>
                </a:solidFill>
              </a:rPr>
              <a:t>Ms </a:t>
            </a:r>
            <a:r>
              <a:rPr lang="en-IE" sz="2400">
                <a:solidFill>
                  <a:schemeClr val="tx1">
                    <a:lumMod val="75000"/>
                    <a:lumOff val="25000"/>
                  </a:schemeClr>
                </a:solidFill>
              </a:rPr>
              <a:t>Siobhan Roche</a:t>
            </a:r>
            <a:endParaRPr lang="en-IE" sz="2400" dirty="0">
              <a:solidFill>
                <a:schemeClr val="tx1">
                  <a:lumMod val="75000"/>
                  <a:lumOff val="25000"/>
                </a:schemeClr>
              </a:solidFill>
            </a:endParaRPr>
          </a:p>
        </p:txBody>
      </p:sp>
      <p:sp>
        <p:nvSpPr>
          <p:cNvPr id="5" name="TextBox 4">
            <a:extLst>
              <a:ext uri="{FF2B5EF4-FFF2-40B4-BE49-F238E27FC236}">
                <a16:creationId xmlns:a16="http://schemas.microsoft.com/office/drawing/2014/main" id="{4F3E8DC4-4987-98DC-298D-0B2F96ECC3F3}"/>
              </a:ext>
            </a:extLst>
          </p:cNvPr>
          <p:cNvSpPr txBox="1"/>
          <p:nvPr/>
        </p:nvSpPr>
        <p:spPr>
          <a:xfrm>
            <a:off x="7336971" y="5849826"/>
            <a:ext cx="4072758" cy="584775"/>
          </a:xfrm>
          <a:prstGeom prst="rect">
            <a:avLst/>
          </a:prstGeom>
          <a:noFill/>
        </p:spPr>
        <p:txBody>
          <a:bodyPr wrap="square" rtlCol="0">
            <a:spAutoFit/>
          </a:bodyPr>
          <a:lstStyle/>
          <a:p>
            <a:r>
              <a:rPr lang="en-IE" sz="1600" dirty="0"/>
              <a:t>Department of Computing and Mathematics</a:t>
            </a:r>
          </a:p>
          <a:p>
            <a:r>
              <a:rPr lang="en-IE" sz="1600" dirty="0"/>
              <a:t>http://www.setu.ie/</a:t>
            </a:r>
          </a:p>
        </p:txBody>
      </p:sp>
      <p:pic>
        <p:nvPicPr>
          <p:cNvPr id="7" name="Picture 6" descr="Text&#10;&#10;Description automatically generated">
            <a:extLst>
              <a:ext uri="{FF2B5EF4-FFF2-40B4-BE49-F238E27FC236}">
                <a16:creationId xmlns:a16="http://schemas.microsoft.com/office/drawing/2014/main" id="{8B10C00D-832F-7EBB-7A28-DF856471AB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1641" y="5501441"/>
            <a:ext cx="2286000" cy="1281546"/>
          </a:xfrm>
          <a:prstGeom prst="rect">
            <a:avLst/>
          </a:prstGeom>
        </p:spPr>
      </p:pic>
    </p:spTree>
    <p:extLst>
      <p:ext uri="{BB962C8B-B14F-4D97-AF65-F5344CB8AC3E}">
        <p14:creationId xmlns:p14="http://schemas.microsoft.com/office/powerpoint/2010/main" val="3042371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Variables</a:t>
            </a:r>
            <a:endParaRPr lang="en-GB" dirty="0"/>
          </a:p>
        </p:txBody>
      </p:sp>
      <p:sp>
        <p:nvSpPr>
          <p:cNvPr id="3" name="Content Placeholder 2"/>
          <p:cNvSpPr>
            <a:spLocks noGrp="1"/>
          </p:cNvSpPr>
          <p:nvPr>
            <p:ph idx="1"/>
          </p:nvPr>
        </p:nvSpPr>
        <p:spPr/>
        <p:txBody>
          <a:bodyPr/>
          <a:lstStyle/>
          <a:p>
            <a:pPr marL="0" indent="0">
              <a:buNone/>
            </a:pPr>
            <a:r>
              <a:rPr lang="en-GB" dirty="0"/>
              <a:t>Variables are containers for storing data in your program. They have a type (e.g., </a:t>
            </a:r>
            <a:r>
              <a:rPr lang="en-GB" dirty="0" err="1"/>
              <a:t>int</a:t>
            </a:r>
            <a:r>
              <a:rPr lang="en-GB" dirty="0"/>
              <a:t>, String) and can be used to represent various types of information.</a:t>
            </a:r>
            <a:endParaRPr lang="en-GB" dirty="0"/>
          </a:p>
        </p:txBody>
      </p:sp>
      <p:pic>
        <p:nvPicPr>
          <p:cNvPr id="4" name="Picture 3"/>
          <p:cNvPicPr>
            <a:picLocks noChangeAspect="1"/>
          </p:cNvPicPr>
          <p:nvPr/>
        </p:nvPicPr>
        <p:blipFill>
          <a:blip r:embed="rId2"/>
          <a:stretch>
            <a:fillRect/>
          </a:stretch>
        </p:blipFill>
        <p:spPr>
          <a:xfrm>
            <a:off x="3048000" y="3505200"/>
            <a:ext cx="5224707" cy="3276600"/>
          </a:xfrm>
          <a:prstGeom prst="rect">
            <a:avLst/>
          </a:prstGeom>
        </p:spPr>
      </p:pic>
    </p:spTree>
    <p:extLst>
      <p:ext uri="{BB962C8B-B14F-4D97-AF65-F5344CB8AC3E}">
        <p14:creationId xmlns:p14="http://schemas.microsoft.com/office/powerpoint/2010/main" val="600470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Primitive Data Types</a:t>
            </a:r>
            <a:endParaRPr lang="en-GB" dirty="0"/>
          </a:p>
        </p:txBody>
      </p:sp>
      <p:sp>
        <p:nvSpPr>
          <p:cNvPr id="4" name="Rectangle 1"/>
          <p:cNvSpPr>
            <a:spLocks noGrp="1" noChangeArrowheads="1"/>
          </p:cNvSpPr>
          <p:nvPr>
            <p:ph idx="1"/>
          </p:nvPr>
        </p:nvSpPr>
        <p:spPr bwMode="auto">
          <a:xfrm>
            <a:off x="599768" y="762000"/>
            <a:ext cx="4495800" cy="4771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smtClean="0">
                <a:ln>
                  <a:noFill/>
                </a:ln>
                <a:solidFill>
                  <a:srgbClr val="374151"/>
                </a:solidFill>
                <a:effectLst/>
                <a:latin typeface="Söhne"/>
              </a:rPr>
              <a:t>byte:</a:t>
            </a:r>
            <a:endParaRPr kumimoji="0" lang="en-US" altLang="en-US" sz="2000" b="0" i="0" u="none" strike="noStrike" cap="none" normalizeH="0" baseline="0" dirty="0" smtClean="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rgbClr val="374151"/>
                </a:solidFill>
                <a:effectLst/>
                <a:latin typeface="Söhne"/>
              </a:rPr>
              <a:t>Size: 8 bits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rgbClr val="374151"/>
                </a:solidFill>
                <a:effectLst/>
                <a:latin typeface="Söhne"/>
              </a:rPr>
              <a:t>Range: -128 to 127</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smtClean="0">
                <a:ln>
                  <a:noFill/>
                </a:ln>
                <a:solidFill>
                  <a:srgbClr val="374151"/>
                </a:solidFill>
                <a:effectLst/>
                <a:latin typeface="Söhne"/>
              </a:rPr>
              <a:t>short:</a:t>
            </a:r>
            <a:endParaRPr kumimoji="0" lang="en-US" altLang="en-US" sz="2000" b="0" i="0" u="none" strike="noStrike" cap="none" normalizeH="0" baseline="0" dirty="0" smtClean="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rgbClr val="374151"/>
                </a:solidFill>
                <a:effectLst/>
                <a:latin typeface="Söhne"/>
              </a:rPr>
              <a:t>Size: 16 bits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rgbClr val="374151"/>
                </a:solidFill>
                <a:effectLst/>
                <a:latin typeface="Söhne"/>
              </a:rPr>
              <a:t>Range: -32,768 to 32,767</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err="1" smtClean="0">
                <a:ln>
                  <a:noFill/>
                </a:ln>
                <a:solidFill>
                  <a:srgbClr val="374151"/>
                </a:solidFill>
                <a:effectLst/>
                <a:latin typeface="Söhne"/>
              </a:rPr>
              <a:t>int</a:t>
            </a:r>
            <a:r>
              <a:rPr kumimoji="0" lang="en-US" altLang="en-US" sz="2000" b="1" i="0" u="none" strike="noStrike" cap="none" normalizeH="0" baseline="0" dirty="0" smtClean="0">
                <a:ln>
                  <a:noFill/>
                </a:ln>
                <a:solidFill>
                  <a:srgbClr val="374151"/>
                </a:solidFill>
                <a:effectLst/>
                <a:latin typeface="Söhne"/>
              </a:rPr>
              <a:t>:</a:t>
            </a:r>
            <a:endParaRPr kumimoji="0" lang="en-US" altLang="en-US" sz="2000" b="0" i="0" u="none" strike="noStrike" cap="none" normalizeH="0" baseline="0" dirty="0" smtClean="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rgbClr val="374151"/>
                </a:solidFill>
                <a:effectLst/>
                <a:latin typeface="Söhne"/>
              </a:rPr>
              <a:t>Size: 32 bits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rgbClr val="374151"/>
                </a:solidFill>
                <a:effectLst/>
                <a:latin typeface="Söhne"/>
              </a:rPr>
              <a:t>Range: -2^31 to 2^31 - 1</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000" b="1" i="0" u="none" strike="noStrike" cap="none" normalizeH="0" baseline="0" dirty="0" smtClean="0">
                <a:ln>
                  <a:noFill/>
                </a:ln>
                <a:solidFill>
                  <a:srgbClr val="374151"/>
                </a:solidFill>
                <a:effectLst/>
                <a:latin typeface="Söhne"/>
              </a:rPr>
              <a:t>long:</a:t>
            </a:r>
            <a:endParaRPr kumimoji="0" lang="en-US" altLang="en-US" sz="2000" b="0" i="0" u="none" strike="noStrike" cap="none" normalizeH="0" baseline="0" dirty="0" smtClean="0">
              <a:ln>
                <a:noFill/>
              </a:ln>
              <a:solidFill>
                <a:srgbClr val="374151"/>
              </a:solidFill>
              <a:effectLst/>
              <a:latin typeface="Söhne"/>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rgbClr val="374151"/>
                </a:solidFill>
                <a:effectLst/>
                <a:latin typeface="Söhne"/>
              </a:rPr>
              <a:t>Size: 64 bits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smtClean="0">
                <a:ln>
                  <a:noFill/>
                </a:ln>
                <a:solidFill>
                  <a:srgbClr val="374151"/>
                </a:solidFill>
                <a:effectLst/>
                <a:latin typeface="Söhne"/>
              </a:rPr>
              <a:t>Range: -2^63 to 2^63 – 1</a:t>
            </a:r>
          </a:p>
          <a:p>
            <a:pPr marL="457200" marR="0" lvl="1" indent="0" algn="l" defTabSz="914400" rtl="0" eaLnBrk="0" fontAlgn="base" latinLnBrk="0" hangingPunct="0">
              <a:lnSpc>
                <a:spcPct val="100000"/>
              </a:lnSpc>
              <a:spcBef>
                <a:spcPct val="0"/>
              </a:spcBef>
              <a:spcAft>
                <a:spcPct val="0"/>
              </a:spcAft>
              <a:buClrTx/>
              <a:buSzTx/>
              <a:buNone/>
              <a:tabLst/>
            </a:pPr>
            <a:endParaRPr lang="en-US" altLang="en-US" sz="1200" dirty="0">
              <a:solidFill>
                <a:srgbClr val="374151"/>
              </a:solidFill>
              <a:latin typeface="Söhne"/>
            </a:endParaRPr>
          </a:p>
        </p:txBody>
      </p:sp>
      <p:sp>
        <p:nvSpPr>
          <p:cNvPr id="5" name="TextBox 4"/>
          <p:cNvSpPr txBox="1"/>
          <p:nvPr/>
        </p:nvSpPr>
        <p:spPr>
          <a:xfrm>
            <a:off x="6477000" y="1113506"/>
            <a:ext cx="4465319" cy="4708981"/>
          </a:xfrm>
          <a:prstGeom prst="rect">
            <a:avLst/>
          </a:prstGeom>
          <a:noFill/>
        </p:spPr>
        <p:txBody>
          <a:bodyPr wrap="square" rtlCol="0">
            <a:spAutoFit/>
          </a:bodyPr>
          <a:lstStyle/>
          <a:p>
            <a:pPr lvl="1" eaLnBrk="0" fontAlgn="base" hangingPunct="0">
              <a:spcBef>
                <a:spcPct val="0"/>
              </a:spcBef>
              <a:spcAft>
                <a:spcPct val="0"/>
              </a:spcAft>
              <a:buFontTx/>
              <a:buChar char="•"/>
            </a:pPr>
            <a:endParaRPr lang="en-US" altLang="en-US" sz="2000" dirty="0">
              <a:solidFill>
                <a:srgbClr val="374151"/>
              </a:solidFill>
              <a:latin typeface="Söhne"/>
            </a:endParaRPr>
          </a:p>
          <a:p>
            <a:pPr lvl="0" eaLnBrk="0" fontAlgn="base" hangingPunct="0">
              <a:spcBef>
                <a:spcPct val="0"/>
              </a:spcBef>
              <a:spcAft>
                <a:spcPct val="0"/>
              </a:spcAft>
              <a:buFontTx/>
              <a:buAutoNum type="arabicPeriod" startAt="5"/>
            </a:pPr>
            <a:r>
              <a:rPr lang="en-US" altLang="en-US" sz="2000" b="1" dirty="0">
                <a:solidFill>
                  <a:srgbClr val="374151"/>
                </a:solidFill>
                <a:latin typeface="Söhne"/>
              </a:rPr>
              <a:t>float:</a:t>
            </a:r>
            <a:endParaRPr lang="en-US" altLang="en-US" sz="2000" dirty="0">
              <a:solidFill>
                <a:srgbClr val="374151"/>
              </a:solidFill>
              <a:latin typeface="Söhne"/>
            </a:endParaRPr>
          </a:p>
          <a:p>
            <a:pPr lvl="1" eaLnBrk="0" fontAlgn="base" hangingPunct="0">
              <a:spcBef>
                <a:spcPct val="0"/>
              </a:spcBef>
              <a:spcAft>
                <a:spcPct val="0"/>
              </a:spcAft>
              <a:buFontTx/>
              <a:buChar char="•"/>
            </a:pPr>
            <a:r>
              <a:rPr lang="en-US" altLang="en-US" sz="2000" dirty="0">
                <a:solidFill>
                  <a:srgbClr val="374151"/>
                </a:solidFill>
                <a:latin typeface="Söhne"/>
              </a:rPr>
              <a:t>Size: 32 bits</a:t>
            </a:r>
          </a:p>
          <a:p>
            <a:pPr lvl="1" eaLnBrk="0" fontAlgn="base" hangingPunct="0">
              <a:spcBef>
                <a:spcPct val="0"/>
              </a:spcBef>
              <a:spcAft>
                <a:spcPct val="0"/>
              </a:spcAft>
              <a:buFontTx/>
              <a:buChar char="•"/>
            </a:pPr>
            <a:r>
              <a:rPr lang="en-US" altLang="en-US" sz="2000" dirty="0">
                <a:solidFill>
                  <a:srgbClr val="374151"/>
                </a:solidFill>
                <a:latin typeface="Söhne"/>
              </a:rPr>
              <a:t>Range: Approximately ±3.4e^38 (7 significant digits)</a:t>
            </a:r>
          </a:p>
          <a:p>
            <a:pPr lvl="0" eaLnBrk="0" fontAlgn="base" hangingPunct="0">
              <a:spcBef>
                <a:spcPct val="0"/>
              </a:spcBef>
              <a:spcAft>
                <a:spcPct val="0"/>
              </a:spcAft>
              <a:buFontTx/>
              <a:buAutoNum type="arabicPeriod" startAt="6"/>
            </a:pPr>
            <a:r>
              <a:rPr lang="en-US" altLang="en-US" sz="2000" b="1" dirty="0">
                <a:solidFill>
                  <a:srgbClr val="374151"/>
                </a:solidFill>
                <a:latin typeface="Söhne"/>
              </a:rPr>
              <a:t>double:</a:t>
            </a:r>
            <a:endParaRPr lang="en-US" altLang="en-US" sz="2000" dirty="0">
              <a:solidFill>
                <a:srgbClr val="374151"/>
              </a:solidFill>
              <a:latin typeface="Söhne"/>
            </a:endParaRPr>
          </a:p>
          <a:p>
            <a:pPr lvl="1" eaLnBrk="0" fontAlgn="base" hangingPunct="0">
              <a:spcBef>
                <a:spcPct val="0"/>
              </a:spcBef>
              <a:spcAft>
                <a:spcPct val="0"/>
              </a:spcAft>
              <a:buFontTx/>
              <a:buChar char="•"/>
            </a:pPr>
            <a:r>
              <a:rPr lang="en-US" altLang="en-US" sz="2000" dirty="0">
                <a:solidFill>
                  <a:srgbClr val="374151"/>
                </a:solidFill>
                <a:latin typeface="Söhne"/>
              </a:rPr>
              <a:t>Size: 64 bits</a:t>
            </a:r>
          </a:p>
          <a:p>
            <a:pPr lvl="1" eaLnBrk="0" fontAlgn="base" hangingPunct="0">
              <a:spcBef>
                <a:spcPct val="0"/>
              </a:spcBef>
              <a:spcAft>
                <a:spcPct val="0"/>
              </a:spcAft>
              <a:buFontTx/>
              <a:buChar char="•"/>
            </a:pPr>
            <a:r>
              <a:rPr lang="en-US" altLang="en-US" sz="2000" dirty="0">
                <a:solidFill>
                  <a:srgbClr val="374151"/>
                </a:solidFill>
                <a:latin typeface="Söhne"/>
              </a:rPr>
              <a:t>Range: Approximately ±1.8e^308 (15 significant digits)</a:t>
            </a:r>
          </a:p>
          <a:p>
            <a:pPr lvl="0" eaLnBrk="0" fontAlgn="base" hangingPunct="0">
              <a:spcBef>
                <a:spcPct val="0"/>
              </a:spcBef>
              <a:spcAft>
                <a:spcPct val="0"/>
              </a:spcAft>
              <a:buFontTx/>
              <a:buAutoNum type="arabicPeriod" startAt="7"/>
            </a:pPr>
            <a:r>
              <a:rPr lang="en-US" altLang="en-US" sz="2000" b="1" dirty="0">
                <a:solidFill>
                  <a:srgbClr val="374151"/>
                </a:solidFill>
                <a:latin typeface="Söhne"/>
              </a:rPr>
              <a:t>char:</a:t>
            </a:r>
            <a:endParaRPr lang="en-US" altLang="en-US" sz="2000" dirty="0">
              <a:solidFill>
                <a:srgbClr val="374151"/>
              </a:solidFill>
              <a:latin typeface="Söhne"/>
            </a:endParaRPr>
          </a:p>
          <a:p>
            <a:pPr lvl="1" eaLnBrk="0" fontAlgn="base" hangingPunct="0">
              <a:spcBef>
                <a:spcPct val="0"/>
              </a:spcBef>
              <a:spcAft>
                <a:spcPct val="0"/>
              </a:spcAft>
              <a:buFontTx/>
              <a:buChar char="•"/>
            </a:pPr>
            <a:r>
              <a:rPr lang="en-US" altLang="en-US" sz="2000" dirty="0">
                <a:solidFill>
                  <a:srgbClr val="374151"/>
                </a:solidFill>
                <a:latin typeface="Söhne"/>
              </a:rPr>
              <a:t>Size: 16 bits</a:t>
            </a:r>
          </a:p>
          <a:p>
            <a:pPr lvl="1" eaLnBrk="0" fontAlgn="base" hangingPunct="0">
              <a:spcBef>
                <a:spcPct val="0"/>
              </a:spcBef>
              <a:spcAft>
                <a:spcPct val="0"/>
              </a:spcAft>
              <a:buFontTx/>
              <a:buChar char="•"/>
            </a:pPr>
            <a:r>
              <a:rPr lang="en-US" altLang="en-US" sz="2000" dirty="0">
                <a:solidFill>
                  <a:srgbClr val="374151"/>
                </a:solidFill>
                <a:latin typeface="Söhne"/>
              </a:rPr>
              <a:t>Represents a single Unicode character</a:t>
            </a:r>
          </a:p>
          <a:p>
            <a:pPr lvl="0" eaLnBrk="0" fontAlgn="base" hangingPunct="0">
              <a:spcBef>
                <a:spcPct val="0"/>
              </a:spcBef>
              <a:spcAft>
                <a:spcPct val="0"/>
              </a:spcAft>
              <a:buFontTx/>
              <a:buAutoNum type="arabicPeriod" startAt="8"/>
            </a:pPr>
            <a:r>
              <a:rPr lang="en-US" altLang="en-US" sz="2000" b="1" dirty="0" err="1">
                <a:solidFill>
                  <a:srgbClr val="374151"/>
                </a:solidFill>
                <a:latin typeface="Söhne"/>
              </a:rPr>
              <a:t>boolean</a:t>
            </a:r>
            <a:r>
              <a:rPr lang="en-US" altLang="en-US" sz="2000" b="1" dirty="0">
                <a:solidFill>
                  <a:srgbClr val="374151"/>
                </a:solidFill>
                <a:latin typeface="Söhne"/>
              </a:rPr>
              <a:t>:</a:t>
            </a:r>
            <a:endParaRPr lang="en-US" altLang="en-US" sz="2000" dirty="0">
              <a:solidFill>
                <a:srgbClr val="374151"/>
              </a:solidFill>
              <a:latin typeface="Söhne"/>
            </a:endParaRPr>
          </a:p>
          <a:p>
            <a:pPr lvl="1" eaLnBrk="0" fontAlgn="base" hangingPunct="0">
              <a:spcBef>
                <a:spcPct val="0"/>
              </a:spcBef>
              <a:spcAft>
                <a:spcPct val="0"/>
              </a:spcAft>
              <a:buFontTx/>
              <a:buChar char="•"/>
            </a:pPr>
            <a:r>
              <a:rPr lang="en-US" altLang="en-US" sz="2000" dirty="0" smtClean="0">
                <a:solidFill>
                  <a:srgbClr val="374151"/>
                </a:solidFill>
                <a:latin typeface="Söhne"/>
              </a:rPr>
              <a:t>Represents </a:t>
            </a:r>
            <a:r>
              <a:rPr lang="en-US" altLang="en-US" sz="2000" dirty="0">
                <a:solidFill>
                  <a:srgbClr val="374151"/>
                </a:solidFill>
                <a:latin typeface="Söhne"/>
              </a:rPr>
              <a:t>true or false</a:t>
            </a:r>
          </a:p>
        </p:txBody>
      </p:sp>
      <p:sp>
        <p:nvSpPr>
          <p:cNvPr id="6" name="TextBox 5"/>
          <p:cNvSpPr txBox="1"/>
          <p:nvPr/>
        </p:nvSpPr>
        <p:spPr>
          <a:xfrm>
            <a:off x="457200" y="5820029"/>
            <a:ext cx="11658600" cy="1015663"/>
          </a:xfrm>
          <a:prstGeom prst="rect">
            <a:avLst/>
          </a:prstGeom>
          <a:noFill/>
        </p:spPr>
        <p:txBody>
          <a:bodyPr wrap="square" rtlCol="0">
            <a:spAutoFit/>
          </a:bodyPr>
          <a:lstStyle/>
          <a:p>
            <a:r>
              <a:rPr lang="en-US" altLang="en-US" sz="2000" dirty="0">
                <a:solidFill>
                  <a:srgbClr val="374151"/>
                </a:solidFill>
                <a:latin typeface="Söhne"/>
              </a:rPr>
              <a:t>These primitive data types are the building blocks for storing numeric and </a:t>
            </a:r>
            <a:r>
              <a:rPr lang="en-US" altLang="en-US" sz="2000" dirty="0" err="1">
                <a:solidFill>
                  <a:srgbClr val="374151"/>
                </a:solidFill>
                <a:latin typeface="Söhne"/>
              </a:rPr>
              <a:t>boolean</a:t>
            </a:r>
            <a:r>
              <a:rPr lang="en-US" altLang="en-US" sz="2000" dirty="0">
                <a:solidFill>
                  <a:srgbClr val="374151"/>
                </a:solidFill>
                <a:latin typeface="Söhne"/>
              </a:rPr>
              <a:t> values in Java. It's important to choose the appropriate data type based on the range and precision needed for a particular variable. </a:t>
            </a:r>
            <a:endParaRPr lang="en-GB" sz="2000" dirty="0"/>
          </a:p>
        </p:txBody>
      </p:sp>
    </p:spTree>
    <p:extLst>
      <p:ext uri="{BB962C8B-B14F-4D97-AF65-F5344CB8AC3E}">
        <p14:creationId xmlns:p14="http://schemas.microsoft.com/office/powerpoint/2010/main" val="918448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Code Example</a:t>
            </a:r>
            <a:endParaRPr lang="en-GB" dirty="0"/>
          </a:p>
        </p:txBody>
      </p:sp>
      <p:pic>
        <p:nvPicPr>
          <p:cNvPr id="6" name="Picture 5"/>
          <p:cNvPicPr>
            <a:picLocks noChangeAspect="1"/>
          </p:cNvPicPr>
          <p:nvPr/>
        </p:nvPicPr>
        <p:blipFill rotWithShape="1">
          <a:blip r:embed="rId2"/>
          <a:srcRect t="2013"/>
          <a:stretch/>
        </p:blipFill>
        <p:spPr>
          <a:xfrm>
            <a:off x="5105400" y="76200"/>
            <a:ext cx="6296025" cy="6803923"/>
          </a:xfrm>
          <a:prstGeom prst="rect">
            <a:avLst/>
          </a:prstGeom>
        </p:spPr>
      </p:pic>
    </p:spTree>
    <p:extLst>
      <p:ext uri="{BB962C8B-B14F-4D97-AF65-F5344CB8AC3E}">
        <p14:creationId xmlns:p14="http://schemas.microsoft.com/office/powerpoint/2010/main" val="3078455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Variable Exercise</a:t>
            </a:r>
            <a:endParaRPr lang="en-GB" dirty="0"/>
          </a:p>
        </p:txBody>
      </p:sp>
      <p:sp>
        <p:nvSpPr>
          <p:cNvPr id="4" name="Rectangle 1"/>
          <p:cNvSpPr>
            <a:spLocks noGrp="1" noChangeArrowheads="1"/>
          </p:cNvSpPr>
          <p:nvPr>
            <p:ph idx="1"/>
          </p:nvPr>
        </p:nvSpPr>
        <p:spPr bwMode="auto">
          <a:xfrm>
            <a:off x="762000" y="1676400"/>
            <a:ext cx="1082040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eaLnBrk="0" fontAlgn="base" hangingPunct="0">
              <a:spcBef>
                <a:spcPct val="0"/>
              </a:spcBef>
              <a:spcAft>
                <a:spcPct val="0"/>
              </a:spcAft>
            </a:pPr>
            <a:r>
              <a:rPr kumimoji="0" lang="en-US" altLang="en-US" b="0" i="0" u="none" strike="noStrike" cap="none" normalizeH="0" baseline="0" dirty="0" smtClean="0">
                <a:ln>
                  <a:noFill/>
                </a:ln>
                <a:solidFill>
                  <a:srgbClr val="374151"/>
                </a:solidFill>
                <a:effectLst/>
                <a:latin typeface="Söhne"/>
              </a:rPr>
              <a:t>Declare an integer variable named </a:t>
            </a:r>
            <a:r>
              <a:rPr kumimoji="0" lang="en-US" altLang="en-US" b="1" i="0" u="none" strike="noStrike" cap="none" normalizeH="0" baseline="0" dirty="0" err="1" smtClean="0">
                <a:ln>
                  <a:noFill/>
                </a:ln>
                <a:solidFill>
                  <a:srgbClr val="374151"/>
                </a:solidFill>
                <a:effectLst/>
                <a:latin typeface="Söhne Mono"/>
              </a:rPr>
              <a:t>myAge</a:t>
            </a:r>
            <a:r>
              <a:rPr kumimoji="0" lang="en-US" altLang="en-US" b="0" i="0" u="none" strike="noStrike" cap="none" normalizeH="0" baseline="0" dirty="0" smtClean="0">
                <a:ln>
                  <a:noFill/>
                </a:ln>
                <a:solidFill>
                  <a:srgbClr val="374151"/>
                </a:solidFill>
                <a:effectLst/>
                <a:latin typeface="Söhne"/>
              </a:rPr>
              <a:t> and </a:t>
            </a:r>
            <a:r>
              <a:rPr kumimoji="0" lang="en-US" altLang="en-US" b="0" i="0" u="none" strike="noStrike" cap="none" normalizeH="0" baseline="0" dirty="0" err="1" smtClean="0">
                <a:ln>
                  <a:noFill/>
                </a:ln>
                <a:solidFill>
                  <a:srgbClr val="374151"/>
                </a:solidFill>
                <a:effectLst/>
                <a:latin typeface="Söhne"/>
              </a:rPr>
              <a:t>initialise</a:t>
            </a:r>
            <a:r>
              <a:rPr kumimoji="0" lang="en-US" altLang="en-US" b="0" i="0" u="none" strike="noStrike" cap="none" normalizeH="0" baseline="0" dirty="0" smtClean="0">
                <a:ln>
                  <a:noFill/>
                </a:ln>
                <a:solidFill>
                  <a:srgbClr val="374151"/>
                </a:solidFill>
                <a:effectLst/>
                <a:latin typeface="Söhne"/>
              </a:rPr>
              <a:t> it with your age.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smtClean="0">
              <a:ln>
                <a:noFill/>
              </a:ln>
              <a:solidFill>
                <a:srgbClr val="374151"/>
              </a:solidFill>
              <a:effectLst/>
              <a:latin typeface="Söhne"/>
            </a:endParaRPr>
          </a:p>
          <a:p>
            <a:pPr eaLnBrk="0" fontAlgn="base" hangingPunct="0">
              <a:spcBef>
                <a:spcPct val="0"/>
              </a:spcBef>
              <a:spcAft>
                <a:spcPct val="0"/>
              </a:spcAft>
            </a:pPr>
            <a:r>
              <a:rPr kumimoji="0" lang="en-US" altLang="en-US" b="0" i="0" u="none" strike="noStrike" cap="none" normalizeH="0" baseline="0" dirty="0" smtClean="0">
                <a:ln>
                  <a:noFill/>
                </a:ln>
                <a:solidFill>
                  <a:srgbClr val="374151"/>
                </a:solidFill>
                <a:effectLst/>
                <a:latin typeface="Söhne"/>
              </a:rPr>
              <a:t>Declare a String variable named </a:t>
            </a:r>
            <a:r>
              <a:rPr kumimoji="0" lang="en-US" altLang="en-US" b="1" i="0" u="none" strike="noStrike" cap="none" normalizeH="0" baseline="0" dirty="0" err="1" smtClean="0">
                <a:ln>
                  <a:noFill/>
                </a:ln>
                <a:solidFill>
                  <a:srgbClr val="374151"/>
                </a:solidFill>
                <a:effectLst/>
                <a:latin typeface="Söhne Mono"/>
              </a:rPr>
              <a:t>myName</a:t>
            </a:r>
            <a:r>
              <a:rPr kumimoji="0" lang="en-US" altLang="en-US" b="0" i="0" u="none" strike="noStrike" cap="none" normalizeH="0" baseline="0" dirty="0" smtClean="0">
                <a:ln>
                  <a:noFill/>
                </a:ln>
                <a:solidFill>
                  <a:srgbClr val="374151"/>
                </a:solidFill>
                <a:effectLst/>
                <a:latin typeface="Söhne"/>
              </a:rPr>
              <a:t> and </a:t>
            </a:r>
            <a:r>
              <a:rPr kumimoji="0" lang="en-US" altLang="en-US" b="0" i="0" u="none" strike="noStrike" cap="none" normalizeH="0" baseline="0" dirty="0" err="1" smtClean="0">
                <a:ln>
                  <a:noFill/>
                </a:ln>
                <a:solidFill>
                  <a:srgbClr val="374151"/>
                </a:solidFill>
                <a:effectLst/>
                <a:latin typeface="Söhne"/>
              </a:rPr>
              <a:t>initialise</a:t>
            </a:r>
            <a:r>
              <a:rPr kumimoji="0" lang="en-US" altLang="en-US" b="0" i="0" u="none" strike="noStrike" cap="none" normalizeH="0" baseline="0" dirty="0" smtClean="0">
                <a:ln>
                  <a:noFill/>
                </a:ln>
                <a:solidFill>
                  <a:srgbClr val="374151"/>
                </a:solidFill>
                <a:effectLst/>
                <a:latin typeface="Söhne"/>
              </a:rPr>
              <a:t> it with your name.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smtClean="0">
              <a:ln>
                <a:noFill/>
              </a:ln>
              <a:solidFill>
                <a:srgbClr val="374151"/>
              </a:solidFill>
              <a:effectLst/>
              <a:latin typeface="Söhne"/>
            </a:endParaRPr>
          </a:p>
          <a:p>
            <a:pPr eaLnBrk="0" fontAlgn="base" hangingPunct="0">
              <a:spcBef>
                <a:spcPct val="0"/>
              </a:spcBef>
              <a:spcAft>
                <a:spcPct val="0"/>
              </a:spcAft>
            </a:pPr>
            <a:r>
              <a:rPr kumimoji="0" lang="en-US" altLang="en-US" b="0" i="0" u="none" strike="noStrike" cap="none" normalizeH="0" baseline="0" dirty="0" smtClean="0">
                <a:ln>
                  <a:noFill/>
                </a:ln>
                <a:solidFill>
                  <a:srgbClr val="374151"/>
                </a:solidFill>
                <a:effectLst/>
                <a:latin typeface="Söhne"/>
              </a:rPr>
              <a:t>Print both variables to the console.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17901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Variable Solution</a:t>
            </a:r>
            <a:endParaRPr lang="en-GB" dirty="0"/>
          </a:p>
        </p:txBody>
      </p:sp>
      <p:pic>
        <p:nvPicPr>
          <p:cNvPr id="5" name="Picture 4"/>
          <p:cNvPicPr>
            <a:picLocks noChangeAspect="1"/>
          </p:cNvPicPr>
          <p:nvPr/>
        </p:nvPicPr>
        <p:blipFill>
          <a:blip r:embed="rId2"/>
          <a:stretch>
            <a:fillRect/>
          </a:stretch>
        </p:blipFill>
        <p:spPr>
          <a:xfrm>
            <a:off x="685800" y="1523999"/>
            <a:ext cx="8991600" cy="5345007"/>
          </a:xfrm>
          <a:prstGeom prst="rect">
            <a:avLst/>
          </a:prstGeom>
        </p:spPr>
      </p:pic>
    </p:spTree>
    <p:extLst>
      <p:ext uri="{BB962C8B-B14F-4D97-AF65-F5344CB8AC3E}">
        <p14:creationId xmlns:p14="http://schemas.microsoft.com/office/powerpoint/2010/main" val="3779416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Selection (if statement)</a:t>
            </a:r>
          </a:p>
        </p:txBody>
      </p:sp>
      <p:sp>
        <p:nvSpPr>
          <p:cNvPr id="3" name="Content Placeholder 2"/>
          <p:cNvSpPr>
            <a:spLocks noGrp="1"/>
          </p:cNvSpPr>
          <p:nvPr>
            <p:ph idx="1"/>
          </p:nvPr>
        </p:nvSpPr>
        <p:spPr/>
        <p:txBody>
          <a:bodyPr/>
          <a:lstStyle/>
          <a:p>
            <a:r>
              <a:rPr lang="en-GB" dirty="0"/>
              <a:t>The 'if' statement allows us to make decisions in our code based on conditions. If a condition is true, one set of statements executes; otherwise, another set executes</a:t>
            </a:r>
            <a:r>
              <a:rPr lang="en-GB" dirty="0" smtClean="0"/>
              <a:t>.</a:t>
            </a:r>
          </a:p>
          <a:p>
            <a:endParaRPr lang="en-GB" dirty="0"/>
          </a:p>
        </p:txBody>
      </p:sp>
      <p:pic>
        <p:nvPicPr>
          <p:cNvPr id="4" name="Picture 3"/>
          <p:cNvPicPr>
            <a:picLocks noChangeAspect="1"/>
          </p:cNvPicPr>
          <p:nvPr/>
        </p:nvPicPr>
        <p:blipFill>
          <a:blip r:embed="rId2"/>
          <a:stretch>
            <a:fillRect/>
          </a:stretch>
        </p:blipFill>
        <p:spPr>
          <a:xfrm>
            <a:off x="1752600" y="3200400"/>
            <a:ext cx="7848600" cy="3370873"/>
          </a:xfrm>
          <a:prstGeom prst="rect">
            <a:avLst/>
          </a:prstGeom>
        </p:spPr>
      </p:pic>
    </p:spTree>
    <p:extLst>
      <p:ext uri="{BB962C8B-B14F-4D97-AF65-F5344CB8AC3E}">
        <p14:creationId xmlns:p14="http://schemas.microsoft.com/office/powerpoint/2010/main" val="3691943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Exercise – if statement</a:t>
            </a:r>
            <a:endParaRPr lang="en-GB" dirty="0"/>
          </a:p>
        </p:txBody>
      </p:sp>
      <p:sp>
        <p:nvSpPr>
          <p:cNvPr id="3" name="Content Placeholder 2"/>
          <p:cNvSpPr>
            <a:spLocks noGrp="1"/>
          </p:cNvSpPr>
          <p:nvPr>
            <p:ph idx="1"/>
          </p:nvPr>
        </p:nvSpPr>
        <p:spPr>
          <a:xfrm>
            <a:off x="609600" y="1600201"/>
            <a:ext cx="10972800" cy="2285999"/>
          </a:xfrm>
        </p:spPr>
        <p:txBody>
          <a:bodyPr>
            <a:normAutofit/>
          </a:bodyPr>
          <a:lstStyle/>
          <a:p>
            <a:pPr marL="0" indent="0">
              <a:buNone/>
            </a:pPr>
            <a:r>
              <a:rPr lang="en-GB" sz="3600" dirty="0"/>
              <a:t>Write a Java program that takes a user's age as input and prints "You are a minor" if the age is less than 18; otherwise, print "You are an adult."</a:t>
            </a:r>
            <a:endParaRPr lang="en-GB" sz="3600" dirty="0"/>
          </a:p>
        </p:txBody>
      </p:sp>
      <p:pic>
        <p:nvPicPr>
          <p:cNvPr id="4" name="Picture 3"/>
          <p:cNvPicPr>
            <a:picLocks noChangeAspect="1"/>
          </p:cNvPicPr>
          <p:nvPr/>
        </p:nvPicPr>
        <p:blipFill rotWithShape="1">
          <a:blip r:embed="rId2"/>
          <a:srcRect t="9091"/>
          <a:stretch/>
        </p:blipFill>
        <p:spPr>
          <a:xfrm>
            <a:off x="399658" y="3743018"/>
            <a:ext cx="5170916" cy="1676400"/>
          </a:xfrm>
          <a:prstGeom prst="rect">
            <a:avLst/>
          </a:prstGeom>
        </p:spPr>
      </p:pic>
      <p:pic>
        <p:nvPicPr>
          <p:cNvPr id="5" name="Picture 4"/>
          <p:cNvPicPr>
            <a:picLocks noChangeAspect="1"/>
          </p:cNvPicPr>
          <p:nvPr/>
        </p:nvPicPr>
        <p:blipFill>
          <a:blip r:embed="rId3"/>
          <a:stretch>
            <a:fillRect/>
          </a:stretch>
        </p:blipFill>
        <p:spPr>
          <a:xfrm>
            <a:off x="5780516" y="3666818"/>
            <a:ext cx="6011826" cy="1752600"/>
          </a:xfrm>
          <a:prstGeom prst="rect">
            <a:avLst/>
          </a:prstGeom>
        </p:spPr>
      </p:pic>
      <p:pic>
        <p:nvPicPr>
          <p:cNvPr id="6" name="Picture 5"/>
          <p:cNvPicPr>
            <a:picLocks noChangeAspect="1"/>
          </p:cNvPicPr>
          <p:nvPr/>
        </p:nvPicPr>
        <p:blipFill>
          <a:blip r:embed="rId4"/>
          <a:stretch>
            <a:fillRect/>
          </a:stretch>
        </p:blipFill>
        <p:spPr>
          <a:xfrm>
            <a:off x="2985116" y="5372100"/>
            <a:ext cx="5489575" cy="1485900"/>
          </a:xfrm>
          <a:prstGeom prst="rect">
            <a:avLst/>
          </a:prstGeom>
        </p:spPr>
      </p:pic>
    </p:spTree>
    <p:extLst>
      <p:ext uri="{BB962C8B-B14F-4D97-AF65-F5344CB8AC3E}">
        <p14:creationId xmlns:p14="http://schemas.microsoft.com/office/powerpoint/2010/main" val="1185645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2290"/>
            <a:ext cx="10972800" cy="1143000"/>
          </a:xfrm>
        </p:spPr>
        <p:txBody>
          <a:bodyPr/>
          <a:lstStyle/>
          <a:p>
            <a:r>
              <a:rPr lang="en-GB" dirty="0" smtClean="0"/>
              <a:t>Solution – if statement</a:t>
            </a:r>
            <a:endParaRPr lang="en-GB" dirty="0"/>
          </a:p>
        </p:txBody>
      </p:sp>
      <p:pic>
        <p:nvPicPr>
          <p:cNvPr id="5" name="Picture 4"/>
          <p:cNvPicPr>
            <a:picLocks noChangeAspect="1"/>
          </p:cNvPicPr>
          <p:nvPr/>
        </p:nvPicPr>
        <p:blipFill>
          <a:blip r:embed="rId2"/>
          <a:stretch>
            <a:fillRect/>
          </a:stretch>
        </p:blipFill>
        <p:spPr>
          <a:xfrm>
            <a:off x="2514600" y="1447800"/>
            <a:ext cx="7362825" cy="5191125"/>
          </a:xfrm>
          <a:prstGeom prst="rect">
            <a:avLst/>
          </a:prstGeom>
        </p:spPr>
      </p:pic>
    </p:spTree>
    <p:extLst>
      <p:ext uri="{BB962C8B-B14F-4D97-AF65-F5344CB8AC3E}">
        <p14:creationId xmlns:p14="http://schemas.microsoft.com/office/powerpoint/2010/main" val="4224937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Iteration in Java</a:t>
            </a:r>
            <a:endParaRPr lang="en-GB" dirty="0"/>
          </a:p>
        </p:txBody>
      </p:sp>
      <p:sp>
        <p:nvSpPr>
          <p:cNvPr id="3" name="Content Placeholder 2"/>
          <p:cNvSpPr>
            <a:spLocks noGrp="1"/>
          </p:cNvSpPr>
          <p:nvPr>
            <p:ph idx="1"/>
          </p:nvPr>
        </p:nvSpPr>
        <p:spPr/>
        <p:txBody>
          <a:bodyPr/>
          <a:lstStyle/>
          <a:p>
            <a:r>
              <a:rPr lang="en-GB" dirty="0"/>
              <a:t>Loops are essential for repeating actions in your code</a:t>
            </a:r>
            <a:r>
              <a:rPr lang="en-GB" dirty="0" smtClean="0"/>
              <a:t>.</a:t>
            </a:r>
          </a:p>
          <a:p>
            <a:endParaRPr lang="en-GB" dirty="0"/>
          </a:p>
          <a:p>
            <a:r>
              <a:rPr lang="en-GB" dirty="0" smtClean="0"/>
              <a:t>We learnt about :</a:t>
            </a:r>
          </a:p>
          <a:p>
            <a:pPr lvl="1"/>
            <a:r>
              <a:rPr lang="en-GB" dirty="0" smtClean="0"/>
              <a:t>for loop</a:t>
            </a:r>
          </a:p>
          <a:p>
            <a:pPr lvl="1"/>
            <a:r>
              <a:rPr lang="en-GB" dirty="0" smtClean="0"/>
              <a:t>while loop </a:t>
            </a:r>
            <a:endParaRPr lang="en-GB" dirty="0"/>
          </a:p>
          <a:p>
            <a:pPr lvl="1"/>
            <a:r>
              <a:rPr lang="en-GB" dirty="0" smtClean="0"/>
              <a:t>do-while </a:t>
            </a:r>
            <a:r>
              <a:rPr lang="en-GB" dirty="0"/>
              <a:t>loop.</a:t>
            </a:r>
            <a:endParaRPr lang="en-GB" dirty="0"/>
          </a:p>
        </p:txBody>
      </p:sp>
    </p:spTree>
    <p:extLst>
      <p:ext uri="{BB962C8B-B14F-4D97-AF65-F5344CB8AC3E}">
        <p14:creationId xmlns:p14="http://schemas.microsoft.com/office/powerpoint/2010/main" val="3089943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For loop</a:t>
            </a:r>
            <a:endParaRPr lang="en-GB" dirty="0"/>
          </a:p>
        </p:txBody>
      </p:sp>
      <p:pic>
        <p:nvPicPr>
          <p:cNvPr id="4" name="Content Placeholder 3"/>
          <p:cNvPicPr>
            <a:picLocks noGrp="1" noChangeAspect="1"/>
          </p:cNvPicPr>
          <p:nvPr>
            <p:ph idx="1"/>
          </p:nvPr>
        </p:nvPicPr>
        <p:blipFill>
          <a:blip r:embed="rId2"/>
          <a:stretch>
            <a:fillRect/>
          </a:stretch>
        </p:blipFill>
        <p:spPr>
          <a:xfrm>
            <a:off x="1905000" y="1981200"/>
            <a:ext cx="7538224" cy="3048000"/>
          </a:xfrm>
          <a:prstGeom prst="rect">
            <a:avLst/>
          </a:prstGeom>
        </p:spPr>
      </p:pic>
    </p:spTree>
    <p:extLst>
      <p:ext uri="{BB962C8B-B14F-4D97-AF65-F5344CB8AC3E}">
        <p14:creationId xmlns:p14="http://schemas.microsoft.com/office/powerpoint/2010/main" val="1328168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While Loop</a:t>
            </a:r>
            <a:endParaRPr lang="en-GB" dirty="0"/>
          </a:p>
        </p:txBody>
      </p:sp>
      <p:pic>
        <p:nvPicPr>
          <p:cNvPr id="4" name="Picture 3"/>
          <p:cNvPicPr>
            <a:picLocks noChangeAspect="1"/>
          </p:cNvPicPr>
          <p:nvPr/>
        </p:nvPicPr>
        <p:blipFill>
          <a:blip r:embed="rId2"/>
          <a:stretch>
            <a:fillRect/>
          </a:stretch>
        </p:blipFill>
        <p:spPr>
          <a:xfrm>
            <a:off x="838200" y="1676400"/>
            <a:ext cx="8839200" cy="4174536"/>
          </a:xfrm>
          <a:prstGeom prst="rect">
            <a:avLst/>
          </a:prstGeom>
        </p:spPr>
      </p:pic>
    </p:spTree>
    <p:extLst>
      <p:ext uri="{BB962C8B-B14F-4D97-AF65-F5344CB8AC3E}">
        <p14:creationId xmlns:p14="http://schemas.microsoft.com/office/powerpoint/2010/main" val="3547390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Do - While Loop</a:t>
            </a:r>
            <a:endParaRPr lang="en-GB" dirty="0"/>
          </a:p>
        </p:txBody>
      </p:sp>
      <p:pic>
        <p:nvPicPr>
          <p:cNvPr id="4" name="Picture 3"/>
          <p:cNvPicPr>
            <a:picLocks noChangeAspect="1"/>
          </p:cNvPicPr>
          <p:nvPr/>
        </p:nvPicPr>
        <p:blipFill>
          <a:blip r:embed="rId2"/>
          <a:stretch>
            <a:fillRect/>
          </a:stretch>
        </p:blipFill>
        <p:spPr>
          <a:xfrm>
            <a:off x="1600200" y="1828800"/>
            <a:ext cx="8673706" cy="4199748"/>
          </a:xfrm>
          <a:prstGeom prst="rect">
            <a:avLst/>
          </a:prstGeom>
        </p:spPr>
      </p:pic>
    </p:spTree>
    <p:extLst>
      <p:ext uri="{BB962C8B-B14F-4D97-AF65-F5344CB8AC3E}">
        <p14:creationId xmlns:p14="http://schemas.microsoft.com/office/powerpoint/2010/main" val="4219150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Exercise - Loop</a:t>
            </a:r>
            <a:endParaRPr lang="en-GB" dirty="0"/>
          </a:p>
        </p:txBody>
      </p:sp>
      <p:sp>
        <p:nvSpPr>
          <p:cNvPr id="3" name="Content Placeholder 2"/>
          <p:cNvSpPr>
            <a:spLocks noGrp="1"/>
          </p:cNvSpPr>
          <p:nvPr>
            <p:ph idx="1"/>
          </p:nvPr>
        </p:nvSpPr>
        <p:spPr>
          <a:xfrm>
            <a:off x="609600" y="1752600"/>
            <a:ext cx="10972800" cy="4525963"/>
          </a:xfrm>
        </p:spPr>
        <p:txBody>
          <a:bodyPr>
            <a:normAutofit/>
          </a:bodyPr>
          <a:lstStyle/>
          <a:p>
            <a:pPr marL="0" indent="0">
              <a:buNone/>
            </a:pPr>
            <a:r>
              <a:rPr lang="en-GB" sz="3600" dirty="0"/>
              <a:t>Use a </a:t>
            </a:r>
            <a:r>
              <a:rPr lang="en-GB" sz="3600" dirty="0" smtClean="0"/>
              <a:t>loop </a:t>
            </a:r>
            <a:r>
              <a:rPr lang="en-GB" sz="3600" dirty="0"/>
              <a:t>to print </a:t>
            </a:r>
            <a:r>
              <a:rPr lang="en-GB" sz="3600" dirty="0" smtClean="0"/>
              <a:t>the numbers </a:t>
            </a:r>
            <a:r>
              <a:rPr lang="en-GB" sz="3600" dirty="0"/>
              <a:t>from </a:t>
            </a:r>
            <a:r>
              <a:rPr lang="en-GB" sz="3600" dirty="0" smtClean="0"/>
              <a:t>1 </a:t>
            </a:r>
            <a:r>
              <a:rPr lang="en-GB" sz="3600" dirty="0"/>
              <a:t>to </a:t>
            </a:r>
            <a:r>
              <a:rPr lang="en-GB" sz="3600" dirty="0"/>
              <a:t>5</a:t>
            </a:r>
            <a:r>
              <a:rPr lang="en-GB" sz="3600" dirty="0" smtClean="0"/>
              <a:t> </a:t>
            </a:r>
            <a:r>
              <a:rPr lang="en-GB" sz="3600" dirty="0"/>
              <a:t>(inclusive) to the console.</a:t>
            </a:r>
            <a:endParaRPr lang="en-GB" sz="3600" dirty="0"/>
          </a:p>
        </p:txBody>
      </p:sp>
      <p:pic>
        <p:nvPicPr>
          <p:cNvPr id="4" name="Picture 3"/>
          <p:cNvPicPr>
            <a:picLocks noChangeAspect="1"/>
          </p:cNvPicPr>
          <p:nvPr/>
        </p:nvPicPr>
        <p:blipFill>
          <a:blip r:embed="rId2"/>
          <a:stretch>
            <a:fillRect/>
          </a:stretch>
        </p:blipFill>
        <p:spPr>
          <a:xfrm>
            <a:off x="3810000" y="3276600"/>
            <a:ext cx="3797060" cy="2895600"/>
          </a:xfrm>
          <a:prstGeom prst="rect">
            <a:avLst/>
          </a:prstGeom>
        </p:spPr>
      </p:pic>
    </p:spTree>
    <p:extLst>
      <p:ext uri="{BB962C8B-B14F-4D97-AF65-F5344CB8AC3E}">
        <p14:creationId xmlns:p14="http://schemas.microsoft.com/office/powerpoint/2010/main" val="1812869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Solution – loop</a:t>
            </a:r>
            <a:endParaRPr lang="en-GB" dirty="0"/>
          </a:p>
        </p:txBody>
      </p:sp>
      <p:pic>
        <p:nvPicPr>
          <p:cNvPr id="4" name="Picture 3"/>
          <p:cNvPicPr>
            <a:picLocks noChangeAspect="1"/>
          </p:cNvPicPr>
          <p:nvPr/>
        </p:nvPicPr>
        <p:blipFill>
          <a:blip r:embed="rId2"/>
          <a:stretch>
            <a:fillRect/>
          </a:stretch>
        </p:blipFill>
        <p:spPr>
          <a:xfrm>
            <a:off x="1219200" y="2819400"/>
            <a:ext cx="8815238" cy="2590800"/>
          </a:xfrm>
          <a:prstGeom prst="rect">
            <a:avLst/>
          </a:prstGeom>
        </p:spPr>
      </p:pic>
      <p:sp>
        <p:nvSpPr>
          <p:cNvPr id="5" name="TextBox 4"/>
          <p:cNvSpPr txBox="1"/>
          <p:nvPr/>
        </p:nvSpPr>
        <p:spPr>
          <a:xfrm>
            <a:off x="1600200" y="1801447"/>
            <a:ext cx="3855719" cy="707886"/>
          </a:xfrm>
          <a:prstGeom prst="rect">
            <a:avLst/>
          </a:prstGeom>
          <a:noFill/>
        </p:spPr>
        <p:txBody>
          <a:bodyPr wrap="square" rtlCol="0">
            <a:spAutoFit/>
          </a:bodyPr>
          <a:lstStyle/>
          <a:p>
            <a:r>
              <a:rPr lang="en-GB" sz="4000" dirty="0" smtClean="0"/>
              <a:t>Using </a:t>
            </a:r>
            <a:r>
              <a:rPr lang="en-GB" sz="4000" b="1" dirty="0" smtClean="0"/>
              <a:t>for</a:t>
            </a:r>
            <a:r>
              <a:rPr lang="en-GB" sz="4000" dirty="0" smtClean="0"/>
              <a:t> loop</a:t>
            </a:r>
            <a:endParaRPr lang="en-GB" sz="4000" dirty="0"/>
          </a:p>
        </p:txBody>
      </p:sp>
    </p:spTree>
    <p:extLst>
      <p:ext uri="{BB962C8B-B14F-4D97-AF65-F5344CB8AC3E}">
        <p14:creationId xmlns:p14="http://schemas.microsoft.com/office/powerpoint/2010/main" val="3607747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Functions </a:t>
            </a:r>
            <a:r>
              <a:rPr lang="en-GB" dirty="0"/>
              <a:t>in Java (Methods)</a:t>
            </a:r>
            <a:endParaRPr lang="en-GB" dirty="0"/>
          </a:p>
        </p:txBody>
      </p:sp>
      <p:sp>
        <p:nvSpPr>
          <p:cNvPr id="3" name="Content Placeholder 2"/>
          <p:cNvSpPr>
            <a:spLocks noGrp="1"/>
          </p:cNvSpPr>
          <p:nvPr>
            <p:ph idx="1"/>
          </p:nvPr>
        </p:nvSpPr>
        <p:spPr>
          <a:xfrm>
            <a:off x="457200" y="1600200"/>
            <a:ext cx="10972800" cy="4525963"/>
          </a:xfrm>
        </p:spPr>
        <p:txBody>
          <a:bodyPr/>
          <a:lstStyle/>
          <a:p>
            <a:r>
              <a:rPr lang="en-GB" dirty="0"/>
              <a:t>Functions, or methods in Java, are blocks of code that perform a specific task. They promote code modularity and reusability. </a:t>
            </a:r>
            <a:endParaRPr lang="en-GB" dirty="0"/>
          </a:p>
        </p:txBody>
      </p:sp>
      <p:pic>
        <p:nvPicPr>
          <p:cNvPr id="4" name="Picture 3"/>
          <p:cNvPicPr>
            <a:picLocks noChangeAspect="1"/>
          </p:cNvPicPr>
          <p:nvPr/>
        </p:nvPicPr>
        <p:blipFill>
          <a:blip r:embed="rId2"/>
          <a:stretch>
            <a:fillRect/>
          </a:stretch>
        </p:blipFill>
        <p:spPr>
          <a:xfrm>
            <a:off x="2971800" y="2984500"/>
            <a:ext cx="6753225" cy="3324225"/>
          </a:xfrm>
          <a:prstGeom prst="rect">
            <a:avLst/>
          </a:prstGeom>
        </p:spPr>
      </p:pic>
    </p:spTree>
    <p:extLst>
      <p:ext uri="{BB962C8B-B14F-4D97-AF65-F5344CB8AC3E}">
        <p14:creationId xmlns:p14="http://schemas.microsoft.com/office/powerpoint/2010/main" val="4263414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Method Definition and use</a:t>
            </a:r>
            <a:endParaRPr lang="en-GB" dirty="0"/>
          </a:p>
        </p:txBody>
      </p:sp>
      <p:pic>
        <p:nvPicPr>
          <p:cNvPr id="4" name="Picture 3"/>
          <p:cNvPicPr>
            <a:picLocks noChangeAspect="1"/>
          </p:cNvPicPr>
          <p:nvPr/>
        </p:nvPicPr>
        <p:blipFill>
          <a:blip r:embed="rId2"/>
          <a:stretch>
            <a:fillRect/>
          </a:stretch>
        </p:blipFill>
        <p:spPr>
          <a:xfrm>
            <a:off x="2209800" y="1828800"/>
            <a:ext cx="4648200" cy="2105075"/>
          </a:xfrm>
          <a:prstGeom prst="rect">
            <a:avLst/>
          </a:prstGeom>
        </p:spPr>
      </p:pic>
      <p:pic>
        <p:nvPicPr>
          <p:cNvPr id="5" name="Picture 4"/>
          <p:cNvPicPr>
            <a:picLocks noChangeAspect="1"/>
          </p:cNvPicPr>
          <p:nvPr/>
        </p:nvPicPr>
        <p:blipFill>
          <a:blip r:embed="rId3"/>
          <a:stretch>
            <a:fillRect/>
          </a:stretch>
        </p:blipFill>
        <p:spPr>
          <a:xfrm>
            <a:off x="1752600" y="3933875"/>
            <a:ext cx="5861098" cy="1676400"/>
          </a:xfrm>
          <a:prstGeom prst="rect">
            <a:avLst/>
          </a:prstGeom>
        </p:spPr>
      </p:pic>
    </p:spTree>
    <p:extLst>
      <p:ext uri="{BB962C8B-B14F-4D97-AF65-F5344CB8AC3E}">
        <p14:creationId xmlns:p14="http://schemas.microsoft.com/office/powerpoint/2010/main" val="40970116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Exercise - Methods</a:t>
            </a:r>
            <a:endParaRPr lang="en-GB" dirty="0"/>
          </a:p>
        </p:txBody>
      </p:sp>
      <p:sp>
        <p:nvSpPr>
          <p:cNvPr id="4" name="Rectangle 1"/>
          <p:cNvSpPr>
            <a:spLocks noGrp="1" noChangeArrowheads="1"/>
          </p:cNvSpPr>
          <p:nvPr>
            <p:ph idx="1"/>
          </p:nvPr>
        </p:nvSpPr>
        <p:spPr bwMode="auto">
          <a:xfrm>
            <a:off x="776036" y="1625729"/>
            <a:ext cx="105918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3600" b="0" i="0" u="none" strike="noStrike" cap="none" normalizeH="0" baseline="0" dirty="0" smtClean="0">
                <a:ln>
                  <a:noFill/>
                </a:ln>
                <a:solidFill>
                  <a:srgbClr val="374151"/>
                </a:solidFill>
                <a:effectLst/>
                <a:latin typeface="Söhne"/>
              </a:rPr>
              <a:t>Create a method called </a:t>
            </a:r>
            <a:r>
              <a:rPr kumimoji="0" lang="en-US" altLang="en-US" sz="3600" b="1" i="0" u="none" strike="noStrike" cap="none" normalizeH="0" baseline="0" dirty="0" err="1" smtClean="0">
                <a:ln>
                  <a:noFill/>
                </a:ln>
                <a:solidFill>
                  <a:srgbClr val="374151"/>
                </a:solidFill>
                <a:effectLst/>
                <a:latin typeface="Söhne Mono"/>
              </a:rPr>
              <a:t>calculateSquare</a:t>
            </a:r>
            <a:r>
              <a:rPr kumimoji="0" lang="en-US" altLang="en-US" sz="3600" b="0" i="0" u="none" strike="noStrike" cap="none" normalizeH="0" baseline="0" dirty="0" smtClean="0">
                <a:ln>
                  <a:noFill/>
                </a:ln>
                <a:solidFill>
                  <a:srgbClr val="374151"/>
                </a:solidFill>
                <a:effectLst/>
                <a:latin typeface="Söhne"/>
              </a:rPr>
              <a:t> that takes an integer parameter and returns its square. Use this method to calculate and print the squares of the numbers 1 to 5.</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a:stretch>
            <a:fillRect/>
          </a:stretch>
        </p:blipFill>
        <p:spPr>
          <a:xfrm>
            <a:off x="6071936" y="4190999"/>
            <a:ext cx="3986463" cy="2348191"/>
          </a:xfrm>
          <a:prstGeom prst="rect">
            <a:avLst/>
          </a:prstGeom>
        </p:spPr>
      </p:pic>
    </p:spTree>
    <p:extLst>
      <p:ext uri="{BB962C8B-B14F-4D97-AF65-F5344CB8AC3E}">
        <p14:creationId xmlns:p14="http://schemas.microsoft.com/office/powerpoint/2010/main" val="3506951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Solution - Methods</a:t>
            </a:r>
            <a:endParaRPr lang="en-GB" dirty="0"/>
          </a:p>
        </p:txBody>
      </p:sp>
      <p:pic>
        <p:nvPicPr>
          <p:cNvPr id="4" name="Picture 3"/>
          <p:cNvPicPr>
            <a:picLocks noChangeAspect="1"/>
          </p:cNvPicPr>
          <p:nvPr/>
        </p:nvPicPr>
        <p:blipFill rotWithShape="1">
          <a:blip r:embed="rId2"/>
          <a:srcRect t="1718"/>
          <a:stretch/>
        </p:blipFill>
        <p:spPr>
          <a:xfrm>
            <a:off x="990188" y="1503946"/>
            <a:ext cx="9144412" cy="4934953"/>
          </a:xfrm>
          <a:prstGeom prst="rect">
            <a:avLst/>
          </a:prstGeom>
        </p:spPr>
      </p:pic>
    </p:spTree>
    <p:extLst>
      <p:ext uri="{BB962C8B-B14F-4D97-AF65-F5344CB8AC3E}">
        <p14:creationId xmlns:p14="http://schemas.microsoft.com/office/powerpoint/2010/main" val="3562280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Understanding </a:t>
            </a:r>
            <a:r>
              <a:rPr lang="en-GB" dirty="0"/>
              <a:t>the 'static' Keyword</a:t>
            </a:r>
            <a:endParaRPr lang="en-GB" dirty="0"/>
          </a:p>
        </p:txBody>
      </p:sp>
      <p:sp>
        <p:nvSpPr>
          <p:cNvPr id="3" name="Content Placeholder 2"/>
          <p:cNvSpPr>
            <a:spLocks noGrp="1"/>
          </p:cNvSpPr>
          <p:nvPr>
            <p:ph idx="1"/>
          </p:nvPr>
        </p:nvSpPr>
        <p:spPr>
          <a:xfrm>
            <a:off x="593558" y="1417638"/>
            <a:ext cx="10972800" cy="2895600"/>
          </a:xfrm>
        </p:spPr>
        <p:txBody>
          <a:bodyPr/>
          <a:lstStyle/>
          <a:p>
            <a:pPr marL="0" indent="0">
              <a:buNone/>
            </a:pPr>
            <a:r>
              <a:rPr lang="en-GB" dirty="0"/>
              <a:t>The 'static' keyword is used in Java for class-level elements. Static variables are shared among all instances of a class, and static methods belong to the class rather than an instance.</a:t>
            </a:r>
            <a:endParaRPr lang="en-GB" dirty="0"/>
          </a:p>
        </p:txBody>
      </p:sp>
    </p:spTree>
    <p:extLst>
      <p:ext uri="{BB962C8B-B14F-4D97-AF65-F5344CB8AC3E}">
        <p14:creationId xmlns:p14="http://schemas.microsoft.com/office/powerpoint/2010/main" val="35028561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312" y="0"/>
            <a:ext cx="10972800" cy="1143000"/>
          </a:xfrm>
        </p:spPr>
        <p:txBody>
          <a:bodyPr/>
          <a:lstStyle/>
          <a:p>
            <a:r>
              <a:rPr lang="en-GB" dirty="0"/>
              <a:t>The Main Method in Java</a:t>
            </a:r>
            <a:endParaRPr lang="en-GB" dirty="0"/>
          </a:p>
        </p:txBody>
      </p:sp>
      <p:pic>
        <p:nvPicPr>
          <p:cNvPr id="4" name="Picture 3"/>
          <p:cNvPicPr>
            <a:picLocks noChangeAspect="1"/>
          </p:cNvPicPr>
          <p:nvPr/>
        </p:nvPicPr>
        <p:blipFill>
          <a:blip r:embed="rId2"/>
          <a:stretch>
            <a:fillRect/>
          </a:stretch>
        </p:blipFill>
        <p:spPr>
          <a:xfrm>
            <a:off x="6096000" y="76200"/>
            <a:ext cx="5915025" cy="2133600"/>
          </a:xfrm>
          <a:prstGeom prst="rect">
            <a:avLst/>
          </a:prstGeom>
        </p:spPr>
      </p:pic>
      <p:sp>
        <p:nvSpPr>
          <p:cNvPr id="5" name="TextBox 4"/>
          <p:cNvSpPr txBox="1"/>
          <p:nvPr/>
        </p:nvSpPr>
        <p:spPr>
          <a:xfrm>
            <a:off x="457200" y="2133600"/>
            <a:ext cx="11734800" cy="4093428"/>
          </a:xfrm>
          <a:prstGeom prst="rect">
            <a:avLst/>
          </a:prstGeom>
          <a:noFill/>
        </p:spPr>
        <p:txBody>
          <a:bodyPr wrap="square" rtlCol="0">
            <a:spAutoFit/>
          </a:bodyPr>
          <a:lstStyle/>
          <a:p>
            <a:r>
              <a:rPr lang="en-GB" sz="2000" b="1" dirty="0"/>
              <a:t>public</a:t>
            </a:r>
            <a:r>
              <a:rPr lang="en-GB" sz="2000" dirty="0"/>
              <a:t>: The main method must be declared as public so that it can be accessed by the Java runtime environment when starting the program.</a:t>
            </a:r>
          </a:p>
          <a:p>
            <a:endParaRPr lang="en-GB" sz="2000" dirty="0"/>
          </a:p>
          <a:p>
            <a:r>
              <a:rPr lang="en-GB" sz="2000" b="1" dirty="0"/>
              <a:t>static</a:t>
            </a:r>
            <a:r>
              <a:rPr lang="en-GB" sz="2000" dirty="0"/>
              <a:t>: The main method is declared as static to allow it to be called without creating an instance of the class. This is necessary because the Java runtime environment invokes the main method directly.</a:t>
            </a:r>
          </a:p>
          <a:p>
            <a:endParaRPr lang="en-GB" sz="2000" dirty="0"/>
          </a:p>
          <a:p>
            <a:r>
              <a:rPr lang="en-GB" sz="2000" b="1" dirty="0"/>
              <a:t>void</a:t>
            </a:r>
            <a:r>
              <a:rPr lang="en-GB" sz="2000" dirty="0"/>
              <a:t>: The main method does not return any value (returns void). It is meant to execute a series of statements and does not produce a result.</a:t>
            </a:r>
          </a:p>
          <a:p>
            <a:endParaRPr lang="en-GB" sz="2000" dirty="0"/>
          </a:p>
          <a:p>
            <a:r>
              <a:rPr lang="en-GB" sz="2000" b="1" dirty="0"/>
              <a:t>main</a:t>
            </a:r>
            <a:r>
              <a:rPr lang="en-GB" sz="2000" dirty="0"/>
              <a:t>: The name of the method. It serves as the entry point for the Java program.</a:t>
            </a:r>
          </a:p>
          <a:p>
            <a:endParaRPr lang="en-GB" sz="2000" dirty="0"/>
          </a:p>
          <a:p>
            <a:r>
              <a:rPr lang="en-GB" sz="2000" b="1" dirty="0"/>
              <a:t>(String[] </a:t>
            </a:r>
            <a:r>
              <a:rPr lang="en-GB" sz="2000" b="1" dirty="0" err="1"/>
              <a:t>args</a:t>
            </a:r>
            <a:r>
              <a:rPr lang="en-GB" sz="2000" b="1" dirty="0"/>
              <a:t>): </a:t>
            </a:r>
            <a:r>
              <a:rPr lang="en-GB" sz="2000" dirty="0"/>
              <a:t>The method parameter. </a:t>
            </a:r>
            <a:r>
              <a:rPr lang="en-GB" sz="2000" dirty="0" err="1"/>
              <a:t>args</a:t>
            </a:r>
            <a:r>
              <a:rPr lang="en-GB" sz="2000" dirty="0"/>
              <a:t> is an array of strings that can be used to pass command-line arguments when running the Java program.</a:t>
            </a:r>
          </a:p>
        </p:txBody>
      </p:sp>
    </p:spTree>
    <p:extLst>
      <p:ext uri="{BB962C8B-B14F-4D97-AF65-F5344CB8AC3E}">
        <p14:creationId xmlns:p14="http://schemas.microsoft.com/office/powerpoint/2010/main" val="2818200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Arrays</a:t>
            </a:r>
            <a:endParaRPr lang="en-GB" dirty="0"/>
          </a:p>
        </p:txBody>
      </p:sp>
      <p:sp>
        <p:nvSpPr>
          <p:cNvPr id="3" name="Content Placeholder 2"/>
          <p:cNvSpPr>
            <a:spLocks noGrp="1"/>
          </p:cNvSpPr>
          <p:nvPr>
            <p:ph idx="1"/>
          </p:nvPr>
        </p:nvSpPr>
        <p:spPr/>
        <p:txBody>
          <a:bodyPr/>
          <a:lstStyle/>
          <a:p>
            <a:r>
              <a:rPr lang="en-GB" dirty="0"/>
              <a:t>Arrays allow us to store multiple values of the same type under a single name</a:t>
            </a:r>
            <a:r>
              <a:rPr lang="en-GB" dirty="0" smtClean="0"/>
              <a:t>.</a:t>
            </a:r>
            <a:endParaRPr lang="en-GB" dirty="0"/>
          </a:p>
        </p:txBody>
      </p:sp>
      <p:pic>
        <p:nvPicPr>
          <p:cNvPr id="4" name="Picture 2" descr="Illustration of an array as 10 boxes numbered 0 through 9; an index of 0 indicates the first element in the arra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048000"/>
            <a:ext cx="7616921" cy="28194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593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Arrays Example</a:t>
            </a:r>
            <a:endParaRPr lang="en-GB" dirty="0"/>
          </a:p>
        </p:txBody>
      </p:sp>
      <p:pic>
        <p:nvPicPr>
          <p:cNvPr id="4" name="Picture 3"/>
          <p:cNvPicPr>
            <a:picLocks noChangeAspect="1"/>
          </p:cNvPicPr>
          <p:nvPr/>
        </p:nvPicPr>
        <p:blipFill>
          <a:blip r:embed="rId2"/>
          <a:stretch>
            <a:fillRect/>
          </a:stretch>
        </p:blipFill>
        <p:spPr>
          <a:xfrm>
            <a:off x="609600" y="1600200"/>
            <a:ext cx="7315200" cy="4809264"/>
          </a:xfrm>
          <a:prstGeom prst="rect">
            <a:avLst/>
          </a:prstGeom>
        </p:spPr>
      </p:pic>
    </p:spTree>
    <p:extLst>
      <p:ext uri="{BB962C8B-B14F-4D97-AF65-F5344CB8AC3E}">
        <p14:creationId xmlns:p14="http://schemas.microsoft.com/office/powerpoint/2010/main" val="40542976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Exercise - Array</a:t>
            </a:r>
            <a:endParaRPr lang="en-GB" dirty="0"/>
          </a:p>
        </p:txBody>
      </p:sp>
      <p:sp>
        <p:nvSpPr>
          <p:cNvPr id="3" name="Content Placeholder 2"/>
          <p:cNvSpPr>
            <a:spLocks noGrp="1"/>
          </p:cNvSpPr>
          <p:nvPr>
            <p:ph idx="1"/>
          </p:nvPr>
        </p:nvSpPr>
        <p:spPr/>
        <p:txBody>
          <a:bodyPr/>
          <a:lstStyle/>
          <a:p>
            <a:r>
              <a:rPr lang="en-GB" dirty="0"/>
              <a:t>Declare an array of integers named numbers with values </a:t>
            </a:r>
            <a:r>
              <a:rPr lang="en-GB" dirty="0" smtClean="0"/>
              <a:t>10, 5, 12</a:t>
            </a:r>
            <a:r>
              <a:rPr lang="en-GB" dirty="0"/>
              <a:t>, </a:t>
            </a:r>
            <a:r>
              <a:rPr lang="en-GB" dirty="0" smtClean="0"/>
              <a:t>18</a:t>
            </a:r>
            <a:r>
              <a:rPr lang="en-GB" dirty="0"/>
              <a:t>, and </a:t>
            </a:r>
            <a:r>
              <a:rPr lang="en-GB" dirty="0" smtClean="0"/>
              <a:t>15</a:t>
            </a:r>
            <a:r>
              <a:rPr lang="en-GB" dirty="0"/>
              <a:t>. Write a loop to </a:t>
            </a:r>
            <a:r>
              <a:rPr lang="en-GB" dirty="0" smtClean="0"/>
              <a:t>print each of </a:t>
            </a:r>
            <a:r>
              <a:rPr lang="en-GB" dirty="0"/>
              <a:t>these numbers</a:t>
            </a:r>
          </a:p>
        </p:txBody>
      </p:sp>
      <p:pic>
        <p:nvPicPr>
          <p:cNvPr id="5" name="Picture 4"/>
          <p:cNvPicPr>
            <a:picLocks noChangeAspect="1"/>
          </p:cNvPicPr>
          <p:nvPr/>
        </p:nvPicPr>
        <p:blipFill>
          <a:blip r:embed="rId2"/>
          <a:stretch>
            <a:fillRect/>
          </a:stretch>
        </p:blipFill>
        <p:spPr>
          <a:xfrm>
            <a:off x="3581400" y="2971800"/>
            <a:ext cx="3429000" cy="3031435"/>
          </a:xfrm>
          <a:prstGeom prst="rect">
            <a:avLst/>
          </a:prstGeom>
        </p:spPr>
      </p:pic>
    </p:spTree>
    <p:extLst>
      <p:ext uri="{BB962C8B-B14F-4D97-AF65-F5344CB8AC3E}">
        <p14:creationId xmlns:p14="http://schemas.microsoft.com/office/powerpoint/2010/main" val="2269298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Solution - Array</a:t>
            </a:r>
            <a:endParaRPr lang="en-GB" dirty="0"/>
          </a:p>
        </p:txBody>
      </p:sp>
      <p:pic>
        <p:nvPicPr>
          <p:cNvPr id="5" name="Picture 4"/>
          <p:cNvPicPr>
            <a:picLocks noChangeAspect="1"/>
          </p:cNvPicPr>
          <p:nvPr/>
        </p:nvPicPr>
        <p:blipFill>
          <a:blip r:embed="rId2"/>
          <a:stretch>
            <a:fillRect/>
          </a:stretch>
        </p:blipFill>
        <p:spPr>
          <a:xfrm>
            <a:off x="381000" y="1828800"/>
            <a:ext cx="11289126" cy="3276600"/>
          </a:xfrm>
          <a:prstGeom prst="rect">
            <a:avLst/>
          </a:prstGeom>
        </p:spPr>
      </p:pic>
    </p:spTree>
    <p:extLst>
      <p:ext uri="{BB962C8B-B14F-4D97-AF65-F5344CB8AC3E}">
        <p14:creationId xmlns:p14="http://schemas.microsoft.com/office/powerpoint/2010/main" val="5136823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Summary</a:t>
            </a:r>
          </a:p>
        </p:txBody>
      </p:sp>
      <p:pic>
        <p:nvPicPr>
          <p:cNvPr id="4" name="Content Placeholder 3"/>
          <p:cNvPicPr>
            <a:picLocks noGrp="1" noChangeAspect="1"/>
          </p:cNvPicPr>
          <p:nvPr>
            <p:ph idx="1"/>
          </p:nvPr>
        </p:nvPicPr>
        <p:blipFill rotWithShape="1">
          <a:blip r:embed="rId2"/>
          <a:srcRect b="6638"/>
          <a:stretch/>
        </p:blipFill>
        <p:spPr>
          <a:xfrm>
            <a:off x="3429000" y="274638"/>
            <a:ext cx="8488243" cy="6430962"/>
          </a:xfrm>
          <a:prstGeom prst="rect">
            <a:avLst/>
          </a:prstGeom>
        </p:spPr>
      </p:pic>
    </p:spTree>
    <p:extLst>
      <p:ext uri="{BB962C8B-B14F-4D97-AF65-F5344CB8AC3E}">
        <p14:creationId xmlns:p14="http://schemas.microsoft.com/office/powerpoint/2010/main" val="32195084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Questions?</a:t>
            </a:r>
          </a:p>
        </p:txBody>
      </p:sp>
      <p:pic>
        <p:nvPicPr>
          <p:cNvPr id="3074" name="Picture 2" descr="Image result for ques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2057401"/>
            <a:ext cx="4343400" cy="3509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9878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5707</TotalTime>
  <Words>701</Words>
  <Application>Microsoft Office PowerPoint</Application>
  <PresentationFormat>Widescreen</PresentationFormat>
  <Paragraphs>91</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Söhne</vt:lpstr>
      <vt:lpstr>Söhne Mono</vt:lpstr>
      <vt:lpstr>Office Theme</vt:lpstr>
      <vt:lpstr>Recap of Java Programming Language</vt:lpstr>
      <vt:lpstr>Variables</vt:lpstr>
      <vt:lpstr>Primitive Data Types</vt:lpstr>
      <vt:lpstr>Code Example</vt:lpstr>
      <vt:lpstr>Variable Exercise</vt:lpstr>
      <vt:lpstr>Variable Solution</vt:lpstr>
      <vt:lpstr>Selection (if statement)</vt:lpstr>
      <vt:lpstr>Exercise – if statement</vt:lpstr>
      <vt:lpstr>Solution – if statement</vt:lpstr>
      <vt:lpstr>Iteration in Java</vt:lpstr>
      <vt:lpstr>For loop</vt:lpstr>
      <vt:lpstr>While Loop</vt:lpstr>
      <vt:lpstr>Do - While Loop</vt:lpstr>
      <vt:lpstr>Exercise - Loop</vt:lpstr>
      <vt:lpstr>Solution – loop</vt:lpstr>
      <vt:lpstr>Functions in Java (Methods)</vt:lpstr>
      <vt:lpstr>Method Definition and use</vt:lpstr>
      <vt:lpstr>Exercise - Methods</vt:lpstr>
      <vt:lpstr>Solution - Methods</vt:lpstr>
      <vt:lpstr>Understanding the 'static' Keyword</vt:lpstr>
      <vt:lpstr>The Main Method in Java</vt:lpstr>
      <vt:lpstr>Arrays</vt:lpstr>
      <vt:lpstr>Arrays Example</vt:lpstr>
      <vt:lpstr>Exercise - Array</vt:lpstr>
      <vt:lpstr>Solution - Array</vt:lpstr>
      <vt:lpstr>Summary</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Recap of OO concepts</dc:title>
  <dc:creator>Siobhan Drohan</dc:creator>
  <cp:lastModifiedBy>Siobhan Roche</cp:lastModifiedBy>
  <cp:revision>159</cp:revision>
  <cp:lastPrinted>2018-03-10T18:49:08Z</cp:lastPrinted>
  <dcterms:created xsi:type="dcterms:W3CDTF">2006-08-16T00:00:00Z</dcterms:created>
  <dcterms:modified xsi:type="dcterms:W3CDTF">2024-01-14T18:57:48Z</dcterms:modified>
</cp:coreProperties>
</file>