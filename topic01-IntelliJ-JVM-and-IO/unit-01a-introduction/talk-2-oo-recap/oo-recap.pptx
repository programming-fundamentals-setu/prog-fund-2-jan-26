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631" r:id="rId3"/>
    <p:sldId id="632" r:id="rId4"/>
    <p:sldId id="399" r:id="rId5"/>
    <p:sldId id="633" r:id="rId6"/>
    <p:sldId id="585" r:id="rId7"/>
    <p:sldId id="622" r:id="rId8"/>
    <p:sldId id="623" r:id="rId9"/>
    <p:sldId id="588" r:id="rId10"/>
    <p:sldId id="634" r:id="rId11"/>
    <p:sldId id="635" r:id="rId12"/>
    <p:sldId id="592" r:id="rId13"/>
    <p:sldId id="591" r:id="rId14"/>
    <p:sldId id="586" r:id="rId15"/>
    <p:sldId id="636" r:id="rId16"/>
    <p:sldId id="594" r:id="rId17"/>
    <p:sldId id="624" r:id="rId18"/>
    <p:sldId id="625" r:id="rId19"/>
    <p:sldId id="605" r:id="rId20"/>
    <p:sldId id="595" r:id="rId21"/>
    <p:sldId id="626" r:id="rId22"/>
    <p:sldId id="627" r:id="rId23"/>
    <p:sldId id="606" r:id="rId24"/>
    <p:sldId id="628" r:id="rId25"/>
    <p:sldId id="596" r:id="rId26"/>
    <p:sldId id="590" r:id="rId27"/>
    <p:sldId id="614" r:id="rId28"/>
    <p:sldId id="629" r:id="rId29"/>
    <p:sldId id="613" r:id="rId30"/>
    <p:sldId id="637" r:id="rId31"/>
    <p:sldId id="638" r:id="rId32"/>
    <p:sldId id="617" r:id="rId33"/>
    <p:sldId id="630" r:id="rId34"/>
    <p:sldId id="619" r:id="rId35"/>
    <p:sldId id="620" r:id="rId36"/>
    <p:sldId id="305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1D38E"/>
    <a:srgbClr val="FCBAC5"/>
    <a:srgbClr val="F9CF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92" autoAdjust="0"/>
    <p:restoredTop sz="94609"/>
  </p:normalViewPr>
  <p:slideViewPr>
    <p:cSldViewPr>
      <p:cViewPr varScale="1">
        <p:scale>
          <a:sx n="81" d="100"/>
          <a:sy n="81" d="100"/>
        </p:scale>
        <p:origin x="86" y="26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49" d="100"/>
        <a:sy n="49" d="100"/>
      </p:scale>
      <p:origin x="0" y="-9411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15/01/2026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537543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16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12274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3E85BA6-CFDF-430E-8374-ADA2BF6C5E53}" type="slidenum">
              <a:rPr lang="en-GB"/>
              <a:pPr/>
              <a:t>18</a:t>
            </a:fld>
            <a:endParaRPr lang="en-GB"/>
          </a:p>
        </p:txBody>
      </p:sp>
      <p:sp>
        <p:nvSpPr>
          <p:cNvPr id="788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78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1448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20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835025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C17B96C-5BE9-455B-93AF-B6A38B95CFEB}" type="slidenum">
              <a:rPr lang="en-GB"/>
              <a:pPr/>
              <a:t>22</a:t>
            </a:fld>
            <a:endParaRPr lang="en-GB"/>
          </a:p>
        </p:txBody>
      </p:sp>
      <p:sp>
        <p:nvSpPr>
          <p:cNvPr id="829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829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033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25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752859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29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681582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456885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177088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f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utorialspoint.com/java/java_encapsulation.htm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Recap of OO concepts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Objects, classes, methods and more.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8AA3B7-D740-41D7-AA23-E2D8E8278A5D}"/>
              </a:ext>
            </a:extLst>
          </p:cNvPr>
          <p:cNvSpPr txBox="1"/>
          <p:nvPr/>
        </p:nvSpPr>
        <p:spPr>
          <a:xfrm>
            <a:off x="3733800" y="3840541"/>
            <a:ext cx="3581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 </a:t>
            </a:r>
            <a:r>
              <a:rPr lang="en-IE" sz="2400">
                <a:solidFill>
                  <a:schemeClr val="tx1">
                    <a:lumMod val="75000"/>
                    <a:lumOff val="25000"/>
                  </a:schemeClr>
                </a:solidFill>
              </a:rPr>
              <a:t>Siobhan Roche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3E8DC4-4987-98DC-298D-0B2F96ECC3F3}"/>
              </a:ext>
            </a:extLst>
          </p:cNvPr>
          <p:cNvSpPr txBox="1"/>
          <p:nvPr/>
        </p:nvSpPr>
        <p:spPr>
          <a:xfrm>
            <a:off x="7336971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8B10C00D-832F-7EBB-7A28-DF856471AB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Classes</a:t>
            </a:r>
            <a:r>
              <a:rPr lang="en-IE" dirty="0"/>
              <a:t> and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600201"/>
            <a:ext cx="9525000" cy="4980801"/>
          </a:xfrm>
        </p:spPr>
        <p:txBody>
          <a:bodyPr>
            <a:normAutofit/>
          </a:bodyPr>
          <a:lstStyle/>
          <a:p>
            <a:r>
              <a:rPr lang="en-IE" dirty="0"/>
              <a:t>A </a:t>
            </a:r>
            <a:r>
              <a:rPr lang="en-IE" b="1" dirty="0">
                <a:solidFill>
                  <a:srgbClr val="FF0000"/>
                </a:solidFill>
              </a:rPr>
              <a:t>class</a:t>
            </a:r>
            <a:r>
              <a:rPr lang="en-IE" dirty="0"/>
              <a:t> </a:t>
            </a:r>
          </a:p>
          <a:p>
            <a:pPr lvl="1"/>
            <a:r>
              <a:rPr lang="en-IE" dirty="0"/>
              <a:t>defines a group of related </a:t>
            </a:r>
            <a:r>
              <a:rPr lang="en-IE" b="1" dirty="0"/>
              <a:t>methods</a:t>
            </a:r>
            <a:r>
              <a:rPr lang="en-IE" dirty="0"/>
              <a:t> (functions) and </a:t>
            </a:r>
            <a:r>
              <a:rPr lang="en-IE" b="1" dirty="0"/>
              <a:t>fields</a:t>
            </a:r>
            <a:r>
              <a:rPr lang="en-IE" dirty="0"/>
              <a:t> (variables / properties).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35874DE-90EA-41EA-86E5-51E7A0D9B6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3352801"/>
            <a:ext cx="4034908" cy="24780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DF6FCCA-C00B-49E6-8B3D-B324B23AC4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4895" y="2884087"/>
            <a:ext cx="4251318" cy="3415525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15983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Classes and </a:t>
            </a:r>
            <a:r>
              <a:rPr lang="en-IE" b="1" dirty="0"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9601200" cy="2895599"/>
          </a:xfrm>
        </p:spPr>
        <p:txBody>
          <a:bodyPr>
            <a:normAutofit/>
          </a:bodyPr>
          <a:lstStyle/>
          <a:p>
            <a:r>
              <a:rPr lang="en-IE" dirty="0"/>
              <a:t>An </a:t>
            </a:r>
            <a:r>
              <a:rPr lang="en-IE" b="1" dirty="0">
                <a:solidFill>
                  <a:srgbClr val="FF0000"/>
                </a:solidFill>
              </a:rPr>
              <a:t>object</a:t>
            </a:r>
            <a:r>
              <a:rPr lang="en-IE" dirty="0"/>
              <a:t> </a:t>
            </a:r>
          </a:p>
          <a:p>
            <a:pPr lvl="1"/>
            <a:r>
              <a:rPr lang="en-IE" dirty="0"/>
              <a:t>is a single instance of a class </a:t>
            </a:r>
          </a:p>
          <a:p>
            <a:pPr lvl="1"/>
            <a:r>
              <a:rPr lang="en-IE" dirty="0"/>
              <a:t>i.e. an object is created (instantiated) from a class.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EE3CB2-F2C5-4545-9C1D-2FF645411CBB}"/>
              </a:ext>
            </a:extLst>
          </p:cNvPr>
          <p:cNvSpPr/>
          <p:nvPr/>
        </p:nvSpPr>
        <p:spPr>
          <a:xfrm>
            <a:off x="3657600" y="3733801"/>
            <a:ext cx="4374356" cy="292020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FEC5DA-C691-4A16-BFAC-95576BE9D6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4277520"/>
            <a:ext cx="7620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6" name="Text Box 9">
            <a:extLst>
              <a:ext uri="{FF2B5EF4-FFF2-40B4-BE49-F238E27FC236}">
                <a16:creationId xmlns:a16="http://schemas.microsoft.com/office/drawing/2014/main" id="{6BCD8AFD-9026-4584-BB0C-DA0914FEC0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57600" y="3733801"/>
            <a:ext cx="236220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String a;</a:t>
            </a:r>
          </a:p>
        </p:txBody>
      </p:sp>
      <p:sp>
        <p:nvSpPr>
          <p:cNvPr id="7" name="Arrow: Right 17">
            <a:extLst>
              <a:ext uri="{FF2B5EF4-FFF2-40B4-BE49-F238E27FC236}">
                <a16:creationId xmlns:a16="http://schemas.microsoft.com/office/drawing/2014/main" id="{90064D53-8AFB-4A36-BA20-25ADE20F0BE9}"/>
              </a:ext>
            </a:extLst>
          </p:cNvPr>
          <p:cNvSpPr/>
          <p:nvPr/>
        </p:nvSpPr>
        <p:spPr>
          <a:xfrm>
            <a:off x="1752600" y="3226197"/>
            <a:ext cx="1828800" cy="1676400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b="1" dirty="0"/>
              <a:t>String</a:t>
            </a:r>
            <a:r>
              <a:rPr lang="en-IE" sz="2400" dirty="0"/>
              <a:t> is the Class</a:t>
            </a:r>
          </a:p>
        </p:txBody>
      </p:sp>
      <p:sp>
        <p:nvSpPr>
          <p:cNvPr id="8" name="AutoShape 5">
            <a:extLst>
              <a:ext uri="{FF2B5EF4-FFF2-40B4-BE49-F238E27FC236}">
                <a16:creationId xmlns:a16="http://schemas.microsoft.com/office/drawing/2014/main" id="{C30C3CDF-DEA8-45B0-990D-88395B3AA3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5984" y="5562728"/>
            <a:ext cx="1481138" cy="400759"/>
          </a:xfrm>
          <a:prstGeom prst="roundRect">
            <a:avLst>
              <a:gd name="adj" fmla="val 16667"/>
            </a:avLst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2000" dirty="0"/>
              <a:t>“Hello”</a:t>
            </a:r>
          </a:p>
        </p:txBody>
      </p:sp>
      <p:sp>
        <p:nvSpPr>
          <p:cNvPr id="9" name="Line 6">
            <a:extLst>
              <a:ext uri="{FF2B5EF4-FFF2-40B4-BE49-F238E27FC236}">
                <a16:creationId xmlns:a16="http://schemas.microsoft.com/office/drawing/2014/main" id="{6C425F9A-7CE8-466A-AEAF-CC71F0BA9F57}"/>
              </a:ext>
            </a:extLst>
          </p:cNvPr>
          <p:cNvSpPr>
            <a:spLocks noChangeShapeType="1"/>
          </p:cNvSpPr>
          <p:nvPr/>
        </p:nvSpPr>
        <p:spPr bwMode="auto">
          <a:xfrm>
            <a:off x="4526756" y="4350669"/>
            <a:ext cx="1264445" cy="121205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0" name="Arrow: Left 9">
            <a:extLst>
              <a:ext uri="{FF2B5EF4-FFF2-40B4-BE49-F238E27FC236}">
                <a16:creationId xmlns:a16="http://schemas.microsoft.com/office/drawing/2014/main" id="{E383D759-3D69-43BE-BD20-70D6E14EC852}"/>
              </a:ext>
            </a:extLst>
          </p:cNvPr>
          <p:cNvSpPr/>
          <p:nvPr/>
        </p:nvSpPr>
        <p:spPr>
          <a:xfrm>
            <a:off x="6794285" y="4835503"/>
            <a:ext cx="3733800" cy="1818503"/>
          </a:xfrm>
          <a:prstGeom prst="leftArrow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b="1" dirty="0"/>
              <a:t>a</a:t>
            </a:r>
            <a:r>
              <a:rPr lang="en-IE" sz="2400" dirty="0"/>
              <a:t> is the Object, </a:t>
            </a:r>
            <a:br>
              <a:rPr lang="en-IE" sz="2400" dirty="0"/>
            </a:br>
            <a:r>
              <a:rPr lang="en-IE" sz="2400" dirty="0"/>
              <a:t>which contains “Hello”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5677" y="4203986"/>
            <a:ext cx="6626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>
                <a:solidFill>
                  <a:srgbClr val="92D050"/>
                </a:solidFill>
              </a:rPr>
              <a:t>&amp;FFCC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37469" y="5347590"/>
            <a:ext cx="6626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>
                <a:solidFill>
                  <a:srgbClr val="92D050"/>
                </a:solidFill>
              </a:rPr>
              <a:t>&amp;FFCC</a:t>
            </a:r>
          </a:p>
        </p:txBody>
      </p:sp>
    </p:spTree>
    <p:extLst>
      <p:ext uri="{BB962C8B-B14F-4D97-AF65-F5344CB8AC3E}">
        <p14:creationId xmlns:p14="http://schemas.microsoft.com/office/powerpoint/2010/main" val="1916764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/>
      <p:bldP spid="7" grpId="0" animBg="1"/>
      <p:bldP spid="8" grpId="0" animBg="1"/>
      <p:bldP spid="9" grpId="0" animBg="1"/>
      <p:bldP spid="10" grpId="0" animBg="1"/>
      <p:bldP spid="11" grpId="0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Classes and Objects – </a:t>
            </a:r>
            <a:r>
              <a:rPr lang="en-IE" b="1" dirty="0"/>
              <a:t>Many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IE" dirty="0"/>
          </a:p>
          <a:p>
            <a:r>
              <a:rPr lang="en-IE" dirty="0"/>
              <a:t>Many </a:t>
            </a:r>
            <a:r>
              <a:rPr lang="en-IE" b="1" dirty="0">
                <a:solidFill>
                  <a:srgbClr val="FF0000"/>
                </a:solidFill>
              </a:rPr>
              <a:t>objects</a:t>
            </a:r>
            <a:r>
              <a:rPr lang="en-IE" dirty="0"/>
              <a:t> can be constructed from a single </a:t>
            </a:r>
            <a:r>
              <a:rPr lang="en-IE" b="1" dirty="0">
                <a:solidFill>
                  <a:srgbClr val="FF0000"/>
                </a:solidFill>
              </a:rPr>
              <a:t>class</a:t>
            </a:r>
            <a:r>
              <a:rPr lang="en-IE" dirty="0"/>
              <a:t> definition.</a:t>
            </a:r>
          </a:p>
          <a:p>
            <a:endParaRPr lang="en-IE" dirty="0"/>
          </a:p>
          <a:p>
            <a:r>
              <a:rPr lang="en-IE" dirty="0"/>
              <a:t>Each </a:t>
            </a:r>
            <a:r>
              <a:rPr lang="en-IE" b="1" dirty="0">
                <a:solidFill>
                  <a:srgbClr val="FF0000"/>
                </a:solidFill>
              </a:rPr>
              <a:t>object</a:t>
            </a:r>
            <a:r>
              <a:rPr lang="en-IE" dirty="0"/>
              <a:t> must have a unique name within the program.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024731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400" dirty="0"/>
              <a:t>Shop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2800" dirty="0" err="1"/>
              <a:t>Ver</a:t>
            </a:r>
            <a:r>
              <a:rPr lang="en-GB" sz="2800" dirty="0"/>
              <a:t> 1.0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1800" y="1390650"/>
            <a:ext cx="4076700" cy="407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798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Shop V1.0 - </a:t>
            </a:r>
            <a:r>
              <a:rPr lang="en-IE" b="1" dirty="0"/>
              <a:t>Product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8F51-A6C3-4DFC-8DDB-3489B717A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We will recap object oriented concepts through the study of a new class called </a:t>
            </a:r>
            <a:r>
              <a:rPr lang="en-IE" b="1" dirty="0">
                <a:solidFill>
                  <a:srgbClr val="FF0000"/>
                </a:solidFill>
              </a:rPr>
              <a:t>Product</a:t>
            </a:r>
            <a:r>
              <a:rPr lang="en-IE" dirty="0"/>
              <a:t>.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3048000" y="3507254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6781800" y="5259854"/>
            <a:ext cx="2057400" cy="1066800"/>
          </a:xfrm>
          <a:prstGeom prst="roundRect">
            <a:avLst/>
          </a:prstGeom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Product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5105400" y="4040654"/>
            <a:ext cx="2705100" cy="12192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612" y="158589"/>
            <a:ext cx="2030688" cy="1218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1822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Shop V1.0 - </a:t>
            </a:r>
            <a:r>
              <a:rPr lang="en-IE" b="1" dirty="0"/>
              <a:t>Product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8F51-A6C3-4DFC-8DDB-3489B717A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29" y="1752601"/>
            <a:ext cx="3810000" cy="4525963"/>
          </a:xfrm>
        </p:spPr>
        <p:txBody>
          <a:bodyPr/>
          <a:lstStyle/>
          <a:p>
            <a:r>
              <a:rPr lang="en-IE" dirty="0"/>
              <a:t>The </a:t>
            </a:r>
            <a:r>
              <a:rPr lang="en-IE" b="1" dirty="0">
                <a:solidFill>
                  <a:srgbClr val="FF0000"/>
                </a:solidFill>
              </a:rPr>
              <a:t>Product</a:t>
            </a:r>
            <a:r>
              <a:rPr lang="en-IE" dirty="0"/>
              <a:t> class stores </a:t>
            </a:r>
            <a:r>
              <a:rPr lang="en-IE" b="1" dirty="0"/>
              <a:t>details</a:t>
            </a:r>
            <a:r>
              <a:rPr lang="en-IE" dirty="0"/>
              <a:t> about a product</a:t>
            </a:r>
          </a:p>
          <a:p>
            <a:pPr lvl="1"/>
            <a:r>
              <a:rPr lang="en-IE" dirty="0"/>
              <a:t>name </a:t>
            </a:r>
          </a:p>
          <a:p>
            <a:pPr lvl="1"/>
            <a:r>
              <a:rPr lang="en-IE" dirty="0"/>
              <a:t>code </a:t>
            </a:r>
          </a:p>
          <a:p>
            <a:pPr lvl="1"/>
            <a:r>
              <a:rPr lang="en-IE" dirty="0"/>
              <a:t>unit cost </a:t>
            </a:r>
          </a:p>
          <a:p>
            <a:pPr lvl="1"/>
            <a:r>
              <a:rPr lang="en-IE" dirty="0"/>
              <a:t>in the current product line or not?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2057400" y="1752600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Driver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4114800" y="2286000"/>
            <a:ext cx="1104900" cy="24384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4191000" y="4724400"/>
            <a:ext cx="2057400" cy="1066800"/>
          </a:xfrm>
          <a:prstGeom prst="roundRect">
            <a:avLst/>
          </a:prstGeom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Product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612" y="158589"/>
            <a:ext cx="2030688" cy="1218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7519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Shop V1.0 - </a:t>
            </a:r>
            <a:r>
              <a:rPr lang="en-IE" b="1" dirty="0"/>
              <a:t>Driver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8F51-A6C3-4DFC-8DDB-3489B717A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0"/>
            <a:ext cx="9296400" cy="5105400"/>
          </a:xfrm>
        </p:spPr>
        <p:txBody>
          <a:bodyPr>
            <a:normAutofit/>
          </a:bodyPr>
          <a:lstStyle/>
          <a:p>
            <a:r>
              <a:rPr lang="en-IE" sz="2800" dirty="0"/>
              <a:t>The </a:t>
            </a:r>
            <a:r>
              <a:rPr lang="en-IE" sz="2800" b="1" dirty="0">
                <a:solidFill>
                  <a:schemeClr val="accent6"/>
                </a:solidFill>
              </a:rPr>
              <a:t>Driver</a:t>
            </a:r>
            <a:r>
              <a:rPr lang="en-IE" sz="2800" dirty="0">
                <a:solidFill>
                  <a:schemeClr val="accent6"/>
                </a:solidFill>
              </a:rPr>
              <a:t> </a:t>
            </a:r>
            <a:r>
              <a:rPr lang="en-IE" sz="2800" dirty="0"/>
              <a:t>class </a:t>
            </a:r>
          </a:p>
          <a:p>
            <a:pPr lvl="1"/>
            <a:r>
              <a:rPr lang="en-IE" dirty="0"/>
              <a:t>has the </a:t>
            </a:r>
            <a:r>
              <a:rPr lang="en-IE" b="1" dirty="0">
                <a:solidFill>
                  <a:srgbClr val="FF0000"/>
                </a:solidFill>
              </a:rPr>
              <a:t>main()</a:t>
            </a:r>
            <a:r>
              <a:rPr lang="en-IE" dirty="0">
                <a:solidFill>
                  <a:srgbClr val="FF0000"/>
                </a:solidFill>
              </a:rPr>
              <a:t> </a:t>
            </a:r>
            <a:r>
              <a:rPr lang="en-IE" dirty="0"/>
              <a:t>method.  </a:t>
            </a:r>
          </a:p>
          <a:p>
            <a:pPr lvl="1"/>
            <a:r>
              <a:rPr lang="en-IE" b="1" dirty="0"/>
              <a:t>reads</a:t>
            </a:r>
            <a:r>
              <a:rPr lang="en-IE" dirty="0"/>
              <a:t> the product details from the user (via the console)</a:t>
            </a:r>
          </a:p>
          <a:p>
            <a:pPr lvl="1"/>
            <a:r>
              <a:rPr lang="en-IE" b="1" dirty="0"/>
              <a:t>creates</a:t>
            </a:r>
            <a:r>
              <a:rPr lang="en-IE" dirty="0"/>
              <a:t> a new Product object.  </a:t>
            </a:r>
          </a:p>
          <a:p>
            <a:pPr lvl="1"/>
            <a:r>
              <a:rPr lang="en-IE" b="1" dirty="0"/>
              <a:t>prints</a:t>
            </a:r>
            <a:r>
              <a:rPr lang="en-IE" dirty="0"/>
              <a:t> the product object</a:t>
            </a:r>
            <a:br>
              <a:rPr lang="en-IE" dirty="0"/>
            </a:br>
            <a:r>
              <a:rPr lang="en-IE" dirty="0"/>
              <a:t>(to the console)</a:t>
            </a:r>
            <a:br>
              <a:rPr lang="en-IE" dirty="0"/>
            </a:br>
            <a:endParaRPr lang="en-IE" dirty="0"/>
          </a:p>
          <a:p>
            <a:r>
              <a:rPr lang="en-IE" sz="2800" b="1" dirty="0">
                <a:solidFill>
                  <a:schemeClr val="accent6"/>
                </a:solidFill>
              </a:rPr>
              <a:t>Driver </a:t>
            </a:r>
            <a:r>
              <a:rPr lang="en-IE" sz="2800" dirty="0"/>
              <a:t>is covered in the next lecture.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7315200" y="762000"/>
            <a:ext cx="2057400" cy="1066800"/>
          </a:xfrm>
          <a:prstGeom prst="roundRect">
            <a:avLst/>
          </a:prstGeom>
          <a:ln w="635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9067800" y="4091781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Product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9372600" y="1295401"/>
            <a:ext cx="723900" cy="2796381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5722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/>
              <a:t>Product</a:t>
            </a:r>
            <a:r>
              <a:rPr lang="en-IE" sz="3600" dirty="0"/>
              <a:t> Class…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38301" y="1569064"/>
            <a:ext cx="3352801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Object Type/ </a:t>
            </a:r>
            <a:r>
              <a:rPr lang="en-IE" sz="2400" b="1" dirty="0"/>
              <a:t>Class</a:t>
            </a:r>
            <a:r>
              <a:rPr lang="en-IE" sz="2400" dirty="0"/>
              <a:t> Name</a:t>
            </a:r>
          </a:p>
          <a:p>
            <a:pPr algn="ctr"/>
            <a:r>
              <a:rPr lang="en-IE" sz="2400" dirty="0"/>
              <a:t>i.e. Product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E6AF8B-5811-487C-98AB-286B6F721A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569064"/>
            <a:ext cx="5181601" cy="519893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EA65584-D9F8-47FD-8EF6-E2D83A0BCBAE}"/>
              </a:ext>
            </a:extLst>
          </p:cNvPr>
          <p:cNvSpPr txBox="1"/>
          <p:nvPr/>
        </p:nvSpPr>
        <p:spPr>
          <a:xfrm>
            <a:off x="1330679" y="2848836"/>
            <a:ext cx="3848100" cy="4616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The </a:t>
            </a:r>
            <a:r>
              <a:rPr lang="en-IE" sz="2400" b="1" dirty="0"/>
              <a:t>C</a:t>
            </a:r>
            <a:r>
              <a:rPr lang="en-IE" sz="2400" dirty="0"/>
              <a:t> icon means it is a </a:t>
            </a:r>
            <a:r>
              <a:rPr lang="en-IE" sz="2400" b="1" dirty="0"/>
              <a:t>Class</a:t>
            </a:r>
            <a:r>
              <a:rPr lang="en-IE" sz="2400" dirty="0"/>
              <a:t>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6DB8DED-05D7-4233-89A9-69D12A06D8C0}"/>
              </a:ext>
            </a:extLst>
          </p:cNvPr>
          <p:cNvCxnSpPr>
            <a:cxnSpLocks/>
          </p:cNvCxnSpPr>
          <p:nvPr/>
        </p:nvCxnSpPr>
        <p:spPr>
          <a:xfrm flipV="1">
            <a:off x="4991102" y="1798638"/>
            <a:ext cx="647699" cy="1086112"/>
          </a:xfrm>
          <a:prstGeom prst="straightConnector1">
            <a:avLst/>
          </a:prstGeom>
          <a:ln w="28575">
            <a:solidFill>
              <a:schemeClr val="accent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3EBAFC0-DD4C-427D-86E5-1622439D0E56}"/>
              </a:ext>
            </a:extLst>
          </p:cNvPr>
          <p:cNvSpPr txBox="1"/>
          <p:nvPr/>
        </p:nvSpPr>
        <p:spPr>
          <a:xfrm>
            <a:off x="1033178" y="3901706"/>
            <a:ext cx="4700870" cy="461665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The open padlock means it is </a:t>
            </a:r>
            <a:r>
              <a:rPr lang="en-IE" sz="2400" b="1" dirty="0"/>
              <a:t>public</a:t>
            </a:r>
            <a:r>
              <a:rPr lang="en-IE" sz="2400" dirty="0"/>
              <a:t>.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01A018E-A2FD-4EE2-BAD6-1F821407C8A1}"/>
              </a:ext>
            </a:extLst>
          </p:cNvPr>
          <p:cNvCxnSpPr>
            <a:cxnSpLocks/>
          </p:cNvCxnSpPr>
          <p:nvPr/>
        </p:nvCxnSpPr>
        <p:spPr>
          <a:xfrm flipV="1">
            <a:off x="5562598" y="1795966"/>
            <a:ext cx="342900" cy="2105740"/>
          </a:xfrm>
          <a:prstGeom prst="straightConnector1">
            <a:avLst/>
          </a:prstGeom>
          <a:ln w="28575">
            <a:solidFill>
              <a:schemeClr val="accent3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BC7FD38-AFFF-4C8F-A2FA-103ABA30C76D}"/>
              </a:ext>
            </a:extLst>
          </p:cNvPr>
          <p:cNvSpPr/>
          <p:nvPr/>
        </p:nvSpPr>
        <p:spPr>
          <a:xfrm>
            <a:off x="5181601" y="1524000"/>
            <a:ext cx="2286000" cy="381000"/>
          </a:xfrm>
          <a:prstGeom prst="round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  <a:stCxn id="5" idx="3"/>
          </p:cNvCxnSpPr>
          <p:nvPr/>
        </p:nvCxnSpPr>
        <p:spPr>
          <a:xfrm flipV="1">
            <a:off x="4991101" y="1905000"/>
            <a:ext cx="190500" cy="79562"/>
          </a:xfrm>
          <a:prstGeom prst="straightConnector1">
            <a:avLst/>
          </a:prstGeom>
          <a:ln w="28575">
            <a:solidFill>
              <a:schemeClr val="bg1">
                <a:lumMod val="8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3612" y="158589"/>
            <a:ext cx="2030688" cy="1218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422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</a:t>
            </a:r>
            <a:r>
              <a:rPr lang="en-IE" sz="3600" b="1" dirty="0"/>
              <a:t>fields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5697055"/>
            <a:ext cx="3429000" cy="1015663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Fields</a:t>
            </a:r>
            <a:r>
              <a:rPr lang="en-IE" sz="2000" dirty="0"/>
              <a:t> </a:t>
            </a:r>
            <a:br>
              <a:rPr lang="en-IE" sz="2000" dirty="0"/>
            </a:br>
            <a:r>
              <a:rPr lang="en-IE" sz="2000" dirty="0"/>
              <a:t>i.e. the </a:t>
            </a:r>
            <a:r>
              <a:rPr lang="en-IE" sz="2000" b="1" dirty="0"/>
              <a:t>attributes / properties</a:t>
            </a:r>
            <a:r>
              <a:rPr lang="en-IE" sz="2000" dirty="0"/>
              <a:t> </a:t>
            </a:r>
            <a:br>
              <a:rPr lang="en-IE" sz="2000" dirty="0"/>
            </a:br>
            <a:r>
              <a:rPr lang="en-IE" sz="2000" dirty="0"/>
              <a:t>of the class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E6AF8B-5811-487C-98AB-286B6F721A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569064"/>
            <a:ext cx="5181601" cy="519893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14AD3A7-B1A7-470E-B762-76D1124547C5}"/>
              </a:ext>
            </a:extLst>
          </p:cNvPr>
          <p:cNvSpPr/>
          <p:nvPr/>
        </p:nvSpPr>
        <p:spPr>
          <a:xfrm>
            <a:off x="5715000" y="5334000"/>
            <a:ext cx="3810000" cy="1433994"/>
          </a:xfrm>
          <a:prstGeom prst="roundRect">
            <a:avLst/>
          </a:prstGeom>
          <a:noFill/>
          <a:ln w="38100">
            <a:solidFill>
              <a:srgbClr val="F9CF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</p:cNvCxnSpPr>
          <p:nvPr/>
        </p:nvCxnSpPr>
        <p:spPr>
          <a:xfrm>
            <a:off x="4800600" y="6324600"/>
            <a:ext cx="914400" cy="0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EA65584-D9F8-47FD-8EF6-E2D83A0BCBAE}"/>
              </a:ext>
            </a:extLst>
          </p:cNvPr>
          <p:cNvSpPr txBox="1"/>
          <p:nvPr/>
        </p:nvSpPr>
        <p:spPr>
          <a:xfrm>
            <a:off x="1595078" y="5092334"/>
            <a:ext cx="3205522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1"/>
            </a:lvl1pPr>
          </a:lstStyle>
          <a:p>
            <a:r>
              <a:rPr lang="en-IE" b="0" dirty="0"/>
              <a:t>The </a:t>
            </a:r>
            <a:r>
              <a:rPr lang="en-IE" dirty="0"/>
              <a:t>f</a:t>
            </a:r>
            <a:r>
              <a:rPr lang="en-IE" b="0" dirty="0"/>
              <a:t> icon means it is a </a:t>
            </a:r>
            <a:r>
              <a:rPr lang="en-IE" dirty="0"/>
              <a:t>field</a:t>
            </a:r>
            <a:r>
              <a:rPr lang="en-IE" b="0" dirty="0"/>
              <a:t>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01A018E-A2FD-4EE2-BAD6-1F821407C8A1}"/>
              </a:ext>
            </a:extLst>
          </p:cNvPr>
          <p:cNvCxnSpPr>
            <a:cxnSpLocks/>
          </p:cNvCxnSpPr>
          <p:nvPr/>
        </p:nvCxnSpPr>
        <p:spPr>
          <a:xfrm>
            <a:off x="4800602" y="5182576"/>
            <a:ext cx="1195667" cy="989624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1973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</a:t>
            </a:r>
            <a:r>
              <a:rPr lang="en-IE" sz="3600" b="1" dirty="0"/>
              <a:t>fields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5697055"/>
            <a:ext cx="3429000" cy="1015663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Fields</a:t>
            </a:r>
            <a:r>
              <a:rPr lang="en-IE" sz="2000" dirty="0"/>
              <a:t> </a:t>
            </a:r>
            <a:br>
              <a:rPr lang="en-IE" sz="2000" dirty="0"/>
            </a:br>
            <a:r>
              <a:rPr lang="en-IE" sz="2000" dirty="0"/>
              <a:t>i.e. the </a:t>
            </a:r>
            <a:r>
              <a:rPr lang="en-IE" sz="2000" b="1" dirty="0"/>
              <a:t>attributes / properties</a:t>
            </a:r>
            <a:r>
              <a:rPr lang="en-IE" sz="2000" dirty="0"/>
              <a:t> </a:t>
            </a:r>
            <a:br>
              <a:rPr lang="en-IE" sz="2000" dirty="0"/>
            </a:br>
            <a:r>
              <a:rPr lang="en-IE" sz="2000" dirty="0"/>
              <a:t>of the class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E6AF8B-5811-487C-98AB-286B6F721A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569064"/>
            <a:ext cx="5181601" cy="519893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14AD3A7-B1A7-470E-B762-76D1124547C5}"/>
              </a:ext>
            </a:extLst>
          </p:cNvPr>
          <p:cNvSpPr/>
          <p:nvPr/>
        </p:nvSpPr>
        <p:spPr>
          <a:xfrm>
            <a:off x="5715000" y="5334000"/>
            <a:ext cx="3810000" cy="1433994"/>
          </a:xfrm>
          <a:prstGeom prst="roundRect">
            <a:avLst/>
          </a:prstGeom>
          <a:noFill/>
          <a:ln w="38100">
            <a:solidFill>
              <a:srgbClr val="F9CF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</p:cNvCxnSpPr>
          <p:nvPr/>
        </p:nvCxnSpPr>
        <p:spPr>
          <a:xfrm>
            <a:off x="4800600" y="6324600"/>
            <a:ext cx="914400" cy="0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EA65584-D9F8-47FD-8EF6-E2D83A0BCBAE}"/>
              </a:ext>
            </a:extLst>
          </p:cNvPr>
          <p:cNvSpPr txBox="1"/>
          <p:nvPr/>
        </p:nvSpPr>
        <p:spPr>
          <a:xfrm>
            <a:off x="1595078" y="5092334"/>
            <a:ext cx="3205522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1"/>
            </a:lvl1pPr>
          </a:lstStyle>
          <a:p>
            <a:r>
              <a:rPr lang="en-IE" b="0" dirty="0"/>
              <a:t>The </a:t>
            </a:r>
            <a:r>
              <a:rPr lang="en-IE" dirty="0"/>
              <a:t>f</a:t>
            </a:r>
            <a:r>
              <a:rPr lang="en-IE" b="0" dirty="0"/>
              <a:t> icon means it is a </a:t>
            </a:r>
            <a:r>
              <a:rPr lang="en-IE" dirty="0"/>
              <a:t>field</a:t>
            </a:r>
            <a:r>
              <a:rPr lang="en-IE" b="0" dirty="0"/>
              <a:t>.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6DB8DED-05D7-4233-89A9-69D12A06D8C0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4800600" y="4544243"/>
            <a:ext cx="1524000" cy="1266301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3EBAFC0-DD4C-427D-86E5-1622439D0E56}"/>
              </a:ext>
            </a:extLst>
          </p:cNvPr>
          <p:cNvSpPr txBox="1"/>
          <p:nvPr/>
        </p:nvSpPr>
        <p:spPr>
          <a:xfrm>
            <a:off x="1609166" y="4190299"/>
            <a:ext cx="3191434" cy="707886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1"/>
            </a:lvl1pPr>
          </a:lstStyle>
          <a:p>
            <a:r>
              <a:rPr lang="en-IE" b="0" dirty="0"/>
              <a:t>The </a:t>
            </a:r>
            <a:r>
              <a:rPr lang="en-IE" b="0" u="sng" dirty="0"/>
              <a:t>closed padlock </a:t>
            </a:r>
            <a:r>
              <a:rPr lang="en-IE" b="0" dirty="0"/>
              <a:t>means it is </a:t>
            </a:r>
            <a:r>
              <a:rPr lang="en-IE" dirty="0"/>
              <a:t>private</a:t>
            </a:r>
            <a:r>
              <a:rPr lang="en-IE" b="0" dirty="0"/>
              <a:t>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01A018E-A2FD-4EE2-BAD6-1F821407C8A1}"/>
              </a:ext>
            </a:extLst>
          </p:cNvPr>
          <p:cNvCxnSpPr>
            <a:cxnSpLocks/>
          </p:cNvCxnSpPr>
          <p:nvPr/>
        </p:nvCxnSpPr>
        <p:spPr>
          <a:xfrm>
            <a:off x="4800602" y="5182576"/>
            <a:ext cx="1195667" cy="989624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73F90E8-03DD-43F1-BF10-765AA6E94505}"/>
              </a:ext>
            </a:extLst>
          </p:cNvPr>
          <p:cNvSpPr txBox="1"/>
          <p:nvPr/>
        </p:nvSpPr>
        <p:spPr>
          <a:xfrm>
            <a:off x="3172384" y="3389107"/>
            <a:ext cx="1600200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 dirty="0"/>
              <a:t>field </a:t>
            </a:r>
            <a:r>
              <a:rPr lang="en-IE" b="1" dirty="0"/>
              <a:t>name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F2D9563-E598-49C9-8195-1E1708E6A1EF}"/>
              </a:ext>
            </a:extLst>
          </p:cNvPr>
          <p:cNvSpPr txBox="1"/>
          <p:nvPr/>
        </p:nvSpPr>
        <p:spPr>
          <a:xfrm>
            <a:off x="3172385" y="2846802"/>
            <a:ext cx="1615890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 dirty="0"/>
              <a:t>field </a:t>
            </a:r>
            <a:r>
              <a:rPr lang="en-IE" b="1" dirty="0"/>
              <a:t>type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B5A1961-5668-46EA-A7A0-596219B5B24D}"/>
              </a:ext>
            </a:extLst>
          </p:cNvPr>
          <p:cNvCxnSpPr>
            <a:cxnSpLocks/>
          </p:cNvCxnSpPr>
          <p:nvPr/>
        </p:nvCxnSpPr>
        <p:spPr>
          <a:xfrm>
            <a:off x="4788274" y="3773090"/>
            <a:ext cx="2222126" cy="1719354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8F00E0F-15E2-4069-8CD2-1F0AF97BEF0E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4788276" y="3046858"/>
            <a:ext cx="3441325" cy="2445587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0208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3" grpId="0" animBg="1"/>
      <p:bldP spid="15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/>
              <a:t>Product</a:t>
            </a:r>
            <a:r>
              <a:rPr lang="en-IE" sz="3600" dirty="0"/>
              <a:t> Class… </a:t>
            </a:r>
            <a:r>
              <a:rPr lang="en-IE" sz="3600" b="1" dirty="0"/>
              <a:t>constructor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59055" y="1600200"/>
            <a:ext cx="3093945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Constructor</a:t>
            </a:r>
            <a:r>
              <a:rPr lang="en-IE" sz="2400" dirty="0"/>
              <a:t> </a:t>
            </a:r>
            <a:br>
              <a:rPr lang="en-IE" sz="2400" dirty="0"/>
            </a:br>
            <a:r>
              <a:rPr lang="en-IE" sz="2400" dirty="0"/>
              <a:t>i.e. for building objects.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E6AF8B-5811-487C-98AB-286B6F721AB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86809"/>
          <a:stretch/>
        </p:blipFill>
        <p:spPr>
          <a:xfrm>
            <a:off x="5262281" y="1524001"/>
            <a:ext cx="5181601" cy="685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>
            <a:off x="5511055" y="1873864"/>
            <a:ext cx="4704227" cy="335937"/>
          </a:xfrm>
          <a:prstGeom prst="roundRect">
            <a:avLst/>
          </a:prstGeom>
          <a:noFill/>
          <a:ln w="412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</p:cNvCxnSpPr>
          <p:nvPr/>
        </p:nvCxnSpPr>
        <p:spPr>
          <a:xfrm>
            <a:off x="4953000" y="1985681"/>
            <a:ext cx="558055" cy="0"/>
          </a:xfrm>
          <a:prstGeom prst="straightConnector1">
            <a:avLst/>
          </a:prstGeom>
          <a:ln w="28575">
            <a:solidFill>
              <a:schemeClr val="bg1">
                <a:lumMod val="8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E321F45-1F1D-4F33-A6F2-04CD6CAA8E7F}"/>
              </a:ext>
            </a:extLst>
          </p:cNvPr>
          <p:cNvSpPr txBox="1"/>
          <p:nvPr/>
        </p:nvSpPr>
        <p:spPr>
          <a:xfrm>
            <a:off x="1856286" y="3016585"/>
            <a:ext cx="3816407" cy="400110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The </a:t>
            </a:r>
            <a:r>
              <a:rPr lang="en-IE" sz="2000" b="1" dirty="0"/>
              <a:t>m</a:t>
            </a:r>
            <a:r>
              <a:rPr lang="en-IE" sz="2000" dirty="0"/>
              <a:t> icon means it is a </a:t>
            </a:r>
            <a:r>
              <a:rPr lang="en-IE" sz="2000" b="1" dirty="0"/>
              <a:t>method</a:t>
            </a:r>
            <a:r>
              <a:rPr lang="en-IE" sz="2000" dirty="0"/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CE040A-8066-4D94-B0C6-FE2C62492D60}"/>
              </a:ext>
            </a:extLst>
          </p:cNvPr>
          <p:cNvSpPr txBox="1"/>
          <p:nvPr/>
        </p:nvSpPr>
        <p:spPr>
          <a:xfrm>
            <a:off x="2517319" y="3921341"/>
            <a:ext cx="4173072" cy="400110"/>
          </a:xfrm>
          <a:prstGeom prst="rect">
            <a:avLst/>
          </a:prstGeom>
          <a:solidFill>
            <a:srgbClr val="A1D38E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000"/>
            </a:lvl1pPr>
          </a:lstStyle>
          <a:p>
            <a:r>
              <a:rPr lang="en-IE" dirty="0"/>
              <a:t>The </a:t>
            </a:r>
            <a:r>
              <a:rPr lang="en-IE" u="sng" dirty="0"/>
              <a:t>open padlock </a:t>
            </a:r>
            <a:r>
              <a:rPr lang="en-IE" dirty="0"/>
              <a:t>means it is </a:t>
            </a:r>
            <a:r>
              <a:rPr lang="en-IE" b="1" dirty="0"/>
              <a:t>public</a:t>
            </a:r>
            <a:r>
              <a:rPr lang="en-IE" dirty="0"/>
              <a:t>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4914900" y="2057400"/>
            <a:ext cx="1028701" cy="978500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54BF45E-94EB-4FAE-ACC1-3C8D5081B9A6}"/>
              </a:ext>
            </a:extLst>
          </p:cNvPr>
          <p:cNvSpPr txBox="1"/>
          <p:nvPr/>
        </p:nvSpPr>
        <p:spPr>
          <a:xfrm>
            <a:off x="3891204" y="4806740"/>
            <a:ext cx="4572000" cy="400110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000"/>
            </a:lvl1pPr>
          </a:lstStyle>
          <a:p>
            <a:r>
              <a:rPr lang="en-IE"/>
              <a:t>Constructors have same </a:t>
            </a:r>
            <a:r>
              <a:rPr lang="en-IE" dirty="0"/>
              <a:t>name as the class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C11272-E773-4288-84E5-15121F65542E}"/>
              </a:ext>
            </a:extLst>
          </p:cNvPr>
          <p:cNvSpPr txBox="1"/>
          <p:nvPr/>
        </p:nvSpPr>
        <p:spPr>
          <a:xfrm>
            <a:off x="7823627" y="5486400"/>
            <a:ext cx="2620254" cy="707886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000"/>
            </a:lvl1pPr>
          </a:lstStyle>
          <a:p>
            <a:r>
              <a:rPr lang="en-IE" dirty="0"/>
              <a:t>Four </a:t>
            </a:r>
            <a:r>
              <a:rPr lang="en-IE" b="1" dirty="0"/>
              <a:t>parameters</a:t>
            </a:r>
            <a:r>
              <a:rPr lang="en-IE" dirty="0"/>
              <a:t>; </a:t>
            </a:r>
            <a:br>
              <a:rPr lang="en-IE" dirty="0"/>
            </a:br>
            <a:r>
              <a:rPr lang="en-IE" dirty="0"/>
              <a:t>one for each field.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H="1" flipV="1">
            <a:off x="6747700" y="2150670"/>
            <a:ext cx="567500" cy="2656070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6189009" y="2133603"/>
            <a:ext cx="150718" cy="1787739"/>
          </a:xfrm>
          <a:prstGeom prst="straightConnector1">
            <a:avLst/>
          </a:prstGeom>
          <a:ln w="28575">
            <a:solidFill>
              <a:srgbClr val="A1D38E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7539718" y="2180236"/>
            <a:ext cx="1594036" cy="3306164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8065912" y="2150670"/>
            <a:ext cx="1067842" cy="3335730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8584346" y="2133602"/>
            <a:ext cx="549408" cy="3352798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9133754" y="2142136"/>
            <a:ext cx="104138" cy="3344264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22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2" grpId="0" animBg="1"/>
      <p:bldP spid="14" grpId="0" animBg="1"/>
      <p:bldP spid="1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DE37AA9-7A9B-424B-AD0E-D526265BB0EB}"/>
              </a:ext>
            </a:extLst>
          </p:cNvPr>
          <p:cNvSpPr txBox="1">
            <a:spLocks/>
          </p:cNvSpPr>
          <p:nvPr/>
        </p:nvSpPr>
        <p:spPr>
          <a:xfrm>
            <a:off x="2133600" y="4270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sz="3600" dirty="0"/>
              <a:t>A </a:t>
            </a:r>
            <a:r>
              <a:rPr lang="en-IE" sz="3600" b="1" dirty="0"/>
              <a:t>Product</a:t>
            </a:r>
            <a:r>
              <a:rPr lang="en-IE" sz="3600" dirty="0"/>
              <a:t> Class… </a:t>
            </a:r>
            <a:r>
              <a:rPr lang="en-IE" sz="3600" b="1" dirty="0"/>
              <a:t>fields </a:t>
            </a:r>
            <a:r>
              <a:rPr lang="en-IE" sz="3600" dirty="0"/>
              <a:t>and</a:t>
            </a:r>
            <a:r>
              <a:rPr lang="en-IE" sz="3600" b="1" dirty="0"/>
              <a:t> constructor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90CB1BFE-F901-4208-ABB3-3B11E7E9E3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1" y="2057400"/>
            <a:ext cx="8331127" cy="378565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class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double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(String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altLang="en-US" sz="16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970315" y="2590800"/>
            <a:ext cx="8342013" cy="1066800"/>
          </a:xfrm>
          <a:prstGeom prst="rect">
            <a:avLst/>
          </a:prstGeom>
          <a:noFill/>
          <a:ln w="444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Rectangle 6"/>
          <p:cNvSpPr/>
          <p:nvPr/>
        </p:nvSpPr>
        <p:spPr>
          <a:xfrm>
            <a:off x="1981201" y="3810000"/>
            <a:ext cx="8331127" cy="2033052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H="1">
            <a:off x="5562600" y="1219200"/>
            <a:ext cx="533400" cy="1371600"/>
          </a:xfrm>
          <a:prstGeom prst="straightConnector1">
            <a:avLst/>
          </a:prstGeom>
          <a:ln w="28575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H="1">
            <a:off x="7315200" y="1219200"/>
            <a:ext cx="990600" cy="25908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8898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methods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E6AF8B-5811-487C-98AB-286B6F721A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569064"/>
            <a:ext cx="5181601" cy="519893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14AD3A7-B1A7-470E-B762-76D1124547C5}"/>
              </a:ext>
            </a:extLst>
          </p:cNvPr>
          <p:cNvSpPr/>
          <p:nvPr/>
        </p:nvSpPr>
        <p:spPr>
          <a:xfrm>
            <a:off x="5506574" y="2209800"/>
            <a:ext cx="4704227" cy="32004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8" name="TextBox 17"/>
          <p:cNvSpPr txBox="1"/>
          <p:nvPr/>
        </p:nvSpPr>
        <p:spPr>
          <a:xfrm>
            <a:off x="1600201" y="4300547"/>
            <a:ext cx="3428999" cy="707886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Methods</a:t>
            </a:r>
            <a:br>
              <a:rPr lang="en-IE" sz="2000"/>
            </a:br>
            <a:r>
              <a:rPr lang="en-IE" sz="2000"/>
              <a:t>i.e</a:t>
            </a:r>
            <a:r>
              <a:rPr lang="en-IE" sz="2000" dirty="0"/>
              <a:t>. the </a:t>
            </a:r>
            <a:r>
              <a:rPr lang="en-IE" sz="2000" b="1" dirty="0"/>
              <a:t>behaviours</a:t>
            </a:r>
            <a:r>
              <a:rPr lang="en-IE" sz="2000" dirty="0"/>
              <a:t> of the class</a:t>
            </a:r>
          </a:p>
        </p:txBody>
      </p:sp>
      <p:sp>
        <p:nvSpPr>
          <p:cNvPr id="19" name="Rectangle: Rounded Corners 6">
            <a:extLst>
              <a:ext uri="{FF2B5EF4-FFF2-40B4-BE49-F238E27FC236}">
                <a16:creationId xmlns:a16="http://schemas.microsoft.com/office/drawing/2014/main" id="{A14AD3A7-B1A7-470E-B762-76D1124547C5}"/>
              </a:ext>
            </a:extLst>
          </p:cNvPr>
          <p:cNvSpPr/>
          <p:nvPr/>
        </p:nvSpPr>
        <p:spPr>
          <a:xfrm>
            <a:off x="5506574" y="2209800"/>
            <a:ext cx="4704226" cy="3200400"/>
          </a:xfrm>
          <a:prstGeom prst="roundRect">
            <a:avLst/>
          </a:prstGeom>
          <a:noFill/>
          <a:ln w="38100">
            <a:solidFill>
              <a:srgbClr val="FCBA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20" name="Straight Arrow Connector 19"/>
          <p:cNvCxnSpPr>
            <a:cxnSpLocks/>
          </p:cNvCxnSpPr>
          <p:nvPr/>
        </p:nvCxnSpPr>
        <p:spPr>
          <a:xfrm>
            <a:off x="4800601" y="4928094"/>
            <a:ext cx="705972" cy="24907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EA65584-D9F8-47FD-8EF6-E2D83A0BCBAE}"/>
              </a:ext>
            </a:extLst>
          </p:cNvPr>
          <p:cNvSpPr txBox="1"/>
          <p:nvPr/>
        </p:nvSpPr>
        <p:spPr>
          <a:xfrm>
            <a:off x="1595079" y="3695827"/>
            <a:ext cx="3662720" cy="400110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1"/>
            </a:lvl1pPr>
          </a:lstStyle>
          <a:p>
            <a:r>
              <a:rPr lang="en-IE" b="0" dirty="0"/>
              <a:t>The </a:t>
            </a:r>
            <a:r>
              <a:rPr lang="en-IE" dirty="0"/>
              <a:t>m</a:t>
            </a:r>
            <a:r>
              <a:rPr lang="en-IE" b="0" dirty="0"/>
              <a:t> icon means it is a </a:t>
            </a:r>
            <a:r>
              <a:rPr lang="en-IE" dirty="0"/>
              <a:t>method</a:t>
            </a:r>
            <a:r>
              <a:rPr lang="en-IE" b="0" dirty="0"/>
              <a:t>.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01A018E-A2FD-4EE2-BAD6-1F821407C8A1}"/>
              </a:ext>
            </a:extLst>
          </p:cNvPr>
          <p:cNvCxnSpPr>
            <a:cxnSpLocks/>
          </p:cNvCxnSpPr>
          <p:nvPr/>
        </p:nvCxnSpPr>
        <p:spPr>
          <a:xfrm>
            <a:off x="4876801" y="4015735"/>
            <a:ext cx="1119469" cy="759958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BF9D653-2734-46BB-BCC4-60D4BA49D705}"/>
              </a:ext>
            </a:extLst>
          </p:cNvPr>
          <p:cNvCxnSpPr>
            <a:cxnSpLocks/>
          </p:cNvCxnSpPr>
          <p:nvPr/>
        </p:nvCxnSpPr>
        <p:spPr>
          <a:xfrm>
            <a:off x="4800601" y="3147736"/>
            <a:ext cx="1524000" cy="1266301"/>
          </a:xfrm>
          <a:prstGeom prst="straightConnector1">
            <a:avLst/>
          </a:prstGeom>
          <a:ln w="28575">
            <a:solidFill>
              <a:srgbClr val="A1D38E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46BAF32D-8C63-4C63-8568-FC0B51370146}"/>
              </a:ext>
            </a:extLst>
          </p:cNvPr>
          <p:cNvSpPr txBox="1"/>
          <p:nvPr/>
        </p:nvSpPr>
        <p:spPr>
          <a:xfrm>
            <a:off x="1598284" y="3091107"/>
            <a:ext cx="4029633" cy="400110"/>
          </a:xfrm>
          <a:prstGeom prst="rect">
            <a:avLst/>
          </a:prstGeom>
          <a:solidFill>
            <a:srgbClr val="A1D38E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1"/>
            </a:lvl1pPr>
          </a:lstStyle>
          <a:p>
            <a:r>
              <a:rPr lang="en-IE" b="0" dirty="0"/>
              <a:t>The </a:t>
            </a:r>
            <a:r>
              <a:rPr lang="en-IE" b="0" u="sng" dirty="0"/>
              <a:t>open padlock </a:t>
            </a:r>
            <a:r>
              <a:rPr lang="en-IE" b="0" dirty="0"/>
              <a:t>means it is </a:t>
            </a:r>
            <a:r>
              <a:rPr lang="en-IE" dirty="0"/>
              <a:t>public</a:t>
            </a:r>
            <a:r>
              <a:rPr lang="en-IE" b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204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1" grpId="0" animBg="1"/>
      <p:bldP spid="3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methods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E6AF8B-5811-487C-98AB-286B6F721A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569064"/>
            <a:ext cx="5181601" cy="519893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73F90E8-03DD-43F1-BF10-765AA6E94505}"/>
              </a:ext>
            </a:extLst>
          </p:cNvPr>
          <p:cNvSpPr txBox="1"/>
          <p:nvPr/>
        </p:nvSpPr>
        <p:spPr>
          <a:xfrm>
            <a:off x="2999816" y="2445265"/>
            <a:ext cx="1876984" cy="400110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/>
              <a:t>Method </a:t>
            </a:r>
            <a:r>
              <a:rPr lang="en-IE" b="1"/>
              <a:t>name</a:t>
            </a:r>
            <a:endParaRPr lang="en-IE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2D9563-E598-49C9-8195-1E1708E6A1EF}"/>
              </a:ext>
            </a:extLst>
          </p:cNvPr>
          <p:cNvSpPr txBox="1"/>
          <p:nvPr/>
        </p:nvSpPr>
        <p:spPr>
          <a:xfrm>
            <a:off x="2991971" y="1731396"/>
            <a:ext cx="1892675" cy="400110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 b="1" dirty="0"/>
              <a:t>Return</a:t>
            </a:r>
            <a:r>
              <a:rPr lang="en-IE" dirty="0"/>
              <a:t> </a:t>
            </a:r>
            <a:r>
              <a:rPr lang="en-IE" b="1" dirty="0"/>
              <a:t>type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B5A1961-5668-46EA-A7A0-596219B5B24D}"/>
              </a:ext>
            </a:extLst>
          </p:cNvPr>
          <p:cNvCxnSpPr>
            <a:cxnSpLocks/>
          </p:cNvCxnSpPr>
          <p:nvPr/>
        </p:nvCxnSpPr>
        <p:spPr>
          <a:xfrm flipV="1">
            <a:off x="4788275" y="2540727"/>
            <a:ext cx="1764924" cy="245353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8F00E0F-15E2-4069-8CD2-1F0AF97BEF0E}"/>
              </a:ext>
            </a:extLst>
          </p:cNvPr>
          <p:cNvCxnSpPr>
            <a:cxnSpLocks/>
            <a:stCxn id="26" idx="3"/>
          </p:cNvCxnSpPr>
          <p:nvPr/>
        </p:nvCxnSpPr>
        <p:spPr>
          <a:xfrm>
            <a:off x="4884645" y="1931452"/>
            <a:ext cx="3577478" cy="404665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6553200" y="2543015"/>
            <a:ext cx="16764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8305800" y="2540726"/>
            <a:ext cx="6096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7285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get</a:t>
            </a:r>
            <a:r>
              <a:rPr lang="en-IE" sz="3600" dirty="0"/>
              <a:t>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981201"/>
            <a:ext cx="2209800" cy="46166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get</a:t>
            </a:r>
            <a:r>
              <a:rPr lang="en-IE" sz="2400" dirty="0"/>
              <a:t>ters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E6AF8B-5811-487C-98AB-286B6F721A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1569064"/>
            <a:ext cx="5181601" cy="519893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>
            <a:off x="5506574" y="2209800"/>
            <a:ext cx="4704227" cy="14478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  <a:stCxn id="5" idx="3"/>
          </p:cNvCxnSpPr>
          <p:nvPr/>
        </p:nvCxnSpPr>
        <p:spPr>
          <a:xfrm>
            <a:off x="4038601" y="2212034"/>
            <a:ext cx="1467973" cy="45496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64511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b="1" dirty="0"/>
              <a:t>Get</a:t>
            </a:r>
            <a:r>
              <a:rPr lang="en-IE" dirty="0"/>
              <a:t>ters (Accessor Methods)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B050"/>
                </a:solidFill>
              </a:rPr>
              <a:t>Accessor</a:t>
            </a:r>
            <a:r>
              <a:rPr lang="en-US" sz="2800" dirty="0"/>
              <a:t> methods </a:t>
            </a:r>
          </a:p>
          <a:p>
            <a:pPr lvl="1"/>
            <a:r>
              <a:rPr lang="en-US" sz="2400" dirty="0"/>
              <a:t>return information about the </a:t>
            </a:r>
            <a:r>
              <a:rPr lang="en-US" sz="2400" b="1" dirty="0"/>
              <a:t>state</a:t>
            </a:r>
            <a:r>
              <a:rPr lang="en-US" sz="2400" dirty="0"/>
              <a:t> of an object </a:t>
            </a:r>
          </a:p>
          <a:p>
            <a:pPr lvl="2"/>
            <a:r>
              <a:rPr lang="en-US" sz="2000" dirty="0"/>
              <a:t>i.e. </a:t>
            </a:r>
            <a:r>
              <a:rPr lang="en-US" sz="2000" b="1" dirty="0"/>
              <a:t>the values stored in the fields</a:t>
            </a:r>
            <a:r>
              <a:rPr lang="en-US" sz="2000" dirty="0"/>
              <a:t>.</a:t>
            </a:r>
          </a:p>
          <a:p>
            <a:endParaRPr lang="en-US" sz="2800" dirty="0"/>
          </a:p>
          <a:p>
            <a:r>
              <a:rPr lang="en-US" sz="2800" dirty="0"/>
              <a:t>A </a:t>
            </a:r>
            <a:r>
              <a:rPr lang="en-US" sz="2800" dirty="0">
                <a:solidFill>
                  <a:srgbClr val="FF0000"/>
                </a:solidFill>
              </a:rPr>
              <a:t>‘getter’ </a:t>
            </a:r>
            <a:r>
              <a:rPr lang="en-US" sz="2800" dirty="0"/>
              <a:t>method </a:t>
            </a:r>
          </a:p>
          <a:p>
            <a:pPr lvl="1"/>
            <a:r>
              <a:rPr lang="en-US" sz="2400" dirty="0"/>
              <a:t>is a specific type of </a:t>
            </a:r>
            <a:r>
              <a:rPr lang="en-US" sz="2400" b="1" dirty="0">
                <a:solidFill>
                  <a:srgbClr val="00B050"/>
                </a:solidFill>
              </a:rPr>
              <a:t>accessor</a:t>
            </a:r>
            <a:r>
              <a:rPr lang="en-US" sz="2400" dirty="0"/>
              <a:t> method and typically:</a:t>
            </a:r>
          </a:p>
          <a:p>
            <a:pPr lvl="2"/>
            <a:r>
              <a:rPr lang="en-US" sz="2000" b="1" dirty="0"/>
              <a:t>contains a return statement </a:t>
            </a:r>
            <a:br>
              <a:rPr lang="en-US" sz="2000" b="1" dirty="0"/>
            </a:br>
            <a:r>
              <a:rPr lang="en-US" sz="2000" dirty="0"/>
              <a:t>(as the last executable statement in the method).</a:t>
            </a:r>
          </a:p>
          <a:p>
            <a:pPr lvl="2"/>
            <a:r>
              <a:rPr lang="en-US" sz="2000" dirty="0"/>
              <a:t>defines a </a:t>
            </a:r>
            <a:r>
              <a:rPr lang="en-US" sz="2000" b="1" dirty="0"/>
              <a:t>return</a:t>
            </a:r>
            <a:r>
              <a:rPr lang="en-US" sz="2000" dirty="0"/>
              <a:t> </a:t>
            </a:r>
            <a:r>
              <a:rPr lang="en-US" sz="2000" b="1" dirty="0"/>
              <a:t>type</a:t>
            </a:r>
            <a:r>
              <a:rPr lang="en-US" sz="2000" dirty="0"/>
              <a:t>.</a:t>
            </a:r>
          </a:p>
          <a:p>
            <a:pPr lvl="2"/>
            <a:r>
              <a:rPr lang="en-US" sz="2000" b="1" dirty="0"/>
              <a:t>does NOT change the object state</a:t>
            </a:r>
            <a:r>
              <a:rPr lang="en-US" sz="2000" dirty="0"/>
              <a:t>.</a:t>
            </a:r>
            <a:endParaRPr lang="en-US" dirty="0"/>
          </a:p>
          <a:p>
            <a:pPr marL="0" indent="0">
              <a:buNone/>
            </a:pP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803217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Get</a:t>
            </a:r>
            <a:r>
              <a:rPr lang="en-IE" dirty="0"/>
              <a:t>ters</a:t>
            </a:r>
            <a:endParaRPr lang="en-US" dirty="0"/>
          </a:p>
        </p:txBody>
      </p:sp>
      <p:sp>
        <p:nvSpPr>
          <p:cNvPr id="17412" name="Text Box 4"/>
          <p:cNvSpPr txBox="1">
            <a:spLocks noChangeArrowheads="1"/>
          </p:cNvSpPr>
          <p:nvPr/>
        </p:nvSpPr>
        <p:spPr bwMode="auto">
          <a:xfrm>
            <a:off x="2712206" y="3281289"/>
            <a:ext cx="5161991" cy="1569660"/>
          </a:xfrm>
          <a:prstGeom prst="rect">
            <a:avLst/>
          </a:prstGeom>
          <a:noFill/>
          <a:ln w="1905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public double </a:t>
            </a:r>
            <a:r>
              <a:rPr lang="en-IE" sz="2400" dirty="0" err="1">
                <a:latin typeface="Courier New" pitchFamily="49" charset="0"/>
                <a:cs typeface="Times" pitchFamily="-32" charset="0"/>
              </a:rPr>
              <a:t>getUnitCost</a:t>
            </a:r>
            <a:r>
              <a:rPr lang="en-IE" sz="2400" dirty="0">
                <a:latin typeface="Courier New" pitchFamily="49" charset="0"/>
                <a:cs typeface="Times" pitchFamily="-32" charset="0"/>
              </a:rPr>
              <a:t>()</a:t>
            </a:r>
          </a:p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{</a:t>
            </a:r>
          </a:p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     return </a:t>
            </a:r>
            <a:r>
              <a:rPr lang="en-IE" sz="2400" dirty="0" err="1">
                <a:latin typeface="Courier New" pitchFamily="49" charset="0"/>
                <a:cs typeface="Times" pitchFamily="-32" charset="0"/>
              </a:rPr>
              <a:t>unitCost</a:t>
            </a:r>
            <a:r>
              <a:rPr lang="en-IE" sz="2400" dirty="0">
                <a:latin typeface="Courier New" pitchFamily="49" charset="0"/>
                <a:cs typeface="Times" pitchFamily="-32" charset="0"/>
              </a:rPr>
              <a:t>;</a:t>
            </a:r>
          </a:p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}</a:t>
            </a:r>
          </a:p>
        </p:txBody>
      </p:sp>
      <p:sp>
        <p:nvSpPr>
          <p:cNvPr id="17413" name="Text Box 5"/>
          <p:cNvSpPr txBox="1">
            <a:spLocks noChangeArrowheads="1"/>
          </p:cNvSpPr>
          <p:nvPr/>
        </p:nvSpPr>
        <p:spPr bwMode="auto">
          <a:xfrm>
            <a:off x="4337051" y="2168526"/>
            <a:ext cx="15716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type</a:t>
            </a:r>
          </a:p>
        </p:txBody>
      </p:sp>
      <p:sp>
        <p:nvSpPr>
          <p:cNvPr id="17414" name="Text Box 6"/>
          <p:cNvSpPr txBox="1">
            <a:spLocks noChangeArrowheads="1"/>
          </p:cNvSpPr>
          <p:nvPr/>
        </p:nvSpPr>
        <p:spPr bwMode="auto">
          <a:xfrm>
            <a:off x="6419851" y="2489200"/>
            <a:ext cx="165647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method name</a:t>
            </a:r>
          </a:p>
        </p:txBody>
      </p:sp>
      <p:sp>
        <p:nvSpPr>
          <p:cNvPr id="17415" name="Text Box 7"/>
          <p:cNvSpPr txBox="1">
            <a:spLocks noChangeArrowheads="1"/>
          </p:cNvSpPr>
          <p:nvPr/>
        </p:nvSpPr>
        <p:spPr bwMode="auto">
          <a:xfrm>
            <a:off x="7918450" y="3032126"/>
            <a:ext cx="2063750" cy="70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parameter list (empty)</a:t>
            </a:r>
          </a:p>
        </p:txBody>
      </p:sp>
      <p:sp>
        <p:nvSpPr>
          <p:cNvPr id="17416" name="Oval 8"/>
          <p:cNvSpPr>
            <a:spLocks noChangeArrowheads="1"/>
          </p:cNvSpPr>
          <p:nvPr/>
        </p:nvSpPr>
        <p:spPr bwMode="auto">
          <a:xfrm>
            <a:off x="2728933" y="3752777"/>
            <a:ext cx="365125" cy="1098173"/>
          </a:xfrm>
          <a:prstGeom prst="ellipse">
            <a:avLst/>
          </a:prstGeom>
          <a:noFill/>
          <a:ln w="28575">
            <a:solidFill>
              <a:srgbClr val="A57133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IE"/>
          </a:p>
        </p:txBody>
      </p:sp>
      <p:sp>
        <p:nvSpPr>
          <p:cNvPr id="17417" name="Text Box 9"/>
          <p:cNvSpPr txBox="1">
            <a:spLocks noChangeArrowheads="1"/>
          </p:cNvSpPr>
          <p:nvPr/>
        </p:nvSpPr>
        <p:spPr bwMode="auto">
          <a:xfrm>
            <a:off x="3117850" y="5089526"/>
            <a:ext cx="45529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start and end of method body (block)</a:t>
            </a:r>
          </a:p>
        </p:txBody>
      </p:sp>
      <p:sp>
        <p:nvSpPr>
          <p:cNvPr id="17418" name="Text Box 10"/>
          <p:cNvSpPr txBox="1">
            <a:spLocks noChangeArrowheads="1"/>
          </p:cNvSpPr>
          <p:nvPr/>
        </p:nvSpPr>
        <p:spPr bwMode="auto">
          <a:xfrm>
            <a:off x="8076330" y="4067145"/>
            <a:ext cx="200061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statement</a:t>
            </a:r>
          </a:p>
        </p:txBody>
      </p:sp>
      <p:sp>
        <p:nvSpPr>
          <p:cNvPr id="17419" name="Line 11"/>
          <p:cNvSpPr>
            <a:spLocks noChangeShapeType="1"/>
          </p:cNvSpPr>
          <p:nvPr/>
        </p:nvSpPr>
        <p:spPr bwMode="auto">
          <a:xfrm flipH="1" flipV="1">
            <a:off x="2889250" y="4876800"/>
            <a:ext cx="22860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0" name="Line 12"/>
          <p:cNvSpPr>
            <a:spLocks noChangeShapeType="1"/>
          </p:cNvSpPr>
          <p:nvPr/>
        </p:nvSpPr>
        <p:spPr bwMode="auto">
          <a:xfrm flipH="1">
            <a:off x="4565650" y="2574925"/>
            <a:ext cx="38100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1" name="Line 13"/>
          <p:cNvSpPr>
            <a:spLocks noChangeShapeType="1"/>
          </p:cNvSpPr>
          <p:nvPr/>
        </p:nvSpPr>
        <p:spPr bwMode="auto">
          <a:xfrm flipH="1">
            <a:off x="6394450" y="2819400"/>
            <a:ext cx="558800" cy="46188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2" name="Line 14"/>
          <p:cNvSpPr>
            <a:spLocks noChangeShapeType="1"/>
          </p:cNvSpPr>
          <p:nvPr/>
        </p:nvSpPr>
        <p:spPr bwMode="auto">
          <a:xfrm flipH="1">
            <a:off x="7461250" y="3306846"/>
            <a:ext cx="479425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3" name="Line 15"/>
          <p:cNvSpPr>
            <a:spLocks noChangeShapeType="1"/>
          </p:cNvSpPr>
          <p:nvPr/>
        </p:nvSpPr>
        <p:spPr bwMode="auto">
          <a:xfrm flipH="1">
            <a:off x="6699250" y="4251334"/>
            <a:ext cx="1377080" cy="1586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4" name="Text Box 16"/>
          <p:cNvSpPr txBox="1">
            <a:spLocks noChangeArrowheads="1"/>
          </p:cNvSpPr>
          <p:nvPr/>
        </p:nvSpPr>
        <p:spPr bwMode="auto">
          <a:xfrm>
            <a:off x="1938339" y="2489200"/>
            <a:ext cx="198163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visibility modifier</a:t>
            </a:r>
          </a:p>
        </p:txBody>
      </p:sp>
      <p:sp>
        <p:nvSpPr>
          <p:cNvPr id="17425" name="Line 17"/>
          <p:cNvSpPr>
            <a:spLocks noChangeShapeType="1"/>
          </p:cNvSpPr>
          <p:nvPr/>
        </p:nvSpPr>
        <p:spPr bwMode="auto">
          <a:xfrm>
            <a:off x="2584451" y="2895601"/>
            <a:ext cx="762000" cy="3651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" name="Oval 8"/>
          <p:cNvSpPr>
            <a:spLocks noChangeArrowheads="1"/>
          </p:cNvSpPr>
          <p:nvPr/>
        </p:nvSpPr>
        <p:spPr bwMode="auto">
          <a:xfrm>
            <a:off x="2610472" y="3255438"/>
            <a:ext cx="1421779" cy="478362"/>
          </a:xfrm>
          <a:prstGeom prst="ellipse">
            <a:avLst/>
          </a:prstGeom>
          <a:noFill/>
          <a:ln w="28575">
            <a:solidFill>
              <a:srgbClr val="A57133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63579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3" grpId="0"/>
      <p:bldP spid="17414" grpId="0"/>
      <p:bldP spid="17415" grpId="0"/>
      <p:bldP spid="17416" grpId="0" animBg="1"/>
      <p:bldP spid="17417" grpId="0"/>
      <p:bldP spid="17418" grpId="0"/>
      <p:bldP spid="17419" grpId="0" animBg="1"/>
      <p:bldP spid="17420" grpId="0" animBg="1"/>
      <p:bldP spid="17421" grpId="0" animBg="1"/>
      <p:bldP spid="17422" grpId="0" animBg="1"/>
      <p:bldP spid="17423" grpId="0" animBg="1"/>
      <p:bldP spid="17424" grpId="0"/>
      <p:bldP spid="17425" grpId="0" animBg="1"/>
      <p:bldP spid="1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DE37AA9-7A9B-424B-AD0E-D526265BB0EB}"/>
              </a:ext>
            </a:extLst>
          </p:cNvPr>
          <p:cNvSpPr txBox="1">
            <a:spLocks/>
          </p:cNvSpPr>
          <p:nvPr/>
        </p:nvSpPr>
        <p:spPr>
          <a:xfrm>
            <a:off x="2133600" y="4270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sz="3600" dirty="0"/>
              <a:t>A Product Class…</a:t>
            </a:r>
            <a:r>
              <a:rPr lang="en-IE" sz="3600" b="1" dirty="0"/>
              <a:t>get</a:t>
            </a:r>
            <a:r>
              <a:rPr lang="en-IE" sz="3600" dirty="0"/>
              <a:t>ters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7C53D8-9834-42FB-A8C5-3200BC2C93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67001" y="1905001"/>
            <a:ext cx="6250429" cy="4247317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 </a:t>
            </a:r>
            <a:r>
              <a:rPr lang="en-US" altLang="en-US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double </a:t>
            </a:r>
            <a:r>
              <a:rPr lang="en-US" altLang="en-US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}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78421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</a:t>
            </a:r>
            <a:r>
              <a:rPr lang="en-IE" sz="3600" b="1" dirty="0"/>
              <a:t>set</a:t>
            </a:r>
            <a:r>
              <a:rPr lang="en-IE" sz="3600" dirty="0"/>
              <a:t>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733801"/>
            <a:ext cx="2209800" cy="46166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set</a:t>
            </a:r>
            <a:r>
              <a:rPr lang="en-IE" sz="2400" dirty="0"/>
              <a:t>ters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E6AF8B-5811-487C-98AB-286B6F721A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1569064"/>
            <a:ext cx="5181601" cy="519893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>
            <a:off x="5658974" y="3657600"/>
            <a:ext cx="4704227" cy="13716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  <a:stCxn id="5" idx="3"/>
          </p:cNvCxnSpPr>
          <p:nvPr/>
        </p:nvCxnSpPr>
        <p:spPr>
          <a:xfrm>
            <a:off x="4038601" y="3964634"/>
            <a:ext cx="1620373" cy="45496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43627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b="1" dirty="0"/>
              <a:t>Set</a:t>
            </a:r>
            <a:r>
              <a:rPr lang="en-IE" dirty="0"/>
              <a:t>ters (</a:t>
            </a:r>
            <a:r>
              <a:rPr lang="en-IE" dirty="0" err="1"/>
              <a:t>Mutator</a:t>
            </a:r>
            <a:r>
              <a:rPr lang="en-IE" dirty="0"/>
              <a:t> methods)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Mutator</a:t>
            </a:r>
            <a:r>
              <a:rPr lang="en-US" dirty="0"/>
              <a:t> methods </a:t>
            </a:r>
          </a:p>
          <a:p>
            <a:pPr lvl="1"/>
            <a:r>
              <a:rPr lang="en-US" dirty="0"/>
              <a:t>change (i.e. mutate!) an object’s state.</a:t>
            </a:r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dirty="0">
                <a:solidFill>
                  <a:srgbClr val="FF0000"/>
                </a:solidFill>
              </a:rPr>
              <a:t>‘setter’ </a:t>
            </a:r>
            <a:r>
              <a:rPr lang="en-US" dirty="0"/>
              <a:t>method </a:t>
            </a:r>
          </a:p>
          <a:p>
            <a:pPr lvl="1"/>
            <a:r>
              <a:rPr lang="en-US" dirty="0"/>
              <a:t>is a specific type of </a:t>
            </a:r>
            <a:r>
              <a:rPr lang="en-US" b="1" dirty="0" err="1">
                <a:solidFill>
                  <a:srgbClr val="00B050"/>
                </a:solidFill>
              </a:rPr>
              <a:t>mutator</a:t>
            </a:r>
            <a:r>
              <a:rPr lang="en-US" dirty="0"/>
              <a:t> method and typically:</a:t>
            </a:r>
          </a:p>
          <a:p>
            <a:pPr lvl="2"/>
            <a:r>
              <a:rPr lang="en-US" dirty="0"/>
              <a:t>contains an </a:t>
            </a:r>
            <a:r>
              <a:rPr lang="en-US" b="1" dirty="0"/>
              <a:t>assignment statement </a:t>
            </a:r>
          </a:p>
          <a:p>
            <a:pPr lvl="2"/>
            <a:r>
              <a:rPr lang="en-US" dirty="0"/>
              <a:t>takes in a </a:t>
            </a:r>
            <a:r>
              <a:rPr lang="en-US" b="1" dirty="0"/>
              <a:t>parameter</a:t>
            </a:r>
          </a:p>
          <a:p>
            <a:pPr lvl="2"/>
            <a:r>
              <a:rPr lang="en-US" b="1" dirty="0"/>
              <a:t>changes the object state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382532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Setters</a:t>
            </a:r>
            <a:endParaRPr lang="en-US" dirty="0"/>
          </a:p>
        </p:txBody>
      </p:sp>
      <p:sp>
        <p:nvSpPr>
          <p:cNvPr id="19459" name="Text Box 3"/>
          <p:cNvSpPr txBox="1">
            <a:spLocks noChangeArrowheads="1"/>
          </p:cNvSpPr>
          <p:nvPr/>
        </p:nvSpPr>
        <p:spPr bwMode="auto">
          <a:xfrm>
            <a:off x="2590801" y="3203575"/>
            <a:ext cx="7558479" cy="1569660"/>
          </a:xfrm>
          <a:prstGeom prst="rect">
            <a:avLst/>
          </a:prstGeom>
          <a:noFill/>
          <a:ln w="1270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public void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setUnitCost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(double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unitCost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)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{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   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this.unitCost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 =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unitCost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;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}</a:t>
            </a:r>
            <a:r>
              <a:rPr lang="en-US" sz="2400" dirty="0">
                <a:latin typeface="Courier New" pitchFamily="49" charset="0"/>
              </a:rPr>
              <a:t> </a:t>
            </a:r>
          </a:p>
        </p:txBody>
      </p:sp>
      <p:sp>
        <p:nvSpPr>
          <p:cNvPr id="19460" name="Text Box 4"/>
          <p:cNvSpPr txBox="1">
            <a:spLocks noChangeArrowheads="1"/>
          </p:cNvSpPr>
          <p:nvPr/>
        </p:nvSpPr>
        <p:spPr bwMode="auto">
          <a:xfrm>
            <a:off x="4038601" y="1752600"/>
            <a:ext cx="136614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type</a:t>
            </a:r>
          </a:p>
        </p:txBody>
      </p:sp>
      <p:sp>
        <p:nvSpPr>
          <p:cNvPr id="19461" name="Text Box 5"/>
          <p:cNvSpPr txBox="1">
            <a:spLocks noChangeArrowheads="1"/>
          </p:cNvSpPr>
          <p:nvPr/>
        </p:nvSpPr>
        <p:spPr bwMode="auto">
          <a:xfrm>
            <a:off x="5489576" y="2286000"/>
            <a:ext cx="165647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method name</a:t>
            </a:r>
          </a:p>
        </p:txBody>
      </p:sp>
      <p:sp>
        <p:nvSpPr>
          <p:cNvPr id="19462" name="Text Box 6"/>
          <p:cNvSpPr txBox="1">
            <a:spLocks noChangeArrowheads="1"/>
          </p:cNvSpPr>
          <p:nvPr/>
        </p:nvSpPr>
        <p:spPr bwMode="auto">
          <a:xfrm>
            <a:off x="8458200" y="2286000"/>
            <a:ext cx="128458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parameter</a:t>
            </a:r>
          </a:p>
        </p:txBody>
      </p:sp>
      <p:sp>
        <p:nvSpPr>
          <p:cNvPr id="19463" name="Line 7"/>
          <p:cNvSpPr>
            <a:spLocks noChangeShapeType="1"/>
          </p:cNvSpPr>
          <p:nvPr/>
        </p:nvSpPr>
        <p:spPr bwMode="auto">
          <a:xfrm flipH="1">
            <a:off x="4268787" y="2133600"/>
            <a:ext cx="455613" cy="11350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4" name="Line 8"/>
          <p:cNvSpPr>
            <a:spLocks noChangeShapeType="1"/>
          </p:cNvSpPr>
          <p:nvPr/>
        </p:nvSpPr>
        <p:spPr bwMode="auto">
          <a:xfrm flipH="1">
            <a:off x="5943600" y="2667000"/>
            <a:ext cx="457200" cy="6016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5" name="Line 9"/>
          <p:cNvSpPr>
            <a:spLocks noChangeShapeType="1"/>
          </p:cNvSpPr>
          <p:nvPr/>
        </p:nvSpPr>
        <p:spPr bwMode="auto">
          <a:xfrm flipH="1">
            <a:off x="8890000" y="2686970"/>
            <a:ext cx="266700" cy="49914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6" name="Text Box 10"/>
          <p:cNvSpPr txBox="1">
            <a:spLocks noChangeArrowheads="1"/>
          </p:cNvSpPr>
          <p:nvPr/>
        </p:nvSpPr>
        <p:spPr bwMode="auto">
          <a:xfrm>
            <a:off x="1828801" y="2270125"/>
            <a:ext cx="198163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visibility modifier</a:t>
            </a:r>
          </a:p>
        </p:txBody>
      </p:sp>
      <p:sp>
        <p:nvSpPr>
          <p:cNvPr id="19467" name="Line 11"/>
          <p:cNvSpPr>
            <a:spLocks noChangeShapeType="1"/>
          </p:cNvSpPr>
          <p:nvPr/>
        </p:nvSpPr>
        <p:spPr bwMode="auto">
          <a:xfrm>
            <a:off x="2971801" y="2667001"/>
            <a:ext cx="131763" cy="5191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8" name="Text Box 12"/>
          <p:cNvSpPr txBox="1">
            <a:spLocks noChangeArrowheads="1"/>
          </p:cNvSpPr>
          <p:nvPr/>
        </p:nvSpPr>
        <p:spPr bwMode="auto">
          <a:xfrm>
            <a:off x="5576162" y="5029200"/>
            <a:ext cx="1434239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assignment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statement</a:t>
            </a:r>
          </a:p>
        </p:txBody>
      </p:sp>
      <p:sp>
        <p:nvSpPr>
          <p:cNvPr id="19469" name="Line 13"/>
          <p:cNvSpPr>
            <a:spLocks noChangeShapeType="1"/>
          </p:cNvSpPr>
          <p:nvPr/>
        </p:nvSpPr>
        <p:spPr bwMode="auto">
          <a:xfrm flipH="1" flipV="1">
            <a:off x="6019800" y="4239835"/>
            <a:ext cx="0" cy="77349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70" name="Text Box 14"/>
          <p:cNvSpPr txBox="1">
            <a:spLocks noChangeArrowheads="1"/>
          </p:cNvSpPr>
          <p:nvPr/>
        </p:nvSpPr>
        <p:spPr bwMode="auto">
          <a:xfrm>
            <a:off x="2991854" y="5089525"/>
            <a:ext cx="229235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field being mutated</a:t>
            </a:r>
          </a:p>
        </p:txBody>
      </p:sp>
      <p:sp>
        <p:nvSpPr>
          <p:cNvPr id="19471" name="Line 15"/>
          <p:cNvSpPr>
            <a:spLocks noChangeShapeType="1"/>
          </p:cNvSpPr>
          <p:nvPr/>
        </p:nvSpPr>
        <p:spPr bwMode="auto">
          <a:xfrm flipV="1">
            <a:off x="4268786" y="4343400"/>
            <a:ext cx="379414" cy="669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6" name="Text Box 12"/>
          <p:cNvSpPr txBox="1">
            <a:spLocks noChangeArrowheads="1"/>
          </p:cNvSpPr>
          <p:nvPr/>
        </p:nvSpPr>
        <p:spPr bwMode="auto">
          <a:xfrm>
            <a:off x="7543801" y="5083314"/>
            <a:ext cx="1775551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Value passed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as a parameter</a:t>
            </a:r>
          </a:p>
        </p:txBody>
      </p:sp>
      <p:sp>
        <p:nvSpPr>
          <p:cNvPr id="17" name="Line 13"/>
          <p:cNvSpPr>
            <a:spLocks noChangeShapeType="1"/>
          </p:cNvSpPr>
          <p:nvPr/>
        </p:nvSpPr>
        <p:spPr bwMode="auto">
          <a:xfrm flipH="1" flipV="1">
            <a:off x="7010401" y="4343399"/>
            <a:ext cx="977039" cy="72404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28824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0" grpId="0"/>
      <p:bldP spid="19461" grpId="0"/>
      <p:bldP spid="19462" grpId="0"/>
      <p:bldP spid="19463" grpId="0" animBg="1"/>
      <p:bldP spid="19464" grpId="0" animBg="1"/>
      <p:bldP spid="19465" grpId="0" animBg="1"/>
      <p:bldP spid="19466" grpId="0"/>
      <p:bldP spid="19467" grpId="0" animBg="1"/>
      <p:bldP spid="19468" grpId="0"/>
      <p:bldP spid="19469" grpId="0" animBg="1"/>
      <p:bldP spid="19470" grpId="0"/>
      <p:bldP spid="19471" grpId="0" animBg="1"/>
      <p:bldP spid="16" grpId="0"/>
      <p:bldP spid="1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DE37AA9-7A9B-424B-AD0E-D526265BB0EB}"/>
              </a:ext>
            </a:extLst>
          </p:cNvPr>
          <p:cNvSpPr txBox="1">
            <a:spLocks/>
          </p:cNvSpPr>
          <p:nvPr/>
        </p:nvSpPr>
        <p:spPr>
          <a:xfrm>
            <a:off x="2133600" y="4270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sz="3600" dirty="0"/>
              <a:t>A Product Class…setters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3E5E4DE5-B8FA-423C-91A0-50537A3395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1" y="2059632"/>
            <a:ext cx="8454559" cy="378565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US" altLang="en-US" sz="16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US" altLang="en-US" sz="16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(String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US" altLang="en-US" sz="16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US" altLang="en-US" sz="16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46413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Getters/Setters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E" dirty="0"/>
              <a:t>For </a:t>
            </a:r>
            <a:r>
              <a:rPr lang="en-IE" dirty="0">
                <a:solidFill>
                  <a:srgbClr val="FF0000"/>
                </a:solidFill>
              </a:rPr>
              <a:t>each instance field </a:t>
            </a:r>
            <a:r>
              <a:rPr lang="en-IE" dirty="0"/>
              <a:t>in a class, you are normally asked to write: </a:t>
            </a:r>
          </a:p>
          <a:p>
            <a:pPr marL="0" indent="0">
              <a:buNone/>
            </a:pPr>
            <a:endParaRPr lang="en-IE" dirty="0"/>
          </a:p>
          <a:p>
            <a:pPr lvl="1"/>
            <a:r>
              <a:rPr lang="en-IE" dirty="0"/>
              <a:t>A </a:t>
            </a:r>
            <a:r>
              <a:rPr lang="en-IE" b="1" dirty="0"/>
              <a:t>get</a:t>
            </a:r>
            <a:r>
              <a:rPr lang="en-IE" dirty="0"/>
              <a:t>ter</a:t>
            </a:r>
          </a:p>
          <a:p>
            <a:pPr lvl="2"/>
            <a:r>
              <a:rPr lang="en-IE" dirty="0"/>
              <a:t>Return statement</a:t>
            </a:r>
          </a:p>
          <a:p>
            <a:pPr marL="457200" lvl="1" indent="0">
              <a:buNone/>
            </a:pPr>
            <a:endParaRPr lang="en-IE" dirty="0"/>
          </a:p>
          <a:p>
            <a:pPr lvl="1"/>
            <a:r>
              <a:rPr lang="en-IE" dirty="0"/>
              <a:t>A </a:t>
            </a:r>
            <a:r>
              <a:rPr lang="en-IE" b="1" dirty="0"/>
              <a:t>set</a:t>
            </a:r>
            <a:r>
              <a:rPr lang="en-IE" dirty="0"/>
              <a:t>ter</a:t>
            </a:r>
          </a:p>
          <a:p>
            <a:pPr lvl="2"/>
            <a:r>
              <a:rPr lang="en-IE" dirty="0"/>
              <a:t>Assignment statement</a:t>
            </a:r>
          </a:p>
        </p:txBody>
      </p:sp>
    </p:spTree>
    <p:extLst>
      <p:ext uri="{BB962C8B-B14F-4D97-AF65-F5344CB8AC3E}">
        <p14:creationId xmlns:p14="http://schemas.microsoft.com/office/powerpoint/2010/main" val="485824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</a:t>
            </a:r>
            <a:r>
              <a:rPr lang="en-IE" sz="3600" b="1" dirty="0"/>
              <a:t>toString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2770" y="2732545"/>
            <a:ext cx="3180230" cy="206210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toString</a:t>
            </a:r>
            <a:r>
              <a:rPr lang="en-IE" sz="2400" dirty="0"/>
              <a:t>():</a:t>
            </a:r>
          </a:p>
          <a:p>
            <a:endParaRPr lang="en-IE" sz="2400" dirty="0"/>
          </a:p>
          <a:p>
            <a:r>
              <a:rPr lang="en-US" altLang="en-US" sz="2000" dirty="0">
                <a:solidFill>
                  <a:schemeClr val="tx1">
                    <a:lumMod val="65000"/>
                    <a:lumOff val="35000"/>
                  </a:schemeClr>
                </a:solidFill>
                <a:cs typeface="Courier New" panose="02070309020205020404" pitchFamily="49" charset="0"/>
              </a:rPr>
              <a:t>Builds and returns a String containing a user-friendly representation of the object state.</a:t>
            </a:r>
            <a:r>
              <a:rPr lang="en-IE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E6AF8B-5811-487C-98AB-286B6F721A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1524001"/>
            <a:ext cx="5181601" cy="519893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 flipV="1">
            <a:off x="5658974" y="4953000"/>
            <a:ext cx="4704227" cy="381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  <a:stCxn id="5" idx="3"/>
          </p:cNvCxnSpPr>
          <p:nvPr/>
        </p:nvCxnSpPr>
        <p:spPr>
          <a:xfrm>
            <a:off x="4953001" y="3763596"/>
            <a:ext cx="705973" cy="134180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01546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F48A2-96B8-4CA3-887F-E691E453C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A Product Class…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918E08B-06D1-49BE-84AD-151CD8A42D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1600201"/>
            <a:ext cx="8382000" cy="243143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 </a:t>
            </a:r>
            <a:r>
              <a:rPr lang="en-US" altLang="en-US" sz="16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toString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sz="16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"Product description: "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b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product code: "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b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unit cost: "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b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currently in product line: "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6C4941-38AF-4783-A313-6DE763E77B15}"/>
              </a:ext>
            </a:extLst>
          </p:cNvPr>
          <p:cNvSpPr/>
          <p:nvPr/>
        </p:nvSpPr>
        <p:spPr>
          <a:xfrm>
            <a:off x="1063438" y="5410200"/>
            <a:ext cx="10065124" cy="92333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endParaRPr lang="en-IE" dirty="0"/>
          </a:p>
          <a:p>
            <a:r>
              <a:rPr lang="en-IE" dirty="0"/>
              <a:t>Product description: 24 Inch TV, product code: 23432, unit cost: 399.99, currently in product line: true</a:t>
            </a:r>
          </a:p>
          <a:p>
            <a:endParaRPr lang="en-IE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B18F78A-58CB-46D0-8CC7-40579D9A69E5}"/>
              </a:ext>
            </a:extLst>
          </p:cNvPr>
          <p:cNvSpPr/>
          <p:nvPr/>
        </p:nvSpPr>
        <p:spPr>
          <a:xfrm>
            <a:off x="3276600" y="4876799"/>
            <a:ext cx="5943600" cy="381000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000" dirty="0"/>
              <a:t>Sample Console Output if we printed a Product Object:</a:t>
            </a:r>
          </a:p>
        </p:txBody>
      </p:sp>
    </p:spTree>
    <p:extLst>
      <p:ext uri="{BB962C8B-B14F-4D97-AF65-F5344CB8AC3E}">
        <p14:creationId xmlns:p14="http://schemas.microsoft.com/office/powerpoint/2010/main" val="4082778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toString()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3352800"/>
          </a:xfrm>
        </p:spPr>
        <p:txBody>
          <a:bodyPr>
            <a:normAutofit/>
          </a:bodyPr>
          <a:lstStyle/>
          <a:p>
            <a:r>
              <a:rPr lang="en-US" sz="2800" dirty="0"/>
              <a:t>This is a useful method and you will write a </a:t>
            </a:r>
            <a:r>
              <a:rPr lang="en-US" sz="2800" b="1" dirty="0"/>
              <a:t>toString</a:t>
            </a:r>
            <a:r>
              <a:rPr lang="en-US" sz="2800" dirty="0"/>
              <a:t>() method for most of your classes.</a:t>
            </a:r>
          </a:p>
          <a:p>
            <a:r>
              <a:rPr lang="en-IE" sz="2800" b="1" dirty="0"/>
              <a:t>When you print an object, Java automatically calls the toString() method </a:t>
            </a:r>
            <a:br>
              <a:rPr lang="en-IE" sz="2800" b="1" dirty="0"/>
            </a:br>
            <a:r>
              <a:rPr lang="en-IE" sz="2800" dirty="0"/>
              <a:t>e.g.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3962400"/>
            <a:ext cx="6096000" cy="189282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>
                <a:solidFill>
                  <a:schemeClr val="tx1"/>
                </a:solidFill>
              </a:rPr>
              <a:t>Product </a:t>
            </a:r>
            <a:r>
              <a:rPr lang="en-IE" sz="2400" dirty="0" err="1">
                <a:solidFill>
                  <a:schemeClr val="tx1"/>
                </a:solidFill>
              </a:rPr>
              <a:t>product</a:t>
            </a:r>
            <a:r>
              <a:rPr lang="en-IE" sz="2400" dirty="0">
                <a:solidFill>
                  <a:schemeClr val="tx1"/>
                </a:solidFill>
              </a:rPr>
              <a:t> = new Product();</a:t>
            </a:r>
          </a:p>
          <a:p>
            <a:endParaRPr lang="en-IE" sz="2100" dirty="0">
              <a:solidFill>
                <a:schemeClr val="tx1"/>
              </a:solidFill>
            </a:endParaRPr>
          </a:p>
          <a:p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//both of these lines of code do the same thing</a:t>
            </a:r>
          </a:p>
          <a:p>
            <a:r>
              <a:rPr lang="en-IE" sz="2400" dirty="0" err="1">
                <a:solidFill>
                  <a:schemeClr val="tx1"/>
                </a:solidFill>
              </a:rPr>
              <a:t>System.out.println</a:t>
            </a:r>
            <a:r>
              <a:rPr lang="en-IE" sz="2400" dirty="0">
                <a:solidFill>
                  <a:schemeClr val="tx1"/>
                </a:solidFill>
              </a:rPr>
              <a:t>(product);</a:t>
            </a:r>
          </a:p>
          <a:p>
            <a:r>
              <a:rPr lang="en-IE" sz="2400" dirty="0" err="1">
                <a:solidFill>
                  <a:schemeClr val="tx1"/>
                </a:solidFill>
              </a:rPr>
              <a:t>System.out.println</a:t>
            </a:r>
            <a:r>
              <a:rPr lang="en-IE" sz="2400" dirty="0">
                <a:solidFill>
                  <a:schemeClr val="tx1"/>
                </a:solidFill>
              </a:rPr>
              <a:t>(</a:t>
            </a:r>
            <a:r>
              <a:rPr lang="en-IE" sz="2400" dirty="0" err="1">
                <a:solidFill>
                  <a:schemeClr val="tx1"/>
                </a:solidFill>
              </a:rPr>
              <a:t>product.toString</a:t>
            </a:r>
            <a:r>
              <a:rPr lang="en-IE" sz="2400" dirty="0">
                <a:solidFill>
                  <a:schemeClr val="tx1"/>
                </a:solidFill>
              </a:rPr>
              <a:t>());</a:t>
            </a:r>
          </a:p>
        </p:txBody>
      </p:sp>
      <p:sp>
        <p:nvSpPr>
          <p:cNvPr id="4" name="5-Point Star 3"/>
          <p:cNvSpPr/>
          <p:nvPr/>
        </p:nvSpPr>
        <p:spPr>
          <a:xfrm>
            <a:off x="10820400" y="2514600"/>
            <a:ext cx="609600" cy="609600"/>
          </a:xfrm>
          <a:prstGeom prst="star5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788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Encapsulation in Java </a:t>
            </a:r>
            <a:r>
              <a:rPr lang="mr-IN" dirty="0"/>
              <a:t>–</a:t>
            </a:r>
            <a:r>
              <a:rPr lang="en-IE" dirty="0"/>
              <a:t> </a:t>
            </a:r>
            <a:r>
              <a:rPr lang="en-IE" b="1" dirty="0"/>
              <a:t>steps 1-3</a:t>
            </a:r>
          </a:p>
        </p:txBody>
      </p:sp>
      <p:sp>
        <p:nvSpPr>
          <p:cNvPr id="4" name="Rectangle 3"/>
          <p:cNvSpPr/>
          <p:nvPr/>
        </p:nvSpPr>
        <p:spPr>
          <a:xfrm>
            <a:off x="1676400" y="6488668"/>
            <a:ext cx="729915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>
                <a:hlinkClick r:id="rId2"/>
              </a:rPr>
              <a:t>http://www.tutorialspoint.com/java/java_encapsulation.htm</a:t>
            </a:r>
            <a:r>
              <a:rPr lang="en-IE" dirty="0"/>
              <a:t> 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9548714"/>
              </p:ext>
            </p:extLst>
          </p:nvPr>
        </p:nvGraphicFramePr>
        <p:xfrm>
          <a:off x="914400" y="1597062"/>
          <a:ext cx="10439400" cy="2632038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8918"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Encapsulation Step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dirty="0"/>
                        <a:t>Approach</a:t>
                      </a:r>
                      <a:r>
                        <a:rPr lang="en-IE" sz="2400" baseline="0" dirty="0"/>
                        <a:t> in Java</a:t>
                      </a:r>
                      <a:endParaRPr lang="en-IE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</a:t>
                      </a:r>
                      <a:r>
                        <a:rPr lang="en-IE" sz="2400" b="1" dirty="0">
                          <a:solidFill>
                            <a:srgbClr val="00B050"/>
                          </a:solidFill>
                        </a:rPr>
                        <a:t>Wrap</a:t>
                      </a:r>
                      <a:r>
                        <a:rPr lang="en-IE" sz="2400" dirty="0"/>
                        <a:t> the data (fields) and code acting on the data (methods) together as single unit.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eaLnBrk="1" hangingPunct="1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public</a:t>
                      </a:r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class </a:t>
                      </a:r>
                      <a:r>
                        <a:rPr lang="en-US" sz="2200" i="1" dirty="0" err="1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ClassName</a:t>
                      </a:r>
                      <a:endParaRPr lang="en-US" sz="220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{</a:t>
                      </a:r>
                    </a:p>
                    <a:p>
                      <a:pPr algn="l" eaLnBrk="1" hangingPunct="1"/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</a:t>
                      </a:r>
                      <a:r>
                        <a:rPr lang="en-US" sz="2200" b="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</a:t>
                      </a:r>
                      <a:r>
                        <a:rPr lang="en-US" sz="2200" b="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Fields</a:t>
                      </a:r>
                      <a:endParaRPr lang="en-US" sz="2200" b="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b="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</a:t>
                      </a:r>
                      <a:r>
                        <a:rPr lang="en-US" sz="220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Constructors</a:t>
                      </a:r>
                      <a:endParaRPr lang="en-US" sz="220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  Methods</a:t>
                      </a:r>
                      <a:endParaRPr lang="en-US" sz="220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}</a:t>
                      </a:r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</a:rPr>
                        <a:t>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1137358"/>
              </p:ext>
            </p:extLst>
          </p:nvPr>
        </p:nvGraphicFramePr>
        <p:xfrm>
          <a:off x="914400" y="4275248"/>
          <a:ext cx="10439400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2.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Hide</a:t>
                      </a:r>
                      <a:r>
                        <a:rPr lang="en-IE" sz="2400" dirty="0"/>
                        <a:t> </a:t>
                      </a:r>
                      <a:r>
                        <a:rPr lang="en-IE" sz="2400" b="0" dirty="0"/>
                        <a:t>the fields from other classes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b="1" dirty="0"/>
                        <a:t>Declare the fields of a class as </a:t>
                      </a:r>
                      <a:r>
                        <a:rPr lang="en-IE" sz="2400" b="1" u="sng" dirty="0"/>
                        <a:t>private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9207554"/>
              </p:ext>
            </p:extLst>
          </p:nvPr>
        </p:nvGraphicFramePr>
        <p:xfrm>
          <a:off x="913434" y="5258332"/>
          <a:ext cx="10439399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48015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7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3.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</a:rPr>
                        <a:t>Access</a:t>
                      </a:r>
                      <a:r>
                        <a:rPr lang="en-IE" sz="2400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IE" sz="2400" dirty="0"/>
                        <a:t>the fields only through the methods of their current class.</a:t>
                      </a:r>
                      <a:endParaRPr lang="en-IE" sz="2400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b="1" dirty="0"/>
                        <a:t>Provide </a:t>
                      </a:r>
                      <a:r>
                        <a:rPr lang="en-IE" sz="2400" b="1" u="sng" dirty="0"/>
                        <a:t>public</a:t>
                      </a:r>
                      <a:r>
                        <a:rPr lang="en-IE" sz="2400" b="1" dirty="0"/>
                        <a:t> set</a:t>
                      </a:r>
                      <a:r>
                        <a:rPr lang="en-IE" sz="2400" b="0" dirty="0"/>
                        <a:t>ter</a:t>
                      </a:r>
                      <a:r>
                        <a:rPr lang="en-IE" sz="2400" b="1" dirty="0"/>
                        <a:t> and get</a:t>
                      </a:r>
                      <a:r>
                        <a:rPr lang="en-IE" sz="2400" b="0" dirty="0"/>
                        <a:t>ter</a:t>
                      </a:r>
                      <a:r>
                        <a:rPr lang="en-IE" sz="2400" b="1" dirty="0"/>
                        <a:t> </a:t>
                      </a:r>
                      <a:r>
                        <a:rPr lang="en-IE" sz="2400" dirty="0"/>
                        <a:t>methods to modify and view the fields values.</a:t>
                      </a:r>
                      <a:endParaRPr lang="en-IE" sz="2400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2605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277738"/>
              </p:ext>
            </p:extLst>
          </p:nvPr>
        </p:nvGraphicFramePr>
        <p:xfrm>
          <a:off x="1687288" y="1600200"/>
          <a:ext cx="3200400" cy="192024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Product class </a:t>
                      </a:r>
                      <a:r>
                        <a:rPr lang="en-IE" sz="2400" b="1" dirty="0">
                          <a:solidFill>
                            <a:srgbClr val="00B050"/>
                          </a:solidFill>
                        </a:rPr>
                        <a:t>wraps</a:t>
                      </a:r>
                      <a:r>
                        <a:rPr lang="en-IE" sz="2400" dirty="0"/>
                        <a:t> the data (fields) and code acting on the data (methods) together as </a:t>
                      </a:r>
                      <a:r>
                        <a:rPr lang="en-IE" sz="2400" b="1" dirty="0"/>
                        <a:t>single unit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73825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An Encapsulated Class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E6AF8B-5811-487C-98AB-286B6F721A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200" y="1524001"/>
            <a:ext cx="5181601" cy="5198931"/>
          </a:xfrm>
          <a:prstGeom prst="rect">
            <a:avLst/>
          </a:prstGeom>
          <a:ln w="41275">
            <a:solidFill>
              <a:srgbClr val="FF0000"/>
            </a:solidFill>
          </a:ln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3200400" y="3349276"/>
            <a:ext cx="2133600" cy="3524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1163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1600200"/>
          <a:ext cx="3200400" cy="192024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Product class </a:t>
                      </a:r>
                      <a:r>
                        <a:rPr lang="en-IE" sz="2400" b="1" dirty="0">
                          <a:solidFill>
                            <a:srgbClr val="00B050"/>
                          </a:solidFill>
                        </a:rPr>
                        <a:t>wraps</a:t>
                      </a:r>
                      <a:r>
                        <a:rPr lang="en-IE" sz="2400" dirty="0"/>
                        <a:t> the data (fields) and code acting on the data (methods) together as </a:t>
                      </a:r>
                      <a:r>
                        <a:rPr lang="en-IE" sz="2400" b="1" dirty="0"/>
                        <a:t>single unit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73825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3824328"/>
          <a:ext cx="3200400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2. Fields are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hidden</a:t>
                      </a:r>
                      <a:r>
                        <a:rPr lang="en-IE" sz="2400" dirty="0"/>
                        <a:t> from other classes.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146467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An Encapsulated Class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E6AF8B-5811-487C-98AB-286B6F721A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200" y="1524001"/>
            <a:ext cx="5181601" cy="5198931"/>
          </a:xfrm>
          <a:prstGeom prst="rect">
            <a:avLst/>
          </a:prstGeom>
          <a:solidFill>
            <a:srgbClr val="FF0000"/>
          </a:solidFill>
          <a:ln w="41275">
            <a:solidFill>
              <a:srgbClr val="FF0000"/>
            </a:solidFill>
          </a:ln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3200400" y="3349276"/>
            <a:ext cx="2133600" cy="3524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>
            <a:off x="4114801" y="4144963"/>
            <a:ext cx="2209801" cy="1265238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Donut 10"/>
          <p:cNvSpPr/>
          <p:nvPr/>
        </p:nvSpPr>
        <p:spPr>
          <a:xfrm>
            <a:off x="6324601" y="5334001"/>
            <a:ext cx="304800" cy="1388931"/>
          </a:xfrm>
          <a:prstGeom prst="donut">
            <a:avLst>
              <a:gd name="adj" fmla="val 102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943601" y="5373862"/>
            <a:ext cx="4368726" cy="12954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62138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0"/>
                            </p:stCondLst>
                            <p:childTnLst>
                              <p:par>
                                <p:cTn id="24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1600200"/>
          <a:ext cx="3200400" cy="192024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Product class </a:t>
                      </a:r>
                      <a:r>
                        <a:rPr lang="en-IE" sz="2400" b="1" dirty="0">
                          <a:solidFill>
                            <a:srgbClr val="00B050"/>
                          </a:solidFill>
                        </a:rPr>
                        <a:t>wraps</a:t>
                      </a:r>
                      <a:r>
                        <a:rPr lang="en-IE" sz="2400" dirty="0"/>
                        <a:t> the data (fields) and code acting on the data (methods) together as </a:t>
                      </a:r>
                      <a:r>
                        <a:rPr lang="en-IE" sz="2400" b="1" dirty="0"/>
                        <a:t>single unit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73825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5181600"/>
          <a:ext cx="3200400" cy="155448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322294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3.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Access</a:t>
                      </a:r>
                      <a:r>
                        <a:rPr lang="en-IE" sz="2400" dirty="0"/>
                        <a:t> the fields only through the methods of Product (e.g. </a:t>
                      </a:r>
                      <a:r>
                        <a:rPr lang="en-IE" sz="2400" b="1" dirty="0"/>
                        <a:t>get</a:t>
                      </a:r>
                      <a:r>
                        <a:rPr lang="en-IE" sz="2400" dirty="0"/>
                        <a:t>ter and </a:t>
                      </a:r>
                      <a:r>
                        <a:rPr lang="en-IE" sz="2400" b="1" dirty="0"/>
                        <a:t>set</a:t>
                      </a:r>
                      <a:r>
                        <a:rPr lang="en-IE" sz="2400" dirty="0"/>
                        <a:t>ter methods).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6987298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3824328"/>
          <a:ext cx="3200400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2. Fields are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hidden</a:t>
                      </a:r>
                      <a:r>
                        <a:rPr lang="en-IE" sz="2400" dirty="0"/>
                        <a:t> from other classes.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146467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An Encapsulated Class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E6AF8B-5811-487C-98AB-286B6F721A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200" y="1524001"/>
            <a:ext cx="5181601" cy="5198931"/>
          </a:xfrm>
          <a:prstGeom prst="rect">
            <a:avLst/>
          </a:prstGeom>
          <a:ln w="41275">
            <a:solidFill>
              <a:srgbClr val="FF0000"/>
            </a:solidFill>
          </a:ln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3200400" y="3349276"/>
            <a:ext cx="2133600" cy="3524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>
            <a:off x="4114801" y="4144963"/>
            <a:ext cx="2209801" cy="1265238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Donut 10"/>
          <p:cNvSpPr/>
          <p:nvPr/>
        </p:nvSpPr>
        <p:spPr>
          <a:xfrm>
            <a:off x="6324601" y="5334001"/>
            <a:ext cx="304800" cy="1388931"/>
          </a:xfrm>
          <a:prstGeom prst="donut">
            <a:avLst>
              <a:gd name="adj" fmla="val 102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4887688" y="3352802"/>
            <a:ext cx="979712" cy="1828799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943599" y="2209800"/>
            <a:ext cx="4368729" cy="13716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7" name="Rectangle 16"/>
          <p:cNvSpPr/>
          <p:nvPr/>
        </p:nvSpPr>
        <p:spPr>
          <a:xfrm>
            <a:off x="5943602" y="3657600"/>
            <a:ext cx="4368726" cy="12954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4887688" y="4144966"/>
            <a:ext cx="1055910" cy="1036634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5943601" y="5373862"/>
            <a:ext cx="4368726" cy="12954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91334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0"/>
                            </p:stCondLst>
                            <p:childTnLst>
                              <p:par>
                                <p:cTn id="24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8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7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6" grpId="0" animBg="1"/>
      <p:bldP spid="17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Using the Product Class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7638F2C-4F3A-4740-B1F7-98694765C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5341" y="1642209"/>
            <a:ext cx="411480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5A02A5-FBE3-4BFD-A937-751A496B5248}"/>
              </a:ext>
            </a:extLst>
          </p:cNvPr>
          <p:cNvSpPr txBox="1"/>
          <p:nvPr/>
        </p:nvSpPr>
        <p:spPr>
          <a:xfrm>
            <a:off x="1981200" y="2348003"/>
            <a:ext cx="2933700" cy="110799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Declaring an object </a:t>
            </a:r>
            <a:r>
              <a:rPr lang="en-IE" sz="2200" b="1" dirty="0">
                <a:solidFill>
                  <a:srgbClr val="00B050"/>
                </a:solidFill>
              </a:rPr>
              <a:t>product</a:t>
            </a:r>
            <a:r>
              <a:rPr lang="en-IE" sz="2200" dirty="0"/>
              <a:t>, of type </a:t>
            </a:r>
            <a:r>
              <a:rPr lang="en-IE" sz="2200" b="1" dirty="0">
                <a:solidFill>
                  <a:srgbClr val="FF0000"/>
                </a:solidFill>
              </a:rPr>
              <a:t>Product</a:t>
            </a:r>
            <a:r>
              <a:rPr lang="en-IE" sz="2200" dirty="0"/>
              <a:t>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1E86991-78E0-40A7-9D7A-068BB348EFE2}"/>
              </a:ext>
            </a:extLst>
          </p:cNvPr>
          <p:cNvCxnSpPr>
            <a:cxnSpLocks/>
            <a:stCxn id="24" idx="0"/>
            <a:endCxn id="7" idx="2"/>
          </p:cNvCxnSpPr>
          <p:nvPr/>
        </p:nvCxnSpPr>
        <p:spPr>
          <a:xfrm flipV="1">
            <a:off x="3448051" y="2042319"/>
            <a:ext cx="554691" cy="305684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DC93C307-7E7D-4619-BD7C-341559638F1F}"/>
              </a:ext>
            </a:extLst>
          </p:cNvPr>
          <p:cNvSpPr/>
          <p:nvPr/>
        </p:nvSpPr>
        <p:spPr>
          <a:xfrm>
            <a:off x="1676400" y="1341438"/>
            <a:ext cx="457200" cy="4111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7315200" y="1611432"/>
            <a:ext cx="1752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product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7772400" y="2099990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800" dirty="0"/>
              <a:t>null</a:t>
            </a:r>
          </a:p>
        </p:txBody>
      </p:sp>
    </p:spTree>
    <p:extLst>
      <p:ext uri="{BB962C8B-B14F-4D97-AF65-F5344CB8AC3E}">
        <p14:creationId xmlns:p14="http://schemas.microsoft.com/office/powerpoint/2010/main" val="20660015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Using the Product Class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7638F2C-4F3A-4740-B1F7-98694765C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5341" y="1642209"/>
            <a:ext cx="411480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85E50CD2-6C42-45F5-9B21-DB4B35B906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3839796"/>
            <a:ext cx="6801862" cy="36933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Product(“TV”, 1234, 149.99, true);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BAD69D-B9C8-48DB-AD0C-9320B491164B}"/>
              </a:ext>
            </a:extLst>
          </p:cNvPr>
          <p:cNvSpPr txBox="1"/>
          <p:nvPr/>
        </p:nvSpPr>
        <p:spPr>
          <a:xfrm>
            <a:off x="1981200" y="4994197"/>
            <a:ext cx="3352800" cy="110799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Calls the </a:t>
            </a:r>
            <a:r>
              <a:rPr lang="en-IE" sz="2200" b="1" dirty="0">
                <a:solidFill>
                  <a:srgbClr val="FF0000"/>
                </a:solidFill>
              </a:rPr>
              <a:t>Product </a:t>
            </a:r>
            <a:r>
              <a:rPr lang="en-IE" sz="2200" i="1" dirty="0"/>
              <a:t>constructor</a:t>
            </a:r>
            <a:r>
              <a:rPr lang="en-IE" sz="2200" dirty="0"/>
              <a:t> to build the </a:t>
            </a:r>
            <a:r>
              <a:rPr lang="en-IE" sz="2200" b="1" dirty="0">
                <a:solidFill>
                  <a:srgbClr val="00B050"/>
                </a:solidFill>
              </a:rPr>
              <a:t>product</a:t>
            </a:r>
            <a:r>
              <a:rPr lang="en-IE" sz="2200" b="1" dirty="0">
                <a:solidFill>
                  <a:srgbClr val="FF0000"/>
                </a:solidFill>
              </a:rPr>
              <a:t> </a:t>
            </a:r>
            <a:r>
              <a:rPr lang="en-IE" sz="2200" dirty="0"/>
              <a:t>object in memory.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AE11070-294F-4CEA-B02B-49CD2F446400}"/>
              </a:ext>
            </a:extLst>
          </p:cNvPr>
          <p:cNvCxnSpPr>
            <a:cxnSpLocks/>
            <a:stCxn id="20" idx="0"/>
          </p:cNvCxnSpPr>
          <p:nvPr/>
        </p:nvCxnSpPr>
        <p:spPr>
          <a:xfrm flipH="1" flipV="1">
            <a:off x="3633538" y="4191001"/>
            <a:ext cx="24062" cy="803196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55A02A5-FBE3-4BFD-A937-751A496B5248}"/>
              </a:ext>
            </a:extLst>
          </p:cNvPr>
          <p:cNvSpPr txBox="1"/>
          <p:nvPr/>
        </p:nvSpPr>
        <p:spPr>
          <a:xfrm>
            <a:off x="1981200" y="2348003"/>
            <a:ext cx="2933700" cy="110799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Declaring an object </a:t>
            </a:r>
            <a:r>
              <a:rPr lang="en-IE" sz="2200" b="1" dirty="0">
                <a:solidFill>
                  <a:srgbClr val="00B050"/>
                </a:solidFill>
              </a:rPr>
              <a:t>product</a:t>
            </a:r>
            <a:r>
              <a:rPr lang="en-IE" sz="2200" dirty="0"/>
              <a:t>, of type </a:t>
            </a:r>
            <a:r>
              <a:rPr lang="en-IE" sz="2200" b="1" dirty="0">
                <a:solidFill>
                  <a:srgbClr val="FF0000"/>
                </a:solidFill>
              </a:rPr>
              <a:t>Product</a:t>
            </a:r>
            <a:r>
              <a:rPr lang="en-IE" sz="2200" dirty="0"/>
              <a:t>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1E86991-78E0-40A7-9D7A-068BB348EFE2}"/>
              </a:ext>
            </a:extLst>
          </p:cNvPr>
          <p:cNvCxnSpPr>
            <a:cxnSpLocks/>
            <a:stCxn id="24" idx="0"/>
            <a:endCxn id="7" idx="2"/>
          </p:cNvCxnSpPr>
          <p:nvPr/>
        </p:nvCxnSpPr>
        <p:spPr>
          <a:xfrm flipV="1">
            <a:off x="3448051" y="2042319"/>
            <a:ext cx="554691" cy="305684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DC93C307-7E7D-4619-BD7C-341559638F1F}"/>
              </a:ext>
            </a:extLst>
          </p:cNvPr>
          <p:cNvSpPr/>
          <p:nvPr/>
        </p:nvSpPr>
        <p:spPr>
          <a:xfrm>
            <a:off x="1676400" y="1341438"/>
            <a:ext cx="457200" cy="4111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C38AAB7-C34D-4A0B-84BD-F4376439A5F2}"/>
              </a:ext>
            </a:extLst>
          </p:cNvPr>
          <p:cNvSpPr/>
          <p:nvPr/>
        </p:nvSpPr>
        <p:spPr>
          <a:xfrm>
            <a:off x="1676400" y="3593620"/>
            <a:ext cx="457200" cy="4111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7315200" y="1611432"/>
            <a:ext cx="1752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product</a:t>
            </a:r>
          </a:p>
        </p:txBody>
      </p:sp>
      <p:sp>
        <p:nvSpPr>
          <p:cNvPr id="14" name="Rounded Rectangle 11">
            <a:extLst>
              <a:ext uri="{FF2B5EF4-FFF2-40B4-BE49-F238E27FC236}">
                <a16:creationId xmlns:a16="http://schemas.microsoft.com/office/drawing/2014/main" id="{BF4AEE06-1A28-42F3-AA1F-ABA2BFC8A42D}"/>
              </a:ext>
            </a:extLst>
          </p:cNvPr>
          <p:cNvSpPr/>
          <p:nvPr/>
        </p:nvSpPr>
        <p:spPr>
          <a:xfrm>
            <a:off x="5791200" y="4363968"/>
            <a:ext cx="3276600" cy="2417833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FC4055-1FB5-4AC5-898F-669C0FEADBF5}"/>
              </a:ext>
            </a:extLst>
          </p:cNvPr>
          <p:cNvSpPr txBox="1"/>
          <p:nvPr/>
        </p:nvSpPr>
        <p:spPr>
          <a:xfrm>
            <a:off x="5867400" y="4923383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productName</a:t>
            </a:r>
            <a:endParaRPr lang="en-IE" sz="1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399FE47-808F-4E5D-AC50-11DFE1F7E60C}"/>
              </a:ext>
            </a:extLst>
          </p:cNvPr>
          <p:cNvSpPr txBox="1"/>
          <p:nvPr/>
        </p:nvSpPr>
        <p:spPr>
          <a:xfrm>
            <a:off x="5867400" y="5380583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productCode</a:t>
            </a:r>
            <a:endParaRPr lang="en-IE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FA6BFA-24E7-4397-9ED2-BD3F46E81167}"/>
              </a:ext>
            </a:extLst>
          </p:cNvPr>
          <p:cNvSpPr txBox="1"/>
          <p:nvPr/>
        </p:nvSpPr>
        <p:spPr>
          <a:xfrm>
            <a:off x="8075279" y="4944859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“TV”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7AD0F0-1141-49DD-85A3-CA088F57854B}"/>
              </a:ext>
            </a:extLst>
          </p:cNvPr>
          <p:cNvSpPr txBox="1"/>
          <p:nvPr/>
        </p:nvSpPr>
        <p:spPr>
          <a:xfrm>
            <a:off x="8075279" y="5402059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C84EDE-3D16-43BA-AF55-CB59C749337E}"/>
              </a:ext>
            </a:extLst>
          </p:cNvPr>
          <p:cNvSpPr txBox="1"/>
          <p:nvPr/>
        </p:nvSpPr>
        <p:spPr>
          <a:xfrm>
            <a:off x="6676954" y="4396607"/>
            <a:ext cx="1648326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product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0A757A0-DF71-4A17-9B73-20EE3D65C1B2}"/>
              </a:ext>
            </a:extLst>
          </p:cNvPr>
          <p:cNvSpPr txBox="1"/>
          <p:nvPr/>
        </p:nvSpPr>
        <p:spPr>
          <a:xfrm>
            <a:off x="5867401" y="5845803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unitCost</a:t>
            </a:r>
            <a:endParaRPr lang="en-IE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3C7009-E521-4EBF-99B9-2FC7BE1AED4C}"/>
              </a:ext>
            </a:extLst>
          </p:cNvPr>
          <p:cNvSpPr txBox="1"/>
          <p:nvPr/>
        </p:nvSpPr>
        <p:spPr>
          <a:xfrm>
            <a:off x="8051216" y="5867279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149.99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7772400" y="2099990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800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CE08433-C94C-4D11-B009-3DBFAE1AE5EA}"/>
              </a:ext>
            </a:extLst>
          </p:cNvPr>
          <p:cNvCxnSpPr>
            <a:cxnSpLocks/>
          </p:cNvCxnSpPr>
          <p:nvPr/>
        </p:nvCxnSpPr>
        <p:spPr>
          <a:xfrm flipH="1">
            <a:off x="7696203" y="2348003"/>
            <a:ext cx="346049" cy="2048604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42487AA-B441-4E07-94D7-FEDD77B9C962}"/>
              </a:ext>
            </a:extLst>
          </p:cNvPr>
          <p:cNvSpPr txBox="1"/>
          <p:nvPr/>
        </p:nvSpPr>
        <p:spPr>
          <a:xfrm>
            <a:off x="5867401" y="6324601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inCurrentProductLine</a:t>
            </a:r>
            <a:endParaRPr lang="en-IE" sz="16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7C3194-5C0C-4C08-819C-F4D8C8DBED6A}"/>
              </a:ext>
            </a:extLst>
          </p:cNvPr>
          <p:cNvSpPr txBox="1"/>
          <p:nvPr/>
        </p:nvSpPr>
        <p:spPr>
          <a:xfrm>
            <a:off x="8042251" y="6324479"/>
            <a:ext cx="871228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19608694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lang="en-IE" dirty="0"/>
              <a:t>Multiple Product Objects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85E50CD2-6C42-45F5-9B21-DB4B35B906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4206" y="1609801"/>
            <a:ext cx="8084264" cy="338554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Product(“TV”, 1234, 149.99, true);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3352800" y="2525831"/>
            <a:ext cx="14078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product</a:t>
            </a:r>
          </a:p>
        </p:txBody>
      </p:sp>
      <p:sp>
        <p:nvSpPr>
          <p:cNvPr id="14" name="Rounded Rectangle 11">
            <a:extLst>
              <a:ext uri="{FF2B5EF4-FFF2-40B4-BE49-F238E27FC236}">
                <a16:creationId xmlns:a16="http://schemas.microsoft.com/office/drawing/2014/main" id="{BF4AEE06-1A28-42F3-AA1F-ABA2BFC8A42D}"/>
              </a:ext>
            </a:extLst>
          </p:cNvPr>
          <p:cNvSpPr/>
          <p:nvPr/>
        </p:nvSpPr>
        <p:spPr>
          <a:xfrm>
            <a:off x="1676400" y="4038600"/>
            <a:ext cx="3733800" cy="27432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160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FAE63D8-2559-4001-858A-28804D1C6974}"/>
              </a:ext>
            </a:extLst>
          </p:cNvPr>
          <p:cNvCxnSpPr>
            <a:cxnSpLocks/>
          </p:cNvCxnSpPr>
          <p:nvPr/>
        </p:nvCxnSpPr>
        <p:spPr>
          <a:xfrm>
            <a:off x="1981200" y="4618582"/>
            <a:ext cx="306049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BFC4055-1FB5-4AC5-898F-669C0FEADBF5}"/>
              </a:ext>
            </a:extLst>
          </p:cNvPr>
          <p:cNvSpPr txBox="1"/>
          <p:nvPr/>
        </p:nvSpPr>
        <p:spPr>
          <a:xfrm>
            <a:off x="1905001" y="4770982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productName</a:t>
            </a:r>
            <a:endParaRPr lang="en-IE" sz="1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399FE47-808F-4E5D-AC50-11DFE1F7E60C}"/>
              </a:ext>
            </a:extLst>
          </p:cNvPr>
          <p:cNvSpPr txBox="1"/>
          <p:nvPr/>
        </p:nvSpPr>
        <p:spPr>
          <a:xfrm>
            <a:off x="1905001" y="5228182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productCode</a:t>
            </a:r>
            <a:endParaRPr lang="en-IE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FA6BFA-24E7-4397-9ED2-BD3F46E81167}"/>
              </a:ext>
            </a:extLst>
          </p:cNvPr>
          <p:cNvSpPr txBox="1"/>
          <p:nvPr/>
        </p:nvSpPr>
        <p:spPr>
          <a:xfrm>
            <a:off x="4054840" y="4786884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“TV”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7AD0F0-1141-49DD-85A3-CA088F57854B}"/>
              </a:ext>
            </a:extLst>
          </p:cNvPr>
          <p:cNvSpPr txBox="1"/>
          <p:nvPr/>
        </p:nvSpPr>
        <p:spPr>
          <a:xfrm>
            <a:off x="4054840" y="5244084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C84EDE-3D16-43BA-AF55-CB59C749337E}"/>
              </a:ext>
            </a:extLst>
          </p:cNvPr>
          <p:cNvSpPr txBox="1"/>
          <p:nvPr/>
        </p:nvSpPr>
        <p:spPr>
          <a:xfrm>
            <a:off x="2895601" y="4159149"/>
            <a:ext cx="1324065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product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0A757A0-DF71-4A17-9B73-20EE3D65C1B2}"/>
              </a:ext>
            </a:extLst>
          </p:cNvPr>
          <p:cNvSpPr txBox="1"/>
          <p:nvPr/>
        </p:nvSpPr>
        <p:spPr>
          <a:xfrm>
            <a:off x="1905001" y="5693402"/>
            <a:ext cx="1977672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unitCost</a:t>
            </a:r>
            <a:endParaRPr lang="en-IE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3C7009-E521-4EBF-99B9-2FC7BE1AED4C}"/>
              </a:ext>
            </a:extLst>
          </p:cNvPr>
          <p:cNvSpPr txBox="1"/>
          <p:nvPr/>
        </p:nvSpPr>
        <p:spPr>
          <a:xfrm>
            <a:off x="4030777" y="5709304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149.99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3810001" y="3014391"/>
            <a:ext cx="765123" cy="4616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400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CE08433-C94C-4D11-B009-3DBFAE1AE5EA}"/>
              </a:ext>
            </a:extLst>
          </p:cNvPr>
          <p:cNvCxnSpPr>
            <a:cxnSpLocks/>
            <a:endCxn id="14" idx="0"/>
          </p:cNvCxnSpPr>
          <p:nvPr/>
        </p:nvCxnSpPr>
        <p:spPr>
          <a:xfrm flipH="1">
            <a:off x="3543300" y="3359766"/>
            <a:ext cx="723900" cy="678834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42487AA-B441-4E07-94D7-FEDD77B9C962}"/>
              </a:ext>
            </a:extLst>
          </p:cNvPr>
          <p:cNvSpPr txBox="1"/>
          <p:nvPr/>
        </p:nvSpPr>
        <p:spPr>
          <a:xfrm>
            <a:off x="1905001" y="6172200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inCurrentProductLine</a:t>
            </a:r>
            <a:endParaRPr lang="en-IE" sz="16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7C3194-5C0C-4C08-819C-F4D8C8DBED6A}"/>
              </a:ext>
            </a:extLst>
          </p:cNvPr>
          <p:cNvSpPr txBox="1"/>
          <p:nvPr/>
        </p:nvSpPr>
        <p:spPr>
          <a:xfrm>
            <a:off x="4021812" y="6166504"/>
            <a:ext cx="1051843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92973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lang="en-IE" dirty="0"/>
              <a:t>Multiple Product Objects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85E50CD2-6C42-45F5-9B21-DB4B35B906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4206" y="1609801"/>
            <a:ext cx="8084264" cy="338554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Product(“TV”, 1234, 149.99, true);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3352800" y="2525831"/>
            <a:ext cx="14078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product</a:t>
            </a:r>
          </a:p>
        </p:txBody>
      </p:sp>
      <p:sp>
        <p:nvSpPr>
          <p:cNvPr id="14" name="Rounded Rectangle 11">
            <a:extLst>
              <a:ext uri="{FF2B5EF4-FFF2-40B4-BE49-F238E27FC236}">
                <a16:creationId xmlns:a16="http://schemas.microsoft.com/office/drawing/2014/main" id="{BF4AEE06-1A28-42F3-AA1F-ABA2BFC8A42D}"/>
              </a:ext>
            </a:extLst>
          </p:cNvPr>
          <p:cNvSpPr/>
          <p:nvPr/>
        </p:nvSpPr>
        <p:spPr>
          <a:xfrm>
            <a:off x="1676400" y="4038600"/>
            <a:ext cx="3733800" cy="27432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160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FAE63D8-2559-4001-858A-28804D1C6974}"/>
              </a:ext>
            </a:extLst>
          </p:cNvPr>
          <p:cNvCxnSpPr>
            <a:cxnSpLocks/>
          </p:cNvCxnSpPr>
          <p:nvPr/>
        </p:nvCxnSpPr>
        <p:spPr>
          <a:xfrm>
            <a:off x="1981200" y="4618582"/>
            <a:ext cx="306049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BFC4055-1FB5-4AC5-898F-669C0FEADBF5}"/>
              </a:ext>
            </a:extLst>
          </p:cNvPr>
          <p:cNvSpPr txBox="1"/>
          <p:nvPr/>
        </p:nvSpPr>
        <p:spPr>
          <a:xfrm>
            <a:off x="1905001" y="4770982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productName</a:t>
            </a:r>
            <a:endParaRPr lang="en-IE" sz="1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399FE47-808F-4E5D-AC50-11DFE1F7E60C}"/>
              </a:ext>
            </a:extLst>
          </p:cNvPr>
          <p:cNvSpPr txBox="1"/>
          <p:nvPr/>
        </p:nvSpPr>
        <p:spPr>
          <a:xfrm>
            <a:off x="1905001" y="5228182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productCode</a:t>
            </a:r>
            <a:endParaRPr lang="en-IE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FA6BFA-24E7-4397-9ED2-BD3F46E81167}"/>
              </a:ext>
            </a:extLst>
          </p:cNvPr>
          <p:cNvSpPr txBox="1"/>
          <p:nvPr/>
        </p:nvSpPr>
        <p:spPr>
          <a:xfrm>
            <a:off x="4071629" y="4835026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“TV”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7AD0F0-1141-49DD-85A3-CA088F57854B}"/>
              </a:ext>
            </a:extLst>
          </p:cNvPr>
          <p:cNvSpPr txBox="1"/>
          <p:nvPr/>
        </p:nvSpPr>
        <p:spPr>
          <a:xfrm>
            <a:off x="4071629" y="5292226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C84EDE-3D16-43BA-AF55-CB59C749337E}"/>
              </a:ext>
            </a:extLst>
          </p:cNvPr>
          <p:cNvSpPr txBox="1"/>
          <p:nvPr/>
        </p:nvSpPr>
        <p:spPr>
          <a:xfrm>
            <a:off x="2895601" y="4159149"/>
            <a:ext cx="1324065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product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0A757A0-DF71-4A17-9B73-20EE3D65C1B2}"/>
              </a:ext>
            </a:extLst>
          </p:cNvPr>
          <p:cNvSpPr txBox="1"/>
          <p:nvPr/>
        </p:nvSpPr>
        <p:spPr>
          <a:xfrm>
            <a:off x="1905001" y="5693402"/>
            <a:ext cx="1977672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unitCost</a:t>
            </a:r>
            <a:endParaRPr lang="en-IE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3C7009-E521-4EBF-99B9-2FC7BE1AED4C}"/>
              </a:ext>
            </a:extLst>
          </p:cNvPr>
          <p:cNvSpPr txBox="1"/>
          <p:nvPr/>
        </p:nvSpPr>
        <p:spPr>
          <a:xfrm>
            <a:off x="4047566" y="5757446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149.99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3810001" y="3014391"/>
            <a:ext cx="765123" cy="4616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400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CE08433-C94C-4D11-B009-3DBFAE1AE5EA}"/>
              </a:ext>
            </a:extLst>
          </p:cNvPr>
          <p:cNvCxnSpPr>
            <a:cxnSpLocks/>
            <a:endCxn id="14" idx="0"/>
          </p:cNvCxnSpPr>
          <p:nvPr/>
        </p:nvCxnSpPr>
        <p:spPr>
          <a:xfrm flipH="1">
            <a:off x="3543300" y="3359766"/>
            <a:ext cx="723900" cy="678834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42487AA-B441-4E07-94D7-FEDD77B9C962}"/>
              </a:ext>
            </a:extLst>
          </p:cNvPr>
          <p:cNvSpPr txBox="1"/>
          <p:nvPr/>
        </p:nvSpPr>
        <p:spPr>
          <a:xfrm>
            <a:off x="1905001" y="6172200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inCurrentProductLine</a:t>
            </a:r>
            <a:endParaRPr lang="en-IE" sz="16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7C3194-5C0C-4C08-819C-F4D8C8DBED6A}"/>
              </a:ext>
            </a:extLst>
          </p:cNvPr>
          <p:cNvSpPr txBox="1"/>
          <p:nvPr/>
        </p:nvSpPr>
        <p:spPr>
          <a:xfrm>
            <a:off x="4038601" y="6214646"/>
            <a:ext cx="1051843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  <p:sp>
        <p:nvSpPr>
          <p:cNvPr id="20" name="Rectangle 2">
            <a:extLst>
              <a:ext uri="{FF2B5EF4-FFF2-40B4-BE49-F238E27FC236}">
                <a16:creationId xmlns:a16="http://schemas.microsoft.com/office/drawing/2014/main" id="{E8EC398D-E8E6-464D-9D36-ACF9C618B5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4207" y="2127003"/>
            <a:ext cx="8701421" cy="338554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phone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Product(“iPhone8”, 1001, 349.99, false);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E8BF56-7684-42D6-95BA-64A36A35348C}"/>
              </a:ext>
            </a:extLst>
          </p:cNvPr>
          <p:cNvSpPr txBox="1"/>
          <p:nvPr/>
        </p:nvSpPr>
        <p:spPr>
          <a:xfrm>
            <a:off x="7772400" y="2514600"/>
            <a:ext cx="14078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phone</a:t>
            </a:r>
          </a:p>
        </p:txBody>
      </p:sp>
      <p:sp>
        <p:nvSpPr>
          <p:cNvPr id="23" name="Rounded Rectangle 11">
            <a:extLst>
              <a:ext uri="{FF2B5EF4-FFF2-40B4-BE49-F238E27FC236}">
                <a16:creationId xmlns:a16="http://schemas.microsoft.com/office/drawing/2014/main" id="{CBF5BA80-7B91-4F8B-90BF-6F1498339940}"/>
              </a:ext>
            </a:extLst>
          </p:cNvPr>
          <p:cNvSpPr/>
          <p:nvPr/>
        </p:nvSpPr>
        <p:spPr>
          <a:xfrm>
            <a:off x="6096000" y="4027369"/>
            <a:ext cx="3733800" cy="27432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160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F8F8AB0-7943-4688-91B2-0257F2FDAA7D}"/>
              </a:ext>
            </a:extLst>
          </p:cNvPr>
          <p:cNvCxnSpPr>
            <a:cxnSpLocks/>
          </p:cNvCxnSpPr>
          <p:nvPr/>
        </p:nvCxnSpPr>
        <p:spPr>
          <a:xfrm>
            <a:off x="6400800" y="4607351"/>
            <a:ext cx="306049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90D1D9E-1BBB-401A-B188-401D524664E0}"/>
              </a:ext>
            </a:extLst>
          </p:cNvPr>
          <p:cNvSpPr txBox="1"/>
          <p:nvPr/>
        </p:nvSpPr>
        <p:spPr>
          <a:xfrm>
            <a:off x="6324601" y="4759751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productName</a:t>
            </a:r>
            <a:endParaRPr lang="en-IE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5617849-E0D9-489E-B8F2-9C2CA2679DB3}"/>
              </a:ext>
            </a:extLst>
          </p:cNvPr>
          <p:cNvSpPr txBox="1"/>
          <p:nvPr/>
        </p:nvSpPr>
        <p:spPr>
          <a:xfrm>
            <a:off x="6324601" y="5216951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productCode</a:t>
            </a:r>
            <a:endParaRPr lang="en-IE" sz="16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BA0DD1E-912F-438A-B0EA-48BD9B58C20A}"/>
              </a:ext>
            </a:extLst>
          </p:cNvPr>
          <p:cNvSpPr txBox="1"/>
          <p:nvPr/>
        </p:nvSpPr>
        <p:spPr>
          <a:xfrm>
            <a:off x="8491229" y="4823795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“iPhone8”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729C818-5771-40D0-AFA9-23E83EFBE60F}"/>
              </a:ext>
            </a:extLst>
          </p:cNvPr>
          <p:cNvSpPr txBox="1"/>
          <p:nvPr/>
        </p:nvSpPr>
        <p:spPr>
          <a:xfrm>
            <a:off x="8491229" y="5280995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1001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8E84EE5-C55C-4858-BD45-F2554AA9E2CA}"/>
              </a:ext>
            </a:extLst>
          </p:cNvPr>
          <p:cNvSpPr txBox="1"/>
          <p:nvPr/>
        </p:nvSpPr>
        <p:spPr>
          <a:xfrm>
            <a:off x="7315201" y="4147918"/>
            <a:ext cx="1324065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phone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2C7FF33-7D80-4DEF-A004-71A314A5BDC3}"/>
              </a:ext>
            </a:extLst>
          </p:cNvPr>
          <p:cNvSpPr txBox="1"/>
          <p:nvPr/>
        </p:nvSpPr>
        <p:spPr>
          <a:xfrm>
            <a:off x="6324601" y="5682171"/>
            <a:ext cx="1977672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unitCost</a:t>
            </a:r>
            <a:endParaRPr lang="en-IE" sz="16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01A0137-99C9-4108-B357-6A620D9D24CF}"/>
              </a:ext>
            </a:extLst>
          </p:cNvPr>
          <p:cNvSpPr txBox="1"/>
          <p:nvPr/>
        </p:nvSpPr>
        <p:spPr>
          <a:xfrm>
            <a:off x="8467166" y="5746215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349.99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DB6A91A-D3A4-4AD0-B9F5-E2DFBAF6B657}"/>
              </a:ext>
            </a:extLst>
          </p:cNvPr>
          <p:cNvSpPr/>
          <p:nvPr/>
        </p:nvSpPr>
        <p:spPr>
          <a:xfrm>
            <a:off x="8229601" y="3003160"/>
            <a:ext cx="765123" cy="4616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400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FD0DCBAA-3EB5-45FF-8F1C-1C0EBD814506}"/>
              </a:ext>
            </a:extLst>
          </p:cNvPr>
          <p:cNvCxnSpPr>
            <a:cxnSpLocks/>
            <a:endCxn id="23" idx="0"/>
          </p:cNvCxnSpPr>
          <p:nvPr/>
        </p:nvCxnSpPr>
        <p:spPr>
          <a:xfrm flipH="1">
            <a:off x="7962900" y="3348535"/>
            <a:ext cx="723900" cy="678834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8F0E1B3A-BC7C-4CF5-87B4-28BE439529B1}"/>
              </a:ext>
            </a:extLst>
          </p:cNvPr>
          <p:cNvSpPr txBox="1"/>
          <p:nvPr/>
        </p:nvSpPr>
        <p:spPr>
          <a:xfrm>
            <a:off x="6324601" y="6160969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inCurrentProductLine</a:t>
            </a:r>
            <a:endParaRPr lang="en-I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F6DF6F4-0428-4908-A7DA-4FC7B8A92112}"/>
              </a:ext>
            </a:extLst>
          </p:cNvPr>
          <p:cNvSpPr txBox="1"/>
          <p:nvPr/>
        </p:nvSpPr>
        <p:spPr>
          <a:xfrm>
            <a:off x="8458201" y="6203415"/>
            <a:ext cx="1051843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28005596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D743BECD-56A4-3282-4939-E5617624E2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8786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1508</Words>
  <Application>Microsoft Office PowerPoint</Application>
  <PresentationFormat>Widescreen</PresentationFormat>
  <Paragraphs>252</Paragraphs>
  <Slides>36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Arial</vt:lpstr>
      <vt:lpstr>Calibri</vt:lpstr>
      <vt:lpstr>Courier New</vt:lpstr>
      <vt:lpstr>Office Theme</vt:lpstr>
      <vt:lpstr>Recap of OO concepts</vt:lpstr>
      <vt:lpstr>Classes and Objects</vt:lpstr>
      <vt:lpstr>Classes and Objects</vt:lpstr>
      <vt:lpstr>Classes and Objects – Many Objects</vt:lpstr>
      <vt:lpstr>Shop</vt:lpstr>
      <vt:lpstr>Shop V1.0 - Product</vt:lpstr>
      <vt:lpstr>Shop V1.0 - Product</vt:lpstr>
      <vt:lpstr>Shop V1.0 - Driver</vt:lpstr>
      <vt:lpstr>A Product Class…</vt:lpstr>
      <vt:lpstr>A Product Class…fields</vt:lpstr>
      <vt:lpstr>A Product Class…fields</vt:lpstr>
      <vt:lpstr>A Product Class… constructor</vt:lpstr>
      <vt:lpstr>PowerPoint Presentation</vt:lpstr>
      <vt:lpstr>A Product Class… methods</vt:lpstr>
      <vt:lpstr>A Product Class… methods</vt:lpstr>
      <vt:lpstr>A Product Class… getters</vt:lpstr>
      <vt:lpstr>Getters (Accessor Methods)</vt:lpstr>
      <vt:lpstr>Getters</vt:lpstr>
      <vt:lpstr>PowerPoint Presentation</vt:lpstr>
      <vt:lpstr>A Product Class…setters</vt:lpstr>
      <vt:lpstr>Setters (Mutator methods)</vt:lpstr>
      <vt:lpstr>Setters</vt:lpstr>
      <vt:lpstr>PowerPoint Presentation</vt:lpstr>
      <vt:lpstr>Getters/Setters</vt:lpstr>
      <vt:lpstr>A Product Class…toString</vt:lpstr>
      <vt:lpstr>A Product Class…</vt:lpstr>
      <vt:lpstr>toString()</vt:lpstr>
      <vt:lpstr>Encapsulation in Java – steps 1-3</vt:lpstr>
      <vt:lpstr>A Product Class… An Encapsulated Class</vt:lpstr>
      <vt:lpstr>A Product Class… An Encapsulated Class</vt:lpstr>
      <vt:lpstr>A Product Class… An Encapsulated Class</vt:lpstr>
      <vt:lpstr>Using the Product Class</vt:lpstr>
      <vt:lpstr>Using the Product Class</vt:lpstr>
      <vt:lpstr>Multiple Product Objects</vt:lpstr>
      <vt:lpstr>Multiple Product Objects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Recap of OO concepts</dc:title>
  <dc:creator>Siobhan Drohan</dc:creator>
  <cp:lastModifiedBy>Siobhan Roche</cp:lastModifiedBy>
  <cp:revision>144</cp:revision>
  <cp:lastPrinted>2018-03-10T18:49:08Z</cp:lastPrinted>
  <dcterms:created xsi:type="dcterms:W3CDTF">2006-08-16T00:00:00Z</dcterms:created>
  <dcterms:modified xsi:type="dcterms:W3CDTF">2026-01-15T14:51:36Z</dcterms:modified>
</cp:coreProperties>
</file>