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90" r:id="rId3"/>
    <p:sldId id="260" r:id="rId4"/>
    <p:sldId id="257" r:id="rId5"/>
    <p:sldId id="397" r:id="rId6"/>
    <p:sldId id="309" r:id="rId7"/>
    <p:sldId id="383" r:id="rId8"/>
    <p:sldId id="398" r:id="rId9"/>
    <p:sldId id="313" r:id="rId10"/>
    <p:sldId id="399" r:id="rId11"/>
    <p:sldId id="315" r:id="rId12"/>
    <p:sldId id="316" r:id="rId13"/>
    <p:sldId id="312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4694"/>
  </p:normalViewPr>
  <p:slideViewPr>
    <p:cSldViewPr>
      <p:cViewPr varScale="1">
        <p:scale>
          <a:sx n="117" d="100"/>
          <a:sy n="117" d="100"/>
        </p:scale>
        <p:origin x="712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21/09/2022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the software development technologies/approaches that we will teach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1061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http://viralpatel.net/blogs/java-virtual-machine-an-inside-story/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8782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IE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viralpatel.net/blogs/java-virtual-machine-an-inside-story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viralpatel.net/blogs/java-virtual-machine-an-inside-story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viralpatel.net/blogs/java-virtual-machine-an-inside-story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Introduction to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Content, Structure and the JVM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AA3B7-D740-41D7-AA23-E2D8E8278A5D}"/>
              </a:ext>
            </a:extLst>
          </p:cNvPr>
          <p:cNvSpPr txBox="1"/>
          <p:nvPr/>
        </p:nvSpPr>
        <p:spPr>
          <a:xfrm>
            <a:off x="3733800" y="3828872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F7DBB-96DC-909E-3117-A2FC2CC74504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8BC0D7F-FA53-E372-D868-E0812BB61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Module Content and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Language: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Files</a:t>
            </a:r>
            <a:r>
              <a:rPr lang="en-IE" dirty="0"/>
              <a:t> in Java.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dirty="0"/>
              <a:t>Java Virtual Machine (</a:t>
            </a:r>
            <a:r>
              <a:rPr lang="en-IE" b="1" dirty="0"/>
              <a:t>JVM</a:t>
            </a:r>
            <a:r>
              <a:rPr lang="en-IE" dirty="0"/>
              <a:t>).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main() </a:t>
            </a:r>
            <a:r>
              <a:rPr lang="en-IE" dirty="0"/>
              <a:t>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20574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85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Module Content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3</a:t>
            </a:fld>
            <a:endParaRPr lang="en-IE"/>
          </a:p>
        </p:txBody>
      </p:sp>
      <p:pic>
        <p:nvPicPr>
          <p:cNvPr id="3084" name="Picture 12" descr="Image result for XML icon">
            <a:extLst>
              <a:ext uri="{FF2B5EF4-FFF2-40B4-BE49-F238E27FC236}">
                <a16:creationId xmlns:a16="http://schemas.microsoft.com/office/drawing/2014/main" id="{1D2A4437-A934-4189-81A2-F33E51D9D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441" y="1981201"/>
            <a:ext cx="1712416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Siobhan\Documents\2017-2018\prog-fund-2\public-site-uk\topic09-tdd-junit\talk-1-tdd-intro\a-prog-fund-2-TDD-intro.jpg">
            <a:extLst>
              <a:ext uri="{FF2B5EF4-FFF2-40B4-BE49-F238E27FC236}">
                <a16:creationId xmlns:a16="http://schemas.microsoft.com/office/drawing/2014/main" id="{EEBDF4AC-C857-42EF-A07E-913595D1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2" y="1579044"/>
            <a:ext cx="3352800" cy="31188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Siobhan\Documents\2017-2018\prog-fund-2\public-site-uk\topic06-collections-map-set\book\img\main.png">
            <a:extLst>
              <a:ext uri="{FF2B5EF4-FFF2-40B4-BE49-F238E27FC236}">
                <a16:creationId xmlns:a16="http://schemas.microsoft.com/office/drawing/2014/main" id="{15BACA20-0188-4410-837B-587E3F9D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216" y="4267201"/>
            <a:ext cx="3522539" cy="24293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java10">
            <a:extLst>
              <a:ext uri="{FF2B5EF4-FFF2-40B4-BE49-F238E27FC236}">
                <a16:creationId xmlns:a16="http://schemas.microsoft.com/office/drawing/2014/main" id="{3EE9C054-BD97-4858-91EE-51C2F1F74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4" t="25738" r="36202" b="28334"/>
          <a:stretch/>
        </p:blipFill>
        <p:spPr bwMode="auto">
          <a:xfrm>
            <a:off x="1722930" y="2200943"/>
            <a:ext cx="2747112" cy="13518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3ACA6-A607-4E63-89A3-595CB4390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998" y="3997845"/>
            <a:ext cx="2117307" cy="220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819400"/>
            <a:ext cx="7391400" cy="3657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E" dirty="0"/>
              <a:t>Focus on:</a:t>
            </a:r>
          </a:p>
          <a:p>
            <a:endParaRPr lang="en-IE" sz="1400" dirty="0"/>
          </a:p>
          <a:p>
            <a:pPr lvl="1"/>
            <a:r>
              <a:rPr lang="en-IE" dirty="0"/>
              <a:t>Menu Driven Systems (console based)</a:t>
            </a:r>
          </a:p>
          <a:p>
            <a:pPr lvl="1"/>
            <a:r>
              <a:rPr lang="en-IE" dirty="0"/>
              <a:t>Data Structures</a:t>
            </a:r>
          </a:p>
          <a:p>
            <a:pPr lvl="1"/>
            <a:r>
              <a:rPr lang="en-IE" dirty="0"/>
              <a:t>CRUD and Persistence (XML)</a:t>
            </a:r>
          </a:p>
          <a:p>
            <a:pPr lvl="1"/>
            <a:r>
              <a:rPr lang="en-IE" dirty="0"/>
              <a:t>Exceptions</a:t>
            </a:r>
          </a:p>
          <a:p>
            <a:pPr lvl="1"/>
            <a:r>
              <a:rPr lang="en-IE" dirty="0"/>
              <a:t>Inheritance, Polymorphism and Abstraction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5A74730-4B8D-487A-9137-DD3343DB3EE1}"/>
              </a:ext>
            </a:extLst>
          </p:cNvPr>
          <p:cNvSpPr txBox="1">
            <a:spLocks/>
          </p:cNvSpPr>
          <p:nvPr/>
        </p:nvSpPr>
        <p:spPr>
          <a:xfrm>
            <a:off x="6477000" y="1676400"/>
            <a:ext cx="3200400" cy="18589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100% CA:</a:t>
            </a:r>
          </a:p>
          <a:p>
            <a:pPr lvl="1"/>
            <a:r>
              <a:rPr lang="en-IE" dirty="0"/>
              <a:t>Assignment 1</a:t>
            </a:r>
          </a:p>
          <a:p>
            <a:pPr lvl="1"/>
            <a:r>
              <a:rPr lang="en-IE" dirty="0"/>
              <a:t>Assignment 2</a:t>
            </a:r>
          </a:p>
          <a:p>
            <a:pPr marL="457200" lvl="1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Module Content and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Language: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Files</a:t>
            </a:r>
            <a:r>
              <a:rPr lang="en-IE" dirty="0"/>
              <a:t> in Java.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dirty="0"/>
              <a:t>Java Virtual Machine (</a:t>
            </a:r>
            <a:r>
              <a:rPr lang="en-IE" b="1" dirty="0"/>
              <a:t>JVM</a:t>
            </a:r>
            <a:r>
              <a:rPr lang="en-IE" dirty="0"/>
              <a:t>).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main() </a:t>
            </a:r>
            <a:r>
              <a:rPr lang="en-IE" dirty="0"/>
              <a:t>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32004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26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Files in Java (1)</a:t>
            </a:r>
          </a:p>
        </p:txBody>
      </p:sp>
      <p:sp>
        <p:nvSpPr>
          <p:cNvPr id="4" name="AutoShape 2" descr="Image result for jvm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5" name="AutoShape 4" descr="Image result for jvm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6" name="AutoShape 6" descr="Image result for jvm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AutoShape 8" descr="Image result for jvm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8" name="AutoShape 10" descr="Image result for jvm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568" y="1600201"/>
            <a:ext cx="7477432" cy="482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743201" y="6553201"/>
            <a:ext cx="79518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400" dirty="0">
                <a:hlinkClick r:id="rId4"/>
              </a:rPr>
              <a:t>http://viralpatel.net/blogs/java-virtual-machine-an-inside-story/</a:t>
            </a:r>
            <a:r>
              <a:rPr lang="en-IE" sz="1400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31976" y="4495800"/>
            <a:ext cx="8455025" cy="0"/>
          </a:xfrm>
          <a:prstGeom prst="line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16200000">
            <a:off x="1434239" y="4895766"/>
            <a:ext cx="1032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0070C0"/>
                </a:solidFill>
              </a:rPr>
              <a:t>Platform </a:t>
            </a:r>
          </a:p>
          <a:p>
            <a:r>
              <a:rPr lang="en-GB" dirty="0">
                <a:solidFill>
                  <a:srgbClr val="0070C0"/>
                </a:solidFill>
              </a:rPr>
              <a:t>specific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1147550" y="2896740"/>
            <a:ext cx="160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Platform </a:t>
            </a:r>
          </a:p>
          <a:p>
            <a:r>
              <a:rPr lang="en-GB" b="1" dirty="0">
                <a:solidFill>
                  <a:srgbClr val="0070C0"/>
                </a:solidFill>
              </a:rPr>
              <a:t>independent</a:t>
            </a:r>
          </a:p>
        </p:txBody>
      </p:sp>
    </p:spTree>
    <p:extLst>
      <p:ext uri="{BB962C8B-B14F-4D97-AF65-F5344CB8AC3E}">
        <p14:creationId xmlns:p14="http://schemas.microsoft.com/office/powerpoint/2010/main" val="194256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Files in Java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049000" cy="4953000"/>
          </a:xfrm>
        </p:spPr>
        <p:txBody>
          <a:bodyPr>
            <a:normAutofit/>
          </a:bodyPr>
          <a:lstStyle/>
          <a:p>
            <a:r>
              <a:rPr lang="en-IE" sz="2800" b="1" dirty="0"/>
              <a:t>Java code </a:t>
            </a:r>
            <a:r>
              <a:rPr lang="en-IE" sz="2800" dirty="0"/>
              <a:t>is written in </a:t>
            </a:r>
            <a:r>
              <a:rPr lang="en-IE" sz="2800" b="1" dirty="0">
                <a:solidFill>
                  <a:srgbClr val="FF0000"/>
                </a:solidFill>
              </a:rPr>
              <a:t>.java </a:t>
            </a:r>
            <a:r>
              <a:rPr lang="en-IE" sz="2800" dirty="0"/>
              <a:t>file. </a:t>
            </a:r>
          </a:p>
          <a:p>
            <a:pPr lvl="1"/>
            <a:r>
              <a:rPr lang="en-IE" sz="2400" dirty="0"/>
              <a:t>code contains one or more Java language constructs </a:t>
            </a:r>
            <a:br>
              <a:rPr lang="en-IE" sz="2400" dirty="0"/>
            </a:br>
            <a:r>
              <a:rPr lang="en-IE" sz="2400" dirty="0"/>
              <a:t>e.g. Classes, Methods, Variable, Objects etc. </a:t>
            </a:r>
          </a:p>
          <a:p>
            <a:r>
              <a:rPr lang="en-IE" sz="2800" b="1" dirty="0"/>
              <a:t>Compiling</a:t>
            </a:r>
            <a:r>
              <a:rPr lang="en-IE" sz="2800" dirty="0"/>
              <a:t> this code generates a </a:t>
            </a:r>
            <a:r>
              <a:rPr lang="en-IE" sz="2800" b="1" dirty="0">
                <a:solidFill>
                  <a:srgbClr val="FF0000"/>
                </a:solidFill>
              </a:rPr>
              <a:t>.class</a:t>
            </a:r>
            <a:r>
              <a:rPr lang="en-IE" sz="2800" dirty="0"/>
              <a:t> file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CA475-F92B-4A80-ACD3-723C0899C683}"/>
              </a:ext>
            </a:extLst>
          </p:cNvPr>
          <p:cNvSpPr/>
          <p:nvPr/>
        </p:nvSpPr>
        <p:spPr>
          <a:xfrm>
            <a:off x="2743201" y="6553201"/>
            <a:ext cx="79518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400" dirty="0">
                <a:hlinkClick r:id="rId2"/>
              </a:rPr>
              <a:t>http://viralpatel.net/blogs/java-virtual-machine-an-inside-story/</a:t>
            </a:r>
            <a:r>
              <a:rPr lang="en-IE" sz="1400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C4E766-7630-460F-A18C-FB145C6E7A13}"/>
              </a:ext>
            </a:extLst>
          </p:cNvPr>
          <p:cNvSpPr txBox="1">
            <a:spLocks/>
          </p:cNvSpPr>
          <p:nvPr/>
        </p:nvSpPr>
        <p:spPr>
          <a:xfrm>
            <a:off x="1981200" y="3429000"/>
            <a:ext cx="8610600" cy="381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800" dirty="0"/>
              <a:t>A</a:t>
            </a:r>
            <a:r>
              <a:rPr lang="en-IE" sz="2800" b="1" dirty="0">
                <a:solidFill>
                  <a:srgbClr val="FF0000"/>
                </a:solidFill>
              </a:rPr>
              <a:t> .class </a:t>
            </a:r>
            <a:r>
              <a:rPr lang="en-IE" sz="2800" dirty="0"/>
              <a:t>file </a:t>
            </a:r>
          </a:p>
          <a:p>
            <a:pPr lvl="1"/>
            <a:r>
              <a:rPr lang="en-IE" sz="2400" dirty="0"/>
              <a:t>“</a:t>
            </a:r>
            <a:r>
              <a:rPr lang="en-IE" sz="2400" b="1" dirty="0"/>
              <a:t>byte code</a:t>
            </a:r>
            <a:r>
              <a:rPr lang="en-IE" sz="2400" dirty="0"/>
              <a:t>” </a:t>
            </a:r>
          </a:p>
          <a:p>
            <a:pPr lvl="1"/>
            <a:r>
              <a:rPr lang="en-IE" sz="2400" dirty="0"/>
              <a:t>the input to Java Virtual Machine (JVM) </a:t>
            </a:r>
          </a:p>
          <a:p>
            <a:pPr lvl="1"/>
            <a:r>
              <a:rPr lang="en-IE" sz="2400" dirty="0"/>
              <a:t>The </a:t>
            </a:r>
            <a:r>
              <a:rPr lang="en-IE" sz="2400" b="1" dirty="0"/>
              <a:t>JVM</a:t>
            </a:r>
            <a:r>
              <a:rPr lang="en-IE" sz="2400" dirty="0"/>
              <a:t> </a:t>
            </a:r>
            <a:r>
              <a:rPr lang="en-IE" sz="2400" i="1" dirty="0"/>
              <a:t>(for a specific platform) </a:t>
            </a:r>
          </a:p>
          <a:p>
            <a:pPr lvl="2"/>
            <a:r>
              <a:rPr lang="en-IE" sz="2000" b="1" dirty="0"/>
              <a:t>reads</a:t>
            </a:r>
            <a:r>
              <a:rPr lang="en-IE" sz="2000" dirty="0"/>
              <a:t> this byte code</a:t>
            </a:r>
          </a:p>
          <a:p>
            <a:pPr lvl="2"/>
            <a:r>
              <a:rPr lang="en-IE" sz="2000" b="1" dirty="0"/>
              <a:t>interprets</a:t>
            </a:r>
            <a:r>
              <a:rPr lang="en-IE" sz="2000" dirty="0"/>
              <a:t> it as machine code instructions </a:t>
            </a:r>
            <a:r>
              <a:rPr lang="en-IE" sz="2000" i="1" dirty="0"/>
              <a:t>(for that platform)</a:t>
            </a:r>
          </a:p>
          <a:p>
            <a:pPr lvl="2"/>
            <a:r>
              <a:rPr lang="en-IE" sz="2000" dirty="0"/>
              <a:t>and </a:t>
            </a:r>
            <a:r>
              <a:rPr lang="en-IE" sz="2000" b="1" dirty="0"/>
              <a:t>executes</a:t>
            </a:r>
            <a:r>
              <a:rPr lang="en-IE" sz="2000" dirty="0"/>
              <a:t> the program </a:t>
            </a:r>
            <a:r>
              <a:rPr lang="en-IE" sz="2000" i="1" dirty="0"/>
              <a:t>(on that platform)</a:t>
            </a:r>
            <a:endParaRPr lang="en-IE" sz="2000" dirty="0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648456D5-610A-412C-9EA1-75C0004E7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050" y="2369889"/>
            <a:ext cx="3284550" cy="211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65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Module Content and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Language: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Files</a:t>
            </a:r>
            <a:r>
              <a:rPr lang="en-IE" dirty="0"/>
              <a:t> in Java.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dirty="0"/>
              <a:t>Java Virtual Machine (</a:t>
            </a:r>
            <a:r>
              <a:rPr lang="en-IE" b="1" dirty="0"/>
              <a:t>JVM</a:t>
            </a:r>
            <a:r>
              <a:rPr lang="en-IE" dirty="0"/>
              <a:t>).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main() </a:t>
            </a:r>
            <a:r>
              <a:rPr lang="en-IE" dirty="0"/>
              <a:t>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37338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369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Java Virtual Machine (JVM)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IE" dirty="0"/>
              <a:t>A “</a:t>
            </a:r>
            <a:r>
              <a:rPr lang="en-IE" b="1" dirty="0"/>
              <a:t>virtual</a:t>
            </a:r>
            <a:r>
              <a:rPr lang="en-IE" dirty="0"/>
              <a:t>” computer that resides in </a:t>
            </a:r>
            <a:br>
              <a:rPr lang="en-IE" dirty="0"/>
            </a:br>
            <a:r>
              <a:rPr lang="en-IE" dirty="0"/>
              <a:t>the “real” computer as a software process.</a:t>
            </a:r>
          </a:p>
          <a:p>
            <a:r>
              <a:rPr lang="en-IE" dirty="0"/>
              <a:t>Gives Java the flexibility of </a:t>
            </a:r>
            <a:r>
              <a:rPr lang="en-IE" b="1" dirty="0"/>
              <a:t>platform independence</a:t>
            </a:r>
            <a:r>
              <a:rPr lang="en-IE" dirty="0"/>
              <a:t>. </a:t>
            </a:r>
          </a:p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.class </a:t>
            </a:r>
            <a:r>
              <a:rPr lang="en-IE" dirty="0"/>
              <a:t>files can be run on any OS, once a JVM has been installed </a:t>
            </a:r>
          </a:p>
          <a:p>
            <a:pPr lvl="1"/>
            <a:r>
              <a:rPr lang="en-IE" dirty="0"/>
              <a:t>(NB: JVM is installed when you install the JDK).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072E6-9DEF-453C-AC06-FFE4922914E3}"/>
              </a:ext>
            </a:extLst>
          </p:cNvPr>
          <p:cNvSpPr/>
          <p:nvPr/>
        </p:nvSpPr>
        <p:spPr>
          <a:xfrm>
            <a:off x="2743201" y="6553201"/>
            <a:ext cx="79518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400" dirty="0">
                <a:hlinkClick r:id="rId2"/>
              </a:rPr>
              <a:t>http://viralpatel.net/blogs/java-virtual-machine-an-inside-story/</a:t>
            </a:r>
            <a:r>
              <a:rPr lang="en-IE" sz="1400" dirty="0"/>
              <a:t> </a:t>
            </a: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1F7E472B-0B9D-4E63-AA68-148F58A3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50" y="3965589"/>
            <a:ext cx="3284550" cy="211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179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Module Content and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Language: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Files</a:t>
            </a:r>
            <a:r>
              <a:rPr lang="en-IE" dirty="0"/>
              <a:t> in Java.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dirty="0"/>
              <a:t>Java Virtual Machine (</a:t>
            </a:r>
            <a:r>
              <a:rPr lang="en-IE" b="1" dirty="0"/>
              <a:t>JVM</a:t>
            </a:r>
            <a:r>
              <a:rPr lang="en-IE" dirty="0"/>
              <a:t>).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IE" b="1" dirty="0"/>
              <a:t>main() </a:t>
            </a:r>
            <a:r>
              <a:rPr lang="en-IE" dirty="0"/>
              <a:t>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42672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961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895600"/>
          </a:xfrm>
        </p:spPr>
        <p:txBody>
          <a:bodyPr>
            <a:normAutofit/>
          </a:bodyPr>
          <a:lstStyle/>
          <a:p>
            <a:r>
              <a:rPr lang="en-IE" dirty="0"/>
              <a:t>When you want to run a java project, the Java Virtual Machine (JVM) invokes the </a:t>
            </a:r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</a:t>
            </a:r>
            <a:r>
              <a:rPr lang="en-IE" b="1" dirty="0"/>
              <a:t> </a:t>
            </a:r>
            <a:r>
              <a:rPr lang="en-IE" dirty="0"/>
              <a:t>in the project.</a:t>
            </a:r>
            <a:br>
              <a:rPr lang="en-IE" dirty="0"/>
            </a:br>
            <a:endParaRPr lang="en-IE" dirty="0"/>
          </a:p>
          <a:p>
            <a:r>
              <a:rPr lang="en-IE" dirty="0"/>
              <a:t>For the JVM to recognise it, the main() method </a:t>
            </a:r>
            <a:r>
              <a:rPr lang="en-IE" u="sng" dirty="0"/>
              <a:t>must</a:t>
            </a:r>
            <a:r>
              <a:rPr lang="en-IE" dirty="0"/>
              <a:t> have a specific method </a:t>
            </a:r>
            <a:r>
              <a:rPr lang="en-IE" b="1" dirty="0"/>
              <a:t>signature</a:t>
            </a:r>
            <a:r>
              <a:rPr lang="en-IE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438400" y="4833256"/>
            <a:ext cx="7315200" cy="1828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400" b="1" dirty="0">
                <a:latin typeface="Courier New" charset="0"/>
              </a:rPr>
              <a:t>public static void </a:t>
            </a:r>
            <a:r>
              <a:rPr lang="en-AU" sz="24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2400" b="1" dirty="0">
                <a:latin typeface="Courier New" charset="0"/>
              </a:rPr>
              <a:t>(String[] </a:t>
            </a:r>
            <a:r>
              <a:rPr lang="en-AU" sz="2400" b="1" dirty="0" err="1">
                <a:latin typeface="Courier New" charset="0"/>
              </a:rPr>
              <a:t>args</a:t>
            </a:r>
            <a:r>
              <a:rPr lang="en-AU" sz="2400" b="1" dirty="0">
                <a:latin typeface="Courier New" charset="0"/>
              </a:rPr>
              <a:t>)</a:t>
            </a:r>
            <a:br>
              <a:rPr lang="en-AU" sz="2400" b="1" dirty="0">
                <a:latin typeface="Courier New" charset="0"/>
              </a:rPr>
            </a:br>
            <a:r>
              <a:rPr lang="en-AU" sz="2400" b="1" dirty="0">
                <a:latin typeface="Courier New" charset="0"/>
              </a:rPr>
              <a:t>{ </a:t>
            </a:r>
          </a:p>
          <a:p>
            <a:pPr marL="0" indent="0">
              <a:buNone/>
            </a:pPr>
            <a:r>
              <a:rPr lang="en-AU" sz="2400" b="1" dirty="0">
                <a:latin typeface="Courier New" charset="0"/>
              </a:rPr>
              <a:t>  ...</a:t>
            </a:r>
            <a:br>
              <a:rPr lang="en-AU" sz="2400" b="1" dirty="0">
                <a:latin typeface="Courier New" charset="0"/>
              </a:rPr>
            </a:br>
            <a:r>
              <a:rPr lang="en-AU" sz="2400" b="1" dirty="0">
                <a:latin typeface="Courier New" charset="0"/>
              </a:rPr>
              <a:t>}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235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 - </a:t>
            </a:r>
            <a:r>
              <a:rPr lang="en-IE" b="1" dirty="0"/>
              <a:t>signature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09800" y="1600201"/>
            <a:ext cx="7924800" cy="3048000"/>
          </a:xfrm>
        </p:spPr>
        <p:txBody>
          <a:bodyPr>
            <a:normAutofit/>
          </a:bodyPr>
          <a:lstStyle/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exist</a:t>
            </a:r>
          </a:p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be </a:t>
            </a:r>
            <a:r>
              <a:rPr lang="en-AU" sz="2800" b="1" dirty="0">
                <a:latin typeface="Trebuchet MS" charset="0"/>
              </a:rPr>
              <a:t>public</a:t>
            </a:r>
          </a:p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be </a:t>
            </a:r>
            <a:r>
              <a:rPr lang="en-AU" sz="2800" b="1" dirty="0">
                <a:latin typeface="Trebuchet MS" charset="0"/>
              </a:rPr>
              <a:t>static</a:t>
            </a:r>
            <a:r>
              <a:rPr lang="en-AU" sz="2800" dirty="0">
                <a:latin typeface="Trebuchet MS" charset="0"/>
              </a:rPr>
              <a:t> (class method)</a:t>
            </a:r>
          </a:p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have a </a:t>
            </a:r>
            <a:r>
              <a:rPr lang="en-AU" sz="2800" b="1" dirty="0">
                <a:latin typeface="Trebuchet MS" charset="0"/>
              </a:rPr>
              <a:t>String array parameter</a:t>
            </a:r>
          </a:p>
          <a:p>
            <a:r>
              <a:rPr lang="en-AU" sz="2800" dirty="0">
                <a:latin typeface="Trebuchet MS" charset="0"/>
              </a:rPr>
              <a:t>Only </a:t>
            </a:r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can be invoked automatically.</a:t>
            </a:r>
          </a:p>
          <a:p>
            <a:endParaRPr lang="en-IE" sz="2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438400" y="4833256"/>
            <a:ext cx="7315200" cy="1828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400" b="1" dirty="0">
                <a:latin typeface="Courier New" charset="0"/>
              </a:rPr>
              <a:t>public static void </a:t>
            </a:r>
            <a:r>
              <a:rPr lang="en-AU" sz="24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2400" b="1" dirty="0">
                <a:latin typeface="Courier New" charset="0"/>
              </a:rPr>
              <a:t>(String[] </a:t>
            </a:r>
            <a:r>
              <a:rPr lang="en-AU" sz="2400" b="1" dirty="0" err="1">
                <a:latin typeface="Courier New" charset="0"/>
              </a:rPr>
              <a:t>args</a:t>
            </a:r>
            <a:r>
              <a:rPr lang="en-AU" sz="2400" b="1" dirty="0">
                <a:latin typeface="Courier New" charset="0"/>
              </a:rPr>
              <a:t>)</a:t>
            </a:r>
            <a:br>
              <a:rPr lang="en-AU" sz="2400" b="1" dirty="0">
                <a:latin typeface="Courier New" charset="0"/>
              </a:rPr>
            </a:br>
            <a:r>
              <a:rPr lang="en-AU" sz="2400" b="1" dirty="0">
                <a:latin typeface="Courier New" charset="0"/>
              </a:rPr>
              <a:t>{ </a:t>
            </a:r>
          </a:p>
          <a:p>
            <a:pPr marL="0" indent="0">
              <a:buNone/>
            </a:pPr>
            <a:r>
              <a:rPr lang="en-AU" sz="2400" b="1" dirty="0">
                <a:latin typeface="Courier New" charset="0"/>
              </a:rPr>
              <a:t>  ...</a:t>
            </a:r>
            <a:br>
              <a:rPr lang="en-AU" sz="2400" b="1" dirty="0">
                <a:latin typeface="Courier New" charset="0"/>
              </a:rPr>
            </a:br>
            <a:r>
              <a:rPr lang="en-AU" sz="2400" b="1" dirty="0">
                <a:latin typeface="Courier New" charset="0"/>
              </a:rPr>
              <a:t>}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07450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1676400" y="2312994"/>
            <a:ext cx="7162800" cy="189516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AU" sz="2400" b="1" dirty="0">
                <a:latin typeface="Courier New" charset="0"/>
              </a:rPr>
              <a:t>public static void </a:t>
            </a:r>
            <a:r>
              <a:rPr lang="en-AU" sz="24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2400" b="1" dirty="0">
                <a:latin typeface="Courier New" charset="0"/>
              </a:rPr>
              <a:t>(String[] </a:t>
            </a:r>
            <a:r>
              <a:rPr lang="en-AU" sz="2400" b="1" dirty="0" err="1">
                <a:latin typeface="Courier New" charset="0"/>
              </a:rPr>
              <a:t>args</a:t>
            </a:r>
            <a:r>
              <a:rPr lang="en-AU" sz="2400" b="1" dirty="0">
                <a:latin typeface="Courier New" charset="0"/>
              </a:rPr>
              <a:t>)</a:t>
            </a:r>
          </a:p>
          <a:p>
            <a:r>
              <a:rPr lang="en-AU" sz="2400" b="1" dirty="0">
                <a:latin typeface="Courier New" charset="0"/>
              </a:rPr>
              <a:t>{</a:t>
            </a:r>
          </a:p>
          <a:p>
            <a:r>
              <a:rPr lang="en-AU" sz="2400" b="1" dirty="0">
                <a:latin typeface="Courier New" charset="0"/>
              </a:rPr>
              <a:t>    Driver driver= new Driver();</a:t>
            </a:r>
          </a:p>
          <a:p>
            <a:r>
              <a:rPr lang="en-AU" sz="2400" b="1" dirty="0">
                <a:latin typeface="Courier New" charset="0"/>
              </a:rPr>
              <a:t>    </a:t>
            </a:r>
            <a:r>
              <a:rPr lang="en-AU" sz="2400" b="1" dirty="0" err="1">
                <a:latin typeface="Courier New" charset="0"/>
              </a:rPr>
              <a:t>driver.runMenu</a:t>
            </a:r>
            <a:r>
              <a:rPr lang="en-AU" sz="2400" b="1" dirty="0">
                <a:latin typeface="Courier New" charset="0"/>
              </a:rPr>
              <a:t>();</a:t>
            </a:r>
          </a:p>
          <a:p>
            <a:r>
              <a:rPr lang="en-AU" sz="2400" b="1" dirty="0">
                <a:latin typeface="Courier New" charset="0"/>
              </a:rPr>
              <a:t>}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chemeClr val="tx1"/>
                </a:solidFill>
              </a:rPr>
              <a:t>The </a:t>
            </a:r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 typically…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F048D-8C9D-40D4-833E-6D94C727D0CE}"/>
              </a:ext>
            </a:extLst>
          </p:cNvPr>
          <p:cNvSpPr/>
          <p:nvPr/>
        </p:nvSpPr>
        <p:spPr>
          <a:xfrm>
            <a:off x="7924800" y="3119736"/>
            <a:ext cx="264207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dirty="0">
                <a:latin typeface="Trebuchet MS" charset="0"/>
              </a:rPr>
              <a:t>Creates an object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C8DC77-1F24-4F57-ACDD-DF26806D27CC}"/>
              </a:ext>
            </a:extLst>
          </p:cNvPr>
          <p:cNvSpPr/>
          <p:nvPr/>
        </p:nvSpPr>
        <p:spPr>
          <a:xfrm>
            <a:off x="7949732" y="3741004"/>
            <a:ext cx="210866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>
                <a:latin typeface="Trebuchet MS" charset="0"/>
              </a:rPr>
              <a:t>Calls the first method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FFF27-7A82-4241-8138-25E8D4B444FE}"/>
              </a:ext>
            </a:extLst>
          </p:cNvPr>
          <p:cNvCxnSpPr/>
          <p:nvPr/>
        </p:nvCxnSpPr>
        <p:spPr>
          <a:xfrm flipH="1" flipV="1">
            <a:off x="7620000" y="3276600"/>
            <a:ext cx="304800" cy="76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88E237-8FC5-484E-9252-42ADF4A609B7}"/>
              </a:ext>
            </a:extLst>
          </p:cNvPr>
          <p:cNvCxnSpPr>
            <a:cxnSpLocks/>
          </p:cNvCxnSpPr>
          <p:nvPr/>
        </p:nvCxnSpPr>
        <p:spPr>
          <a:xfrm flipH="1" flipV="1">
            <a:off x="5638800" y="3657600"/>
            <a:ext cx="2286000" cy="4841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69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4841</TotalTime>
  <Words>550</Words>
  <Application>Microsoft Macintosh PowerPoint</Application>
  <PresentationFormat>Widescreen</PresentationFormat>
  <Paragraphs>95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Times</vt:lpstr>
      <vt:lpstr>Trebuchet MS</vt:lpstr>
      <vt:lpstr>Office Theme</vt:lpstr>
      <vt:lpstr>Introduction to Module</vt:lpstr>
      <vt:lpstr>Topics list</vt:lpstr>
      <vt:lpstr>Module Content</vt:lpstr>
      <vt:lpstr>Module Content</vt:lpstr>
      <vt:lpstr>Topics list</vt:lpstr>
      <vt:lpstr>Files in Java (1)</vt:lpstr>
      <vt:lpstr>Files in Java (3)</vt:lpstr>
      <vt:lpstr>Topics list</vt:lpstr>
      <vt:lpstr>Java Virtual Machine (JVM)</vt:lpstr>
      <vt:lpstr>Topics list</vt:lpstr>
      <vt:lpstr>main() method</vt:lpstr>
      <vt:lpstr>main() method - signature</vt:lpstr>
      <vt:lpstr>The main() method typically…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 2</dc:title>
  <dc:creator>Siobhan Drohan</dc:creator>
  <cp:lastModifiedBy>Mairead Meagher</cp:lastModifiedBy>
  <cp:revision>70</cp:revision>
  <dcterms:created xsi:type="dcterms:W3CDTF">2006-08-16T00:00:00Z</dcterms:created>
  <dcterms:modified xsi:type="dcterms:W3CDTF">2022-09-21T09:12:26Z</dcterms:modified>
</cp:coreProperties>
</file>