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24" r:id="rId3"/>
    <p:sldId id="325" r:id="rId4"/>
    <p:sldId id="326" r:id="rId5"/>
    <p:sldId id="349" r:id="rId6"/>
    <p:sldId id="330" r:id="rId7"/>
    <p:sldId id="346" r:id="rId8"/>
    <p:sldId id="347" r:id="rId9"/>
    <p:sldId id="348" r:id="rId10"/>
    <p:sldId id="339" r:id="rId11"/>
    <p:sldId id="343" r:id="rId12"/>
    <p:sldId id="350" r:id="rId13"/>
    <p:sldId id="356" r:id="rId14"/>
    <p:sldId id="355" r:id="rId15"/>
    <p:sldId id="353" r:id="rId16"/>
    <p:sldId id="351" r:id="rId17"/>
    <p:sldId id="332" r:id="rId18"/>
    <p:sldId id="331" r:id="rId19"/>
    <p:sldId id="334" r:id="rId20"/>
    <p:sldId id="335" r:id="rId21"/>
    <p:sldId id="340" r:id="rId22"/>
    <p:sldId id="354" r:id="rId23"/>
    <p:sldId id="32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FACF8B"/>
    <a:srgbClr val="FCBA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4762"/>
  </p:normalViewPr>
  <p:slideViewPr>
    <p:cSldViewPr>
      <p:cViewPr varScale="1">
        <p:scale>
          <a:sx n="117" d="100"/>
          <a:sy n="117" d="100"/>
        </p:scale>
        <p:origin x="592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21/09/2022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will use the constructor from Driver to build an object with user input stored in the instance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7759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Input / Output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Scanner class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3EC12-967D-4E52-8F05-0989F292C2D8}"/>
              </a:ext>
            </a:extLst>
          </p:cNvPr>
          <p:cNvSpPr txBox="1"/>
          <p:nvPr/>
        </p:nvSpPr>
        <p:spPr>
          <a:xfrm>
            <a:off x="3733800" y="3840541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80D5F-23D8-E216-831B-6D07B52F07D1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4A1806F-C9E6-912E-B039-D507A8617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sp>
        <p:nvSpPr>
          <p:cNvPr id="63491" name="Content Placeholder 6"/>
          <p:cNvSpPr>
            <a:spLocks noGrp="1"/>
          </p:cNvSpPr>
          <p:nvPr>
            <p:ph idx="1"/>
          </p:nvPr>
        </p:nvSpPr>
        <p:spPr>
          <a:xfrm>
            <a:off x="609600" y="1905000"/>
            <a:ext cx="11125200" cy="4495800"/>
          </a:xfrm>
        </p:spPr>
        <p:txBody>
          <a:bodyPr>
            <a:noAutofit/>
          </a:bodyPr>
          <a:lstStyle/>
          <a:p>
            <a:pPr eaLnBrk="1" hangingPunct="1"/>
            <a:r>
              <a:rPr lang="en-IE" altLang="en-US" sz="2800" dirty="0"/>
              <a:t>The </a:t>
            </a:r>
            <a:r>
              <a:rPr lang="en-IE" altLang="en-US" sz="2800" b="1" dirty="0"/>
              <a:t>Scanner</a:t>
            </a:r>
            <a:r>
              <a:rPr lang="en-IE" altLang="en-US" sz="2800" dirty="0"/>
              <a:t> class comes with Java.</a:t>
            </a:r>
            <a:br>
              <a:rPr lang="en-IE" altLang="en-US" sz="2800" dirty="0"/>
            </a:br>
            <a:endParaRPr lang="en-IE" altLang="en-US" sz="2800" dirty="0"/>
          </a:p>
          <a:p>
            <a:pPr eaLnBrk="1" hangingPunct="1"/>
            <a:r>
              <a:rPr lang="en-IE" altLang="en-US" sz="2800" dirty="0"/>
              <a:t>It allows us to </a:t>
            </a:r>
            <a:r>
              <a:rPr lang="en-IE" altLang="en-US" sz="2800" b="1" dirty="0"/>
              <a:t>take in data from the console </a:t>
            </a:r>
            <a:r>
              <a:rPr lang="en-IE" altLang="en-US" sz="2800" dirty="0"/>
              <a:t>/ terminal window.</a:t>
            </a:r>
            <a:br>
              <a:rPr lang="en-IE" altLang="en-US" sz="2800" dirty="0"/>
            </a:br>
            <a:endParaRPr lang="en-IE" altLang="en-US" sz="2800" dirty="0"/>
          </a:p>
          <a:p>
            <a:pPr eaLnBrk="1" hangingPunct="1"/>
            <a:r>
              <a:rPr lang="en-IE" altLang="en-US" sz="2800" dirty="0"/>
              <a:t>It is part of the </a:t>
            </a:r>
            <a:r>
              <a:rPr lang="en-IE" altLang="en-US" sz="2800" b="1" dirty="0" err="1">
                <a:solidFill>
                  <a:srgbClr val="FF0000"/>
                </a:solidFill>
              </a:rPr>
              <a:t>java.util</a:t>
            </a:r>
            <a:r>
              <a:rPr lang="en-IE" altLang="en-US" sz="2800" dirty="0">
                <a:solidFill>
                  <a:srgbClr val="FF0000"/>
                </a:solidFill>
              </a:rPr>
              <a:t> </a:t>
            </a:r>
            <a:r>
              <a:rPr lang="en-IE" altLang="en-US" sz="2800" dirty="0"/>
              <a:t>package in the Java Application Programming Interfaces (API).</a:t>
            </a:r>
          </a:p>
        </p:txBody>
      </p:sp>
    </p:spTree>
    <p:extLst>
      <p:ext uri="{BB962C8B-B14F-4D97-AF65-F5344CB8AC3E}">
        <p14:creationId xmlns:p14="http://schemas.microsoft.com/office/powerpoint/2010/main" val="16245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2057400" y="1752600"/>
            <a:ext cx="8229600" cy="1981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eaLnBrk="1" hangingPunct="1"/>
            <a:r>
              <a:rPr lang="en-GB" altLang="en-US" sz="2400" dirty="0"/>
              <a:t>In order to use the Scanner class, place the following line as the </a:t>
            </a:r>
            <a:r>
              <a:rPr lang="en-GB" altLang="en-US" sz="2400" b="1" dirty="0"/>
              <a:t>first line of code in your file </a:t>
            </a:r>
            <a:r>
              <a:rPr lang="en-GB" altLang="en-US" sz="2400" dirty="0"/>
              <a:t>(i.e. before class declaration):</a:t>
            </a:r>
            <a:endParaRPr lang="en-IE" altLang="en-US" sz="2400" dirty="0"/>
          </a:p>
          <a:p>
            <a:pPr marL="857250" lvl="3" indent="0">
              <a:lnSpc>
                <a:spcPct val="150000"/>
              </a:lnSpc>
              <a:buNone/>
            </a:pPr>
            <a:r>
              <a:rPr lang="en-IE" altLang="en-US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alt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IE" altLang="en-US" sz="24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java.util.Scanner</a:t>
            </a:r>
            <a:r>
              <a:rPr lang="en-IE" alt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  <a:endParaRPr lang="en-IE" altLang="en-US" sz="3600" b="1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alt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IE" alt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01581-C424-4C47-B677-9B7D7C0210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0" b="58920"/>
          <a:stretch/>
        </p:blipFill>
        <p:spPr>
          <a:xfrm>
            <a:off x="2057400" y="4068763"/>
            <a:ext cx="8218864" cy="23964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Donut 4"/>
          <p:cNvSpPr/>
          <p:nvPr/>
        </p:nvSpPr>
        <p:spPr>
          <a:xfrm flipV="1">
            <a:off x="2514601" y="4419599"/>
            <a:ext cx="3886201" cy="38100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50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981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eaLnBrk="1" hangingPunct="1"/>
            <a:r>
              <a:rPr lang="en-GB" altLang="en-US" sz="2600" dirty="0"/>
              <a:t>Having imported the </a:t>
            </a:r>
            <a:r>
              <a:rPr lang="en-GB" altLang="en-US" sz="2600" b="1" dirty="0" err="1"/>
              <a:t>util</a:t>
            </a:r>
            <a:r>
              <a:rPr lang="en-GB" altLang="en-US" sz="2600" dirty="0"/>
              <a:t> package, you will need to write the following instruction in your program. </a:t>
            </a:r>
            <a:endParaRPr lang="en-IE" altLang="en-US" sz="2600" dirty="0"/>
          </a:p>
          <a:p>
            <a:pPr eaLnBrk="1" hangingPunct="1">
              <a:buFont typeface="Wingdings" pitchFamily="2" charset="2"/>
              <a:buNone/>
            </a:pPr>
            <a:r>
              <a:rPr lang="en-IE" altLang="en-US" sz="2600" dirty="0"/>
              <a:t>		</a:t>
            </a:r>
            <a:r>
              <a:rPr lang="en-IE" alt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Scanner </a:t>
            </a:r>
            <a:r>
              <a:rPr lang="en-IE" altLang="en-US" sz="2400" b="1" dirty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input</a:t>
            </a:r>
            <a:r>
              <a:rPr lang="en-IE" alt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= new Scanner(System.in);</a:t>
            </a:r>
          </a:p>
          <a:p>
            <a:pPr eaLnBrk="1" hangingPunct="1">
              <a:buFont typeface="Wingdings" pitchFamily="2" charset="2"/>
              <a:buNone/>
            </a:pPr>
            <a:endParaRPr lang="en-IE" alt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C4220-7230-40BB-8C08-637AF55243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41157"/>
          <a:stretch/>
        </p:blipFill>
        <p:spPr>
          <a:xfrm>
            <a:off x="2209800" y="3790858"/>
            <a:ext cx="8001000" cy="2667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Donut 4"/>
          <p:cNvSpPr/>
          <p:nvPr/>
        </p:nvSpPr>
        <p:spPr>
          <a:xfrm flipV="1">
            <a:off x="2971800" y="6096000"/>
            <a:ext cx="6248400" cy="38100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98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C4220-7230-40BB-8C08-637AF55243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41157"/>
          <a:stretch/>
        </p:blipFill>
        <p:spPr>
          <a:xfrm>
            <a:off x="2209800" y="3790858"/>
            <a:ext cx="8001000" cy="2667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Donut 4"/>
          <p:cNvSpPr/>
          <p:nvPr/>
        </p:nvSpPr>
        <p:spPr>
          <a:xfrm flipV="1">
            <a:off x="2971800" y="6096000"/>
            <a:ext cx="6248400" cy="38100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981200" y="1676400"/>
            <a:ext cx="8229600" cy="1828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en-GB" altLang="en-US" sz="2600" dirty="0"/>
              <a:t>This declares a Scanner </a:t>
            </a:r>
            <a:r>
              <a:rPr lang="en-GB" altLang="en-US" sz="2600" b="1" dirty="0"/>
              <a:t>object</a:t>
            </a:r>
            <a:r>
              <a:rPr lang="en-GB" altLang="en-US" sz="2600" dirty="0"/>
              <a:t> called </a:t>
            </a:r>
            <a:r>
              <a:rPr lang="en-GB" altLang="en-US" sz="2600" b="1" dirty="0">
                <a:solidFill>
                  <a:srgbClr val="FF0000"/>
                </a:solidFill>
              </a:rPr>
              <a:t>input</a:t>
            </a:r>
            <a:r>
              <a:rPr lang="en-GB" altLang="en-US" sz="2600" dirty="0"/>
              <a:t> </a:t>
            </a:r>
            <a:br>
              <a:rPr lang="en-GB" altLang="en-US" sz="2600" dirty="0"/>
            </a:br>
            <a:r>
              <a:rPr lang="en-GB" altLang="en-US" sz="2600" dirty="0"/>
              <a:t>(you can name this object anything you wish).</a:t>
            </a:r>
            <a:br>
              <a:rPr lang="en-GB" altLang="en-US" sz="2600" dirty="0"/>
            </a:br>
            <a:endParaRPr lang="en-US" altLang="en-US" sz="2600" dirty="0"/>
          </a:p>
          <a:p>
            <a:pPr>
              <a:spcBef>
                <a:spcPts val="0"/>
              </a:spcBef>
            </a:pPr>
            <a:r>
              <a:rPr lang="en-IE" altLang="en-US" sz="2600" dirty="0"/>
              <a:t>You must have this instruction to be able to call the methods in the Scanner class.</a:t>
            </a:r>
          </a:p>
          <a:p>
            <a:pPr eaLnBrk="1" hangingPunct="1">
              <a:buFont typeface="Wingdings" pitchFamily="2" charset="2"/>
              <a:buNone/>
            </a:pPr>
            <a:endParaRPr lang="en-IE" altLang="en-US" dirty="0"/>
          </a:p>
        </p:txBody>
      </p:sp>
    </p:spTree>
    <p:extLst>
      <p:ext uri="{BB962C8B-B14F-4D97-AF65-F5344CB8AC3E}">
        <p14:creationId xmlns:p14="http://schemas.microsoft.com/office/powerpoint/2010/main" val="86523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Input in Java: the </a:t>
            </a:r>
            <a:r>
              <a:rPr lang="en-GB" altLang="en-US" b="1" dirty="0"/>
              <a:t>Scanner</a:t>
            </a:r>
            <a:r>
              <a:rPr lang="en-GB" altLang="en-US" i="1" dirty="0"/>
              <a:t> </a:t>
            </a:r>
            <a:r>
              <a:rPr lang="en-GB" altLang="en-US" dirty="0"/>
              <a:t>Class</a:t>
            </a:r>
            <a:endParaRPr lang="en-IE" altLang="en-US" dirty="0"/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9601200" cy="4852988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400" dirty="0"/>
              <a:t>Now that a Scanner object is set up, we can use all the </a:t>
            </a:r>
            <a:r>
              <a:rPr lang="en-GB" altLang="en-US" sz="2400" b="1" dirty="0"/>
              <a:t>input method</a:t>
            </a:r>
            <a:r>
              <a:rPr lang="en-GB" altLang="en-US" sz="2400" dirty="0"/>
              <a:t>s </a:t>
            </a:r>
            <a:br>
              <a:rPr lang="en-GB" altLang="en-US" sz="2400" dirty="0"/>
            </a:br>
            <a:r>
              <a:rPr lang="en-GB" altLang="en-US" sz="2400" dirty="0"/>
              <a:t>that have been defined in the Scanner class. </a:t>
            </a:r>
            <a:br>
              <a:rPr lang="en-GB" altLang="en-US" sz="2400" dirty="0"/>
            </a:br>
            <a:endParaRPr lang="en-GB" altLang="en-US" sz="2400" dirty="0"/>
          </a:p>
          <a:p>
            <a:pPr eaLnBrk="1" hangingPunct="1"/>
            <a:r>
              <a:rPr lang="en-IE" altLang="en-US" sz="2400" dirty="0"/>
              <a:t>There are </a:t>
            </a:r>
            <a:r>
              <a:rPr lang="en-IE" altLang="en-US" sz="2400" b="1" dirty="0"/>
              <a:t>methods</a:t>
            </a:r>
            <a:r>
              <a:rPr lang="en-IE" altLang="en-US" sz="2400" dirty="0"/>
              <a:t> to take in:</a:t>
            </a:r>
          </a:p>
          <a:p>
            <a:pPr eaLnBrk="1" hangingPunct="1"/>
            <a:endParaRPr lang="en-IE" altLang="en-US" sz="2400" dirty="0"/>
          </a:p>
          <a:p>
            <a:pPr eaLnBrk="1" hangingPunct="1"/>
            <a:endParaRPr lang="en-IE" altLang="en-US" sz="20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99776E3-1E74-4435-A606-23D2A5092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456123"/>
              </p:ext>
            </p:extLst>
          </p:nvPr>
        </p:nvGraphicFramePr>
        <p:xfrm>
          <a:off x="1949885" y="3581400"/>
          <a:ext cx="7282869" cy="2327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6876">
                  <a:extLst>
                    <a:ext uri="{9D8B030D-6E8A-4147-A177-3AD203B41FA5}">
                      <a16:colId xmlns:a16="http://schemas.microsoft.com/office/drawing/2014/main" val="4229874743"/>
                    </a:ext>
                  </a:extLst>
                </a:gridCol>
                <a:gridCol w="4325993">
                  <a:extLst>
                    <a:ext uri="{9D8B030D-6E8A-4147-A177-3AD203B41FA5}">
                      <a16:colId xmlns:a16="http://schemas.microsoft.com/office/drawing/2014/main" val="1553790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altLang="en-US" sz="2400" dirty="0" err="1"/>
                        <a:t>ints</a:t>
                      </a:r>
                      <a:endParaRPr lang="en-IE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GB" sz="2400" b="1" dirty="0" err="1">
                          <a:solidFill>
                            <a:srgbClr val="0070C0"/>
                          </a:solidFill>
                        </a:rPr>
                        <a:t>nextInt</a:t>
                      </a:r>
                      <a:r>
                        <a:rPr lang="en-GB" sz="2400" b="1" dirty="0">
                          <a:solidFill>
                            <a:srgbClr val="0070C0"/>
                          </a:solidFill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18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altLang="en-US" sz="2400" dirty="0"/>
                        <a:t>doubles</a:t>
                      </a:r>
                      <a:endParaRPr lang="en-VI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GB" sz="2400" b="1" dirty="0" err="1">
                          <a:solidFill>
                            <a:srgbClr val="0070C0"/>
                          </a:solidFill>
                        </a:rPr>
                        <a:t>nextDouble</a:t>
                      </a:r>
                      <a:r>
                        <a:rPr lang="en-GB" sz="2400" b="1" dirty="0">
                          <a:solidFill>
                            <a:srgbClr val="0070C0"/>
                          </a:solidFill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657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Strings</a:t>
                      </a:r>
                      <a:endParaRPr lang="en-VI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GB" sz="2400" b="1" dirty="0" err="1">
                          <a:solidFill>
                            <a:srgbClr val="0070C0"/>
                          </a:solidFill>
                        </a:rPr>
                        <a:t>nextLine</a:t>
                      </a:r>
                      <a:r>
                        <a:rPr lang="en-GB" sz="2400" b="1" dirty="0">
                          <a:solidFill>
                            <a:srgbClr val="0070C0"/>
                          </a:solidFill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852803"/>
                  </a:ext>
                </a:extLst>
              </a:tr>
              <a:tr h="498605">
                <a:tc>
                  <a:txBody>
                    <a:bodyPr/>
                    <a:lstStyle/>
                    <a:p>
                      <a:r>
                        <a:rPr lang="en-GB" sz="2400" dirty="0"/>
                        <a:t>chars</a:t>
                      </a:r>
                      <a:endParaRPr lang="en-VI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rgbClr val="0070C0"/>
                          </a:solidFill>
                        </a:rPr>
                        <a:t>.next().</a:t>
                      </a:r>
                      <a:r>
                        <a:rPr lang="en-GB" sz="2400" b="1" dirty="0" err="1">
                          <a:solidFill>
                            <a:srgbClr val="0070C0"/>
                          </a:solidFill>
                        </a:rPr>
                        <a:t>charAt</a:t>
                      </a:r>
                      <a:r>
                        <a:rPr lang="en-GB" sz="2400" b="1" dirty="0">
                          <a:solidFill>
                            <a:srgbClr val="0070C0"/>
                          </a:solidFill>
                        </a:rPr>
                        <a:t>(0)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6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etc…</a:t>
                      </a:r>
                      <a:endParaRPr lang="en-VI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See API docs for more</a:t>
                      </a:r>
                      <a:endParaRPr lang="en-VI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422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90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Shop V1.0 -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9" y="1752601"/>
            <a:ext cx="3810000" cy="4525963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product:</a:t>
            </a:r>
          </a:p>
          <a:p>
            <a:pPr lvl="1"/>
            <a:r>
              <a:rPr lang="en-IE" dirty="0"/>
              <a:t>name </a:t>
            </a:r>
          </a:p>
          <a:p>
            <a:pPr lvl="1"/>
            <a:r>
              <a:rPr lang="en-IE" dirty="0"/>
              <a:t>code </a:t>
            </a:r>
          </a:p>
          <a:p>
            <a:pPr lvl="1"/>
            <a:r>
              <a:rPr lang="en-IE" dirty="0"/>
              <a:t>unit cost </a:t>
            </a:r>
          </a:p>
          <a:p>
            <a:pPr lvl="1"/>
            <a:r>
              <a:rPr lang="en-IE" dirty="0"/>
              <a:t>in the current product line or not?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057400" y="17526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114800" y="2286000"/>
            <a:ext cx="1104900" cy="24384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4191000" y="4724400"/>
            <a:ext cx="2057400" cy="10668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873911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Shop V1.0 - </a:t>
            </a:r>
            <a:r>
              <a:rPr lang="en-IE" b="1" dirty="0">
                <a:solidFill>
                  <a:srgbClr val="F79646"/>
                </a:solidFill>
              </a:rPr>
              <a:t>Driver</a:t>
            </a:r>
            <a:endParaRPr lang="en-IE" dirty="0">
              <a:solidFill>
                <a:srgbClr val="F796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9601200" cy="5257800"/>
          </a:xfrm>
        </p:spPr>
        <p:txBody>
          <a:bodyPr>
            <a:normAutofit/>
          </a:bodyPr>
          <a:lstStyle/>
          <a:p>
            <a:r>
              <a:rPr lang="en-IE" sz="2800" dirty="0"/>
              <a:t>The </a:t>
            </a:r>
            <a:r>
              <a:rPr lang="en-IE" sz="2800" b="1" dirty="0">
                <a:solidFill>
                  <a:schemeClr val="accent6"/>
                </a:solidFill>
              </a:rPr>
              <a:t>Driver</a:t>
            </a:r>
            <a:r>
              <a:rPr lang="en-IE" sz="2800" dirty="0">
                <a:solidFill>
                  <a:schemeClr val="accent6"/>
                </a:solidFill>
              </a:rPr>
              <a:t> </a:t>
            </a:r>
            <a:r>
              <a:rPr lang="en-IE" sz="2800" dirty="0"/>
              <a:t>class </a:t>
            </a:r>
            <a:br>
              <a:rPr lang="en-IE" sz="2800" dirty="0"/>
            </a:br>
            <a:endParaRPr lang="en-IE" sz="2800" dirty="0"/>
          </a:p>
          <a:p>
            <a:pPr lvl="1"/>
            <a:r>
              <a:rPr lang="en-IE" dirty="0"/>
              <a:t>has the </a:t>
            </a:r>
            <a:r>
              <a:rPr lang="en-IE" b="1" dirty="0"/>
              <a:t>main()</a:t>
            </a:r>
            <a:r>
              <a:rPr lang="en-IE" dirty="0"/>
              <a:t> method. </a:t>
            </a:r>
            <a:br>
              <a:rPr lang="en-IE" dirty="0"/>
            </a:br>
            <a:r>
              <a:rPr lang="en-IE" dirty="0"/>
              <a:t> </a:t>
            </a:r>
          </a:p>
          <a:p>
            <a:pPr lvl="1"/>
            <a:r>
              <a:rPr lang="en-IE" b="1" dirty="0"/>
              <a:t>reads</a:t>
            </a:r>
            <a:r>
              <a:rPr lang="en-IE" dirty="0"/>
              <a:t> the product details from the user (via the console)</a:t>
            </a:r>
            <a:br>
              <a:rPr lang="en-IE" dirty="0"/>
            </a:br>
            <a:endParaRPr lang="en-IE" dirty="0"/>
          </a:p>
          <a:p>
            <a:pPr lvl="1"/>
            <a:r>
              <a:rPr lang="en-IE" b="1" dirty="0"/>
              <a:t>creates</a:t>
            </a:r>
            <a:r>
              <a:rPr lang="en-IE" dirty="0"/>
              <a:t> a new Product object. </a:t>
            </a:r>
            <a:br>
              <a:rPr lang="en-IE" dirty="0"/>
            </a:br>
            <a:r>
              <a:rPr lang="en-IE" dirty="0"/>
              <a:t> </a:t>
            </a:r>
          </a:p>
          <a:p>
            <a:pPr lvl="1"/>
            <a:r>
              <a:rPr lang="en-IE" b="1" dirty="0"/>
              <a:t>prints</a:t>
            </a:r>
            <a:r>
              <a:rPr lang="en-IE" dirty="0"/>
              <a:t> the product object</a:t>
            </a:r>
            <a:br>
              <a:rPr lang="en-IE" dirty="0"/>
            </a:br>
            <a:r>
              <a:rPr lang="en-IE" dirty="0"/>
              <a:t>(to the console)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7848600" y="1775619"/>
            <a:ext cx="2057400" cy="1066800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9601200" y="51054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9906000" y="2309020"/>
            <a:ext cx="723900" cy="279638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706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>
                <a:solidFill>
                  <a:srgbClr val="F79646"/>
                </a:solidFill>
              </a:rPr>
              <a:t>Driver</a:t>
            </a:r>
            <a:endParaRPr lang="en-IE" dirty="0">
              <a:solidFill>
                <a:srgbClr val="F796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97540"/>
            <a:ext cx="8077200" cy="5105400"/>
          </a:xfrm>
        </p:spPr>
        <p:txBody>
          <a:bodyPr>
            <a:normAutofit/>
          </a:bodyPr>
          <a:lstStyle/>
          <a:p>
            <a:r>
              <a:rPr lang="en-IE" sz="2800" dirty="0"/>
              <a:t>We want to use </a:t>
            </a:r>
            <a:r>
              <a:rPr lang="en-IE" sz="2800" b="1" dirty="0"/>
              <a:t>Scanner </a:t>
            </a:r>
            <a:r>
              <a:rPr lang="en-IE" sz="2800" dirty="0"/>
              <a:t>to </a:t>
            </a:r>
            <a:r>
              <a:rPr lang="en-IE" sz="2800" b="1" dirty="0">
                <a:solidFill>
                  <a:srgbClr val="FF0000"/>
                </a:solidFill>
              </a:rPr>
              <a:t>read in </a:t>
            </a:r>
            <a:br>
              <a:rPr lang="en-IE" sz="2800" b="1" dirty="0">
                <a:solidFill>
                  <a:srgbClr val="FF0000"/>
                </a:solidFill>
              </a:rPr>
            </a:br>
            <a:r>
              <a:rPr lang="en-IE" sz="2800" dirty="0"/>
              <a:t>product details from the console.</a:t>
            </a:r>
            <a:br>
              <a:rPr lang="en-IE" sz="2800" dirty="0"/>
            </a:br>
            <a:endParaRPr lang="en-IE" sz="2800" dirty="0"/>
          </a:p>
          <a:p>
            <a:r>
              <a:rPr lang="en-IE" sz="2800" dirty="0"/>
              <a:t>We will then </a:t>
            </a:r>
            <a:r>
              <a:rPr lang="en-IE" sz="2800" b="1" dirty="0"/>
              <a:t>store</a:t>
            </a:r>
            <a:r>
              <a:rPr lang="en-IE" sz="2800" dirty="0"/>
              <a:t> these details in a </a:t>
            </a:r>
            <a:r>
              <a:rPr lang="en-IE" sz="2800" b="1" dirty="0"/>
              <a:t>Product object.</a:t>
            </a:r>
          </a:p>
          <a:p>
            <a:endParaRPr lang="en-IE" sz="2800" b="1" dirty="0"/>
          </a:p>
          <a:p>
            <a:r>
              <a:rPr lang="en-IE" sz="2800" b="1" dirty="0"/>
              <a:t>And then print</a:t>
            </a:r>
            <a:r>
              <a:rPr lang="en-IE" sz="2800" dirty="0"/>
              <a:t> these details back to the console.</a:t>
            </a:r>
          </a:p>
        </p:txBody>
      </p:sp>
      <p:sp>
        <p:nvSpPr>
          <p:cNvPr id="7" name="Arrow: Up 2">
            <a:extLst>
              <a:ext uri="{FF2B5EF4-FFF2-40B4-BE49-F238E27FC236}">
                <a16:creationId xmlns:a16="http://schemas.microsoft.com/office/drawing/2014/main" id="{EE6A2D7C-9DC1-473F-A6B4-0FEA0755F852}"/>
              </a:ext>
            </a:extLst>
          </p:cNvPr>
          <p:cNvSpPr/>
          <p:nvPr/>
        </p:nvSpPr>
        <p:spPr>
          <a:xfrm rot="5400000">
            <a:off x="6957164" y="2042319"/>
            <a:ext cx="457200" cy="533400"/>
          </a:xfrm>
          <a:prstGeom prst="upArrow">
            <a:avLst/>
          </a:prstGeom>
          <a:solidFill>
            <a:srgbClr val="F796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EE5285-C050-4AAF-901C-9691BF467D05}"/>
              </a:ext>
            </a:extLst>
          </p:cNvPr>
          <p:cNvSpPr/>
          <p:nvPr/>
        </p:nvSpPr>
        <p:spPr>
          <a:xfrm>
            <a:off x="7848600" y="1775619"/>
            <a:ext cx="2057400" cy="1066800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E5007C-937E-472F-B7C1-87F56BA17297}"/>
              </a:ext>
            </a:extLst>
          </p:cNvPr>
          <p:cNvSpPr/>
          <p:nvPr/>
        </p:nvSpPr>
        <p:spPr>
          <a:xfrm>
            <a:off x="9601200" y="51054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Product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5FCA5D8-A8BD-461C-841C-A4C767C9F341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9906000" y="2309020"/>
            <a:ext cx="723900" cy="279638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66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B3F0-9713-44E8-AEE4-128FDC6C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Shop V1.0: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F0F14-42AE-486E-8972-EE8D5E160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676401"/>
            <a:ext cx="4826672" cy="4779429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F79139-BDA4-498E-82CA-735FBFE064C4}"/>
              </a:ext>
            </a:extLst>
          </p:cNvPr>
          <p:cNvSpPr/>
          <p:nvPr/>
        </p:nvSpPr>
        <p:spPr>
          <a:xfrm>
            <a:off x="4038600" y="1905000"/>
            <a:ext cx="41910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4038600" y="5105400"/>
            <a:ext cx="4191000" cy="1295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1726528" y="1920017"/>
            <a:ext cx="16764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constructor</a:t>
            </a:r>
            <a:r>
              <a:rPr lang="en-IE" sz="2000" dirty="0"/>
              <a:t> 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3402928" y="2095500"/>
            <a:ext cx="635672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26528" y="5420069"/>
            <a:ext cx="167640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</a:p>
        </p:txBody>
      </p:sp>
      <p:cxnSp>
        <p:nvCxnSpPr>
          <p:cNvPr id="11" name="Straight Arrow Connector 10"/>
          <p:cNvCxnSpPr>
            <a:cxnSpLocks/>
            <a:stCxn id="10" idx="3"/>
          </p:cNvCxnSpPr>
          <p:nvPr/>
        </p:nvCxnSpPr>
        <p:spPr>
          <a:xfrm>
            <a:off x="3402928" y="5620125"/>
            <a:ext cx="685800" cy="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26528" y="2743048"/>
            <a:ext cx="1676400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/>
              <a:t>getters</a:t>
            </a:r>
            <a:endParaRPr lang="en-IE" sz="2000" dirty="0"/>
          </a:p>
        </p:txBody>
      </p:sp>
      <p:cxnSp>
        <p:nvCxnSpPr>
          <p:cNvPr id="21" name="Straight Arrow Connector 20"/>
          <p:cNvCxnSpPr>
            <a:cxnSpLocks/>
            <a:stCxn id="19" idx="3"/>
            <a:endCxn id="28" idx="1"/>
          </p:cNvCxnSpPr>
          <p:nvPr/>
        </p:nvCxnSpPr>
        <p:spPr>
          <a:xfrm flipV="1">
            <a:off x="3402929" y="2939875"/>
            <a:ext cx="664029" cy="3228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26528" y="3987532"/>
            <a:ext cx="1676400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/>
              <a:t>setters</a:t>
            </a:r>
            <a:endParaRPr lang="en-IE" sz="2000" dirty="0"/>
          </a:p>
        </p:txBody>
      </p:sp>
      <p:cxnSp>
        <p:nvCxnSpPr>
          <p:cNvPr id="23" name="Straight Arrow Connector 22"/>
          <p:cNvCxnSpPr>
            <a:cxnSpLocks/>
            <a:stCxn id="22" idx="3"/>
          </p:cNvCxnSpPr>
          <p:nvPr/>
        </p:nvCxnSpPr>
        <p:spPr>
          <a:xfrm flipV="1">
            <a:off x="3402928" y="4175741"/>
            <a:ext cx="685800" cy="11847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26528" y="4757663"/>
            <a:ext cx="1676400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/>
              <a:t>toString</a:t>
            </a:r>
            <a:endParaRPr lang="en-IE" sz="2000" dirty="0"/>
          </a:p>
        </p:txBody>
      </p:sp>
      <p:cxnSp>
        <p:nvCxnSpPr>
          <p:cNvPr id="25" name="Straight Arrow Connector 24"/>
          <p:cNvCxnSpPr>
            <a:cxnSpLocks/>
            <a:endCxn id="30" idx="1"/>
          </p:cNvCxnSpPr>
          <p:nvPr/>
        </p:nvCxnSpPr>
        <p:spPr>
          <a:xfrm flipV="1">
            <a:off x="3402929" y="4956416"/>
            <a:ext cx="664029" cy="1303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4066958" y="2331014"/>
            <a:ext cx="4162643" cy="12177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9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4066958" y="3603765"/>
            <a:ext cx="4162643" cy="12062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0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4066958" y="4839450"/>
            <a:ext cx="4162643" cy="2339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979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4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3631-64F9-4D30-8889-12143E9E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V1.0: </a:t>
            </a:r>
            <a:r>
              <a:rPr lang="en-IE" b="1" dirty="0">
                <a:solidFill>
                  <a:srgbClr val="FF0000"/>
                </a:solidFill>
              </a:rPr>
              <a:t>Driver</a:t>
            </a:r>
            <a:r>
              <a:rPr lang="en-IE" dirty="0"/>
              <a:t> class…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4E97D-C583-438C-85E3-D85660AE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590801"/>
            <a:ext cx="4857750" cy="2505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752600" y="4343400"/>
            <a:ext cx="167640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3429000" y="4543456"/>
            <a:ext cx="685800" cy="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ame 2"/>
          <p:cNvSpPr/>
          <p:nvPr/>
        </p:nvSpPr>
        <p:spPr>
          <a:xfrm>
            <a:off x="4114800" y="4191000"/>
            <a:ext cx="4629150" cy="838200"/>
          </a:xfrm>
          <a:prstGeom prst="frame">
            <a:avLst>
              <a:gd name="adj1" fmla="val 2514"/>
            </a:avLst>
          </a:prstGeom>
          <a:solidFill>
            <a:srgbClr val="F79646"/>
          </a:solidFill>
          <a:ln>
            <a:solidFill>
              <a:srgbClr val="FA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4114800" y="3384001"/>
            <a:ext cx="4629150" cy="744509"/>
          </a:xfrm>
          <a:prstGeom prst="frame">
            <a:avLst>
              <a:gd name="adj1" fmla="val 2514"/>
            </a:avLst>
          </a:prstGeom>
          <a:solidFill>
            <a:srgbClr val="F79646"/>
          </a:solidFill>
          <a:ln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3485" y="3567008"/>
            <a:ext cx="1676400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methods</a:t>
            </a:r>
            <a:endParaRPr lang="en-IE" sz="2000" dirty="0"/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V="1">
            <a:off x="3439886" y="3765761"/>
            <a:ext cx="664029" cy="1303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63485" y="2966963"/>
            <a:ext cx="1676400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main()</a:t>
            </a:r>
            <a:endParaRPr lang="en-IE" sz="2000" dirty="0"/>
          </a:p>
        </p:txBody>
      </p:sp>
      <p:sp>
        <p:nvSpPr>
          <p:cNvPr id="12" name="Frame 11"/>
          <p:cNvSpPr/>
          <p:nvPr/>
        </p:nvSpPr>
        <p:spPr>
          <a:xfrm>
            <a:off x="4125686" y="3048000"/>
            <a:ext cx="4629150" cy="284193"/>
          </a:xfrm>
          <a:prstGeom prst="frame">
            <a:avLst>
              <a:gd name="adj1" fmla="val 2514"/>
            </a:avLst>
          </a:prstGeom>
          <a:solidFill>
            <a:srgbClr val="F79646"/>
          </a:solidFill>
          <a:ln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3450772" y="3182455"/>
            <a:ext cx="664029" cy="1303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-Point Star 15"/>
          <p:cNvSpPr/>
          <p:nvPr/>
        </p:nvSpPr>
        <p:spPr>
          <a:xfrm>
            <a:off x="8473170" y="3093485"/>
            <a:ext cx="193221" cy="1932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5029200" y="4543455"/>
            <a:ext cx="5334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084523" y="4876800"/>
            <a:ext cx="76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85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686800" cy="1143000"/>
          </a:xfrm>
        </p:spPr>
        <p:txBody>
          <a:bodyPr>
            <a:normAutofit/>
          </a:bodyPr>
          <a:lstStyle/>
          <a:p>
            <a:r>
              <a:rPr lang="en-IE" dirty="0"/>
              <a:t>What the program will look like…</a:t>
            </a:r>
            <a:endParaRPr lang="en-GB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169675-A808-40BF-842B-C26C1D7AD7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" b="16662"/>
          <a:stretch/>
        </p:blipFill>
        <p:spPr>
          <a:xfrm>
            <a:off x="2667000" y="2667000"/>
            <a:ext cx="9064998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04784C68-CC6E-4541-8F3F-A5DCB63FCB81}"/>
              </a:ext>
            </a:extLst>
          </p:cNvPr>
          <p:cNvSpPr/>
          <p:nvPr/>
        </p:nvSpPr>
        <p:spPr>
          <a:xfrm>
            <a:off x="9372600" y="2353565"/>
            <a:ext cx="2061086" cy="461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Console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4571" y="2563380"/>
            <a:ext cx="912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0192" y="2953584"/>
            <a:ext cx="516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771" y="3322770"/>
            <a:ext cx="120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double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2824" y="3738400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>
                <a:solidFill>
                  <a:srgbClr val="FF0000"/>
                </a:solidFill>
              </a:rPr>
              <a:t>boolean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56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3ED432-8A18-4308-9353-5D92CAE5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-76200"/>
            <a:ext cx="8273419" cy="71096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Scanner(System.</a:t>
            </a:r>
            <a:r>
              <a:rPr lang="en-US" altLang="en-US" sz="1200" b="1" i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Driver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.addProduct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//gather the product data from the user and create a new product.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Product Name: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String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Product Code: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Unit Cost: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.nextDouble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"Is this product in your current line (y/n):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|| 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 the product (the toString method is automatically called).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8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6EA4-8D50-471F-9254-F92B354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29361"/>
            <a:ext cx="3409950" cy="17584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2" name="Straight Arrow Connector 21"/>
          <p:cNvCxnSpPr>
            <a:cxnSpLocks/>
          </p:cNvCxnSpPr>
          <p:nvPr/>
        </p:nvCxnSpPr>
        <p:spPr>
          <a:xfrm flipH="1" flipV="1">
            <a:off x="5105400" y="630648"/>
            <a:ext cx="2438400" cy="719219"/>
          </a:xfrm>
          <a:prstGeom prst="straightConnector1">
            <a:avLst/>
          </a:prstGeom>
          <a:ln w="28575">
            <a:solidFill>
              <a:srgbClr val="FA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 flipH="1" flipV="1">
            <a:off x="4452618" y="750882"/>
            <a:ext cx="3091182" cy="841845"/>
          </a:xfrm>
          <a:prstGeom prst="straightConnector1">
            <a:avLst/>
          </a:prstGeom>
          <a:ln w="28575">
            <a:solidFill>
              <a:srgbClr val="FA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ame 25"/>
          <p:cNvSpPr/>
          <p:nvPr/>
        </p:nvSpPr>
        <p:spPr>
          <a:xfrm>
            <a:off x="2047236" y="387788"/>
            <a:ext cx="4852240" cy="457199"/>
          </a:xfrm>
          <a:prstGeom prst="frame">
            <a:avLst>
              <a:gd name="adj1" fmla="val 6681"/>
            </a:avLst>
          </a:prstGeom>
          <a:solidFill>
            <a:srgbClr val="FA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30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3ED432-8A18-4308-9353-5D92CAE5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-76200"/>
            <a:ext cx="8273419" cy="71096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Scanner(System.</a:t>
            </a:r>
            <a:r>
              <a:rPr lang="en-US" altLang="en-US" sz="1200" b="1" i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Driver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.addProduct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//gather the product data from the user and create a new product.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Product Name: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String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Product Code: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Unit Cost: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.nextDouble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"Is this product in your current line (y/n):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|| 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 the product (the toString method is automatically called).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8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6EA4-8D50-471F-9254-F92B354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29361"/>
            <a:ext cx="3409950" cy="17584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Frame 5"/>
          <p:cNvSpPr/>
          <p:nvPr/>
        </p:nvSpPr>
        <p:spPr>
          <a:xfrm>
            <a:off x="2047236" y="930190"/>
            <a:ext cx="4852240" cy="1103701"/>
          </a:xfrm>
          <a:prstGeom prst="frame">
            <a:avLst>
              <a:gd name="adj1" fmla="val 2514"/>
            </a:avLst>
          </a:prstGeom>
          <a:solidFill>
            <a:srgbClr val="FCBAC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6908700" y="511665"/>
            <a:ext cx="635101" cy="418524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29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3ED432-8A18-4308-9353-5D92CAE5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-76200"/>
            <a:ext cx="8273419" cy="71096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Scanner(System.</a:t>
            </a:r>
            <a:r>
              <a:rPr lang="en-US" altLang="en-US" sz="1200" b="1" i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Driver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.addProduct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//gather the product data from the user and create a new product.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Product Name: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String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Product Code: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Unit Cost: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.nextDouble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"Is this product in your current line (y/n):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|| 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 the product (the toString method is automatically called).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8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6EA4-8D50-471F-9254-F92B354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29361"/>
            <a:ext cx="3409950" cy="17584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Frame 7"/>
          <p:cNvSpPr/>
          <p:nvPr/>
        </p:nvSpPr>
        <p:spPr>
          <a:xfrm>
            <a:off x="2047236" y="2086601"/>
            <a:ext cx="7934964" cy="3795455"/>
          </a:xfrm>
          <a:prstGeom prst="frame">
            <a:avLst>
              <a:gd name="adj1" fmla="val 707"/>
            </a:avLst>
          </a:prstGeom>
          <a:solidFill>
            <a:srgbClr val="FCBA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H="1">
            <a:off x="4481194" y="844987"/>
            <a:ext cx="3062607" cy="1600899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01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GB" dirty="0"/>
              <a:t>The </a:t>
            </a:r>
            <a:r>
              <a:rPr lang="en-GB" b="1" dirty="0" err="1"/>
              <a:t>addProduct</a:t>
            </a:r>
            <a:r>
              <a:rPr lang="en-GB" b="1" dirty="0"/>
              <a:t>() </a:t>
            </a:r>
            <a:r>
              <a:rPr lang="en-GB" dirty="0"/>
              <a:t>console output…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6946" y="5105401"/>
            <a:ext cx="7074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Now, Let’s Look at how this is done</a:t>
            </a:r>
            <a:r>
              <a:rPr lang="mr-IN" sz="3600" dirty="0"/>
              <a:t>…</a:t>
            </a:r>
            <a:endParaRPr lang="en-GB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DA2B2-833D-49A6-8C68-48CC271E62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" b="16662"/>
          <a:stretch/>
        </p:blipFill>
        <p:spPr>
          <a:xfrm>
            <a:off x="2696227" y="2660125"/>
            <a:ext cx="9064998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0421564C-257B-446A-B32D-09846C78898F}"/>
              </a:ext>
            </a:extLst>
          </p:cNvPr>
          <p:cNvSpPr/>
          <p:nvPr/>
        </p:nvSpPr>
        <p:spPr>
          <a:xfrm>
            <a:off x="9372600" y="2353565"/>
            <a:ext cx="2061086" cy="461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Console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D19D8B-8E1F-46D6-8BC6-7717572024AD}"/>
              </a:ext>
            </a:extLst>
          </p:cNvPr>
          <p:cNvSpPr txBox="1"/>
          <p:nvPr/>
        </p:nvSpPr>
        <p:spPr>
          <a:xfrm>
            <a:off x="1754571" y="2563380"/>
            <a:ext cx="912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String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ED9A0-1D66-4943-ADDA-A08AD70FC74F}"/>
              </a:ext>
            </a:extLst>
          </p:cNvPr>
          <p:cNvSpPr txBox="1"/>
          <p:nvPr/>
        </p:nvSpPr>
        <p:spPr>
          <a:xfrm>
            <a:off x="2150192" y="2953584"/>
            <a:ext cx="516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5E619-E30B-4AFD-A1BC-3BE884964696}"/>
              </a:ext>
            </a:extLst>
          </p:cNvPr>
          <p:cNvSpPr txBox="1"/>
          <p:nvPr/>
        </p:nvSpPr>
        <p:spPr>
          <a:xfrm>
            <a:off x="1460771" y="3322770"/>
            <a:ext cx="120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double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E188D-8244-489A-A89E-55FD70B70108}"/>
              </a:ext>
            </a:extLst>
          </p:cNvPr>
          <p:cNvSpPr txBox="1"/>
          <p:nvPr/>
        </p:nvSpPr>
        <p:spPr>
          <a:xfrm>
            <a:off x="1462824" y="3738400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>
                <a:solidFill>
                  <a:srgbClr val="FF0000"/>
                </a:solidFill>
              </a:rPr>
              <a:t>boolean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25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ShopV1.0 – read </a:t>
            </a:r>
            <a:r>
              <a:rPr lang="en-IE" sz="3600" dirty="0">
                <a:solidFill>
                  <a:srgbClr val="FF0000"/>
                </a:solidFill>
              </a:rPr>
              <a:t>Product Name (</a:t>
            </a:r>
            <a:r>
              <a:rPr lang="en-IE" sz="3600" b="1" dirty="0">
                <a:solidFill>
                  <a:srgbClr val="FF0000"/>
                </a:solidFill>
              </a:rPr>
              <a:t>String</a:t>
            </a:r>
            <a:r>
              <a:rPr lang="en-IE" sz="3600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3D59D8-1427-463F-B004-CBC2B2E6D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7533" b="81090"/>
          <a:stretch/>
        </p:blipFill>
        <p:spPr>
          <a:xfrm>
            <a:off x="2286000" y="1828800"/>
            <a:ext cx="7454714" cy="762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BA18FB-A6E0-4C74-AA3C-525C3BFBCC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030" t="49295" b="1"/>
          <a:stretch/>
        </p:blipFill>
        <p:spPr>
          <a:xfrm>
            <a:off x="2319619" y="5181600"/>
            <a:ext cx="7800975" cy="685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6555CA2B-E47F-4397-922A-50DB7F2DE3F6}"/>
              </a:ext>
            </a:extLst>
          </p:cNvPr>
          <p:cNvSpPr/>
          <p:nvPr/>
        </p:nvSpPr>
        <p:spPr>
          <a:xfrm>
            <a:off x="5715000" y="3048000"/>
            <a:ext cx="838200" cy="990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4EC03C-2856-460A-A4E5-E066A311BBE2}"/>
              </a:ext>
            </a:extLst>
          </p:cNvPr>
          <p:cNvSpPr/>
          <p:nvPr/>
        </p:nvSpPr>
        <p:spPr>
          <a:xfrm>
            <a:off x="8382000" y="4876800"/>
            <a:ext cx="18288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Console Output</a:t>
            </a:r>
          </a:p>
        </p:txBody>
      </p:sp>
      <p:sp>
        <p:nvSpPr>
          <p:cNvPr id="7" name="Donut 6"/>
          <p:cNvSpPr/>
          <p:nvPr/>
        </p:nvSpPr>
        <p:spPr>
          <a:xfrm flipV="1">
            <a:off x="5257800" y="2179638"/>
            <a:ext cx="3276600" cy="41116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94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ShopV1.0 – read </a:t>
            </a:r>
            <a:r>
              <a:rPr lang="en-IE" dirty="0">
                <a:solidFill>
                  <a:srgbClr val="FF0000"/>
                </a:solidFill>
              </a:rPr>
              <a:t>Product Code (</a:t>
            </a:r>
            <a:r>
              <a:rPr lang="en-IE" b="1" dirty="0" err="1">
                <a:solidFill>
                  <a:srgbClr val="FF0000"/>
                </a:solidFill>
              </a:rPr>
              <a:t>int</a:t>
            </a:r>
            <a:r>
              <a:rPr lang="en-IE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1F51221-4C43-4F47-A4D7-9C5AEB4439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910" r="27533" b="64071"/>
          <a:stretch/>
        </p:blipFill>
        <p:spPr>
          <a:xfrm>
            <a:off x="2286000" y="2590800"/>
            <a:ext cx="7454714" cy="685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500BEB3B-E9CC-4815-869D-F1A0941E0FCA}"/>
              </a:ext>
            </a:extLst>
          </p:cNvPr>
          <p:cNvSpPr/>
          <p:nvPr/>
        </p:nvSpPr>
        <p:spPr>
          <a:xfrm>
            <a:off x="5715000" y="3657600"/>
            <a:ext cx="838200" cy="990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8E67A4-656B-44E2-BD89-7EEE193491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760"/>
          <a:stretch/>
        </p:blipFill>
        <p:spPr>
          <a:xfrm>
            <a:off x="2209800" y="5257800"/>
            <a:ext cx="8001000" cy="590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D20E09-7BD8-45EB-B68B-0AB4DBD12BC7}"/>
              </a:ext>
            </a:extLst>
          </p:cNvPr>
          <p:cNvSpPr/>
          <p:nvPr/>
        </p:nvSpPr>
        <p:spPr>
          <a:xfrm>
            <a:off x="8458200" y="4953000"/>
            <a:ext cx="18288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Console Output</a:t>
            </a:r>
          </a:p>
        </p:txBody>
      </p:sp>
      <p:sp>
        <p:nvSpPr>
          <p:cNvPr id="11" name="Donut 10"/>
          <p:cNvSpPr/>
          <p:nvPr/>
        </p:nvSpPr>
        <p:spPr>
          <a:xfrm flipV="1">
            <a:off x="4724400" y="2895818"/>
            <a:ext cx="3276600" cy="41116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35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ShopV1.0 – read </a:t>
            </a:r>
            <a:r>
              <a:rPr lang="en-IE" dirty="0">
                <a:solidFill>
                  <a:srgbClr val="FF0000"/>
                </a:solidFill>
              </a:rPr>
              <a:t>Unit Cost (</a:t>
            </a:r>
            <a:r>
              <a:rPr lang="en-IE" b="1" dirty="0">
                <a:solidFill>
                  <a:srgbClr val="FF0000"/>
                </a:solidFill>
              </a:rPr>
              <a:t>double</a:t>
            </a:r>
            <a:r>
              <a:rPr lang="en-IE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EF82E51-5D60-45C1-B6B4-F9C1A5EE22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930" r="28149" b="47051"/>
          <a:stretch/>
        </p:blipFill>
        <p:spPr>
          <a:xfrm>
            <a:off x="2286000" y="3276600"/>
            <a:ext cx="7391400" cy="685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3C5055C4-734F-4A25-A495-AA5651845A16}"/>
              </a:ext>
            </a:extLst>
          </p:cNvPr>
          <p:cNvSpPr/>
          <p:nvPr/>
        </p:nvSpPr>
        <p:spPr>
          <a:xfrm>
            <a:off x="5638800" y="4038600"/>
            <a:ext cx="838200" cy="990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C82C1-7AFD-48A6-9F2F-33666B06C1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500"/>
          <a:stretch/>
        </p:blipFill>
        <p:spPr>
          <a:xfrm>
            <a:off x="2895600" y="5105400"/>
            <a:ext cx="6583680" cy="457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CEF97B-3204-4E08-930E-655530A279C8}"/>
              </a:ext>
            </a:extLst>
          </p:cNvPr>
          <p:cNvSpPr/>
          <p:nvPr/>
        </p:nvSpPr>
        <p:spPr>
          <a:xfrm>
            <a:off x="7772400" y="4876800"/>
            <a:ext cx="18288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Console Output</a:t>
            </a:r>
          </a:p>
        </p:txBody>
      </p:sp>
      <p:sp>
        <p:nvSpPr>
          <p:cNvPr id="11" name="Donut 10"/>
          <p:cNvSpPr/>
          <p:nvPr/>
        </p:nvSpPr>
        <p:spPr>
          <a:xfrm flipV="1">
            <a:off x="4686300" y="3619500"/>
            <a:ext cx="3771900" cy="41910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01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ShopV1.0 – </a:t>
            </a:r>
            <a:r>
              <a:rPr lang="en-IE" sz="3600" dirty="0">
                <a:solidFill>
                  <a:srgbClr val="FF0000"/>
                </a:solidFill>
              </a:rPr>
              <a:t>In Current Product Line? (</a:t>
            </a:r>
            <a:r>
              <a:rPr lang="en-IE" sz="3600" b="1" dirty="0" err="1">
                <a:solidFill>
                  <a:srgbClr val="FF0000"/>
                </a:solidFill>
              </a:rPr>
              <a:t>boolean</a:t>
            </a:r>
            <a:r>
              <a:rPr lang="en-IE" sz="3600" dirty="0">
                <a:solidFill>
                  <a:srgbClr val="FF0000"/>
                </a:solidFill>
              </a:rPr>
              <a:t>)</a:t>
            </a:r>
            <a:endParaRPr lang="en-IE" dirty="0">
              <a:solidFill>
                <a:srgbClr val="FF0000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40FF9B93-72C8-48D4-BFA6-44D3081FD4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602" r="742" b="-223"/>
          <a:stretch/>
        </p:blipFill>
        <p:spPr>
          <a:xfrm>
            <a:off x="2209800" y="3276600"/>
            <a:ext cx="7924800" cy="1458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16A9B25D-EEE1-4CF4-9B6A-538AE5B09D4A}"/>
              </a:ext>
            </a:extLst>
          </p:cNvPr>
          <p:cNvSpPr/>
          <p:nvPr/>
        </p:nvSpPr>
        <p:spPr>
          <a:xfrm>
            <a:off x="6172200" y="4495800"/>
            <a:ext cx="838200" cy="990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169675-A808-40BF-842B-C26C1D7AD7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726" b="16664"/>
          <a:stretch/>
        </p:blipFill>
        <p:spPr>
          <a:xfrm>
            <a:off x="2438400" y="5638800"/>
            <a:ext cx="6043332" cy="3150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784C68-CC6E-4541-8F3F-A5DCB63FCB81}"/>
              </a:ext>
            </a:extLst>
          </p:cNvPr>
          <p:cNvSpPr/>
          <p:nvPr/>
        </p:nvSpPr>
        <p:spPr>
          <a:xfrm>
            <a:off x="7696200" y="5334000"/>
            <a:ext cx="18288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Console Output</a:t>
            </a:r>
          </a:p>
        </p:txBody>
      </p:sp>
      <p:sp>
        <p:nvSpPr>
          <p:cNvPr id="11" name="Donut 10"/>
          <p:cNvSpPr/>
          <p:nvPr/>
        </p:nvSpPr>
        <p:spPr>
          <a:xfrm flipV="1">
            <a:off x="4533900" y="3500355"/>
            <a:ext cx="3276600" cy="41116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09801" y="1740750"/>
            <a:ext cx="7383753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/>
              <a:t>For </a:t>
            </a:r>
            <a:r>
              <a:rPr lang="en-GB" sz="2800" b="1" dirty="0" err="1"/>
              <a:t>booleans</a:t>
            </a:r>
            <a:r>
              <a:rPr lang="en-GB" sz="2800" dirty="0"/>
              <a:t>, take in a </a:t>
            </a:r>
            <a:r>
              <a:rPr lang="en-GB" sz="2800" b="1" dirty="0"/>
              <a:t>char</a:t>
            </a:r>
            <a:r>
              <a:rPr lang="en-GB" sz="2800" dirty="0"/>
              <a:t>acter first, then test it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168935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DEAC-FDB3-478D-8843-9A66C1C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ShopV1.0 – </a:t>
            </a:r>
            <a:r>
              <a:rPr lang="en-IE" dirty="0">
                <a:solidFill>
                  <a:srgbClr val="FF0000"/>
                </a:solidFill>
              </a:rPr>
              <a:t>Create Product Object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844D3C-3447-46F0-9E4E-FCDC1C2B0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612" y="1676401"/>
            <a:ext cx="8077200" cy="31501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174428-7870-4183-AE2B-64B3C59C25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953"/>
          <a:stretch/>
        </p:blipFill>
        <p:spPr>
          <a:xfrm>
            <a:off x="6324600" y="5085342"/>
            <a:ext cx="4293272" cy="183003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9855B6-7C80-456A-B3CB-14E301F41D1E}"/>
              </a:ext>
            </a:extLst>
          </p:cNvPr>
          <p:cNvSpPr/>
          <p:nvPr/>
        </p:nvSpPr>
        <p:spPr>
          <a:xfrm>
            <a:off x="6711551" y="5334001"/>
            <a:ext cx="3727849" cy="3386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DBE9732-44D1-432D-8360-4FF23DA0F43E}"/>
              </a:ext>
            </a:extLst>
          </p:cNvPr>
          <p:cNvSpPr/>
          <p:nvPr/>
        </p:nvSpPr>
        <p:spPr>
          <a:xfrm flipV="1">
            <a:off x="1905000" y="4422561"/>
            <a:ext cx="8382000" cy="404019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TextBox 3"/>
          <p:cNvSpPr txBox="1"/>
          <p:nvPr/>
        </p:nvSpPr>
        <p:spPr>
          <a:xfrm>
            <a:off x="1905001" y="5536476"/>
            <a:ext cx="4111703" cy="707886"/>
          </a:xfrm>
          <a:prstGeom prst="rect">
            <a:avLst/>
          </a:prstGeom>
          <a:gradFill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Using the </a:t>
            </a:r>
            <a:r>
              <a:rPr lang="en-GB" sz="2000"/>
              <a:t>values taken in</a:t>
            </a:r>
            <a:br>
              <a:rPr lang="en-GB" sz="2000" dirty="0"/>
            </a:br>
            <a:r>
              <a:rPr lang="en-GB" sz="2000" dirty="0"/>
              <a:t>pass them to the </a:t>
            </a:r>
            <a:r>
              <a:rPr lang="en-GB" sz="2000" b="1" dirty="0"/>
              <a:t>Product constructor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3962400" y="4826580"/>
            <a:ext cx="2749150" cy="659821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658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3ED432-8A18-4308-9353-5D92CAE5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-76200"/>
            <a:ext cx="8273419" cy="71096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Scanner(System.</a:t>
            </a:r>
            <a:r>
              <a:rPr lang="en-US" altLang="en-US" sz="1200" b="1" i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Driver </a:t>
            </a: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.addProduct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//gather the product data from the user and create a new product.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Product Name: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String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Product Code: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the Unit Cost: 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.nextDouble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"Is this product in your current line (y/n): 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|| 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 the product (the toString method is automatically called).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2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8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6EA4-8D50-471F-9254-F92B354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29361"/>
            <a:ext cx="3409950" cy="17584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Frame 10"/>
          <p:cNvSpPr/>
          <p:nvPr/>
        </p:nvSpPr>
        <p:spPr>
          <a:xfrm>
            <a:off x="2047236" y="5996761"/>
            <a:ext cx="7934964" cy="838200"/>
          </a:xfrm>
          <a:prstGeom prst="frame">
            <a:avLst>
              <a:gd name="adj1" fmla="val 2798"/>
            </a:avLst>
          </a:prstGeom>
          <a:solidFill>
            <a:srgbClr val="FCBA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H="1">
            <a:off x="4876800" y="1043762"/>
            <a:ext cx="2667000" cy="5357039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39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414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5083</TotalTime>
  <Words>1623</Words>
  <Application>Microsoft Macintosh PowerPoint</Application>
  <PresentationFormat>Widescreen</PresentationFormat>
  <Paragraphs>118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Wingdings</vt:lpstr>
      <vt:lpstr>Office Theme</vt:lpstr>
      <vt:lpstr>Input / Output</vt:lpstr>
      <vt:lpstr>Input in Java: the Scanner Class</vt:lpstr>
      <vt:lpstr>Input in Java: the Scanner Class</vt:lpstr>
      <vt:lpstr>Input in Java: the Scanner Class</vt:lpstr>
      <vt:lpstr>Input in Java: the Scanner Class</vt:lpstr>
      <vt:lpstr>Input in Java: the Scanner Class</vt:lpstr>
      <vt:lpstr>Recap: Shop V1.0 - Product</vt:lpstr>
      <vt:lpstr>Recap: Shop V1.0 - Driver</vt:lpstr>
      <vt:lpstr>Shop V1.0 - Driver</vt:lpstr>
      <vt:lpstr>Recap: Shop V1.0: Product</vt:lpstr>
      <vt:lpstr>Shop V1.0: Driver class…</vt:lpstr>
      <vt:lpstr>What the program will look like…</vt:lpstr>
      <vt:lpstr>PowerPoint Presentation</vt:lpstr>
      <vt:lpstr>PowerPoint Presentation</vt:lpstr>
      <vt:lpstr>PowerPoint Presentation</vt:lpstr>
      <vt:lpstr>The addProduct() console output…</vt:lpstr>
      <vt:lpstr>ShopV1.0 – read Product Name (String)</vt:lpstr>
      <vt:lpstr>ShopV1.0 – read Product Code (int)</vt:lpstr>
      <vt:lpstr>ShopV1.0 – read Unit Cost (double)</vt:lpstr>
      <vt:lpstr>ShopV1.0 – In Current Product Line? (boolean)</vt:lpstr>
      <vt:lpstr>ShopV1.0 – Create Product Object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 / Output</dc:title>
  <dc:creator>Siobhan Drohan</dc:creator>
  <cp:lastModifiedBy>Mairead Meagher</cp:lastModifiedBy>
  <cp:revision>123</cp:revision>
  <dcterms:created xsi:type="dcterms:W3CDTF">2006-08-16T00:00:00Z</dcterms:created>
  <dcterms:modified xsi:type="dcterms:W3CDTF">2022-09-21T09:13:32Z</dcterms:modified>
</cp:coreProperties>
</file>