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5" r:id="rId2"/>
    <p:sldId id="555" r:id="rId3"/>
    <p:sldId id="644" r:id="rId4"/>
    <p:sldId id="645" r:id="rId5"/>
    <p:sldId id="556" r:id="rId6"/>
    <p:sldId id="647" r:id="rId7"/>
    <p:sldId id="646" r:id="rId8"/>
    <p:sldId id="554" r:id="rId9"/>
    <p:sldId id="347" r:id="rId10"/>
    <p:sldId id="5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 autoAdjust="0"/>
    <p:restoredTop sz="89241" autoAdjust="0"/>
  </p:normalViewPr>
  <p:slideViewPr>
    <p:cSldViewPr>
      <p:cViewPr varScale="1">
        <p:scale>
          <a:sx n="112" d="100"/>
          <a:sy n="112" d="100"/>
        </p:scale>
        <p:origin x="880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3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02/02/2024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5424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This keyword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and how we use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77B55-D426-4543-B23A-EF19035B891C}"/>
              </a:ext>
            </a:extLst>
          </p:cNvPr>
          <p:cNvSpPr txBox="1"/>
          <p:nvPr/>
        </p:nvSpPr>
        <p:spPr>
          <a:xfrm>
            <a:off x="3962400" y="3819437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2BD0F-FE63-383B-8176-0CCABAD0D52B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F210E75-7A67-6B99-09F8-EB5A56D96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/>
          </a:bodyPr>
          <a:lstStyle/>
          <a:p>
            <a:r>
              <a:rPr lang="en-IE" dirty="0"/>
              <a:t>Examine a class called Spot – it contains many fields e.g.:</a:t>
            </a:r>
          </a:p>
          <a:p>
            <a:pPr lvl="1"/>
            <a:r>
              <a:rPr lang="en-IE" dirty="0" err="1"/>
              <a:t>xCoord</a:t>
            </a:r>
            <a:r>
              <a:rPr lang="en-IE" dirty="0"/>
              <a:t>, </a:t>
            </a:r>
            <a:r>
              <a:rPr lang="en-IE" dirty="0" err="1"/>
              <a:t>yCoord</a:t>
            </a:r>
            <a:r>
              <a:rPr lang="en-IE" dirty="0"/>
              <a:t>, diameter</a:t>
            </a:r>
          </a:p>
          <a:p>
            <a:pPr marL="457200" lvl="1" indent="0">
              <a:buNone/>
            </a:pPr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6019800" y="3352800"/>
            <a:ext cx="4572000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dirty="0"/>
              <a:t>class Spot{</a:t>
            </a:r>
          </a:p>
          <a:p>
            <a:r>
              <a:rPr lang="en-IE" b="1" dirty="0">
                <a:solidFill>
                  <a:srgbClr val="00B050"/>
                </a:solidFill>
              </a:rPr>
              <a:t>  </a:t>
            </a:r>
            <a:r>
              <a:rPr lang="en-IE" dirty="0">
                <a:solidFill>
                  <a:srgbClr val="00B050"/>
                </a:solidFill>
              </a:rPr>
              <a:t>float</a:t>
            </a:r>
            <a:r>
              <a:rPr lang="en-IE" b="1" dirty="0">
                <a:solidFill>
                  <a:srgbClr val="00B050"/>
                </a:solidFill>
              </a:rPr>
              <a:t> </a:t>
            </a:r>
            <a:r>
              <a:rPr lang="en-IE" b="1" dirty="0" err="1">
                <a:solidFill>
                  <a:srgbClr val="00B050"/>
                </a:solidFill>
              </a:rPr>
              <a:t>xCoord</a:t>
            </a:r>
            <a:r>
              <a:rPr lang="en-IE" b="1" dirty="0">
                <a:solidFill>
                  <a:srgbClr val="00B050"/>
                </a:solidFill>
              </a:rPr>
              <a:t>, </a:t>
            </a:r>
            <a:r>
              <a:rPr lang="en-IE" b="1" dirty="0" err="1">
                <a:solidFill>
                  <a:srgbClr val="00B050"/>
                </a:solidFill>
              </a:rPr>
              <a:t>yCoord</a:t>
            </a:r>
            <a:r>
              <a:rPr lang="en-IE" b="1" dirty="0">
                <a:solidFill>
                  <a:srgbClr val="00B050"/>
                </a:solidFill>
              </a:rPr>
              <a:t>;</a:t>
            </a:r>
          </a:p>
          <a:p>
            <a:r>
              <a:rPr lang="en-IE" b="1" dirty="0">
                <a:solidFill>
                  <a:srgbClr val="00B050"/>
                </a:solidFill>
              </a:rPr>
              <a:t>  </a:t>
            </a:r>
            <a:r>
              <a:rPr lang="en-IE" dirty="0">
                <a:solidFill>
                  <a:srgbClr val="00B050"/>
                </a:solidFill>
              </a:rPr>
              <a:t>float</a:t>
            </a:r>
            <a:r>
              <a:rPr lang="en-IE" b="1" dirty="0">
                <a:solidFill>
                  <a:srgbClr val="00B050"/>
                </a:solidFill>
              </a:rPr>
              <a:t> diameter;</a:t>
            </a:r>
          </a:p>
          <a:p>
            <a:r>
              <a:rPr lang="en-IE" dirty="0"/>
              <a:t>  </a:t>
            </a:r>
            <a:r>
              <a:rPr lang="en-IE" dirty="0" err="1"/>
              <a:t>int</a:t>
            </a:r>
            <a:r>
              <a:rPr lang="en-IE" dirty="0"/>
              <a:t> red, green, blue;</a:t>
            </a:r>
          </a:p>
          <a:p>
            <a:endParaRPr lang="en-IE" dirty="0"/>
          </a:p>
          <a:p>
            <a:r>
              <a:rPr lang="en-IE" dirty="0"/>
              <a:t>  Spot(float </a:t>
            </a:r>
            <a:r>
              <a:rPr lang="en-IE" dirty="0" err="1"/>
              <a:t>xPos</a:t>
            </a:r>
            <a:r>
              <a:rPr lang="en-IE" dirty="0"/>
              <a:t>, float </a:t>
            </a:r>
            <a:r>
              <a:rPr lang="en-IE" dirty="0" err="1"/>
              <a:t>yPos</a:t>
            </a:r>
            <a:r>
              <a:rPr lang="en-IE" dirty="0"/>
              <a:t>, float </a:t>
            </a:r>
            <a:r>
              <a:rPr lang="en-IE" dirty="0" err="1"/>
              <a:t>diamtr</a:t>
            </a:r>
            <a:r>
              <a:rPr lang="en-IE" dirty="0"/>
              <a:t>)</a:t>
            </a:r>
          </a:p>
          <a:p>
            <a:r>
              <a:rPr lang="en-IE" dirty="0"/>
              <a:t>  {</a:t>
            </a:r>
          </a:p>
          <a:p>
            <a:r>
              <a:rPr lang="en-IE" dirty="0"/>
              <a:t>      </a:t>
            </a:r>
            <a:r>
              <a:rPr lang="en-IE" dirty="0" err="1"/>
              <a:t>xCoord</a:t>
            </a:r>
            <a:r>
              <a:rPr lang="en-IE" dirty="0"/>
              <a:t> = </a:t>
            </a:r>
            <a:r>
              <a:rPr lang="en-IE" dirty="0" err="1"/>
              <a:t>xPos</a:t>
            </a:r>
            <a:r>
              <a:rPr lang="en-IE" dirty="0"/>
              <a:t>;</a:t>
            </a:r>
          </a:p>
          <a:p>
            <a:r>
              <a:rPr lang="en-IE" dirty="0"/>
              <a:t>      </a:t>
            </a:r>
            <a:r>
              <a:rPr lang="en-IE" dirty="0" err="1"/>
              <a:t>yCoord</a:t>
            </a:r>
            <a:r>
              <a:rPr lang="en-IE" dirty="0"/>
              <a:t> = </a:t>
            </a:r>
            <a:r>
              <a:rPr lang="en-IE" dirty="0" err="1"/>
              <a:t>yPos</a:t>
            </a:r>
            <a:r>
              <a:rPr lang="en-IE" dirty="0"/>
              <a:t>;</a:t>
            </a:r>
          </a:p>
          <a:p>
            <a:r>
              <a:rPr lang="en-IE" dirty="0"/>
              <a:t>      diameter = </a:t>
            </a:r>
            <a:r>
              <a:rPr lang="en-IE" dirty="0" err="1"/>
              <a:t>diamtr</a:t>
            </a:r>
            <a:r>
              <a:rPr lang="en-IE" dirty="0"/>
              <a:t>;</a:t>
            </a:r>
          </a:p>
          <a:p>
            <a:r>
              <a:rPr lang="en-IE" dirty="0"/>
              <a:t>  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71847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/>
          </a:bodyPr>
          <a:lstStyle/>
          <a:p>
            <a:r>
              <a:rPr lang="en-IE" dirty="0"/>
              <a:t>One of the Spot constructors takes three parameters:</a:t>
            </a:r>
          </a:p>
          <a:p>
            <a:pPr lvl="1"/>
            <a:r>
              <a:rPr lang="en-IE" dirty="0" err="1"/>
              <a:t>xPos</a:t>
            </a:r>
            <a:r>
              <a:rPr lang="en-IE" dirty="0"/>
              <a:t>, </a:t>
            </a:r>
            <a:r>
              <a:rPr lang="en-IE" dirty="0" err="1"/>
              <a:t>yPos</a:t>
            </a:r>
            <a:r>
              <a:rPr lang="en-IE" dirty="0"/>
              <a:t>, </a:t>
            </a:r>
            <a:r>
              <a:rPr lang="en-IE" dirty="0" err="1"/>
              <a:t>diamtr</a:t>
            </a:r>
            <a:endParaRPr lang="en-IE" dirty="0"/>
          </a:p>
          <a:p>
            <a:pPr lvl="1"/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5638800" y="3124200"/>
            <a:ext cx="4572000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dirty="0"/>
              <a:t>class Spot{</a:t>
            </a:r>
          </a:p>
          <a:p>
            <a:r>
              <a:rPr lang="en-IE" dirty="0"/>
              <a:t>  float </a:t>
            </a:r>
            <a:r>
              <a:rPr lang="en-IE" dirty="0" err="1"/>
              <a:t>xCoord</a:t>
            </a:r>
            <a:r>
              <a:rPr lang="en-IE" dirty="0"/>
              <a:t>, </a:t>
            </a:r>
            <a:r>
              <a:rPr lang="en-IE" dirty="0" err="1"/>
              <a:t>yCoord</a:t>
            </a:r>
            <a:r>
              <a:rPr lang="en-IE" dirty="0"/>
              <a:t>;</a:t>
            </a:r>
          </a:p>
          <a:p>
            <a:r>
              <a:rPr lang="en-IE" dirty="0"/>
              <a:t>  float diameter;</a:t>
            </a:r>
          </a:p>
          <a:p>
            <a:r>
              <a:rPr lang="en-IE" dirty="0"/>
              <a:t>  </a:t>
            </a:r>
            <a:r>
              <a:rPr lang="en-IE" dirty="0" err="1"/>
              <a:t>int</a:t>
            </a:r>
            <a:r>
              <a:rPr lang="en-IE" dirty="0"/>
              <a:t> red, green, blue;</a:t>
            </a:r>
          </a:p>
          <a:p>
            <a:endParaRPr lang="en-IE" dirty="0"/>
          </a:p>
          <a:p>
            <a:r>
              <a:rPr lang="en-IE" dirty="0"/>
              <a:t>  Spot (</a:t>
            </a:r>
            <a:r>
              <a:rPr lang="en-IE" dirty="0">
                <a:solidFill>
                  <a:srgbClr val="00B050"/>
                </a:solidFill>
              </a:rPr>
              <a:t>float</a:t>
            </a:r>
            <a:r>
              <a:rPr lang="en-IE" b="1" dirty="0">
                <a:solidFill>
                  <a:srgbClr val="00B050"/>
                </a:solidFill>
              </a:rPr>
              <a:t> </a:t>
            </a:r>
            <a:r>
              <a:rPr lang="en-IE" b="1" dirty="0" err="1">
                <a:solidFill>
                  <a:srgbClr val="00B050"/>
                </a:solidFill>
              </a:rPr>
              <a:t>xPos</a:t>
            </a:r>
            <a:r>
              <a:rPr lang="en-IE" b="1" dirty="0">
                <a:solidFill>
                  <a:srgbClr val="00B050"/>
                </a:solidFill>
              </a:rPr>
              <a:t>, </a:t>
            </a:r>
            <a:r>
              <a:rPr lang="en-IE" dirty="0">
                <a:solidFill>
                  <a:srgbClr val="00B050"/>
                </a:solidFill>
              </a:rPr>
              <a:t>float</a:t>
            </a:r>
            <a:r>
              <a:rPr lang="en-IE" b="1" dirty="0">
                <a:solidFill>
                  <a:srgbClr val="00B050"/>
                </a:solidFill>
              </a:rPr>
              <a:t> </a:t>
            </a:r>
            <a:r>
              <a:rPr lang="en-IE" b="1" dirty="0" err="1">
                <a:solidFill>
                  <a:srgbClr val="00B050"/>
                </a:solidFill>
              </a:rPr>
              <a:t>yPos</a:t>
            </a:r>
            <a:r>
              <a:rPr lang="en-IE" b="1" dirty="0">
                <a:solidFill>
                  <a:srgbClr val="00B050"/>
                </a:solidFill>
              </a:rPr>
              <a:t>, </a:t>
            </a:r>
            <a:r>
              <a:rPr lang="en-IE" dirty="0">
                <a:solidFill>
                  <a:srgbClr val="00B050"/>
                </a:solidFill>
              </a:rPr>
              <a:t>float</a:t>
            </a:r>
            <a:r>
              <a:rPr lang="en-IE" b="1" dirty="0">
                <a:solidFill>
                  <a:srgbClr val="00B050"/>
                </a:solidFill>
              </a:rPr>
              <a:t> </a:t>
            </a:r>
            <a:r>
              <a:rPr lang="en-IE" b="1" dirty="0" err="1">
                <a:solidFill>
                  <a:srgbClr val="00B050"/>
                </a:solidFill>
              </a:rPr>
              <a:t>diamtr</a:t>
            </a:r>
            <a:r>
              <a:rPr lang="en-IE" dirty="0"/>
              <a:t>)</a:t>
            </a:r>
          </a:p>
          <a:p>
            <a:r>
              <a:rPr lang="en-IE" dirty="0"/>
              <a:t>  {</a:t>
            </a:r>
          </a:p>
          <a:p>
            <a:r>
              <a:rPr lang="en-IE" dirty="0"/>
              <a:t>      </a:t>
            </a:r>
            <a:r>
              <a:rPr lang="en-IE" dirty="0" err="1"/>
              <a:t>xCoord</a:t>
            </a:r>
            <a:r>
              <a:rPr lang="en-IE" dirty="0"/>
              <a:t> = </a:t>
            </a:r>
            <a:r>
              <a:rPr lang="en-IE" dirty="0" err="1"/>
              <a:t>xPos</a:t>
            </a:r>
            <a:r>
              <a:rPr lang="en-IE" dirty="0"/>
              <a:t>;</a:t>
            </a:r>
          </a:p>
          <a:p>
            <a:r>
              <a:rPr lang="en-IE" dirty="0"/>
              <a:t>      </a:t>
            </a:r>
            <a:r>
              <a:rPr lang="en-IE" dirty="0" err="1"/>
              <a:t>yCoord</a:t>
            </a:r>
            <a:r>
              <a:rPr lang="en-IE" dirty="0"/>
              <a:t> = </a:t>
            </a:r>
            <a:r>
              <a:rPr lang="en-IE" dirty="0" err="1"/>
              <a:t>yPos</a:t>
            </a:r>
            <a:r>
              <a:rPr lang="en-IE" dirty="0"/>
              <a:t>;</a:t>
            </a:r>
          </a:p>
          <a:p>
            <a:r>
              <a:rPr lang="en-IE" dirty="0"/>
              <a:t>      diameter = </a:t>
            </a:r>
            <a:r>
              <a:rPr lang="en-IE" dirty="0" err="1"/>
              <a:t>diamtr</a:t>
            </a:r>
            <a:r>
              <a:rPr lang="en-IE" dirty="0"/>
              <a:t>;</a:t>
            </a:r>
          </a:p>
          <a:p>
            <a:r>
              <a:rPr lang="en-IE" dirty="0"/>
              <a:t>  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044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68920"/>
          </a:xfrm>
        </p:spPr>
        <p:txBody>
          <a:bodyPr>
            <a:normAutofit lnSpcReduction="10000"/>
          </a:bodyPr>
          <a:lstStyle/>
          <a:p>
            <a:r>
              <a:rPr lang="en-IE" dirty="0"/>
              <a:t>It would be nice to name the parameters passed into the Spot constructor </a:t>
            </a:r>
            <a:br>
              <a:rPr lang="en-IE" dirty="0"/>
            </a:br>
            <a:r>
              <a:rPr lang="en-IE" dirty="0"/>
              <a:t>the </a:t>
            </a:r>
            <a:r>
              <a:rPr lang="en-IE" b="1" dirty="0"/>
              <a:t>same names as the instance fields</a:t>
            </a:r>
            <a:r>
              <a:rPr lang="en-IE" dirty="0"/>
              <a:t>.</a:t>
            </a:r>
          </a:p>
          <a:p>
            <a:endParaRPr lang="en-IE" dirty="0"/>
          </a:p>
          <a:p>
            <a:r>
              <a:rPr lang="en-IE" dirty="0"/>
              <a:t>This is called </a:t>
            </a:r>
            <a:br>
              <a:rPr lang="en-IE" dirty="0"/>
            </a:br>
            <a:r>
              <a:rPr lang="en-IE" b="1" dirty="0">
                <a:solidFill>
                  <a:srgbClr val="FF0000"/>
                </a:solidFill>
              </a:rPr>
              <a:t>name overloading</a:t>
            </a:r>
            <a:r>
              <a:rPr lang="en-IE" dirty="0"/>
              <a:t>.</a:t>
            </a:r>
            <a:br>
              <a:rPr lang="en-IE" dirty="0"/>
            </a:br>
            <a:endParaRPr lang="en-IE" dirty="0"/>
          </a:p>
          <a:p>
            <a:r>
              <a:rPr lang="en-IE" dirty="0"/>
              <a:t>But how will Java</a:t>
            </a:r>
            <a:br>
              <a:rPr lang="en-IE" dirty="0"/>
            </a:br>
            <a:r>
              <a:rPr lang="en-IE" dirty="0"/>
              <a:t>know which variable</a:t>
            </a:r>
            <a:br>
              <a:rPr lang="en-IE" dirty="0"/>
            </a:br>
            <a:r>
              <a:rPr lang="en-IE" dirty="0"/>
              <a:t>we are referring to?</a:t>
            </a:r>
          </a:p>
        </p:txBody>
      </p:sp>
      <p:sp>
        <p:nvSpPr>
          <p:cNvPr id="2" name="Rectangle 1"/>
          <p:cNvSpPr/>
          <p:nvPr/>
        </p:nvSpPr>
        <p:spPr>
          <a:xfrm>
            <a:off x="6019800" y="3352800"/>
            <a:ext cx="4572000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dirty="0"/>
              <a:t>class Spot{</a:t>
            </a:r>
          </a:p>
          <a:p>
            <a:r>
              <a:rPr lang="en-IE" dirty="0"/>
              <a:t>  float </a:t>
            </a:r>
            <a:r>
              <a:rPr lang="en-IE" b="1" dirty="0" err="1">
                <a:solidFill>
                  <a:srgbClr val="00B050"/>
                </a:solidFill>
              </a:rPr>
              <a:t>xCoord</a:t>
            </a:r>
            <a:r>
              <a:rPr lang="en-IE" dirty="0"/>
              <a:t>, </a:t>
            </a:r>
            <a:r>
              <a:rPr lang="en-IE" b="1" dirty="0" err="1">
                <a:solidFill>
                  <a:srgbClr val="FF0000"/>
                </a:solidFill>
              </a:rPr>
              <a:t>yCoord</a:t>
            </a:r>
            <a:r>
              <a:rPr lang="en-IE" dirty="0"/>
              <a:t>;</a:t>
            </a:r>
          </a:p>
          <a:p>
            <a:r>
              <a:rPr lang="en-IE" dirty="0"/>
              <a:t>  float </a:t>
            </a:r>
            <a:r>
              <a:rPr lang="en-IE" b="1" dirty="0">
                <a:solidFill>
                  <a:srgbClr val="0070C0"/>
                </a:solidFill>
              </a:rPr>
              <a:t>diameter</a:t>
            </a:r>
            <a:r>
              <a:rPr lang="en-IE" dirty="0"/>
              <a:t>;</a:t>
            </a:r>
          </a:p>
          <a:p>
            <a:r>
              <a:rPr lang="en-IE" dirty="0"/>
              <a:t>  </a:t>
            </a:r>
            <a:r>
              <a:rPr lang="en-IE" dirty="0" err="1"/>
              <a:t>int</a:t>
            </a:r>
            <a:r>
              <a:rPr lang="en-IE" dirty="0"/>
              <a:t> red, green, blue;</a:t>
            </a:r>
          </a:p>
          <a:p>
            <a:endParaRPr lang="en-IE" dirty="0"/>
          </a:p>
          <a:p>
            <a:r>
              <a:rPr lang="en-IE" dirty="0"/>
              <a:t>  Spot(float </a:t>
            </a:r>
            <a:r>
              <a:rPr lang="en-IE" b="1" dirty="0" err="1">
                <a:solidFill>
                  <a:srgbClr val="00B050"/>
                </a:solidFill>
              </a:rPr>
              <a:t>xPos</a:t>
            </a:r>
            <a:r>
              <a:rPr lang="en-IE" dirty="0"/>
              <a:t>, float </a:t>
            </a:r>
            <a:r>
              <a:rPr lang="en-IE" b="1" dirty="0" err="1">
                <a:solidFill>
                  <a:srgbClr val="FF0000"/>
                </a:solidFill>
              </a:rPr>
              <a:t>yPos</a:t>
            </a:r>
            <a:r>
              <a:rPr lang="en-IE" dirty="0"/>
              <a:t>, float </a:t>
            </a:r>
            <a:r>
              <a:rPr lang="en-IE" b="1" dirty="0" err="1">
                <a:solidFill>
                  <a:srgbClr val="0070C0"/>
                </a:solidFill>
              </a:rPr>
              <a:t>diamtr</a:t>
            </a:r>
            <a:r>
              <a:rPr lang="en-IE" dirty="0"/>
              <a:t>)</a:t>
            </a:r>
          </a:p>
          <a:p>
            <a:r>
              <a:rPr lang="en-IE" dirty="0"/>
              <a:t>  {</a:t>
            </a:r>
          </a:p>
          <a:p>
            <a:r>
              <a:rPr lang="en-IE" dirty="0"/>
              <a:t>      </a:t>
            </a:r>
            <a:r>
              <a:rPr lang="en-IE" dirty="0" err="1"/>
              <a:t>xCoord</a:t>
            </a:r>
            <a:r>
              <a:rPr lang="en-IE" dirty="0"/>
              <a:t> = </a:t>
            </a:r>
            <a:r>
              <a:rPr lang="en-IE" dirty="0" err="1"/>
              <a:t>xPos</a:t>
            </a:r>
            <a:r>
              <a:rPr lang="en-IE" dirty="0"/>
              <a:t>;</a:t>
            </a:r>
          </a:p>
          <a:p>
            <a:r>
              <a:rPr lang="en-IE" dirty="0"/>
              <a:t>      </a:t>
            </a:r>
            <a:r>
              <a:rPr lang="en-IE" dirty="0" err="1"/>
              <a:t>yCoord</a:t>
            </a:r>
            <a:r>
              <a:rPr lang="en-IE" dirty="0"/>
              <a:t> = </a:t>
            </a:r>
            <a:r>
              <a:rPr lang="en-IE" dirty="0" err="1"/>
              <a:t>yPos</a:t>
            </a:r>
            <a:r>
              <a:rPr lang="en-IE" dirty="0"/>
              <a:t>;</a:t>
            </a:r>
          </a:p>
          <a:p>
            <a:r>
              <a:rPr lang="en-IE" dirty="0"/>
              <a:t>      diameter = </a:t>
            </a:r>
            <a:r>
              <a:rPr lang="en-IE" dirty="0" err="1"/>
              <a:t>diamtr</a:t>
            </a:r>
            <a:r>
              <a:rPr lang="en-IE" dirty="0"/>
              <a:t>;</a:t>
            </a:r>
          </a:p>
          <a:p>
            <a:r>
              <a:rPr lang="en-IE" dirty="0"/>
              <a:t>  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524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5800" y="4953000"/>
            <a:ext cx="8229600" cy="2133600"/>
          </a:xfrm>
        </p:spPr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3886200" y="3124201"/>
            <a:ext cx="5943600" cy="34778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class Spot{</a:t>
            </a:r>
          </a:p>
          <a:p>
            <a:r>
              <a:rPr lang="en-IE" sz="2000" dirty="0"/>
              <a:t>  float </a:t>
            </a:r>
            <a:r>
              <a:rPr lang="en-IE" sz="2000" b="1" dirty="0" err="1">
                <a:solidFill>
                  <a:srgbClr val="00B050"/>
                </a:solidFill>
              </a:rPr>
              <a:t>xCoord</a:t>
            </a:r>
            <a:r>
              <a:rPr lang="en-IE" sz="2000" dirty="0"/>
              <a:t>, </a:t>
            </a:r>
            <a:r>
              <a:rPr lang="en-IE" sz="2000" b="1" dirty="0" err="1">
                <a:solidFill>
                  <a:srgbClr val="FF0000"/>
                </a:solidFill>
              </a:rPr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float </a:t>
            </a:r>
            <a:r>
              <a:rPr lang="en-IE" sz="2000" b="1" dirty="0">
                <a:solidFill>
                  <a:srgbClr val="0070C0"/>
                </a:solidFill>
              </a:rPr>
              <a:t>diameter</a:t>
            </a:r>
            <a:r>
              <a:rPr lang="en-IE" sz="2000" dirty="0"/>
              <a:t>;</a:t>
            </a:r>
          </a:p>
          <a:p>
            <a:r>
              <a:rPr lang="en-IE" sz="2000" dirty="0"/>
              <a:t>  </a:t>
            </a:r>
            <a:r>
              <a:rPr lang="en-IE" sz="2000" dirty="0" err="1"/>
              <a:t>int</a:t>
            </a:r>
            <a:r>
              <a:rPr lang="en-IE" sz="2000" dirty="0"/>
              <a:t> red, green, blue;</a:t>
            </a:r>
          </a:p>
          <a:p>
            <a:endParaRPr lang="en-IE" sz="2000" dirty="0"/>
          </a:p>
          <a:p>
            <a:r>
              <a:rPr lang="en-IE" sz="2000" dirty="0"/>
              <a:t> Spot(float </a:t>
            </a:r>
            <a:r>
              <a:rPr lang="en-IE" sz="2000" dirty="0" err="1"/>
              <a:t>xCoord</a:t>
            </a:r>
            <a:r>
              <a:rPr lang="en-IE" sz="2000" dirty="0"/>
              <a:t>, float </a:t>
            </a:r>
            <a:r>
              <a:rPr lang="en-IE" sz="2000" dirty="0" err="1"/>
              <a:t>yCoord</a:t>
            </a:r>
            <a:r>
              <a:rPr lang="en-IE" sz="2000" dirty="0"/>
              <a:t>, float diameter)</a:t>
            </a:r>
          </a:p>
          <a:p>
            <a:r>
              <a:rPr lang="en-IE" sz="2000" dirty="0"/>
              <a:t> {</a:t>
            </a:r>
          </a:p>
          <a:p>
            <a:r>
              <a:rPr lang="en-IE" sz="2000" dirty="0"/>
              <a:t>    </a:t>
            </a:r>
            <a:r>
              <a:rPr lang="en-IE" sz="2000" b="1" dirty="0" err="1">
                <a:solidFill>
                  <a:srgbClr val="00B050"/>
                </a:solidFill>
              </a:rPr>
              <a:t>this.xCoord</a:t>
            </a:r>
            <a:r>
              <a:rPr lang="en-IE" sz="2000" b="1" dirty="0">
                <a:solidFill>
                  <a:srgbClr val="00B050"/>
                </a:solidFill>
              </a:rPr>
              <a:t>       </a:t>
            </a:r>
            <a:r>
              <a:rPr lang="en-IE" sz="2000" dirty="0"/>
              <a:t>= </a:t>
            </a:r>
            <a:r>
              <a:rPr lang="en-IE" sz="2000" dirty="0" err="1"/>
              <a:t>xCoord</a:t>
            </a:r>
            <a:r>
              <a:rPr lang="en-IE" sz="2000" dirty="0"/>
              <a:t>;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  </a:t>
            </a:r>
            <a:r>
              <a:rPr lang="en-IE" sz="2000" b="1" dirty="0" err="1">
                <a:solidFill>
                  <a:srgbClr val="FF0000"/>
                </a:solidFill>
              </a:rPr>
              <a:t>this.yCoord</a:t>
            </a:r>
            <a:r>
              <a:rPr lang="en-IE" sz="2000" b="1" dirty="0">
                <a:solidFill>
                  <a:srgbClr val="FF0000"/>
                </a:solidFill>
              </a:rPr>
              <a:t>        </a:t>
            </a:r>
            <a:r>
              <a:rPr lang="en-IE" sz="2000" dirty="0"/>
              <a:t>= </a:t>
            </a:r>
            <a:r>
              <a:rPr lang="en-IE" sz="2000" dirty="0" err="1"/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  </a:t>
            </a:r>
            <a:r>
              <a:rPr lang="en-IE" sz="2000" b="1" dirty="0" err="1">
                <a:solidFill>
                  <a:srgbClr val="0070C0"/>
                </a:solidFill>
              </a:rPr>
              <a:t>this.diameter</a:t>
            </a:r>
            <a:r>
              <a:rPr lang="en-IE" sz="2000" b="1" dirty="0">
                <a:solidFill>
                  <a:srgbClr val="0070C0"/>
                </a:solidFill>
              </a:rPr>
              <a:t>   </a:t>
            </a:r>
            <a:r>
              <a:rPr lang="en-IE" sz="2000" dirty="0"/>
              <a:t>= diameter;</a:t>
            </a:r>
          </a:p>
          <a:p>
            <a:r>
              <a:rPr lang="en-IE" sz="2000" dirty="0"/>
              <a:t>  }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A1B1CBF-15B8-488C-96B8-36FB1A5BC20E}"/>
              </a:ext>
            </a:extLst>
          </p:cNvPr>
          <p:cNvSpPr txBox="1">
            <a:spLocks/>
          </p:cNvSpPr>
          <p:nvPr/>
        </p:nvSpPr>
        <p:spPr>
          <a:xfrm>
            <a:off x="1981200" y="1600202"/>
            <a:ext cx="5257800" cy="13715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/>
              <a:t>We can use the </a:t>
            </a:r>
            <a:r>
              <a:rPr lang="en-IE" dirty="0">
                <a:solidFill>
                  <a:srgbClr val="FF0000"/>
                </a:solidFill>
              </a:rPr>
              <a:t>this</a:t>
            </a:r>
            <a:r>
              <a:rPr lang="en-IE" dirty="0"/>
              <a:t> keyword to distinguish between them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FA4E06-345E-4A77-9A65-7817076CD0F4}"/>
              </a:ext>
            </a:extLst>
          </p:cNvPr>
          <p:cNvSpPr/>
          <p:nvPr/>
        </p:nvSpPr>
        <p:spPr>
          <a:xfrm>
            <a:off x="4114800" y="4953000"/>
            <a:ext cx="1676400" cy="16702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9BC1ED-6FF8-42C7-AF4B-2CD98F14A2D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667000" y="2750514"/>
            <a:ext cx="2286000" cy="22024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88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371600" y="5029200"/>
            <a:ext cx="8153400" cy="2133600"/>
          </a:xfrm>
        </p:spPr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3886200" y="3124201"/>
            <a:ext cx="5943600" cy="34778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class Spot{</a:t>
            </a:r>
          </a:p>
          <a:p>
            <a:r>
              <a:rPr lang="en-IE" sz="2000" dirty="0"/>
              <a:t>  float </a:t>
            </a:r>
            <a:r>
              <a:rPr lang="en-IE" sz="2000" b="1" dirty="0" err="1">
                <a:solidFill>
                  <a:srgbClr val="00B050"/>
                </a:solidFill>
              </a:rPr>
              <a:t>xCoord</a:t>
            </a:r>
            <a:r>
              <a:rPr lang="en-IE" sz="2000" dirty="0"/>
              <a:t>, </a:t>
            </a:r>
            <a:r>
              <a:rPr lang="en-IE" sz="2000" b="1" dirty="0" err="1">
                <a:solidFill>
                  <a:srgbClr val="FF0000"/>
                </a:solidFill>
              </a:rPr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float </a:t>
            </a:r>
            <a:r>
              <a:rPr lang="en-IE" sz="2000" b="1" dirty="0">
                <a:solidFill>
                  <a:srgbClr val="0070C0"/>
                </a:solidFill>
              </a:rPr>
              <a:t>diameter</a:t>
            </a:r>
            <a:r>
              <a:rPr lang="en-IE" sz="2000" dirty="0"/>
              <a:t>;</a:t>
            </a:r>
          </a:p>
          <a:p>
            <a:r>
              <a:rPr lang="en-IE" sz="2000" dirty="0"/>
              <a:t>  </a:t>
            </a:r>
            <a:r>
              <a:rPr lang="en-IE" sz="2000" dirty="0" err="1"/>
              <a:t>int</a:t>
            </a:r>
            <a:r>
              <a:rPr lang="en-IE" sz="2000" dirty="0"/>
              <a:t> red, green, blue;</a:t>
            </a:r>
          </a:p>
          <a:p>
            <a:endParaRPr lang="en-IE" sz="2000" dirty="0"/>
          </a:p>
          <a:p>
            <a:r>
              <a:rPr lang="en-IE" sz="2000" dirty="0"/>
              <a:t> Spot(float </a:t>
            </a:r>
            <a:r>
              <a:rPr lang="en-IE" sz="2000" dirty="0" err="1"/>
              <a:t>xCoord</a:t>
            </a:r>
            <a:r>
              <a:rPr lang="en-IE" sz="2000" dirty="0"/>
              <a:t>, float </a:t>
            </a:r>
            <a:r>
              <a:rPr lang="en-IE" sz="2000" dirty="0" err="1"/>
              <a:t>yCoord</a:t>
            </a:r>
            <a:r>
              <a:rPr lang="en-IE" sz="2000" dirty="0"/>
              <a:t>, float diameter)</a:t>
            </a:r>
          </a:p>
          <a:p>
            <a:r>
              <a:rPr lang="en-IE" sz="2000" dirty="0"/>
              <a:t> {</a:t>
            </a:r>
          </a:p>
          <a:p>
            <a:r>
              <a:rPr lang="en-IE" sz="2000" dirty="0"/>
              <a:t>    </a:t>
            </a:r>
            <a:r>
              <a:rPr lang="en-IE" sz="2000" b="1" dirty="0" err="1">
                <a:solidFill>
                  <a:srgbClr val="00B050"/>
                </a:solidFill>
              </a:rPr>
              <a:t>this.xCoord</a:t>
            </a:r>
            <a:r>
              <a:rPr lang="en-IE" sz="2000" b="1" dirty="0">
                <a:solidFill>
                  <a:srgbClr val="00B050"/>
                </a:solidFill>
              </a:rPr>
              <a:t> </a:t>
            </a:r>
            <a:r>
              <a:rPr lang="en-IE" sz="2000" dirty="0"/>
              <a:t>= </a:t>
            </a:r>
            <a:r>
              <a:rPr lang="en-IE" sz="2000" dirty="0" err="1"/>
              <a:t>xCoord</a:t>
            </a:r>
            <a:r>
              <a:rPr lang="en-IE" sz="2000" dirty="0"/>
              <a:t>;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  </a:t>
            </a:r>
            <a:r>
              <a:rPr lang="en-IE" sz="2000" b="1" dirty="0" err="1">
                <a:solidFill>
                  <a:srgbClr val="FF0000"/>
                </a:solidFill>
              </a:rPr>
              <a:t>this.yCoord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/>
              <a:t>= </a:t>
            </a:r>
            <a:r>
              <a:rPr lang="en-IE" sz="2000" dirty="0" err="1"/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  </a:t>
            </a:r>
            <a:r>
              <a:rPr lang="en-IE" sz="2000" b="1" dirty="0" err="1">
                <a:solidFill>
                  <a:srgbClr val="0070C0"/>
                </a:solidFill>
              </a:rPr>
              <a:t>this.diameter</a:t>
            </a:r>
            <a:r>
              <a:rPr lang="en-IE" sz="2000" b="1" dirty="0">
                <a:solidFill>
                  <a:srgbClr val="0070C0"/>
                </a:solidFill>
              </a:rPr>
              <a:t> </a:t>
            </a:r>
            <a:r>
              <a:rPr lang="en-IE" sz="2000" dirty="0"/>
              <a:t>= diameter;</a:t>
            </a:r>
          </a:p>
          <a:p>
            <a:r>
              <a:rPr lang="en-IE" sz="2000" dirty="0"/>
              <a:t>  }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78DAC35-5C64-4C32-BE63-995FE898D74A}"/>
              </a:ext>
            </a:extLst>
          </p:cNvPr>
          <p:cNvSpPr txBox="1">
            <a:spLocks/>
          </p:cNvSpPr>
          <p:nvPr/>
        </p:nvSpPr>
        <p:spPr>
          <a:xfrm>
            <a:off x="1981200" y="1607516"/>
            <a:ext cx="4724400" cy="12880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this</a:t>
            </a:r>
            <a:r>
              <a:rPr lang="en-IE" dirty="0"/>
              <a:t> refers to the current object fields.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77A3E8-3D33-4CA9-8DC8-4631CB4ACA14}"/>
              </a:ext>
            </a:extLst>
          </p:cNvPr>
          <p:cNvSpPr/>
          <p:nvPr/>
        </p:nvSpPr>
        <p:spPr>
          <a:xfrm>
            <a:off x="3733800" y="3391214"/>
            <a:ext cx="3048000" cy="7235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39992D-3705-48B7-9BC4-54EF3409AB1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343400" y="2895601"/>
            <a:ext cx="914400" cy="4956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65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600202"/>
            <a:ext cx="5257800" cy="137159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These are local fields that are destroyed as soon as the Spot constructor finishes executing.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3886200" y="3124201"/>
            <a:ext cx="5943600" cy="34778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class Spot{</a:t>
            </a:r>
          </a:p>
          <a:p>
            <a:r>
              <a:rPr lang="en-IE" sz="2000" dirty="0"/>
              <a:t>  float </a:t>
            </a:r>
            <a:r>
              <a:rPr lang="en-IE" sz="2000" b="1" dirty="0" err="1">
                <a:solidFill>
                  <a:srgbClr val="00B050"/>
                </a:solidFill>
              </a:rPr>
              <a:t>xCoord</a:t>
            </a:r>
            <a:r>
              <a:rPr lang="en-IE" sz="2000" dirty="0"/>
              <a:t>, </a:t>
            </a:r>
            <a:r>
              <a:rPr lang="en-IE" sz="2000" b="1" dirty="0" err="1">
                <a:solidFill>
                  <a:srgbClr val="FF0000"/>
                </a:solidFill>
              </a:rPr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float </a:t>
            </a:r>
            <a:r>
              <a:rPr lang="en-IE" sz="2000" b="1" dirty="0">
                <a:solidFill>
                  <a:srgbClr val="0070C0"/>
                </a:solidFill>
              </a:rPr>
              <a:t>diameter</a:t>
            </a:r>
            <a:r>
              <a:rPr lang="en-IE" sz="2000" dirty="0"/>
              <a:t>;</a:t>
            </a:r>
          </a:p>
          <a:p>
            <a:r>
              <a:rPr lang="en-IE" sz="2000" dirty="0"/>
              <a:t>  </a:t>
            </a:r>
            <a:r>
              <a:rPr lang="en-IE" sz="2000" dirty="0" err="1"/>
              <a:t>int</a:t>
            </a:r>
            <a:r>
              <a:rPr lang="en-IE" sz="2000" dirty="0"/>
              <a:t> red, green, blue;</a:t>
            </a:r>
          </a:p>
          <a:p>
            <a:endParaRPr lang="en-IE" sz="2000" dirty="0"/>
          </a:p>
          <a:p>
            <a:r>
              <a:rPr lang="en-IE" sz="2000" dirty="0"/>
              <a:t> Spot(float </a:t>
            </a:r>
            <a:r>
              <a:rPr lang="en-IE" sz="2000" dirty="0" err="1"/>
              <a:t>xCoord</a:t>
            </a:r>
            <a:r>
              <a:rPr lang="en-IE" sz="2000" dirty="0"/>
              <a:t>, float </a:t>
            </a:r>
            <a:r>
              <a:rPr lang="en-IE" sz="2000" dirty="0" err="1"/>
              <a:t>yCoord</a:t>
            </a:r>
            <a:r>
              <a:rPr lang="en-IE" sz="2000" dirty="0"/>
              <a:t>, float diameter)</a:t>
            </a:r>
          </a:p>
          <a:p>
            <a:r>
              <a:rPr lang="en-IE" sz="2000" dirty="0"/>
              <a:t> {</a:t>
            </a:r>
          </a:p>
          <a:p>
            <a:r>
              <a:rPr lang="en-IE" sz="2000" dirty="0"/>
              <a:t>    </a:t>
            </a:r>
            <a:r>
              <a:rPr lang="en-IE" sz="2000" b="1" dirty="0" err="1">
                <a:solidFill>
                  <a:srgbClr val="00B050"/>
                </a:solidFill>
              </a:rPr>
              <a:t>this.xCoord</a:t>
            </a:r>
            <a:r>
              <a:rPr lang="en-IE" sz="2000" b="1" dirty="0">
                <a:solidFill>
                  <a:srgbClr val="00B050"/>
                </a:solidFill>
              </a:rPr>
              <a:t> </a:t>
            </a:r>
            <a:r>
              <a:rPr lang="en-IE" sz="2000" dirty="0"/>
              <a:t>= </a:t>
            </a:r>
            <a:r>
              <a:rPr lang="en-IE" sz="2000" dirty="0" err="1"/>
              <a:t>xCoord</a:t>
            </a:r>
            <a:r>
              <a:rPr lang="en-IE" sz="2000" dirty="0"/>
              <a:t>;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  </a:t>
            </a:r>
            <a:r>
              <a:rPr lang="en-IE" sz="2000" b="1" dirty="0" err="1">
                <a:solidFill>
                  <a:srgbClr val="FF0000"/>
                </a:solidFill>
              </a:rPr>
              <a:t>this.yCoord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/>
              <a:t>= </a:t>
            </a:r>
            <a:r>
              <a:rPr lang="en-IE" sz="2000" dirty="0" err="1"/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  </a:t>
            </a:r>
            <a:r>
              <a:rPr lang="en-IE" sz="2000" b="1" dirty="0" err="1">
                <a:solidFill>
                  <a:srgbClr val="0070C0"/>
                </a:solidFill>
              </a:rPr>
              <a:t>this.diameter</a:t>
            </a:r>
            <a:r>
              <a:rPr lang="en-IE" sz="2000" b="1" dirty="0">
                <a:solidFill>
                  <a:srgbClr val="0070C0"/>
                </a:solidFill>
              </a:rPr>
              <a:t> </a:t>
            </a:r>
            <a:r>
              <a:rPr lang="en-IE" sz="2000" dirty="0"/>
              <a:t>= diameter;</a:t>
            </a:r>
          </a:p>
          <a:p>
            <a:r>
              <a:rPr lang="en-IE" sz="2000" dirty="0"/>
              <a:t>  }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A1B3703-9FAF-43E4-9B70-4AC72C64D3F4}"/>
              </a:ext>
            </a:extLst>
          </p:cNvPr>
          <p:cNvSpPr/>
          <p:nvPr/>
        </p:nvSpPr>
        <p:spPr>
          <a:xfrm>
            <a:off x="3886200" y="4558337"/>
            <a:ext cx="52578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0A5E0D-7DDB-4AE9-8A8B-CAEE9ABE5FD7}"/>
              </a:ext>
            </a:extLst>
          </p:cNvPr>
          <p:cNvCxnSpPr>
            <a:stCxn id="6" idx="2"/>
            <a:endCxn id="2" idx="0"/>
          </p:cNvCxnSpPr>
          <p:nvPr/>
        </p:nvCxnSpPr>
        <p:spPr>
          <a:xfrm>
            <a:off x="4610100" y="2971801"/>
            <a:ext cx="1905000" cy="15865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3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keyword – other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1909" y="1676401"/>
            <a:ext cx="5715000" cy="452431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void </a:t>
            </a:r>
            <a:r>
              <a:rPr lang="en-IE" sz="2400" b="1" dirty="0"/>
              <a:t>colour</a:t>
            </a:r>
            <a:r>
              <a:rPr lang="en-IE" sz="2400" dirty="0"/>
              <a:t> (</a:t>
            </a:r>
            <a:r>
              <a:rPr lang="en-IE" sz="2400" dirty="0" err="1"/>
              <a:t>int</a:t>
            </a:r>
            <a:r>
              <a:rPr lang="en-IE" sz="2400" dirty="0"/>
              <a:t> red, </a:t>
            </a:r>
            <a:r>
              <a:rPr lang="en-IE" sz="2400" dirty="0" err="1"/>
              <a:t>int</a:t>
            </a:r>
            <a:r>
              <a:rPr lang="en-IE" sz="2400" dirty="0"/>
              <a:t> green, </a:t>
            </a:r>
            <a:r>
              <a:rPr lang="en-IE" sz="2400" dirty="0" err="1"/>
              <a:t>int</a:t>
            </a:r>
            <a:r>
              <a:rPr lang="en-IE" sz="2400" dirty="0"/>
              <a:t> blue)</a:t>
            </a:r>
          </a:p>
          <a:p>
            <a:r>
              <a:rPr lang="en-IE" sz="2400" dirty="0"/>
              <a:t>  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this.red</a:t>
            </a:r>
            <a:r>
              <a:rPr lang="en-IE" sz="2400" dirty="0"/>
              <a:t> = red;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this.green</a:t>
            </a:r>
            <a:r>
              <a:rPr lang="en-IE" sz="2400" dirty="0"/>
              <a:t> = green;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this.blue</a:t>
            </a:r>
            <a:r>
              <a:rPr lang="en-IE" sz="2400" dirty="0"/>
              <a:t> = blue;</a:t>
            </a:r>
          </a:p>
          <a:p>
            <a:r>
              <a:rPr lang="en-IE" sz="2400" dirty="0"/>
              <a:t>    fill (red, green, blue);</a:t>
            </a:r>
          </a:p>
          <a:p>
            <a:r>
              <a:rPr lang="en-IE" sz="2400" dirty="0"/>
              <a:t>  }</a:t>
            </a:r>
          </a:p>
          <a:p>
            <a:endParaRPr lang="en-IE" sz="2400" dirty="0"/>
          </a:p>
          <a:p>
            <a:r>
              <a:rPr lang="en-IE" sz="2400" dirty="0"/>
              <a:t>  void </a:t>
            </a:r>
            <a:r>
              <a:rPr lang="en-IE" sz="2400" b="1" dirty="0"/>
              <a:t>colour</a:t>
            </a:r>
            <a:r>
              <a:rPr lang="en-IE" sz="2400" dirty="0"/>
              <a:t> (</a:t>
            </a:r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gray</a:t>
            </a:r>
            <a:r>
              <a:rPr lang="en-IE" sz="2400" dirty="0"/>
              <a:t>){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this.gray</a:t>
            </a:r>
            <a:r>
              <a:rPr lang="en-IE" sz="2400" dirty="0"/>
              <a:t> = </a:t>
            </a:r>
            <a:r>
              <a:rPr lang="en-IE" sz="2400" dirty="0" err="1"/>
              <a:t>gray</a:t>
            </a:r>
            <a:r>
              <a:rPr lang="en-IE" sz="2400" dirty="0"/>
              <a:t>;</a:t>
            </a:r>
          </a:p>
          <a:p>
            <a:r>
              <a:rPr lang="en-IE" sz="2400" dirty="0"/>
              <a:t>    fill (</a:t>
            </a:r>
            <a:r>
              <a:rPr lang="en-IE" sz="2400" dirty="0" err="1"/>
              <a:t>this.gray</a:t>
            </a:r>
            <a:r>
              <a:rPr lang="en-IE" sz="2400" dirty="0"/>
              <a:t>);</a:t>
            </a:r>
          </a:p>
          <a:p>
            <a:r>
              <a:rPr lang="en-IE" sz="2400" dirty="0"/>
              <a:t>  }</a:t>
            </a:r>
          </a:p>
        </p:txBody>
      </p:sp>
      <p:sp>
        <p:nvSpPr>
          <p:cNvPr id="6" name="Donut 5"/>
          <p:cNvSpPr/>
          <p:nvPr/>
        </p:nvSpPr>
        <p:spPr>
          <a:xfrm>
            <a:off x="1752600" y="2171581"/>
            <a:ext cx="3581400" cy="2276535"/>
          </a:xfrm>
          <a:prstGeom prst="donut">
            <a:avLst>
              <a:gd name="adj" fmla="val 57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1938760" y="4967409"/>
            <a:ext cx="2743200" cy="819270"/>
          </a:xfrm>
          <a:prstGeom prst="donut">
            <a:avLst>
              <a:gd name="adj" fmla="val 57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idx="1"/>
          </p:nvPr>
        </p:nvSpPr>
        <p:spPr>
          <a:xfrm>
            <a:off x="6250811" y="2276415"/>
            <a:ext cx="4264789" cy="43434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E" dirty="0"/>
              <a:t>To </a:t>
            </a:r>
            <a:r>
              <a:rPr lang="en-IE" dirty="0" err="1"/>
              <a:t>clairfy</a:t>
            </a:r>
            <a:r>
              <a:rPr lang="en-IE" dirty="0"/>
              <a:t>, in the statement:</a:t>
            </a:r>
            <a:br>
              <a:rPr lang="en-IE" b="1" dirty="0"/>
            </a:br>
            <a:br>
              <a:rPr lang="en-IE" b="1" dirty="0"/>
            </a:br>
            <a:r>
              <a:rPr lang="en-IE" b="1" dirty="0"/>
              <a:t>	</a:t>
            </a:r>
            <a:r>
              <a:rPr lang="en-IE" b="1" dirty="0" err="1"/>
              <a:t>this.x</a:t>
            </a:r>
            <a:r>
              <a:rPr lang="en-IE" dirty="0"/>
              <a:t> = </a:t>
            </a:r>
            <a:r>
              <a:rPr lang="en-IE" b="1" dirty="0"/>
              <a:t>x;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Where </a:t>
            </a:r>
            <a:r>
              <a:rPr lang="en-IE" b="1" dirty="0" err="1"/>
              <a:t>this.x</a:t>
            </a:r>
            <a:r>
              <a:rPr lang="en-IE" dirty="0"/>
              <a:t> refers to the object’s property / field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and </a:t>
            </a:r>
            <a:r>
              <a:rPr lang="en-IE" b="1" dirty="0"/>
              <a:t>x</a:t>
            </a:r>
            <a:r>
              <a:rPr lang="en-IE" dirty="0"/>
              <a:t> on it’s own </a:t>
            </a:r>
            <a:br>
              <a:rPr lang="en-IE" dirty="0"/>
            </a:br>
            <a:r>
              <a:rPr lang="en-IE" dirty="0"/>
              <a:t>is the parameter passed in to the method</a:t>
            </a:r>
            <a:br>
              <a:rPr lang="en-IE" dirty="0"/>
            </a:br>
            <a:br>
              <a:rPr lang="en-IE" dirty="0"/>
            </a:br>
            <a:r>
              <a:rPr lang="en-IE" dirty="0"/>
              <a:t>substitute x for any property/field</a:t>
            </a:r>
          </a:p>
          <a:p>
            <a:pPr marL="0" indent="0">
              <a:buNone/>
            </a:pPr>
            <a:endParaRPr lang="en-IE" b="1" dirty="0"/>
          </a:p>
          <a:p>
            <a:pPr marL="0" indent="0">
              <a:buNone/>
            </a:pPr>
            <a:r>
              <a:rPr lang="en-IE" dirty="0"/>
              <a:t>This describes </a:t>
            </a:r>
            <a:r>
              <a:rPr lang="en-IE" b="1" dirty="0"/>
              <a:t>name overloading</a:t>
            </a:r>
          </a:p>
        </p:txBody>
      </p:sp>
    </p:spTree>
    <p:extLst>
      <p:ext uri="{BB962C8B-B14F-4D97-AF65-F5344CB8AC3E}">
        <p14:creationId xmlns:p14="http://schemas.microsoft.com/office/powerpoint/2010/main" val="158495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</a:t>
            </a:r>
            <a:r>
              <a:rPr lang="en-IE" baseline="30000" dirty="0"/>
              <a:t>nd</a:t>
            </a:r>
            <a:r>
              <a:rPr lang="en-IE" dirty="0"/>
              <a:t> Edition, MIT Press, London.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501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2825</TotalTime>
  <Words>655</Words>
  <Application>Microsoft Macintosh PowerPoint</Application>
  <PresentationFormat>Widescreen</PresentationFormat>
  <Paragraphs>116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This keyword in Java</vt:lpstr>
      <vt:lpstr>this keyword</vt:lpstr>
      <vt:lpstr>this keyword</vt:lpstr>
      <vt:lpstr>this keyword</vt:lpstr>
      <vt:lpstr>this keyword</vt:lpstr>
      <vt:lpstr>this keyword</vt:lpstr>
      <vt:lpstr>this keyword</vt:lpstr>
      <vt:lpstr>this keyword – other examples</vt:lpstr>
      <vt:lpstr>Questions?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- adding behaviour</dc:title>
  <dc:creator>Siobhan Drohan</dc:creator>
  <cp:lastModifiedBy>Mairead Meagher</cp:lastModifiedBy>
  <cp:revision>347</cp:revision>
  <cp:lastPrinted>2018-02-13T22:25:55Z</cp:lastPrinted>
  <dcterms:created xsi:type="dcterms:W3CDTF">2006-08-16T00:00:00Z</dcterms:created>
  <dcterms:modified xsi:type="dcterms:W3CDTF">2024-02-02T18:12:35Z</dcterms:modified>
</cp:coreProperties>
</file>