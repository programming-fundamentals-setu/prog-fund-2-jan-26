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325" r:id="rId2"/>
    <p:sldId id="598" r:id="rId3"/>
    <p:sldId id="546" r:id="rId4"/>
    <p:sldId id="547" r:id="rId5"/>
    <p:sldId id="533" r:id="rId6"/>
    <p:sldId id="600" r:id="rId7"/>
    <p:sldId id="551" r:id="rId8"/>
    <p:sldId id="603" r:id="rId9"/>
    <p:sldId id="605" r:id="rId10"/>
    <p:sldId id="606" r:id="rId11"/>
    <p:sldId id="607" r:id="rId12"/>
    <p:sldId id="580" r:id="rId13"/>
    <p:sldId id="608" r:id="rId14"/>
    <p:sldId id="581" r:id="rId15"/>
    <p:sldId id="578" r:id="rId16"/>
    <p:sldId id="609" r:id="rId17"/>
    <p:sldId id="582" r:id="rId18"/>
    <p:sldId id="579" r:id="rId19"/>
    <p:sldId id="610" r:id="rId20"/>
    <p:sldId id="583" r:id="rId21"/>
    <p:sldId id="575" r:id="rId22"/>
    <p:sldId id="593" r:id="rId23"/>
    <p:sldId id="631" r:id="rId24"/>
    <p:sldId id="595" r:id="rId25"/>
    <p:sldId id="347" r:id="rId26"/>
    <p:sldId id="52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43" autoAdjust="0"/>
    <p:restoredTop sz="89103" autoAdjust="0"/>
  </p:normalViewPr>
  <p:slideViewPr>
    <p:cSldViewPr>
      <p:cViewPr varScale="1">
        <p:scale>
          <a:sx n="112" d="100"/>
          <a:sy n="112" d="100"/>
        </p:scale>
        <p:origin x="1024" y="184"/>
      </p:cViewPr>
      <p:guideLst>
        <p:guide orient="horz" pos="2160"/>
        <p:guide pos="3840"/>
      </p:guideLst>
    </p:cSldViewPr>
  </p:slideViewPr>
  <p:outlineViewPr>
    <p:cViewPr>
      <p:scale>
        <a:sx n="33" d="100"/>
        <a:sy n="33" d="100"/>
      </p:scale>
      <p:origin x="0" y="1392"/>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C3D141-1E1C-433C-AD3A-CD56CBBB4F9F}" type="datetimeFigureOut">
              <a:rPr lang="en-IE" smtClean="0"/>
              <a:t>02/02/2024</a:t>
            </a:fld>
            <a:endParaRPr lang="en-IE"/>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63DB36-5273-45A5-A77C-FE9BE0779D84}" type="slidenum">
              <a:rPr lang="en-IE" smtClean="0"/>
              <a:t>‹#›</a:t>
            </a:fld>
            <a:endParaRPr lang="en-IE"/>
          </a:p>
        </p:txBody>
      </p:sp>
    </p:spTree>
    <p:extLst>
      <p:ext uri="{BB962C8B-B14F-4D97-AF65-F5344CB8AC3E}">
        <p14:creationId xmlns:p14="http://schemas.microsoft.com/office/powerpoint/2010/main" val="3634544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F963DB36-5273-45A5-A77C-FE9BE0779D84}" type="slidenum">
              <a:rPr lang="en-IE" smtClean="0"/>
              <a:t>7</a:t>
            </a:fld>
            <a:endParaRPr lang="en-IE"/>
          </a:p>
        </p:txBody>
      </p:sp>
    </p:spTree>
    <p:extLst>
      <p:ext uri="{BB962C8B-B14F-4D97-AF65-F5344CB8AC3E}">
        <p14:creationId xmlns:p14="http://schemas.microsoft.com/office/powerpoint/2010/main" val="2691101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E" dirty="0"/>
              <a:t>Mention here that there is a bug in processing where it (incorrectly) allows classes outside of Spot to access private fields.  This bug is there because of how Processing builds the final code before running (it puts many classes in one *.java file).  This doesn’t happen in “real” IDEs. </a:t>
            </a:r>
          </a:p>
        </p:txBody>
      </p:sp>
      <p:sp>
        <p:nvSpPr>
          <p:cNvPr id="4" name="Slide Number Placeholder 3"/>
          <p:cNvSpPr>
            <a:spLocks noGrp="1"/>
          </p:cNvSpPr>
          <p:nvPr>
            <p:ph type="sldNum" sz="quarter" idx="10"/>
          </p:nvPr>
        </p:nvSpPr>
        <p:spPr/>
        <p:txBody>
          <a:bodyPr/>
          <a:lstStyle/>
          <a:p>
            <a:fld id="{F963DB36-5273-45A5-A77C-FE9BE0779D84}" type="slidenum">
              <a:rPr lang="en-IE" smtClean="0"/>
              <a:t>17</a:t>
            </a:fld>
            <a:endParaRPr lang="en-IE"/>
          </a:p>
        </p:txBody>
      </p:sp>
    </p:spTree>
    <p:extLst>
      <p:ext uri="{BB962C8B-B14F-4D97-AF65-F5344CB8AC3E}">
        <p14:creationId xmlns:p14="http://schemas.microsoft.com/office/powerpoint/2010/main" val="407371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p:cNvCxnSpPr/>
          <p:nvPr userDrawn="1"/>
        </p:nvCxnSpPr>
        <p:spPr>
          <a:xfrm>
            <a:off x="609600" y="1447800"/>
            <a:ext cx="110744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10" name="Straight Connector 9"/>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cxnSp>
        <p:nvCxnSpPr>
          <p:cNvPr id="6" name="Straight Connector 5"/>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320800" y="381000"/>
            <a:ext cx="10363200" cy="1143000"/>
          </a:xfrm>
        </p:spPr>
        <p:txBody>
          <a:bodyPr/>
          <a:lstStyle/>
          <a:p>
            <a:r>
              <a:rPr lang="en-US"/>
              <a:t>Click to edit Master title style</a:t>
            </a:r>
            <a:endParaRPr lang="en-IE"/>
          </a:p>
        </p:txBody>
      </p:sp>
      <p:sp>
        <p:nvSpPr>
          <p:cNvPr id="3" name="SmartArt Placeholder 2"/>
          <p:cNvSpPr>
            <a:spLocks noGrp="1"/>
          </p:cNvSpPr>
          <p:nvPr>
            <p:ph type="dgm" idx="1"/>
          </p:nvPr>
        </p:nvSpPr>
        <p:spPr>
          <a:xfrm>
            <a:off x="1625600" y="1828800"/>
            <a:ext cx="9956800" cy="4267200"/>
          </a:xfrm>
        </p:spPr>
        <p:txBody>
          <a:bodyPr/>
          <a:lstStyle/>
          <a:p>
            <a:endParaRPr lang="en-IE"/>
          </a:p>
        </p:txBody>
      </p:sp>
      <p:sp>
        <p:nvSpPr>
          <p:cNvPr id="4" name="Footer Placeholder 3"/>
          <p:cNvSpPr>
            <a:spLocks noGrp="1"/>
          </p:cNvSpPr>
          <p:nvPr>
            <p:ph type="ftr" sz="quarter" idx="10"/>
          </p:nvPr>
        </p:nvSpPr>
        <p:spPr>
          <a:xfrm>
            <a:off x="1524000" y="6426200"/>
            <a:ext cx="9245600" cy="304800"/>
          </a:xfrm>
        </p:spPr>
        <p:txBody>
          <a:bodyPr/>
          <a:lstStyle>
            <a:lvl1pPr>
              <a:defRPr/>
            </a:lvl1pPr>
          </a:lstStyle>
          <a:p>
            <a:r>
              <a:rPr lang="en-GB"/>
              <a:t>Objects First with Java - A Practical Introduction using BlueJ, © David J. Barnes, Michael Kölling</a:t>
            </a:r>
          </a:p>
        </p:txBody>
      </p:sp>
    </p:spTree>
    <p:extLst>
      <p:ext uri="{BB962C8B-B14F-4D97-AF65-F5344CB8AC3E}">
        <p14:creationId xmlns:p14="http://schemas.microsoft.com/office/powerpoint/2010/main" val="621657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tutorialspoint.com/java/java_encapsulation.htm" TargetMode="Externa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3" Type="http://schemas.openxmlformats.org/officeDocument/2006/relationships/hyperlink" Target="http://www.tutorialspoint.com/java/java_encapsulation.htm" TargetMode="Externa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3" Type="http://schemas.openxmlformats.org/officeDocument/2006/relationships/hyperlink" Target="http://www.tutorialspoint.com/java/java_modifier_types.htm" TargetMode="Externa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hyperlink" Target="http://www.tutorialspoint.com/java/java_modifier_types.ht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www.evinw.com/w/" TargetMode="External"/><Relationship Id="rId1" Type="http://schemas.openxmlformats.org/officeDocument/2006/relationships/slideLayout" Target="../slideLayouts/slideLayout6.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www.evinw.com/w/" TargetMode="External"/><Relationship Id="rId1" Type="http://schemas.openxmlformats.org/officeDocument/2006/relationships/slideLayout" Target="../slideLayouts/slideLayout6.xml"/><Relationship Id="rId5" Type="http://schemas.openxmlformats.org/officeDocument/2006/relationships/image" Target="../media/image4.jp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hyperlink" Target="http://www.evinw.com/w/"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4.jpg"/></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www.evinw.com/w/" TargetMode="Externa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www.evinw.com/w/" TargetMode="External"/><Relationship Id="rId1" Type="http://schemas.openxmlformats.org/officeDocument/2006/relationships/slideLayout" Target="../slideLayouts/slideLayout6.xml"/><Relationship Id="rId4" Type="http://schemas.openxmlformats.org/officeDocument/2006/relationships/image" Target="../media/image6.jpg"/></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www.evinw.com/w/" TargetMode="External"/><Relationship Id="rId1" Type="http://schemas.openxmlformats.org/officeDocument/2006/relationships/slideLayout" Target="../slideLayouts/slideLayout6.xml"/><Relationship Id="rId4"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75641" y="914401"/>
            <a:ext cx="7772400" cy="1470025"/>
          </a:xfrm>
        </p:spPr>
        <p:txBody>
          <a:bodyPr>
            <a:normAutofit/>
          </a:bodyPr>
          <a:lstStyle/>
          <a:p>
            <a:pPr algn="l"/>
            <a:r>
              <a:rPr lang="en-IE" sz="4000" dirty="0"/>
              <a:t>Public and private access</a:t>
            </a:r>
          </a:p>
        </p:txBody>
      </p:sp>
      <p:sp>
        <p:nvSpPr>
          <p:cNvPr id="3" name="Subtitle 2"/>
          <p:cNvSpPr>
            <a:spLocks noGrp="1"/>
          </p:cNvSpPr>
          <p:nvPr>
            <p:ph type="subTitle" idx="1"/>
          </p:nvPr>
        </p:nvSpPr>
        <p:spPr>
          <a:xfrm>
            <a:off x="1638300" y="3810000"/>
            <a:ext cx="1866900" cy="1066800"/>
          </a:xfrm>
        </p:spPr>
        <p:txBody>
          <a:bodyPr>
            <a:normAutofit/>
          </a:bodyPr>
          <a:lstStyle/>
          <a:p>
            <a:pPr algn="r">
              <a:lnSpc>
                <a:spcPct val="110000"/>
              </a:lnSpc>
              <a:spcBef>
                <a:spcPts val="0"/>
              </a:spcBef>
            </a:pPr>
            <a:r>
              <a:rPr lang="en-IE" sz="2400" dirty="0"/>
              <a:t>Produced </a:t>
            </a:r>
          </a:p>
          <a:p>
            <a:pPr algn="r">
              <a:lnSpc>
                <a:spcPct val="110000"/>
              </a:lnSpc>
              <a:spcBef>
                <a:spcPts val="0"/>
              </a:spcBef>
            </a:pPr>
            <a:r>
              <a:rPr lang="en-IE" sz="2400" dirty="0"/>
              <a:t>by:</a:t>
            </a:r>
          </a:p>
        </p:txBody>
      </p:sp>
      <p:cxnSp>
        <p:nvCxnSpPr>
          <p:cNvPr id="6" name="Straight Connector 5"/>
          <p:cNvCxnSpPr/>
          <p:nvPr/>
        </p:nvCxnSpPr>
        <p:spPr>
          <a:xfrm>
            <a:off x="2251841" y="3124200"/>
            <a:ext cx="76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itle 1"/>
          <p:cNvSpPr txBox="1">
            <a:spLocks/>
          </p:cNvSpPr>
          <p:nvPr/>
        </p:nvSpPr>
        <p:spPr>
          <a:xfrm>
            <a:off x="2175641" y="2133601"/>
            <a:ext cx="7772400" cy="936625"/>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E" sz="3200" dirty="0">
                <a:solidFill>
                  <a:schemeClr val="tx1">
                    <a:lumMod val="50000"/>
                    <a:lumOff val="50000"/>
                  </a:schemeClr>
                </a:solidFill>
              </a:rPr>
              <a:t>Why do we need private fields and public methods?</a:t>
            </a:r>
          </a:p>
        </p:txBody>
      </p:sp>
      <p:sp>
        <p:nvSpPr>
          <p:cNvPr id="11" name="TextBox 10">
            <a:extLst>
              <a:ext uri="{FF2B5EF4-FFF2-40B4-BE49-F238E27FC236}">
                <a16:creationId xmlns:a16="http://schemas.microsoft.com/office/drawing/2014/main" id="{EA677B55-D426-4543-B23A-EF19035B891C}"/>
              </a:ext>
            </a:extLst>
          </p:cNvPr>
          <p:cNvSpPr txBox="1"/>
          <p:nvPr/>
        </p:nvSpPr>
        <p:spPr>
          <a:xfrm>
            <a:off x="3733800" y="3810001"/>
            <a:ext cx="3581400" cy="120032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E" sz="2400" dirty="0">
                <a:solidFill>
                  <a:schemeClr val="tx1">
                    <a:lumMod val="75000"/>
                    <a:lumOff val="25000"/>
                  </a:schemeClr>
                </a:solidFill>
              </a:rPr>
              <a:t>Ms. Mairead Meagher</a:t>
            </a:r>
          </a:p>
          <a:p>
            <a:r>
              <a:rPr lang="en-IE" sz="2400" dirty="0" err="1">
                <a:solidFill>
                  <a:schemeClr val="tx1">
                    <a:lumMod val="75000"/>
                    <a:lumOff val="25000"/>
                  </a:schemeClr>
                </a:solidFill>
              </a:rPr>
              <a:t>Dr.</a:t>
            </a:r>
            <a:r>
              <a:rPr lang="en-IE" sz="2400" dirty="0">
                <a:solidFill>
                  <a:schemeClr val="tx1">
                    <a:lumMod val="75000"/>
                    <a:lumOff val="25000"/>
                  </a:schemeClr>
                </a:solidFill>
              </a:rPr>
              <a:t> </a:t>
            </a:r>
            <a:r>
              <a:rPr lang="en-IE" sz="2400" dirty="0" err="1">
                <a:solidFill>
                  <a:schemeClr val="tx1">
                    <a:lumMod val="75000"/>
                    <a:lumOff val="25000"/>
                  </a:schemeClr>
                </a:solidFill>
              </a:rPr>
              <a:t>Siobhán</a:t>
            </a:r>
            <a:r>
              <a:rPr lang="en-IE" sz="2400" dirty="0">
                <a:solidFill>
                  <a:schemeClr val="tx1">
                    <a:lumMod val="75000"/>
                    <a:lumOff val="25000"/>
                  </a:schemeClr>
                </a:solidFill>
              </a:rPr>
              <a:t> </a:t>
            </a:r>
            <a:r>
              <a:rPr lang="en-IE" sz="2400" dirty="0" err="1">
                <a:solidFill>
                  <a:schemeClr val="tx1">
                    <a:lumMod val="75000"/>
                    <a:lumOff val="25000"/>
                  </a:schemeClr>
                </a:solidFill>
              </a:rPr>
              <a:t>Drohan</a:t>
            </a:r>
            <a:endParaRPr lang="en-IE" sz="2400" dirty="0">
              <a:solidFill>
                <a:schemeClr val="tx1">
                  <a:lumMod val="75000"/>
                  <a:lumOff val="25000"/>
                </a:schemeClr>
              </a:solidFill>
            </a:endParaRPr>
          </a:p>
          <a:p>
            <a:r>
              <a:rPr lang="en-IE" sz="2400">
                <a:solidFill>
                  <a:schemeClr val="tx1">
                    <a:lumMod val="75000"/>
                    <a:lumOff val="25000"/>
                  </a:schemeClr>
                </a:solidFill>
              </a:rPr>
              <a:t>Ms. Siobhan </a:t>
            </a:r>
            <a:r>
              <a:rPr lang="en-IE" sz="2400" dirty="0">
                <a:solidFill>
                  <a:schemeClr val="tx1">
                    <a:lumMod val="75000"/>
                    <a:lumOff val="25000"/>
                  </a:schemeClr>
                </a:solidFill>
              </a:rPr>
              <a:t>Roche</a:t>
            </a:r>
          </a:p>
        </p:txBody>
      </p:sp>
      <p:sp>
        <p:nvSpPr>
          <p:cNvPr id="4" name="TextBox 3">
            <a:extLst>
              <a:ext uri="{FF2B5EF4-FFF2-40B4-BE49-F238E27FC236}">
                <a16:creationId xmlns:a16="http://schemas.microsoft.com/office/drawing/2014/main" id="{EF15D31B-A9DE-A506-65E5-D5971C401F88}"/>
              </a:ext>
            </a:extLst>
          </p:cNvPr>
          <p:cNvSpPr txBox="1"/>
          <p:nvPr/>
        </p:nvSpPr>
        <p:spPr>
          <a:xfrm>
            <a:off x="7336971" y="5849826"/>
            <a:ext cx="4072758" cy="584775"/>
          </a:xfrm>
          <a:prstGeom prst="rect">
            <a:avLst/>
          </a:prstGeom>
          <a:noFill/>
        </p:spPr>
        <p:txBody>
          <a:bodyPr wrap="square" rtlCol="0">
            <a:spAutoFit/>
          </a:bodyPr>
          <a:lstStyle/>
          <a:p>
            <a:r>
              <a:rPr lang="en-IE" sz="1600" dirty="0"/>
              <a:t>Department of Computing and Mathematics</a:t>
            </a:r>
          </a:p>
          <a:p>
            <a:r>
              <a:rPr lang="en-IE" sz="1600" dirty="0"/>
              <a:t>http://www.setu.ie/</a:t>
            </a:r>
          </a:p>
        </p:txBody>
      </p:sp>
      <p:pic>
        <p:nvPicPr>
          <p:cNvPr id="5" name="Picture 4" descr="Text&#10;&#10;Description automatically generated">
            <a:extLst>
              <a:ext uri="{FF2B5EF4-FFF2-40B4-BE49-F238E27FC236}">
                <a16:creationId xmlns:a16="http://schemas.microsoft.com/office/drawing/2014/main" id="{EC636FD5-0E54-C41D-913C-A3A10C4E27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641" y="5501441"/>
            <a:ext cx="2286000" cy="1281546"/>
          </a:xfrm>
          <a:prstGeom prst="rect">
            <a:avLst/>
          </a:prstGeom>
        </p:spPr>
      </p:pic>
    </p:spTree>
    <p:extLst>
      <p:ext uri="{BB962C8B-B14F-4D97-AF65-F5344CB8AC3E}">
        <p14:creationId xmlns:p14="http://schemas.microsoft.com/office/powerpoint/2010/main" val="110643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sz="3600" dirty="0"/>
              <a:t>Class Diagram for Spot Version 2</a:t>
            </a:r>
          </a:p>
        </p:txBody>
      </p:sp>
      <p:graphicFrame>
        <p:nvGraphicFramePr>
          <p:cNvPr id="7" name="Content Placeholder 5"/>
          <p:cNvGraphicFramePr>
            <a:graphicFrameLocks/>
          </p:cNvGraphicFramePr>
          <p:nvPr/>
        </p:nvGraphicFramePr>
        <p:xfrm>
          <a:off x="5105400" y="1578686"/>
          <a:ext cx="4876800" cy="5279314"/>
        </p:xfrm>
        <a:graphic>
          <a:graphicData uri="http://schemas.openxmlformats.org/drawingml/2006/table">
            <a:tbl>
              <a:tblPr firstRow="1" bandRow="1">
                <a:tableStyleId>{5940675A-B579-460E-94D1-54222C63F5DA}</a:tableStyleId>
              </a:tblPr>
              <a:tblGrid>
                <a:gridCol w="4876800">
                  <a:extLst>
                    <a:ext uri="{9D8B030D-6E8A-4147-A177-3AD203B41FA5}">
                      <a16:colId xmlns:a16="http://schemas.microsoft.com/office/drawing/2014/main" val="20000"/>
                    </a:ext>
                  </a:extLst>
                </a:gridCol>
              </a:tblGrid>
              <a:tr h="524434">
                <a:tc>
                  <a:txBody>
                    <a:bodyPr/>
                    <a:lstStyle/>
                    <a:p>
                      <a:pPr algn="ctr"/>
                      <a:r>
                        <a:rPr lang="en-IE" sz="2000" b="1" i="1" dirty="0"/>
                        <a:t>Spot</a:t>
                      </a:r>
                    </a:p>
                  </a:txBody>
                  <a:tcPr>
                    <a:solidFill>
                      <a:schemeClr val="bg2"/>
                    </a:solidFill>
                  </a:tcPr>
                </a:tc>
                <a:extLst>
                  <a:ext uri="{0D108BD9-81ED-4DB2-BD59-A6C34878D82A}">
                    <a16:rowId xmlns:a16="http://schemas.microsoft.com/office/drawing/2014/main" val="10000"/>
                  </a:ext>
                </a:extLst>
              </a:tr>
              <a:tr h="1407692">
                <a:tc>
                  <a:txBody>
                    <a:bodyPr/>
                    <a:lstStyle/>
                    <a:p>
                      <a:r>
                        <a:rPr lang="en-IE" sz="2000" i="1" dirty="0" err="1"/>
                        <a:t>xCoord</a:t>
                      </a:r>
                      <a:endParaRPr lang="en-IE" sz="2000" i="1" dirty="0"/>
                    </a:p>
                    <a:p>
                      <a:r>
                        <a:rPr lang="en-IE" sz="2000" i="1" dirty="0" err="1"/>
                        <a:t>yCoord</a:t>
                      </a:r>
                      <a:endParaRPr lang="en-IE" sz="2000" i="1" dirty="0"/>
                    </a:p>
                    <a:p>
                      <a:r>
                        <a:rPr lang="en-IE" sz="2000" i="1" dirty="0"/>
                        <a:t>diameter</a:t>
                      </a:r>
                    </a:p>
                    <a:p>
                      <a:r>
                        <a:rPr lang="en-IE" sz="2000" i="1" dirty="0"/>
                        <a:t>red</a:t>
                      </a:r>
                    </a:p>
                    <a:p>
                      <a:r>
                        <a:rPr lang="en-IE" sz="2000" i="1" dirty="0"/>
                        <a:t>green</a:t>
                      </a:r>
                    </a:p>
                    <a:p>
                      <a:r>
                        <a:rPr lang="en-IE" sz="2000" i="1" dirty="0"/>
                        <a:t>blue</a:t>
                      </a:r>
                    </a:p>
                    <a:p>
                      <a:r>
                        <a:rPr lang="en-IE" sz="2000" i="1" dirty="0" err="1"/>
                        <a:t>gray</a:t>
                      </a:r>
                      <a:endParaRPr lang="en-IE" sz="2000" i="1" dirty="0"/>
                    </a:p>
                  </a:txBody>
                  <a:tcPr>
                    <a:solidFill>
                      <a:schemeClr val="bg2"/>
                    </a:solidFill>
                  </a:tcPr>
                </a:tc>
                <a:extLst>
                  <a:ext uri="{0D108BD9-81ED-4DB2-BD59-A6C34878D82A}">
                    <a16:rowId xmlns:a16="http://schemas.microsoft.com/office/drawing/2014/main" val="10001"/>
                  </a:ext>
                </a:extLst>
              </a:tr>
              <a:tr h="1250944">
                <a:tc>
                  <a:txBody>
                    <a:bodyPr/>
                    <a:lstStyle/>
                    <a:p>
                      <a:r>
                        <a:rPr lang="en-IE" sz="2000" i="1" dirty="0"/>
                        <a:t>Spot()</a:t>
                      </a:r>
                    </a:p>
                    <a:p>
                      <a:r>
                        <a:rPr lang="en-IE" sz="2000" i="1" dirty="0"/>
                        <a:t>Spot</a:t>
                      </a:r>
                      <a:r>
                        <a:rPr lang="en-IE" sz="2000" i="1" baseline="0" dirty="0"/>
                        <a:t>(float, float, float)</a:t>
                      </a:r>
                    </a:p>
                    <a:p>
                      <a:r>
                        <a:rPr lang="en-IE" sz="2000" i="1" baseline="0" dirty="0"/>
                        <a:t>Spot(float, float, float, </a:t>
                      </a:r>
                      <a:r>
                        <a:rPr lang="en-IE" sz="2000" i="1" baseline="0" dirty="0" err="1"/>
                        <a:t>int</a:t>
                      </a:r>
                      <a:r>
                        <a:rPr lang="en-IE" sz="2000" i="1" baseline="0" dirty="0"/>
                        <a:t>)</a:t>
                      </a:r>
                    </a:p>
                    <a:p>
                      <a:pPr marL="0" marR="0" indent="0" algn="l" defTabSz="914400" rtl="0" eaLnBrk="1" fontAlgn="auto" latinLnBrk="0" hangingPunct="1">
                        <a:lnSpc>
                          <a:spcPct val="100000"/>
                        </a:lnSpc>
                        <a:spcBef>
                          <a:spcPts val="0"/>
                        </a:spcBef>
                        <a:spcAft>
                          <a:spcPts val="0"/>
                        </a:spcAft>
                        <a:buClrTx/>
                        <a:buSzTx/>
                        <a:buFontTx/>
                        <a:buNone/>
                        <a:tabLst/>
                        <a:defRPr/>
                      </a:pPr>
                      <a:r>
                        <a:rPr lang="en-IE" sz="2000" i="1" baseline="0" dirty="0"/>
                        <a:t>Spot(float, float, float, </a:t>
                      </a:r>
                      <a:r>
                        <a:rPr lang="en-IE" sz="2000" i="1" baseline="0" dirty="0" err="1"/>
                        <a:t>int</a:t>
                      </a:r>
                      <a:r>
                        <a:rPr lang="en-IE" sz="2000" i="1" baseline="0" dirty="0"/>
                        <a:t>, </a:t>
                      </a:r>
                      <a:r>
                        <a:rPr lang="en-IE" sz="2000" i="1" baseline="0" dirty="0" err="1"/>
                        <a:t>int</a:t>
                      </a:r>
                      <a:r>
                        <a:rPr lang="en-IE" sz="2000" i="1" baseline="0" dirty="0"/>
                        <a:t>, </a:t>
                      </a:r>
                      <a:r>
                        <a:rPr lang="en-IE" sz="2000" i="1" baseline="0" dirty="0" err="1"/>
                        <a:t>int</a:t>
                      </a:r>
                      <a:r>
                        <a:rPr lang="en-IE" sz="2000" i="1" baseline="0" dirty="0"/>
                        <a:t>)</a:t>
                      </a:r>
                    </a:p>
                    <a:p>
                      <a:r>
                        <a:rPr lang="en-IE" sz="2000" i="1" baseline="0" dirty="0"/>
                        <a:t>display()</a:t>
                      </a:r>
                    </a:p>
                    <a:p>
                      <a:r>
                        <a:rPr lang="en-IE" sz="2000" i="1" baseline="0" dirty="0"/>
                        <a:t>colour(</a:t>
                      </a:r>
                      <a:r>
                        <a:rPr lang="en-IE" sz="2000" i="1" baseline="0" dirty="0" err="1"/>
                        <a:t>int</a:t>
                      </a:r>
                      <a:r>
                        <a:rPr lang="en-IE" sz="2000" i="1" baseline="0" dirty="0"/>
                        <a:t>, </a:t>
                      </a:r>
                      <a:r>
                        <a:rPr lang="en-IE" sz="2000" i="1" baseline="0" dirty="0" err="1"/>
                        <a:t>int</a:t>
                      </a:r>
                      <a:r>
                        <a:rPr lang="en-IE" sz="2000" i="1" baseline="0" dirty="0"/>
                        <a:t>, </a:t>
                      </a:r>
                      <a:r>
                        <a:rPr lang="en-IE" sz="2000" i="1" baseline="0" dirty="0" err="1"/>
                        <a:t>int</a:t>
                      </a:r>
                      <a:r>
                        <a:rPr lang="en-IE" sz="2000" i="1" baseline="0" dirty="0"/>
                        <a:t>)</a:t>
                      </a:r>
                    </a:p>
                    <a:p>
                      <a:r>
                        <a:rPr lang="en-IE" sz="2000" i="1" baseline="0" dirty="0"/>
                        <a:t>colour(</a:t>
                      </a:r>
                      <a:r>
                        <a:rPr lang="en-IE" sz="2000" i="1" baseline="0" dirty="0" err="1"/>
                        <a:t>int</a:t>
                      </a:r>
                      <a:r>
                        <a:rPr lang="en-IE" sz="2000" i="1" baseline="0" dirty="0"/>
                        <a:t>)</a:t>
                      </a:r>
                    </a:p>
                    <a:p>
                      <a:r>
                        <a:rPr lang="en-IE" sz="2000" i="1" baseline="0" dirty="0"/>
                        <a:t>move(float, float)</a:t>
                      </a:r>
                      <a:endParaRPr lang="en-IE" sz="2000" i="1" dirty="0"/>
                    </a:p>
                  </a:txBody>
                  <a:tcPr>
                    <a:solidFill>
                      <a:schemeClr val="bg2"/>
                    </a:solidFill>
                  </a:tcPr>
                </a:tc>
                <a:extLst>
                  <a:ext uri="{0D108BD9-81ED-4DB2-BD59-A6C34878D82A}">
                    <a16:rowId xmlns:a16="http://schemas.microsoft.com/office/drawing/2014/main" val="10002"/>
                  </a:ext>
                </a:extLst>
              </a:tr>
            </a:tbl>
          </a:graphicData>
        </a:graphic>
      </p:graphicFrame>
      <p:sp>
        <p:nvSpPr>
          <p:cNvPr id="4" name="TextBox 3">
            <a:extLst>
              <a:ext uri="{FF2B5EF4-FFF2-40B4-BE49-F238E27FC236}">
                <a16:creationId xmlns:a16="http://schemas.microsoft.com/office/drawing/2014/main" id="{AF55B6CE-98BC-4863-A435-E8D7EA6BEC92}"/>
              </a:ext>
            </a:extLst>
          </p:cNvPr>
          <p:cNvSpPr txBox="1"/>
          <p:nvPr/>
        </p:nvSpPr>
        <p:spPr>
          <a:xfrm>
            <a:off x="1752600" y="1502487"/>
            <a:ext cx="2209800"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IE" sz="2400" b="1" dirty="0"/>
              <a:t>Object</a:t>
            </a:r>
            <a:r>
              <a:rPr lang="en-IE" sz="2400" dirty="0"/>
              <a:t> Type/ </a:t>
            </a:r>
            <a:r>
              <a:rPr lang="en-IE" sz="2400" b="1" dirty="0"/>
              <a:t>Class</a:t>
            </a:r>
            <a:r>
              <a:rPr lang="en-IE" sz="2400" dirty="0"/>
              <a:t> Name</a:t>
            </a:r>
          </a:p>
        </p:txBody>
      </p:sp>
      <p:cxnSp>
        <p:nvCxnSpPr>
          <p:cNvPr id="5" name="Straight Arrow Connector 4">
            <a:extLst>
              <a:ext uri="{FF2B5EF4-FFF2-40B4-BE49-F238E27FC236}">
                <a16:creationId xmlns:a16="http://schemas.microsoft.com/office/drawing/2014/main" id="{4B579DCA-FE64-4FC1-AAA9-ADDA0D7F2487}"/>
              </a:ext>
            </a:extLst>
          </p:cNvPr>
          <p:cNvCxnSpPr>
            <a:cxnSpLocks/>
            <a:stCxn id="4" idx="3"/>
          </p:cNvCxnSpPr>
          <p:nvPr/>
        </p:nvCxnSpPr>
        <p:spPr>
          <a:xfrm>
            <a:off x="3962400" y="1917985"/>
            <a:ext cx="11430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B058B3F-4693-4F5F-8CA0-902626A3E2B9}"/>
              </a:ext>
            </a:extLst>
          </p:cNvPr>
          <p:cNvSpPr txBox="1"/>
          <p:nvPr/>
        </p:nvSpPr>
        <p:spPr>
          <a:xfrm>
            <a:off x="1752600" y="2674204"/>
            <a:ext cx="2895600"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IE" sz="2400" b="1" dirty="0"/>
              <a:t>Fields</a:t>
            </a:r>
            <a:r>
              <a:rPr lang="en-IE" sz="2400" dirty="0"/>
              <a:t> i.e. the attributes of the class</a:t>
            </a:r>
          </a:p>
        </p:txBody>
      </p:sp>
      <p:cxnSp>
        <p:nvCxnSpPr>
          <p:cNvPr id="8" name="Straight Arrow Connector 7">
            <a:extLst>
              <a:ext uri="{FF2B5EF4-FFF2-40B4-BE49-F238E27FC236}">
                <a16:creationId xmlns:a16="http://schemas.microsoft.com/office/drawing/2014/main" id="{093F8315-FEA9-4B50-997B-D6EF5C737DC6}"/>
              </a:ext>
            </a:extLst>
          </p:cNvPr>
          <p:cNvCxnSpPr>
            <a:stCxn id="6" idx="3"/>
          </p:cNvCxnSpPr>
          <p:nvPr/>
        </p:nvCxnSpPr>
        <p:spPr>
          <a:xfrm>
            <a:off x="4648200" y="3089702"/>
            <a:ext cx="4572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A28F948-94CE-4F6C-A8F5-087C6D29DD24}"/>
              </a:ext>
            </a:extLst>
          </p:cNvPr>
          <p:cNvSpPr txBox="1"/>
          <p:nvPr/>
        </p:nvSpPr>
        <p:spPr>
          <a:xfrm>
            <a:off x="1752600" y="4895672"/>
            <a:ext cx="2895600"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IE" sz="2400" b="1" dirty="0"/>
              <a:t>Methods</a:t>
            </a:r>
            <a:r>
              <a:rPr lang="en-IE" sz="2400" dirty="0"/>
              <a:t> </a:t>
            </a:r>
            <a:br>
              <a:rPr lang="en-IE" sz="2400" dirty="0"/>
            </a:br>
            <a:r>
              <a:rPr lang="en-IE" sz="2400" dirty="0"/>
              <a:t>i.e. the behaviours of the class</a:t>
            </a:r>
          </a:p>
        </p:txBody>
      </p:sp>
      <p:cxnSp>
        <p:nvCxnSpPr>
          <p:cNvPr id="10" name="Straight Arrow Connector 9">
            <a:extLst>
              <a:ext uri="{FF2B5EF4-FFF2-40B4-BE49-F238E27FC236}">
                <a16:creationId xmlns:a16="http://schemas.microsoft.com/office/drawing/2014/main" id="{E3DCA351-751B-4056-BA38-710740788F73}"/>
              </a:ext>
            </a:extLst>
          </p:cNvPr>
          <p:cNvCxnSpPr>
            <a:stCxn id="9" idx="3"/>
          </p:cNvCxnSpPr>
          <p:nvPr/>
        </p:nvCxnSpPr>
        <p:spPr>
          <a:xfrm flipV="1">
            <a:off x="4648200" y="5495836"/>
            <a:ext cx="457200" cy="1"/>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2" name="Right Bracket 11"/>
          <p:cNvSpPr/>
          <p:nvPr/>
        </p:nvSpPr>
        <p:spPr>
          <a:xfrm>
            <a:off x="8619893" y="4369369"/>
            <a:ext cx="152400" cy="1219200"/>
          </a:xfrm>
          <a:prstGeom prst="rightBracket">
            <a:avLst/>
          </a:prstGeom>
          <a:ln w="349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3" name="Right Bracket 12"/>
          <p:cNvSpPr/>
          <p:nvPr/>
        </p:nvSpPr>
        <p:spPr>
          <a:xfrm>
            <a:off x="7010400" y="5943600"/>
            <a:ext cx="152400" cy="533400"/>
          </a:xfrm>
          <a:prstGeom prst="rightBracket">
            <a:avLst/>
          </a:prstGeom>
          <a:ln w="349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4" name="TextBox 13">
            <a:extLst>
              <a:ext uri="{FF2B5EF4-FFF2-40B4-BE49-F238E27FC236}">
                <a16:creationId xmlns:a16="http://schemas.microsoft.com/office/drawing/2014/main" id="{1A28F948-94CE-4F6C-A8F5-087C6D29DD24}"/>
              </a:ext>
            </a:extLst>
          </p:cNvPr>
          <p:cNvSpPr txBox="1"/>
          <p:nvPr/>
        </p:nvSpPr>
        <p:spPr>
          <a:xfrm>
            <a:off x="8910754" y="4563471"/>
            <a:ext cx="1676400"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IE" sz="2400" b="1"/>
              <a:t>Overloaded Constructor</a:t>
            </a:r>
            <a:endParaRPr lang="en-IE" sz="2400" dirty="0"/>
          </a:p>
        </p:txBody>
      </p:sp>
      <p:sp>
        <p:nvSpPr>
          <p:cNvPr id="15" name="TextBox 14">
            <a:extLst>
              <a:ext uri="{FF2B5EF4-FFF2-40B4-BE49-F238E27FC236}">
                <a16:creationId xmlns:a16="http://schemas.microsoft.com/office/drawing/2014/main" id="{1A28F948-94CE-4F6C-A8F5-087C6D29DD24}"/>
              </a:ext>
            </a:extLst>
          </p:cNvPr>
          <p:cNvSpPr txBox="1"/>
          <p:nvPr/>
        </p:nvSpPr>
        <p:spPr>
          <a:xfrm>
            <a:off x="8763000" y="5794802"/>
            <a:ext cx="1676400"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IE" sz="2400" b="1" dirty="0"/>
              <a:t>Overloaded Methods</a:t>
            </a:r>
            <a:endParaRPr lang="en-IE" sz="2400" dirty="0"/>
          </a:p>
        </p:txBody>
      </p:sp>
      <p:cxnSp>
        <p:nvCxnSpPr>
          <p:cNvPr id="16" name="Straight Arrow Connector 15">
            <a:extLst>
              <a:ext uri="{FF2B5EF4-FFF2-40B4-BE49-F238E27FC236}">
                <a16:creationId xmlns:a16="http://schemas.microsoft.com/office/drawing/2014/main" id="{E3DCA351-751B-4056-BA38-710740788F73}"/>
              </a:ext>
            </a:extLst>
          </p:cNvPr>
          <p:cNvCxnSpPr/>
          <p:nvPr/>
        </p:nvCxnSpPr>
        <p:spPr>
          <a:xfrm flipH="1" flipV="1">
            <a:off x="7162800" y="6210300"/>
            <a:ext cx="1533294" cy="1"/>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30911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9" grpId="0" animBg="1"/>
      <p:bldP spid="12" grpId="0" animBg="1"/>
      <p:bldP spid="13" grpId="0" animBg="1"/>
      <p:bldP spid="14"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Spot Class </a:t>
            </a:r>
            <a:br>
              <a:rPr lang="en-IE" dirty="0"/>
            </a:br>
            <a:r>
              <a:rPr lang="en-IE" dirty="0"/>
              <a:t>– Version 2</a:t>
            </a:r>
          </a:p>
        </p:txBody>
      </p:sp>
      <p:sp>
        <p:nvSpPr>
          <p:cNvPr id="6" name="Rectangle 5"/>
          <p:cNvSpPr/>
          <p:nvPr/>
        </p:nvSpPr>
        <p:spPr>
          <a:xfrm>
            <a:off x="5105400" y="6581002"/>
            <a:ext cx="5562600" cy="276999"/>
          </a:xfrm>
          <a:prstGeom prst="rect">
            <a:avLst/>
          </a:prstGeom>
        </p:spPr>
        <p:txBody>
          <a:bodyPr wrap="square">
            <a:spAutoFit/>
          </a:bodyPr>
          <a:lstStyle/>
          <a:p>
            <a:pPr algn="r"/>
            <a:r>
              <a:rPr lang="en-IE" sz="1200" dirty="0"/>
              <a:t>Source:  </a:t>
            </a:r>
            <a:r>
              <a:rPr lang="en-IE" sz="1200" dirty="0" err="1"/>
              <a:t>Reas</a:t>
            </a:r>
            <a:r>
              <a:rPr lang="en-IE" sz="1200" dirty="0"/>
              <a:t> &amp; Fry (2014)</a:t>
            </a:r>
          </a:p>
        </p:txBody>
      </p:sp>
      <p:sp>
        <p:nvSpPr>
          <p:cNvPr id="3" name="Rectangle 2"/>
          <p:cNvSpPr/>
          <p:nvPr/>
        </p:nvSpPr>
        <p:spPr>
          <a:xfrm>
            <a:off x="5105400" y="152400"/>
            <a:ext cx="5334000" cy="6247864"/>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b="1" dirty="0"/>
              <a:t>class</a:t>
            </a:r>
            <a:r>
              <a:rPr lang="en-IE" sz="2000" dirty="0"/>
              <a:t> Spot{</a:t>
            </a:r>
          </a:p>
          <a:p>
            <a:r>
              <a:rPr lang="en-IE" sz="2000" dirty="0"/>
              <a:t>  float </a:t>
            </a:r>
            <a:r>
              <a:rPr lang="en-IE" sz="2000" dirty="0" err="1"/>
              <a:t>xCoord</a:t>
            </a:r>
            <a:r>
              <a:rPr lang="en-IE" sz="2000" dirty="0"/>
              <a:t>, </a:t>
            </a:r>
            <a:r>
              <a:rPr lang="en-IE" sz="2000" dirty="0" err="1"/>
              <a:t>yCoord</a:t>
            </a:r>
            <a:r>
              <a:rPr lang="en-IE" sz="2000" dirty="0"/>
              <a:t>;</a:t>
            </a:r>
          </a:p>
          <a:p>
            <a:r>
              <a:rPr lang="en-IE" sz="2000" dirty="0"/>
              <a:t>  float diameter;</a:t>
            </a:r>
          </a:p>
          <a:p>
            <a:r>
              <a:rPr lang="en-IE" sz="2000" dirty="0"/>
              <a:t>  </a:t>
            </a:r>
            <a:r>
              <a:rPr lang="en-IE" sz="2000" dirty="0" err="1"/>
              <a:t>int</a:t>
            </a:r>
            <a:r>
              <a:rPr lang="en-IE" sz="2000" dirty="0"/>
              <a:t> red, green, blue;</a:t>
            </a:r>
          </a:p>
          <a:p>
            <a:r>
              <a:rPr lang="en-IE" sz="2000" dirty="0"/>
              <a:t>  </a:t>
            </a:r>
          </a:p>
          <a:p>
            <a:r>
              <a:rPr lang="en-IE" sz="2000" dirty="0"/>
              <a:t> Spot()</a:t>
            </a:r>
          </a:p>
          <a:p>
            <a:r>
              <a:rPr lang="en-IE" sz="2000" dirty="0"/>
              <a:t>  {</a:t>
            </a:r>
          </a:p>
          <a:p>
            <a:r>
              <a:rPr lang="en-IE" sz="2000" dirty="0"/>
              <a:t>  }</a:t>
            </a:r>
          </a:p>
          <a:p>
            <a:r>
              <a:rPr lang="en-IE" sz="2000" dirty="0"/>
              <a:t>  </a:t>
            </a:r>
          </a:p>
          <a:p>
            <a:r>
              <a:rPr lang="en-IE" sz="2000" dirty="0"/>
              <a:t> Spot (float </a:t>
            </a:r>
            <a:r>
              <a:rPr lang="en-IE" sz="2000" dirty="0" err="1"/>
              <a:t>xCoord</a:t>
            </a:r>
            <a:r>
              <a:rPr lang="en-IE" sz="2000" dirty="0"/>
              <a:t>, float </a:t>
            </a:r>
            <a:r>
              <a:rPr lang="en-IE" sz="2000" dirty="0" err="1"/>
              <a:t>yCoord</a:t>
            </a:r>
            <a:r>
              <a:rPr lang="en-IE" sz="2000" dirty="0"/>
              <a:t>, float diameter)</a:t>
            </a:r>
          </a:p>
          <a:p>
            <a:r>
              <a:rPr lang="en-IE" sz="2000" dirty="0"/>
              <a:t> {</a:t>
            </a:r>
          </a:p>
          <a:p>
            <a:r>
              <a:rPr lang="en-IE" sz="2000" dirty="0"/>
              <a:t>    </a:t>
            </a:r>
            <a:r>
              <a:rPr lang="en-IE" sz="2000" dirty="0" err="1"/>
              <a:t>this.xCoord</a:t>
            </a:r>
            <a:r>
              <a:rPr lang="en-IE" sz="2000" dirty="0"/>
              <a:t> = </a:t>
            </a:r>
            <a:r>
              <a:rPr lang="en-IE" sz="2000" dirty="0" err="1"/>
              <a:t>xCoord</a:t>
            </a:r>
            <a:r>
              <a:rPr lang="en-IE" sz="2000" dirty="0"/>
              <a:t>;</a:t>
            </a:r>
          </a:p>
          <a:p>
            <a:r>
              <a:rPr lang="en-IE" sz="2000" dirty="0"/>
              <a:t>    </a:t>
            </a:r>
            <a:r>
              <a:rPr lang="en-IE" sz="2000" dirty="0" err="1"/>
              <a:t>this.yCoord</a:t>
            </a:r>
            <a:r>
              <a:rPr lang="en-IE" sz="2000" dirty="0"/>
              <a:t> = </a:t>
            </a:r>
            <a:r>
              <a:rPr lang="en-IE" sz="2000" dirty="0" err="1"/>
              <a:t>yCoord</a:t>
            </a:r>
            <a:r>
              <a:rPr lang="en-IE" sz="2000" dirty="0"/>
              <a:t>;</a:t>
            </a:r>
          </a:p>
          <a:p>
            <a:r>
              <a:rPr lang="en-IE" sz="2000" dirty="0"/>
              <a:t>    </a:t>
            </a:r>
            <a:r>
              <a:rPr lang="en-IE" sz="2000" dirty="0" err="1"/>
              <a:t>this.diameter</a:t>
            </a:r>
            <a:r>
              <a:rPr lang="en-IE" sz="2000" dirty="0"/>
              <a:t> = diameter;</a:t>
            </a:r>
          </a:p>
          <a:p>
            <a:r>
              <a:rPr lang="en-IE" sz="2000" dirty="0"/>
              <a:t>  }</a:t>
            </a:r>
          </a:p>
          <a:p>
            <a:endParaRPr lang="en-IE" sz="2000" dirty="0">
              <a:solidFill>
                <a:schemeClr val="bg1">
                  <a:lumMod val="50000"/>
                </a:schemeClr>
              </a:solidFill>
            </a:endParaRPr>
          </a:p>
          <a:p>
            <a:r>
              <a:rPr lang="en-IE" sz="2000" b="1" dirty="0">
                <a:solidFill>
                  <a:srgbClr val="FF0000"/>
                </a:solidFill>
              </a:rPr>
              <a:t>  </a:t>
            </a:r>
            <a:r>
              <a:rPr lang="en-IE" sz="2000" dirty="0">
                <a:solidFill>
                  <a:schemeClr val="bg1">
                    <a:lumMod val="50000"/>
                  </a:schemeClr>
                </a:solidFill>
              </a:rPr>
              <a:t>// colour methods…</a:t>
            </a:r>
          </a:p>
          <a:p>
            <a:r>
              <a:rPr lang="en-IE" sz="2000" dirty="0">
                <a:solidFill>
                  <a:schemeClr val="bg1">
                    <a:lumMod val="50000"/>
                  </a:schemeClr>
                </a:solidFill>
              </a:rPr>
              <a:t>  // display method…</a:t>
            </a:r>
          </a:p>
          <a:p>
            <a:r>
              <a:rPr lang="en-IE" sz="2000" dirty="0">
                <a:solidFill>
                  <a:schemeClr val="bg1">
                    <a:lumMod val="50000"/>
                  </a:schemeClr>
                </a:solidFill>
              </a:rPr>
              <a:t>  // move method…</a:t>
            </a:r>
            <a:endParaRPr lang="en-IE" sz="2000" dirty="0"/>
          </a:p>
          <a:p>
            <a:r>
              <a:rPr lang="en-IE" sz="2000" dirty="0"/>
              <a:t>}</a:t>
            </a:r>
          </a:p>
        </p:txBody>
      </p:sp>
      <p:pic>
        <p:nvPicPr>
          <p:cNvPr id="7" name="Picture 2">
            <a:extLst>
              <a:ext uri="{FF2B5EF4-FFF2-40B4-BE49-F238E27FC236}">
                <a16:creationId xmlns:a16="http://schemas.microsoft.com/office/drawing/2014/main" id="{D80145D5-95F6-0B4E-A332-C58AED4E4D2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294" t="14757" r="75087" b="69684"/>
          <a:stretch/>
        </p:blipFill>
        <p:spPr bwMode="auto">
          <a:xfrm>
            <a:off x="2286001" y="2514600"/>
            <a:ext cx="1345455" cy="171722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564325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Spot Class </a:t>
            </a:r>
            <a:br>
              <a:rPr lang="en-IE" dirty="0"/>
            </a:br>
            <a:r>
              <a:rPr lang="en-IE" dirty="0"/>
              <a:t>– Version 2</a:t>
            </a:r>
          </a:p>
        </p:txBody>
      </p:sp>
      <p:sp>
        <p:nvSpPr>
          <p:cNvPr id="6" name="Rectangle 5"/>
          <p:cNvSpPr/>
          <p:nvPr/>
        </p:nvSpPr>
        <p:spPr>
          <a:xfrm>
            <a:off x="5105400" y="6581002"/>
            <a:ext cx="5562600" cy="276999"/>
          </a:xfrm>
          <a:prstGeom prst="rect">
            <a:avLst/>
          </a:prstGeom>
        </p:spPr>
        <p:txBody>
          <a:bodyPr wrap="square">
            <a:spAutoFit/>
          </a:bodyPr>
          <a:lstStyle/>
          <a:p>
            <a:pPr algn="r"/>
            <a:r>
              <a:rPr lang="en-IE" sz="1200" dirty="0"/>
              <a:t>Source:  </a:t>
            </a:r>
            <a:r>
              <a:rPr lang="en-IE" sz="1200" dirty="0" err="1"/>
              <a:t>Reas</a:t>
            </a:r>
            <a:r>
              <a:rPr lang="en-IE" sz="1200" dirty="0"/>
              <a:t> &amp; Fry (2014)</a:t>
            </a:r>
          </a:p>
        </p:txBody>
      </p:sp>
      <p:sp>
        <p:nvSpPr>
          <p:cNvPr id="3" name="Rectangle 2"/>
          <p:cNvSpPr/>
          <p:nvPr/>
        </p:nvSpPr>
        <p:spPr>
          <a:xfrm>
            <a:off x="4876800" y="152401"/>
            <a:ext cx="5562600" cy="6555641"/>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b="1" dirty="0"/>
              <a:t>class</a:t>
            </a:r>
            <a:r>
              <a:rPr lang="en-IE" sz="2000" dirty="0"/>
              <a:t> Spot{</a:t>
            </a:r>
          </a:p>
          <a:p>
            <a:r>
              <a:rPr lang="en-IE" sz="2000" dirty="0">
                <a:solidFill>
                  <a:schemeClr val="bg1">
                    <a:lumMod val="50000"/>
                  </a:schemeClr>
                </a:solidFill>
              </a:rPr>
              <a:t>// fields and constructors…</a:t>
            </a:r>
          </a:p>
          <a:p>
            <a:endParaRPr lang="en-IE" sz="2000" dirty="0"/>
          </a:p>
          <a:p>
            <a:r>
              <a:rPr lang="en-IE" sz="2000" dirty="0"/>
              <a:t> void display ()</a:t>
            </a:r>
          </a:p>
          <a:p>
            <a:r>
              <a:rPr lang="en-IE" sz="2000" dirty="0"/>
              <a:t>  {</a:t>
            </a:r>
          </a:p>
          <a:p>
            <a:r>
              <a:rPr lang="en-IE" sz="2000" dirty="0"/>
              <a:t>    ellipse(</a:t>
            </a:r>
            <a:r>
              <a:rPr lang="en-IE" sz="2000" dirty="0" err="1"/>
              <a:t>xCoord</a:t>
            </a:r>
            <a:r>
              <a:rPr lang="en-IE" sz="2000" dirty="0"/>
              <a:t>, </a:t>
            </a:r>
            <a:r>
              <a:rPr lang="en-IE" sz="2000" dirty="0" err="1"/>
              <a:t>yCoord</a:t>
            </a:r>
            <a:r>
              <a:rPr lang="en-IE" sz="2000" dirty="0"/>
              <a:t>, diameter, diameter);</a:t>
            </a:r>
          </a:p>
          <a:p>
            <a:r>
              <a:rPr lang="en-IE" sz="2000" dirty="0"/>
              <a:t>  }</a:t>
            </a:r>
          </a:p>
          <a:p>
            <a:r>
              <a:rPr lang="en-IE" sz="2000" dirty="0"/>
              <a:t>  </a:t>
            </a:r>
          </a:p>
          <a:p>
            <a:r>
              <a:rPr lang="en-IE" sz="2000" dirty="0"/>
              <a:t> void colour (</a:t>
            </a:r>
            <a:r>
              <a:rPr lang="en-IE" sz="2000" dirty="0" err="1"/>
              <a:t>int</a:t>
            </a:r>
            <a:r>
              <a:rPr lang="en-IE" sz="2000" dirty="0"/>
              <a:t> red, </a:t>
            </a:r>
            <a:r>
              <a:rPr lang="en-IE" sz="2000" dirty="0" err="1"/>
              <a:t>int</a:t>
            </a:r>
            <a:r>
              <a:rPr lang="en-IE" sz="2000" dirty="0"/>
              <a:t> green, </a:t>
            </a:r>
            <a:r>
              <a:rPr lang="en-IE" sz="2000" dirty="0" err="1"/>
              <a:t>int</a:t>
            </a:r>
            <a:r>
              <a:rPr lang="en-IE" sz="2000" dirty="0"/>
              <a:t> blue)</a:t>
            </a:r>
          </a:p>
          <a:p>
            <a:r>
              <a:rPr lang="en-IE" sz="2000" dirty="0"/>
              <a:t>  {</a:t>
            </a:r>
          </a:p>
          <a:p>
            <a:r>
              <a:rPr lang="en-IE" sz="2000" dirty="0"/>
              <a:t>    </a:t>
            </a:r>
            <a:r>
              <a:rPr lang="en-IE" sz="2000" dirty="0" err="1"/>
              <a:t>this.red</a:t>
            </a:r>
            <a:r>
              <a:rPr lang="en-IE" sz="2000" dirty="0"/>
              <a:t> = red;</a:t>
            </a:r>
          </a:p>
          <a:p>
            <a:r>
              <a:rPr lang="en-IE" sz="2000" dirty="0"/>
              <a:t>    </a:t>
            </a:r>
            <a:r>
              <a:rPr lang="en-IE" sz="2000" dirty="0" err="1"/>
              <a:t>this.green</a:t>
            </a:r>
            <a:r>
              <a:rPr lang="en-IE" sz="2000" dirty="0"/>
              <a:t> = green;</a:t>
            </a:r>
          </a:p>
          <a:p>
            <a:r>
              <a:rPr lang="en-IE" sz="2000" dirty="0"/>
              <a:t>    </a:t>
            </a:r>
            <a:r>
              <a:rPr lang="en-IE" sz="2000" dirty="0" err="1"/>
              <a:t>this.blue</a:t>
            </a:r>
            <a:r>
              <a:rPr lang="en-IE" sz="2000" dirty="0"/>
              <a:t> = blue;</a:t>
            </a:r>
          </a:p>
          <a:p>
            <a:r>
              <a:rPr lang="en-IE" sz="2000" dirty="0"/>
              <a:t>    fill (red, green, blue);</a:t>
            </a:r>
          </a:p>
          <a:p>
            <a:r>
              <a:rPr lang="en-IE" sz="2000" dirty="0"/>
              <a:t>  }</a:t>
            </a:r>
          </a:p>
          <a:p>
            <a:endParaRPr lang="en-IE" sz="2000" dirty="0"/>
          </a:p>
          <a:p>
            <a:r>
              <a:rPr lang="en-IE" sz="2000" dirty="0"/>
              <a:t>  void colour (</a:t>
            </a:r>
            <a:r>
              <a:rPr lang="en-IE" sz="2000" dirty="0" err="1"/>
              <a:t>int</a:t>
            </a:r>
            <a:r>
              <a:rPr lang="en-IE" sz="2000" dirty="0"/>
              <a:t> </a:t>
            </a:r>
            <a:r>
              <a:rPr lang="en-IE" sz="2000" dirty="0" err="1"/>
              <a:t>gray</a:t>
            </a:r>
            <a:r>
              <a:rPr lang="en-IE" sz="2000" dirty="0"/>
              <a:t>){</a:t>
            </a:r>
          </a:p>
          <a:p>
            <a:r>
              <a:rPr lang="en-IE" sz="2000" dirty="0"/>
              <a:t>    </a:t>
            </a:r>
            <a:r>
              <a:rPr lang="en-IE" sz="2000" dirty="0" err="1"/>
              <a:t>this.gray</a:t>
            </a:r>
            <a:r>
              <a:rPr lang="en-IE" sz="2000" dirty="0"/>
              <a:t> = </a:t>
            </a:r>
            <a:r>
              <a:rPr lang="en-IE" sz="2000" dirty="0" err="1"/>
              <a:t>gray</a:t>
            </a:r>
            <a:r>
              <a:rPr lang="en-IE" sz="2000" dirty="0"/>
              <a:t>;</a:t>
            </a:r>
          </a:p>
          <a:p>
            <a:r>
              <a:rPr lang="en-IE" sz="2000" dirty="0"/>
              <a:t>    fill (</a:t>
            </a:r>
            <a:r>
              <a:rPr lang="en-IE" sz="2000" dirty="0" err="1"/>
              <a:t>this.gray</a:t>
            </a:r>
            <a:r>
              <a:rPr lang="en-IE" sz="2000" dirty="0"/>
              <a:t>);</a:t>
            </a:r>
          </a:p>
          <a:p>
            <a:r>
              <a:rPr lang="en-IE" sz="2000" dirty="0"/>
              <a:t>  }</a:t>
            </a:r>
          </a:p>
          <a:p>
            <a:r>
              <a:rPr lang="en-IE" sz="2000" dirty="0"/>
              <a:t>}</a:t>
            </a:r>
          </a:p>
        </p:txBody>
      </p:sp>
      <p:pic>
        <p:nvPicPr>
          <p:cNvPr id="7" name="Picture 2">
            <a:extLst>
              <a:ext uri="{FF2B5EF4-FFF2-40B4-BE49-F238E27FC236}">
                <a16:creationId xmlns:a16="http://schemas.microsoft.com/office/drawing/2014/main" id="{1EDB8CE9-B082-1848-B00C-F5F4AF8CFA8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294" t="14757" r="75087" b="69684"/>
          <a:stretch/>
        </p:blipFill>
        <p:spPr bwMode="auto">
          <a:xfrm>
            <a:off x="2743200" y="2625638"/>
            <a:ext cx="1019644" cy="130138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298335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Spot Class – </a:t>
            </a:r>
            <a:br>
              <a:rPr lang="en-IE" dirty="0"/>
            </a:br>
            <a:r>
              <a:rPr lang="en-IE" b="1" dirty="0"/>
              <a:t>Version 2</a:t>
            </a:r>
          </a:p>
        </p:txBody>
      </p:sp>
      <p:sp>
        <p:nvSpPr>
          <p:cNvPr id="6" name="Rectangle 5"/>
          <p:cNvSpPr/>
          <p:nvPr/>
        </p:nvSpPr>
        <p:spPr>
          <a:xfrm>
            <a:off x="5105400" y="6581002"/>
            <a:ext cx="5562600" cy="276999"/>
          </a:xfrm>
          <a:prstGeom prst="rect">
            <a:avLst/>
          </a:prstGeom>
        </p:spPr>
        <p:txBody>
          <a:bodyPr wrap="square">
            <a:spAutoFit/>
          </a:bodyPr>
          <a:lstStyle/>
          <a:p>
            <a:pPr algn="r"/>
            <a:r>
              <a:rPr lang="en-IE" sz="1200" dirty="0"/>
              <a:t>Source:  </a:t>
            </a:r>
            <a:r>
              <a:rPr lang="en-IE" sz="1200" dirty="0" err="1"/>
              <a:t>Reas</a:t>
            </a:r>
            <a:r>
              <a:rPr lang="en-IE" sz="1200" dirty="0"/>
              <a:t> &amp; Fry (2014)</a:t>
            </a:r>
          </a:p>
        </p:txBody>
      </p:sp>
      <p:sp>
        <p:nvSpPr>
          <p:cNvPr id="4" name="Rectangle 3"/>
          <p:cNvSpPr/>
          <p:nvPr/>
        </p:nvSpPr>
        <p:spPr>
          <a:xfrm>
            <a:off x="1600200" y="1469173"/>
            <a:ext cx="6705600" cy="5078313"/>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IE" sz="2000" dirty="0"/>
              <a:t>Spot </a:t>
            </a:r>
            <a:r>
              <a:rPr lang="en-IE" sz="2000" dirty="0" err="1"/>
              <a:t>sp</a:t>
            </a:r>
            <a:r>
              <a:rPr lang="en-IE" sz="2000" dirty="0"/>
              <a:t>;</a:t>
            </a:r>
          </a:p>
          <a:p>
            <a:endParaRPr lang="en-IE" sz="2000" dirty="0"/>
          </a:p>
          <a:p>
            <a:r>
              <a:rPr lang="en-IE" sz="2000" dirty="0"/>
              <a:t>void setup()</a:t>
            </a:r>
          </a:p>
          <a:p>
            <a:r>
              <a:rPr lang="en-IE" sz="2000" dirty="0"/>
              <a:t>{</a:t>
            </a:r>
          </a:p>
          <a:p>
            <a:r>
              <a:rPr lang="en-IE" sz="2000" dirty="0"/>
              <a:t>  size (100,100);</a:t>
            </a:r>
          </a:p>
          <a:p>
            <a:r>
              <a:rPr lang="en-IE" sz="2000" dirty="0"/>
              <a:t>  </a:t>
            </a:r>
            <a:r>
              <a:rPr lang="en-IE" sz="2000" dirty="0" err="1"/>
              <a:t>noStroke</a:t>
            </a:r>
            <a:r>
              <a:rPr lang="en-IE" sz="2000" dirty="0"/>
              <a:t>();</a:t>
            </a:r>
          </a:p>
          <a:p>
            <a:r>
              <a:rPr lang="en-IE" sz="2000" dirty="0"/>
              <a:t>  </a:t>
            </a:r>
            <a:r>
              <a:rPr lang="en-IE" sz="2000" dirty="0" err="1"/>
              <a:t>sp</a:t>
            </a:r>
            <a:r>
              <a:rPr lang="en-IE" sz="2000" dirty="0"/>
              <a:t> = new Spot(33, 50, 30);</a:t>
            </a:r>
          </a:p>
          <a:p>
            <a:r>
              <a:rPr lang="en-IE" sz="2000" dirty="0"/>
              <a:t>}</a:t>
            </a:r>
          </a:p>
          <a:p>
            <a:endParaRPr lang="en-IE" sz="2000" dirty="0"/>
          </a:p>
          <a:p>
            <a:r>
              <a:rPr lang="en-IE" sz="2000" dirty="0"/>
              <a:t>void draw()</a:t>
            </a:r>
          </a:p>
          <a:p>
            <a:r>
              <a:rPr lang="en-IE" sz="2000" dirty="0"/>
              <a:t>{</a:t>
            </a:r>
          </a:p>
          <a:p>
            <a:r>
              <a:rPr lang="en-IE" sz="2000" dirty="0"/>
              <a:t>  background(0);</a:t>
            </a:r>
          </a:p>
          <a:p>
            <a:r>
              <a:rPr lang="en-IE" sz="2000" dirty="0"/>
              <a:t>  </a:t>
            </a:r>
            <a:r>
              <a:rPr lang="en-IE" sz="2000" dirty="0" err="1"/>
              <a:t>sp.colour</a:t>
            </a:r>
            <a:r>
              <a:rPr lang="en-IE" sz="2000" dirty="0"/>
              <a:t>(255, 0, 0);</a:t>
            </a:r>
          </a:p>
          <a:p>
            <a:r>
              <a:rPr lang="en-IE" sz="2400" b="1" dirty="0">
                <a:solidFill>
                  <a:srgbClr val="FF0000"/>
                </a:solidFill>
              </a:rPr>
              <a:t>  </a:t>
            </a:r>
            <a:r>
              <a:rPr lang="en-IE" sz="2400" b="1" dirty="0" err="1">
                <a:solidFill>
                  <a:srgbClr val="FF0000"/>
                </a:solidFill>
              </a:rPr>
              <a:t>sp.diameter</a:t>
            </a:r>
            <a:r>
              <a:rPr lang="en-IE" sz="2400" b="1" dirty="0">
                <a:solidFill>
                  <a:srgbClr val="FF0000"/>
                </a:solidFill>
              </a:rPr>
              <a:t> = 30000;</a:t>
            </a:r>
          </a:p>
          <a:p>
            <a:r>
              <a:rPr lang="en-IE" sz="2000" dirty="0"/>
              <a:t>  </a:t>
            </a:r>
            <a:r>
              <a:rPr lang="en-IE" sz="2000" dirty="0" err="1"/>
              <a:t>sp.display</a:t>
            </a:r>
            <a:r>
              <a:rPr lang="en-IE" sz="2000" dirty="0"/>
              <a:t>();</a:t>
            </a:r>
          </a:p>
          <a:p>
            <a:r>
              <a:rPr lang="en-IE" sz="2000" dirty="0"/>
              <a:t>}</a:t>
            </a:r>
          </a:p>
        </p:txBody>
      </p:sp>
      <p:sp>
        <p:nvSpPr>
          <p:cNvPr id="3" name="Rectangle 2"/>
          <p:cNvSpPr/>
          <p:nvPr/>
        </p:nvSpPr>
        <p:spPr>
          <a:xfrm>
            <a:off x="4724400" y="304800"/>
            <a:ext cx="5791200" cy="5940088"/>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dirty="0"/>
              <a:t>class Spot{</a:t>
            </a:r>
          </a:p>
          <a:p>
            <a:r>
              <a:rPr lang="en-IE" sz="2000" dirty="0"/>
              <a:t>  float </a:t>
            </a:r>
            <a:r>
              <a:rPr lang="en-IE" sz="2000" dirty="0" err="1"/>
              <a:t>xCoord</a:t>
            </a:r>
            <a:r>
              <a:rPr lang="en-IE" sz="2000" dirty="0"/>
              <a:t>, </a:t>
            </a:r>
            <a:r>
              <a:rPr lang="en-IE" sz="2000" dirty="0" err="1"/>
              <a:t>yCoord</a:t>
            </a:r>
            <a:r>
              <a:rPr lang="en-IE" sz="2000" dirty="0"/>
              <a:t>;</a:t>
            </a:r>
          </a:p>
          <a:p>
            <a:r>
              <a:rPr lang="en-IE" sz="2000" dirty="0"/>
              <a:t>  float diameter;</a:t>
            </a:r>
          </a:p>
          <a:p>
            <a:r>
              <a:rPr lang="en-IE" sz="2000" dirty="0"/>
              <a:t>  </a:t>
            </a:r>
            <a:r>
              <a:rPr lang="en-IE" sz="2000" dirty="0" err="1"/>
              <a:t>int</a:t>
            </a:r>
            <a:r>
              <a:rPr lang="en-IE" sz="2000" dirty="0"/>
              <a:t> red, green, blue;</a:t>
            </a:r>
          </a:p>
          <a:p>
            <a:r>
              <a:rPr lang="en-IE" sz="2000" dirty="0"/>
              <a:t>  </a:t>
            </a:r>
          </a:p>
          <a:p>
            <a:r>
              <a:rPr lang="en-IE" sz="2000" dirty="0"/>
              <a:t>  </a:t>
            </a:r>
            <a:r>
              <a:rPr lang="en-IE" sz="2000" dirty="0">
                <a:solidFill>
                  <a:schemeClr val="bg1">
                    <a:lumMod val="50000"/>
                  </a:schemeClr>
                </a:solidFill>
              </a:rPr>
              <a:t>// constructors…</a:t>
            </a:r>
          </a:p>
          <a:p>
            <a:r>
              <a:rPr lang="en-IE" sz="2000" dirty="0"/>
              <a:t> void display(){</a:t>
            </a:r>
          </a:p>
          <a:p>
            <a:r>
              <a:rPr lang="en-IE" sz="2000" dirty="0"/>
              <a:t>    ellipse(</a:t>
            </a:r>
            <a:r>
              <a:rPr lang="en-IE" sz="2000" dirty="0" err="1"/>
              <a:t>xCoord</a:t>
            </a:r>
            <a:r>
              <a:rPr lang="en-IE" sz="2000" dirty="0"/>
              <a:t>, </a:t>
            </a:r>
            <a:r>
              <a:rPr lang="en-IE" sz="2000" dirty="0" err="1"/>
              <a:t>yCoord</a:t>
            </a:r>
            <a:r>
              <a:rPr lang="en-IE" sz="2000" dirty="0"/>
              <a:t>, diameter, diameter);</a:t>
            </a:r>
          </a:p>
          <a:p>
            <a:r>
              <a:rPr lang="en-IE" sz="2000" dirty="0"/>
              <a:t>  }</a:t>
            </a:r>
          </a:p>
          <a:p>
            <a:endParaRPr lang="en-IE" sz="2000" dirty="0"/>
          </a:p>
          <a:p>
            <a:r>
              <a:rPr lang="en-IE" sz="2000" dirty="0"/>
              <a:t> void colour(</a:t>
            </a:r>
            <a:r>
              <a:rPr lang="en-IE" sz="2000" dirty="0" err="1"/>
              <a:t>int</a:t>
            </a:r>
            <a:r>
              <a:rPr lang="en-IE" sz="2000" dirty="0"/>
              <a:t> red, </a:t>
            </a:r>
            <a:r>
              <a:rPr lang="en-IE" sz="2000" dirty="0" err="1"/>
              <a:t>int</a:t>
            </a:r>
            <a:r>
              <a:rPr lang="en-IE" sz="2000" dirty="0"/>
              <a:t> green, </a:t>
            </a:r>
            <a:r>
              <a:rPr lang="en-IE" sz="2000" dirty="0" err="1"/>
              <a:t>int</a:t>
            </a:r>
            <a:r>
              <a:rPr lang="en-IE" sz="2000" dirty="0"/>
              <a:t> blue)</a:t>
            </a:r>
          </a:p>
          <a:p>
            <a:r>
              <a:rPr lang="en-IE" sz="2000" dirty="0"/>
              <a:t>  {</a:t>
            </a:r>
          </a:p>
          <a:p>
            <a:r>
              <a:rPr lang="en-IE" sz="2000" dirty="0"/>
              <a:t>    </a:t>
            </a:r>
            <a:r>
              <a:rPr lang="en-IE" sz="2000" dirty="0" err="1"/>
              <a:t>this.red</a:t>
            </a:r>
            <a:r>
              <a:rPr lang="en-IE" sz="2000" dirty="0"/>
              <a:t> = red;</a:t>
            </a:r>
          </a:p>
          <a:p>
            <a:r>
              <a:rPr lang="en-IE" sz="2000" dirty="0"/>
              <a:t>    </a:t>
            </a:r>
            <a:r>
              <a:rPr lang="en-IE" sz="2000" dirty="0" err="1"/>
              <a:t>this.green</a:t>
            </a:r>
            <a:r>
              <a:rPr lang="en-IE" sz="2000" dirty="0"/>
              <a:t> = green;</a:t>
            </a:r>
          </a:p>
          <a:p>
            <a:r>
              <a:rPr lang="en-IE" sz="2000" dirty="0"/>
              <a:t>    </a:t>
            </a:r>
            <a:r>
              <a:rPr lang="en-IE" sz="2000" dirty="0" err="1"/>
              <a:t>this.blue</a:t>
            </a:r>
            <a:r>
              <a:rPr lang="en-IE" sz="2000" dirty="0"/>
              <a:t> = blue;</a:t>
            </a:r>
          </a:p>
          <a:p>
            <a:r>
              <a:rPr lang="en-IE" sz="2000" dirty="0"/>
              <a:t>    fill (red, green, blue);</a:t>
            </a:r>
          </a:p>
          <a:p>
            <a:r>
              <a:rPr lang="en-IE" sz="2000" dirty="0"/>
              <a:t>  }</a:t>
            </a:r>
          </a:p>
          <a:p>
            <a:r>
              <a:rPr lang="en-IE" sz="2000" b="1" dirty="0">
                <a:solidFill>
                  <a:srgbClr val="FF0000"/>
                </a:solidFill>
              </a:rPr>
              <a:t> </a:t>
            </a:r>
            <a:r>
              <a:rPr lang="en-IE" sz="2000" dirty="0">
                <a:solidFill>
                  <a:schemeClr val="bg1">
                    <a:lumMod val="50000"/>
                  </a:schemeClr>
                </a:solidFill>
              </a:rPr>
              <a:t>// move methods…</a:t>
            </a:r>
            <a:endParaRPr lang="en-IE" sz="2000" dirty="0"/>
          </a:p>
          <a:p>
            <a:r>
              <a:rPr lang="en-IE" sz="2000" dirty="0"/>
              <a:t>}</a:t>
            </a:r>
          </a:p>
        </p:txBody>
      </p:sp>
      <p:sp>
        <p:nvSpPr>
          <p:cNvPr id="7" name="Donut 6"/>
          <p:cNvSpPr/>
          <p:nvPr/>
        </p:nvSpPr>
        <p:spPr>
          <a:xfrm>
            <a:off x="1371600" y="5486400"/>
            <a:ext cx="3733800" cy="433026"/>
          </a:xfrm>
          <a:prstGeom prst="donut">
            <a:avLst>
              <a:gd name="adj" fmla="val 261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1346060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Our Our design smells!</a:t>
            </a:r>
          </a:p>
        </p:txBody>
      </p:sp>
      <p:sp>
        <p:nvSpPr>
          <p:cNvPr id="3" name="Content Placeholder 2"/>
          <p:cNvSpPr>
            <a:spLocks noGrp="1"/>
          </p:cNvSpPr>
          <p:nvPr>
            <p:ph idx="1"/>
          </p:nvPr>
        </p:nvSpPr>
        <p:spPr>
          <a:xfrm>
            <a:off x="1981200" y="1600200"/>
            <a:ext cx="8229600" cy="5105400"/>
          </a:xfrm>
        </p:spPr>
        <p:txBody>
          <a:bodyPr>
            <a:noAutofit/>
          </a:bodyPr>
          <a:lstStyle/>
          <a:p>
            <a:r>
              <a:rPr lang="en-IE" sz="3000" dirty="0"/>
              <a:t>We can directly access the diameter field </a:t>
            </a:r>
            <a:br>
              <a:rPr lang="en-IE" sz="3000" dirty="0"/>
            </a:br>
            <a:r>
              <a:rPr lang="en-IE" sz="3000" dirty="0"/>
              <a:t>(and all other fields) in the Spot class </a:t>
            </a:r>
            <a:br>
              <a:rPr lang="en-IE" sz="3000" dirty="0"/>
            </a:br>
            <a:r>
              <a:rPr lang="en-IE" sz="3000" dirty="0"/>
              <a:t>from another class, and set it to a value that is completely preposterous!</a:t>
            </a:r>
          </a:p>
          <a:p>
            <a:endParaRPr lang="en-IE" sz="3000" dirty="0"/>
          </a:p>
          <a:p>
            <a:r>
              <a:rPr lang="en-IE" sz="3000" dirty="0"/>
              <a:t>Also, when we directly access a field in a class, </a:t>
            </a:r>
            <a:br>
              <a:rPr lang="en-IE" sz="3000" dirty="0"/>
            </a:br>
            <a:r>
              <a:rPr lang="en-IE" sz="3000" dirty="0"/>
              <a:t>we are applying a “</a:t>
            </a:r>
            <a:r>
              <a:rPr lang="en-IE" sz="3000" b="1" dirty="0"/>
              <a:t>behaviour</a:t>
            </a:r>
            <a:r>
              <a:rPr lang="en-IE" sz="3000" dirty="0"/>
              <a:t>” to that field </a:t>
            </a:r>
            <a:br>
              <a:rPr lang="en-IE" sz="3000" dirty="0"/>
            </a:br>
            <a:r>
              <a:rPr lang="en-IE" sz="3000" dirty="0"/>
              <a:t>i.e. resizing the circle.</a:t>
            </a:r>
          </a:p>
          <a:p>
            <a:pPr lvl="1"/>
            <a:r>
              <a:rPr lang="en-IE" sz="3000" dirty="0"/>
              <a:t>But, aren’t </a:t>
            </a:r>
            <a:r>
              <a:rPr lang="en-IE" sz="3000" b="1" dirty="0"/>
              <a:t>methods</a:t>
            </a:r>
            <a:r>
              <a:rPr lang="en-IE" sz="3000" dirty="0"/>
              <a:t> supposed to be the “behaviour” for a class???????</a:t>
            </a:r>
          </a:p>
          <a:p>
            <a:endParaRPr lang="en-IE" sz="3000" dirty="0"/>
          </a:p>
        </p:txBody>
      </p:sp>
    </p:spTree>
    <p:custDataLst>
      <p:tags r:id="rId1"/>
    </p:custDataLst>
    <p:extLst>
      <p:ext uri="{BB962C8B-B14F-4D97-AF65-F5344CB8AC3E}">
        <p14:creationId xmlns:p14="http://schemas.microsoft.com/office/powerpoint/2010/main" val="2095737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Our design smells!</a:t>
            </a:r>
          </a:p>
        </p:txBody>
      </p:sp>
      <p:sp>
        <p:nvSpPr>
          <p:cNvPr id="3" name="Content Placeholder 2"/>
          <p:cNvSpPr>
            <a:spLocks noGrp="1"/>
          </p:cNvSpPr>
          <p:nvPr>
            <p:ph idx="1"/>
          </p:nvPr>
        </p:nvSpPr>
        <p:spPr/>
        <p:txBody>
          <a:bodyPr/>
          <a:lstStyle/>
          <a:p>
            <a:endParaRPr lang="en-IE" dirty="0"/>
          </a:p>
          <a:p>
            <a:r>
              <a:rPr lang="en-IE" dirty="0"/>
              <a:t>Our design violates one of the basic principles of object-oriented design:</a:t>
            </a:r>
          </a:p>
          <a:p>
            <a:endParaRPr lang="en-IE" dirty="0"/>
          </a:p>
          <a:p>
            <a:pPr marL="2171700" lvl="5" indent="0">
              <a:buNone/>
            </a:pPr>
            <a:r>
              <a:rPr lang="en-IE" sz="4800" i="1" dirty="0">
                <a:solidFill>
                  <a:srgbClr val="FF0000"/>
                </a:solidFill>
              </a:rPr>
              <a:t>Encapsulation!</a:t>
            </a:r>
          </a:p>
        </p:txBody>
      </p:sp>
    </p:spTree>
    <p:extLst>
      <p:ext uri="{BB962C8B-B14F-4D97-AF65-F5344CB8AC3E}">
        <p14:creationId xmlns:p14="http://schemas.microsoft.com/office/powerpoint/2010/main" val="810634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Encapsulation</a:t>
            </a:r>
          </a:p>
        </p:txBody>
      </p:sp>
      <p:sp>
        <p:nvSpPr>
          <p:cNvPr id="3" name="Content Placeholder 2"/>
          <p:cNvSpPr>
            <a:spLocks noGrp="1"/>
          </p:cNvSpPr>
          <p:nvPr>
            <p:ph idx="1"/>
          </p:nvPr>
        </p:nvSpPr>
        <p:spPr/>
        <p:txBody>
          <a:bodyPr>
            <a:normAutofit/>
          </a:bodyPr>
          <a:lstStyle/>
          <a:p>
            <a:r>
              <a:rPr lang="en-IE" b="1" dirty="0"/>
              <a:t>Encapsulation</a:t>
            </a:r>
            <a:r>
              <a:rPr lang="en-IE" dirty="0"/>
              <a:t> (data hiding) </a:t>
            </a:r>
            <a:br>
              <a:rPr lang="en-IE" dirty="0"/>
            </a:br>
            <a:r>
              <a:rPr lang="en-IE" dirty="0"/>
              <a:t>is a fundamental Object Oriented concept.</a:t>
            </a:r>
          </a:p>
          <a:p>
            <a:r>
              <a:rPr lang="en-IE" dirty="0"/>
              <a:t>How to achieve encapsulation?</a:t>
            </a:r>
          </a:p>
          <a:p>
            <a:pPr marL="971550" lvl="1" indent="-514350">
              <a:buFont typeface="+mj-lt"/>
              <a:buAutoNum type="arabicPeriod"/>
            </a:pPr>
            <a:r>
              <a:rPr lang="en-IE" b="1" i="1" dirty="0">
                <a:solidFill>
                  <a:srgbClr val="00B050"/>
                </a:solidFill>
              </a:rPr>
              <a:t>wrap</a:t>
            </a:r>
            <a:r>
              <a:rPr lang="en-IE" b="1" dirty="0">
                <a:solidFill>
                  <a:srgbClr val="00B050"/>
                </a:solidFill>
              </a:rPr>
              <a:t> </a:t>
            </a:r>
            <a:r>
              <a:rPr lang="en-IE" dirty="0"/>
              <a:t>the data (fields) and code acting on the data (methods) together as single unit. </a:t>
            </a:r>
          </a:p>
          <a:p>
            <a:pPr marL="971550" lvl="1" indent="-514350">
              <a:buFont typeface="+mj-lt"/>
              <a:buAutoNum type="arabicPeriod"/>
            </a:pPr>
            <a:r>
              <a:rPr lang="en-IE" b="1" i="1" dirty="0">
                <a:solidFill>
                  <a:srgbClr val="00B050"/>
                </a:solidFill>
              </a:rPr>
              <a:t>hide</a:t>
            </a:r>
            <a:r>
              <a:rPr lang="en-IE" i="1" dirty="0"/>
              <a:t> </a:t>
            </a:r>
            <a:r>
              <a:rPr lang="en-IE" dirty="0"/>
              <a:t>the fields from other classes.</a:t>
            </a:r>
          </a:p>
          <a:p>
            <a:pPr marL="971550" lvl="1" indent="-514350">
              <a:buFont typeface="+mj-lt"/>
              <a:buAutoNum type="arabicPeriod"/>
            </a:pPr>
            <a:r>
              <a:rPr lang="en-IE" b="1" i="1" dirty="0">
                <a:solidFill>
                  <a:srgbClr val="00B050"/>
                </a:solidFill>
              </a:rPr>
              <a:t>access</a:t>
            </a:r>
            <a:r>
              <a:rPr lang="en-IE" i="1" dirty="0"/>
              <a:t> </a:t>
            </a:r>
            <a:r>
              <a:rPr lang="en-IE" dirty="0"/>
              <a:t>the fields only through the methods of their current class. </a:t>
            </a:r>
          </a:p>
        </p:txBody>
      </p:sp>
      <p:sp>
        <p:nvSpPr>
          <p:cNvPr id="4" name="Rectangle 3"/>
          <p:cNvSpPr/>
          <p:nvPr/>
        </p:nvSpPr>
        <p:spPr>
          <a:xfrm>
            <a:off x="3400926" y="6488668"/>
            <a:ext cx="7299158" cy="369332"/>
          </a:xfrm>
          <a:prstGeom prst="rect">
            <a:avLst/>
          </a:prstGeom>
        </p:spPr>
        <p:txBody>
          <a:bodyPr wrap="square">
            <a:spAutoFit/>
          </a:bodyPr>
          <a:lstStyle/>
          <a:p>
            <a:pPr algn="r"/>
            <a:r>
              <a:rPr lang="en-IE" dirty="0">
                <a:hlinkClick r:id="rId3"/>
              </a:rPr>
              <a:t>http://www.tutorialspoint.com/java/java_encapsulation.htm</a:t>
            </a:r>
            <a:r>
              <a:rPr lang="en-IE" dirty="0"/>
              <a:t> </a:t>
            </a:r>
          </a:p>
        </p:txBody>
      </p:sp>
    </p:spTree>
    <p:custDataLst>
      <p:tags r:id="rId1"/>
    </p:custDataLst>
    <p:extLst>
      <p:ext uri="{BB962C8B-B14F-4D97-AF65-F5344CB8AC3E}">
        <p14:creationId xmlns:p14="http://schemas.microsoft.com/office/powerpoint/2010/main" val="4141010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Encapsulation in Java </a:t>
            </a:r>
            <a:r>
              <a:rPr lang="mr-IN" dirty="0"/>
              <a:t>–</a:t>
            </a:r>
            <a:r>
              <a:rPr lang="en-IE" dirty="0"/>
              <a:t> </a:t>
            </a:r>
            <a:r>
              <a:rPr lang="en-IE" b="1" dirty="0"/>
              <a:t>steps 1-3</a:t>
            </a:r>
          </a:p>
        </p:txBody>
      </p:sp>
      <p:sp>
        <p:nvSpPr>
          <p:cNvPr id="4" name="Rectangle 3"/>
          <p:cNvSpPr/>
          <p:nvPr/>
        </p:nvSpPr>
        <p:spPr>
          <a:xfrm>
            <a:off x="3400926" y="6488668"/>
            <a:ext cx="7299158" cy="369332"/>
          </a:xfrm>
          <a:prstGeom prst="rect">
            <a:avLst/>
          </a:prstGeom>
        </p:spPr>
        <p:txBody>
          <a:bodyPr wrap="square">
            <a:spAutoFit/>
          </a:bodyPr>
          <a:lstStyle/>
          <a:p>
            <a:pPr algn="r"/>
            <a:r>
              <a:rPr lang="en-IE" dirty="0">
                <a:hlinkClick r:id="rId3"/>
              </a:rPr>
              <a:t>http://www.tutorialspoint.com/java/java_encapsulation.htm</a:t>
            </a:r>
            <a:r>
              <a:rPr lang="en-IE" dirty="0"/>
              <a:t> </a:t>
            </a:r>
          </a:p>
        </p:txBody>
      </p:sp>
      <p:graphicFrame>
        <p:nvGraphicFramePr>
          <p:cNvPr id="5" name="Table 4"/>
          <p:cNvGraphicFramePr>
            <a:graphicFrameLocks noGrp="1"/>
          </p:cNvGraphicFramePr>
          <p:nvPr>
            <p:extLst>
              <p:ext uri="{D42A27DB-BD31-4B8C-83A1-F6EECF244321}">
                <p14:modId xmlns:p14="http://schemas.microsoft.com/office/powerpoint/2010/main" val="792263952"/>
              </p:ext>
            </p:extLst>
          </p:nvPr>
        </p:nvGraphicFramePr>
        <p:xfrm>
          <a:off x="2057399" y="1597062"/>
          <a:ext cx="8229600" cy="2632038"/>
        </p:xfrm>
        <a:graphic>
          <a:graphicData uri="http://schemas.openxmlformats.org/drawingml/2006/table">
            <a:tbl>
              <a:tblPr firstRow="1" bandRow="1">
                <a:tableStyleId>{9DCAF9ED-07DC-4A11-8D7F-57B35C25682E}</a:tableStyleId>
              </a:tblPr>
              <a:tblGrid>
                <a:gridCol w="32004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528918">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IE" sz="2400" dirty="0"/>
                        <a:t>Encapsulation Step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E" sz="2400" dirty="0"/>
                        <a:t>Approach</a:t>
                      </a:r>
                      <a:r>
                        <a:rPr lang="en-IE" sz="2400" baseline="0" dirty="0"/>
                        <a:t> in Java</a:t>
                      </a:r>
                      <a:endParaRPr lang="en-IE"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718982">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E" sz="2400" dirty="0"/>
                        <a:t>1. </a:t>
                      </a:r>
                      <a:r>
                        <a:rPr lang="en-IE" sz="2400" b="1" dirty="0">
                          <a:solidFill>
                            <a:srgbClr val="00B050"/>
                          </a:solidFill>
                        </a:rPr>
                        <a:t>Wrap</a:t>
                      </a:r>
                      <a:r>
                        <a:rPr lang="en-IE" sz="2400" dirty="0"/>
                        <a:t> the data (fields) and code acting on the data (methods) together as single unit.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eaLnBrk="1" hangingPunct="1"/>
                      <a:r>
                        <a:rPr lang="en-US" sz="2200" b="1" dirty="0">
                          <a:solidFill>
                            <a:schemeClr val="tx1"/>
                          </a:solidFill>
                          <a:latin typeface="Courier New" pitchFamily="49" charset="0"/>
                          <a:cs typeface="Times" pitchFamily="-32" charset="0"/>
                        </a:rPr>
                        <a:t>public</a:t>
                      </a:r>
                      <a:r>
                        <a:rPr lang="en-US" sz="2200" dirty="0">
                          <a:solidFill>
                            <a:schemeClr val="tx1"/>
                          </a:solidFill>
                          <a:latin typeface="Courier New" pitchFamily="49" charset="0"/>
                          <a:cs typeface="Times" pitchFamily="-32" charset="0"/>
                        </a:rPr>
                        <a:t> class </a:t>
                      </a:r>
                      <a:r>
                        <a:rPr lang="en-US" sz="2200" i="1" dirty="0" err="1">
                          <a:solidFill>
                            <a:schemeClr val="tx1"/>
                          </a:solidFill>
                          <a:latin typeface="Courier New" pitchFamily="49" charset="0"/>
                          <a:cs typeface="Times" pitchFamily="-32" charset="0"/>
                        </a:rPr>
                        <a:t>ClassName</a:t>
                      </a:r>
                      <a:endParaRPr lang="en-US" sz="2200" dirty="0">
                        <a:solidFill>
                          <a:schemeClr val="tx1"/>
                        </a:solidFill>
                        <a:latin typeface="Courier New" pitchFamily="49" charset="0"/>
                        <a:cs typeface="Times" pitchFamily="-32" charset="0"/>
                      </a:endParaRPr>
                    </a:p>
                    <a:p>
                      <a:pPr algn="l" eaLnBrk="1" hangingPunct="1"/>
                      <a:r>
                        <a:rPr lang="en-US" sz="2200" dirty="0">
                          <a:solidFill>
                            <a:schemeClr val="tx1"/>
                          </a:solidFill>
                          <a:latin typeface="Courier New" pitchFamily="49" charset="0"/>
                          <a:cs typeface="Times" pitchFamily="-32" charset="0"/>
                        </a:rPr>
                        <a:t>{</a:t>
                      </a:r>
                    </a:p>
                    <a:p>
                      <a:pPr algn="l" eaLnBrk="1" hangingPunct="1"/>
                      <a:r>
                        <a:rPr lang="en-US" sz="2200" dirty="0">
                          <a:solidFill>
                            <a:schemeClr val="tx1"/>
                          </a:solidFill>
                          <a:latin typeface="Courier New" pitchFamily="49" charset="0"/>
                          <a:cs typeface="Times" pitchFamily="-32" charset="0"/>
                        </a:rPr>
                        <a:t>  </a:t>
                      </a:r>
                      <a:r>
                        <a:rPr lang="en-US" sz="2200" b="0" dirty="0">
                          <a:solidFill>
                            <a:schemeClr val="tx1"/>
                          </a:solidFill>
                          <a:latin typeface="Courier New" pitchFamily="49" charset="0"/>
                          <a:cs typeface="Times" pitchFamily="-32" charset="0"/>
                        </a:rPr>
                        <a:t>  </a:t>
                      </a:r>
                      <a:r>
                        <a:rPr lang="en-US" sz="2200" b="0" i="1" dirty="0">
                          <a:solidFill>
                            <a:schemeClr val="tx1"/>
                          </a:solidFill>
                          <a:latin typeface="Courier New" pitchFamily="49" charset="0"/>
                          <a:cs typeface="Times" pitchFamily="-32" charset="0"/>
                        </a:rPr>
                        <a:t>Fields</a:t>
                      </a:r>
                      <a:endParaRPr lang="en-US" sz="2200" b="0" dirty="0">
                        <a:solidFill>
                          <a:schemeClr val="tx1"/>
                        </a:solidFill>
                        <a:latin typeface="Courier New" pitchFamily="49" charset="0"/>
                        <a:cs typeface="Times" pitchFamily="-32" charset="0"/>
                      </a:endParaRPr>
                    </a:p>
                    <a:p>
                      <a:pPr algn="l" eaLnBrk="1" hangingPunct="1"/>
                      <a:r>
                        <a:rPr lang="en-US" sz="2200" b="0" i="1" dirty="0">
                          <a:solidFill>
                            <a:schemeClr val="tx1"/>
                          </a:solidFill>
                          <a:latin typeface="Courier New" pitchFamily="49" charset="0"/>
                          <a:cs typeface="Times" pitchFamily="-32" charset="0"/>
                        </a:rPr>
                        <a:t>  </a:t>
                      </a:r>
                      <a:r>
                        <a:rPr lang="en-US" sz="2200" i="1" dirty="0">
                          <a:solidFill>
                            <a:schemeClr val="tx1"/>
                          </a:solidFill>
                          <a:latin typeface="Courier New" pitchFamily="49" charset="0"/>
                          <a:cs typeface="Times" pitchFamily="-32" charset="0"/>
                        </a:rPr>
                        <a:t>  Constructors</a:t>
                      </a:r>
                      <a:endParaRPr lang="en-US" sz="2200" dirty="0">
                        <a:solidFill>
                          <a:schemeClr val="tx1"/>
                        </a:solidFill>
                        <a:latin typeface="Courier New" pitchFamily="49" charset="0"/>
                        <a:cs typeface="Times" pitchFamily="-32" charset="0"/>
                      </a:endParaRPr>
                    </a:p>
                    <a:p>
                      <a:pPr algn="l" eaLnBrk="1" hangingPunct="1"/>
                      <a:r>
                        <a:rPr lang="en-US" sz="2200" i="1" dirty="0">
                          <a:solidFill>
                            <a:schemeClr val="tx1"/>
                          </a:solidFill>
                          <a:latin typeface="Courier New" pitchFamily="49" charset="0"/>
                          <a:cs typeface="Times" pitchFamily="-32" charset="0"/>
                        </a:rPr>
                        <a:t>    Methods</a:t>
                      </a:r>
                      <a:endParaRPr lang="en-US" sz="2200" dirty="0">
                        <a:solidFill>
                          <a:schemeClr val="tx1"/>
                        </a:solidFill>
                        <a:latin typeface="Courier New" pitchFamily="49" charset="0"/>
                        <a:cs typeface="Times" pitchFamily="-32" charset="0"/>
                      </a:endParaRPr>
                    </a:p>
                    <a:p>
                      <a:pPr algn="l" eaLnBrk="1" hangingPunct="1"/>
                      <a:r>
                        <a:rPr lang="en-US" sz="2200" dirty="0">
                          <a:solidFill>
                            <a:schemeClr val="tx1"/>
                          </a:solidFill>
                          <a:latin typeface="Courier New" pitchFamily="49" charset="0"/>
                          <a:cs typeface="Times" pitchFamily="-32" charset="0"/>
                        </a:rPr>
                        <a:t>}</a:t>
                      </a:r>
                      <a:r>
                        <a:rPr lang="en-US" sz="2200" dirty="0">
                          <a:solidFill>
                            <a:schemeClr val="tx1"/>
                          </a:solidFill>
                          <a:latin typeface="Courier New" pitchFamily="49"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17797141"/>
              </p:ext>
            </p:extLst>
          </p:nvPr>
        </p:nvGraphicFramePr>
        <p:xfrm>
          <a:off x="2058364" y="4275248"/>
          <a:ext cx="8229600" cy="925606"/>
        </p:xfrm>
        <a:graphic>
          <a:graphicData uri="http://schemas.openxmlformats.org/drawingml/2006/table">
            <a:tbl>
              <a:tblPr bandRow="1">
                <a:tableStyleId>{9DCAF9ED-07DC-4A11-8D7F-57B35C25682E}</a:tableStyleId>
              </a:tblPr>
              <a:tblGrid>
                <a:gridCol w="32004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92560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E" sz="2400" dirty="0"/>
                        <a:t>2. </a:t>
                      </a:r>
                      <a:r>
                        <a:rPr lang="en-IE" sz="2400" b="1" kern="1200" dirty="0">
                          <a:solidFill>
                            <a:srgbClr val="00B050"/>
                          </a:solidFill>
                          <a:latin typeface="+mn-lt"/>
                          <a:ea typeface="+mn-ea"/>
                          <a:cs typeface="+mn-cs"/>
                        </a:rPr>
                        <a:t>Hide</a:t>
                      </a:r>
                      <a:r>
                        <a:rPr lang="en-IE" sz="2400" dirty="0"/>
                        <a:t> </a:t>
                      </a:r>
                      <a:r>
                        <a:rPr lang="en-IE" sz="2400" b="0" dirty="0"/>
                        <a:t>the fields from other classes</a:t>
                      </a:r>
                      <a:r>
                        <a:rPr lang="en-IE"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E" sz="2400" b="1" dirty="0"/>
                        <a:t>Declare the fields of a class as </a:t>
                      </a:r>
                      <a:r>
                        <a:rPr lang="en-IE" sz="2400" b="1" u="sng" dirty="0"/>
                        <a:t>private</a:t>
                      </a:r>
                      <a:r>
                        <a:rPr lang="en-IE" sz="24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920156758"/>
              </p:ext>
            </p:extLst>
          </p:nvPr>
        </p:nvGraphicFramePr>
        <p:xfrm>
          <a:off x="2057399" y="5258332"/>
          <a:ext cx="8229600" cy="1322294"/>
        </p:xfrm>
        <a:graphic>
          <a:graphicData uri="http://schemas.openxmlformats.org/drawingml/2006/table">
            <a:tbl>
              <a:tblPr bandRow="1">
                <a:tableStyleId>{9DCAF9ED-07DC-4A11-8D7F-57B35C25682E}</a:tableStyleId>
              </a:tblPr>
              <a:tblGrid>
                <a:gridCol w="32004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132229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E" sz="2400" dirty="0"/>
                        <a:t>3. </a:t>
                      </a:r>
                      <a:r>
                        <a:rPr lang="en-IE" sz="2400" b="1" kern="1200" dirty="0">
                          <a:solidFill>
                            <a:srgbClr val="00B050"/>
                          </a:solidFill>
                        </a:rPr>
                        <a:t>Access</a:t>
                      </a:r>
                      <a:r>
                        <a:rPr lang="en-IE" sz="2400" dirty="0">
                          <a:solidFill>
                            <a:srgbClr val="00B050"/>
                          </a:solidFill>
                        </a:rPr>
                        <a:t> </a:t>
                      </a:r>
                      <a:r>
                        <a:rPr lang="en-IE" sz="2400" dirty="0"/>
                        <a:t>the fields only through the methods of their current class.</a:t>
                      </a:r>
                      <a:endParaRPr lang="en-IE" sz="2400" b="0" dirty="0"/>
                    </a:p>
                  </a:txBody>
                  <a:tcPr>
                    <a:lnR w="12700" cap="flat" cmpd="sng" algn="ctr">
                      <a:solidFill>
                        <a:schemeClr val="tx1"/>
                      </a:solidFill>
                      <a:prstDash val="solid"/>
                      <a:round/>
                      <a:headEnd type="none" w="med" len="med"/>
                      <a:tailEnd type="none" w="med" len="med"/>
                    </a:ln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E" sz="2400" b="1" dirty="0"/>
                        <a:t>Provide </a:t>
                      </a:r>
                      <a:r>
                        <a:rPr lang="en-IE" sz="2400" b="1" u="sng" dirty="0"/>
                        <a:t>public</a:t>
                      </a:r>
                      <a:r>
                        <a:rPr lang="en-IE" sz="2400" b="1" dirty="0"/>
                        <a:t> set</a:t>
                      </a:r>
                      <a:r>
                        <a:rPr lang="en-IE" sz="2400" b="0" dirty="0"/>
                        <a:t>ter</a:t>
                      </a:r>
                      <a:r>
                        <a:rPr lang="en-IE" sz="2400" b="1" dirty="0"/>
                        <a:t> and get</a:t>
                      </a:r>
                      <a:r>
                        <a:rPr lang="en-IE" sz="2400" b="0" dirty="0"/>
                        <a:t>ter</a:t>
                      </a:r>
                      <a:r>
                        <a:rPr lang="en-IE" sz="2400" b="1" dirty="0"/>
                        <a:t> </a:t>
                      </a:r>
                      <a:r>
                        <a:rPr lang="en-IE" sz="2400" dirty="0"/>
                        <a:t>methods to modify and view the fields values.</a:t>
                      </a:r>
                      <a:endParaRPr lang="en-IE" sz="2400" b="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bl>
          </a:graphicData>
        </a:graphic>
      </p:graphicFrame>
    </p:spTree>
    <p:custDataLst>
      <p:tags r:id="rId1"/>
    </p:custDataLst>
    <p:extLst>
      <p:ext uri="{BB962C8B-B14F-4D97-AF65-F5344CB8AC3E}">
        <p14:creationId xmlns:p14="http://schemas.microsoft.com/office/powerpoint/2010/main" val="4034854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Refactoring Spot: </a:t>
            </a:r>
            <a:r>
              <a:rPr lang="en-IE" b="1" dirty="0"/>
              <a:t>Access Modifiers</a:t>
            </a:r>
          </a:p>
        </p:txBody>
      </p:sp>
      <p:sp>
        <p:nvSpPr>
          <p:cNvPr id="3" name="Content Placeholder 2"/>
          <p:cNvSpPr>
            <a:spLocks noGrp="1"/>
          </p:cNvSpPr>
          <p:nvPr>
            <p:ph idx="1"/>
          </p:nvPr>
        </p:nvSpPr>
        <p:spPr/>
        <p:txBody>
          <a:bodyPr>
            <a:normAutofit/>
          </a:bodyPr>
          <a:lstStyle/>
          <a:p>
            <a:r>
              <a:rPr lang="en-IE" dirty="0"/>
              <a:t>Java provides a number of access modifiers to set access levels for classes, fields, methods and constructors. </a:t>
            </a:r>
          </a:p>
          <a:p>
            <a:r>
              <a:rPr lang="en-IE" dirty="0"/>
              <a:t>The </a:t>
            </a:r>
            <a:r>
              <a:rPr lang="en-IE" b="1" dirty="0"/>
              <a:t>four access levels </a:t>
            </a:r>
            <a:r>
              <a:rPr lang="en-IE" dirty="0"/>
              <a:t>are:</a:t>
            </a:r>
          </a:p>
          <a:p>
            <a:pPr lvl="1"/>
            <a:r>
              <a:rPr lang="en-IE" dirty="0"/>
              <a:t>Visible to the </a:t>
            </a:r>
            <a:r>
              <a:rPr lang="en-IE" b="1" dirty="0">
                <a:solidFill>
                  <a:srgbClr val="FF0000"/>
                </a:solidFill>
              </a:rPr>
              <a:t>package</a:t>
            </a:r>
            <a:r>
              <a:rPr lang="en-IE" dirty="0"/>
              <a:t>, the default. No modifiers needed.</a:t>
            </a:r>
          </a:p>
          <a:p>
            <a:pPr lvl="1"/>
            <a:r>
              <a:rPr lang="en-IE" dirty="0"/>
              <a:t>Visible to the class only (</a:t>
            </a:r>
            <a:r>
              <a:rPr lang="en-IE" b="1" dirty="0">
                <a:solidFill>
                  <a:srgbClr val="FF0000"/>
                </a:solidFill>
              </a:rPr>
              <a:t>private</a:t>
            </a:r>
            <a:r>
              <a:rPr lang="en-IE" dirty="0"/>
              <a:t>).</a:t>
            </a:r>
          </a:p>
          <a:p>
            <a:pPr lvl="1"/>
            <a:r>
              <a:rPr lang="en-IE" dirty="0"/>
              <a:t>Visible to the world (</a:t>
            </a:r>
            <a:r>
              <a:rPr lang="en-IE" b="1" dirty="0">
                <a:solidFill>
                  <a:srgbClr val="FF0000"/>
                </a:solidFill>
              </a:rPr>
              <a:t>public</a:t>
            </a:r>
            <a:r>
              <a:rPr lang="en-IE" dirty="0"/>
              <a:t>).</a:t>
            </a:r>
          </a:p>
          <a:p>
            <a:pPr lvl="1"/>
            <a:r>
              <a:rPr lang="en-IE" dirty="0"/>
              <a:t>Visible to the package and all subclasses (</a:t>
            </a:r>
            <a:r>
              <a:rPr lang="en-IE" b="1" dirty="0">
                <a:solidFill>
                  <a:srgbClr val="FF0000"/>
                </a:solidFill>
              </a:rPr>
              <a:t>protected</a:t>
            </a:r>
            <a:r>
              <a:rPr lang="en-IE" dirty="0"/>
              <a:t>).</a:t>
            </a:r>
          </a:p>
          <a:p>
            <a:endParaRPr lang="en-IE" dirty="0"/>
          </a:p>
        </p:txBody>
      </p:sp>
      <p:sp>
        <p:nvSpPr>
          <p:cNvPr id="4" name="Rectangle 3"/>
          <p:cNvSpPr/>
          <p:nvPr/>
        </p:nvSpPr>
        <p:spPr>
          <a:xfrm>
            <a:off x="4648200" y="6488668"/>
            <a:ext cx="6035842" cy="369332"/>
          </a:xfrm>
          <a:prstGeom prst="rect">
            <a:avLst/>
          </a:prstGeom>
        </p:spPr>
        <p:txBody>
          <a:bodyPr wrap="square">
            <a:spAutoFit/>
          </a:bodyPr>
          <a:lstStyle/>
          <a:p>
            <a:pPr algn="r"/>
            <a:r>
              <a:rPr lang="en-IE" dirty="0">
                <a:hlinkClick r:id="rId3"/>
              </a:rPr>
              <a:t>http://www.tutorialspoint.com/java/java_modifier_types.htm</a:t>
            </a:r>
            <a:r>
              <a:rPr lang="en-IE" dirty="0"/>
              <a:t> </a:t>
            </a:r>
          </a:p>
        </p:txBody>
      </p:sp>
      <p:sp>
        <p:nvSpPr>
          <p:cNvPr id="5" name="Rectangle 4"/>
          <p:cNvSpPr/>
          <p:nvPr/>
        </p:nvSpPr>
        <p:spPr>
          <a:xfrm>
            <a:off x="1371600" y="3124200"/>
            <a:ext cx="8382000" cy="2790547"/>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custDataLst>
      <p:tags r:id="rId1"/>
    </p:custDataLst>
    <p:extLst>
      <p:ext uri="{BB962C8B-B14F-4D97-AF65-F5344CB8AC3E}">
        <p14:creationId xmlns:p14="http://schemas.microsoft.com/office/powerpoint/2010/main" val="229649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par>
                          <p:cTn id="15" fill="hold">
                            <p:stCondLst>
                              <p:cond delay="0"/>
                            </p:stCondLst>
                            <p:childTnLst>
                              <p:par>
                                <p:cTn id="16" presetID="21" presetClass="entr" presetSubtype="1"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heel(1)">
                                      <p:cBhvr>
                                        <p:cTn id="18"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Refactoring Spot: </a:t>
            </a:r>
            <a:r>
              <a:rPr lang="en-IE" b="1" dirty="0"/>
              <a:t>Access Modifiers</a:t>
            </a:r>
          </a:p>
        </p:txBody>
      </p:sp>
      <p:sp>
        <p:nvSpPr>
          <p:cNvPr id="3" name="Content Placeholder 2"/>
          <p:cNvSpPr>
            <a:spLocks noGrp="1"/>
          </p:cNvSpPr>
          <p:nvPr>
            <p:ph idx="1"/>
          </p:nvPr>
        </p:nvSpPr>
        <p:spPr/>
        <p:txBody>
          <a:bodyPr>
            <a:normAutofit/>
          </a:bodyPr>
          <a:lstStyle/>
          <a:p>
            <a:r>
              <a:rPr lang="en-IE" dirty="0"/>
              <a:t>Java provides a number of access modifiers to set access levels for classes, fields, methods and constructors. </a:t>
            </a:r>
          </a:p>
          <a:p>
            <a:r>
              <a:rPr lang="en-IE" dirty="0"/>
              <a:t>The four access levels are:</a:t>
            </a:r>
          </a:p>
          <a:p>
            <a:pPr lvl="1"/>
            <a:r>
              <a:rPr lang="en-IE" dirty="0"/>
              <a:t>Visible to the </a:t>
            </a:r>
            <a:r>
              <a:rPr lang="en-IE" dirty="0">
                <a:solidFill>
                  <a:srgbClr val="FF0000"/>
                </a:solidFill>
              </a:rPr>
              <a:t>package</a:t>
            </a:r>
            <a:r>
              <a:rPr lang="en-IE" dirty="0"/>
              <a:t>, the default. No modifiers needed.</a:t>
            </a:r>
          </a:p>
          <a:p>
            <a:pPr lvl="1"/>
            <a:r>
              <a:rPr lang="en-IE" b="1" dirty="0"/>
              <a:t>Visible to the class only (</a:t>
            </a:r>
            <a:r>
              <a:rPr lang="en-IE" b="1" dirty="0">
                <a:solidFill>
                  <a:srgbClr val="FF0000"/>
                </a:solidFill>
              </a:rPr>
              <a:t>private</a:t>
            </a:r>
            <a:r>
              <a:rPr lang="en-IE" b="1" dirty="0"/>
              <a:t>).</a:t>
            </a:r>
          </a:p>
          <a:p>
            <a:pPr lvl="1"/>
            <a:r>
              <a:rPr lang="en-IE" b="1" dirty="0"/>
              <a:t>Visible to the world (</a:t>
            </a:r>
            <a:r>
              <a:rPr lang="en-IE" b="1" dirty="0">
                <a:solidFill>
                  <a:srgbClr val="FF0000"/>
                </a:solidFill>
              </a:rPr>
              <a:t>public</a:t>
            </a:r>
            <a:r>
              <a:rPr lang="en-IE" b="1" dirty="0"/>
              <a:t>).</a:t>
            </a:r>
          </a:p>
          <a:p>
            <a:pPr lvl="1"/>
            <a:r>
              <a:rPr lang="en-IE" dirty="0"/>
              <a:t>Visible to the package and all subclasses (</a:t>
            </a:r>
            <a:r>
              <a:rPr lang="en-IE" dirty="0">
                <a:solidFill>
                  <a:srgbClr val="FF0000"/>
                </a:solidFill>
              </a:rPr>
              <a:t>protected</a:t>
            </a:r>
            <a:r>
              <a:rPr lang="en-IE" dirty="0"/>
              <a:t>).</a:t>
            </a:r>
          </a:p>
          <a:p>
            <a:endParaRPr lang="en-IE" dirty="0"/>
          </a:p>
        </p:txBody>
      </p:sp>
      <p:sp>
        <p:nvSpPr>
          <p:cNvPr id="4" name="Rectangle 3"/>
          <p:cNvSpPr/>
          <p:nvPr/>
        </p:nvSpPr>
        <p:spPr>
          <a:xfrm>
            <a:off x="4648200" y="6488668"/>
            <a:ext cx="6035842" cy="369332"/>
          </a:xfrm>
          <a:prstGeom prst="rect">
            <a:avLst/>
          </a:prstGeom>
        </p:spPr>
        <p:txBody>
          <a:bodyPr wrap="square">
            <a:spAutoFit/>
          </a:bodyPr>
          <a:lstStyle/>
          <a:p>
            <a:pPr algn="r"/>
            <a:r>
              <a:rPr lang="en-IE" dirty="0">
                <a:hlinkClick r:id="rId2"/>
              </a:rPr>
              <a:t>http://www.tutorialspoint.com/java/java_modifier_types.htm</a:t>
            </a:r>
            <a:r>
              <a:rPr lang="en-IE" dirty="0"/>
              <a:t> </a:t>
            </a:r>
          </a:p>
        </p:txBody>
      </p:sp>
      <p:sp>
        <p:nvSpPr>
          <p:cNvPr id="5" name="Arrow: Left 4">
            <a:extLst>
              <a:ext uri="{FF2B5EF4-FFF2-40B4-BE49-F238E27FC236}">
                <a16:creationId xmlns:a16="http://schemas.microsoft.com/office/drawing/2014/main" id="{9ADD0303-9083-4341-BA8E-8057CCDC2165}"/>
              </a:ext>
            </a:extLst>
          </p:cNvPr>
          <p:cNvSpPr/>
          <p:nvPr/>
        </p:nvSpPr>
        <p:spPr>
          <a:xfrm>
            <a:off x="6781800" y="3581400"/>
            <a:ext cx="3124200" cy="12954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We  will focus on public and private.</a:t>
            </a:r>
          </a:p>
        </p:txBody>
      </p:sp>
      <p:sp>
        <p:nvSpPr>
          <p:cNvPr id="6" name="Rectangle 5"/>
          <p:cNvSpPr/>
          <p:nvPr/>
        </p:nvSpPr>
        <p:spPr>
          <a:xfrm>
            <a:off x="1371600" y="3810000"/>
            <a:ext cx="5029200" cy="9906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233741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par>
                          <p:cTn id="8" fill="hold">
                            <p:stCondLst>
                              <p:cond delay="2000"/>
                            </p:stCondLst>
                            <p:childTnLst>
                              <p:par>
                                <p:cTn id="9" presetID="22" presetClass="entr" presetSubtype="2"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righ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Refactoring Spot : </a:t>
            </a:r>
            <a:r>
              <a:rPr lang="en-IE" b="1" dirty="0"/>
              <a:t>Access Modifiers</a:t>
            </a:r>
          </a:p>
        </p:txBody>
      </p:sp>
      <p:sp>
        <p:nvSpPr>
          <p:cNvPr id="6" name="Rectangle 5"/>
          <p:cNvSpPr/>
          <p:nvPr/>
        </p:nvSpPr>
        <p:spPr>
          <a:xfrm>
            <a:off x="1981200" y="1524001"/>
            <a:ext cx="5791200" cy="526297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100" b="1" dirty="0">
                <a:solidFill>
                  <a:srgbClr val="FF0000"/>
                </a:solidFill>
              </a:rPr>
              <a:t>public </a:t>
            </a:r>
            <a:r>
              <a:rPr lang="en-IE" sz="2100" dirty="0"/>
              <a:t>class Spot{</a:t>
            </a:r>
          </a:p>
          <a:p>
            <a:r>
              <a:rPr lang="en-IE" sz="2100" dirty="0"/>
              <a:t>   float </a:t>
            </a:r>
            <a:r>
              <a:rPr lang="en-IE" sz="2100" dirty="0" err="1"/>
              <a:t>xCoord</a:t>
            </a:r>
            <a:r>
              <a:rPr lang="en-IE" sz="2100" dirty="0"/>
              <a:t>, </a:t>
            </a:r>
            <a:r>
              <a:rPr lang="en-IE" sz="2100" dirty="0" err="1"/>
              <a:t>yCoord</a:t>
            </a:r>
            <a:r>
              <a:rPr lang="en-IE" sz="2100" dirty="0"/>
              <a:t>;</a:t>
            </a:r>
          </a:p>
          <a:p>
            <a:r>
              <a:rPr lang="en-IE" sz="2100" dirty="0"/>
              <a:t>   float diameter;</a:t>
            </a:r>
          </a:p>
          <a:p>
            <a:r>
              <a:rPr lang="en-IE" sz="2100" dirty="0"/>
              <a:t>   </a:t>
            </a:r>
            <a:r>
              <a:rPr lang="en-IE" sz="2100" dirty="0" err="1"/>
              <a:t>int</a:t>
            </a:r>
            <a:r>
              <a:rPr lang="en-IE" sz="2100" dirty="0"/>
              <a:t> red, green, blue;</a:t>
            </a:r>
          </a:p>
          <a:p>
            <a:r>
              <a:rPr lang="en-IE" sz="2100" dirty="0"/>
              <a:t>  </a:t>
            </a:r>
          </a:p>
          <a:p>
            <a:r>
              <a:rPr lang="en-IE" sz="2100" dirty="0"/>
              <a:t>   Spot()</a:t>
            </a:r>
          </a:p>
          <a:p>
            <a:r>
              <a:rPr lang="en-IE" sz="2100" dirty="0"/>
              <a:t>   {</a:t>
            </a:r>
          </a:p>
          <a:p>
            <a:r>
              <a:rPr lang="en-IE" sz="2100" dirty="0"/>
              <a:t>   }</a:t>
            </a:r>
          </a:p>
          <a:p>
            <a:endParaRPr lang="en-IE" sz="2100" dirty="0">
              <a:solidFill>
                <a:schemeClr val="bg1">
                  <a:lumMod val="50000"/>
                </a:schemeClr>
              </a:solidFill>
            </a:endParaRPr>
          </a:p>
          <a:p>
            <a:r>
              <a:rPr lang="en-IE" sz="2100" dirty="0">
                <a:solidFill>
                  <a:schemeClr val="bg1">
                    <a:lumMod val="50000"/>
                  </a:schemeClr>
                </a:solidFill>
              </a:rPr>
              <a:t>   // other constructor</a:t>
            </a:r>
          </a:p>
          <a:p>
            <a:r>
              <a:rPr lang="en-IE" sz="2100" dirty="0"/>
              <a:t>   void display(){</a:t>
            </a:r>
          </a:p>
          <a:p>
            <a:r>
              <a:rPr lang="en-IE" sz="2100" dirty="0"/>
              <a:t>       ellipse(</a:t>
            </a:r>
            <a:r>
              <a:rPr lang="en-IE" sz="2100" dirty="0" err="1"/>
              <a:t>xCoord</a:t>
            </a:r>
            <a:r>
              <a:rPr lang="en-IE" sz="2100" dirty="0"/>
              <a:t>, </a:t>
            </a:r>
            <a:r>
              <a:rPr lang="en-IE" sz="2100" dirty="0" err="1"/>
              <a:t>yCoord</a:t>
            </a:r>
            <a:r>
              <a:rPr lang="en-IE" sz="2100" dirty="0"/>
              <a:t>, diameter, diameter);</a:t>
            </a:r>
          </a:p>
          <a:p>
            <a:r>
              <a:rPr lang="en-IE" sz="2100" dirty="0"/>
              <a:t>   }</a:t>
            </a:r>
          </a:p>
          <a:p>
            <a:r>
              <a:rPr lang="en-IE" sz="2100" dirty="0">
                <a:solidFill>
                  <a:schemeClr val="bg1">
                    <a:lumMod val="50000"/>
                  </a:schemeClr>
                </a:solidFill>
              </a:rPr>
              <a:t>   // move method…</a:t>
            </a:r>
            <a:endParaRPr lang="en-IE" sz="2100" dirty="0"/>
          </a:p>
          <a:p>
            <a:r>
              <a:rPr lang="en-IE" sz="2100" b="1" dirty="0">
                <a:solidFill>
                  <a:srgbClr val="FF0000"/>
                </a:solidFill>
              </a:rPr>
              <a:t>   </a:t>
            </a:r>
            <a:r>
              <a:rPr lang="en-IE" sz="2100" dirty="0">
                <a:solidFill>
                  <a:schemeClr val="bg1">
                    <a:lumMod val="50000"/>
                  </a:schemeClr>
                </a:solidFill>
              </a:rPr>
              <a:t>// colour methods…</a:t>
            </a:r>
          </a:p>
          <a:p>
            <a:r>
              <a:rPr lang="en-IE" sz="2100" dirty="0"/>
              <a:t>}</a:t>
            </a:r>
          </a:p>
        </p:txBody>
      </p:sp>
      <p:sp>
        <p:nvSpPr>
          <p:cNvPr id="8" name="TextBox 7"/>
          <p:cNvSpPr txBox="1"/>
          <p:nvPr/>
        </p:nvSpPr>
        <p:spPr>
          <a:xfrm>
            <a:off x="4724400" y="1600200"/>
            <a:ext cx="5638800" cy="2123658"/>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E" sz="2200" b="1" dirty="0">
                <a:solidFill>
                  <a:srgbClr val="00B050"/>
                </a:solidFill>
              </a:rPr>
              <a:t>Encapsulation step 1 </a:t>
            </a:r>
            <a:r>
              <a:rPr lang="en-IE" sz="2200" dirty="0"/>
              <a:t>is complete; </a:t>
            </a:r>
            <a:br>
              <a:rPr lang="en-IE" sz="2200" dirty="0"/>
            </a:br>
            <a:r>
              <a:rPr lang="en-IE" sz="2200" dirty="0"/>
              <a:t>all fields, constructors and methods  </a:t>
            </a:r>
            <a:br>
              <a:rPr lang="en-IE" sz="2200" dirty="0"/>
            </a:br>
            <a:r>
              <a:rPr lang="en-IE" sz="2200" dirty="0"/>
              <a:t>are all in a single unit, called Spot.</a:t>
            </a:r>
          </a:p>
          <a:p>
            <a:endParaRPr lang="en-IE" sz="2200" dirty="0"/>
          </a:p>
          <a:p>
            <a:r>
              <a:rPr lang="en-IE" sz="2200" dirty="0"/>
              <a:t>We just changed the class access level to </a:t>
            </a:r>
            <a:r>
              <a:rPr lang="en-IE" sz="2200" b="1" dirty="0"/>
              <a:t>public </a:t>
            </a:r>
            <a:r>
              <a:rPr lang="en-IE" sz="2200" dirty="0"/>
              <a:t>(default is </a:t>
            </a:r>
            <a:r>
              <a:rPr lang="en-IE" sz="2200" b="1" dirty="0"/>
              <a:t>package</a:t>
            </a:r>
            <a:r>
              <a:rPr lang="en-IE" sz="2200" dirty="0"/>
              <a:t>).</a:t>
            </a:r>
          </a:p>
        </p:txBody>
      </p:sp>
      <p:sp>
        <p:nvSpPr>
          <p:cNvPr id="3" name="TextBox 2"/>
          <p:cNvSpPr txBox="1"/>
          <p:nvPr/>
        </p:nvSpPr>
        <p:spPr>
          <a:xfrm>
            <a:off x="7924800" y="6417647"/>
            <a:ext cx="1585690" cy="369332"/>
          </a:xfrm>
          <a:prstGeom prst="rect">
            <a:avLst/>
          </a:prstGeom>
          <a:noFill/>
        </p:spPr>
        <p:txBody>
          <a:bodyPr wrap="none" rtlCol="0">
            <a:spAutoFit/>
          </a:bodyPr>
          <a:lstStyle/>
          <a:p>
            <a:r>
              <a:rPr lang="en-GB" dirty="0">
                <a:solidFill>
                  <a:schemeClr val="tx2">
                    <a:lumMod val="60000"/>
                    <a:lumOff val="40000"/>
                  </a:schemeClr>
                </a:solidFill>
              </a:rPr>
              <a:t>Filename: Spot</a:t>
            </a:r>
          </a:p>
        </p:txBody>
      </p:sp>
      <p:cxnSp>
        <p:nvCxnSpPr>
          <p:cNvPr id="5" name="Straight Arrow Connector 4"/>
          <p:cNvCxnSpPr/>
          <p:nvPr/>
        </p:nvCxnSpPr>
        <p:spPr>
          <a:xfrm>
            <a:off x="7010400" y="2590801"/>
            <a:ext cx="1066800" cy="38268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9654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Refactoring Spot : Access Modifiers</a:t>
            </a:r>
          </a:p>
        </p:txBody>
      </p:sp>
      <p:sp>
        <p:nvSpPr>
          <p:cNvPr id="6" name="Rectangle 5"/>
          <p:cNvSpPr/>
          <p:nvPr/>
        </p:nvSpPr>
        <p:spPr>
          <a:xfrm>
            <a:off x="1981200" y="1524001"/>
            <a:ext cx="5791200" cy="526297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100" dirty="0">
                <a:solidFill>
                  <a:schemeClr val="tx1"/>
                </a:solidFill>
              </a:rPr>
              <a:t>public</a:t>
            </a:r>
            <a:r>
              <a:rPr lang="en-IE" sz="2100" b="1" dirty="0">
                <a:solidFill>
                  <a:srgbClr val="FF0000"/>
                </a:solidFill>
              </a:rPr>
              <a:t> </a:t>
            </a:r>
            <a:r>
              <a:rPr lang="en-IE" sz="2100" dirty="0"/>
              <a:t>class Spot{</a:t>
            </a:r>
          </a:p>
          <a:p>
            <a:r>
              <a:rPr lang="en-IE" sz="2100" b="1" dirty="0">
                <a:solidFill>
                  <a:srgbClr val="FF0000"/>
                </a:solidFill>
              </a:rPr>
              <a:t>   </a:t>
            </a:r>
            <a:r>
              <a:rPr lang="en-IE" sz="2100" dirty="0">
                <a:solidFill>
                  <a:srgbClr val="FF0000"/>
                </a:solidFill>
              </a:rPr>
              <a:t>float </a:t>
            </a:r>
            <a:r>
              <a:rPr lang="en-IE" sz="2100" dirty="0" err="1">
                <a:solidFill>
                  <a:srgbClr val="FF0000"/>
                </a:solidFill>
              </a:rPr>
              <a:t>xCoord</a:t>
            </a:r>
            <a:r>
              <a:rPr lang="en-IE" sz="2100" dirty="0">
                <a:solidFill>
                  <a:srgbClr val="FF0000"/>
                </a:solidFill>
              </a:rPr>
              <a:t>, </a:t>
            </a:r>
            <a:r>
              <a:rPr lang="en-IE" sz="2100" dirty="0" err="1">
                <a:solidFill>
                  <a:srgbClr val="FF0000"/>
                </a:solidFill>
              </a:rPr>
              <a:t>yCoord</a:t>
            </a:r>
            <a:r>
              <a:rPr lang="en-IE" sz="2100" dirty="0">
                <a:solidFill>
                  <a:srgbClr val="FF0000"/>
                </a:solidFill>
              </a:rPr>
              <a:t>;</a:t>
            </a:r>
          </a:p>
          <a:p>
            <a:r>
              <a:rPr lang="en-IE" sz="2100" dirty="0">
                <a:solidFill>
                  <a:srgbClr val="FF0000"/>
                </a:solidFill>
              </a:rPr>
              <a:t>   float diameter;</a:t>
            </a:r>
          </a:p>
          <a:p>
            <a:r>
              <a:rPr lang="en-IE" sz="2100" dirty="0">
                <a:solidFill>
                  <a:srgbClr val="FF0000"/>
                </a:solidFill>
              </a:rPr>
              <a:t>   </a:t>
            </a:r>
            <a:r>
              <a:rPr lang="en-IE" sz="2100" dirty="0" err="1">
                <a:solidFill>
                  <a:srgbClr val="FF0000"/>
                </a:solidFill>
              </a:rPr>
              <a:t>int</a:t>
            </a:r>
            <a:r>
              <a:rPr lang="en-IE" sz="2100" dirty="0">
                <a:solidFill>
                  <a:srgbClr val="FF0000"/>
                </a:solidFill>
              </a:rPr>
              <a:t> red, green, blue;</a:t>
            </a:r>
          </a:p>
          <a:p>
            <a:r>
              <a:rPr lang="en-IE" sz="2100" dirty="0"/>
              <a:t>  </a:t>
            </a:r>
          </a:p>
          <a:p>
            <a:r>
              <a:rPr lang="en-IE" sz="2100" dirty="0"/>
              <a:t>   Spot()</a:t>
            </a:r>
          </a:p>
          <a:p>
            <a:r>
              <a:rPr lang="en-IE" sz="2100" dirty="0"/>
              <a:t>   {</a:t>
            </a:r>
          </a:p>
          <a:p>
            <a:r>
              <a:rPr lang="en-IE" sz="2100" dirty="0"/>
              <a:t>   }</a:t>
            </a:r>
          </a:p>
          <a:p>
            <a:endParaRPr lang="en-IE" sz="2100" dirty="0">
              <a:solidFill>
                <a:schemeClr val="bg1">
                  <a:lumMod val="50000"/>
                </a:schemeClr>
              </a:solidFill>
            </a:endParaRPr>
          </a:p>
          <a:p>
            <a:r>
              <a:rPr lang="en-IE" sz="2100" dirty="0">
                <a:solidFill>
                  <a:schemeClr val="bg1">
                    <a:lumMod val="50000"/>
                  </a:schemeClr>
                </a:solidFill>
              </a:rPr>
              <a:t>   // other constructor</a:t>
            </a:r>
          </a:p>
          <a:p>
            <a:r>
              <a:rPr lang="en-IE" sz="2100" dirty="0"/>
              <a:t>   void display(){</a:t>
            </a:r>
          </a:p>
          <a:p>
            <a:r>
              <a:rPr lang="en-IE" sz="2100" dirty="0"/>
              <a:t>       ellipse(</a:t>
            </a:r>
            <a:r>
              <a:rPr lang="en-IE" sz="2100" dirty="0" err="1"/>
              <a:t>xCoord</a:t>
            </a:r>
            <a:r>
              <a:rPr lang="en-IE" sz="2100" dirty="0"/>
              <a:t>, </a:t>
            </a:r>
            <a:r>
              <a:rPr lang="en-IE" sz="2100" dirty="0" err="1"/>
              <a:t>yCoord</a:t>
            </a:r>
            <a:r>
              <a:rPr lang="en-IE" sz="2100" dirty="0"/>
              <a:t>, diameter, diameter);</a:t>
            </a:r>
          </a:p>
          <a:p>
            <a:r>
              <a:rPr lang="en-IE" sz="2100" dirty="0"/>
              <a:t>   }</a:t>
            </a:r>
          </a:p>
          <a:p>
            <a:r>
              <a:rPr lang="en-IE" sz="2100" dirty="0">
                <a:solidFill>
                  <a:schemeClr val="bg1">
                    <a:lumMod val="50000"/>
                  </a:schemeClr>
                </a:solidFill>
              </a:rPr>
              <a:t>   // move method…</a:t>
            </a:r>
            <a:endParaRPr lang="en-IE" sz="2100" dirty="0"/>
          </a:p>
          <a:p>
            <a:r>
              <a:rPr lang="en-IE" sz="2100" b="1" dirty="0">
                <a:solidFill>
                  <a:srgbClr val="FF0000"/>
                </a:solidFill>
              </a:rPr>
              <a:t>   </a:t>
            </a:r>
            <a:r>
              <a:rPr lang="en-IE" sz="2100" dirty="0">
                <a:solidFill>
                  <a:schemeClr val="bg1">
                    <a:lumMod val="50000"/>
                  </a:schemeClr>
                </a:solidFill>
              </a:rPr>
              <a:t>// colour methods…</a:t>
            </a:r>
          </a:p>
          <a:p>
            <a:r>
              <a:rPr lang="en-IE" sz="2100" dirty="0"/>
              <a:t>}</a:t>
            </a:r>
          </a:p>
        </p:txBody>
      </p:sp>
      <p:sp>
        <p:nvSpPr>
          <p:cNvPr id="8" name="TextBox 7"/>
          <p:cNvSpPr txBox="1"/>
          <p:nvPr/>
        </p:nvSpPr>
        <p:spPr>
          <a:xfrm>
            <a:off x="4648200" y="2743200"/>
            <a:ext cx="5867400" cy="2123658"/>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E" sz="2200" dirty="0"/>
              <a:t>However, as the default access level is </a:t>
            </a:r>
            <a:r>
              <a:rPr lang="en-IE" sz="2200" b="1" dirty="0"/>
              <a:t>package</a:t>
            </a:r>
          </a:p>
          <a:p>
            <a:r>
              <a:rPr lang="en-IE" sz="2200" b="1" dirty="0">
                <a:sym typeface="Wingdings" panose="05000000000000000000" pitchFamily="2" charset="2"/>
              </a:rPr>
              <a:t> </a:t>
            </a:r>
            <a:r>
              <a:rPr lang="en-IE" sz="2200" dirty="0"/>
              <a:t>our methods and fields are all </a:t>
            </a:r>
            <a:r>
              <a:rPr lang="en-IE" sz="2200" b="1" dirty="0"/>
              <a:t>package</a:t>
            </a:r>
            <a:r>
              <a:rPr lang="en-IE" sz="2200" dirty="0"/>
              <a:t> level access.</a:t>
            </a:r>
          </a:p>
          <a:p>
            <a:endParaRPr lang="en-IE" sz="2200" dirty="0"/>
          </a:p>
          <a:p>
            <a:r>
              <a:rPr lang="en-IE" sz="2200" i="1" dirty="0">
                <a:sym typeface="Wingdings" panose="05000000000000000000" pitchFamily="2" charset="2"/>
              </a:rPr>
              <a:t>Problem:  </a:t>
            </a:r>
            <a:r>
              <a:rPr lang="en-IE" sz="2200" dirty="0">
                <a:sym typeface="Wingdings" panose="05000000000000000000" pitchFamily="2" charset="2"/>
              </a:rPr>
              <a:t>t</a:t>
            </a:r>
            <a:r>
              <a:rPr lang="en-IE" sz="2200" dirty="0"/>
              <a:t>his breaks </a:t>
            </a:r>
            <a:r>
              <a:rPr lang="en-IE" sz="2200" b="1" dirty="0">
                <a:solidFill>
                  <a:srgbClr val="00B050"/>
                </a:solidFill>
              </a:rPr>
              <a:t>Encapsulation step 2 </a:t>
            </a:r>
            <a:br>
              <a:rPr lang="en-IE" sz="2200" b="1" dirty="0">
                <a:solidFill>
                  <a:srgbClr val="00B050"/>
                </a:solidFill>
              </a:rPr>
            </a:br>
            <a:r>
              <a:rPr lang="en-IE" sz="2200" dirty="0"/>
              <a:t>i.e. the fields of a class should be </a:t>
            </a:r>
            <a:r>
              <a:rPr lang="en-IE" sz="2200" b="1" dirty="0"/>
              <a:t>private</a:t>
            </a:r>
            <a:r>
              <a:rPr lang="en-IE" sz="2200" dirty="0"/>
              <a:t>.</a:t>
            </a:r>
          </a:p>
        </p:txBody>
      </p:sp>
    </p:spTree>
    <p:extLst>
      <p:ext uri="{BB962C8B-B14F-4D97-AF65-F5344CB8AC3E}">
        <p14:creationId xmlns:p14="http://schemas.microsoft.com/office/powerpoint/2010/main" val="807032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Refactoring Spot: Access Modifiers</a:t>
            </a:r>
          </a:p>
        </p:txBody>
      </p:sp>
      <p:sp>
        <p:nvSpPr>
          <p:cNvPr id="6" name="Rectangle 5"/>
          <p:cNvSpPr/>
          <p:nvPr/>
        </p:nvSpPr>
        <p:spPr>
          <a:xfrm>
            <a:off x="1981200" y="1524001"/>
            <a:ext cx="5791200" cy="526297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100" dirty="0">
                <a:solidFill>
                  <a:schemeClr val="tx1"/>
                </a:solidFill>
              </a:rPr>
              <a:t>public </a:t>
            </a:r>
            <a:r>
              <a:rPr lang="en-IE" sz="2100" dirty="0"/>
              <a:t>class Spot{</a:t>
            </a:r>
          </a:p>
          <a:p>
            <a:r>
              <a:rPr lang="en-IE" sz="2100" b="1" dirty="0">
                <a:solidFill>
                  <a:srgbClr val="FF0000"/>
                </a:solidFill>
              </a:rPr>
              <a:t>   private </a:t>
            </a:r>
            <a:r>
              <a:rPr lang="en-IE" sz="2100" dirty="0">
                <a:solidFill>
                  <a:srgbClr val="FF0000"/>
                </a:solidFill>
              </a:rPr>
              <a:t>float </a:t>
            </a:r>
            <a:r>
              <a:rPr lang="en-IE" sz="2100" dirty="0" err="1">
                <a:solidFill>
                  <a:srgbClr val="FF0000"/>
                </a:solidFill>
              </a:rPr>
              <a:t>xCoord</a:t>
            </a:r>
            <a:r>
              <a:rPr lang="en-IE" sz="2100" dirty="0">
                <a:solidFill>
                  <a:srgbClr val="FF0000"/>
                </a:solidFill>
              </a:rPr>
              <a:t>, </a:t>
            </a:r>
            <a:r>
              <a:rPr lang="en-IE" sz="2100" dirty="0" err="1">
                <a:solidFill>
                  <a:srgbClr val="FF0000"/>
                </a:solidFill>
              </a:rPr>
              <a:t>yCoord</a:t>
            </a:r>
            <a:r>
              <a:rPr lang="en-IE" sz="2100" dirty="0">
                <a:solidFill>
                  <a:srgbClr val="FF0000"/>
                </a:solidFill>
              </a:rPr>
              <a:t>;</a:t>
            </a:r>
          </a:p>
          <a:p>
            <a:r>
              <a:rPr lang="en-IE" sz="2100" b="1" dirty="0">
                <a:solidFill>
                  <a:srgbClr val="FF0000"/>
                </a:solidFill>
              </a:rPr>
              <a:t>   private </a:t>
            </a:r>
            <a:r>
              <a:rPr lang="en-IE" sz="2100" dirty="0">
                <a:solidFill>
                  <a:srgbClr val="FF0000"/>
                </a:solidFill>
              </a:rPr>
              <a:t>float diameter;</a:t>
            </a:r>
          </a:p>
          <a:p>
            <a:r>
              <a:rPr lang="en-IE" sz="2100" b="1" dirty="0">
                <a:solidFill>
                  <a:srgbClr val="FF0000"/>
                </a:solidFill>
              </a:rPr>
              <a:t>   private </a:t>
            </a:r>
            <a:r>
              <a:rPr lang="en-IE" sz="2100" dirty="0" err="1">
                <a:solidFill>
                  <a:srgbClr val="FF0000"/>
                </a:solidFill>
              </a:rPr>
              <a:t>int</a:t>
            </a:r>
            <a:r>
              <a:rPr lang="en-IE" sz="2100" dirty="0">
                <a:solidFill>
                  <a:srgbClr val="FF0000"/>
                </a:solidFill>
              </a:rPr>
              <a:t> red, green, blue;</a:t>
            </a:r>
          </a:p>
          <a:p>
            <a:r>
              <a:rPr lang="en-IE" sz="2100" dirty="0"/>
              <a:t>  </a:t>
            </a:r>
          </a:p>
          <a:p>
            <a:r>
              <a:rPr lang="en-IE" sz="2100" dirty="0"/>
              <a:t>   Spot()</a:t>
            </a:r>
          </a:p>
          <a:p>
            <a:r>
              <a:rPr lang="en-IE" sz="2100" dirty="0"/>
              <a:t>   {</a:t>
            </a:r>
          </a:p>
          <a:p>
            <a:r>
              <a:rPr lang="en-IE" sz="2100" dirty="0"/>
              <a:t>   }</a:t>
            </a:r>
          </a:p>
          <a:p>
            <a:endParaRPr lang="en-IE" sz="2100" dirty="0">
              <a:solidFill>
                <a:schemeClr val="bg1">
                  <a:lumMod val="50000"/>
                </a:schemeClr>
              </a:solidFill>
            </a:endParaRPr>
          </a:p>
          <a:p>
            <a:r>
              <a:rPr lang="en-IE" sz="2100" dirty="0">
                <a:solidFill>
                  <a:schemeClr val="bg1">
                    <a:lumMod val="50000"/>
                  </a:schemeClr>
                </a:solidFill>
              </a:rPr>
              <a:t>   // other constructor</a:t>
            </a:r>
          </a:p>
          <a:p>
            <a:r>
              <a:rPr lang="en-IE" sz="2100" dirty="0"/>
              <a:t>   void display(){</a:t>
            </a:r>
          </a:p>
          <a:p>
            <a:r>
              <a:rPr lang="en-IE" sz="2100" dirty="0"/>
              <a:t>       ellipse(</a:t>
            </a:r>
            <a:r>
              <a:rPr lang="en-IE" sz="2100" dirty="0" err="1"/>
              <a:t>xCoord</a:t>
            </a:r>
            <a:r>
              <a:rPr lang="en-IE" sz="2100" dirty="0"/>
              <a:t>, </a:t>
            </a:r>
            <a:r>
              <a:rPr lang="en-IE" sz="2100" dirty="0" err="1"/>
              <a:t>yCoord</a:t>
            </a:r>
            <a:r>
              <a:rPr lang="en-IE" sz="2100" dirty="0"/>
              <a:t>, diameter, diameter);</a:t>
            </a:r>
          </a:p>
          <a:p>
            <a:r>
              <a:rPr lang="en-IE" sz="2100" dirty="0"/>
              <a:t>   }</a:t>
            </a:r>
          </a:p>
          <a:p>
            <a:r>
              <a:rPr lang="en-IE" sz="2100" dirty="0">
                <a:solidFill>
                  <a:schemeClr val="bg1">
                    <a:lumMod val="50000"/>
                  </a:schemeClr>
                </a:solidFill>
              </a:rPr>
              <a:t>   // move method…</a:t>
            </a:r>
            <a:endParaRPr lang="en-IE" sz="2100" dirty="0"/>
          </a:p>
          <a:p>
            <a:r>
              <a:rPr lang="en-IE" sz="2100" b="1" dirty="0">
                <a:solidFill>
                  <a:srgbClr val="FF0000"/>
                </a:solidFill>
              </a:rPr>
              <a:t>   </a:t>
            </a:r>
            <a:r>
              <a:rPr lang="en-IE" sz="2100" dirty="0">
                <a:solidFill>
                  <a:schemeClr val="bg1">
                    <a:lumMod val="50000"/>
                  </a:schemeClr>
                </a:solidFill>
              </a:rPr>
              <a:t>// colour methods…</a:t>
            </a:r>
          </a:p>
          <a:p>
            <a:r>
              <a:rPr lang="en-IE" sz="2100" dirty="0"/>
              <a:t>}</a:t>
            </a:r>
          </a:p>
        </p:txBody>
      </p:sp>
      <p:sp>
        <p:nvSpPr>
          <p:cNvPr id="8" name="TextBox 7"/>
          <p:cNvSpPr txBox="1"/>
          <p:nvPr/>
        </p:nvSpPr>
        <p:spPr>
          <a:xfrm>
            <a:off x="5105400" y="3176875"/>
            <a:ext cx="5334000" cy="76944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E" sz="2200" dirty="0"/>
              <a:t>To fix </a:t>
            </a:r>
            <a:r>
              <a:rPr lang="en-IE" sz="2200" b="1" dirty="0">
                <a:solidFill>
                  <a:srgbClr val="00B050"/>
                </a:solidFill>
              </a:rPr>
              <a:t>Encapsulation step 2</a:t>
            </a:r>
            <a:r>
              <a:rPr lang="en-IE" sz="2200" dirty="0"/>
              <a:t>, </a:t>
            </a:r>
            <a:br>
              <a:rPr lang="en-IE" sz="2200" dirty="0"/>
            </a:br>
            <a:r>
              <a:rPr lang="en-IE" sz="2200" dirty="0"/>
              <a:t>we </a:t>
            </a:r>
            <a:r>
              <a:rPr lang="en-IE" sz="2200" b="1" dirty="0"/>
              <a:t>declare all the fields </a:t>
            </a:r>
            <a:r>
              <a:rPr lang="en-IE" sz="2200" dirty="0"/>
              <a:t>with </a:t>
            </a:r>
            <a:r>
              <a:rPr lang="en-IE" sz="2200" b="1" dirty="0">
                <a:solidFill>
                  <a:srgbClr val="FF0000"/>
                </a:solidFill>
              </a:rPr>
              <a:t>private</a:t>
            </a:r>
            <a:r>
              <a:rPr lang="en-IE" sz="2200" dirty="0">
                <a:solidFill>
                  <a:srgbClr val="FF0000"/>
                </a:solidFill>
              </a:rPr>
              <a:t> </a:t>
            </a:r>
            <a:r>
              <a:rPr lang="en-IE" sz="2200" dirty="0"/>
              <a:t>access.</a:t>
            </a:r>
          </a:p>
        </p:txBody>
      </p:sp>
      <p:sp>
        <p:nvSpPr>
          <p:cNvPr id="5" name="Rectangle 4"/>
          <p:cNvSpPr/>
          <p:nvPr/>
        </p:nvSpPr>
        <p:spPr>
          <a:xfrm>
            <a:off x="2133600" y="1900158"/>
            <a:ext cx="3429000" cy="9906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299443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Access Modifiers</a:t>
            </a:r>
            <a:endParaRPr lang="en-GB" dirty="0"/>
          </a:p>
        </p:txBody>
      </p:sp>
      <p:sp>
        <p:nvSpPr>
          <p:cNvPr id="7" name="TextBox 6"/>
          <p:cNvSpPr txBox="1"/>
          <p:nvPr/>
        </p:nvSpPr>
        <p:spPr>
          <a:xfrm>
            <a:off x="1524000" y="6525797"/>
            <a:ext cx="3352800" cy="338554"/>
          </a:xfrm>
          <a:prstGeom prst="rect">
            <a:avLst/>
          </a:prstGeom>
          <a:noFill/>
        </p:spPr>
        <p:txBody>
          <a:bodyPr wrap="square" rtlCol="0">
            <a:spAutoFit/>
          </a:bodyPr>
          <a:lstStyle/>
          <a:p>
            <a:r>
              <a:rPr lang="en-GB" sz="1600" dirty="0">
                <a:hlinkClick r:id="rId2"/>
              </a:rPr>
              <a:t>http://www.evinw.com/w/</a:t>
            </a:r>
            <a:r>
              <a:rPr lang="en-GB" sz="1600" dirty="0"/>
              <a:t> </a:t>
            </a:r>
          </a:p>
        </p:txBody>
      </p:sp>
      <p:pic>
        <p:nvPicPr>
          <p:cNvPr id="5" name="Picture 4">
            <a:extLst>
              <a:ext uri="{FF2B5EF4-FFF2-40B4-BE49-F238E27FC236}">
                <a16:creationId xmlns:a16="http://schemas.microsoft.com/office/drawing/2014/main" id="{10ADB2B4-4E9C-2C41-ADED-B8439A0D99E0}"/>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45000"/>
                    </a14:imgEffect>
                  </a14:imgLayer>
                </a14:imgProps>
              </a:ext>
              <a:ext uri="{28A0092B-C50C-407E-A947-70E740481C1C}">
                <a14:useLocalDpi xmlns:a14="http://schemas.microsoft.com/office/drawing/2010/main" val="0"/>
              </a:ext>
            </a:extLst>
          </a:blip>
          <a:stretch>
            <a:fillRect/>
          </a:stretch>
        </p:blipFill>
        <p:spPr>
          <a:xfrm>
            <a:off x="1981200" y="1524000"/>
            <a:ext cx="5370095" cy="2859401"/>
          </a:xfrm>
          <a:prstGeom prst="rect">
            <a:avLst/>
          </a:prstGeom>
          <a:ln>
            <a:solidFill>
              <a:schemeClr val="accent1"/>
            </a:solidFill>
          </a:ln>
          <a:effectLst>
            <a:innerShdw blurRad="63500" dist="50800" dir="16200000">
              <a:schemeClr val="accent2">
                <a:lumMod val="60000"/>
                <a:lumOff val="40000"/>
                <a:alpha val="50000"/>
              </a:schemeClr>
            </a:innerShdw>
          </a:effectLst>
        </p:spPr>
      </p:pic>
    </p:spTree>
    <p:extLst>
      <p:ext uri="{BB962C8B-B14F-4D97-AF65-F5344CB8AC3E}">
        <p14:creationId xmlns:p14="http://schemas.microsoft.com/office/powerpoint/2010/main" val="42723812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Access Modifiers</a:t>
            </a:r>
            <a:endParaRPr lang="en-GB" dirty="0"/>
          </a:p>
        </p:txBody>
      </p:sp>
      <p:sp>
        <p:nvSpPr>
          <p:cNvPr id="7" name="TextBox 6"/>
          <p:cNvSpPr txBox="1"/>
          <p:nvPr/>
        </p:nvSpPr>
        <p:spPr>
          <a:xfrm>
            <a:off x="1524000" y="6525797"/>
            <a:ext cx="3352800" cy="338554"/>
          </a:xfrm>
          <a:prstGeom prst="rect">
            <a:avLst/>
          </a:prstGeom>
          <a:noFill/>
        </p:spPr>
        <p:txBody>
          <a:bodyPr wrap="square" rtlCol="0">
            <a:spAutoFit/>
          </a:bodyPr>
          <a:lstStyle/>
          <a:p>
            <a:r>
              <a:rPr lang="en-GB" sz="1600" dirty="0">
                <a:hlinkClick r:id="rId2"/>
              </a:rPr>
              <a:t>http://www.evinw.com/w/</a:t>
            </a:r>
            <a:r>
              <a:rPr lang="en-GB" sz="1600" dirty="0"/>
              <a:t> </a:t>
            </a:r>
          </a:p>
        </p:txBody>
      </p:sp>
      <p:pic>
        <p:nvPicPr>
          <p:cNvPr id="13" name="Picture 12">
            <a:extLst>
              <a:ext uri="{FF2B5EF4-FFF2-40B4-BE49-F238E27FC236}">
                <a16:creationId xmlns:a16="http://schemas.microsoft.com/office/drawing/2014/main" id="{BE690560-B75A-1540-8484-AC3E5288CBF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45000"/>
                    </a14:imgEffect>
                  </a14:imgLayer>
                </a14:imgProps>
              </a:ext>
              <a:ext uri="{28A0092B-C50C-407E-A947-70E740481C1C}">
                <a14:useLocalDpi xmlns:a14="http://schemas.microsoft.com/office/drawing/2010/main" val="0"/>
              </a:ext>
            </a:extLst>
          </a:blip>
          <a:stretch>
            <a:fillRect/>
          </a:stretch>
        </p:blipFill>
        <p:spPr>
          <a:xfrm>
            <a:off x="1981200" y="1524000"/>
            <a:ext cx="5370095" cy="2859401"/>
          </a:xfrm>
          <a:prstGeom prst="rect">
            <a:avLst/>
          </a:prstGeom>
          <a:ln>
            <a:solidFill>
              <a:schemeClr val="accent1"/>
            </a:solidFill>
          </a:ln>
          <a:effectLst>
            <a:innerShdw blurRad="63500" dist="50800" dir="16200000">
              <a:schemeClr val="accent2">
                <a:lumMod val="60000"/>
                <a:lumOff val="40000"/>
                <a:alpha val="50000"/>
              </a:schemeClr>
            </a:innerShdw>
          </a:effectLst>
        </p:spPr>
      </p:pic>
      <p:pic>
        <p:nvPicPr>
          <p:cNvPr id="14" name="Picture 13">
            <a:extLst>
              <a:ext uri="{FF2B5EF4-FFF2-40B4-BE49-F238E27FC236}">
                <a16:creationId xmlns:a16="http://schemas.microsoft.com/office/drawing/2014/main" id="{1BF4C1CE-2DF2-5A41-B503-61AB13E34E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34001" y="3926306"/>
            <a:ext cx="5199883" cy="2768769"/>
          </a:xfrm>
          <a:prstGeom prst="rect">
            <a:avLst/>
          </a:prstGeom>
          <a:ln>
            <a:solidFill>
              <a:schemeClr val="accent1"/>
            </a:solidFill>
          </a:ln>
          <a:effectLst>
            <a:innerShdw blurRad="63500" dist="50800" dir="16200000">
              <a:schemeClr val="accent2">
                <a:lumMod val="60000"/>
                <a:lumOff val="40000"/>
                <a:alpha val="50000"/>
              </a:schemeClr>
            </a:innerShdw>
          </a:effectLst>
        </p:spPr>
      </p:pic>
    </p:spTree>
    <p:extLst>
      <p:ext uri="{BB962C8B-B14F-4D97-AF65-F5344CB8AC3E}">
        <p14:creationId xmlns:p14="http://schemas.microsoft.com/office/powerpoint/2010/main" val="592772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Refactoring Spot 7.0: Access Modifiers</a:t>
            </a:r>
            <a:endParaRPr lang="en-GB" dirty="0"/>
          </a:p>
        </p:txBody>
      </p:sp>
      <p:sp>
        <p:nvSpPr>
          <p:cNvPr id="9" name="Rectangle 8"/>
          <p:cNvSpPr/>
          <p:nvPr/>
        </p:nvSpPr>
        <p:spPr>
          <a:xfrm>
            <a:off x="1676400" y="1521383"/>
            <a:ext cx="3733800" cy="3000821"/>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100" dirty="0">
                <a:solidFill>
                  <a:schemeClr val="tx1"/>
                </a:solidFill>
              </a:rPr>
              <a:t>public </a:t>
            </a:r>
            <a:r>
              <a:rPr lang="en-IE" sz="2100" dirty="0"/>
              <a:t>class Spot{</a:t>
            </a:r>
          </a:p>
          <a:p>
            <a:r>
              <a:rPr lang="en-IE" sz="2100" b="1" dirty="0">
                <a:solidFill>
                  <a:srgbClr val="FF0000"/>
                </a:solidFill>
              </a:rPr>
              <a:t>   private </a:t>
            </a:r>
            <a:r>
              <a:rPr lang="en-IE" sz="2100" dirty="0">
                <a:solidFill>
                  <a:srgbClr val="FF0000"/>
                </a:solidFill>
              </a:rPr>
              <a:t>float </a:t>
            </a:r>
            <a:r>
              <a:rPr lang="en-IE" sz="2100" dirty="0" err="1">
                <a:solidFill>
                  <a:srgbClr val="FF0000"/>
                </a:solidFill>
              </a:rPr>
              <a:t>xCoord</a:t>
            </a:r>
            <a:r>
              <a:rPr lang="en-IE" sz="2100" dirty="0">
                <a:solidFill>
                  <a:srgbClr val="FF0000"/>
                </a:solidFill>
              </a:rPr>
              <a:t>, </a:t>
            </a:r>
            <a:r>
              <a:rPr lang="en-IE" sz="2100" dirty="0" err="1">
                <a:solidFill>
                  <a:srgbClr val="FF0000"/>
                </a:solidFill>
              </a:rPr>
              <a:t>yCoord</a:t>
            </a:r>
            <a:r>
              <a:rPr lang="en-IE" sz="2100" dirty="0">
                <a:solidFill>
                  <a:srgbClr val="FF0000"/>
                </a:solidFill>
              </a:rPr>
              <a:t>;</a:t>
            </a:r>
          </a:p>
          <a:p>
            <a:r>
              <a:rPr lang="en-IE" sz="2100" b="1" dirty="0">
                <a:solidFill>
                  <a:srgbClr val="FF0000"/>
                </a:solidFill>
              </a:rPr>
              <a:t>   private </a:t>
            </a:r>
            <a:r>
              <a:rPr lang="en-IE" sz="2100" dirty="0">
                <a:solidFill>
                  <a:srgbClr val="FF0000"/>
                </a:solidFill>
              </a:rPr>
              <a:t>float diameter;</a:t>
            </a:r>
          </a:p>
          <a:p>
            <a:r>
              <a:rPr lang="en-IE" sz="2100" b="1" dirty="0">
                <a:solidFill>
                  <a:srgbClr val="FF0000"/>
                </a:solidFill>
              </a:rPr>
              <a:t>   private </a:t>
            </a:r>
            <a:r>
              <a:rPr lang="en-IE" sz="2100" dirty="0" err="1">
                <a:solidFill>
                  <a:srgbClr val="FF0000"/>
                </a:solidFill>
              </a:rPr>
              <a:t>int</a:t>
            </a:r>
            <a:r>
              <a:rPr lang="en-IE" sz="2100" dirty="0">
                <a:solidFill>
                  <a:srgbClr val="FF0000"/>
                </a:solidFill>
              </a:rPr>
              <a:t> red, green, blue;</a:t>
            </a:r>
            <a:endParaRPr lang="en-IE" sz="2100" dirty="0">
              <a:solidFill>
                <a:schemeClr val="bg1">
                  <a:lumMod val="50000"/>
                </a:schemeClr>
              </a:solidFill>
            </a:endParaRPr>
          </a:p>
          <a:p>
            <a:r>
              <a:rPr lang="en-IE" sz="2100" dirty="0">
                <a:solidFill>
                  <a:schemeClr val="bg1">
                    <a:lumMod val="50000"/>
                  </a:schemeClr>
                </a:solidFill>
              </a:rPr>
              <a:t>   //constructors…</a:t>
            </a:r>
          </a:p>
          <a:p>
            <a:r>
              <a:rPr lang="en-IE" sz="2100" dirty="0">
                <a:solidFill>
                  <a:schemeClr val="bg1">
                    <a:lumMod val="50000"/>
                  </a:schemeClr>
                </a:solidFill>
              </a:rPr>
              <a:t>   //display method…</a:t>
            </a:r>
          </a:p>
          <a:p>
            <a:r>
              <a:rPr lang="en-IE" sz="2100" dirty="0">
                <a:solidFill>
                  <a:schemeClr val="bg1">
                    <a:lumMod val="50000"/>
                  </a:schemeClr>
                </a:solidFill>
              </a:rPr>
              <a:t>   // move method…</a:t>
            </a:r>
            <a:endParaRPr lang="en-IE" sz="2100" dirty="0"/>
          </a:p>
          <a:p>
            <a:r>
              <a:rPr lang="en-IE" sz="2100" b="1" dirty="0">
                <a:solidFill>
                  <a:srgbClr val="FF0000"/>
                </a:solidFill>
              </a:rPr>
              <a:t>   </a:t>
            </a:r>
            <a:r>
              <a:rPr lang="en-IE" sz="2100" dirty="0">
                <a:solidFill>
                  <a:schemeClr val="bg1">
                    <a:lumMod val="50000"/>
                  </a:schemeClr>
                </a:solidFill>
              </a:rPr>
              <a:t>// colour methods…</a:t>
            </a:r>
          </a:p>
          <a:p>
            <a:r>
              <a:rPr lang="en-IE" sz="2100" dirty="0"/>
              <a:t>}</a:t>
            </a:r>
          </a:p>
        </p:txBody>
      </p:sp>
      <p:sp>
        <p:nvSpPr>
          <p:cNvPr id="3" name="Arrow: Left 2">
            <a:extLst>
              <a:ext uri="{FF2B5EF4-FFF2-40B4-BE49-F238E27FC236}">
                <a16:creationId xmlns:a16="http://schemas.microsoft.com/office/drawing/2014/main" id="{A8D02C4D-3C13-4B6A-8EFE-D03B474CA417}"/>
              </a:ext>
            </a:extLst>
          </p:cNvPr>
          <p:cNvSpPr/>
          <p:nvPr/>
        </p:nvSpPr>
        <p:spPr>
          <a:xfrm>
            <a:off x="5079207" y="1258253"/>
            <a:ext cx="5428483" cy="2491643"/>
          </a:xfrm>
          <a:prstGeom prst="lef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300" dirty="0"/>
              <a:t>The </a:t>
            </a:r>
            <a:r>
              <a:rPr lang="en-IE" sz="2300" b="1" u="sng" dirty="0"/>
              <a:t>private</a:t>
            </a:r>
            <a:r>
              <a:rPr lang="en-IE" sz="2300" b="1" dirty="0"/>
              <a:t> </a:t>
            </a:r>
            <a:r>
              <a:rPr lang="en-IE" sz="2300" dirty="0"/>
              <a:t>fields are not viewable or updatable outside the class </a:t>
            </a:r>
            <a:r>
              <a:rPr lang="en-IE" sz="2300" b="1" dirty="0"/>
              <a:t>Spot</a:t>
            </a:r>
            <a:r>
              <a:rPr lang="en-IE" sz="2300" dirty="0"/>
              <a:t>.  Other classes don’t know these exist.</a:t>
            </a:r>
          </a:p>
        </p:txBody>
      </p:sp>
      <p:sp>
        <p:nvSpPr>
          <p:cNvPr id="10" name="TextBox 9">
            <a:extLst>
              <a:ext uri="{FF2B5EF4-FFF2-40B4-BE49-F238E27FC236}">
                <a16:creationId xmlns:a16="http://schemas.microsoft.com/office/drawing/2014/main" id="{CFB4EA4D-546E-4EFA-9F8F-7E81E07D57FE}"/>
              </a:ext>
            </a:extLst>
          </p:cNvPr>
          <p:cNvSpPr txBox="1"/>
          <p:nvPr/>
        </p:nvSpPr>
        <p:spPr>
          <a:xfrm>
            <a:off x="1524000" y="6525797"/>
            <a:ext cx="3352800" cy="338554"/>
          </a:xfrm>
          <a:prstGeom prst="rect">
            <a:avLst/>
          </a:prstGeom>
          <a:noFill/>
        </p:spPr>
        <p:txBody>
          <a:bodyPr wrap="square" rtlCol="0">
            <a:spAutoFit/>
          </a:bodyPr>
          <a:lstStyle/>
          <a:p>
            <a:r>
              <a:rPr lang="en-GB" sz="1600" dirty="0">
                <a:hlinkClick r:id="rId3"/>
              </a:rPr>
              <a:t>http://www.evinw.com/w/</a:t>
            </a:r>
            <a:r>
              <a:rPr lang="en-GB" sz="1600" dirty="0"/>
              <a:t> </a:t>
            </a:r>
          </a:p>
        </p:txBody>
      </p:sp>
      <p:pic>
        <p:nvPicPr>
          <p:cNvPr id="7" name="Picture 6">
            <a:extLst>
              <a:ext uri="{FF2B5EF4-FFF2-40B4-BE49-F238E27FC236}">
                <a16:creationId xmlns:a16="http://schemas.microsoft.com/office/drawing/2014/main" id="{283F1664-337C-2741-A06D-94280E83A1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4001" y="3926306"/>
            <a:ext cx="5199883" cy="2768769"/>
          </a:xfrm>
          <a:prstGeom prst="rect">
            <a:avLst/>
          </a:prstGeom>
          <a:ln>
            <a:solidFill>
              <a:schemeClr val="accent1"/>
            </a:solidFill>
          </a:ln>
          <a:effectLst>
            <a:innerShdw blurRad="63500" dist="50800" dir="16200000">
              <a:schemeClr val="accent2">
                <a:lumMod val="60000"/>
                <a:lumOff val="40000"/>
                <a:alpha val="50000"/>
              </a:schemeClr>
            </a:innerShdw>
          </a:effectLst>
        </p:spPr>
      </p:pic>
    </p:spTree>
    <p:extLst>
      <p:ext uri="{BB962C8B-B14F-4D97-AF65-F5344CB8AC3E}">
        <p14:creationId xmlns:p14="http://schemas.microsoft.com/office/powerpoint/2010/main" val="1948858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A67FA51-9BC6-4D63-A8F9-DF1FF607EF9A}"/>
              </a:ext>
            </a:extLst>
          </p:cNvPr>
          <p:cNvSpPr txBox="1"/>
          <p:nvPr/>
        </p:nvSpPr>
        <p:spPr>
          <a:xfrm>
            <a:off x="1524000" y="6525797"/>
            <a:ext cx="3352800" cy="338554"/>
          </a:xfrm>
          <a:prstGeom prst="rect">
            <a:avLst/>
          </a:prstGeom>
          <a:noFill/>
        </p:spPr>
        <p:txBody>
          <a:bodyPr wrap="square" rtlCol="0">
            <a:spAutoFit/>
          </a:bodyPr>
          <a:lstStyle/>
          <a:p>
            <a:r>
              <a:rPr lang="en-GB" sz="1600" dirty="0">
                <a:hlinkClick r:id="rId2"/>
              </a:rPr>
              <a:t>http://www.evinw.com/w/</a:t>
            </a:r>
            <a:r>
              <a:rPr lang="en-GB" sz="1600" dirty="0"/>
              <a:t> </a:t>
            </a:r>
          </a:p>
        </p:txBody>
      </p:sp>
      <p:sp>
        <p:nvSpPr>
          <p:cNvPr id="8" name="Title 1"/>
          <p:cNvSpPr>
            <a:spLocks noGrp="1"/>
          </p:cNvSpPr>
          <p:nvPr>
            <p:ph type="title"/>
          </p:nvPr>
        </p:nvSpPr>
        <p:spPr>
          <a:xfrm>
            <a:off x="1981200" y="274638"/>
            <a:ext cx="8686800" cy="1143000"/>
          </a:xfrm>
        </p:spPr>
        <p:txBody>
          <a:bodyPr>
            <a:normAutofit fontScale="90000"/>
          </a:bodyPr>
          <a:lstStyle/>
          <a:p>
            <a:r>
              <a:rPr lang="en-IE" dirty="0"/>
              <a:t>Refactoring Spot : </a:t>
            </a:r>
            <a:r>
              <a:rPr lang="en-IE" b="1" dirty="0"/>
              <a:t>Setters and Getters</a:t>
            </a:r>
            <a:endParaRPr lang="en-GB" b="1" dirty="0"/>
          </a:p>
        </p:txBody>
      </p:sp>
      <p:pic>
        <p:nvPicPr>
          <p:cNvPr id="6" name="Picture 5">
            <a:extLst>
              <a:ext uri="{FF2B5EF4-FFF2-40B4-BE49-F238E27FC236}">
                <a16:creationId xmlns:a16="http://schemas.microsoft.com/office/drawing/2014/main" id="{87447FEC-9E0A-DA46-ABBE-CB22FA608D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0" y="1524000"/>
            <a:ext cx="5257800" cy="2799608"/>
          </a:xfrm>
          <a:prstGeom prst="rect">
            <a:avLst/>
          </a:prstGeom>
          <a:ln>
            <a:solidFill>
              <a:schemeClr val="accent1"/>
            </a:solidFill>
          </a:ln>
          <a:effectLst>
            <a:innerShdw blurRad="63500" dist="50800" dir="18900000">
              <a:schemeClr val="accent2">
                <a:lumMod val="40000"/>
                <a:lumOff val="60000"/>
                <a:alpha val="50000"/>
              </a:schemeClr>
            </a:innerShdw>
          </a:effectLst>
        </p:spPr>
      </p:pic>
    </p:spTree>
    <p:extLst>
      <p:ext uri="{BB962C8B-B14F-4D97-AF65-F5344CB8AC3E}">
        <p14:creationId xmlns:p14="http://schemas.microsoft.com/office/powerpoint/2010/main" val="770929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686800" cy="1143000"/>
          </a:xfrm>
        </p:spPr>
        <p:txBody>
          <a:bodyPr>
            <a:normAutofit fontScale="90000"/>
          </a:bodyPr>
          <a:lstStyle/>
          <a:p>
            <a:r>
              <a:rPr lang="en-IE" dirty="0"/>
              <a:t>Refactoring Spot 2: </a:t>
            </a:r>
            <a:r>
              <a:rPr lang="en-IE" b="1" dirty="0"/>
              <a:t>Setters and Getters</a:t>
            </a:r>
            <a:endParaRPr lang="en-GB" b="1" dirty="0"/>
          </a:p>
        </p:txBody>
      </p:sp>
      <p:sp>
        <p:nvSpPr>
          <p:cNvPr id="7" name="TextBox 6">
            <a:extLst>
              <a:ext uri="{FF2B5EF4-FFF2-40B4-BE49-F238E27FC236}">
                <a16:creationId xmlns:a16="http://schemas.microsoft.com/office/drawing/2014/main" id="{CD1172D8-00C4-4593-89E3-84ED3AAF75F6}"/>
              </a:ext>
            </a:extLst>
          </p:cNvPr>
          <p:cNvSpPr txBox="1"/>
          <p:nvPr/>
        </p:nvSpPr>
        <p:spPr>
          <a:xfrm>
            <a:off x="1524000" y="6525797"/>
            <a:ext cx="3352800" cy="338554"/>
          </a:xfrm>
          <a:prstGeom prst="rect">
            <a:avLst/>
          </a:prstGeom>
          <a:noFill/>
        </p:spPr>
        <p:txBody>
          <a:bodyPr wrap="square" rtlCol="0">
            <a:spAutoFit/>
          </a:bodyPr>
          <a:lstStyle/>
          <a:p>
            <a:r>
              <a:rPr lang="en-GB" sz="1600" dirty="0">
                <a:hlinkClick r:id="rId2"/>
              </a:rPr>
              <a:t>http://www.evinw.com/w/</a:t>
            </a:r>
            <a:r>
              <a:rPr lang="en-GB" sz="1600" dirty="0"/>
              <a:t> </a:t>
            </a:r>
          </a:p>
        </p:txBody>
      </p:sp>
      <p:pic>
        <p:nvPicPr>
          <p:cNvPr id="8" name="Picture 7">
            <a:extLst>
              <a:ext uri="{FF2B5EF4-FFF2-40B4-BE49-F238E27FC236}">
                <a16:creationId xmlns:a16="http://schemas.microsoft.com/office/drawing/2014/main" id="{F4C7A51C-C623-2744-B9CB-022889E558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0" y="1524000"/>
            <a:ext cx="5257800" cy="2799608"/>
          </a:xfrm>
          <a:prstGeom prst="rect">
            <a:avLst/>
          </a:prstGeom>
          <a:ln>
            <a:solidFill>
              <a:schemeClr val="accent1"/>
            </a:solidFill>
          </a:ln>
          <a:effectLst>
            <a:innerShdw blurRad="63500" dist="50800" dir="18900000">
              <a:schemeClr val="accent2">
                <a:lumMod val="40000"/>
                <a:lumOff val="60000"/>
                <a:alpha val="50000"/>
              </a:schemeClr>
            </a:innerShdw>
          </a:effectLst>
        </p:spPr>
      </p:pic>
      <p:pic>
        <p:nvPicPr>
          <p:cNvPr id="9" name="Picture 8">
            <a:extLst>
              <a:ext uri="{FF2B5EF4-FFF2-40B4-BE49-F238E27FC236}">
                <a16:creationId xmlns:a16="http://schemas.microsoft.com/office/drawing/2014/main" id="{F7B9E6A2-B28A-7A4F-A49E-907D849F6A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2606" y="3962400"/>
            <a:ext cx="5259194" cy="2800350"/>
          </a:xfrm>
          <a:prstGeom prst="rect">
            <a:avLst/>
          </a:prstGeom>
          <a:ln>
            <a:solidFill>
              <a:schemeClr val="accent1"/>
            </a:solidFill>
          </a:ln>
          <a:effectLst>
            <a:innerShdw blurRad="63500" dist="50800" dir="18900000">
              <a:schemeClr val="accent2">
                <a:lumMod val="40000"/>
                <a:lumOff val="60000"/>
                <a:alpha val="50000"/>
              </a:schemeClr>
            </a:innerShdw>
          </a:effectLst>
        </p:spPr>
      </p:pic>
    </p:spTree>
    <p:extLst>
      <p:ext uri="{BB962C8B-B14F-4D97-AF65-F5344CB8AC3E}">
        <p14:creationId xmlns:p14="http://schemas.microsoft.com/office/powerpoint/2010/main" val="968492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8839200" cy="1143000"/>
          </a:xfrm>
        </p:spPr>
        <p:txBody>
          <a:bodyPr>
            <a:normAutofit fontScale="90000"/>
          </a:bodyPr>
          <a:lstStyle/>
          <a:p>
            <a:r>
              <a:rPr lang="en-IE" dirty="0"/>
              <a:t>Refactoring Spot 2: </a:t>
            </a:r>
            <a:r>
              <a:rPr lang="en-IE" b="1" dirty="0"/>
              <a:t>Setters and Getters</a:t>
            </a:r>
            <a:endParaRPr lang="en-GB" b="1" dirty="0"/>
          </a:p>
        </p:txBody>
      </p:sp>
      <p:sp>
        <p:nvSpPr>
          <p:cNvPr id="3" name="Rectangle 2"/>
          <p:cNvSpPr/>
          <p:nvPr/>
        </p:nvSpPr>
        <p:spPr>
          <a:xfrm>
            <a:off x="1905000" y="4461808"/>
            <a:ext cx="3276600" cy="1938992"/>
          </a:xfrm>
          <a:prstGeom prst="rect">
            <a:avLst/>
          </a:prstGeom>
          <a:ln w="38100"/>
        </p:spPr>
        <p:style>
          <a:lnRef idx="1">
            <a:schemeClr val="accent5"/>
          </a:lnRef>
          <a:fillRef idx="2">
            <a:schemeClr val="accent5"/>
          </a:fillRef>
          <a:effectRef idx="1">
            <a:schemeClr val="accent5"/>
          </a:effectRef>
          <a:fontRef idx="minor">
            <a:schemeClr val="dk1"/>
          </a:fontRef>
        </p:style>
        <p:txBody>
          <a:bodyPr wrap="square">
            <a:spAutoFit/>
          </a:bodyPr>
          <a:lstStyle/>
          <a:p>
            <a:pPr>
              <a:defRPr/>
            </a:pPr>
            <a:r>
              <a:rPr lang="en-IE" sz="2400" b="1" dirty="0">
                <a:solidFill>
                  <a:srgbClr val="00B050"/>
                </a:solidFill>
              </a:rPr>
              <a:t>Encapsulation Step 3: </a:t>
            </a:r>
            <a:r>
              <a:rPr lang="en-IE" sz="2400" b="1" dirty="0"/>
              <a:t>Provide </a:t>
            </a:r>
            <a:r>
              <a:rPr lang="en-IE" sz="2400" b="1" u="sng" dirty="0"/>
              <a:t>public</a:t>
            </a:r>
            <a:r>
              <a:rPr lang="en-IE" sz="2400" b="1" dirty="0"/>
              <a:t> setter and getter methods </a:t>
            </a:r>
            <a:r>
              <a:rPr lang="en-IE" sz="2400" dirty="0"/>
              <a:t>to modify and view the fields values.</a:t>
            </a:r>
          </a:p>
        </p:txBody>
      </p:sp>
      <p:sp>
        <p:nvSpPr>
          <p:cNvPr id="7" name="TextBox 6">
            <a:extLst>
              <a:ext uri="{FF2B5EF4-FFF2-40B4-BE49-F238E27FC236}">
                <a16:creationId xmlns:a16="http://schemas.microsoft.com/office/drawing/2014/main" id="{819C7A1B-DC8F-4C7E-BCD1-9547B9BAC363}"/>
              </a:ext>
            </a:extLst>
          </p:cNvPr>
          <p:cNvSpPr txBox="1"/>
          <p:nvPr/>
        </p:nvSpPr>
        <p:spPr>
          <a:xfrm>
            <a:off x="1524000" y="6525797"/>
            <a:ext cx="3352800" cy="338554"/>
          </a:xfrm>
          <a:prstGeom prst="rect">
            <a:avLst/>
          </a:prstGeom>
          <a:noFill/>
        </p:spPr>
        <p:txBody>
          <a:bodyPr wrap="square" rtlCol="0">
            <a:spAutoFit/>
          </a:bodyPr>
          <a:lstStyle/>
          <a:p>
            <a:r>
              <a:rPr lang="en-GB" sz="1600" dirty="0">
                <a:hlinkClick r:id="rId2"/>
              </a:rPr>
              <a:t>http://www.evinw.com/w/</a:t>
            </a:r>
            <a:r>
              <a:rPr lang="en-GB" sz="1600" dirty="0"/>
              <a:t> </a:t>
            </a:r>
          </a:p>
        </p:txBody>
      </p:sp>
      <p:pic>
        <p:nvPicPr>
          <p:cNvPr id="8" name="Picture 7">
            <a:extLst>
              <a:ext uri="{FF2B5EF4-FFF2-40B4-BE49-F238E27FC236}">
                <a16:creationId xmlns:a16="http://schemas.microsoft.com/office/drawing/2014/main" id="{F4530B10-D467-FD42-B0C7-A05F3255A7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0" y="1524000"/>
            <a:ext cx="5257800" cy="2799608"/>
          </a:xfrm>
          <a:prstGeom prst="rect">
            <a:avLst/>
          </a:prstGeom>
          <a:ln>
            <a:solidFill>
              <a:schemeClr val="accent1"/>
            </a:solidFill>
          </a:ln>
          <a:effectLst>
            <a:innerShdw blurRad="63500" dist="50800" dir="18900000">
              <a:schemeClr val="accent2">
                <a:lumMod val="40000"/>
                <a:lumOff val="60000"/>
                <a:alpha val="50000"/>
              </a:schemeClr>
            </a:innerShdw>
          </a:effectLst>
        </p:spPr>
      </p:pic>
      <p:pic>
        <p:nvPicPr>
          <p:cNvPr id="9" name="Picture 8">
            <a:extLst>
              <a:ext uri="{FF2B5EF4-FFF2-40B4-BE49-F238E27FC236}">
                <a16:creationId xmlns:a16="http://schemas.microsoft.com/office/drawing/2014/main" id="{6E3AFA2B-87B6-6348-B9D5-3F22A18893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2606" y="3962400"/>
            <a:ext cx="5259194" cy="2800350"/>
          </a:xfrm>
          <a:prstGeom prst="rect">
            <a:avLst/>
          </a:prstGeom>
          <a:ln>
            <a:solidFill>
              <a:schemeClr val="accent1"/>
            </a:solidFill>
          </a:ln>
          <a:effectLst>
            <a:innerShdw blurRad="63500" dist="50800" dir="18900000">
              <a:schemeClr val="accent2">
                <a:lumMod val="40000"/>
                <a:lumOff val="60000"/>
                <a:alpha val="50000"/>
              </a:schemeClr>
            </a:innerShdw>
          </a:effectLst>
        </p:spPr>
      </p:pic>
    </p:spTree>
    <p:extLst>
      <p:ext uri="{BB962C8B-B14F-4D97-AF65-F5344CB8AC3E}">
        <p14:creationId xmlns:p14="http://schemas.microsoft.com/office/powerpoint/2010/main" val="3012638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Refactoring Spot 2: </a:t>
            </a:r>
            <a:r>
              <a:rPr lang="en-IE" b="1" dirty="0"/>
              <a:t>Get</a:t>
            </a:r>
            <a:r>
              <a:rPr lang="en-IE" dirty="0"/>
              <a:t>ters</a:t>
            </a:r>
          </a:p>
        </p:txBody>
      </p:sp>
      <p:sp>
        <p:nvSpPr>
          <p:cNvPr id="5" name="Rectangle 4"/>
          <p:cNvSpPr/>
          <p:nvPr/>
        </p:nvSpPr>
        <p:spPr>
          <a:xfrm>
            <a:off x="1524000" y="1521382"/>
            <a:ext cx="3962400" cy="4616648"/>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100" dirty="0">
                <a:solidFill>
                  <a:schemeClr val="tx1"/>
                </a:solidFill>
              </a:rPr>
              <a:t>public </a:t>
            </a:r>
            <a:r>
              <a:rPr lang="en-IE" sz="2100" dirty="0"/>
              <a:t>class Spot{</a:t>
            </a:r>
          </a:p>
          <a:p>
            <a:r>
              <a:rPr lang="en-IE" sz="2100" b="1" dirty="0">
                <a:solidFill>
                  <a:srgbClr val="FF0000"/>
                </a:solidFill>
              </a:rPr>
              <a:t>   private </a:t>
            </a:r>
            <a:r>
              <a:rPr lang="en-IE" sz="2100" dirty="0">
                <a:solidFill>
                  <a:srgbClr val="FF0000"/>
                </a:solidFill>
              </a:rPr>
              <a:t>float </a:t>
            </a:r>
            <a:r>
              <a:rPr lang="en-IE" sz="2100" dirty="0" err="1">
                <a:solidFill>
                  <a:srgbClr val="FF0000"/>
                </a:solidFill>
              </a:rPr>
              <a:t>xCoord</a:t>
            </a:r>
            <a:r>
              <a:rPr lang="en-IE" sz="2100" dirty="0">
                <a:solidFill>
                  <a:srgbClr val="FF0000"/>
                </a:solidFill>
              </a:rPr>
              <a:t>, </a:t>
            </a:r>
            <a:r>
              <a:rPr lang="en-IE" sz="2100" dirty="0" err="1">
                <a:solidFill>
                  <a:srgbClr val="FF0000"/>
                </a:solidFill>
              </a:rPr>
              <a:t>yCoord</a:t>
            </a:r>
            <a:r>
              <a:rPr lang="en-IE" sz="2100" dirty="0">
                <a:solidFill>
                  <a:srgbClr val="FF0000"/>
                </a:solidFill>
              </a:rPr>
              <a:t>;</a:t>
            </a:r>
          </a:p>
          <a:p>
            <a:r>
              <a:rPr lang="en-IE" sz="2100" b="1" dirty="0">
                <a:solidFill>
                  <a:srgbClr val="FF0000"/>
                </a:solidFill>
              </a:rPr>
              <a:t>   private </a:t>
            </a:r>
            <a:r>
              <a:rPr lang="en-IE" sz="2100" dirty="0">
                <a:solidFill>
                  <a:srgbClr val="FF0000"/>
                </a:solidFill>
              </a:rPr>
              <a:t>float diameter;</a:t>
            </a:r>
          </a:p>
          <a:p>
            <a:r>
              <a:rPr lang="en-IE" sz="2100" b="1" dirty="0">
                <a:solidFill>
                  <a:srgbClr val="FF0000"/>
                </a:solidFill>
              </a:rPr>
              <a:t>   private </a:t>
            </a:r>
            <a:r>
              <a:rPr lang="en-IE" sz="2100" dirty="0">
                <a:solidFill>
                  <a:srgbClr val="FF0000"/>
                </a:solidFill>
              </a:rPr>
              <a:t>int red, green, blue;</a:t>
            </a:r>
            <a:endParaRPr lang="en-IE" sz="2100" dirty="0">
              <a:solidFill>
                <a:schemeClr val="bg1">
                  <a:lumMod val="50000"/>
                </a:schemeClr>
              </a:solidFill>
            </a:endParaRPr>
          </a:p>
          <a:p>
            <a:r>
              <a:rPr lang="en-IE" sz="2100" dirty="0">
                <a:solidFill>
                  <a:schemeClr val="bg1">
                    <a:lumMod val="50000"/>
                  </a:schemeClr>
                </a:solidFill>
              </a:rPr>
              <a:t>   </a:t>
            </a:r>
          </a:p>
          <a:p>
            <a:r>
              <a:rPr lang="en-IE" sz="2100" dirty="0">
                <a:solidFill>
                  <a:schemeClr val="bg1">
                    <a:lumMod val="50000"/>
                  </a:schemeClr>
                </a:solidFill>
              </a:rPr>
              <a:t>   //constructors…</a:t>
            </a:r>
          </a:p>
          <a:p>
            <a:r>
              <a:rPr lang="en-IE" sz="2100" dirty="0">
                <a:solidFill>
                  <a:schemeClr val="bg1">
                    <a:lumMod val="50000"/>
                  </a:schemeClr>
                </a:solidFill>
              </a:rPr>
              <a:t>   //display method…</a:t>
            </a:r>
          </a:p>
          <a:p>
            <a:r>
              <a:rPr lang="en-IE" sz="2100" dirty="0">
                <a:solidFill>
                  <a:schemeClr val="bg1">
                    <a:lumMod val="50000"/>
                  </a:schemeClr>
                </a:solidFill>
              </a:rPr>
              <a:t>   // move method…</a:t>
            </a:r>
            <a:endParaRPr lang="en-IE" sz="2100" dirty="0"/>
          </a:p>
          <a:p>
            <a:r>
              <a:rPr lang="en-IE" sz="2100" b="1" dirty="0">
                <a:solidFill>
                  <a:srgbClr val="FF0000"/>
                </a:solidFill>
              </a:rPr>
              <a:t>   </a:t>
            </a:r>
            <a:r>
              <a:rPr lang="en-IE" sz="2100" dirty="0">
                <a:solidFill>
                  <a:schemeClr val="bg1">
                    <a:lumMod val="50000"/>
                  </a:schemeClr>
                </a:solidFill>
              </a:rPr>
              <a:t>// colour methods…</a:t>
            </a:r>
          </a:p>
          <a:p>
            <a:endParaRPr lang="en-IE" sz="2100" dirty="0">
              <a:solidFill>
                <a:schemeClr val="bg1">
                  <a:lumMod val="50000"/>
                </a:schemeClr>
              </a:solidFill>
            </a:endParaRPr>
          </a:p>
          <a:p>
            <a:r>
              <a:rPr lang="en-IE" sz="2100" dirty="0">
                <a:solidFill>
                  <a:schemeClr val="bg1">
                    <a:lumMod val="50000"/>
                  </a:schemeClr>
                </a:solidFill>
              </a:rPr>
              <a:t>   </a:t>
            </a:r>
            <a:r>
              <a:rPr lang="en-IE" sz="2100" dirty="0">
                <a:solidFill>
                  <a:schemeClr val="tx1"/>
                </a:solidFill>
              </a:rPr>
              <a:t>public float </a:t>
            </a:r>
            <a:r>
              <a:rPr lang="en-IE" sz="2100" b="1" dirty="0" err="1">
                <a:solidFill>
                  <a:schemeClr val="tx1"/>
                </a:solidFill>
              </a:rPr>
              <a:t>getDiameter</a:t>
            </a:r>
            <a:r>
              <a:rPr lang="en-IE" sz="2100" dirty="0">
                <a:solidFill>
                  <a:schemeClr val="tx1"/>
                </a:solidFill>
              </a:rPr>
              <a:t>(){</a:t>
            </a:r>
          </a:p>
          <a:p>
            <a:r>
              <a:rPr lang="en-IE" sz="2100" dirty="0">
                <a:solidFill>
                  <a:schemeClr val="tx1"/>
                </a:solidFill>
              </a:rPr>
              <a:t>      return diameter;</a:t>
            </a:r>
          </a:p>
          <a:p>
            <a:r>
              <a:rPr lang="en-IE" sz="2100" dirty="0">
                <a:solidFill>
                  <a:schemeClr val="tx1"/>
                </a:solidFill>
              </a:rPr>
              <a:t>   }</a:t>
            </a:r>
          </a:p>
          <a:p>
            <a:endParaRPr lang="en-IE" sz="2100" dirty="0">
              <a:solidFill>
                <a:schemeClr val="tx1"/>
              </a:solidFill>
            </a:endParaRPr>
          </a:p>
        </p:txBody>
      </p:sp>
      <p:sp>
        <p:nvSpPr>
          <p:cNvPr id="6" name="Rectangle 5"/>
          <p:cNvSpPr/>
          <p:nvPr/>
        </p:nvSpPr>
        <p:spPr>
          <a:xfrm>
            <a:off x="5294971" y="1295401"/>
            <a:ext cx="2971800" cy="4293483"/>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100" dirty="0">
                <a:solidFill>
                  <a:schemeClr val="tx1"/>
                </a:solidFill>
              </a:rPr>
              <a:t> </a:t>
            </a:r>
          </a:p>
          <a:p>
            <a:r>
              <a:rPr lang="en-IE" sz="2100" dirty="0">
                <a:solidFill>
                  <a:schemeClr val="tx1"/>
                </a:solidFill>
              </a:rPr>
              <a:t> public float </a:t>
            </a:r>
            <a:r>
              <a:rPr lang="en-IE" sz="2100" b="1" dirty="0" err="1">
                <a:solidFill>
                  <a:schemeClr val="tx1"/>
                </a:solidFill>
              </a:rPr>
              <a:t>getXCoord</a:t>
            </a:r>
            <a:r>
              <a:rPr lang="en-IE" sz="2100" dirty="0">
                <a:solidFill>
                  <a:schemeClr val="tx1"/>
                </a:solidFill>
              </a:rPr>
              <a:t>(){</a:t>
            </a:r>
          </a:p>
          <a:p>
            <a:r>
              <a:rPr lang="en-IE" sz="2100" dirty="0">
                <a:solidFill>
                  <a:schemeClr val="tx1"/>
                </a:solidFill>
              </a:rPr>
              <a:t>      return </a:t>
            </a:r>
            <a:r>
              <a:rPr lang="en-IE" sz="2100" dirty="0" err="1">
                <a:solidFill>
                  <a:schemeClr val="tx1"/>
                </a:solidFill>
              </a:rPr>
              <a:t>xCoord</a:t>
            </a:r>
            <a:r>
              <a:rPr lang="en-IE" sz="2100" dirty="0">
                <a:solidFill>
                  <a:schemeClr val="tx1"/>
                </a:solidFill>
              </a:rPr>
              <a:t>;</a:t>
            </a:r>
          </a:p>
          <a:p>
            <a:r>
              <a:rPr lang="en-IE" sz="2100" dirty="0">
                <a:solidFill>
                  <a:schemeClr val="tx1"/>
                </a:solidFill>
              </a:rPr>
              <a:t>   }</a:t>
            </a:r>
          </a:p>
          <a:p>
            <a:endParaRPr lang="en-IE" sz="2100" dirty="0">
              <a:solidFill>
                <a:schemeClr val="tx1"/>
              </a:solidFill>
            </a:endParaRPr>
          </a:p>
          <a:p>
            <a:r>
              <a:rPr lang="en-IE" sz="2100" dirty="0">
                <a:solidFill>
                  <a:schemeClr val="tx1"/>
                </a:solidFill>
              </a:rPr>
              <a:t>public float </a:t>
            </a:r>
            <a:r>
              <a:rPr lang="en-IE" sz="2100" b="1" dirty="0" err="1">
                <a:solidFill>
                  <a:schemeClr val="tx1"/>
                </a:solidFill>
              </a:rPr>
              <a:t>getYCoord</a:t>
            </a:r>
            <a:r>
              <a:rPr lang="en-IE" sz="2100" dirty="0">
                <a:solidFill>
                  <a:schemeClr val="tx1"/>
                </a:solidFill>
              </a:rPr>
              <a:t>(){</a:t>
            </a:r>
          </a:p>
          <a:p>
            <a:r>
              <a:rPr lang="en-IE" sz="2100" dirty="0">
                <a:solidFill>
                  <a:schemeClr val="tx1"/>
                </a:solidFill>
              </a:rPr>
              <a:t>    return </a:t>
            </a:r>
            <a:r>
              <a:rPr lang="en-IE" sz="2100" dirty="0" err="1">
                <a:solidFill>
                  <a:schemeClr val="tx1"/>
                </a:solidFill>
              </a:rPr>
              <a:t>yCoord</a:t>
            </a:r>
            <a:r>
              <a:rPr lang="en-IE" sz="2100" dirty="0">
                <a:solidFill>
                  <a:schemeClr val="tx1"/>
                </a:solidFill>
              </a:rPr>
              <a:t>;</a:t>
            </a:r>
          </a:p>
          <a:p>
            <a:r>
              <a:rPr lang="en-IE" sz="2100" dirty="0">
                <a:solidFill>
                  <a:schemeClr val="tx1"/>
                </a:solidFill>
              </a:rPr>
              <a:t>  }</a:t>
            </a:r>
          </a:p>
          <a:p>
            <a:r>
              <a:rPr lang="en-IE" sz="2100" dirty="0">
                <a:solidFill>
                  <a:schemeClr val="tx1"/>
                </a:solidFill>
              </a:rPr>
              <a:t>  </a:t>
            </a:r>
          </a:p>
          <a:p>
            <a:r>
              <a:rPr lang="en-IE" sz="2100" dirty="0">
                <a:solidFill>
                  <a:schemeClr val="tx1"/>
                </a:solidFill>
              </a:rPr>
              <a:t>  public </a:t>
            </a:r>
            <a:r>
              <a:rPr lang="en-IE" sz="2100" dirty="0" err="1">
                <a:solidFill>
                  <a:schemeClr val="tx1"/>
                </a:solidFill>
              </a:rPr>
              <a:t>int</a:t>
            </a:r>
            <a:r>
              <a:rPr lang="en-IE" sz="2100" dirty="0">
                <a:solidFill>
                  <a:schemeClr val="tx1"/>
                </a:solidFill>
              </a:rPr>
              <a:t> </a:t>
            </a:r>
            <a:r>
              <a:rPr lang="en-IE" sz="2100" b="1" dirty="0" err="1">
                <a:solidFill>
                  <a:schemeClr val="tx1"/>
                </a:solidFill>
              </a:rPr>
              <a:t>getRed</a:t>
            </a:r>
            <a:r>
              <a:rPr lang="en-IE" sz="2100" dirty="0">
                <a:solidFill>
                  <a:schemeClr val="tx1"/>
                </a:solidFill>
              </a:rPr>
              <a:t>(){</a:t>
            </a:r>
          </a:p>
          <a:p>
            <a:r>
              <a:rPr lang="en-IE" sz="2100" dirty="0">
                <a:solidFill>
                  <a:schemeClr val="tx1"/>
                </a:solidFill>
              </a:rPr>
              <a:t>    return red;</a:t>
            </a:r>
          </a:p>
          <a:p>
            <a:r>
              <a:rPr lang="en-IE" sz="2100" dirty="0">
                <a:solidFill>
                  <a:schemeClr val="tx1"/>
                </a:solidFill>
              </a:rPr>
              <a:t>  }</a:t>
            </a:r>
          </a:p>
          <a:p>
            <a:r>
              <a:rPr lang="en-IE" sz="2100" dirty="0">
                <a:solidFill>
                  <a:schemeClr val="tx1"/>
                </a:solidFill>
              </a:rPr>
              <a:t>    </a:t>
            </a:r>
          </a:p>
        </p:txBody>
      </p:sp>
      <p:sp>
        <p:nvSpPr>
          <p:cNvPr id="8" name="Rectangle 7"/>
          <p:cNvSpPr/>
          <p:nvPr/>
        </p:nvSpPr>
        <p:spPr>
          <a:xfrm>
            <a:off x="8077200" y="1959544"/>
            <a:ext cx="2743200" cy="3323987"/>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endParaRPr lang="en-IE" sz="2100" dirty="0"/>
          </a:p>
          <a:p>
            <a:r>
              <a:rPr lang="en-IE" sz="2100" dirty="0"/>
              <a:t> </a:t>
            </a:r>
            <a:r>
              <a:rPr lang="en-IE" sz="2100" dirty="0">
                <a:solidFill>
                  <a:schemeClr val="tx1"/>
                </a:solidFill>
              </a:rPr>
              <a:t> public </a:t>
            </a:r>
            <a:r>
              <a:rPr lang="en-IE" sz="2100" dirty="0" err="1">
                <a:solidFill>
                  <a:schemeClr val="tx1"/>
                </a:solidFill>
              </a:rPr>
              <a:t>int</a:t>
            </a:r>
            <a:r>
              <a:rPr lang="en-IE" sz="2100" dirty="0">
                <a:solidFill>
                  <a:schemeClr val="tx1"/>
                </a:solidFill>
              </a:rPr>
              <a:t> </a:t>
            </a:r>
            <a:r>
              <a:rPr lang="en-IE" sz="2100" b="1" dirty="0" err="1">
                <a:solidFill>
                  <a:schemeClr val="tx1"/>
                </a:solidFill>
              </a:rPr>
              <a:t>getGreen</a:t>
            </a:r>
            <a:r>
              <a:rPr lang="en-IE" sz="2100" dirty="0">
                <a:solidFill>
                  <a:schemeClr val="tx1"/>
                </a:solidFill>
              </a:rPr>
              <a:t>(){</a:t>
            </a:r>
          </a:p>
          <a:p>
            <a:r>
              <a:rPr lang="en-IE" sz="2100" dirty="0">
                <a:solidFill>
                  <a:schemeClr val="tx1"/>
                </a:solidFill>
              </a:rPr>
              <a:t>    return green;</a:t>
            </a:r>
          </a:p>
          <a:p>
            <a:r>
              <a:rPr lang="en-IE" sz="2100" dirty="0">
                <a:solidFill>
                  <a:schemeClr val="tx1"/>
                </a:solidFill>
              </a:rPr>
              <a:t>  }</a:t>
            </a:r>
          </a:p>
          <a:p>
            <a:endParaRPr lang="en-IE" sz="2100" dirty="0"/>
          </a:p>
          <a:p>
            <a:r>
              <a:rPr lang="en-IE" sz="2100" dirty="0"/>
              <a:t>  public </a:t>
            </a:r>
            <a:r>
              <a:rPr lang="en-IE" sz="2100" dirty="0" err="1"/>
              <a:t>int</a:t>
            </a:r>
            <a:r>
              <a:rPr lang="en-IE" sz="2100" dirty="0"/>
              <a:t> </a:t>
            </a:r>
            <a:r>
              <a:rPr lang="en-IE" sz="2100" b="1" dirty="0" err="1"/>
              <a:t>getBlue</a:t>
            </a:r>
            <a:r>
              <a:rPr lang="en-IE" sz="2100" dirty="0"/>
              <a:t>(){</a:t>
            </a:r>
          </a:p>
          <a:p>
            <a:r>
              <a:rPr lang="en-IE" sz="2100" dirty="0"/>
              <a:t>    return blue;</a:t>
            </a:r>
          </a:p>
          <a:p>
            <a:r>
              <a:rPr lang="en-IE" sz="2100" dirty="0"/>
              <a:t>  }</a:t>
            </a:r>
          </a:p>
          <a:p>
            <a:r>
              <a:rPr lang="en-IE" sz="2100" dirty="0">
                <a:solidFill>
                  <a:schemeClr val="tx1"/>
                </a:solidFill>
              </a:rPr>
              <a:t> </a:t>
            </a:r>
          </a:p>
          <a:p>
            <a:r>
              <a:rPr lang="en-IE" sz="2100" dirty="0">
                <a:solidFill>
                  <a:schemeClr val="tx1"/>
                </a:solidFill>
              </a:rPr>
              <a:t>} </a:t>
            </a:r>
            <a:r>
              <a:rPr lang="en-IE" sz="2100" dirty="0">
                <a:solidFill>
                  <a:schemeClr val="bg1">
                    <a:lumMod val="50000"/>
                  </a:schemeClr>
                </a:solidFill>
              </a:rPr>
              <a:t>//end Spot class</a:t>
            </a:r>
          </a:p>
        </p:txBody>
      </p:sp>
    </p:spTree>
    <p:extLst>
      <p:ext uri="{BB962C8B-B14F-4D97-AF65-F5344CB8AC3E}">
        <p14:creationId xmlns:p14="http://schemas.microsoft.com/office/powerpoint/2010/main" val="32620417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Refactoring Spot 2: </a:t>
            </a:r>
            <a:r>
              <a:rPr lang="en-IE" b="1" dirty="0"/>
              <a:t>Set</a:t>
            </a:r>
            <a:r>
              <a:rPr lang="en-IE" dirty="0"/>
              <a:t>ters</a:t>
            </a:r>
          </a:p>
        </p:txBody>
      </p:sp>
      <p:sp>
        <p:nvSpPr>
          <p:cNvPr id="5" name="Rectangle 4"/>
          <p:cNvSpPr/>
          <p:nvPr/>
        </p:nvSpPr>
        <p:spPr>
          <a:xfrm>
            <a:off x="1676400" y="1981201"/>
            <a:ext cx="5181600" cy="4401205"/>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dirty="0">
                <a:solidFill>
                  <a:schemeClr val="tx1"/>
                </a:solidFill>
              </a:rPr>
              <a:t>public </a:t>
            </a:r>
            <a:r>
              <a:rPr lang="en-IE" sz="2000" dirty="0"/>
              <a:t>class Spot{</a:t>
            </a:r>
          </a:p>
          <a:p>
            <a:r>
              <a:rPr lang="en-IE" sz="2000" b="1" dirty="0">
                <a:solidFill>
                  <a:srgbClr val="FF0000"/>
                </a:solidFill>
              </a:rPr>
              <a:t>   private </a:t>
            </a:r>
            <a:r>
              <a:rPr lang="en-IE" sz="2000" dirty="0">
                <a:solidFill>
                  <a:srgbClr val="FF0000"/>
                </a:solidFill>
              </a:rPr>
              <a:t>float </a:t>
            </a:r>
            <a:r>
              <a:rPr lang="en-IE" sz="2000" dirty="0" err="1">
                <a:solidFill>
                  <a:srgbClr val="FF0000"/>
                </a:solidFill>
              </a:rPr>
              <a:t>xCoord</a:t>
            </a:r>
            <a:r>
              <a:rPr lang="en-IE" sz="2000" dirty="0">
                <a:solidFill>
                  <a:srgbClr val="FF0000"/>
                </a:solidFill>
              </a:rPr>
              <a:t>, </a:t>
            </a:r>
            <a:r>
              <a:rPr lang="en-IE" sz="2000" dirty="0" err="1">
                <a:solidFill>
                  <a:srgbClr val="FF0000"/>
                </a:solidFill>
              </a:rPr>
              <a:t>yCoord</a:t>
            </a:r>
            <a:r>
              <a:rPr lang="en-IE" sz="2000" dirty="0">
                <a:solidFill>
                  <a:srgbClr val="FF0000"/>
                </a:solidFill>
              </a:rPr>
              <a:t>;</a:t>
            </a:r>
          </a:p>
          <a:p>
            <a:r>
              <a:rPr lang="en-IE" sz="2000" b="1" dirty="0">
                <a:solidFill>
                  <a:srgbClr val="FF0000"/>
                </a:solidFill>
              </a:rPr>
              <a:t>   private </a:t>
            </a:r>
            <a:r>
              <a:rPr lang="en-IE" sz="2000" dirty="0">
                <a:solidFill>
                  <a:srgbClr val="FF0000"/>
                </a:solidFill>
              </a:rPr>
              <a:t>float diameter;</a:t>
            </a:r>
          </a:p>
          <a:p>
            <a:r>
              <a:rPr lang="en-IE" sz="2000" b="1" dirty="0">
                <a:solidFill>
                  <a:srgbClr val="FF0000"/>
                </a:solidFill>
              </a:rPr>
              <a:t>   private </a:t>
            </a:r>
            <a:r>
              <a:rPr lang="en-IE" sz="2000" dirty="0">
                <a:solidFill>
                  <a:srgbClr val="FF0000"/>
                </a:solidFill>
              </a:rPr>
              <a:t>int red, green, blue;</a:t>
            </a:r>
            <a:endParaRPr lang="en-IE" sz="2000" dirty="0">
              <a:solidFill>
                <a:schemeClr val="bg1">
                  <a:lumMod val="50000"/>
                </a:schemeClr>
              </a:solidFill>
            </a:endParaRPr>
          </a:p>
          <a:p>
            <a:r>
              <a:rPr lang="en-IE" sz="2000" dirty="0">
                <a:solidFill>
                  <a:schemeClr val="bg1">
                    <a:lumMod val="50000"/>
                  </a:schemeClr>
                </a:solidFill>
              </a:rPr>
              <a:t>   </a:t>
            </a:r>
          </a:p>
          <a:p>
            <a:r>
              <a:rPr lang="en-IE" sz="2000" dirty="0">
                <a:solidFill>
                  <a:schemeClr val="bg1">
                    <a:lumMod val="50000"/>
                  </a:schemeClr>
                </a:solidFill>
              </a:rPr>
              <a:t>   //constructors…</a:t>
            </a:r>
          </a:p>
          <a:p>
            <a:r>
              <a:rPr lang="en-IE" sz="2000" dirty="0">
                <a:solidFill>
                  <a:schemeClr val="bg1">
                    <a:lumMod val="50000"/>
                  </a:schemeClr>
                </a:solidFill>
              </a:rPr>
              <a:t>   //display method…</a:t>
            </a:r>
          </a:p>
          <a:p>
            <a:r>
              <a:rPr lang="en-IE" sz="2000" dirty="0">
                <a:solidFill>
                  <a:schemeClr val="bg1">
                    <a:lumMod val="50000"/>
                  </a:schemeClr>
                </a:solidFill>
              </a:rPr>
              <a:t>   // move method…</a:t>
            </a:r>
            <a:endParaRPr lang="en-IE" sz="2000" dirty="0"/>
          </a:p>
          <a:p>
            <a:r>
              <a:rPr lang="en-IE" sz="2000" b="1" dirty="0">
                <a:solidFill>
                  <a:srgbClr val="FF0000"/>
                </a:solidFill>
              </a:rPr>
              <a:t>   </a:t>
            </a:r>
            <a:r>
              <a:rPr lang="en-IE" sz="2000" dirty="0">
                <a:solidFill>
                  <a:schemeClr val="bg1">
                    <a:lumMod val="50000"/>
                  </a:schemeClr>
                </a:solidFill>
              </a:rPr>
              <a:t>// colour methods…</a:t>
            </a:r>
          </a:p>
          <a:p>
            <a:r>
              <a:rPr lang="en-IE" sz="2000" b="1" dirty="0">
                <a:solidFill>
                  <a:srgbClr val="FF0000"/>
                </a:solidFill>
              </a:rPr>
              <a:t>   </a:t>
            </a:r>
            <a:r>
              <a:rPr lang="en-IE" sz="2000" dirty="0">
                <a:solidFill>
                  <a:schemeClr val="bg1">
                    <a:lumMod val="50000"/>
                  </a:schemeClr>
                </a:solidFill>
              </a:rPr>
              <a:t>// assessor methods…</a:t>
            </a:r>
          </a:p>
          <a:p>
            <a:endParaRPr lang="en-IE" sz="2000" dirty="0">
              <a:solidFill>
                <a:schemeClr val="tx1"/>
              </a:solidFill>
            </a:endParaRPr>
          </a:p>
          <a:p>
            <a:r>
              <a:rPr lang="en-IE" sz="2000" dirty="0">
                <a:solidFill>
                  <a:schemeClr val="tx1"/>
                </a:solidFill>
              </a:rPr>
              <a:t> public void </a:t>
            </a:r>
            <a:r>
              <a:rPr lang="en-IE" sz="2000" b="1" dirty="0" err="1">
                <a:solidFill>
                  <a:schemeClr val="tx1"/>
                </a:solidFill>
              </a:rPr>
              <a:t>setDiameter</a:t>
            </a:r>
            <a:r>
              <a:rPr lang="en-IE" sz="2000" dirty="0">
                <a:solidFill>
                  <a:schemeClr val="tx1"/>
                </a:solidFill>
              </a:rPr>
              <a:t> (float diameter){</a:t>
            </a:r>
          </a:p>
          <a:p>
            <a:r>
              <a:rPr lang="en-IE" sz="2000" dirty="0">
                <a:solidFill>
                  <a:schemeClr val="tx1"/>
                </a:solidFill>
              </a:rPr>
              <a:t>     </a:t>
            </a:r>
            <a:r>
              <a:rPr lang="en-IE" sz="2000" dirty="0" err="1">
                <a:solidFill>
                  <a:schemeClr val="tx1"/>
                </a:solidFill>
              </a:rPr>
              <a:t>this.diameter</a:t>
            </a:r>
            <a:r>
              <a:rPr lang="en-IE" sz="2000" dirty="0">
                <a:solidFill>
                  <a:schemeClr val="tx1"/>
                </a:solidFill>
              </a:rPr>
              <a:t> = diameter;</a:t>
            </a:r>
          </a:p>
          <a:p>
            <a:r>
              <a:rPr lang="en-IE" sz="2000" dirty="0">
                <a:solidFill>
                  <a:schemeClr val="tx1"/>
                </a:solidFill>
              </a:rPr>
              <a:t>  } </a:t>
            </a:r>
          </a:p>
        </p:txBody>
      </p:sp>
      <p:sp>
        <p:nvSpPr>
          <p:cNvPr id="6" name="Rectangle 5"/>
          <p:cNvSpPr/>
          <p:nvPr/>
        </p:nvSpPr>
        <p:spPr>
          <a:xfrm>
            <a:off x="6248401" y="1524001"/>
            <a:ext cx="4203031" cy="4108817"/>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dirty="0">
                <a:solidFill>
                  <a:schemeClr val="tx1"/>
                </a:solidFill>
              </a:rPr>
              <a:t> </a:t>
            </a:r>
          </a:p>
          <a:p>
            <a:r>
              <a:rPr lang="en-IE" sz="2000" dirty="0">
                <a:solidFill>
                  <a:schemeClr val="tx1"/>
                </a:solidFill>
              </a:rPr>
              <a:t>  public void </a:t>
            </a:r>
            <a:r>
              <a:rPr lang="en-IE" sz="2000" b="1" dirty="0" err="1">
                <a:solidFill>
                  <a:schemeClr val="tx1"/>
                </a:solidFill>
              </a:rPr>
              <a:t>setXCoord</a:t>
            </a:r>
            <a:r>
              <a:rPr lang="en-IE" sz="2000" dirty="0">
                <a:solidFill>
                  <a:schemeClr val="tx1"/>
                </a:solidFill>
              </a:rPr>
              <a:t> (float </a:t>
            </a:r>
            <a:r>
              <a:rPr lang="en-IE" sz="2000" dirty="0" err="1">
                <a:solidFill>
                  <a:schemeClr val="tx1"/>
                </a:solidFill>
              </a:rPr>
              <a:t>xCoord</a:t>
            </a:r>
            <a:r>
              <a:rPr lang="en-IE" sz="2000" dirty="0">
                <a:solidFill>
                  <a:schemeClr val="tx1"/>
                </a:solidFill>
              </a:rPr>
              <a:t>){</a:t>
            </a:r>
          </a:p>
          <a:p>
            <a:r>
              <a:rPr lang="en-IE" sz="2000" dirty="0">
                <a:solidFill>
                  <a:schemeClr val="tx1"/>
                </a:solidFill>
              </a:rPr>
              <a:t>     </a:t>
            </a:r>
            <a:r>
              <a:rPr lang="en-IE" sz="2000" dirty="0" err="1">
                <a:solidFill>
                  <a:schemeClr val="tx1"/>
                </a:solidFill>
              </a:rPr>
              <a:t>this.xCoord</a:t>
            </a:r>
            <a:r>
              <a:rPr lang="en-IE" sz="2000" dirty="0">
                <a:solidFill>
                  <a:schemeClr val="tx1"/>
                </a:solidFill>
              </a:rPr>
              <a:t> = </a:t>
            </a:r>
            <a:r>
              <a:rPr lang="en-IE" sz="2000" dirty="0" err="1">
                <a:solidFill>
                  <a:schemeClr val="tx1"/>
                </a:solidFill>
              </a:rPr>
              <a:t>xCoord</a:t>
            </a:r>
            <a:r>
              <a:rPr lang="en-IE" sz="2000" dirty="0">
                <a:solidFill>
                  <a:schemeClr val="tx1"/>
                </a:solidFill>
              </a:rPr>
              <a:t>;</a:t>
            </a:r>
          </a:p>
          <a:p>
            <a:r>
              <a:rPr lang="en-IE" sz="2000" dirty="0">
                <a:solidFill>
                  <a:schemeClr val="tx1"/>
                </a:solidFill>
              </a:rPr>
              <a:t>  } </a:t>
            </a:r>
          </a:p>
          <a:p>
            <a:endParaRPr lang="en-IE" sz="2000" dirty="0">
              <a:solidFill>
                <a:schemeClr val="tx1"/>
              </a:solidFill>
            </a:endParaRPr>
          </a:p>
          <a:p>
            <a:r>
              <a:rPr lang="en-IE" sz="2000" dirty="0">
                <a:solidFill>
                  <a:schemeClr val="tx1"/>
                </a:solidFill>
              </a:rPr>
              <a:t>  public void </a:t>
            </a:r>
            <a:r>
              <a:rPr lang="en-IE" sz="2000" b="1" dirty="0" err="1">
                <a:solidFill>
                  <a:schemeClr val="tx1"/>
                </a:solidFill>
              </a:rPr>
              <a:t>setYCoord</a:t>
            </a:r>
            <a:r>
              <a:rPr lang="en-IE" sz="2000" dirty="0">
                <a:solidFill>
                  <a:schemeClr val="tx1"/>
                </a:solidFill>
              </a:rPr>
              <a:t> (float </a:t>
            </a:r>
            <a:r>
              <a:rPr lang="en-IE" sz="2000" dirty="0" err="1">
                <a:solidFill>
                  <a:schemeClr val="tx1"/>
                </a:solidFill>
              </a:rPr>
              <a:t>yCoord</a:t>
            </a:r>
            <a:r>
              <a:rPr lang="en-IE" sz="2000" dirty="0">
                <a:solidFill>
                  <a:schemeClr val="tx1"/>
                </a:solidFill>
              </a:rPr>
              <a:t>){</a:t>
            </a:r>
          </a:p>
          <a:p>
            <a:r>
              <a:rPr lang="en-IE" sz="2000" dirty="0">
                <a:solidFill>
                  <a:schemeClr val="tx1"/>
                </a:solidFill>
              </a:rPr>
              <a:t>     </a:t>
            </a:r>
            <a:r>
              <a:rPr lang="en-IE" sz="2000" dirty="0" err="1">
                <a:solidFill>
                  <a:schemeClr val="tx1"/>
                </a:solidFill>
              </a:rPr>
              <a:t>this.yCoord</a:t>
            </a:r>
            <a:r>
              <a:rPr lang="en-IE" sz="2000" dirty="0">
                <a:solidFill>
                  <a:schemeClr val="tx1"/>
                </a:solidFill>
              </a:rPr>
              <a:t> = </a:t>
            </a:r>
            <a:r>
              <a:rPr lang="en-IE" sz="2000" dirty="0" err="1">
                <a:solidFill>
                  <a:schemeClr val="tx1"/>
                </a:solidFill>
              </a:rPr>
              <a:t>yCoord</a:t>
            </a:r>
            <a:r>
              <a:rPr lang="en-IE" sz="2000" dirty="0">
                <a:solidFill>
                  <a:schemeClr val="tx1"/>
                </a:solidFill>
              </a:rPr>
              <a:t>;</a:t>
            </a:r>
          </a:p>
          <a:p>
            <a:r>
              <a:rPr lang="en-IE" sz="2000" dirty="0">
                <a:solidFill>
                  <a:schemeClr val="tx1"/>
                </a:solidFill>
              </a:rPr>
              <a:t>  } </a:t>
            </a:r>
          </a:p>
          <a:p>
            <a:endParaRPr lang="en-IE" sz="2000" dirty="0">
              <a:solidFill>
                <a:schemeClr val="tx1"/>
              </a:solidFill>
            </a:endParaRPr>
          </a:p>
          <a:p>
            <a:r>
              <a:rPr lang="en-IE" sz="2000" dirty="0">
                <a:solidFill>
                  <a:schemeClr val="tx1"/>
                </a:solidFill>
              </a:rPr>
              <a:t>  public void </a:t>
            </a:r>
            <a:r>
              <a:rPr lang="en-IE" sz="2000" b="1" dirty="0" err="1">
                <a:solidFill>
                  <a:schemeClr val="tx1"/>
                </a:solidFill>
              </a:rPr>
              <a:t>setRed</a:t>
            </a:r>
            <a:r>
              <a:rPr lang="en-IE" sz="2000" dirty="0">
                <a:solidFill>
                  <a:schemeClr val="tx1"/>
                </a:solidFill>
              </a:rPr>
              <a:t> (</a:t>
            </a:r>
            <a:r>
              <a:rPr lang="en-IE" sz="2000" dirty="0" err="1">
                <a:solidFill>
                  <a:schemeClr val="tx1"/>
                </a:solidFill>
              </a:rPr>
              <a:t>int</a:t>
            </a:r>
            <a:r>
              <a:rPr lang="en-IE" sz="2000" dirty="0">
                <a:solidFill>
                  <a:schemeClr val="tx1"/>
                </a:solidFill>
              </a:rPr>
              <a:t> red){</a:t>
            </a:r>
          </a:p>
          <a:p>
            <a:r>
              <a:rPr lang="en-IE" sz="2000" dirty="0">
                <a:solidFill>
                  <a:schemeClr val="tx1"/>
                </a:solidFill>
              </a:rPr>
              <a:t>     </a:t>
            </a:r>
            <a:r>
              <a:rPr lang="en-IE" sz="2000" dirty="0" err="1">
                <a:solidFill>
                  <a:schemeClr val="tx1"/>
                </a:solidFill>
              </a:rPr>
              <a:t>this.red</a:t>
            </a:r>
            <a:r>
              <a:rPr lang="en-IE" sz="2000" dirty="0">
                <a:solidFill>
                  <a:schemeClr val="tx1"/>
                </a:solidFill>
              </a:rPr>
              <a:t> = red;</a:t>
            </a:r>
          </a:p>
          <a:p>
            <a:r>
              <a:rPr lang="en-IE" sz="2000" dirty="0">
                <a:solidFill>
                  <a:schemeClr val="tx1"/>
                </a:solidFill>
              </a:rPr>
              <a:t>  } </a:t>
            </a:r>
          </a:p>
          <a:p>
            <a:r>
              <a:rPr lang="en-IE" sz="2100" dirty="0">
                <a:solidFill>
                  <a:schemeClr val="tx1"/>
                </a:solidFill>
              </a:rPr>
              <a:t>    </a:t>
            </a:r>
          </a:p>
        </p:txBody>
      </p:sp>
      <p:sp>
        <p:nvSpPr>
          <p:cNvPr id="10" name="Rectangle 9"/>
          <p:cNvSpPr/>
          <p:nvPr/>
        </p:nvSpPr>
        <p:spPr>
          <a:xfrm>
            <a:off x="6236369" y="5234459"/>
            <a:ext cx="4215063" cy="381642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dirty="0">
                <a:solidFill>
                  <a:schemeClr val="tx1"/>
                </a:solidFill>
              </a:rPr>
              <a:t>  public void </a:t>
            </a:r>
            <a:r>
              <a:rPr lang="en-IE" sz="2000" b="1" dirty="0" err="1">
                <a:solidFill>
                  <a:schemeClr val="tx1"/>
                </a:solidFill>
              </a:rPr>
              <a:t>setGreen</a:t>
            </a:r>
            <a:r>
              <a:rPr lang="en-IE" sz="2000" dirty="0">
                <a:solidFill>
                  <a:schemeClr val="tx1"/>
                </a:solidFill>
              </a:rPr>
              <a:t> (</a:t>
            </a:r>
            <a:r>
              <a:rPr lang="en-IE" sz="2000" dirty="0" err="1">
                <a:solidFill>
                  <a:schemeClr val="tx1"/>
                </a:solidFill>
              </a:rPr>
              <a:t>int</a:t>
            </a:r>
            <a:r>
              <a:rPr lang="en-IE" sz="2000" dirty="0">
                <a:solidFill>
                  <a:schemeClr val="tx1"/>
                </a:solidFill>
              </a:rPr>
              <a:t> green){</a:t>
            </a:r>
          </a:p>
          <a:p>
            <a:r>
              <a:rPr lang="en-IE" sz="2000" dirty="0">
                <a:solidFill>
                  <a:schemeClr val="tx1"/>
                </a:solidFill>
              </a:rPr>
              <a:t>     </a:t>
            </a:r>
            <a:r>
              <a:rPr lang="en-IE" sz="2000" dirty="0" err="1">
                <a:solidFill>
                  <a:schemeClr val="tx1"/>
                </a:solidFill>
              </a:rPr>
              <a:t>this.green</a:t>
            </a:r>
            <a:r>
              <a:rPr lang="en-IE" sz="2000" dirty="0">
                <a:solidFill>
                  <a:schemeClr val="tx1"/>
                </a:solidFill>
              </a:rPr>
              <a:t> = green;</a:t>
            </a:r>
          </a:p>
          <a:p>
            <a:r>
              <a:rPr lang="en-IE" sz="2000" dirty="0">
                <a:solidFill>
                  <a:schemeClr val="tx1"/>
                </a:solidFill>
              </a:rPr>
              <a:t>  } </a:t>
            </a:r>
          </a:p>
          <a:p>
            <a:endParaRPr lang="en-IE" sz="2000" dirty="0">
              <a:solidFill>
                <a:schemeClr val="tx1"/>
              </a:solidFill>
            </a:endParaRPr>
          </a:p>
          <a:p>
            <a:r>
              <a:rPr lang="en-IE" sz="2000" dirty="0">
                <a:solidFill>
                  <a:schemeClr val="tx1"/>
                </a:solidFill>
              </a:rPr>
              <a:t>  public void </a:t>
            </a:r>
            <a:r>
              <a:rPr lang="en-IE" sz="2000" b="1" dirty="0" err="1">
                <a:solidFill>
                  <a:schemeClr val="tx1"/>
                </a:solidFill>
              </a:rPr>
              <a:t>setBlue</a:t>
            </a:r>
            <a:r>
              <a:rPr lang="en-IE" sz="2000" dirty="0">
                <a:solidFill>
                  <a:schemeClr val="tx1"/>
                </a:solidFill>
              </a:rPr>
              <a:t> (</a:t>
            </a:r>
            <a:r>
              <a:rPr lang="en-IE" sz="2000" dirty="0" err="1">
                <a:solidFill>
                  <a:schemeClr val="tx1"/>
                </a:solidFill>
              </a:rPr>
              <a:t>int</a:t>
            </a:r>
            <a:r>
              <a:rPr lang="en-IE" sz="2000" dirty="0">
                <a:solidFill>
                  <a:schemeClr val="tx1"/>
                </a:solidFill>
              </a:rPr>
              <a:t> blue){</a:t>
            </a:r>
          </a:p>
          <a:p>
            <a:r>
              <a:rPr lang="en-IE" sz="2000" dirty="0">
                <a:solidFill>
                  <a:schemeClr val="tx1"/>
                </a:solidFill>
              </a:rPr>
              <a:t>     </a:t>
            </a:r>
            <a:r>
              <a:rPr lang="en-IE" sz="2000" dirty="0" err="1">
                <a:solidFill>
                  <a:schemeClr val="tx1"/>
                </a:solidFill>
              </a:rPr>
              <a:t>this.blue</a:t>
            </a:r>
            <a:r>
              <a:rPr lang="en-IE" sz="2000" dirty="0">
                <a:solidFill>
                  <a:schemeClr val="tx1"/>
                </a:solidFill>
              </a:rPr>
              <a:t> = blue;</a:t>
            </a:r>
          </a:p>
          <a:p>
            <a:r>
              <a:rPr lang="en-IE" sz="2000" dirty="0">
                <a:solidFill>
                  <a:schemeClr val="tx1"/>
                </a:solidFill>
              </a:rPr>
              <a:t>  } </a:t>
            </a:r>
          </a:p>
          <a:p>
            <a:endParaRPr lang="en-IE" sz="2000" dirty="0">
              <a:solidFill>
                <a:schemeClr val="tx1"/>
              </a:solidFill>
            </a:endParaRPr>
          </a:p>
          <a:p>
            <a:r>
              <a:rPr lang="en-IE" sz="2000" dirty="0">
                <a:solidFill>
                  <a:schemeClr val="tx1"/>
                </a:solidFill>
              </a:rPr>
              <a:t>  public void </a:t>
            </a:r>
            <a:r>
              <a:rPr lang="en-IE" sz="2000" b="1" dirty="0" err="1">
                <a:solidFill>
                  <a:schemeClr val="tx1"/>
                </a:solidFill>
              </a:rPr>
              <a:t>setGray</a:t>
            </a:r>
            <a:r>
              <a:rPr lang="en-IE" sz="2000" dirty="0">
                <a:solidFill>
                  <a:schemeClr val="tx1"/>
                </a:solidFill>
              </a:rPr>
              <a:t> (</a:t>
            </a:r>
            <a:r>
              <a:rPr lang="en-IE" sz="2000" dirty="0" err="1">
                <a:solidFill>
                  <a:schemeClr val="tx1"/>
                </a:solidFill>
              </a:rPr>
              <a:t>int</a:t>
            </a:r>
            <a:r>
              <a:rPr lang="en-IE" sz="2000" dirty="0">
                <a:solidFill>
                  <a:schemeClr val="tx1"/>
                </a:solidFill>
              </a:rPr>
              <a:t> </a:t>
            </a:r>
            <a:r>
              <a:rPr lang="en-IE" sz="2000" dirty="0" err="1">
                <a:solidFill>
                  <a:schemeClr val="tx1"/>
                </a:solidFill>
              </a:rPr>
              <a:t>gray</a:t>
            </a:r>
            <a:r>
              <a:rPr lang="en-IE" sz="2000" dirty="0">
                <a:solidFill>
                  <a:schemeClr val="tx1"/>
                </a:solidFill>
              </a:rPr>
              <a:t>){</a:t>
            </a:r>
          </a:p>
          <a:p>
            <a:r>
              <a:rPr lang="en-IE" sz="2000" dirty="0">
                <a:solidFill>
                  <a:schemeClr val="tx1"/>
                </a:solidFill>
              </a:rPr>
              <a:t>     </a:t>
            </a:r>
            <a:r>
              <a:rPr lang="en-IE" sz="2000" dirty="0" err="1">
                <a:solidFill>
                  <a:schemeClr val="tx1"/>
                </a:solidFill>
              </a:rPr>
              <a:t>this.gray</a:t>
            </a:r>
            <a:r>
              <a:rPr lang="en-IE" sz="2000" dirty="0">
                <a:solidFill>
                  <a:schemeClr val="tx1"/>
                </a:solidFill>
              </a:rPr>
              <a:t> = </a:t>
            </a:r>
            <a:r>
              <a:rPr lang="en-IE" sz="2000" dirty="0" err="1">
                <a:solidFill>
                  <a:schemeClr val="tx1"/>
                </a:solidFill>
              </a:rPr>
              <a:t>gray</a:t>
            </a:r>
            <a:r>
              <a:rPr lang="en-IE" sz="2000" dirty="0">
                <a:solidFill>
                  <a:schemeClr val="tx1"/>
                </a:solidFill>
              </a:rPr>
              <a:t>;</a:t>
            </a:r>
          </a:p>
          <a:p>
            <a:r>
              <a:rPr lang="en-IE" sz="2000" dirty="0">
                <a:solidFill>
                  <a:schemeClr val="tx1"/>
                </a:solidFill>
              </a:rPr>
              <a:t>  }</a:t>
            </a:r>
            <a:r>
              <a:rPr lang="en-IE" sz="2100" dirty="0">
                <a:solidFill>
                  <a:schemeClr val="tx1"/>
                </a:solidFill>
              </a:rPr>
              <a:t>    </a:t>
            </a:r>
          </a:p>
          <a:p>
            <a:r>
              <a:rPr lang="en-IE" sz="2100" dirty="0">
                <a:solidFill>
                  <a:schemeClr val="tx1"/>
                </a:solidFill>
              </a:rPr>
              <a:t>}</a:t>
            </a:r>
          </a:p>
        </p:txBody>
      </p:sp>
    </p:spTree>
    <p:extLst>
      <p:ext uri="{BB962C8B-B14F-4D97-AF65-F5344CB8AC3E}">
        <p14:creationId xmlns:p14="http://schemas.microsoft.com/office/powerpoint/2010/main" val="37731036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dirty="0"/>
              <a:t>Spot Class – Version 2</a:t>
            </a:r>
          </a:p>
        </p:txBody>
      </p:sp>
      <p:sp>
        <p:nvSpPr>
          <p:cNvPr id="6" name="Rectangle 5"/>
          <p:cNvSpPr/>
          <p:nvPr/>
        </p:nvSpPr>
        <p:spPr>
          <a:xfrm>
            <a:off x="5105400" y="6581002"/>
            <a:ext cx="5562600" cy="276999"/>
          </a:xfrm>
          <a:prstGeom prst="rect">
            <a:avLst/>
          </a:prstGeom>
        </p:spPr>
        <p:txBody>
          <a:bodyPr wrap="square">
            <a:spAutoFit/>
          </a:bodyPr>
          <a:lstStyle/>
          <a:p>
            <a:pPr algn="r"/>
            <a:r>
              <a:rPr lang="en-IE" sz="1200" dirty="0"/>
              <a:t>Source:  </a:t>
            </a:r>
            <a:r>
              <a:rPr lang="en-IE" sz="1200" dirty="0" err="1"/>
              <a:t>Reas</a:t>
            </a:r>
            <a:r>
              <a:rPr lang="en-IE" sz="1200" dirty="0"/>
              <a:t> &amp; Fry (2014)</a:t>
            </a:r>
          </a:p>
        </p:txBody>
      </p:sp>
      <p:sp>
        <p:nvSpPr>
          <p:cNvPr id="4" name="Rectangle 3"/>
          <p:cNvSpPr/>
          <p:nvPr/>
        </p:nvSpPr>
        <p:spPr>
          <a:xfrm>
            <a:off x="1714500" y="1517929"/>
            <a:ext cx="3276600" cy="5078313"/>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IE" sz="2000" dirty="0"/>
              <a:t>Spot </a:t>
            </a:r>
            <a:r>
              <a:rPr lang="en-IE" sz="2000" dirty="0" err="1"/>
              <a:t>sp</a:t>
            </a:r>
            <a:r>
              <a:rPr lang="en-IE" sz="2000" dirty="0"/>
              <a:t>;</a:t>
            </a:r>
          </a:p>
          <a:p>
            <a:endParaRPr lang="en-IE" sz="2000" dirty="0"/>
          </a:p>
          <a:p>
            <a:r>
              <a:rPr lang="en-IE" sz="2000" dirty="0"/>
              <a:t>void setup()</a:t>
            </a:r>
          </a:p>
          <a:p>
            <a:r>
              <a:rPr lang="en-IE" sz="2000" dirty="0"/>
              <a:t>{</a:t>
            </a:r>
          </a:p>
          <a:p>
            <a:r>
              <a:rPr lang="en-IE" sz="2000" dirty="0"/>
              <a:t>  size (100,100);</a:t>
            </a:r>
          </a:p>
          <a:p>
            <a:r>
              <a:rPr lang="en-IE" sz="2000" dirty="0"/>
              <a:t>  </a:t>
            </a:r>
            <a:r>
              <a:rPr lang="en-IE" sz="2000" dirty="0" err="1"/>
              <a:t>noStroke</a:t>
            </a:r>
            <a:r>
              <a:rPr lang="en-IE" sz="2000" dirty="0"/>
              <a:t>();</a:t>
            </a:r>
          </a:p>
          <a:p>
            <a:r>
              <a:rPr lang="en-IE" sz="2000" dirty="0"/>
              <a:t>  </a:t>
            </a:r>
            <a:r>
              <a:rPr lang="en-IE" sz="2000" dirty="0" err="1"/>
              <a:t>sp</a:t>
            </a:r>
            <a:r>
              <a:rPr lang="en-IE" sz="2000" dirty="0"/>
              <a:t> = new Spot(33, 50, 30);</a:t>
            </a:r>
          </a:p>
          <a:p>
            <a:r>
              <a:rPr lang="en-IE" sz="2000" dirty="0"/>
              <a:t>}</a:t>
            </a:r>
          </a:p>
          <a:p>
            <a:endParaRPr lang="en-IE" sz="2000" dirty="0"/>
          </a:p>
          <a:p>
            <a:r>
              <a:rPr lang="en-IE" sz="2000" dirty="0"/>
              <a:t>void draw()</a:t>
            </a:r>
          </a:p>
          <a:p>
            <a:r>
              <a:rPr lang="en-IE" sz="2000" dirty="0"/>
              <a:t>{</a:t>
            </a:r>
          </a:p>
          <a:p>
            <a:r>
              <a:rPr lang="en-IE" sz="2000" dirty="0"/>
              <a:t>  background(0);</a:t>
            </a:r>
          </a:p>
          <a:p>
            <a:r>
              <a:rPr lang="en-IE" sz="2000" dirty="0"/>
              <a:t>  </a:t>
            </a:r>
            <a:r>
              <a:rPr lang="en-IE" sz="2000" dirty="0" err="1"/>
              <a:t>sp.colour</a:t>
            </a:r>
            <a:r>
              <a:rPr lang="en-IE" sz="2000" dirty="0"/>
              <a:t>(255, 0, 0);</a:t>
            </a:r>
          </a:p>
          <a:p>
            <a:r>
              <a:rPr lang="en-IE" sz="2400" b="1" dirty="0">
                <a:solidFill>
                  <a:srgbClr val="FF0000"/>
                </a:solidFill>
              </a:rPr>
              <a:t>  </a:t>
            </a:r>
            <a:r>
              <a:rPr lang="en-IE" sz="2400" b="1" dirty="0" err="1">
                <a:solidFill>
                  <a:srgbClr val="FF0000"/>
                </a:solidFill>
              </a:rPr>
              <a:t>sp.diameter</a:t>
            </a:r>
            <a:r>
              <a:rPr lang="en-IE" sz="2400" b="1" dirty="0">
                <a:solidFill>
                  <a:srgbClr val="FF0000"/>
                </a:solidFill>
              </a:rPr>
              <a:t> = 30000;</a:t>
            </a:r>
          </a:p>
          <a:p>
            <a:r>
              <a:rPr lang="en-IE" sz="2000" dirty="0"/>
              <a:t>  </a:t>
            </a:r>
            <a:r>
              <a:rPr lang="en-IE" sz="2000" dirty="0" err="1"/>
              <a:t>sp.display</a:t>
            </a:r>
            <a:r>
              <a:rPr lang="en-IE" sz="2000" dirty="0"/>
              <a:t>();</a:t>
            </a:r>
          </a:p>
          <a:p>
            <a:r>
              <a:rPr lang="en-IE" sz="2000" dirty="0"/>
              <a:t>}</a:t>
            </a:r>
          </a:p>
        </p:txBody>
      </p:sp>
      <p:sp>
        <p:nvSpPr>
          <p:cNvPr id="3" name="Rectangle 2"/>
          <p:cNvSpPr/>
          <p:nvPr/>
        </p:nvSpPr>
        <p:spPr>
          <a:xfrm>
            <a:off x="6477000" y="1752601"/>
            <a:ext cx="2743200" cy="317009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dirty="0"/>
              <a:t>class Spot{</a:t>
            </a:r>
          </a:p>
          <a:p>
            <a:r>
              <a:rPr lang="en-IE" sz="2000" dirty="0"/>
              <a:t>  float </a:t>
            </a:r>
            <a:r>
              <a:rPr lang="en-IE" sz="2000" dirty="0" err="1"/>
              <a:t>xCoord</a:t>
            </a:r>
            <a:r>
              <a:rPr lang="en-IE" sz="2000" dirty="0"/>
              <a:t>, </a:t>
            </a:r>
            <a:r>
              <a:rPr lang="en-IE" sz="2000" dirty="0" err="1"/>
              <a:t>yCoord</a:t>
            </a:r>
            <a:r>
              <a:rPr lang="en-IE" sz="2000" dirty="0"/>
              <a:t>;</a:t>
            </a:r>
          </a:p>
          <a:p>
            <a:r>
              <a:rPr lang="en-IE" sz="2000" dirty="0"/>
              <a:t>  float diameter;</a:t>
            </a:r>
          </a:p>
          <a:p>
            <a:r>
              <a:rPr lang="en-IE" sz="2000" dirty="0"/>
              <a:t>  </a:t>
            </a:r>
            <a:r>
              <a:rPr lang="en-IE" sz="2000" dirty="0" err="1"/>
              <a:t>int</a:t>
            </a:r>
            <a:r>
              <a:rPr lang="en-IE" sz="2000" dirty="0"/>
              <a:t> red, green, blue;</a:t>
            </a:r>
          </a:p>
          <a:p>
            <a:r>
              <a:rPr lang="en-IE" sz="2000" dirty="0"/>
              <a:t>  </a:t>
            </a:r>
          </a:p>
          <a:p>
            <a:r>
              <a:rPr lang="en-IE" sz="2000" dirty="0"/>
              <a:t>  </a:t>
            </a:r>
            <a:r>
              <a:rPr lang="en-IE" sz="2000" dirty="0">
                <a:solidFill>
                  <a:schemeClr val="bg1">
                    <a:lumMod val="50000"/>
                  </a:schemeClr>
                </a:solidFill>
              </a:rPr>
              <a:t>// constructors…</a:t>
            </a:r>
          </a:p>
          <a:p>
            <a:r>
              <a:rPr lang="en-IE" sz="2000" dirty="0">
                <a:solidFill>
                  <a:schemeClr val="bg1">
                    <a:lumMod val="50000"/>
                  </a:schemeClr>
                </a:solidFill>
              </a:rPr>
              <a:t>  // display method…</a:t>
            </a:r>
          </a:p>
          <a:p>
            <a:r>
              <a:rPr lang="en-IE" sz="2000" dirty="0">
                <a:solidFill>
                  <a:schemeClr val="bg1">
                    <a:lumMod val="50000"/>
                  </a:schemeClr>
                </a:solidFill>
              </a:rPr>
              <a:t>  // colour methods…</a:t>
            </a:r>
          </a:p>
          <a:p>
            <a:r>
              <a:rPr lang="en-IE" sz="2000" dirty="0">
                <a:solidFill>
                  <a:schemeClr val="bg1">
                    <a:lumMod val="50000"/>
                  </a:schemeClr>
                </a:solidFill>
              </a:rPr>
              <a:t>  // move methods…</a:t>
            </a:r>
            <a:endParaRPr lang="en-IE" sz="2000" dirty="0"/>
          </a:p>
          <a:p>
            <a:r>
              <a:rPr lang="en-IE" sz="2000" dirty="0"/>
              <a:t>}</a:t>
            </a:r>
          </a:p>
        </p:txBody>
      </p:sp>
      <p:sp>
        <p:nvSpPr>
          <p:cNvPr id="5" name="Arrow: Left 4">
            <a:extLst>
              <a:ext uri="{FF2B5EF4-FFF2-40B4-BE49-F238E27FC236}">
                <a16:creationId xmlns:a16="http://schemas.microsoft.com/office/drawing/2014/main" id="{4D95B9CA-3060-4743-A9C6-6BF20F75BDE6}"/>
              </a:ext>
            </a:extLst>
          </p:cNvPr>
          <p:cNvSpPr/>
          <p:nvPr/>
        </p:nvSpPr>
        <p:spPr>
          <a:xfrm>
            <a:off x="4648200" y="4609514"/>
            <a:ext cx="5943600" cy="223760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400" dirty="0"/>
              <a:t>Before refactoring</a:t>
            </a:r>
            <a:r>
              <a:rPr lang="en-IE" sz="2400"/>
              <a:t>, </a:t>
            </a:r>
            <a:br>
              <a:rPr lang="en-IE" sz="2400"/>
            </a:br>
            <a:r>
              <a:rPr lang="en-IE" sz="2400"/>
              <a:t>we </a:t>
            </a:r>
            <a:r>
              <a:rPr lang="en-IE" sz="2400" dirty="0"/>
              <a:t>directly accessed the diameter </a:t>
            </a:r>
            <a:r>
              <a:rPr lang="en-IE" sz="2400"/>
              <a:t>field… this </a:t>
            </a:r>
            <a:r>
              <a:rPr lang="en-IE" sz="2400" dirty="0"/>
              <a:t>broke Encapsulation rules.</a:t>
            </a:r>
          </a:p>
        </p:txBody>
      </p:sp>
    </p:spTree>
    <p:extLst>
      <p:ext uri="{BB962C8B-B14F-4D97-AF65-F5344CB8AC3E}">
        <p14:creationId xmlns:p14="http://schemas.microsoft.com/office/powerpoint/2010/main" val="729168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E" sz="3600" dirty="0"/>
              <a:t>Refactoring Spot 2 – getters and setters</a:t>
            </a:r>
          </a:p>
        </p:txBody>
      </p:sp>
      <p:sp>
        <p:nvSpPr>
          <p:cNvPr id="4" name="Rectangle 3"/>
          <p:cNvSpPr/>
          <p:nvPr/>
        </p:nvSpPr>
        <p:spPr>
          <a:xfrm>
            <a:off x="1981200" y="1551088"/>
            <a:ext cx="3276600" cy="5078313"/>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IE" sz="2000" dirty="0"/>
              <a:t>Spot </a:t>
            </a:r>
            <a:r>
              <a:rPr lang="en-IE" sz="2000" dirty="0" err="1"/>
              <a:t>sp</a:t>
            </a:r>
            <a:r>
              <a:rPr lang="en-IE" sz="2000" dirty="0"/>
              <a:t>;</a:t>
            </a:r>
          </a:p>
          <a:p>
            <a:endParaRPr lang="en-IE" sz="2000" dirty="0"/>
          </a:p>
          <a:p>
            <a:r>
              <a:rPr lang="en-IE" sz="2000" dirty="0"/>
              <a:t>void setup()</a:t>
            </a:r>
          </a:p>
          <a:p>
            <a:r>
              <a:rPr lang="en-IE" sz="2000" dirty="0"/>
              <a:t>{</a:t>
            </a:r>
          </a:p>
          <a:p>
            <a:r>
              <a:rPr lang="en-IE" sz="2000" dirty="0"/>
              <a:t>  size (100,100);</a:t>
            </a:r>
          </a:p>
          <a:p>
            <a:r>
              <a:rPr lang="en-IE" sz="2000" dirty="0"/>
              <a:t>  </a:t>
            </a:r>
            <a:r>
              <a:rPr lang="en-IE" sz="2000" dirty="0" err="1"/>
              <a:t>noStroke</a:t>
            </a:r>
            <a:r>
              <a:rPr lang="en-IE" sz="2000" dirty="0"/>
              <a:t>();</a:t>
            </a:r>
          </a:p>
          <a:p>
            <a:r>
              <a:rPr lang="en-IE" sz="2000" dirty="0"/>
              <a:t>  </a:t>
            </a:r>
            <a:r>
              <a:rPr lang="en-IE" sz="2000" dirty="0" err="1"/>
              <a:t>sp</a:t>
            </a:r>
            <a:r>
              <a:rPr lang="en-IE" sz="2000" dirty="0"/>
              <a:t> = new Spot(33, 50, 30);</a:t>
            </a:r>
          </a:p>
          <a:p>
            <a:r>
              <a:rPr lang="en-IE" sz="2000" dirty="0"/>
              <a:t>}</a:t>
            </a:r>
          </a:p>
          <a:p>
            <a:endParaRPr lang="en-IE" sz="2000" dirty="0"/>
          </a:p>
          <a:p>
            <a:r>
              <a:rPr lang="en-IE" sz="2000" dirty="0"/>
              <a:t>void draw()</a:t>
            </a:r>
          </a:p>
          <a:p>
            <a:r>
              <a:rPr lang="en-IE" sz="2000" dirty="0"/>
              <a:t>{</a:t>
            </a:r>
          </a:p>
          <a:p>
            <a:r>
              <a:rPr lang="en-IE" sz="2000" dirty="0"/>
              <a:t>  background(0);</a:t>
            </a:r>
          </a:p>
          <a:p>
            <a:r>
              <a:rPr lang="en-IE" sz="2000" dirty="0"/>
              <a:t>  </a:t>
            </a:r>
            <a:r>
              <a:rPr lang="en-IE" sz="2000" dirty="0" err="1"/>
              <a:t>sp.colour</a:t>
            </a:r>
            <a:r>
              <a:rPr lang="en-IE" sz="2000" dirty="0"/>
              <a:t>(255, 0, 0);</a:t>
            </a:r>
          </a:p>
          <a:p>
            <a:r>
              <a:rPr lang="en-IE" sz="2000" b="1" dirty="0">
                <a:solidFill>
                  <a:srgbClr val="FF0000"/>
                </a:solidFill>
              </a:rPr>
              <a:t>  </a:t>
            </a:r>
            <a:r>
              <a:rPr lang="en-IE" sz="2000" b="1" dirty="0" err="1">
                <a:solidFill>
                  <a:srgbClr val="FF0000"/>
                </a:solidFill>
              </a:rPr>
              <a:t>sp.setDiameter</a:t>
            </a:r>
            <a:r>
              <a:rPr lang="en-IE" sz="2000" b="1" dirty="0">
                <a:solidFill>
                  <a:srgbClr val="FF0000"/>
                </a:solidFill>
              </a:rPr>
              <a:t>(30000);</a:t>
            </a:r>
          </a:p>
          <a:p>
            <a:r>
              <a:rPr lang="en-IE" sz="2000" dirty="0"/>
              <a:t>  </a:t>
            </a:r>
            <a:r>
              <a:rPr lang="en-IE" sz="2000" dirty="0" err="1"/>
              <a:t>sp.display</a:t>
            </a:r>
            <a:r>
              <a:rPr lang="en-IE" sz="2000" dirty="0"/>
              <a:t>();</a:t>
            </a:r>
          </a:p>
          <a:p>
            <a:r>
              <a:rPr lang="en-IE" sz="2000" dirty="0"/>
              <a:t>}</a:t>
            </a:r>
          </a:p>
        </p:txBody>
      </p:sp>
      <p:sp>
        <p:nvSpPr>
          <p:cNvPr id="7" name="Rectangle 6">
            <a:extLst>
              <a:ext uri="{FF2B5EF4-FFF2-40B4-BE49-F238E27FC236}">
                <a16:creationId xmlns:a16="http://schemas.microsoft.com/office/drawing/2014/main" id="{5953AB21-B7BA-4366-926E-8CBF7DA9BA7D}"/>
              </a:ext>
            </a:extLst>
          </p:cNvPr>
          <p:cNvSpPr/>
          <p:nvPr/>
        </p:nvSpPr>
        <p:spPr>
          <a:xfrm>
            <a:off x="5562600" y="1143001"/>
            <a:ext cx="4876800" cy="4708981"/>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IE" sz="2000" dirty="0"/>
              <a:t>public class Spot{</a:t>
            </a:r>
          </a:p>
          <a:p>
            <a:r>
              <a:rPr lang="en-IE" sz="2000" dirty="0"/>
              <a:t>    private float </a:t>
            </a:r>
            <a:r>
              <a:rPr lang="en-IE" sz="2000" dirty="0" err="1"/>
              <a:t>xCoord</a:t>
            </a:r>
            <a:r>
              <a:rPr lang="en-IE" sz="2000" dirty="0"/>
              <a:t>, </a:t>
            </a:r>
            <a:r>
              <a:rPr lang="en-IE" sz="2000" dirty="0" err="1"/>
              <a:t>yCoord</a:t>
            </a:r>
            <a:r>
              <a:rPr lang="en-IE" sz="2000" dirty="0"/>
              <a:t>;</a:t>
            </a:r>
          </a:p>
          <a:p>
            <a:r>
              <a:rPr lang="en-IE" sz="2000" dirty="0"/>
              <a:t>    </a:t>
            </a:r>
            <a:r>
              <a:rPr lang="en-IE" sz="2000" b="1" dirty="0">
                <a:solidFill>
                  <a:srgbClr val="FF0000"/>
                </a:solidFill>
              </a:rPr>
              <a:t>private </a:t>
            </a:r>
            <a:r>
              <a:rPr lang="en-IE" sz="2000" dirty="0">
                <a:solidFill>
                  <a:srgbClr val="FF0000"/>
                </a:solidFill>
              </a:rPr>
              <a:t>float</a:t>
            </a:r>
            <a:r>
              <a:rPr lang="en-IE" sz="2000" b="1" dirty="0">
                <a:solidFill>
                  <a:srgbClr val="FF0000"/>
                </a:solidFill>
              </a:rPr>
              <a:t> diameter;</a:t>
            </a:r>
          </a:p>
          <a:p>
            <a:r>
              <a:rPr lang="en-IE" sz="2000" dirty="0"/>
              <a:t>    private </a:t>
            </a:r>
            <a:r>
              <a:rPr lang="en-IE" sz="2000" dirty="0" err="1"/>
              <a:t>int</a:t>
            </a:r>
            <a:r>
              <a:rPr lang="en-IE" sz="2000" dirty="0"/>
              <a:t> red, green, blue;</a:t>
            </a:r>
          </a:p>
          <a:p>
            <a:r>
              <a:rPr lang="en-IE" sz="2000" dirty="0"/>
              <a:t>  </a:t>
            </a:r>
          </a:p>
          <a:p>
            <a:r>
              <a:rPr lang="en-IE" sz="2000" dirty="0"/>
              <a:t>  </a:t>
            </a:r>
            <a:r>
              <a:rPr lang="en-IE" sz="2000" dirty="0">
                <a:solidFill>
                  <a:schemeClr val="bg1">
                    <a:lumMod val="50000"/>
                  </a:schemeClr>
                </a:solidFill>
              </a:rPr>
              <a:t>// constructors…</a:t>
            </a:r>
          </a:p>
          <a:p>
            <a:r>
              <a:rPr lang="en-IE" sz="2000" dirty="0">
                <a:solidFill>
                  <a:schemeClr val="bg1">
                    <a:lumMod val="50000"/>
                  </a:schemeClr>
                </a:solidFill>
              </a:rPr>
              <a:t>  // display method…</a:t>
            </a:r>
          </a:p>
          <a:p>
            <a:r>
              <a:rPr lang="en-IE" sz="2000" dirty="0">
                <a:solidFill>
                  <a:schemeClr val="bg1">
                    <a:lumMod val="50000"/>
                  </a:schemeClr>
                </a:solidFill>
              </a:rPr>
              <a:t>  // colour methods…</a:t>
            </a:r>
          </a:p>
          <a:p>
            <a:r>
              <a:rPr lang="en-IE" sz="2000" dirty="0">
                <a:solidFill>
                  <a:schemeClr val="bg1">
                    <a:lumMod val="50000"/>
                  </a:schemeClr>
                </a:solidFill>
              </a:rPr>
              <a:t>  // move methods…</a:t>
            </a:r>
          </a:p>
          <a:p>
            <a:r>
              <a:rPr lang="en-IE" sz="2000" dirty="0">
                <a:solidFill>
                  <a:schemeClr val="bg1">
                    <a:lumMod val="50000"/>
                  </a:schemeClr>
                </a:solidFill>
              </a:rPr>
              <a:t>  //getter methods…</a:t>
            </a:r>
          </a:p>
          <a:p>
            <a:r>
              <a:rPr lang="en-IE" sz="2000" dirty="0">
                <a:solidFill>
                  <a:schemeClr val="bg1">
                    <a:lumMod val="50000"/>
                  </a:schemeClr>
                </a:solidFill>
              </a:rPr>
              <a:t>  //setter methods…</a:t>
            </a:r>
          </a:p>
          <a:p>
            <a:r>
              <a:rPr lang="en-IE" sz="2000" b="1" dirty="0">
                <a:solidFill>
                  <a:srgbClr val="FF0000"/>
                </a:solidFill>
              </a:rPr>
              <a:t>  public void </a:t>
            </a:r>
            <a:r>
              <a:rPr lang="en-IE" sz="2000" b="1" dirty="0" err="1">
                <a:solidFill>
                  <a:srgbClr val="FF0000"/>
                </a:solidFill>
              </a:rPr>
              <a:t>setDiameter</a:t>
            </a:r>
            <a:r>
              <a:rPr lang="en-IE" sz="2000" dirty="0">
                <a:solidFill>
                  <a:srgbClr val="FF0000"/>
                </a:solidFill>
              </a:rPr>
              <a:t> (float</a:t>
            </a:r>
            <a:r>
              <a:rPr lang="en-IE" sz="2000" b="1" dirty="0">
                <a:solidFill>
                  <a:srgbClr val="FF0000"/>
                </a:solidFill>
              </a:rPr>
              <a:t> diameter) {</a:t>
            </a:r>
          </a:p>
          <a:p>
            <a:r>
              <a:rPr lang="en-IE" sz="2000" b="1" dirty="0">
                <a:solidFill>
                  <a:srgbClr val="FF0000"/>
                </a:solidFill>
              </a:rPr>
              <a:t>      </a:t>
            </a:r>
            <a:r>
              <a:rPr lang="en-IE" sz="2000" b="1" dirty="0" err="1">
                <a:solidFill>
                  <a:srgbClr val="FF0000"/>
                </a:solidFill>
              </a:rPr>
              <a:t>this.diameter</a:t>
            </a:r>
            <a:r>
              <a:rPr lang="en-IE" sz="2000" b="1" dirty="0">
                <a:solidFill>
                  <a:srgbClr val="FF0000"/>
                </a:solidFill>
              </a:rPr>
              <a:t> = diameter;</a:t>
            </a:r>
          </a:p>
          <a:p>
            <a:r>
              <a:rPr lang="en-IE" sz="2000" b="1" dirty="0">
                <a:solidFill>
                  <a:srgbClr val="FF0000"/>
                </a:solidFill>
              </a:rPr>
              <a:t>  } </a:t>
            </a:r>
            <a:endParaRPr lang="en-IE" sz="2000" dirty="0"/>
          </a:p>
          <a:p>
            <a:r>
              <a:rPr lang="en-IE" sz="2000" dirty="0"/>
              <a:t>}</a:t>
            </a:r>
          </a:p>
        </p:txBody>
      </p:sp>
      <p:sp>
        <p:nvSpPr>
          <p:cNvPr id="8" name="Rectangle: Rounded Corners 7">
            <a:extLst>
              <a:ext uri="{FF2B5EF4-FFF2-40B4-BE49-F238E27FC236}">
                <a16:creationId xmlns:a16="http://schemas.microsoft.com/office/drawing/2014/main" id="{F3E17597-D3EF-441B-93AA-8A4917E7A570}"/>
              </a:ext>
            </a:extLst>
          </p:cNvPr>
          <p:cNvSpPr/>
          <p:nvPr/>
        </p:nvSpPr>
        <p:spPr>
          <a:xfrm>
            <a:off x="3733800" y="5944988"/>
            <a:ext cx="5867400" cy="56928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2400" dirty="0"/>
              <a:t>Now we update via the appropriate setter</a:t>
            </a:r>
          </a:p>
        </p:txBody>
      </p:sp>
      <p:sp>
        <p:nvSpPr>
          <p:cNvPr id="6" name="Donut 5"/>
          <p:cNvSpPr/>
          <p:nvPr/>
        </p:nvSpPr>
        <p:spPr>
          <a:xfrm>
            <a:off x="1943100" y="5562600"/>
            <a:ext cx="3086100" cy="382387"/>
          </a:xfrm>
          <a:prstGeom prst="donut">
            <a:avLst>
              <a:gd name="adj" fmla="val 57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Donut 8"/>
          <p:cNvSpPr/>
          <p:nvPr/>
        </p:nvSpPr>
        <p:spPr>
          <a:xfrm>
            <a:off x="5181600" y="4495800"/>
            <a:ext cx="5900854" cy="762000"/>
          </a:xfrm>
          <a:prstGeom prst="donut">
            <a:avLst>
              <a:gd name="adj" fmla="val 57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Donut 9"/>
          <p:cNvSpPr/>
          <p:nvPr/>
        </p:nvSpPr>
        <p:spPr>
          <a:xfrm>
            <a:off x="5410200" y="1838093"/>
            <a:ext cx="3429000" cy="266733"/>
          </a:xfrm>
          <a:prstGeom prst="donut">
            <a:avLst>
              <a:gd name="adj" fmla="val 57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3325264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heel(1)">
                                      <p:cBhvr>
                                        <p:cTn id="11" dur="2000"/>
                                        <p:tgtEl>
                                          <p:spTgt spid="10"/>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heel(1)">
                                      <p:cBhvr>
                                        <p:cTn id="15"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Questions?</a:t>
            </a:r>
          </a:p>
        </p:txBody>
      </p:sp>
      <p:pic>
        <p:nvPicPr>
          <p:cNvPr id="4" name="Picture 2" descr="Image result for questions">
            <a:extLst>
              <a:ext uri="{FF2B5EF4-FFF2-40B4-BE49-F238E27FC236}">
                <a16:creationId xmlns:a16="http://schemas.microsoft.com/office/drawing/2014/main" id="{B79DF4B1-204C-6543-9AA5-880D43F10D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2057401"/>
            <a:ext cx="4343400" cy="3509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55032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References</a:t>
            </a:r>
          </a:p>
        </p:txBody>
      </p:sp>
      <p:sp>
        <p:nvSpPr>
          <p:cNvPr id="3" name="Content Placeholder 2"/>
          <p:cNvSpPr>
            <a:spLocks noGrp="1"/>
          </p:cNvSpPr>
          <p:nvPr>
            <p:ph idx="1"/>
          </p:nvPr>
        </p:nvSpPr>
        <p:spPr/>
        <p:txBody>
          <a:bodyPr/>
          <a:lstStyle/>
          <a:p>
            <a:r>
              <a:rPr lang="en-IE" dirty="0" err="1"/>
              <a:t>Reas</a:t>
            </a:r>
            <a:r>
              <a:rPr lang="en-IE" dirty="0"/>
              <a:t>, C. &amp; Fry, B. (2014) Processing – A Programming Handbook for Visual Designers and Artists, 2</a:t>
            </a:r>
            <a:r>
              <a:rPr lang="en-IE" baseline="30000" dirty="0"/>
              <a:t>nd</a:t>
            </a:r>
            <a:r>
              <a:rPr lang="en-IE" dirty="0"/>
              <a:t> Edition, MIT Press, London.</a:t>
            </a:r>
          </a:p>
          <a:p>
            <a:endParaRPr lang="en-IE" dirty="0"/>
          </a:p>
        </p:txBody>
      </p:sp>
    </p:spTree>
    <p:extLst>
      <p:ext uri="{BB962C8B-B14F-4D97-AF65-F5344CB8AC3E}">
        <p14:creationId xmlns:p14="http://schemas.microsoft.com/office/powerpoint/2010/main" val="24550113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4.4|9.5|6|7.8|19.6"/>
</p:tagLst>
</file>

<file path=ppt/tags/tag2.xml><?xml version="1.0" encoding="utf-8"?>
<p:tagLst xmlns:a="http://schemas.openxmlformats.org/drawingml/2006/main" xmlns:r="http://schemas.openxmlformats.org/officeDocument/2006/relationships" xmlns:p="http://schemas.openxmlformats.org/presentationml/2006/main">
  <p:tag name="TIMING" val="|1.5|14.4"/>
</p:tagLst>
</file>

<file path=ppt/tags/tag3.xml><?xml version="1.0" encoding="utf-8"?>
<p:tagLst xmlns:a="http://schemas.openxmlformats.org/drawingml/2006/main" xmlns:r="http://schemas.openxmlformats.org/officeDocument/2006/relationships" xmlns:p="http://schemas.openxmlformats.org/presentationml/2006/main">
  <p:tag name="TIMING" val="|0.9|12.9|2.5|10.4|5.2"/>
</p:tagLst>
</file>

<file path=ppt/tags/tag4.xml><?xml version="1.0" encoding="utf-8"?>
<p:tagLst xmlns:a="http://schemas.openxmlformats.org/drawingml/2006/main" xmlns:r="http://schemas.openxmlformats.org/officeDocument/2006/relationships" xmlns:p="http://schemas.openxmlformats.org/presentationml/2006/main">
  <p:tag name="TIMING" val="|0.9|44.5|18.4"/>
</p:tagLst>
</file>

<file path=ppt/tags/tag5.xml><?xml version="1.0" encoding="utf-8"?>
<p:tagLst xmlns:a="http://schemas.openxmlformats.org/drawingml/2006/main" xmlns:r="http://schemas.openxmlformats.org/officeDocument/2006/relationships" xmlns:p="http://schemas.openxmlformats.org/presentationml/2006/main">
  <p:tag name="TIMING" val="|9.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3417</TotalTime>
  <Words>2132</Words>
  <Application>Microsoft Macintosh PowerPoint</Application>
  <PresentationFormat>Widescreen</PresentationFormat>
  <Paragraphs>390</Paragraphs>
  <Slides>26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Courier New</vt:lpstr>
      <vt:lpstr>Office Theme</vt:lpstr>
      <vt:lpstr>Public and private access</vt:lpstr>
      <vt:lpstr>Class Diagram for Spot Version 2</vt:lpstr>
      <vt:lpstr>Spot Class  – Version 2</vt:lpstr>
      <vt:lpstr>Spot Class  – Version 2</vt:lpstr>
      <vt:lpstr>Spot Class –  Version 2</vt:lpstr>
      <vt:lpstr>Our Our design smells!</vt:lpstr>
      <vt:lpstr>Our design smells!</vt:lpstr>
      <vt:lpstr>Encapsulation</vt:lpstr>
      <vt:lpstr>Encapsulation in Java – steps 1-3</vt:lpstr>
      <vt:lpstr>Refactoring Spot: Access Modifiers</vt:lpstr>
      <vt:lpstr>Refactoring Spot: Access Modifiers</vt:lpstr>
      <vt:lpstr>Refactoring Spot : Access Modifiers</vt:lpstr>
      <vt:lpstr>Refactoring Spot : Access Modifiers</vt:lpstr>
      <vt:lpstr>Refactoring Spot: Access Modifiers</vt:lpstr>
      <vt:lpstr>Access Modifiers</vt:lpstr>
      <vt:lpstr>Access Modifiers</vt:lpstr>
      <vt:lpstr>Refactoring Spot 7.0: Access Modifiers</vt:lpstr>
      <vt:lpstr>Refactoring Spot : Setters and Getters</vt:lpstr>
      <vt:lpstr>Refactoring Spot 2: Setters and Getters</vt:lpstr>
      <vt:lpstr>Refactoring Spot 2: Setters and Getters</vt:lpstr>
      <vt:lpstr>Refactoring Spot 2: Getters</vt:lpstr>
      <vt:lpstr>Refactoring Spot 2: Setters</vt:lpstr>
      <vt:lpstr>Spot Class – Version 2</vt:lpstr>
      <vt:lpstr>Refactoring Spot 2 – getters and setters</vt:lpstr>
      <vt:lpstr>Questions?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Encapsulation in classes</dc:title>
  <dc:creator>Siobhan Drohan</dc:creator>
  <cp:lastModifiedBy>Mairead Meagher</cp:lastModifiedBy>
  <cp:revision>358</cp:revision>
  <dcterms:created xsi:type="dcterms:W3CDTF">2006-08-16T00:00:00Z</dcterms:created>
  <dcterms:modified xsi:type="dcterms:W3CDTF">2024-02-02T18:12:14Z</dcterms:modified>
</cp:coreProperties>
</file>