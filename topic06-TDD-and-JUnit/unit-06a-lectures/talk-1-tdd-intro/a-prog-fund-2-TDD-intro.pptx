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96" r:id="rId3"/>
    <p:sldId id="540" r:id="rId4"/>
    <p:sldId id="541" r:id="rId5"/>
    <p:sldId id="542" r:id="rId6"/>
    <p:sldId id="461" r:id="rId7"/>
    <p:sldId id="467" r:id="rId8"/>
    <p:sldId id="459" r:id="rId9"/>
    <p:sldId id="543" r:id="rId10"/>
    <p:sldId id="469" r:id="rId11"/>
    <p:sldId id="539" r:id="rId12"/>
    <p:sldId id="470" r:id="rId13"/>
    <p:sldId id="471" r:id="rId14"/>
    <p:sldId id="544" r:id="rId15"/>
    <p:sldId id="525" r:id="rId16"/>
    <p:sldId id="524" r:id="rId17"/>
    <p:sldId id="529" r:id="rId18"/>
    <p:sldId id="392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4674"/>
  </p:normalViewPr>
  <p:slideViewPr>
    <p:cSldViewPr>
      <p:cViewPr varScale="1">
        <p:scale>
          <a:sx n="124" d="100"/>
          <a:sy n="124" d="100"/>
        </p:scale>
        <p:origin x="544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28/02/2025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78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5420" y="914401"/>
            <a:ext cx="9012621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935420" y="3056115"/>
            <a:ext cx="10024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Eamonn de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Leastar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935420" y="2133601"/>
            <a:ext cx="9012621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to TDD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D99C9-748E-DFD9-02EC-50101C0B4CCD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3D5DE96-E1B6-670A-D8B4-5A0336AA7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1597379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4210-2528-0C05-80E4-070E341A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9E74-3323-AA47-6196-A2F25DCD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Software testing is categorized into different levels based on scope and purpose: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	</a:t>
            </a:r>
            <a:r>
              <a:rPr lang="en-US" b="1" dirty="0"/>
              <a:t>Unit Testing</a:t>
            </a:r>
            <a:endParaRPr lang="en-US" dirty="0"/>
          </a:p>
          <a:p>
            <a:pPr lvl="2"/>
            <a:r>
              <a:rPr lang="en-US" dirty="0"/>
              <a:t>Tests individual components (methods/classes) in isolation.</a:t>
            </a:r>
          </a:p>
          <a:p>
            <a:pPr lvl="2"/>
            <a:r>
              <a:rPr lang="en-US" dirty="0"/>
              <a:t>Typically automated using frameworks like JUnit.</a:t>
            </a:r>
          </a:p>
          <a:p>
            <a:pPr lvl="2"/>
            <a:r>
              <a:rPr lang="en-US" dirty="0"/>
              <a:t>Ensures correctness of small, self-contained code units.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Integration Testing</a:t>
            </a:r>
            <a:endParaRPr lang="en-US" dirty="0"/>
          </a:p>
          <a:p>
            <a:pPr lvl="2"/>
            <a:r>
              <a:rPr lang="en-US" dirty="0"/>
              <a:t>Tests interactions between integrated components (e.g., multiple classes or modules).</a:t>
            </a:r>
          </a:p>
          <a:p>
            <a:pPr lvl="2"/>
            <a:r>
              <a:rPr lang="en-US" dirty="0"/>
              <a:t>Ensures data flows correctly between units.</a:t>
            </a:r>
          </a:p>
          <a:p>
            <a:pPr lvl="2"/>
            <a:r>
              <a:rPr lang="en-US" dirty="0"/>
              <a:t>May involve database connections, APIs, or third-party services.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2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4210-2528-0C05-80E4-070E341A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Testing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9E74-3323-AA47-6196-A2F25DCD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System Testing</a:t>
            </a:r>
            <a:endParaRPr lang="en-US" dirty="0"/>
          </a:p>
          <a:p>
            <a:pPr lvl="2"/>
            <a:r>
              <a:rPr lang="en-US" dirty="0"/>
              <a:t>Tests the entire application as a whole.</a:t>
            </a:r>
          </a:p>
          <a:p>
            <a:pPr lvl="2"/>
            <a:r>
              <a:rPr lang="en-US" dirty="0"/>
              <a:t>Verifies that the complete system meets requirements.</a:t>
            </a:r>
          </a:p>
          <a:p>
            <a:pPr lvl="2"/>
            <a:r>
              <a:rPr lang="en-US" dirty="0"/>
              <a:t>Often includes performance, security, and usability testing.</a:t>
            </a:r>
          </a:p>
          <a:p>
            <a:pPr lvl="2"/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b="1" dirty="0"/>
              <a:t>Acceptance Testing</a:t>
            </a:r>
            <a:endParaRPr lang="en-US" dirty="0"/>
          </a:p>
          <a:p>
            <a:pPr lvl="2"/>
            <a:r>
              <a:rPr lang="en-US" dirty="0"/>
              <a:t>Validates the software against business requirements.</a:t>
            </a:r>
          </a:p>
          <a:p>
            <a:pPr lvl="2"/>
            <a:r>
              <a:rPr lang="en-US" dirty="0"/>
              <a:t>Ensures it meets user expectations.</a:t>
            </a:r>
          </a:p>
          <a:p>
            <a:pPr lvl="2"/>
            <a:r>
              <a:rPr lang="en-US" dirty="0"/>
              <a:t>Can be manual (user acceptance testing) or automated.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3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25908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578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Test </a:t>
            </a:r>
            <a:r>
              <a:rPr lang="en-IE" sz="3000" dirty="0"/>
              <a:t>D</a:t>
            </a:r>
            <a:r>
              <a:rPr sz="3000" dirty="0"/>
              <a:t>riven </a:t>
            </a:r>
            <a:r>
              <a:rPr lang="en-IE" sz="3000" dirty="0"/>
              <a:t>D</a:t>
            </a:r>
            <a:r>
              <a:rPr sz="3000" dirty="0" err="1"/>
              <a:t>evelopment</a:t>
            </a:r>
            <a:endParaRPr sz="3000" dirty="0"/>
          </a:p>
        </p:txBody>
      </p:sp>
      <p:sp>
        <p:nvSpPr>
          <p:cNvPr id="148" name="Shape 14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125"/>
              </a:spcBef>
              <a:defRPr sz="1800"/>
            </a:pPr>
            <a:r>
              <a:rPr sz="2800" dirty="0"/>
              <a:t>Tests are written </a:t>
            </a:r>
            <a:r>
              <a:rPr sz="2800" u="sng" dirty="0"/>
              <a:t>before</a:t>
            </a:r>
            <a:r>
              <a:rPr sz="2800" dirty="0"/>
              <a:t> </a:t>
            </a:r>
            <a:r>
              <a:rPr lang="en-IE" sz="2800" dirty="0"/>
              <a:t>you write the program code</a:t>
            </a:r>
            <a:r>
              <a:rPr sz="2800" dirty="0"/>
              <a:t>.</a:t>
            </a:r>
            <a:endParaRPr lang="en-IE" sz="2800" dirty="0"/>
          </a:p>
          <a:p>
            <a:pPr>
              <a:spcBef>
                <a:spcPts val="1125"/>
              </a:spcBef>
              <a:defRPr sz="1800"/>
            </a:pPr>
            <a:endParaRPr sz="2800" dirty="0"/>
          </a:p>
          <a:p>
            <a:pPr>
              <a:spcBef>
                <a:spcPts val="1125"/>
              </a:spcBef>
              <a:defRPr sz="1800"/>
            </a:pPr>
            <a:r>
              <a:rPr sz="2800" dirty="0"/>
              <a:t>A </a:t>
            </a:r>
            <a:r>
              <a:rPr sz="2800" dirty="0">
                <a:uFill>
                  <a:solidFill/>
                </a:uFill>
              </a:rPr>
              <a:t>test framework</a:t>
            </a:r>
            <a:r>
              <a:rPr sz="2800" dirty="0"/>
              <a:t> is used so that </a:t>
            </a:r>
            <a:r>
              <a:rPr sz="2800" u="sng" dirty="0"/>
              <a:t>automated</a:t>
            </a:r>
            <a:r>
              <a:rPr sz="2800" dirty="0"/>
              <a:t> testing can be done after every small change to the code.</a:t>
            </a:r>
          </a:p>
          <a:p>
            <a:pPr lvl="2">
              <a:spcBef>
                <a:spcPts val="1125"/>
              </a:spcBef>
              <a:defRPr sz="1800"/>
            </a:pPr>
            <a:r>
              <a:rPr sz="2000" dirty="0"/>
              <a:t>This may be as often as every 5 or 10 minutes.</a:t>
            </a:r>
          </a:p>
          <a:p>
            <a:pPr>
              <a:spcBef>
                <a:spcPts val="1125"/>
              </a:spcBef>
              <a:defRPr sz="1800"/>
            </a:pPr>
            <a:endParaRPr lang="en-IE" sz="2800" dirty="0"/>
          </a:p>
          <a:p>
            <a:pPr>
              <a:spcBef>
                <a:spcPts val="1125"/>
              </a:spcBef>
              <a:defRPr sz="1800"/>
            </a:pPr>
            <a:r>
              <a:rPr lang="en-IE" sz="2800" dirty="0"/>
              <a:t>This approach must be learned and practiced.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9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Why </a:t>
            </a:r>
            <a:r>
              <a:rPr lang="en-IE" sz="3000" dirty="0"/>
              <a:t>b</a:t>
            </a:r>
            <a:r>
              <a:rPr sz="3000" dirty="0"/>
              <a:t>other with </a:t>
            </a:r>
            <a:r>
              <a:rPr lang="en-IE" sz="3000" dirty="0"/>
              <a:t>Test Driven Development?</a:t>
            </a:r>
            <a:endParaRPr sz="3000" dirty="0"/>
          </a:p>
        </p:txBody>
      </p:sp>
      <p:sp>
        <p:nvSpPr>
          <p:cNvPr id="165" name="Shape 165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800" dirty="0"/>
              <a:t>It makes your </a:t>
            </a:r>
            <a:r>
              <a:rPr sz="2800" dirty="0"/>
              <a:t>designs better</a:t>
            </a:r>
            <a:r>
              <a:rPr lang="en-IE" sz="2800" dirty="0"/>
              <a:t>.</a:t>
            </a:r>
            <a:endParaRPr sz="2800" dirty="0"/>
          </a:p>
          <a:p>
            <a:pPr>
              <a:defRPr sz="1800"/>
            </a:pPr>
            <a:r>
              <a:rPr lang="en-IE" sz="2800" dirty="0"/>
              <a:t>Fewer bugs; d</a:t>
            </a:r>
            <a:r>
              <a:rPr sz="2800" dirty="0" err="1"/>
              <a:t>rastically</a:t>
            </a:r>
            <a:r>
              <a:rPr sz="2800" dirty="0"/>
              <a:t> reduce</a:t>
            </a:r>
            <a:r>
              <a:rPr lang="en-IE" sz="2800" dirty="0"/>
              <a:t>s</a:t>
            </a:r>
            <a:r>
              <a:rPr sz="2800" dirty="0"/>
              <a:t> the amount of time spent debugging</a:t>
            </a:r>
            <a:r>
              <a:rPr lang="en-IE" sz="2800" dirty="0"/>
              <a:t> code.</a:t>
            </a:r>
          </a:p>
          <a:p>
            <a:pPr>
              <a:defRPr sz="1800"/>
            </a:pPr>
            <a:r>
              <a:rPr lang="en-IE" sz="2800" dirty="0"/>
              <a:t>More maintainable code.</a:t>
            </a:r>
          </a:p>
          <a:p>
            <a:pPr>
              <a:defRPr sz="1800"/>
            </a:pPr>
            <a:r>
              <a:rPr lang="en-IE" sz="2800" dirty="0"/>
              <a:t>During development, the program always works—it may not do everything required, but what it does, it does right.</a:t>
            </a:r>
          </a:p>
          <a:p>
            <a:pPr>
              <a:defRPr sz="1800"/>
            </a:pPr>
            <a:endParaRPr lang="en-IE" sz="2400" dirty="0"/>
          </a:p>
          <a:p>
            <a:pPr>
              <a:spcBef>
                <a:spcPts val="1125"/>
              </a:spcBef>
              <a:defRPr sz="1800"/>
            </a:pPr>
            <a:r>
              <a:rPr lang="en-IE" sz="2800" dirty="0"/>
              <a:t>Your new philosophy (axiom):</a:t>
            </a:r>
          </a:p>
          <a:p>
            <a:pPr lvl="1">
              <a:spcBef>
                <a:spcPts val="1125"/>
              </a:spcBef>
              <a:defRPr sz="1800"/>
            </a:pPr>
            <a:r>
              <a:rPr lang="en-IE" i="1" dirty="0">
                <a:solidFill>
                  <a:srgbClr val="FF0000"/>
                </a:solidFill>
              </a:rPr>
              <a:t>‘</a:t>
            </a:r>
            <a:r>
              <a:rPr lang="en-IE" sz="2400" i="1" dirty="0">
                <a:solidFill>
                  <a:srgbClr val="FF0000"/>
                </a:solidFill>
              </a:rPr>
              <a:t>Code that isn’t tested doesn’t work’</a:t>
            </a:r>
            <a:endParaRPr lang="en-IE" i="1" dirty="0">
              <a:solidFill>
                <a:srgbClr val="FF0000"/>
              </a:solidFill>
            </a:endParaRPr>
          </a:p>
        </p:txBody>
      </p:sp>
      <p:sp>
        <p:nvSpPr>
          <p:cNvPr id="166" name="Shape 16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7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25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100">
                <a:uFill>
                  <a:solidFill/>
                </a:uFill>
              </a:rPr>
              <a:t>Test-driven development.</a:t>
            </a:r>
          </a:p>
        </p:txBody>
      </p:sp>
      <p:pic>
        <p:nvPicPr>
          <p:cNvPr id="137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" y="1828800"/>
            <a:ext cx="5722144" cy="3581400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</p:spPr>
      </p:pic>
      <p:pic>
        <p:nvPicPr>
          <p:cNvPr id="5" name="dropped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7543800" y="2743200"/>
            <a:ext cx="3810000" cy="3581400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5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14400" y="3596482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43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is Unit Testing?</a:t>
            </a:r>
          </a:p>
        </p:txBody>
      </p:sp>
      <p:sp>
        <p:nvSpPr>
          <p:cNvPr id="157" name="Shape 15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400" dirty="0"/>
              <a:t>A unit test is a piece of code written by a developer that </a:t>
            </a:r>
            <a:r>
              <a:rPr lang="en-IE" sz="2400" dirty="0"/>
              <a:t>tests (</a:t>
            </a:r>
            <a:r>
              <a:rPr sz="2400" dirty="0"/>
              <a:t>exercises</a:t>
            </a:r>
            <a:r>
              <a:rPr lang="en-IE" sz="2400" dirty="0"/>
              <a:t>)</a:t>
            </a:r>
            <a:r>
              <a:rPr sz="2400" dirty="0"/>
              <a:t> a very small, specific area of functionality of the code being tested.</a:t>
            </a:r>
          </a:p>
          <a:p>
            <a:pPr lvl="1">
              <a:defRPr sz="1800"/>
            </a:pPr>
            <a:r>
              <a:rPr sz="2400" dirty="0"/>
              <a:t>Usually a unit test exercises some particular method in a particular context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dirty="0"/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10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9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is Unit Testing?</a:t>
            </a:r>
          </a:p>
        </p:txBody>
      </p:sp>
      <p:sp>
        <p:nvSpPr>
          <p:cNvPr id="157" name="Shape 15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400" dirty="0"/>
              <a:t>A unit test is a piece of code written by a developer that </a:t>
            </a:r>
            <a:r>
              <a:rPr lang="en-IE" sz="2400" dirty="0"/>
              <a:t>tests (</a:t>
            </a:r>
            <a:r>
              <a:rPr sz="2400" dirty="0"/>
              <a:t>exercises</a:t>
            </a:r>
            <a:r>
              <a:rPr lang="en-IE" sz="2400" dirty="0"/>
              <a:t>)</a:t>
            </a:r>
            <a:r>
              <a:rPr sz="2400" dirty="0"/>
              <a:t> a very small, specific area of functionality of the code being tested.</a:t>
            </a:r>
          </a:p>
          <a:p>
            <a:pPr lvl="1">
              <a:defRPr sz="1800"/>
            </a:pPr>
            <a:r>
              <a:rPr sz="2400" dirty="0"/>
              <a:t>Usually a unit test exercises some particular method in a particular context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sz="2400" dirty="0"/>
              <a:t>Unit tests are performed to prove that a piece of code does what the developer thinks it should do.</a:t>
            </a:r>
          </a:p>
          <a:p>
            <a:pPr lvl="0">
              <a:defRPr sz="1800"/>
            </a:pPr>
            <a:r>
              <a:rPr sz="2400" dirty="0"/>
              <a:t>The question remains open as to whether that's the right thing to do according to the customer or end-user: </a:t>
            </a:r>
          </a:p>
          <a:p>
            <a:pPr lvl="1">
              <a:defRPr sz="1800"/>
            </a:pPr>
            <a:r>
              <a:rPr sz="2400" dirty="0"/>
              <a:t>that is acceptance testing</a:t>
            </a:r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11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330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does Unit Testing Accomplish ?</a:t>
            </a:r>
          </a:p>
        </p:txBody>
      </p:sp>
      <p:sp>
        <p:nvSpPr>
          <p:cNvPr id="161" name="Shape 16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Does the </a:t>
            </a:r>
            <a:r>
              <a:rPr sz="2400" b="1" i="1" dirty="0">
                <a:solidFill>
                  <a:srgbClr val="FF0000"/>
                </a:solidFill>
              </a:rPr>
              <a:t>code</a:t>
            </a:r>
            <a:r>
              <a:rPr sz="2400" i="1" dirty="0">
                <a:solidFill>
                  <a:srgbClr val="FF0000"/>
                </a:solidFill>
              </a:rPr>
              <a:t> do what was expected?</a:t>
            </a: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i.e. </a:t>
            </a:r>
            <a:r>
              <a:rPr lang="en-IE" sz="2400" dirty="0" err="1"/>
              <a:t>i</a:t>
            </a:r>
            <a:r>
              <a:rPr sz="2400" dirty="0"/>
              <a:t>s the code fulfilling the intent of the developer?</a:t>
            </a:r>
          </a:p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Does the </a:t>
            </a:r>
            <a:r>
              <a:rPr sz="2400" b="1" i="1" dirty="0">
                <a:solidFill>
                  <a:srgbClr val="FF0000"/>
                </a:solidFill>
              </a:rPr>
              <a:t>code</a:t>
            </a:r>
            <a:r>
              <a:rPr sz="2400" i="1" dirty="0">
                <a:solidFill>
                  <a:srgbClr val="FF0000"/>
                </a:solidFill>
              </a:rPr>
              <a:t> do what was expected all the time</a:t>
            </a:r>
            <a:r>
              <a:rPr sz="2400" dirty="0">
                <a:solidFill>
                  <a:srgbClr val="FF0000"/>
                </a:solidFill>
              </a:rPr>
              <a:t>?</a:t>
            </a: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exceptions get thrown, disks get full, network lines drop, buffers overflow - is the code still perform</a:t>
            </a:r>
            <a:r>
              <a:rPr lang="en-IE" sz="2400" dirty="0" err="1"/>
              <a:t>ing</a:t>
            </a:r>
            <a:r>
              <a:rPr sz="2400" dirty="0"/>
              <a:t> as expected?</a:t>
            </a:r>
          </a:p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Can the </a:t>
            </a:r>
            <a:r>
              <a:rPr sz="2400" b="1" i="1" dirty="0">
                <a:solidFill>
                  <a:srgbClr val="FF0000"/>
                </a:solidFill>
              </a:rPr>
              <a:t>code </a:t>
            </a:r>
            <a:r>
              <a:rPr sz="2400" i="1" dirty="0">
                <a:solidFill>
                  <a:srgbClr val="FF0000"/>
                </a:solidFill>
              </a:rPr>
              <a:t>be depended upon?</a:t>
            </a:r>
            <a:endParaRPr sz="2400" dirty="0">
              <a:solidFill>
                <a:srgbClr val="FF0000"/>
              </a:solidFill>
            </a:endParaRP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Need to know for certain both its strengths and its limitations.</a:t>
            </a:r>
          </a:p>
        </p:txBody>
      </p:sp>
      <p:sp>
        <p:nvSpPr>
          <p:cNvPr id="162" name="Shape 16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12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7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How is Unit Testing </a:t>
            </a:r>
            <a:r>
              <a:rPr lang="en-IE" sz="3000" dirty="0"/>
              <a:t>c</a:t>
            </a:r>
            <a:r>
              <a:rPr sz="3000" dirty="0" err="1"/>
              <a:t>arried</a:t>
            </a:r>
            <a:r>
              <a:rPr sz="3000" dirty="0"/>
              <a:t> </a:t>
            </a:r>
            <a:r>
              <a:rPr lang="en-IE" sz="3000" dirty="0" err="1"/>
              <a:t>ou</a:t>
            </a:r>
            <a:r>
              <a:rPr sz="3000" dirty="0"/>
              <a:t>t?</a:t>
            </a:r>
          </a:p>
        </p:txBody>
      </p:sp>
      <p:sp>
        <p:nvSpPr>
          <p:cNvPr id="169" name="Shape 16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/>
            </a:pPr>
            <a:r>
              <a:rPr sz="2400" b="1" dirty="0"/>
              <a:t>Step 1</a:t>
            </a:r>
            <a:r>
              <a:rPr sz="2400" dirty="0"/>
              <a:t>: Decide how to test the method in question before writing the code itself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b="1" dirty="0"/>
          </a:p>
          <a:p>
            <a:pPr lvl="0">
              <a:defRPr sz="1800"/>
            </a:pPr>
            <a:r>
              <a:rPr sz="2400" b="1" dirty="0"/>
              <a:t>Step 2</a:t>
            </a:r>
            <a:r>
              <a:rPr sz="2400" dirty="0"/>
              <a:t>: Write the test code itself, either before or concurrently with the implementation code.</a:t>
            </a:r>
          </a:p>
          <a:p>
            <a:pPr lvl="0">
              <a:defRPr sz="1800"/>
            </a:pPr>
            <a:endParaRPr lang="en-IE" sz="2400" b="1" dirty="0"/>
          </a:p>
          <a:p>
            <a:pPr lvl="0">
              <a:defRPr sz="1800"/>
            </a:pPr>
            <a:r>
              <a:rPr sz="2400" b="1" dirty="0"/>
              <a:t>Step 3</a:t>
            </a:r>
            <a:r>
              <a:rPr sz="2400" dirty="0"/>
              <a:t>: Run the test itself, and probably all the other tests in that part of the system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400" i="1" dirty="0"/>
              <a:t>Key Feature of executing tests: need to be able to determine at a glance whether all tests are succeeding/failing</a:t>
            </a:r>
            <a:r>
              <a:rPr lang="en-IE" sz="2400" i="1" dirty="0"/>
              <a:t>.</a:t>
            </a:r>
            <a:endParaRPr sz="2400" i="1" dirty="0"/>
          </a:p>
        </p:txBody>
      </p:sp>
      <p:sp>
        <p:nvSpPr>
          <p:cNvPr id="170" name="Shape 17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13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966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14400" y="46482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358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JUnit is a unit testing framework for the Java programming language. </a:t>
            </a:r>
          </a:p>
          <a:p>
            <a:endParaRPr lang="en-IE" dirty="0"/>
          </a:p>
          <a:p>
            <a:r>
              <a:rPr lang="en-IE" dirty="0"/>
              <a:t>JUnit has been important in the development of test-driven development, and is one of a family of unit testing frameworks collectively known as </a:t>
            </a:r>
            <a:r>
              <a:rPr lang="en-IE" dirty="0" err="1"/>
              <a:t>xUnit</a:t>
            </a:r>
            <a:r>
              <a:rPr lang="en-IE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6514011"/>
            <a:ext cx="5724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http://www.tutorialspoint.com/junit/junit_overview.htm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149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JUnit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Open source framework used for writing &amp; running tests.</a:t>
            </a:r>
          </a:p>
          <a:p>
            <a:r>
              <a:rPr lang="en-IE" dirty="0"/>
              <a:t>Provides </a:t>
            </a:r>
            <a:r>
              <a:rPr lang="en-IE" i="1" dirty="0">
                <a:solidFill>
                  <a:srgbClr val="FF0000"/>
                </a:solidFill>
              </a:rPr>
              <a:t>Annotations</a:t>
            </a:r>
            <a:r>
              <a:rPr lang="en-IE" dirty="0"/>
              <a:t> to identify the test methods.</a:t>
            </a:r>
          </a:p>
          <a:p>
            <a:r>
              <a:rPr lang="en-IE" dirty="0"/>
              <a:t>Provides </a:t>
            </a:r>
            <a:r>
              <a:rPr lang="en-IE" i="1" dirty="0">
                <a:solidFill>
                  <a:srgbClr val="FF0000"/>
                </a:solidFill>
              </a:rPr>
              <a:t>Assertions </a:t>
            </a:r>
            <a:r>
              <a:rPr lang="en-IE" dirty="0"/>
              <a:t>for testing expected results.</a:t>
            </a:r>
          </a:p>
          <a:p>
            <a:r>
              <a:rPr lang="en-IE" dirty="0"/>
              <a:t>Provides Test runners for running tests.</a:t>
            </a:r>
          </a:p>
          <a:p>
            <a:r>
              <a:rPr lang="en-IE" dirty="0"/>
              <a:t>JUnit tests can be run automatically and they check their own results and provide immediate feedback. There's no need to manually comb through a report of test results.</a:t>
            </a:r>
          </a:p>
          <a:p>
            <a:r>
              <a:rPr lang="en-IE" dirty="0"/>
              <a:t>Junit shows test progress in a bar that is green if test is going fine and it turns red when a test fails.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6514011"/>
            <a:ext cx="5724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http://www.tutorialspoint.com/junit/junit_overview.htm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599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17</a:t>
            </a:fld>
            <a:endParaRPr sz="1000"/>
          </a:p>
        </p:txBody>
      </p:sp>
      <p:sp>
        <p:nvSpPr>
          <p:cNvPr id="112" name="Shape 112"/>
          <p:cNvSpPr>
            <a:spLocks noGrp="1"/>
          </p:cNvSpPr>
          <p:nvPr>
            <p:ph idx="4294967295"/>
          </p:nvPr>
        </p:nvSpPr>
        <p:spPr>
          <a:xfrm>
            <a:off x="914400" y="1166018"/>
            <a:ext cx="9906000" cy="48537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800" i="1" dirty="0"/>
              <a:t>“Good programmers write code, great programmers write tests”</a:t>
            </a:r>
          </a:p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800" i="1" dirty="0"/>
              <a:t>“Never, in the field of programming, have so many owed so much to so few”</a:t>
            </a:r>
          </a:p>
          <a:p>
            <a:pPr marL="0" indent="0" algn="r">
              <a:buNone/>
              <a:defRPr sz="1800"/>
            </a:pPr>
            <a:r>
              <a:rPr sz="2400" i="1" dirty="0"/>
              <a:t>- Martin Fowler on the developers behind JU</a:t>
            </a:r>
            <a:r>
              <a:rPr lang="en-IE" sz="2400" i="1" dirty="0" err="1"/>
              <a:t>ni</a:t>
            </a:r>
            <a:r>
              <a:rPr sz="2400" i="1" dirty="0"/>
              <a:t>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441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0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622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5251</TotalTime>
  <Words>904</Words>
  <Application>Microsoft Macintosh PowerPoint</Application>
  <PresentationFormat>Widescreen</PresentationFormat>
  <Paragraphs>134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Gill Sans</vt:lpstr>
      <vt:lpstr>Helvetica Neue UltraLight</vt:lpstr>
      <vt:lpstr>Office Theme</vt:lpstr>
      <vt:lpstr>Test Driven Development</vt:lpstr>
      <vt:lpstr>Topic List </vt:lpstr>
      <vt:lpstr>Types of Software Testing</vt:lpstr>
      <vt:lpstr>Types of Software Testing contd.</vt:lpstr>
      <vt:lpstr>Topic List </vt:lpstr>
      <vt:lpstr>Test Driven Development</vt:lpstr>
      <vt:lpstr>Why bother with Test Driven Development?</vt:lpstr>
      <vt:lpstr>Test-driven development.</vt:lpstr>
      <vt:lpstr>Topic List </vt:lpstr>
      <vt:lpstr>What is Unit Testing?</vt:lpstr>
      <vt:lpstr>What is Unit Testing?</vt:lpstr>
      <vt:lpstr>What does Unit Testing Accomplish ?</vt:lpstr>
      <vt:lpstr>How is Unit Testing carried out?</vt:lpstr>
      <vt:lpstr>Topic List </vt:lpstr>
      <vt:lpstr>JUnit</vt:lpstr>
      <vt:lpstr>JUnit Features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Microsoft Office User</cp:lastModifiedBy>
  <cp:revision>134</cp:revision>
  <dcterms:created xsi:type="dcterms:W3CDTF">2006-08-16T00:00:00Z</dcterms:created>
  <dcterms:modified xsi:type="dcterms:W3CDTF">2025-02-28T10:38:48Z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