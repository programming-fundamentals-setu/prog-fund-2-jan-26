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540" r:id="rId3"/>
    <p:sldId id="534" r:id="rId4"/>
    <p:sldId id="535" r:id="rId5"/>
    <p:sldId id="538" r:id="rId6"/>
    <p:sldId id="539" r:id="rId7"/>
    <p:sldId id="424" r:id="rId8"/>
    <p:sldId id="425" r:id="rId9"/>
    <p:sldId id="547" r:id="rId10"/>
    <p:sldId id="426" r:id="rId11"/>
    <p:sldId id="427" r:id="rId12"/>
    <p:sldId id="428" r:id="rId13"/>
    <p:sldId id="429" r:id="rId14"/>
    <p:sldId id="545" r:id="rId15"/>
    <p:sldId id="546" r:id="rId16"/>
    <p:sldId id="430" r:id="rId17"/>
    <p:sldId id="431" r:id="rId18"/>
    <p:sldId id="432" r:id="rId19"/>
    <p:sldId id="433" r:id="rId20"/>
    <p:sldId id="543" r:id="rId21"/>
    <p:sldId id="542" r:id="rId22"/>
    <p:sldId id="392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70" autoAdjust="0"/>
    <p:restoredTop sz="94422"/>
  </p:normalViewPr>
  <p:slideViewPr>
    <p:cSldViewPr>
      <p:cViewPr varScale="1">
        <p:scale>
          <a:sx n="65" d="100"/>
          <a:sy n="65" d="100"/>
        </p:scale>
        <p:origin x="592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23/02/2024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JUnit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066800" y="3124200"/>
            <a:ext cx="10058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Eamonn de </a:t>
            </a:r>
            <a:r>
              <a:rPr lang="en-IE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Leastar</a:t>
            </a:r>
            <a:endParaRPr lang="en-IE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Four Phase Test and Test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9C4B5D-5DCD-5530-23F5-9A1897D1965D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0E196267-1545-8AB8-4C34-BE186D9267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16"/>
    </mc:Choice>
    <mc:Fallback xmlns="">
      <p:transition spd="slow" advTm="147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Four Phase Test.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Planning a more complicated Test Case.</a:t>
            </a:r>
          </a:p>
          <a:p>
            <a:pPr lvl="1"/>
            <a:endParaRPr lang="en-IE" dirty="0"/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838200" y="2133600"/>
            <a:ext cx="6324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04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Four Phase Test</a:t>
            </a:r>
          </a:p>
        </p:txBody>
      </p:sp>
      <p:sp>
        <p:nvSpPr>
          <p:cNvPr id="265" name="Shape 265"/>
          <p:cNvSpPr>
            <a:spLocks noGrp="1"/>
          </p:cNvSpPr>
          <p:nvPr>
            <p:ph idx="1"/>
          </p:nvPr>
        </p:nvSpPr>
        <p:spPr>
          <a:xfrm>
            <a:off x="609600" y="1600201"/>
            <a:ext cx="11125200" cy="2209799"/>
          </a:xfrm>
          <a:prstGeom prst="rect">
            <a:avLst/>
          </a:prstGeom>
          <a:ln>
            <a:noFill/>
          </a:ln>
        </p:spPr>
        <p:txBody>
          <a:bodyPr>
            <a:noAutofit/>
          </a:bodyPr>
          <a:lstStyle/>
          <a:p>
            <a:r>
              <a:rPr sz="2800" dirty="0"/>
              <a:t>How do we structure our test logic to make what we are testing obvious?</a:t>
            </a:r>
            <a:endParaRPr lang="en-IE" sz="2800" dirty="0"/>
          </a:p>
          <a:p>
            <a:endParaRPr sz="2800" dirty="0"/>
          </a:p>
          <a:p>
            <a:r>
              <a:rPr sz="2800" dirty="0"/>
              <a:t>We structure each test with four distinct </a:t>
            </a:r>
            <a:r>
              <a:rPr lang="en-IE" sz="2800" u="sng" dirty="0"/>
              <a:t>phases</a:t>
            </a:r>
            <a:r>
              <a:rPr lang="en-IE" sz="2800" dirty="0"/>
              <a:t> </a:t>
            </a:r>
            <a:r>
              <a:rPr sz="2800" dirty="0"/>
              <a:t>executed in sequence.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017988"/>
              </p:ext>
            </p:extLst>
          </p:nvPr>
        </p:nvGraphicFramePr>
        <p:xfrm>
          <a:off x="4724400" y="3806142"/>
          <a:ext cx="22860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Setup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Exercise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Verify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E" sz="2800" dirty="0"/>
                        <a:t>Teardown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4642026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26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IE" dirty="0"/>
              <a:t>How it works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12324"/>
              </p:ext>
            </p:extLst>
          </p:nvPr>
        </p:nvGraphicFramePr>
        <p:xfrm>
          <a:off x="609600" y="2057400"/>
          <a:ext cx="10972800" cy="3291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3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2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E" sz="2400" b="0" dirty="0"/>
                        <a:t>Setup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b="0" dirty="0"/>
                        <a:t>We set up the test fixture (the “before” picture) so that we are in a position</a:t>
                      </a:r>
                      <a:r>
                        <a:rPr lang="en-IE" sz="2400" b="0" baseline="0" dirty="0"/>
                        <a:t> to exercise the tests</a:t>
                      </a:r>
                      <a:r>
                        <a:rPr lang="en-IE" sz="2400" b="0" dirty="0"/>
                        <a:t>. This could be objects</a:t>
                      </a:r>
                      <a:r>
                        <a:rPr lang="en-IE" sz="2400" b="0" baseline="0" dirty="0"/>
                        <a:t> that we need to create, values we need to set, other methods we need to call, etc.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Exercise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interact with the system we are testing.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Verify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do whatever is necessary to determine whether the expected outcome has been obtained.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E" sz="2400" dirty="0"/>
                        <a:t>Teardown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400" dirty="0"/>
                        <a:t>We tear down the test fixture to put the world back into the state in which we found it.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999544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C1CC728-B720-4EE2-876E-F1BC132F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1" y="246757"/>
            <a:ext cx="7157729" cy="60016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DVDTest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n-US" sz="12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BeforeEach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Hobbit(Director)"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20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Steve Jobs Film"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19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"Avatar: Directors Cut"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21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n-US" sz="12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AfterEach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tearDown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setTitle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Hobbit(Director)"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Steve Jobs Film"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2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"Avatar: Directors"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.getTitle());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testToString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1" y="1336358"/>
            <a:ext cx="1605459" cy="4924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2237" y="4495801"/>
            <a:ext cx="1605458" cy="4924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7142" y="3420034"/>
            <a:ext cx="1605458" cy="4924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Exercise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300543" y="3937208"/>
            <a:ext cx="269329" cy="48239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09396" y="2514601"/>
            <a:ext cx="1591005" cy="492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Teardown</a:t>
            </a:r>
          </a:p>
        </p:txBody>
      </p:sp>
      <p:sp>
        <p:nvSpPr>
          <p:cNvPr id="3" name="Left Brace 2"/>
          <p:cNvSpPr/>
          <p:nvPr/>
        </p:nvSpPr>
        <p:spPr>
          <a:xfrm>
            <a:off x="3247696" y="4419602"/>
            <a:ext cx="1057605" cy="609599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9" name="Left Brace 18"/>
          <p:cNvSpPr/>
          <p:nvPr/>
        </p:nvSpPr>
        <p:spPr>
          <a:xfrm>
            <a:off x="3233242" y="1066800"/>
            <a:ext cx="952500" cy="1275923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2" name="Left Brace 21"/>
          <p:cNvSpPr/>
          <p:nvPr/>
        </p:nvSpPr>
        <p:spPr>
          <a:xfrm>
            <a:off x="3352800" y="2362200"/>
            <a:ext cx="780390" cy="838200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64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IE" dirty="0"/>
          </a:p>
          <a:p>
            <a:pPr lvl="1"/>
            <a:r>
              <a:rPr lang="en-IE" dirty="0"/>
              <a:t>Four Phase Test.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Planning a more complicated Test Case.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3162300"/>
            <a:ext cx="63246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170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Planning </a:t>
            </a:r>
            <a:r>
              <a:rPr lang="en-IE" sz="3000" dirty="0"/>
              <a:t>JUnit </a:t>
            </a:r>
            <a:r>
              <a:rPr sz="3000" dirty="0"/>
              <a:t>Tests</a:t>
            </a:r>
          </a:p>
        </p:txBody>
      </p:sp>
      <p:sp>
        <p:nvSpPr>
          <p:cNvPr id="116" name="Shape 116"/>
          <p:cNvSpPr>
            <a:spLocks noGrp="1"/>
          </p:cNvSpPr>
          <p:nvPr>
            <p:ph idx="1"/>
          </p:nvPr>
        </p:nvSpPr>
        <p:spPr>
          <a:xfrm>
            <a:off x="609600" y="1600201"/>
            <a:ext cx="9753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633"/>
              </a:spcBef>
              <a:defRPr sz="1800"/>
            </a:pPr>
            <a:r>
              <a:rPr sz="2400" b="1" dirty="0"/>
              <a:t>Method to test: </a:t>
            </a:r>
            <a:r>
              <a:rPr sz="2400" dirty="0"/>
              <a:t>A static method designed to </a:t>
            </a:r>
            <a:r>
              <a:rPr lang="en-IE" sz="2400" dirty="0"/>
              <a:t>return</a:t>
            </a:r>
            <a:r>
              <a:rPr sz="2400" dirty="0"/>
              <a:t> the largest </a:t>
            </a:r>
            <a:r>
              <a:rPr lang="en-IE" sz="2400" dirty="0"/>
              <a:t>number</a:t>
            </a:r>
            <a:r>
              <a:rPr sz="2400" dirty="0"/>
              <a:t> in a </a:t>
            </a:r>
            <a:r>
              <a:rPr lang="en-IE" sz="2400" dirty="0"/>
              <a:t>primitive array</a:t>
            </a:r>
            <a:r>
              <a:rPr sz="2400" dirty="0"/>
              <a:t> of </a:t>
            </a:r>
            <a:r>
              <a:rPr lang="en-IE" sz="2400" dirty="0" err="1"/>
              <a:t>int</a:t>
            </a:r>
            <a:r>
              <a:rPr sz="2400" dirty="0"/>
              <a:t>.</a:t>
            </a:r>
            <a:endParaRPr lang="en-IE" sz="2400" dirty="0"/>
          </a:p>
          <a:p>
            <a:pPr marL="0" indent="0">
              <a:spcBef>
                <a:spcPts val="633"/>
              </a:spcBef>
              <a:buNone/>
              <a:defRPr sz="1800"/>
            </a:pPr>
            <a:endParaRPr sz="1800" dirty="0"/>
          </a:p>
          <a:p>
            <a:pPr>
              <a:spcBef>
                <a:spcPts val="633"/>
              </a:spcBef>
              <a:defRPr sz="1800"/>
            </a:pPr>
            <a:r>
              <a:rPr lang="en-IE" sz="2400" b="1" dirty="0"/>
              <a:t>Suggested tests: </a:t>
            </a:r>
            <a:r>
              <a:rPr sz="2400" dirty="0"/>
              <a:t>The following tests would seem to make sense:</a:t>
            </a:r>
            <a:endParaRPr lang="en-IE" sz="2400" dirty="0"/>
          </a:p>
          <a:p>
            <a:pPr>
              <a:spcBef>
                <a:spcPts val="633"/>
              </a:spcBef>
              <a:defRPr sz="1800"/>
            </a:pPr>
            <a:endParaRPr sz="2000" dirty="0"/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</a:p>
          <a:p>
            <a:pPr lvl="3">
              <a:spcBef>
                <a:spcPts val="633"/>
              </a:spcBef>
              <a:buFont typeface="Wingdings" panose="05000000000000000000" pitchFamily="2" charset="2"/>
              <a:buChar char="v"/>
              <a:defRPr sz="1800"/>
            </a:pPr>
            <a:endParaRPr b="1" dirty="0">
              <a:solidFill>
                <a:schemeClr val="accent2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rgbClr val="00B050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endParaRPr b="1" dirty="0">
              <a:solidFill>
                <a:schemeClr val="accent2"/>
              </a:solidFill>
            </a:endParaRPr>
          </a:p>
          <a:p>
            <a:pPr marL="1371600" lvl="3" indent="0">
              <a:spcBef>
                <a:spcPts val="633"/>
              </a:spcBef>
              <a:buNone/>
              <a:defRPr sz="1800"/>
            </a:pPr>
            <a:r>
              <a:rPr b="1" dirty="0">
                <a:solidFill>
                  <a:schemeClr val="accent2"/>
                </a:solidFill>
              </a:rPr>
              <a:t>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b="1" dirty="0">
                <a:solidFill>
                  <a:srgbClr val="00B050"/>
                </a:solidFill>
              </a:rPr>
              <a:t>9</a:t>
            </a:r>
            <a:endParaRPr lang="en-IE" sz="1800" b="1" dirty="0">
              <a:solidFill>
                <a:srgbClr val="00B050"/>
              </a:solidFill>
            </a:endParaRPr>
          </a:p>
          <a:p>
            <a:pPr marL="114300" indent="0">
              <a:spcBef>
                <a:spcPts val="633"/>
              </a:spcBef>
              <a:buNone/>
              <a:defRPr sz="1800"/>
            </a:pPr>
            <a:endParaRPr lang="en-IE" b="1" dirty="0">
              <a:solidFill>
                <a:srgbClr val="00B050"/>
              </a:solidFill>
            </a:endParaRPr>
          </a:p>
          <a:p>
            <a:pPr marL="114300" indent="0"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rgbClr val="00B050"/>
                </a:solidFill>
              </a:rPr>
              <a:t>	</a:t>
            </a:r>
            <a:r>
              <a:rPr lang="en-IE" sz="2000" dirty="0">
                <a:solidFill>
                  <a:schemeClr val="accent2"/>
                </a:solidFill>
              </a:rPr>
              <a:t>[</a:t>
            </a:r>
            <a:r>
              <a:rPr sz="2000" dirty="0">
                <a:solidFill>
                  <a:schemeClr val="accent2"/>
                </a:solidFill>
              </a:rPr>
              <a:t>supplied test data</a:t>
            </a:r>
            <a:r>
              <a:rPr lang="en-IE" sz="2000" dirty="0">
                <a:solidFill>
                  <a:schemeClr val="accent2"/>
                </a:solidFill>
              </a:rPr>
              <a:t>]</a:t>
            </a:r>
            <a:r>
              <a:rPr sz="2000" dirty="0">
                <a:solidFill>
                  <a:schemeClr val="accent2"/>
                </a:solidFill>
              </a:rPr>
              <a:t>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sz="2000" dirty="0">
                <a:solidFill>
                  <a:srgbClr val="00B050"/>
                </a:solidFill>
              </a:rPr>
              <a:t>expected result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5723144" y="3721894"/>
            <a:ext cx="4030456" cy="1231106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</a:t>
            </a:r>
            <a:r>
              <a:rPr sz="2000" dirty="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public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sz="2000" dirty="0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static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largest (</a:t>
            </a:r>
            <a:r>
              <a:rPr sz="2000" dirty="0" err="1">
                <a:solidFill>
                  <a:srgbClr val="931A68"/>
                </a:solidFill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</a:t>
            </a:r>
            <a:r>
              <a:rPr lang="en-GB" sz="2000" dirty="0">
                <a:latin typeface="Monaco"/>
                <a:ea typeface="Monaco"/>
                <a:cs typeface="Monaco"/>
                <a:sym typeface="Monaco"/>
              </a:rPr>
              <a:t>  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...</a:t>
            </a:r>
          </a:p>
          <a:p>
            <a:pPr defTabSz="410751"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93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More Test Data</a:t>
            </a:r>
          </a:p>
        </p:txBody>
      </p:sp>
      <p:sp>
        <p:nvSpPr>
          <p:cNvPr id="6" name="Shape 121">
            <a:extLst>
              <a:ext uri="{FF2B5EF4-FFF2-40B4-BE49-F238E27FC236}">
                <a16:creationId xmlns:a16="http://schemas.microsoft.com/office/drawing/2014/main" id="{D22EE200-7CFC-4F29-A39A-0628042C0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65" y="1699614"/>
            <a:ext cx="9601200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Already </a:t>
            </a:r>
            <a:r>
              <a:rPr lang="en-IE" sz="2000" dirty="0"/>
              <a:t>planned tests </a:t>
            </a:r>
            <a:br>
              <a:rPr lang="en-IE" sz="2000" dirty="0"/>
            </a:br>
            <a:r>
              <a:rPr lang="en-IE" sz="2000" dirty="0"/>
              <a:t>with this </a:t>
            </a:r>
            <a:r>
              <a:rPr sz="2000" dirty="0"/>
              <a:t>data:</a:t>
            </a:r>
            <a:endParaRPr lang="en-IE" sz="2000" dirty="0"/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endParaRPr lang="en-IE" sz="2000" dirty="0"/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What about this </a:t>
            </a:r>
            <a:r>
              <a:rPr lang="en-GB" sz="2000" dirty="0"/>
              <a:t/>
            </a:r>
            <a:br>
              <a:rPr lang="en-GB" sz="2000" dirty="0"/>
            </a:br>
            <a:r>
              <a:rPr sz="2000" dirty="0"/>
              <a:t>set</a:t>
            </a:r>
            <a:r>
              <a:rPr lang="en-IE" sz="2000" dirty="0"/>
              <a:t> of values</a:t>
            </a:r>
            <a:r>
              <a:rPr sz="2000" dirty="0"/>
              <a:t>:</a:t>
            </a:r>
            <a:endParaRPr lang="en-IE" sz="2000" dirty="0"/>
          </a:p>
          <a:p>
            <a:pPr marL="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b="1" dirty="0">
                <a:solidFill>
                  <a:schemeClr val="accent2"/>
                </a:solidFill>
              </a:rPr>
              <a:t>	</a:t>
            </a:r>
            <a:r>
              <a:rPr sz="2000" b="1" dirty="0">
                <a:solidFill>
                  <a:schemeClr val="accent2"/>
                </a:solidFill>
              </a:rPr>
              <a:t>[7, 9, 8, 9]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9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[1]</a:t>
            </a:r>
            <a:r>
              <a:rPr sz="2000" dirty="0"/>
              <a:t>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1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[-9, -8, -7] </a:t>
            </a:r>
            <a:r>
              <a:rPr lang="en-IE" sz="2000" b="1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-7</a:t>
            </a:r>
            <a:endParaRPr lang="en-IE" sz="2000" b="1" dirty="0">
              <a:solidFill>
                <a:srgbClr val="00B050"/>
              </a:solidFill>
            </a:endParaRP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endParaRPr lang="en-IE" sz="2000" b="1" dirty="0">
              <a:solidFill>
                <a:srgbClr val="00B050"/>
              </a:solidFill>
            </a:endParaRPr>
          </a:p>
          <a:p>
            <a:pPr marL="114300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dirty="0">
                <a:solidFill>
                  <a:schemeClr val="accent2"/>
                </a:solidFill>
              </a:rPr>
              <a:t>[supplied test data]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lang="en-IE" sz="2000" dirty="0">
                <a:solidFill>
                  <a:srgbClr val="00B050"/>
                </a:solidFill>
              </a:rPr>
              <a:t>expected result</a:t>
            </a:r>
            <a:endParaRPr sz="2000" b="1" dirty="0">
              <a:solidFill>
                <a:srgbClr val="00B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070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More Test Data</a:t>
            </a:r>
          </a:p>
        </p:txBody>
      </p:sp>
      <p:sp>
        <p:nvSpPr>
          <p:cNvPr id="121" name="Shape 121"/>
          <p:cNvSpPr>
            <a:spLocks noGrp="1"/>
          </p:cNvSpPr>
          <p:nvPr>
            <p:ph idx="1"/>
          </p:nvPr>
        </p:nvSpPr>
        <p:spPr>
          <a:xfrm>
            <a:off x="610565" y="1699614"/>
            <a:ext cx="9601200" cy="4876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Already </a:t>
            </a:r>
            <a:r>
              <a:rPr lang="en-IE" sz="2000" dirty="0"/>
              <a:t>planned tests </a:t>
            </a:r>
            <a:br>
              <a:rPr lang="en-IE" sz="2000" dirty="0"/>
            </a:br>
            <a:r>
              <a:rPr lang="en-IE" sz="2000" dirty="0"/>
              <a:t>with this </a:t>
            </a:r>
            <a:r>
              <a:rPr sz="2000" dirty="0"/>
              <a:t>data:</a:t>
            </a:r>
            <a:endParaRPr lang="en-IE" sz="2000" dirty="0"/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[7, 8, 9]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[8, 9, 7]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  <a:endParaRPr lang="en-IE" b="1" dirty="0">
              <a:solidFill>
                <a:schemeClr val="accent2"/>
              </a:solidFill>
            </a:endParaRPr>
          </a:p>
          <a:p>
            <a:pPr marL="457200" lvl="3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b="1" dirty="0">
                <a:solidFill>
                  <a:schemeClr val="accent2"/>
                </a:solidFill>
              </a:rPr>
              <a:t>	[9, 7, 8] </a:t>
            </a:r>
            <a:r>
              <a:rPr lang="en-IE" b="1" dirty="0">
                <a:sym typeface="Wingdings" panose="05000000000000000000" pitchFamily="2" charset="2"/>
              </a:rPr>
              <a:t></a:t>
            </a:r>
            <a:r>
              <a:rPr lang="en-IE" b="1" dirty="0">
                <a:solidFill>
                  <a:schemeClr val="accent2"/>
                </a:solidFill>
                <a:sym typeface="Wingdings" panose="05000000000000000000" pitchFamily="2" charset="2"/>
              </a:rPr>
              <a:t> </a:t>
            </a:r>
            <a:r>
              <a:rPr lang="en-IE" b="1" dirty="0">
                <a:solidFill>
                  <a:srgbClr val="00B050"/>
                </a:solidFill>
              </a:rPr>
              <a:t>9</a:t>
            </a:r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endParaRPr lang="en-IE" sz="2000" dirty="0"/>
          </a:p>
          <a:p>
            <a:pPr marL="285750" lvl="2" indent="-285750">
              <a:lnSpc>
                <a:spcPct val="90000"/>
              </a:lnSpc>
              <a:spcBef>
                <a:spcPts val="633"/>
              </a:spcBef>
              <a:defRPr sz="1800"/>
            </a:pPr>
            <a:r>
              <a:rPr sz="2000" dirty="0"/>
              <a:t>What about this </a:t>
            </a:r>
            <a:r>
              <a:rPr lang="en-GB" sz="2000" dirty="0"/>
              <a:t/>
            </a:r>
            <a:br>
              <a:rPr lang="en-GB" sz="2000" dirty="0"/>
            </a:br>
            <a:r>
              <a:rPr sz="2000" dirty="0"/>
              <a:t>set</a:t>
            </a:r>
            <a:r>
              <a:rPr lang="en-IE" sz="2000" dirty="0"/>
              <a:t> of values</a:t>
            </a:r>
            <a:r>
              <a:rPr sz="2000" dirty="0"/>
              <a:t>:</a:t>
            </a:r>
            <a:endParaRPr lang="en-IE" sz="2000" dirty="0"/>
          </a:p>
          <a:p>
            <a:pPr marL="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b="1" dirty="0">
                <a:solidFill>
                  <a:schemeClr val="accent2"/>
                </a:solidFill>
              </a:rPr>
              <a:t>	</a:t>
            </a:r>
            <a:r>
              <a:rPr sz="2000" b="1" dirty="0">
                <a:solidFill>
                  <a:schemeClr val="accent2"/>
                </a:solidFill>
              </a:rPr>
              <a:t>[7, 9, 8, 9]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9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[1]</a:t>
            </a:r>
            <a:r>
              <a:rPr sz="2000" dirty="0"/>
              <a:t> </a:t>
            </a:r>
            <a:r>
              <a:rPr lang="en-I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1</a:t>
            </a: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sz="2000" b="1" dirty="0">
                <a:solidFill>
                  <a:schemeClr val="accent2"/>
                </a:solidFill>
              </a:rPr>
              <a:t>[-9, -8, -7] </a:t>
            </a:r>
            <a:r>
              <a:rPr lang="en-IE" sz="2000" b="1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b="1" dirty="0">
                <a:solidFill>
                  <a:srgbClr val="00B050"/>
                </a:solidFill>
              </a:rPr>
              <a:t>-7</a:t>
            </a:r>
            <a:endParaRPr lang="en-IE" sz="2000" b="1" dirty="0">
              <a:solidFill>
                <a:srgbClr val="00B050"/>
              </a:solidFill>
            </a:endParaRPr>
          </a:p>
          <a:p>
            <a:pPr marL="914400" lvl="2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endParaRPr lang="en-IE" sz="2000" b="1" dirty="0">
              <a:solidFill>
                <a:srgbClr val="00B050"/>
              </a:solidFill>
            </a:endParaRPr>
          </a:p>
          <a:p>
            <a:pPr marL="114300" indent="0">
              <a:lnSpc>
                <a:spcPct val="90000"/>
              </a:lnSpc>
              <a:spcBef>
                <a:spcPts val="633"/>
              </a:spcBef>
              <a:buNone/>
              <a:defRPr sz="1800"/>
            </a:pPr>
            <a:r>
              <a:rPr lang="en-IE" sz="2000" dirty="0">
                <a:solidFill>
                  <a:schemeClr val="accent2"/>
                </a:solidFill>
              </a:rPr>
              <a:t>[supplied test data] </a:t>
            </a:r>
            <a:r>
              <a:rPr lang="en-IE" sz="2000" dirty="0">
                <a:sym typeface="Wingdings" panose="05000000000000000000" pitchFamily="2" charset="2"/>
              </a:rPr>
              <a:t> </a:t>
            </a:r>
            <a:r>
              <a:rPr lang="en-IE" sz="2000" dirty="0">
                <a:solidFill>
                  <a:srgbClr val="00B050"/>
                </a:solidFill>
              </a:rPr>
              <a:t>expected result</a:t>
            </a:r>
            <a:endParaRPr sz="2000" b="1" dirty="0">
              <a:solidFill>
                <a:srgbClr val="00B050"/>
              </a:solidFill>
            </a:endParaRPr>
          </a:p>
        </p:txBody>
      </p:sp>
      <p:sp>
        <p:nvSpPr>
          <p:cNvPr id="4" name="Shape 123">
            <a:extLst>
              <a:ext uri="{FF2B5EF4-FFF2-40B4-BE49-F238E27FC236}">
                <a16:creationId xmlns:a16="http://schemas.microsoft.com/office/drawing/2014/main" id="{15457E59-586A-40E6-A7E6-690C38247711}"/>
              </a:ext>
            </a:extLst>
          </p:cNvPr>
          <p:cNvSpPr/>
          <p:nvPr/>
        </p:nvSpPr>
        <p:spPr>
          <a:xfrm>
            <a:off x="3886200" y="1066800"/>
            <a:ext cx="7848600" cy="4308872"/>
          </a:xfrm>
          <a:prstGeom prst="rect">
            <a:avLst/>
          </a:prstGeom>
          <a:solidFill>
            <a:schemeClr val="bg1"/>
          </a:solidFill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sz="2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static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largest (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index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 =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Integer.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MAX_VALUE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endParaRPr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for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(index = 0; index &lt;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length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- 1; index++)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if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(list[index] &gt; max)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 = list[index];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</a:p>
          <a:p>
            <a:pPr defTabSz="410751">
              <a:defRPr sz="1800"/>
            </a:pPr>
            <a:r>
              <a:rPr lang="en-IE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return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895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Writing the Test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183060-E33B-45D3-94AB-AF32B8C85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693581"/>
            <a:ext cx="7590539" cy="378565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</a:t>
            </a:r>
            <a:r>
              <a:rPr lang="en-US" altLang="en-US" sz="1600" dirty="0" err="1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static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org.junit.jupiter.api.Assertions.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TestLargest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testOrder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Largest.</a:t>
            </a:r>
            <a:r>
              <a:rPr lang="en-US" altLang="en-US" sz="16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EA5EB4-E730-4A2F-AF81-10F52E4D85E3}"/>
              </a:ext>
            </a:extLst>
          </p:cNvPr>
          <p:cNvSpPr/>
          <p:nvPr/>
        </p:nvSpPr>
        <p:spPr>
          <a:xfrm>
            <a:off x="399241" y="2283756"/>
            <a:ext cx="2951630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400" dirty="0"/>
              <a:t>This is a </a:t>
            </a:r>
            <a:r>
              <a:rPr lang="en-IE" sz="2400" b="1" dirty="0" err="1"/>
              <a:t>TestCase</a:t>
            </a:r>
            <a:r>
              <a:rPr lang="en-IE" sz="2400" dirty="0"/>
              <a:t> called </a:t>
            </a:r>
            <a:r>
              <a:rPr lang="en-IE" sz="2400" b="1" dirty="0" err="1"/>
              <a:t>TestLargest</a:t>
            </a:r>
            <a:endParaRPr lang="en-IE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4CEFC-653B-47C8-9990-7498384408F3}"/>
              </a:ext>
            </a:extLst>
          </p:cNvPr>
          <p:cNvSpPr/>
          <p:nvPr/>
        </p:nvSpPr>
        <p:spPr>
          <a:xfrm>
            <a:off x="1638299" y="3728779"/>
            <a:ext cx="1905000" cy="23083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400" dirty="0"/>
              <a:t>It has one Unit Test - to verify the behaviour of the largest method.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D129AA-68D9-4DF8-ABBD-13B761D85AA2}"/>
              </a:ext>
            </a:extLst>
          </p:cNvPr>
          <p:cNvCxnSpPr>
            <a:cxnSpLocks/>
          </p:cNvCxnSpPr>
          <p:nvPr/>
        </p:nvCxnSpPr>
        <p:spPr>
          <a:xfrm>
            <a:off x="3352800" y="2673562"/>
            <a:ext cx="838200" cy="90783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F77FB662-0AB1-4DA1-97DC-ABE08C0C229B}"/>
              </a:ext>
            </a:extLst>
          </p:cNvPr>
          <p:cNvSpPr/>
          <p:nvPr/>
        </p:nvSpPr>
        <p:spPr>
          <a:xfrm>
            <a:off x="3543299" y="4114799"/>
            <a:ext cx="952501" cy="1777741"/>
          </a:xfrm>
          <a:prstGeom prst="leftBrace">
            <a:avLst>
              <a:gd name="adj1" fmla="val 8333"/>
              <a:gd name="adj2" fmla="val 54557"/>
            </a:avLst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639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Running the Test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4CD231-4DFA-4937-8E40-D5B65CA48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1635822"/>
            <a:ext cx="8534400" cy="225026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C8DC78-4D34-484E-B33C-7A72EFC0C954}"/>
              </a:ext>
            </a:extLst>
          </p:cNvPr>
          <p:cNvSpPr/>
          <p:nvPr/>
        </p:nvSpPr>
        <p:spPr>
          <a:xfrm>
            <a:off x="7429500" y="4097044"/>
            <a:ext cx="29718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ctr">
              <a:defRPr sz="1800"/>
            </a:pPr>
            <a:r>
              <a:rPr lang="en-IE" sz="2800" dirty="0"/>
              <a:t>Why did it return such a huge number instead of our 9?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268133-F270-49B7-81D4-4EB258829345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7543800" y="3343868"/>
            <a:ext cx="1371600" cy="7531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E8202AE-A33D-48D9-96A9-6FC16FACB469}"/>
              </a:ext>
            </a:extLst>
          </p:cNvPr>
          <p:cNvSpPr/>
          <p:nvPr/>
        </p:nvSpPr>
        <p:spPr>
          <a:xfrm>
            <a:off x="3251947" y="6019801"/>
            <a:ext cx="716280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 sz="1800"/>
            </a:pPr>
            <a:r>
              <a:rPr lang="en-IE" sz="2400" dirty="0"/>
              <a:t>Where could that very large number have come from?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7234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Bug</a:t>
            </a:r>
          </a:p>
        </p:txBody>
      </p:sp>
      <p:sp>
        <p:nvSpPr>
          <p:cNvPr id="136" name="Shape 136"/>
          <p:cNvSpPr>
            <a:spLocks noGrp="1"/>
          </p:cNvSpPr>
          <p:nvPr>
            <p:ph idx="1"/>
          </p:nvPr>
        </p:nvSpPr>
        <p:spPr>
          <a:xfrm>
            <a:off x="838200" y="2078001"/>
            <a:ext cx="2362200" cy="1676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  <a:defRPr sz="1800"/>
            </a:pPr>
            <a:r>
              <a:rPr lang="en-IE" sz="2400" dirty="0"/>
              <a:t>We should </a:t>
            </a:r>
            <a:r>
              <a:rPr sz="2400" dirty="0"/>
              <a:t>initialize </a:t>
            </a:r>
            <a:r>
              <a:rPr sz="2400" b="1" dirty="0"/>
              <a:t>max </a:t>
            </a:r>
            <a:r>
              <a:rPr sz="2400" dirty="0"/>
              <a:t>to zero, not MAX_VALUE.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BF81F-8B51-448F-9C8D-54028C5B4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863" y="1023614"/>
            <a:ext cx="7220246" cy="477053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 =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32598-D225-41D8-877D-72BF84026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5353829"/>
            <a:ext cx="7239000" cy="1257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A1477AB-5DFE-44C4-824B-B680CD211FF6}"/>
              </a:ext>
            </a:extLst>
          </p:cNvPr>
          <p:cNvSpPr/>
          <p:nvPr/>
        </p:nvSpPr>
        <p:spPr>
          <a:xfrm>
            <a:off x="3200400" y="2459001"/>
            <a:ext cx="838200" cy="4572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0437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Further Tests</a:t>
            </a:r>
          </a:p>
        </p:txBody>
      </p:sp>
      <p:sp>
        <p:nvSpPr>
          <p:cNvPr id="142" name="Shape 14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2250"/>
              </a:spcBef>
              <a:defRPr sz="1800"/>
            </a:pPr>
            <a:r>
              <a:rPr sz="2400" dirty="0"/>
              <a:t>What happens when the largest number appears in different places in the list - first or last, and somewhere in the middle?</a:t>
            </a:r>
          </a:p>
          <a:p>
            <a:pPr lvl="1">
              <a:spcBef>
                <a:spcPts val="0"/>
              </a:spcBef>
              <a:defRPr sz="1800"/>
            </a:pPr>
            <a:r>
              <a:rPr sz="2400" dirty="0"/>
              <a:t>Bugs most often show up at the “edges”</a:t>
            </a:r>
            <a:r>
              <a:rPr lang="en-IE" sz="2400" dirty="0"/>
              <a:t>.</a:t>
            </a:r>
            <a:endParaRPr sz="2400" dirty="0"/>
          </a:p>
          <a:p>
            <a:pPr lvl="1">
              <a:spcBef>
                <a:spcPts val="0"/>
              </a:spcBef>
              <a:defRPr sz="1800"/>
            </a:pPr>
            <a:r>
              <a:rPr sz="2400" dirty="0"/>
              <a:t>In this case, edges occur when the largest number is at the start or end of the array that we pass in</a:t>
            </a:r>
            <a:r>
              <a:rPr lang="en-IE" sz="2400" dirty="0"/>
              <a:t>.</a:t>
            </a:r>
            <a:endParaRPr sz="2400" dirty="0"/>
          </a:p>
          <a:p>
            <a:pPr>
              <a:spcBef>
                <a:spcPts val="2250"/>
              </a:spcBef>
              <a:defRPr sz="1800"/>
            </a:pPr>
            <a:r>
              <a:rPr sz="2400" dirty="0"/>
              <a:t>Aggregate into a single unit test:</a:t>
            </a:r>
          </a:p>
        </p:txBody>
      </p:sp>
      <p:sp>
        <p:nvSpPr>
          <p:cNvPr id="144" name="Shape 144"/>
          <p:cNvSpPr/>
          <p:nvPr/>
        </p:nvSpPr>
        <p:spPr>
          <a:xfrm>
            <a:off x="1371600" y="4267200"/>
            <a:ext cx="10058400" cy="21544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lang="en-IE"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testOrder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9, 8, 7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8, 9, 7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20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20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2000"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7, 8, 9 }));</a:t>
            </a:r>
          </a:p>
          <a:p>
            <a:pPr defTabSz="410751">
              <a:defRPr sz="1800"/>
            </a:pPr>
            <a:r>
              <a:rPr sz="20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4884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EB2BEE-0728-4ACD-B2DC-50F5FF53C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04800"/>
            <a:ext cx="7380742" cy="6054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7DE774-8F15-45C8-A9DC-0190C7095785}"/>
              </a:ext>
            </a:extLst>
          </p:cNvPr>
          <p:cNvSpPr/>
          <p:nvPr/>
        </p:nvSpPr>
        <p:spPr>
          <a:xfrm>
            <a:off x="9296400" y="5181600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Refactored </a:t>
            </a:r>
            <a:r>
              <a:rPr lang="en-IE" sz="2800" dirty="0" err="1"/>
              <a:t>testOrder</a:t>
            </a:r>
            <a:r>
              <a:rPr lang="en-IE" sz="2800" dirty="0"/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291999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D188AA-5F1E-4654-A52A-EF88CDE84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1" y="152401"/>
            <a:ext cx="8065381" cy="5551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BE28A1-B1FA-472F-B246-978FDDF20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418147"/>
            <a:ext cx="8772723" cy="2227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4BD3D9-B101-4F71-AB71-71E8628F1EA1}"/>
              </a:ext>
            </a:extLst>
          </p:cNvPr>
          <p:cNvSpPr/>
          <p:nvPr/>
        </p:nvSpPr>
        <p:spPr>
          <a:xfrm>
            <a:off x="9806651" y="5018552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 err="1"/>
              <a:t>testOrder</a:t>
            </a:r>
            <a:r>
              <a:rPr lang="en-IE" sz="2800" dirty="0"/>
              <a:t>() failed</a:t>
            </a:r>
          </a:p>
        </p:txBody>
      </p:sp>
    </p:spTree>
    <p:extLst>
      <p:ext uri="{BB962C8B-B14F-4D97-AF65-F5344CB8AC3E}">
        <p14:creationId xmlns:p14="http://schemas.microsoft.com/office/powerpoint/2010/main" val="954565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D07012-7039-43F0-94D4-013DBA9C7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446" y="920621"/>
            <a:ext cx="7467109" cy="50167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 = </a:t>
            </a:r>
            <a:r>
              <a:rPr lang="en-US" altLang="en-US" sz="16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(index = 0; index &lt; </a:t>
            </a:r>
            <a:r>
              <a:rPr lang="en-US" altLang="en-US" sz="1600" b="1" i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list.length</a:t>
            </a:r>
            <a:r>
              <a:rPr lang="en-US" altLang="en-US" sz="16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- 1; index++)</a:t>
            </a: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58764-EFF9-43DE-93EA-30AE61E6F3C1}"/>
              </a:ext>
            </a:extLst>
          </p:cNvPr>
          <p:cNvSpPr/>
          <p:nvPr/>
        </p:nvSpPr>
        <p:spPr>
          <a:xfrm>
            <a:off x="8153400" y="5029200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Code Fix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341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Further Boundary Conditions</a:t>
            </a:r>
          </a:p>
        </p:txBody>
      </p:sp>
      <p:sp>
        <p:nvSpPr>
          <p:cNvPr id="154" name="Shape 154"/>
          <p:cNvSpPr/>
          <p:nvPr/>
        </p:nvSpPr>
        <p:spPr>
          <a:xfrm>
            <a:off x="759106" y="1709678"/>
            <a:ext cx="9372600" cy="2877711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lang="en-IE"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  <a:r>
              <a:rPr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endParaRPr lang="en-IE" sz="17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lang="en-IE"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testDups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GB"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(9,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9, 7, 9, 8 }));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  <a:p>
            <a:pPr defTabSz="410751">
              <a:defRPr sz="1800"/>
            </a:pPr>
            <a:endParaRPr lang="en-IE" sz="17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lang="en-IE" sz="17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@Test</a:t>
            </a:r>
            <a:endParaRPr sz="17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testOne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()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lang="en-GB"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assertEquals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(1, </a:t>
            </a:r>
            <a:r>
              <a:rPr sz="17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Largest.largest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new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sz="1700"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{ 1 }));</a:t>
            </a:r>
          </a:p>
          <a:p>
            <a:pPr defTabSz="410751">
              <a:defRPr sz="1800"/>
            </a:pPr>
            <a:r>
              <a:rPr sz="17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D101B4-1701-4172-955E-750D7BA30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831734"/>
            <a:ext cx="7848600" cy="18905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7023BA-F4A0-4231-BE18-EF270ACE8DF0}"/>
              </a:ext>
            </a:extLst>
          </p:cNvPr>
          <p:cNvSpPr/>
          <p:nvPr/>
        </p:nvSpPr>
        <p:spPr>
          <a:xfrm>
            <a:off x="9448800" y="731838"/>
            <a:ext cx="2362200" cy="1371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Exercising More Tests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Failure on testNegative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FEE3C1-F454-4EE7-B7BB-B1FE6832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06" y="1754808"/>
            <a:ext cx="7467600" cy="1552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9AA24C-A2DE-446E-9840-6C69CDF13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581401"/>
            <a:ext cx="8229600" cy="2482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5136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fix </a:t>
            </a:r>
            <a:r>
              <a:rPr sz="3000" dirty="0" err="1"/>
              <a:t>testNegative</a:t>
            </a:r>
            <a:endParaRPr sz="3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228964-4C92-4D6F-937E-7AEE6806B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66604"/>
            <a:ext cx="7826185" cy="501675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int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//int max = Integer.MAX_VALUE;</a:t>
            </a:r>
            <a:b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Integer.</a:t>
            </a:r>
            <a:r>
              <a:rPr lang="en-US" altLang="en-US" sz="1600" b="1" i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MIN_VALUE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//for (index = 0; index &lt; list.length - 1; index++)</a:t>
            </a:r>
            <a:b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i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list.</a:t>
            </a:r>
            <a:r>
              <a:rPr lang="en-US" altLang="en-US" sz="1600" b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>
              <a:latin typeface="Arial" panose="020B0604020202020204" pitchFamily="34" charset="0"/>
            </a:endParaRPr>
          </a:p>
        </p:txBody>
      </p:sp>
      <p:sp>
        <p:nvSpPr>
          <p:cNvPr id="163" name="Shape 163"/>
          <p:cNvSpPr>
            <a:spLocks noGrp="1"/>
          </p:cNvSpPr>
          <p:nvPr>
            <p:ph idx="1"/>
          </p:nvPr>
        </p:nvSpPr>
        <p:spPr>
          <a:xfrm>
            <a:off x="6934200" y="4343400"/>
            <a:ext cx="4724401" cy="15576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  <a:defRPr sz="1800"/>
            </a:pPr>
            <a:r>
              <a:rPr sz="2800" dirty="0"/>
              <a:t>Choosing 0 to</a:t>
            </a:r>
            <a:r>
              <a:rPr lang="en-IE" sz="2800" dirty="0"/>
              <a:t> </a:t>
            </a:r>
            <a:r>
              <a:rPr sz="2800" dirty="0"/>
              <a:t>initialize max was a bad idea</a:t>
            </a:r>
            <a:r>
              <a:rPr lang="en-IE" sz="2800" dirty="0"/>
              <a:t>…should have been MIN VALUE, so as to be less than all negative numbers as well.</a:t>
            </a:r>
          </a:p>
          <a:p>
            <a:pPr marL="0" indent="0">
              <a:buNone/>
              <a:defRPr sz="1800"/>
            </a:pPr>
            <a:endParaRPr lang="en-IE" sz="2800" dirty="0"/>
          </a:p>
          <a:p>
            <a:pPr lvl="0">
              <a:defRPr sz="1800"/>
            </a:pPr>
            <a:endParaRPr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423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800" dirty="0"/>
              <a:t>Is there a better approach for setting the max value?</a:t>
            </a:r>
            <a:endParaRPr sz="2800" dirty="0"/>
          </a:p>
        </p:txBody>
      </p:sp>
      <p:sp>
        <p:nvSpPr>
          <p:cNvPr id="163" name="Shape 163"/>
          <p:cNvSpPr>
            <a:spLocks noGrp="1"/>
          </p:cNvSpPr>
          <p:nvPr>
            <p:ph idx="1"/>
          </p:nvPr>
        </p:nvSpPr>
        <p:spPr>
          <a:xfrm>
            <a:off x="990600" y="2514601"/>
            <a:ext cx="37338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400" dirty="0"/>
              <a:t>Maybe instead of the </a:t>
            </a:r>
            <a:r>
              <a:rPr sz="2400" dirty="0"/>
              <a:t>MIN VALUE, </a:t>
            </a:r>
            <a:r>
              <a:rPr lang="en-IE" sz="2400" dirty="0"/>
              <a:t>we set max to be the first element in the list array.</a:t>
            </a:r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lang="en-IE" sz="2400" dirty="0"/>
              <a:t>Would that work?</a:t>
            </a:r>
            <a:endParaRPr sz="2400" dirty="0"/>
          </a:p>
        </p:txBody>
      </p:sp>
      <p:sp>
        <p:nvSpPr>
          <p:cNvPr id="164" name="Shape 16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20</a:t>
            </a:fld>
            <a:endParaRPr sz="1000"/>
          </a:p>
        </p:txBody>
      </p:sp>
      <p:sp>
        <p:nvSpPr>
          <p:cNvPr id="165" name="Shape 165"/>
          <p:cNvSpPr/>
          <p:nvPr/>
        </p:nvSpPr>
        <p:spPr>
          <a:xfrm>
            <a:off x="4724400" y="2057400"/>
            <a:ext cx="7086600" cy="3877985"/>
          </a:xfrm>
          <a:prstGeom prst="rect">
            <a:avLst/>
          </a:prstGeom>
          <a:ln w="12700">
            <a:solid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static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largest (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[] list)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 err="1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index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0;</a:t>
            </a:r>
          </a:p>
          <a:p>
            <a:pPr defTabSz="410751">
              <a:defRPr sz="1800"/>
            </a:pP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int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max =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list[0]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defTabSz="410751">
              <a:defRPr sz="1800"/>
            </a:pPr>
            <a:endParaRPr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for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(index = 0; index &lt; </a:t>
            </a:r>
            <a:r>
              <a:rPr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list.</a:t>
            </a:r>
            <a:r>
              <a:rPr dirty="0" err="1">
                <a:solidFill>
                  <a:srgbClr val="0326CC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length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 index++)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if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(list[index] &gt; max)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{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 = list[index];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</a:t>
            </a:r>
            <a:r>
              <a:rPr lang="en-IE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</a:t>
            </a:r>
            <a:r>
              <a:rPr dirty="0">
                <a:solidFill>
                  <a:srgbClr val="931A68"/>
                </a:solidFill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return</a:t>
            </a: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max;</a:t>
            </a:r>
          </a:p>
          <a:p>
            <a:pPr defTabSz="410751">
              <a:defRPr sz="1800"/>
            </a:pPr>
            <a:r>
              <a:rPr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9321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Yes and this is the preferred approach!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252E52-4D59-4735-82D7-462FEC399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583" y="1524001"/>
            <a:ext cx="6726521" cy="452431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largest (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list)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list[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 = </a:t>
            </a: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 &lt; </a:t>
            </a:r>
            <a:r>
              <a:rPr lang="en-US" alt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</a:t>
            </a:r>
            <a:r>
              <a:rPr lang="en-US" altLang="en-US" sz="16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index++)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(list[index] &gt; max)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{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max = list[index];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max;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6600" dirty="0"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AFC4D0-1239-44C1-B522-098DD73DA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500"/>
          <a:stretch/>
        </p:blipFill>
        <p:spPr>
          <a:xfrm>
            <a:off x="7543800" y="4216129"/>
            <a:ext cx="3886200" cy="2349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7083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62598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5681</TotalTime>
  <Words>1546</Words>
  <Application>Microsoft Office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Courier New</vt:lpstr>
      <vt:lpstr>Gill Sans</vt:lpstr>
      <vt:lpstr>Helvetica Neue</vt:lpstr>
      <vt:lpstr>Helvetica Neue UltraLight</vt:lpstr>
      <vt:lpstr>Monaco</vt:lpstr>
      <vt:lpstr>Wingdings</vt:lpstr>
      <vt:lpstr>Office Theme</vt:lpstr>
      <vt:lpstr>JUnit Framework</vt:lpstr>
      <vt:lpstr>Topic List </vt:lpstr>
      <vt:lpstr>Four Phase Test</vt:lpstr>
      <vt:lpstr>How it works</vt:lpstr>
      <vt:lpstr>PowerPoint Presentation</vt:lpstr>
      <vt:lpstr>Topic List </vt:lpstr>
      <vt:lpstr>Planning JUnit Tests</vt:lpstr>
      <vt:lpstr>More Test Data</vt:lpstr>
      <vt:lpstr>More Test Data</vt:lpstr>
      <vt:lpstr>Writing the Test</vt:lpstr>
      <vt:lpstr>Running the Test</vt:lpstr>
      <vt:lpstr>Bug</vt:lpstr>
      <vt:lpstr>Further Tests</vt:lpstr>
      <vt:lpstr>PowerPoint Presentation</vt:lpstr>
      <vt:lpstr>PowerPoint Presentation</vt:lpstr>
      <vt:lpstr>PowerPoint Presentation</vt:lpstr>
      <vt:lpstr>Further Boundary Conditions</vt:lpstr>
      <vt:lpstr>Failure on testNegative</vt:lpstr>
      <vt:lpstr>fix testNegative</vt:lpstr>
      <vt:lpstr>Is there a better approach for setting the max value?</vt:lpstr>
      <vt:lpstr>Yes and this is the preferred approach!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159</cp:revision>
  <dcterms:created xsi:type="dcterms:W3CDTF">2006-08-16T00:00:00Z</dcterms:created>
  <dcterms:modified xsi:type="dcterms:W3CDTF">2024-02-23T10:04:03Z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